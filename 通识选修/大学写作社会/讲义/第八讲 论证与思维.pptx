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2"/>
    <p:restoredTop sz="95064"/>
  </p:normalViewPr>
  <p:slideViewPr>
    <p:cSldViewPr snapToGrid="0">
      <p:cViewPr varScale="1">
        <p:scale>
          <a:sx n="93" d="100"/>
          <a:sy n="93" d="100"/>
        </p:scale>
        <p:origin x="21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a" userId="6ad0b99d3e159485" providerId="LiveId" clId="{9A40FFC6-64D6-429F-9F72-7AC9129275F0}"/>
    <pc:docChg chg="modSld">
      <pc:chgData name="Michael Ma" userId="6ad0b99d3e159485" providerId="LiveId" clId="{9A40FFC6-64D6-429F-9F72-7AC9129275F0}" dt="2024-05-17T13:10:30.027" v="20" actId="20577"/>
      <pc:docMkLst>
        <pc:docMk/>
      </pc:docMkLst>
      <pc:sldChg chg="modSp mod">
        <pc:chgData name="Michael Ma" userId="6ad0b99d3e159485" providerId="LiveId" clId="{9A40FFC6-64D6-429F-9F72-7AC9129275F0}" dt="2024-05-17T13:10:30.027" v="20" actId="20577"/>
        <pc:sldMkLst>
          <pc:docMk/>
          <pc:sldMk cId="2591266674" sldId="256"/>
        </pc:sldMkLst>
        <pc:spChg chg="mod">
          <ac:chgData name="Michael Ma" userId="6ad0b99d3e159485" providerId="LiveId" clId="{9A40FFC6-64D6-429F-9F72-7AC9129275F0}" dt="2024-05-17T13:10:16.999" v="11" actId="20577"/>
          <ac:spMkLst>
            <pc:docMk/>
            <pc:sldMk cId="2591266674" sldId="256"/>
            <ac:spMk id="2" creationId="{9ED69153-C950-496C-C3F6-4D5488474A0F}"/>
          </ac:spMkLst>
        </pc:spChg>
        <pc:spChg chg="mod">
          <ac:chgData name="Michael Ma" userId="6ad0b99d3e159485" providerId="LiveId" clId="{9A40FFC6-64D6-429F-9F72-7AC9129275F0}" dt="2024-05-17T13:10:30.027" v="20" actId="20577"/>
          <ac:spMkLst>
            <pc:docMk/>
            <pc:sldMk cId="2591266674" sldId="256"/>
            <ac:spMk id="3" creationId="{296049F5-ADC1-E45F-888D-F0C946C5330F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11A9CE-17CF-DD4B-AD03-D2CC2C0CAA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DF1464-F20D-7547-961E-0C8F8AE6F140}">
      <dgm:prSet/>
      <dgm:spPr/>
      <dgm:t>
        <a:bodyPr/>
        <a:lstStyle/>
        <a:p>
          <a:r>
            <a:rPr lang="en-CN"/>
            <a:t>什么是科学思维</a:t>
          </a:r>
          <a:r>
            <a:rPr lang="zh-CN"/>
            <a:t>？</a:t>
          </a:r>
          <a:endParaRPr lang="en-CN"/>
        </a:p>
      </dgm:t>
    </dgm:pt>
    <dgm:pt modelId="{58D77F33-3DA0-1444-AD1A-AEF62FFD54BA}" type="parTrans" cxnId="{A336809B-02E8-DE45-995B-08C49A763304}">
      <dgm:prSet/>
      <dgm:spPr/>
      <dgm:t>
        <a:bodyPr/>
        <a:lstStyle/>
        <a:p>
          <a:endParaRPr lang="en-US"/>
        </a:p>
      </dgm:t>
    </dgm:pt>
    <dgm:pt modelId="{3CE739A9-686F-7B46-B8D3-99BB1E1B223F}" type="sibTrans" cxnId="{A336809B-02E8-DE45-995B-08C49A763304}">
      <dgm:prSet/>
      <dgm:spPr/>
      <dgm:t>
        <a:bodyPr/>
        <a:lstStyle/>
        <a:p>
          <a:endParaRPr lang="en-US"/>
        </a:p>
      </dgm:t>
    </dgm:pt>
    <dgm:pt modelId="{EC3C3D16-0FBF-2843-AF82-FD7D55373A53}">
      <dgm:prSet/>
      <dgm:spPr/>
      <dgm:t>
        <a:bodyPr/>
        <a:lstStyle/>
        <a:p>
          <a:r>
            <a:rPr lang="zh-CN"/>
            <a:t>第一，科学思维的第一要务是提出假设</a:t>
          </a:r>
          <a:endParaRPr lang="en-CN"/>
        </a:p>
      </dgm:t>
    </dgm:pt>
    <dgm:pt modelId="{392D1EE2-F91F-3C48-B940-430E43448191}" type="parTrans" cxnId="{063EF2B4-1B2D-9942-A5A4-29BBA0EF14F2}">
      <dgm:prSet/>
      <dgm:spPr/>
      <dgm:t>
        <a:bodyPr/>
        <a:lstStyle/>
        <a:p>
          <a:endParaRPr lang="en-US"/>
        </a:p>
      </dgm:t>
    </dgm:pt>
    <dgm:pt modelId="{94CFD048-0AEC-ED44-AF6F-B815368755A1}" type="sibTrans" cxnId="{063EF2B4-1B2D-9942-A5A4-29BBA0EF14F2}">
      <dgm:prSet/>
      <dgm:spPr/>
      <dgm:t>
        <a:bodyPr/>
        <a:lstStyle/>
        <a:p>
          <a:endParaRPr lang="en-US"/>
        </a:p>
      </dgm:t>
    </dgm:pt>
    <dgm:pt modelId="{76C10B4D-4AD3-CA4C-B087-6D2247E5BBDA}">
      <dgm:prSet/>
      <dgm:spPr/>
      <dgm:t>
        <a:bodyPr/>
        <a:lstStyle/>
        <a:p>
          <a:r>
            <a:rPr lang="zh-CN"/>
            <a:t>第二，科学思维的第二要务是进行检验</a:t>
          </a:r>
          <a:endParaRPr lang="en-CN"/>
        </a:p>
      </dgm:t>
    </dgm:pt>
    <dgm:pt modelId="{29433D3B-046D-E740-9601-0D236825B09A}" type="parTrans" cxnId="{53E1328B-07BA-A342-AE36-6EC85B6FD7E3}">
      <dgm:prSet/>
      <dgm:spPr/>
      <dgm:t>
        <a:bodyPr/>
        <a:lstStyle/>
        <a:p>
          <a:endParaRPr lang="en-US"/>
        </a:p>
      </dgm:t>
    </dgm:pt>
    <dgm:pt modelId="{16EF481B-103A-C045-AC92-4A1E83FE18ED}" type="sibTrans" cxnId="{53E1328B-07BA-A342-AE36-6EC85B6FD7E3}">
      <dgm:prSet/>
      <dgm:spPr/>
      <dgm:t>
        <a:bodyPr/>
        <a:lstStyle/>
        <a:p>
          <a:endParaRPr lang="en-US"/>
        </a:p>
      </dgm:t>
    </dgm:pt>
    <dgm:pt modelId="{85E67CBE-FAFE-D542-9342-DB78F832B2E2}" type="pres">
      <dgm:prSet presAssocID="{A411A9CE-17CF-DD4B-AD03-D2CC2C0CAAC6}" presName="linear" presStyleCnt="0">
        <dgm:presLayoutVars>
          <dgm:animLvl val="lvl"/>
          <dgm:resizeHandles val="exact"/>
        </dgm:presLayoutVars>
      </dgm:prSet>
      <dgm:spPr/>
    </dgm:pt>
    <dgm:pt modelId="{34AFE809-2651-2342-A3D5-3E1A214D3FAD}" type="pres">
      <dgm:prSet presAssocID="{9CDF1464-F20D-7547-961E-0C8F8AE6F14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6CCA0A9-CA5D-9246-8AA1-DF1C43B4A035}" type="pres">
      <dgm:prSet presAssocID="{9CDF1464-F20D-7547-961E-0C8F8AE6F14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231CC22-C306-314E-84F8-D7266F5276A5}" type="presOf" srcId="{76C10B4D-4AD3-CA4C-B087-6D2247E5BBDA}" destId="{86CCA0A9-CA5D-9246-8AA1-DF1C43B4A035}" srcOrd="0" destOrd="1" presId="urn:microsoft.com/office/officeart/2005/8/layout/vList2"/>
    <dgm:cxn modelId="{53E1328B-07BA-A342-AE36-6EC85B6FD7E3}" srcId="{9CDF1464-F20D-7547-961E-0C8F8AE6F140}" destId="{76C10B4D-4AD3-CA4C-B087-6D2247E5BBDA}" srcOrd="1" destOrd="0" parTransId="{29433D3B-046D-E740-9601-0D236825B09A}" sibTransId="{16EF481B-103A-C045-AC92-4A1E83FE18ED}"/>
    <dgm:cxn modelId="{A336809B-02E8-DE45-995B-08C49A763304}" srcId="{A411A9CE-17CF-DD4B-AD03-D2CC2C0CAAC6}" destId="{9CDF1464-F20D-7547-961E-0C8F8AE6F140}" srcOrd="0" destOrd="0" parTransId="{58D77F33-3DA0-1444-AD1A-AEF62FFD54BA}" sibTransId="{3CE739A9-686F-7B46-B8D3-99BB1E1B223F}"/>
    <dgm:cxn modelId="{35AD02A0-BB2D-8845-A968-3E19612E80BF}" type="presOf" srcId="{A411A9CE-17CF-DD4B-AD03-D2CC2C0CAAC6}" destId="{85E67CBE-FAFE-D542-9342-DB78F832B2E2}" srcOrd="0" destOrd="0" presId="urn:microsoft.com/office/officeart/2005/8/layout/vList2"/>
    <dgm:cxn modelId="{063EF2B4-1B2D-9942-A5A4-29BBA0EF14F2}" srcId="{9CDF1464-F20D-7547-961E-0C8F8AE6F140}" destId="{EC3C3D16-0FBF-2843-AF82-FD7D55373A53}" srcOrd="0" destOrd="0" parTransId="{392D1EE2-F91F-3C48-B940-430E43448191}" sibTransId="{94CFD048-0AEC-ED44-AF6F-B815368755A1}"/>
    <dgm:cxn modelId="{A4FFFBBC-91E9-AC47-B336-85CEA220C7C8}" type="presOf" srcId="{9CDF1464-F20D-7547-961E-0C8F8AE6F140}" destId="{34AFE809-2651-2342-A3D5-3E1A214D3FAD}" srcOrd="0" destOrd="0" presId="urn:microsoft.com/office/officeart/2005/8/layout/vList2"/>
    <dgm:cxn modelId="{9C6565F7-72A2-204E-A486-69D0B7C046DB}" type="presOf" srcId="{EC3C3D16-0FBF-2843-AF82-FD7D55373A53}" destId="{86CCA0A9-CA5D-9246-8AA1-DF1C43B4A035}" srcOrd="0" destOrd="0" presId="urn:microsoft.com/office/officeart/2005/8/layout/vList2"/>
    <dgm:cxn modelId="{FF7E8C4A-B47C-6744-82E6-0617C3ECE0E4}" type="presParOf" srcId="{85E67CBE-FAFE-D542-9342-DB78F832B2E2}" destId="{34AFE809-2651-2342-A3D5-3E1A214D3FAD}" srcOrd="0" destOrd="0" presId="urn:microsoft.com/office/officeart/2005/8/layout/vList2"/>
    <dgm:cxn modelId="{9DD0C0C9-E846-4248-95F1-C4708B886D7F}" type="presParOf" srcId="{85E67CBE-FAFE-D542-9342-DB78F832B2E2}" destId="{86CCA0A9-CA5D-9246-8AA1-DF1C43B4A0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AF67A1-B899-954E-A3CF-7885E6DC0A6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3FA906-55CF-3540-87A4-E768BFDC4547}">
      <dgm:prSet/>
      <dgm:spPr/>
      <dgm:t>
        <a:bodyPr/>
        <a:lstStyle/>
        <a:p>
          <a:r>
            <a:rPr lang="zh-CN" b="0" i="0"/>
            <a:t>所以胡适之先生说的大胆假设根本是开玩笑，大胆假设是不能的，你必须有能力。胡先生原文说越大胆越好，这是胡说八道。</a:t>
          </a:r>
          <a:r>
            <a:rPr lang="en-US" b="0" i="0"/>
            <a:t>——</a:t>
          </a:r>
          <a:r>
            <a:rPr lang="zh-CN" b="0" i="0"/>
            <a:t>林毓生</a:t>
          </a:r>
          <a:endParaRPr lang="en-CN"/>
        </a:p>
      </dgm:t>
    </dgm:pt>
    <dgm:pt modelId="{730FA447-91B7-BD4F-AB61-BD995602715D}" type="parTrans" cxnId="{E394EE2E-9620-5248-B87A-04674FE7A8B7}">
      <dgm:prSet/>
      <dgm:spPr/>
      <dgm:t>
        <a:bodyPr/>
        <a:lstStyle/>
        <a:p>
          <a:endParaRPr lang="en-US"/>
        </a:p>
      </dgm:t>
    </dgm:pt>
    <dgm:pt modelId="{C69C8022-8A7E-8D4D-A8E4-EF996328E428}" type="sibTrans" cxnId="{E394EE2E-9620-5248-B87A-04674FE7A8B7}">
      <dgm:prSet/>
      <dgm:spPr/>
      <dgm:t>
        <a:bodyPr/>
        <a:lstStyle/>
        <a:p>
          <a:endParaRPr lang="en-US"/>
        </a:p>
      </dgm:t>
    </dgm:pt>
    <dgm:pt modelId="{BB71E5F3-B8C9-E741-9A49-3F3CF1BD453D}" type="pres">
      <dgm:prSet presAssocID="{AAAF67A1-B899-954E-A3CF-7885E6DC0A6E}" presName="linearFlow" presStyleCnt="0">
        <dgm:presLayoutVars>
          <dgm:dir/>
          <dgm:resizeHandles val="exact"/>
        </dgm:presLayoutVars>
      </dgm:prSet>
      <dgm:spPr/>
    </dgm:pt>
    <dgm:pt modelId="{13CF86DE-3F50-9540-81EB-FF132135CBE7}" type="pres">
      <dgm:prSet presAssocID="{A73FA906-55CF-3540-87A4-E768BFDC4547}" presName="composite" presStyleCnt="0"/>
      <dgm:spPr/>
    </dgm:pt>
    <dgm:pt modelId="{20D26041-E64B-C94D-B37F-F70D011E1283}" type="pres">
      <dgm:prSet presAssocID="{A73FA906-55CF-3540-87A4-E768BFDC4547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3000" b="-13000"/>
          </a:stretch>
        </a:blipFill>
      </dgm:spPr>
    </dgm:pt>
    <dgm:pt modelId="{B3B9B864-A0A3-E74D-BAAC-6159EC617EFF}" type="pres">
      <dgm:prSet presAssocID="{A73FA906-55CF-3540-87A4-E768BFDC4547}" presName="txShp" presStyleLbl="node1" presStyleIdx="0" presStyleCnt="1">
        <dgm:presLayoutVars>
          <dgm:bulletEnabled val="1"/>
        </dgm:presLayoutVars>
      </dgm:prSet>
      <dgm:spPr/>
    </dgm:pt>
  </dgm:ptLst>
  <dgm:cxnLst>
    <dgm:cxn modelId="{E394EE2E-9620-5248-B87A-04674FE7A8B7}" srcId="{AAAF67A1-B899-954E-A3CF-7885E6DC0A6E}" destId="{A73FA906-55CF-3540-87A4-E768BFDC4547}" srcOrd="0" destOrd="0" parTransId="{730FA447-91B7-BD4F-AB61-BD995602715D}" sibTransId="{C69C8022-8A7E-8D4D-A8E4-EF996328E428}"/>
    <dgm:cxn modelId="{C1300442-481C-3942-A9CD-FC53BA6F252F}" type="presOf" srcId="{AAAF67A1-B899-954E-A3CF-7885E6DC0A6E}" destId="{BB71E5F3-B8C9-E741-9A49-3F3CF1BD453D}" srcOrd="0" destOrd="0" presId="urn:microsoft.com/office/officeart/2005/8/layout/vList3"/>
    <dgm:cxn modelId="{8FCA3CD7-6405-384C-99CC-312612F0C24B}" type="presOf" srcId="{A73FA906-55CF-3540-87A4-E768BFDC4547}" destId="{B3B9B864-A0A3-E74D-BAAC-6159EC617EFF}" srcOrd="0" destOrd="0" presId="urn:microsoft.com/office/officeart/2005/8/layout/vList3"/>
    <dgm:cxn modelId="{C1CC04B1-08F7-904C-92C7-4E4F01746926}" type="presParOf" srcId="{BB71E5F3-B8C9-E741-9A49-3F3CF1BD453D}" destId="{13CF86DE-3F50-9540-81EB-FF132135CBE7}" srcOrd="0" destOrd="0" presId="urn:microsoft.com/office/officeart/2005/8/layout/vList3"/>
    <dgm:cxn modelId="{47A39BF5-08D8-B343-93C4-5D7E9EC9E219}" type="presParOf" srcId="{13CF86DE-3F50-9540-81EB-FF132135CBE7}" destId="{20D26041-E64B-C94D-B37F-F70D011E1283}" srcOrd="0" destOrd="0" presId="urn:microsoft.com/office/officeart/2005/8/layout/vList3"/>
    <dgm:cxn modelId="{4DB06E3D-84E8-1E43-AF73-25BAE436DB00}" type="presParOf" srcId="{13CF86DE-3F50-9540-81EB-FF132135CBE7}" destId="{B3B9B864-A0A3-E74D-BAAC-6159EC617EF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E7163A-6705-234B-B0A3-8DF1ED9B46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FB004C-C3EC-2B4A-A790-F6CEEA97F289}">
      <dgm:prSet/>
      <dgm:spPr/>
      <dgm:t>
        <a:bodyPr/>
        <a:lstStyle/>
        <a:p>
          <a:r>
            <a:rPr lang="en-CN"/>
            <a:t>第一</a:t>
          </a:r>
          <a:r>
            <a:rPr lang="zh-CN"/>
            <a:t>，你选择的经典书目是在短时间内让你带上外挂；</a:t>
          </a:r>
          <a:endParaRPr lang="en-CN"/>
        </a:p>
      </dgm:t>
    </dgm:pt>
    <dgm:pt modelId="{A01557F6-8D6B-3E48-B700-1B84E04BCED5}" type="parTrans" cxnId="{524C3FAA-88FF-4E47-89A4-E91E742ED42E}">
      <dgm:prSet/>
      <dgm:spPr/>
      <dgm:t>
        <a:bodyPr/>
        <a:lstStyle/>
        <a:p>
          <a:endParaRPr lang="en-US"/>
        </a:p>
      </dgm:t>
    </dgm:pt>
    <dgm:pt modelId="{B623E1C6-2751-4145-9114-6C2A5CE65803}" type="sibTrans" cxnId="{524C3FAA-88FF-4E47-89A4-E91E742ED42E}">
      <dgm:prSet/>
      <dgm:spPr/>
      <dgm:t>
        <a:bodyPr/>
        <a:lstStyle/>
        <a:p>
          <a:endParaRPr lang="en-US"/>
        </a:p>
      </dgm:t>
    </dgm:pt>
    <dgm:pt modelId="{F7FF5C72-069F-9646-BEC6-EA3990C7D3A5}">
      <dgm:prSet/>
      <dgm:spPr/>
      <dgm:t>
        <a:bodyPr/>
        <a:lstStyle/>
        <a:p>
          <a:r>
            <a:rPr lang="zh-CN"/>
            <a:t>第二，你据此而下载的文献是汲取前人最新的攻略；</a:t>
          </a:r>
          <a:endParaRPr lang="en-CN"/>
        </a:p>
      </dgm:t>
    </dgm:pt>
    <dgm:pt modelId="{CD5550EC-EAC2-F54C-8D36-D6A20960BDD3}" type="parTrans" cxnId="{47351BFC-4833-BE43-8C20-F613FCDA7360}">
      <dgm:prSet/>
      <dgm:spPr/>
      <dgm:t>
        <a:bodyPr/>
        <a:lstStyle/>
        <a:p>
          <a:endParaRPr lang="en-US"/>
        </a:p>
      </dgm:t>
    </dgm:pt>
    <dgm:pt modelId="{39F6BF54-D1FF-2C4A-82A8-405CCD6541E1}" type="sibTrans" cxnId="{47351BFC-4833-BE43-8C20-F613FCDA7360}">
      <dgm:prSet/>
      <dgm:spPr/>
      <dgm:t>
        <a:bodyPr/>
        <a:lstStyle/>
        <a:p>
          <a:endParaRPr lang="en-US"/>
        </a:p>
      </dgm:t>
    </dgm:pt>
    <dgm:pt modelId="{C87DD6FA-AF99-1340-8BE5-1D1FA4262EDB}">
      <dgm:prSet/>
      <dgm:spPr/>
      <dgm:t>
        <a:bodyPr/>
        <a:lstStyle/>
        <a:p>
          <a:r>
            <a:rPr lang="zh-CN" dirty="0"/>
            <a:t>第三，你个人感受的现实与理论的差距是</a:t>
          </a:r>
          <a:r>
            <a:rPr lang="zh-CN" altLang="en-US" dirty="0"/>
            <a:t>新玩法</a:t>
          </a:r>
          <a:r>
            <a:rPr lang="zh-CN" dirty="0"/>
            <a:t>的源泉。</a:t>
          </a:r>
          <a:endParaRPr lang="en-CN" dirty="0"/>
        </a:p>
      </dgm:t>
    </dgm:pt>
    <dgm:pt modelId="{1B3E49EE-23B7-3F4B-A12C-904F12DBED67}" type="parTrans" cxnId="{D9E2C4AA-2DE5-3A45-A707-C3A88D27F70A}">
      <dgm:prSet/>
      <dgm:spPr/>
      <dgm:t>
        <a:bodyPr/>
        <a:lstStyle/>
        <a:p>
          <a:endParaRPr lang="en-US"/>
        </a:p>
      </dgm:t>
    </dgm:pt>
    <dgm:pt modelId="{8534ACB8-235E-DD42-969D-B1C489CDE87D}" type="sibTrans" cxnId="{D9E2C4AA-2DE5-3A45-A707-C3A88D27F70A}">
      <dgm:prSet/>
      <dgm:spPr/>
      <dgm:t>
        <a:bodyPr/>
        <a:lstStyle/>
        <a:p>
          <a:endParaRPr lang="en-US"/>
        </a:p>
      </dgm:t>
    </dgm:pt>
    <dgm:pt modelId="{31300A4E-F831-DA46-9914-3968EE02EE20}" type="pres">
      <dgm:prSet presAssocID="{25E7163A-6705-234B-B0A3-8DF1ED9B46E7}" presName="linear" presStyleCnt="0">
        <dgm:presLayoutVars>
          <dgm:animLvl val="lvl"/>
          <dgm:resizeHandles val="exact"/>
        </dgm:presLayoutVars>
      </dgm:prSet>
      <dgm:spPr/>
    </dgm:pt>
    <dgm:pt modelId="{C093D7D7-D4CC-424C-A1E1-F8741E4DBB43}" type="pres">
      <dgm:prSet presAssocID="{5EFB004C-C3EC-2B4A-A790-F6CEEA97F2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A154C5-60EB-FD4E-9386-1035C18AD89A}" type="pres">
      <dgm:prSet presAssocID="{B623E1C6-2751-4145-9114-6C2A5CE65803}" presName="spacer" presStyleCnt="0"/>
      <dgm:spPr/>
    </dgm:pt>
    <dgm:pt modelId="{3CEBCA57-0735-4248-8E5A-25E07A5C0DC3}" type="pres">
      <dgm:prSet presAssocID="{F7FF5C72-069F-9646-BEC6-EA3990C7D3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5BAF4AD-D6C9-7541-85F6-8E377C0F4F9E}" type="pres">
      <dgm:prSet presAssocID="{39F6BF54-D1FF-2C4A-82A8-405CCD6541E1}" presName="spacer" presStyleCnt="0"/>
      <dgm:spPr/>
    </dgm:pt>
    <dgm:pt modelId="{E458108D-74E9-D149-A65C-C579C84169D5}" type="pres">
      <dgm:prSet presAssocID="{C87DD6FA-AF99-1340-8BE5-1D1FA4262ED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CF2F22-CD2B-164D-8A7F-EC6AA7F8F22A}" type="presOf" srcId="{C87DD6FA-AF99-1340-8BE5-1D1FA4262EDB}" destId="{E458108D-74E9-D149-A65C-C579C84169D5}" srcOrd="0" destOrd="0" presId="urn:microsoft.com/office/officeart/2005/8/layout/vList2"/>
    <dgm:cxn modelId="{AC67DE5E-E1FC-3147-A63D-01408B007F18}" type="presOf" srcId="{5EFB004C-C3EC-2B4A-A790-F6CEEA97F289}" destId="{C093D7D7-D4CC-424C-A1E1-F8741E4DBB43}" srcOrd="0" destOrd="0" presId="urn:microsoft.com/office/officeart/2005/8/layout/vList2"/>
    <dgm:cxn modelId="{9E46976E-84CD-354D-96DC-8E076016A05B}" type="presOf" srcId="{25E7163A-6705-234B-B0A3-8DF1ED9B46E7}" destId="{31300A4E-F831-DA46-9914-3968EE02EE20}" srcOrd="0" destOrd="0" presId="urn:microsoft.com/office/officeart/2005/8/layout/vList2"/>
    <dgm:cxn modelId="{524C3FAA-88FF-4E47-89A4-E91E742ED42E}" srcId="{25E7163A-6705-234B-B0A3-8DF1ED9B46E7}" destId="{5EFB004C-C3EC-2B4A-A790-F6CEEA97F289}" srcOrd="0" destOrd="0" parTransId="{A01557F6-8D6B-3E48-B700-1B84E04BCED5}" sibTransId="{B623E1C6-2751-4145-9114-6C2A5CE65803}"/>
    <dgm:cxn modelId="{D9E2C4AA-2DE5-3A45-A707-C3A88D27F70A}" srcId="{25E7163A-6705-234B-B0A3-8DF1ED9B46E7}" destId="{C87DD6FA-AF99-1340-8BE5-1D1FA4262EDB}" srcOrd="2" destOrd="0" parTransId="{1B3E49EE-23B7-3F4B-A12C-904F12DBED67}" sibTransId="{8534ACB8-235E-DD42-969D-B1C489CDE87D}"/>
    <dgm:cxn modelId="{47351BFC-4833-BE43-8C20-F613FCDA7360}" srcId="{25E7163A-6705-234B-B0A3-8DF1ED9B46E7}" destId="{F7FF5C72-069F-9646-BEC6-EA3990C7D3A5}" srcOrd="1" destOrd="0" parTransId="{CD5550EC-EAC2-F54C-8D36-D6A20960BDD3}" sibTransId="{39F6BF54-D1FF-2C4A-82A8-405CCD6541E1}"/>
    <dgm:cxn modelId="{5DADAAFF-8B24-8E4B-B5BC-0C2B16FD7D04}" type="presOf" srcId="{F7FF5C72-069F-9646-BEC6-EA3990C7D3A5}" destId="{3CEBCA57-0735-4248-8E5A-25E07A5C0DC3}" srcOrd="0" destOrd="0" presId="urn:microsoft.com/office/officeart/2005/8/layout/vList2"/>
    <dgm:cxn modelId="{9C7BDA45-AB4D-F940-9A32-D805463DEE39}" type="presParOf" srcId="{31300A4E-F831-DA46-9914-3968EE02EE20}" destId="{C093D7D7-D4CC-424C-A1E1-F8741E4DBB43}" srcOrd="0" destOrd="0" presId="urn:microsoft.com/office/officeart/2005/8/layout/vList2"/>
    <dgm:cxn modelId="{428EC020-F078-3F4E-B84B-57BF41558959}" type="presParOf" srcId="{31300A4E-F831-DA46-9914-3968EE02EE20}" destId="{BCA154C5-60EB-FD4E-9386-1035C18AD89A}" srcOrd="1" destOrd="0" presId="urn:microsoft.com/office/officeart/2005/8/layout/vList2"/>
    <dgm:cxn modelId="{ABA8B58A-04C2-0E4B-8C56-68EEA2B9F2DE}" type="presParOf" srcId="{31300A4E-F831-DA46-9914-3968EE02EE20}" destId="{3CEBCA57-0735-4248-8E5A-25E07A5C0DC3}" srcOrd="2" destOrd="0" presId="urn:microsoft.com/office/officeart/2005/8/layout/vList2"/>
    <dgm:cxn modelId="{72A28B14-FCBC-4A4F-B832-441FF633BB5B}" type="presParOf" srcId="{31300A4E-F831-DA46-9914-3968EE02EE20}" destId="{E5BAF4AD-D6C9-7541-85F6-8E377C0F4F9E}" srcOrd="3" destOrd="0" presId="urn:microsoft.com/office/officeart/2005/8/layout/vList2"/>
    <dgm:cxn modelId="{D9AA4827-3749-454C-9C81-B6626DBA83F4}" type="presParOf" srcId="{31300A4E-F831-DA46-9914-3968EE02EE20}" destId="{E458108D-74E9-D149-A65C-C579C84169D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621344-EB35-E34D-AC8F-E95E2A5CF024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F5749F-6B86-D84E-9DA2-0B12FAF2B7FA}">
      <dgm:prSet/>
      <dgm:spPr/>
      <dgm:t>
        <a:bodyPr/>
        <a:lstStyle/>
        <a:p>
          <a:r>
            <a:rPr lang="en-CN" dirty="0"/>
            <a:t>中国社会综合调查</a:t>
          </a:r>
          <a:r>
            <a:rPr lang="zh-CN" dirty="0"/>
            <a:t>（</a:t>
          </a:r>
          <a:r>
            <a:rPr lang="en-US" dirty="0"/>
            <a:t>CGSS</a:t>
          </a:r>
          <a:r>
            <a:rPr lang="zh-CN" dirty="0"/>
            <a:t>）</a:t>
          </a:r>
          <a:r>
            <a:rPr lang="en-US" dirty="0"/>
            <a:t>——</a:t>
          </a:r>
          <a:r>
            <a:rPr lang="zh-CN" dirty="0"/>
            <a:t>中国人民大学</a:t>
          </a:r>
          <a:endParaRPr lang="en-CN" dirty="0"/>
        </a:p>
      </dgm:t>
    </dgm:pt>
    <dgm:pt modelId="{BDADA588-8134-3E44-AD7F-45434B1C2D56}" type="parTrans" cxnId="{B3A53775-4F78-054C-9B92-C2D1C49E7588}">
      <dgm:prSet/>
      <dgm:spPr/>
      <dgm:t>
        <a:bodyPr/>
        <a:lstStyle/>
        <a:p>
          <a:endParaRPr lang="en-US"/>
        </a:p>
      </dgm:t>
    </dgm:pt>
    <dgm:pt modelId="{3B12D7DB-B034-8547-A3BA-F2EEBB3A1DA4}" type="sibTrans" cxnId="{B3A53775-4F78-054C-9B92-C2D1C49E7588}">
      <dgm:prSet/>
      <dgm:spPr/>
      <dgm:t>
        <a:bodyPr/>
        <a:lstStyle/>
        <a:p>
          <a:endParaRPr lang="en-US"/>
        </a:p>
      </dgm:t>
    </dgm:pt>
    <dgm:pt modelId="{2F17084B-6022-984B-8DE4-C0BC9C1494EA}">
      <dgm:prSet/>
      <dgm:spPr/>
      <dgm:t>
        <a:bodyPr/>
        <a:lstStyle/>
        <a:p>
          <a:r>
            <a:rPr lang="zh-CN"/>
            <a:t>中国家庭追踪调查（</a:t>
          </a:r>
          <a:r>
            <a:rPr lang="en-US"/>
            <a:t>CFPS</a:t>
          </a:r>
          <a:r>
            <a:rPr lang="zh-CN"/>
            <a:t>）</a:t>
          </a:r>
          <a:r>
            <a:rPr lang="en-US"/>
            <a:t>——</a:t>
          </a:r>
          <a:r>
            <a:rPr lang="zh-CN"/>
            <a:t>北京大学</a:t>
          </a:r>
          <a:endParaRPr lang="en-CN"/>
        </a:p>
      </dgm:t>
    </dgm:pt>
    <dgm:pt modelId="{B6E34923-1744-FA4A-813C-D015D480B1AD}" type="parTrans" cxnId="{565339ED-3619-954D-B71C-B6ECFE43728E}">
      <dgm:prSet/>
      <dgm:spPr/>
      <dgm:t>
        <a:bodyPr/>
        <a:lstStyle/>
        <a:p>
          <a:endParaRPr lang="en-US"/>
        </a:p>
      </dgm:t>
    </dgm:pt>
    <dgm:pt modelId="{33E029ED-81AF-3E45-ACA1-FA0CAC44D9AA}" type="sibTrans" cxnId="{565339ED-3619-954D-B71C-B6ECFE43728E}">
      <dgm:prSet/>
      <dgm:spPr/>
      <dgm:t>
        <a:bodyPr/>
        <a:lstStyle/>
        <a:p>
          <a:endParaRPr lang="en-US"/>
        </a:p>
      </dgm:t>
    </dgm:pt>
    <dgm:pt modelId="{B344919B-FC1E-5449-B162-C5E12CB73302}">
      <dgm:prSet/>
      <dgm:spPr/>
      <dgm:t>
        <a:bodyPr/>
        <a:lstStyle/>
        <a:p>
          <a:r>
            <a:rPr lang="zh-CN"/>
            <a:t>中国家庭大数据库（</a:t>
          </a:r>
          <a:r>
            <a:rPr lang="en-US"/>
            <a:t>CFD</a:t>
          </a:r>
          <a:r>
            <a:rPr lang="zh-CN"/>
            <a:t>）</a:t>
          </a:r>
          <a:r>
            <a:rPr lang="en-US"/>
            <a:t>——</a:t>
          </a:r>
          <a:r>
            <a:rPr lang="zh-CN"/>
            <a:t>浙江大学</a:t>
          </a:r>
          <a:endParaRPr lang="en-CN"/>
        </a:p>
      </dgm:t>
    </dgm:pt>
    <dgm:pt modelId="{7497C223-319A-D145-B61A-8E40D7B5FADB}" type="parTrans" cxnId="{9C816023-3B73-454D-B6FB-48B2E6F03850}">
      <dgm:prSet/>
      <dgm:spPr/>
      <dgm:t>
        <a:bodyPr/>
        <a:lstStyle/>
        <a:p>
          <a:endParaRPr lang="en-US"/>
        </a:p>
      </dgm:t>
    </dgm:pt>
    <dgm:pt modelId="{C82A758A-ABAA-4948-84C7-37E74DA9EBF9}" type="sibTrans" cxnId="{9C816023-3B73-454D-B6FB-48B2E6F03850}">
      <dgm:prSet/>
      <dgm:spPr/>
      <dgm:t>
        <a:bodyPr/>
        <a:lstStyle/>
        <a:p>
          <a:endParaRPr lang="en-US"/>
        </a:p>
      </dgm:t>
    </dgm:pt>
    <dgm:pt modelId="{4CFFCD9C-F836-364E-954F-55458578D292}" type="pres">
      <dgm:prSet presAssocID="{CB621344-EB35-E34D-AC8F-E95E2A5CF024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5E370B5-BD92-BC46-A156-FFF79EFECD02}" type="pres">
      <dgm:prSet presAssocID="{44F5749F-6B86-D84E-9DA2-0B12FAF2B7FA}" presName="circle1" presStyleLbl="node1" presStyleIdx="0" presStyleCnt="3"/>
      <dgm:spPr/>
    </dgm:pt>
    <dgm:pt modelId="{5090A720-0470-9246-80F6-31FDC4E3821B}" type="pres">
      <dgm:prSet presAssocID="{44F5749F-6B86-D84E-9DA2-0B12FAF2B7FA}" presName="space" presStyleCnt="0"/>
      <dgm:spPr/>
    </dgm:pt>
    <dgm:pt modelId="{8E6C27D2-8DEE-044C-B2D5-B6B3665F1794}" type="pres">
      <dgm:prSet presAssocID="{44F5749F-6B86-D84E-9DA2-0B12FAF2B7FA}" presName="rect1" presStyleLbl="alignAcc1" presStyleIdx="0" presStyleCnt="3"/>
      <dgm:spPr/>
    </dgm:pt>
    <dgm:pt modelId="{A52BDCFD-2843-F049-B2AE-EB657F1A6003}" type="pres">
      <dgm:prSet presAssocID="{2F17084B-6022-984B-8DE4-C0BC9C1494EA}" presName="vertSpace2" presStyleLbl="node1" presStyleIdx="0" presStyleCnt="3"/>
      <dgm:spPr/>
    </dgm:pt>
    <dgm:pt modelId="{D2CE3951-675A-BD40-A47A-D750E9C8D0DD}" type="pres">
      <dgm:prSet presAssocID="{2F17084B-6022-984B-8DE4-C0BC9C1494EA}" presName="circle2" presStyleLbl="node1" presStyleIdx="1" presStyleCnt="3"/>
      <dgm:spPr/>
    </dgm:pt>
    <dgm:pt modelId="{F8180066-A305-494D-A06C-D26B424F4852}" type="pres">
      <dgm:prSet presAssocID="{2F17084B-6022-984B-8DE4-C0BC9C1494EA}" presName="rect2" presStyleLbl="alignAcc1" presStyleIdx="1" presStyleCnt="3"/>
      <dgm:spPr/>
    </dgm:pt>
    <dgm:pt modelId="{816D96A6-7DC4-CC43-9197-018BC24E7565}" type="pres">
      <dgm:prSet presAssocID="{B344919B-FC1E-5449-B162-C5E12CB73302}" presName="vertSpace3" presStyleLbl="node1" presStyleIdx="1" presStyleCnt="3"/>
      <dgm:spPr/>
    </dgm:pt>
    <dgm:pt modelId="{5CB6F225-E2F2-7F48-8137-B0C3D10BA397}" type="pres">
      <dgm:prSet presAssocID="{B344919B-FC1E-5449-B162-C5E12CB73302}" presName="circle3" presStyleLbl="node1" presStyleIdx="2" presStyleCnt="3"/>
      <dgm:spPr/>
    </dgm:pt>
    <dgm:pt modelId="{9740D17E-5240-0844-ADA9-9839900C4B90}" type="pres">
      <dgm:prSet presAssocID="{B344919B-FC1E-5449-B162-C5E12CB73302}" presName="rect3" presStyleLbl="alignAcc1" presStyleIdx="2" presStyleCnt="3"/>
      <dgm:spPr/>
    </dgm:pt>
    <dgm:pt modelId="{1F2D1AFD-2161-484B-8BFE-3509953312B9}" type="pres">
      <dgm:prSet presAssocID="{44F5749F-6B86-D84E-9DA2-0B12FAF2B7FA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E7F8218A-869E-0744-9F0D-5F1711A5C6A7}" type="pres">
      <dgm:prSet presAssocID="{2F17084B-6022-984B-8DE4-C0BC9C1494EA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BE691694-F01A-F74D-8A36-C81C53202946}" type="pres">
      <dgm:prSet presAssocID="{B344919B-FC1E-5449-B162-C5E12CB73302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1426C601-A7C7-2246-9EB9-F1C47F48F13A}" type="presOf" srcId="{CB621344-EB35-E34D-AC8F-E95E2A5CF024}" destId="{4CFFCD9C-F836-364E-954F-55458578D292}" srcOrd="0" destOrd="0" presId="urn:microsoft.com/office/officeart/2005/8/layout/target3"/>
    <dgm:cxn modelId="{D0718303-51DE-1540-BBB7-056993B3F1AF}" type="presOf" srcId="{B344919B-FC1E-5449-B162-C5E12CB73302}" destId="{9740D17E-5240-0844-ADA9-9839900C4B90}" srcOrd="0" destOrd="0" presId="urn:microsoft.com/office/officeart/2005/8/layout/target3"/>
    <dgm:cxn modelId="{9C816023-3B73-454D-B6FB-48B2E6F03850}" srcId="{CB621344-EB35-E34D-AC8F-E95E2A5CF024}" destId="{B344919B-FC1E-5449-B162-C5E12CB73302}" srcOrd="2" destOrd="0" parTransId="{7497C223-319A-D145-B61A-8E40D7B5FADB}" sibTransId="{C82A758A-ABAA-4948-84C7-37E74DA9EBF9}"/>
    <dgm:cxn modelId="{B3A53775-4F78-054C-9B92-C2D1C49E7588}" srcId="{CB621344-EB35-E34D-AC8F-E95E2A5CF024}" destId="{44F5749F-6B86-D84E-9DA2-0B12FAF2B7FA}" srcOrd="0" destOrd="0" parTransId="{BDADA588-8134-3E44-AD7F-45434B1C2D56}" sibTransId="{3B12D7DB-B034-8547-A3BA-F2EEBB3A1DA4}"/>
    <dgm:cxn modelId="{4C8FAE7E-B76F-E84C-B512-14BD108062D2}" type="presOf" srcId="{44F5749F-6B86-D84E-9DA2-0B12FAF2B7FA}" destId="{1F2D1AFD-2161-484B-8BFE-3509953312B9}" srcOrd="1" destOrd="0" presId="urn:microsoft.com/office/officeart/2005/8/layout/target3"/>
    <dgm:cxn modelId="{E924E888-8CEA-0544-8756-2A258B5FC64A}" type="presOf" srcId="{44F5749F-6B86-D84E-9DA2-0B12FAF2B7FA}" destId="{8E6C27D2-8DEE-044C-B2D5-B6B3665F1794}" srcOrd="0" destOrd="0" presId="urn:microsoft.com/office/officeart/2005/8/layout/target3"/>
    <dgm:cxn modelId="{5D0D9CD6-9558-734D-A29C-AD30CD0BB343}" type="presOf" srcId="{2F17084B-6022-984B-8DE4-C0BC9C1494EA}" destId="{E7F8218A-869E-0744-9F0D-5F1711A5C6A7}" srcOrd="1" destOrd="0" presId="urn:microsoft.com/office/officeart/2005/8/layout/target3"/>
    <dgm:cxn modelId="{3410FDD8-9C34-C44E-B6C8-5D84FF571937}" type="presOf" srcId="{B344919B-FC1E-5449-B162-C5E12CB73302}" destId="{BE691694-F01A-F74D-8A36-C81C53202946}" srcOrd="1" destOrd="0" presId="urn:microsoft.com/office/officeart/2005/8/layout/target3"/>
    <dgm:cxn modelId="{565339ED-3619-954D-B71C-B6ECFE43728E}" srcId="{CB621344-EB35-E34D-AC8F-E95E2A5CF024}" destId="{2F17084B-6022-984B-8DE4-C0BC9C1494EA}" srcOrd="1" destOrd="0" parTransId="{B6E34923-1744-FA4A-813C-D015D480B1AD}" sibTransId="{33E029ED-81AF-3E45-ACA1-FA0CAC44D9AA}"/>
    <dgm:cxn modelId="{BC719FF1-2208-0744-8C68-0807DCEA9F48}" type="presOf" srcId="{2F17084B-6022-984B-8DE4-C0BC9C1494EA}" destId="{F8180066-A305-494D-A06C-D26B424F4852}" srcOrd="0" destOrd="0" presId="urn:microsoft.com/office/officeart/2005/8/layout/target3"/>
    <dgm:cxn modelId="{31BF30DA-BD27-744A-8C03-B1D6EE084CF5}" type="presParOf" srcId="{4CFFCD9C-F836-364E-954F-55458578D292}" destId="{A5E370B5-BD92-BC46-A156-FFF79EFECD02}" srcOrd="0" destOrd="0" presId="urn:microsoft.com/office/officeart/2005/8/layout/target3"/>
    <dgm:cxn modelId="{940C8C98-706E-864F-8AF4-58696B6C77C7}" type="presParOf" srcId="{4CFFCD9C-F836-364E-954F-55458578D292}" destId="{5090A720-0470-9246-80F6-31FDC4E3821B}" srcOrd="1" destOrd="0" presId="urn:microsoft.com/office/officeart/2005/8/layout/target3"/>
    <dgm:cxn modelId="{3214B378-87BE-4945-A70E-01B8F9B63997}" type="presParOf" srcId="{4CFFCD9C-F836-364E-954F-55458578D292}" destId="{8E6C27D2-8DEE-044C-B2D5-B6B3665F1794}" srcOrd="2" destOrd="0" presId="urn:microsoft.com/office/officeart/2005/8/layout/target3"/>
    <dgm:cxn modelId="{64DE6C8D-8614-2741-B430-588FE1E9A0CD}" type="presParOf" srcId="{4CFFCD9C-F836-364E-954F-55458578D292}" destId="{A52BDCFD-2843-F049-B2AE-EB657F1A6003}" srcOrd="3" destOrd="0" presId="urn:microsoft.com/office/officeart/2005/8/layout/target3"/>
    <dgm:cxn modelId="{ECAAA674-F03E-9F4D-9567-E28A33182470}" type="presParOf" srcId="{4CFFCD9C-F836-364E-954F-55458578D292}" destId="{D2CE3951-675A-BD40-A47A-D750E9C8D0DD}" srcOrd="4" destOrd="0" presId="urn:microsoft.com/office/officeart/2005/8/layout/target3"/>
    <dgm:cxn modelId="{793AED09-CE80-A84F-912D-E456591DA170}" type="presParOf" srcId="{4CFFCD9C-F836-364E-954F-55458578D292}" destId="{F8180066-A305-494D-A06C-D26B424F4852}" srcOrd="5" destOrd="0" presId="urn:microsoft.com/office/officeart/2005/8/layout/target3"/>
    <dgm:cxn modelId="{E94CA2CE-F01B-7D47-9EAE-321D9FA520AC}" type="presParOf" srcId="{4CFFCD9C-F836-364E-954F-55458578D292}" destId="{816D96A6-7DC4-CC43-9197-018BC24E7565}" srcOrd="6" destOrd="0" presId="urn:microsoft.com/office/officeart/2005/8/layout/target3"/>
    <dgm:cxn modelId="{A1D89AD4-8167-7D4E-97AB-6E1E6F692525}" type="presParOf" srcId="{4CFFCD9C-F836-364E-954F-55458578D292}" destId="{5CB6F225-E2F2-7F48-8137-B0C3D10BA397}" srcOrd="7" destOrd="0" presId="urn:microsoft.com/office/officeart/2005/8/layout/target3"/>
    <dgm:cxn modelId="{3C39A3D8-AFE4-0F44-9287-3A1A25D10515}" type="presParOf" srcId="{4CFFCD9C-F836-364E-954F-55458578D292}" destId="{9740D17E-5240-0844-ADA9-9839900C4B90}" srcOrd="8" destOrd="0" presId="urn:microsoft.com/office/officeart/2005/8/layout/target3"/>
    <dgm:cxn modelId="{234BD122-39E0-6847-8DB3-87E284E149BA}" type="presParOf" srcId="{4CFFCD9C-F836-364E-954F-55458578D292}" destId="{1F2D1AFD-2161-484B-8BFE-3509953312B9}" srcOrd="9" destOrd="0" presId="urn:microsoft.com/office/officeart/2005/8/layout/target3"/>
    <dgm:cxn modelId="{1BBFE672-3069-1F47-8CAB-A873B9DFDF9C}" type="presParOf" srcId="{4CFFCD9C-F836-364E-954F-55458578D292}" destId="{E7F8218A-869E-0744-9F0D-5F1711A5C6A7}" srcOrd="10" destOrd="0" presId="urn:microsoft.com/office/officeart/2005/8/layout/target3"/>
    <dgm:cxn modelId="{56B71CDD-0654-5048-8095-77046EDDB1DF}" type="presParOf" srcId="{4CFFCD9C-F836-364E-954F-55458578D292}" destId="{BE691694-F01A-F74D-8A36-C81C53202946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FE809-2651-2342-A3D5-3E1A214D3FAD}">
      <dsp:nvSpPr>
        <dsp:cNvPr id="0" name=""/>
        <dsp:cNvSpPr/>
      </dsp:nvSpPr>
      <dsp:spPr>
        <a:xfrm>
          <a:off x="0" y="218943"/>
          <a:ext cx="10131425" cy="1674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5400" kern="1200"/>
            <a:t>什么是科学思维</a:t>
          </a:r>
          <a:r>
            <a:rPr lang="zh-CN" sz="5400" kern="1200"/>
            <a:t>？</a:t>
          </a:r>
          <a:endParaRPr lang="en-CN" sz="5400" kern="1200"/>
        </a:p>
      </dsp:txBody>
      <dsp:txXfrm>
        <a:off x="81731" y="300674"/>
        <a:ext cx="9967963" cy="1510808"/>
      </dsp:txXfrm>
    </dsp:sp>
    <dsp:sp modelId="{86CCA0A9-CA5D-9246-8AA1-DF1C43B4A035}">
      <dsp:nvSpPr>
        <dsp:cNvPr id="0" name=""/>
        <dsp:cNvSpPr/>
      </dsp:nvSpPr>
      <dsp:spPr>
        <a:xfrm>
          <a:off x="0" y="1893214"/>
          <a:ext cx="10131425" cy="1536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73" tIns="68580" rIns="384048" bIns="68580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4200" kern="1200"/>
            <a:t>第一，科学思维的第一要务是提出假设</a:t>
          </a:r>
          <a:endParaRPr lang="en-CN" sz="4200" kern="120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4200" kern="1200"/>
            <a:t>第二，科学思维的第二要务是进行检验</a:t>
          </a:r>
          <a:endParaRPr lang="en-CN" sz="4200" kern="1200"/>
        </a:p>
      </dsp:txBody>
      <dsp:txXfrm>
        <a:off x="0" y="1893214"/>
        <a:ext cx="10131425" cy="15369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9B864-A0A3-E74D-BAAC-6159EC617EFF}">
      <dsp:nvSpPr>
        <dsp:cNvPr id="0" name=""/>
        <dsp:cNvSpPr/>
      </dsp:nvSpPr>
      <dsp:spPr>
        <a:xfrm rot="10800000">
          <a:off x="2545520" y="127552"/>
          <a:ext cx="6737397" cy="33940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6672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b="0" i="0" kern="1200"/>
            <a:t>所以胡适之先生说的大胆假设根本是开玩笑，大胆假设是不能的，你必须有能力。胡先生原文说越大胆越好，这是胡说八道。</a:t>
          </a:r>
          <a:r>
            <a:rPr lang="en-US" sz="3200" b="0" i="0" kern="1200"/>
            <a:t>——</a:t>
          </a:r>
          <a:r>
            <a:rPr lang="zh-CN" sz="3200" b="0" i="0" kern="1200"/>
            <a:t>林毓生</a:t>
          </a:r>
          <a:endParaRPr lang="en-CN" sz="3200" kern="1200"/>
        </a:p>
      </dsp:txBody>
      <dsp:txXfrm rot="10800000">
        <a:off x="3394027" y="127552"/>
        <a:ext cx="5888890" cy="3394027"/>
      </dsp:txXfrm>
    </dsp:sp>
    <dsp:sp modelId="{20D26041-E64B-C94D-B37F-F70D011E1283}">
      <dsp:nvSpPr>
        <dsp:cNvPr id="0" name=""/>
        <dsp:cNvSpPr/>
      </dsp:nvSpPr>
      <dsp:spPr>
        <a:xfrm>
          <a:off x="848506" y="127552"/>
          <a:ext cx="3394027" cy="339402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3000" b="-1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3D7D7-D4CC-424C-A1E1-F8741E4DBB43}">
      <dsp:nvSpPr>
        <dsp:cNvPr id="0" name=""/>
        <dsp:cNvSpPr/>
      </dsp:nvSpPr>
      <dsp:spPr>
        <a:xfrm>
          <a:off x="0" y="244166"/>
          <a:ext cx="10131425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3200" kern="1200"/>
            <a:t>第一</a:t>
          </a:r>
          <a:r>
            <a:rPr lang="zh-CN" sz="3200" kern="1200"/>
            <a:t>，你选择的经典书目是在短时间内让你带上外挂；</a:t>
          </a:r>
          <a:endParaRPr lang="en-CN" sz="3200" kern="1200"/>
        </a:p>
      </dsp:txBody>
      <dsp:txXfrm>
        <a:off x="48433" y="292599"/>
        <a:ext cx="10034559" cy="895294"/>
      </dsp:txXfrm>
    </dsp:sp>
    <dsp:sp modelId="{3CEBCA57-0735-4248-8E5A-25E07A5C0DC3}">
      <dsp:nvSpPr>
        <dsp:cNvPr id="0" name=""/>
        <dsp:cNvSpPr/>
      </dsp:nvSpPr>
      <dsp:spPr>
        <a:xfrm>
          <a:off x="0" y="1328486"/>
          <a:ext cx="10131425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kern="1200"/>
            <a:t>第二，你据此而下载的文献是汲取前人最新的攻略；</a:t>
          </a:r>
          <a:endParaRPr lang="en-CN" sz="3200" kern="1200"/>
        </a:p>
      </dsp:txBody>
      <dsp:txXfrm>
        <a:off x="48433" y="1376919"/>
        <a:ext cx="10034559" cy="895294"/>
      </dsp:txXfrm>
    </dsp:sp>
    <dsp:sp modelId="{E458108D-74E9-D149-A65C-C579C84169D5}">
      <dsp:nvSpPr>
        <dsp:cNvPr id="0" name=""/>
        <dsp:cNvSpPr/>
      </dsp:nvSpPr>
      <dsp:spPr>
        <a:xfrm>
          <a:off x="0" y="2412806"/>
          <a:ext cx="10131425" cy="992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200" kern="1200" dirty="0"/>
            <a:t>第三，你个人感受的现实与理论的差距是</a:t>
          </a:r>
          <a:r>
            <a:rPr lang="zh-CN" altLang="en-US" sz="3200" kern="1200" dirty="0"/>
            <a:t>新玩法</a:t>
          </a:r>
          <a:r>
            <a:rPr lang="zh-CN" sz="3200" kern="1200" dirty="0"/>
            <a:t>的源泉。</a:t>
          </a:r>
          <a:endParaRPr lang="en-CN" sz="3200" kern="1200" dirty="0"/>
        </a:p>
      </dsp:txBody>
      <dsp:txXfrm>
        <a:off x="48433" y="2461239"/>
        <a:ext cx="10034559" cy="8952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370B5-BD92-BC46-A156-FFF79EFECD02}">
      <dsp:nvSpPr>
        <dsp:cNvPr id="0" name=""/>
        <dsp:cNvSpPr/>
      </dsp:nvSpPr>
      <dsp:spPr>
        <a:xfrm>
          <a:off x="0" y="0"/>
          <a:ext cx="3649133" cy="364913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C27D2-8DEE-044C-B2D5-B6B3665F1794}">
      <dsp:nvSpPr>
        <dsp:cNvPr id="0" name=""/>
        <dsp:cNvSpPr/>
      </dsp:nvSpPr>
      <dsp:spPr>
        <a:xfrm>
          <a:off x="1824566" y="0"/>
          <a:ext cx="8306858" cy="364913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N" sz="3100" kern="1200" dirty="0"/>
            <a:t>中国社会综合调查</a:t>
          </a:r>
          <a:r>
            <a:rPr lang="zh-CN" sz="3100" kern="1200" dirty="0"/>
            <a:t>（</a:t>
          </a:r>
          <a:r>
            <a:rPr lang="en-US" sz="3100" kern="1200" dirty="0"/>
            <a:t>CGSS</a:t>
          </a:r>
          <a:r>
            <a:rPr lang="zh-CN" sz="3100" kern="1200" dirty="0"/>
            <a:t>）</a:t>
          </a:r>
          <a:r>
            <a:rPr lang="en-US" sz="3100" kern="1200" dirty="0"/>
            <a:t>——</a:t>
          </a:r>
          <a:r>
            <a:rPr lang="zh-CN" sz="3100" kern="1200" dirty="0"/>
            <a:t>中国人民大学</a:t>
          </a:r>
          <a:endParaRPr lang="en-CN" sz="3100" kern="1200" dirty="0"/>
        </a:p>
      </dsp:txBody>
      <dsp:txXfrm>
        <a:off x="1824566" y="0"/>
        <a:ext cx="8306858" cy="1094742"/>
      </dsp:txXfrm>
    </dsp:sp>
    <dsp:sp modelId="{D2CE3951-675A-BD40-A47A-D750E9C8D0DD}">
      <dsp:nvSpPr>
        <dsp:cNvPr id="0" name=""/>
        <dsp:cNvSpPr/>
      </dsp:nvSpPr>
      <dsp:spPr>
        <a:xfrm>
          <a:off x="638599" y="1094742"/>
          <a:ext cx="2371934" cy="23719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80066-A305-494D-A06C-D26B424F4852}">
      <dsp:nvSpPr>
        <dsp:cNvPr id="0" name=""/>
        <dsp:cNvSpPr/>
      </dsp:nvSpPr>
      <dsp:spPr>
        <a:xfrm>
          <a:off x="1824566" y="1094742"/>
          <a:ext cx="8306858" cy="23719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100" kern="1200"/>
            <a:t>中国家庭追踪调查（</a:t>
          </a:r>
          <a:r>
            <a:rPr lang="en-US" sz="3100" kern="1200"/>
            <a:t>CFPS</a:t>
          </a:r>
          <a:r>
            <a:rPr lang="zh-CN" sz="3100" kern="1200"/>
            <a:t>）</a:t>
          </a:r>
          <a:r>
            <a:rPr lang="en-US" sz="3100" kern="1200"/>
            <a:t>——</a:t>
          </a:r>
          <a:r>
            <a:rPr lang="zh-CN" sz="3100" kern="1200"/>
            <a:t>北京大学</a:t>
          </a:r>
          <a:endParaRPr lang="en-CN" sz="3100" kern="1200"/>
        </a:p>
      </dsp:txBody>
      <dsp:txXfrm>
        <a:off x="1824566" y="1094742"/>
        <a:ext cx="8306858" cy="1094738"/>
      </dsp:txXfrm>
    </dsp:sp>
    <dsp:sp modelId="{5CB6F225-E2F2-7F48-8137-B0C3D10BA397}">
      <dsp:nvSpPr>
        <dsp:cNvPr id="0" name=""/>
        <dsp:cNvSpPr/>
      </dsp:nvSpPr>
      <dsp:spPr>
        <a:xfrm>
          <a:off x="1277197" y="2189480"/>
          <a:ext cx="1094738" cy="109473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0D17E-5240-0844-ADA9-9839900C4B90}">
      <dsp:nvSpPr>
        <dsp:cNvPr id="0" name=""/>
        <dsp:cNvSpPr/>
      </dsp:nvSpPr>
      <dsp:spPr>
        <a:xfrm>
          <a:off x="1824566" y="2189480"/>
          <a:ext cx="8306858" cy="10947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100" kern="1200"/>
            <a:t>中国家庭大数据库（</a:t>
          </a:r>
          <a:r>
            <a:rPr lang="en-US" sz="3100" kern="1200"/>
            <a:t>CFD</a:t>
          </a:r>
          <a:r>
            <a:rPr lang="zh-CN" sz="3100" kern="1200"/>
            <a:t>）</a:t>
          </a:r>
          <a:r>
            <a:rPr lang="en-US" sz="3100" kern="1200"/>
            <a:t>——</a:t>
          </a:r>
          <a:r>
            <a:rPr lang="zh-CN" sz="3100" kern="1200"/>
            <a:t>浙江大学</a:t>
          </a:r>
          <a:endParaRPr lang="en-CN" sz="3100" kern="1200"/>
        </a:p>
      </dsp:txBody>
      <dsp:txXfrm>
        <a:off x="1824566" y="2189480"/>
        <a:ext cx="8306858" cy="1094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9153-C950-496C-C3F6-4D5488474A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第</a:t>
            </a:r>
            <a:r>
              <a:rPr lang="zh-CN" altLang="en-US" dirty="0"/>
              <a:t>五</a:t>
            </a:r>
            <a:r>
              <a:rPr lang="en-CN"/>
              <a:t>讲</a:t>
            </a:r>
            <a:r>
              <a:rPr lang="zh-CN" altLang="en-US" dirty="0"/>
              <a:t> 论证思维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049F5-ADC1-E45F-888D-F0C946C53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麦壳老师</a:t>
            </a:r>
            <a:endParaRPr lang="en-US" altLang="zh-CN" dirty="0"/>
          </a:p>
          <a:p>
            <a:r>
              <a:rPr lang="en-US" dirty="0" err="1"/>
              <a:t>浙江大学公共管理学院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9126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52D6-4935-0CA2-D961-639F061D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课程反思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3AD6F-6EE6-07D5-E561-2B0819285838}"/>
              </a:ext>
            </a:extLst>
          </p:cNvPr>
          <p:cNvSpPr/>
          <p:nvPr/>
        </p:nvSpPr>
        <p:spPr>
          <a:xfrm>
            <a:off x="2669420" y="2967335"/>
            <a:ext cx="6853158" cy="16312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C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学术写作的本质不是写作本身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  <a:p>
            <a:pPr algn="ctr"/>
            <a:r>
              <a:rPr lang="zh-CN" altLang="en-US" sz="6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而是科学思维</a:t>
            </a:r>
            <a:endParaRPr lang="en-CN" sz="6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088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1D85-E381-A658-FFCF-C167EB01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课程反思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003607-3C23-D635-54EE-B741BE0D55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085171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467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1032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61D47E0-9690-6E13-26F4-577EFD7B7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胡适先生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8AFA24-CCBB-C9F1-DE8B-8F078652F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0" y="2251587"/>
            <a:ext cx="5147730" cy="36379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大胆假设</a:t>
            </a:r>
          </a:p>
          <a:p>
            <a:pPr>
              <a:buFont typeface="Arial"/>
              <a:buChar char="•"/>
            </a:pPr>
            <a:r>
              <a:rPr lang="en-US"/>
              <a:t>小心求证</a:t>
            </a:r>
          </a:p>
        </p:txBody>
      </p:sp>
      <p:pic>
        <p:nvPicPr>
          <p:cNvPr id="1028" name="Picture 4" descr="如何找出问题的本质？ - 知乎">
            <a:extLst>
              <a:ext uri="{FF2B5EF4-FFF2-40B4-BE49-F238E27FC236}">
                <a16:creationId xmlns:a16="http://schemas.microsoft.com/office/drawing/2014/main" id="{8B19690A-57BF-5171-1ED4-35CF2530BA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7631" y="639097"/>
            <a:ext cx="3609667" cy="5250425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61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7DDDD7-487F-0294-790D-D01656F2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什么是大胆假设</a:t>
            </a:r>
            <a:r>
              <a:rPr lang="zh-CN" altLang="en-US" dirty="0"/>
              <a:t>？</a:t>
            </a:r>
            <a:endParaRPr lang="en-C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C65345-B5F8-2DF6-2F4D-91A040D6D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675863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887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3C76-E1E0-0285-A771-F03B2EE5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en-CN" dirty="0"/>
              <a:t>假设需要准备什么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3074" name="Picture 2" descr="如何写好研究假设？_SCI论文与写作_SCI_科研星球">
            <a:extLst>
              <a:ext uri="{FF2B5EF4-FFF2-40B4-BE49-F238E27FC236}">
                <a16:creationId xmlns:a16="http://schemas.microsoft.com/office/drawing/2014/main" id="{ADBDC209-22FC-A091-5FFF-9D1EB0DEC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64"/>
          <a:stretch/>
        </p:blipFill>
        <p:spPr bwMode="auto">
          <a:xfrm>
            <a:off x="20" y="975"/>
            <a:ext cx="75529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D0C2BDB9-7789-F01E-50AC-3221C1838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/>
              <a:t>Idea</a:t>
            </a:r>
          </a:p>
          <a:p>
            <a:r>
              <a:rPr lang="en-US" dirty="0"/>
              <a:t>Literature</a:t>
            </a:r>
          </a:p>
          <a:p>
            <a:r>
              <a:rPr lang="en-US" dirty="0"/>
              <a:t>Observation</a:t>
            </a:r>
          </a:p>
          <a:p>
            <a:r>
              <a:rPr lang="en-US" dirty="0"/>
              <a:t>Question</a:t>
            </a:r>
          </a:p>
          <a:p>
            <a:r>
              <a:rPr lang="en-US" dirty="0"/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36475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4B00-541D-3791-BDE4-DC3A13E9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回想我们的课程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5A6240-A151-02C3-0130-DB0934D4F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772571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45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5D1-A134-D529-652E-55359C69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理解社会科学研究</a:t>
            </a:r>
          </a:p>
        </p:txBody>
      </p:sp>
      <p:pic>
        <p:nvPicPr>
          <p:cNvPr id="8" name="Content Placeholder 7" descr="A person in glasses and a suit&#10;&#10;Description automatically generated">
            <a:extLst>
              <a:ext uri="{FF2B5EF4-FFF2-40B4-BE49-F238E27FC236}">
                <a16:creationId xmlns:a16="http://schemas.microsoft.com/office/drawing/2014/main" id="{0ACB15AB-145B-42B1-07C5-F1A700868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7516" y="2141538"/>
            <a:ext cx="6927992" cy="3649662"/>
          </a:xfrm>
        </p:spPr>
      </p:pic>
    </p:spTree>
    <p:extLst>
      <p:ext uri="{BB962C8B-B14F-4D97-AF65-F5344CB8AC3E}">
        <p14:creationId xmlns:p14="http://schemas.microsoft.com/office/powerpoint/2010/main" val="192548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FB71CB-8C27-784A-2CC7-264B53CA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2021</a:t>
            </a:r>
            <a:r>
              <a:rPr lang="zh-CN" altLang="en-US" dirty="0"/>
              <a:t>年诺贝尔奖</a:t>
            </a:r>
            <a:endParaRPr lang="en-US"/>
          </a:p>
        </p:txBody>
      </p:sp>
      <p:pic>
        <p:nvPicPr>
          <p:cNvPr id="7" name="Content Placeholder 6" descr="A group of men with glasses&#10;&#10;Description automatically generated">
            <a:extLst>
              <a:ext uri="{FF2B5EF4-FFF2-40B4-BE49-F238E27FC236}">
                <a16:creationId xmlns:a16="http://schemas.microsoft.com/office/drawing/2014/main" id="{33C153E4-6660-6CF8-B28D-A1B165D6DA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r="-2" b="9199"/>
          <a:stretch/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830F4-2FF5-4D93-6FB2-FBD574C96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65806" y="2251587"/>
            <a:ext cx="3706762" cy="3972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大卫</a:t>
            </a:r>
            <a:r>
              <a:rPr lang="en-US" altLang="zh-CN" dirty="0"/>
              <a:t>·</a:t>
            </a:r>
            <a:r>
              <a:rPr lang="zh-CN" altLang="en-US" dirty="0"/>
              <a:t>卡特</a:t>
            </a:r>
            <a:endParaRPr lang="en-US" altLang="zh-CN" dirty="0"/>
          </a:p>
          <a:p>
            <a:r>
              <a:rPr lang="zh-CN" altLang="en-US" dirty="0"/>
              <a:t>问题：教育如何影响收入？</a:t>
            </a:r>
            <a:endParaRPr lang="en-US" altLang="zh-CN" dirty="0"/>
          </a:p>
          <a:p>
            <a:r>
              <a:rPr lang="zh-CN" altLang="en-US" dirty="0"/>
              <a:t>假设：学历越高，收入越高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34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8BCE-04DA-AEE7-F98B-3BE03422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社会科学研究数据库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1E067C-861C-804C-E9E3-2D3026CDC6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242831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860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A039-EA9E-ED96-3209-F74FE902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学历越高</a:t>
            </a:r>
            <a:r>
              <a:rPr lang="zh-CN" altLang="en-US" dirty="0"/>
              <a:t>，收入越高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0BEBE-BDCD-1B64-F403-6A612F4FFD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N" dirty="0"/>
              <a:t>如何衡量学历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文盲</a:t>
            </a:r>
            <a:endParaRPr lang="en-US" altLang="zh-CN" dirty="0"/>
          </a:p>
          <a:p>
            <a:pPr lvl="1"/>
            <a:r>
              <a:rPr lang="zh-CN" altLang="en-US" dirty="0"/>
              <a:t>小学</a:t>
            </a:r>
            <a:endParaRPr lang="en-US" altLang="zh-CN" dirty="0"/>
          </a:p>
          <a:p>
            <a:pPr lvl="1"/>
            <a:r>
              <a:rPr lang="zh-CN" altLang="en-US" dirty="0"/>
              <a:t>初中</a:t>
            </a:r>
            <a:endParaRPr lang="en-US" altLang="zh-CN" dirty="0"/>
          </a:p>
          <a:p>
            <a:pPr lvl="1"/>
            <a:r>
              <a:rPr lang="zh-CN" altLang="en-US" dirty="0"/>
              <a:t>高中</a:t>
            </a:r>
            <a:endParaRPr lang="en-US" altLang="zh-CN" dirty="0"/>
          </a:p>
          <a:p>
            <a:pPr lvl="1"/>
            <a:r>
              <a:rPr lang="zh-CN" altLang="en-US" dirty="0"/>
              <a:t>大学</a:t>
            </a:r>
            <a:endParaRPr lang="en-US" altLang="zh-CN" dirty="0"/>
          </a:p>
          <a:p>
            <a:pPr lvl="1"/>
            <a:r>
              <a:rPr lang="zh-CN" altLang="en-US" dirty="0"/>
              <a:t>研究生</a:t>
            </a:r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9A9EC-541B-C1A3-BC68-1259895B9A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N" dirty="0"/>
              <a:t>如何衡量收入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什么是收入？</a:t>
            </a:r>
            <a:endParaRPr lang="en-US" altLang="zh-CN" dirty="0"/>
          </a:p>
          <a:p>
            <a:pPr lvl="1"/>
            <a:r>
              <a:rPr lang="zh-CN" altLang="en-CN" dirty="0"/>
              <a:t>连续型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CN" dirty="0"/>
              <a:t>分段型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6163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301F36-9C72-9A28-E578-B4A770CC7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中国家庭追踪调查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4895D-C510-D764-0D0A-0C96D7222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N" dirty="0"/>
              <a:t>收入变量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D7958-77B6-CEDB-B21A-B8AB22468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教育变量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567E13-4FF7-377D-9383-BA70D82ED9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edu</a:t>
            </a:r>
            <a:r>
              <a:rPr lang="en-US" dirty="0"/>
              <a:t> educ </a:t>
            </a:r>
            <a:r>
              <a:rPr lang="en-US" dirty="0" err="1"/>
              <a:t>eduy</a:t>
            </a:r>
            <a:r>
              <a:rPr lang="en-US" dirty="0"/>
              <a:t> </a:t>
            </a:r>
            <a:r>
              <a:rPr lang="en-US" dirty="0" err="1"/>
              <a:t>edul</a:t>
            </a:r>
            <a:r>
              <a:rPr lang="en-US" dirty="0"/>
              <a:t> edu2010 sch2010</a:t>
            </a:r>
            <a:endParaRPr lang="en-C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28EFE1-0AB3-53B4-D4DD-EC9228F42D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qk6_max qk6_min qk601</a:t>
            </a:r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F41B5B-3358-9972-5DDD-FD5D6C642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83" y="5333999"/>
            <a:ext cx="7772400" cy="914400"/>
          </a:xfrm>
          <a:prstGeom prst="rect">
            <a:avLst/>
          </a:prstGeom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9042C32A-4BB3-ADDD-677F-F9D6DB04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183" y="3567729"/>
            <a:ext cx="7772400" cy="134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23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175908-C51B-38B9-F315-07BA206D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en-CN" dirty="0"/>
              <a:t>描述统计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F24E9E-7317-064C-E0F2-236441180E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81" r="16098"/>
          <a:stretch/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26F062-B496-90F8-A506-DEDA8332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 err="1"/>
              <a:t>大学是个分水岭</a:t>
            </a:r>
            <a:endParaRPr lang="en-US" dirty="0"/>
          </a:p>
          <a:p>
            <a:r>
              <a:rPr lang="en-US" dirty="0" err="1"/>
              <a:t>硕士的意义更大</a:t>
            </a:r>
            <a:endParaRPr lang="en-US" dirty="0"/>
          </a:p>
          <a:p>
            <a:r>
              <a:rPr lang="en-US" dirty="0" err="1"/>
              <a:t>博士稳定不高薪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7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59195-54F0-3271-9CD4-E12EF7F8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>
            <a:normAutofit/>
          </a:bodyPr>
          <a:lstStyle/>
          <a:p>
            <a:r>
              <a:rPr lang="zh-CN" altLang="en-US" dirty="0"/>
              <a:t>重新思考文献回顾</a:t>
            </a:r>
            <a:endParaRPr lang="en-CN" dirty="0"/>
          </a:p>
        </p:txBody>
      </p:sp>
      <p:pic>
        <p:nvPicPr>
          <p:cNvPr id="7" name="Picture 6" descr="建筑物的倒影">
            <a:extLst>
              <a:ext uri="{FF2B5EF4-FFF2-40B4-BE49-F238E27FC236}">
                <a16:creationId xmlns:a16="http://schemas.microsoft.com/office/drawing/2014/main" id="{C7D68B74-387F-F22B-EDAA-61CF0B6BBC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06" r="30560" b="-2"/>
          <a:stretch/>
        </p:blipFill>
        <p:spPr>
          <a:xfrm>
            <a:off x="20" y="975"/>
            <a:ext cx="609598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3A19-776E-128A-7D8C-27EDFC66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251587"/>
            <a:ext cx="5147730" cy="3637935"/>
          </a:xfrm>
        </p:spPr>
        <p:txBody>
          <a:bodyPr>
            <a:normAutofit/>
          </a:bodyPr>
          <a:lstStyle/>
          <a:p>
            <a:r>
              <a:rPr lang="zh-CN" altLang="en-US" dirty="0"/>
              <a:t>文献回顾的最终目标是提出</a:t>
            </a:r>
            <a:r>
              <a:rPr lang="zh-CN" altLang="en-US" dirty="0">
                <a:solidFill>
                  <a:srgbClr val="FF0000"/>
                </a:solidFill>
              </a:rPr>
              <a:t>“假设”</a:t>
            </a:r>
            <a:r>
              <a:rPr lang="zh-CN" altLang="en-US" dirty="0"/>
              <a:t>，为接下来的科学论证做准备。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17324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F43132E-D4DF-4A83-9344-A782D0F5D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D6B1691-3B85-72C7-9588-BD4D8A61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875" y="1212935"/>
            <a:ext cx="6020177" cy="44321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6600"/>
              <a:t>谢谢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3A1677-8743-B08F-9F41-7623C71B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7261" y="2087881"/>
            <a:ext cx="3142864" cy="26822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1800" dirty="0"/>
              <a:t>麦壳老师</a:t>
            </a:r>
            <a:endParaRPr lang="en-US" altLang="zh-CN" sz="1800" dirty="0"/>
          </a:p>
          <a:p>
            <a:r>
              <a:rPr lang="zh-CN" altLang="en-US" sz="1800" dirty="0"/>
              <a:t>宇宙第一水货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A24BC1-1577-4586-AD7A-417660E37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1017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351</TotalTime>
  <Words>273</Words>
  <Application>Microsoft Macintosh PowerPoint</Application>
  <PresentationFormat>宽屏</PresentationFormat>
  <Paragraphs>60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第五讲 论证思维</vt:lpstr>
      <vt:lpstr>课程反思</vt:lpstr>
      <vt:lpstr>课程反思</vt:lpstr>
      <vt:lpstr>胡适先生</vt:lpstr>
      <vt:lpstr>什么是大胆假设？</vt:lpstr>
      <vt:lpstr>假设需要准备什么？</vt:lpstr>
      <vt:lpstr>回想我们的课程</vt:lpstr>
      <vt:lpstr>理解社会科学研究</vt:lpstr>
      <vt:lpstr>2021年诺贝尔奖</vt:lpstr>
      <vt:lpstr>社会科学研究数据库</vt:lpstr>
      <vt:lpstr>学历越高，收入越高</vt:lpstr>
      <vt:lpstr>中国家庭追踪调查</vt:lpstr>
      <vt:lpstr>描述统计</vt:lpstr>
      <vt:lpstr>重新思考文献回顾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第六讲 假设</dc:title>
  <dc:creator>Michael Ma</dc:creator>
  <cp:lastModifiedBy>Bianca Ma 2029</cp:lastModifiedBy>
  <cp:revision>2</cp:revision>
  <dcterms:created xsi:type="dcterms:W3CDTF">2023-12-18T04:33:22Z</dcterms:created>
  <dcterms:modified xsi:type="dcterms:W3CDTF">2024-12-23T06:31:54Z</dcterms:modified>
</cp:coreProperties>
</file>