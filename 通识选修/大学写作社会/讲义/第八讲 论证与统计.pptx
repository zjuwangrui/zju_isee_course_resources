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5" r:id="rId4"/>
    <p:sldId id="258" r:id="rId5"/>
    <p:sldId id="259" r:id="rId6"/>
    <p:sldId id="260" r:id="rId7"/>
    <p:sldId id="261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36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Ma" userId="6ad0b99d3e159485" providerId="LiveId" clId="{9AF7905E-049D-4EF9-85D3-68182426DC96}"/>
    <pc:docChg chg="modSld">
      <pc:chgData name="Michael Ma" userId="6ad0b99d3e159485" providerId="LiveId" clId="{9AF7905E-049D-4EF9-85D3-68182426DC96}" dt="2023-12-25T10:47:48.785" v="0" actId="20577"/>
      <pc:docMkLst>
        <pc:docMk/>
      </pc:docMkLst>
      <pc:sldChg chg="modSp mod">
        <pc:chgData name="Michael Ma" userId="6ad0b99d3e159485" providerId="LiveId" clId="{9AF7905E-049D-4EF9-85D3-68182426DC96}" dt="2023-12-25T10:47:48.785" v="0" actId="20577"/>
        <pc:sldMkLst>
          <pc:docMk/>
          <pc:sldMk cId="4041963363" sldId="265"/>
        </pc:sldMkLst>
        <pc:spChg chg="mod">
          <ac:chgData name="Michael Ma" userId="6ad0b99d3e159485" providerId="LiveId" clId="{9AF7905E-049D-4EF9-85D3-68182426DC96}" dt="2023-12-25T10:47:48.785" v="0" actId="20577"/>
          <ac:spMkLst>
            <pc:docMk/>
            <pc:sldMk cId="4041963363" sldId="265"/>
            <ac:spMk id="3" creationId="{AC4E5781-3D5B-4C82-90DB-52495CF46202}"/>
          </ac:spMkLst>
        </pc:spChg>
      </pc:sldChg>
    </pc:docChg>
  </pc:docChgLst>
  <pc:docChgLst>
    <pc:chgData name="Michael Ma" userId="6ad0b99d3e159485" providerId="LiveId" clId="{630BEDA5-A613-425D-9977-80EE4CF56827}"/>
    <pc:docChg chg="custSel addSld delSld modSld">
      <pc:chgData name="Michael Ma" userId="6ad0b99d3e159485" providerId="LiveId" clId="{630BEDA5-A613-425D-9977-80EE4CF56827}" dt="2024-06-03T06:56:42.615" v="155" actId="20577"/>
      <pc:docMkLst>
        <pc:docMk/>
      </pc:docMkLst>
      <pc:sldChg chg="modSp mod">
        <pc:chgData name="Michael Ma" userId="6ad0b99d3e159485" providerId="LiveId" clId="{630BEDA5-A613-425D-9977-80EE4CF56827}" dt="2024-06-03T06:49:57.115" v="18" actId="20577"/>
        <pc:sldMkLst>
          <pc:docMk/>
          <pc:sldMk cId="404483370" sldId="256"/>
        </pc:sldMkLst>
        <pc:spChg chg="mod">
          <ac:chgData name="Michael Ma" userId="6ad0b99d3e159485" providerId="LiveId" clId="{630BEDA5-A613-425D-9977-80EE4CF56827}" dt="2024-06-03T06:49:46.088" v="8" actId="20577"/>
          <ac:spMkLst>
            <pc:docMk/>
            <pc:sldMk cId="404483370" sldId="256"/>
            <ac:spMk id="2" creationId="{08605392-B9E2-43F3-B930-7626F45F6A9A}"/>
          </ac:spMkLst>
        </pc:spChg>
        <pc:spChg chg="mod">
          <ac:chgData name="Michael Ma" userId="6ad0b99d3e159485" providerId="LiveId" clId="{630BEDA5-A613-425D-9977-80EE4CF56827}" dt="2024-06-03T06:49:57.115" v="18" actId="20577"/>
          <ac:spMkLst>
            <pc:docMk/>
            <pc:sldMk cId="404483370" sldId="256"/>
            <ac:spMk id="3" creationId="{8B3C9FC1-CA2B-4182-B5D7-7026E1BF5762}"/>
          </ac:spMkLst>
        </pc:spChg>
      </pc:sldChg>
      <pc:sldChg chg="del">
        <pc:chgData name="Michael Ma" userId="6ad0b99d3e159485" providerId="LiveId" clId="{630BEDA5-A613-425D-9977-80EE4CF56827}" dt="2024-06-03T06:50:36.745" v="19" actId="47"/>
        <pc:sldMkLst>
          <pc:docMk/>
          <pc:sldMk cId="139185748" sldId="262"/>
        </pc:sldMkLst>
      </pc:sldChg>
      <pc:sldChg chg="addSp delSp modSp new mod setBg modClrScheme chgLayout">
        <pc:chgData name="Michael Ma" userId="6ad0b99d3e159485" providerId="LiveId" clId="{630BEDA5-A613-425D-9977-80EE4CF56827}" dt="2024-06-03T06:56:42.615" v="155" actId="20577"/>
        <pc:sldMkLst>
          <pc:docMk/>
          <pc:sldMk cId="1625336860" sldId="271"/>
        </pc:sldMkLst>
        <pc:spChg chg="del mod ord">
          <ac:chgData name="Michael Ma" userId="6ad0b99d3e159485" providerId="LiveId" clId="{630BEDA5-A613-425D-9977-80EE4CF56827}" dt="2024-06-03T06:52:20.560" v="21" actId="700"/>
          <ac:spMkLst>
            <pc:docMk/>
            <pc:sldMk cId="1625336860" sldId="271"/>
            <ac:spMk id="2" creationId="{5DFEF72F-E300-6B36-1A38-A498E13AEA7E}"/>
          </ac:spMkLst>
        </pc:spChg>
        <pc:spChg chg="add mod ord">
          <ac:chgData name="Michael Ma" userId="6ad0b99d3e159485" providerId="LiveId" clId="{630BEDA5-A613-425D-9977-80EE4CF56827}" dt="2024-06-03T06:56:42.615" v="155" actId="20577"/>
          <ac:spMkLst>
            <pc:docMk/>
            <pc:sldMk cId="1625336860" sldId="271"/>
            <ac:spMk id="3" creationId="{63DD9FB5-FD8E-3588-A703-4B1071BEE0D1}"/>
          </ac:spMkLst>
        </pc:spChg>
        <pc:spChg chg="add mod ord">
          <ac:chgData name="Michael Ma" userId="6ad0b99d3e159485" providerId="LiveId" clId="{630BEDA5-A613-425D-9977-80EE4CF56827}" dt="2024-06-03T06:56:25.972" v="137" actId="26606"/>
          <ac:spMkLst>
            <pc:docMk/>
            <pc:sldMk cId="1625336860" sldId="271"/>
            <ac:spMk id="4" creationId="{8E43A2B2-E7E7-5705-2F26-E6BDD916D7E2}"/>
          </ac:spMkLst>
        </pc:spChg>
        <pc:spChg chg="add del">
          <ac:chgData name="Michael Ma" userId="6ad0b99d3e159485" providerId="LiveId" clId="{630BEDA5-A613-425D-9977-80EE4CF56827}" dt="2024-06-03T06:56:25.972" v="137" actId="26606"/>
          <ac:spMkLst>
            <pc:docMk/>
            <pc:sldMk cId="1625336860" sldId="271"/>
            <ac:spMk id="26" creationId="{66D61E08-70C3-48D8-BEA0-787111DC30DA}"/>
          </ac:spMkLst>
        </pc:spChg>
        <pc:spChg chg="add del">
          <ac:chgData name="Michael Ma" userId="6ad0b99d3e159485" providerId="LiveId" clId="{630BEDA5-A613-425D-9977-80EE4CF56827}" dt="2024-06-03T06:56:25.972" v="137" actId="26606"/>
          <ac:spMkLst>
            <pc:docMk/>
            <pc:sldMk cId="1625336860" sldId="271"/>
            <ac:spMk id="28" creationId="{FC55298F-0AE5-478E-AD2B-03C2614C5833}"/>
          </ac:spMkLst>
        </pc:spChg>
        <pc:spChg chg="add del">
          <ac:chgData name="Michael Ma" userId="6ad0b99d3e159485" providerId="LiveId" clId="{630BEDA5-A613-425D-9977-80EE4CF56827}" dt="2024-06-03T06:56:25.972" v="137" actId="26606"/>
          <ac:spMkLst>
            <pc:docMk/>
            <pc:sldMk cId="1625336860" sldId="271"/>
            <ac:spMk id="30" creationId="{C180E4EA-0B63-4779-A895-7E90E71088F3}"/>
          </ac:spMkLst>
        </pc:spChg>
        <pc:spChg chg="add del">
          <ac:chgData name="Michael Ma" userId="6ad0b99d3e159485" providerId="LiveId" clId="{630BEDA5-A613-425D-9977-80EE4CF56827}" dt="2024-06-03T06:56:25.972" v="137" actId="26606"/>
          <ac:spMkLst>
            <pc:docMk/>
            <pc:sldMk cId="1625336860" sldId="271"/>
            <ac:spMk id="32" creationId="{CEE01D9D-3DE8-4EED-B0D3-8F3C79CC7673}"/>
          </ac:spMkLst>
        </pc:spChg>
        <pc:spChg chg="add del">
          <ac:chgData name="Michael Ma" userId="6ad0b99d3e159485" providerId="LiveId" clId="{630BEDA5-A613-425D-9977-80EE4CF56827}" dt="2024-06-03T06:56:25.972" v="137" actId="26606"/>
          <ac:spMkLst>
            <pc:docMk/>
            <pc:sldMk cId="1625336860" sldId="271"/>
            <ac:spMk id="34" creationId="{89AF5CE9-607F-43F4-8983-DCD6DA4051FD}"/>
          </ac:spMkLst>
        </pc:spChg>
        <pc:spChg chg="add del">
          <ac:chgData name="Michael Ma" userId="6ad0b99d3e159485" providerId="LiveId" clId="{630BEDA5-A613-425D-9977-80EE4CF56827}" dt="2024-06-03T06:56:25.972" v="137" actId="26606"/>
          <ac:spMkLst>
            <pc:docMk/>
            <pc:sldMk cId="1625336860" sldId="271"/>
            <ac:spMk id="36" creationId="{6EEA2DBD-9E1E-4521-8C01-F32AD18A89E3}"/>
          </ac:spMkLst>
        </pc:spChg>
        <pc:spChg chg="add del">
          <ac:chgData name="Michael Ma" userId="6ad0b99d3e159485" providerId="LiveId" clId="{630BEDA5-A613-425D-9977-80EE4CF56827}" dt="2024-06-03T06:56:25.972" v="137" actId="26606"/>
          <ac:spMkLst>
            <pc:docMk/>
            <pc:sldMk cId="1625336860" sldId="271"/>
            <ac:spMk id="38" creationId="{15BBD2C1-BA9B-46A9-A27A-33498B169272}"/>
          </ac:spMkLst>
        </pc:spChg>
        <pc:spChg chg="add">
          <ac:chgData name="Michael Ma" userId="6ad0b99d3e159485" providerId="LiveId" clId="{630BEDA5-A613-425D-9977-80EE4CF56827}" dt="2024-06-03T06:56:25.972" v="137" actId="26606"/>
          <ac:spMkLst>
            <pc:docMk/>
            <pc:sldMk cId="1625336860" sldId="271"/>
            <ac:spMk id="55" creationId="{3559A5F2-8BE0-4998-A1E4-1B145465A981}"/>
          </ac:spMkLst>
        </pc:spChg>
        <pc:spChg chg="add">
          <ac:chgData name="Michael Ma" userId="6ad0b99d3e159485" providerId="LiveId" clId="{630BEDA5-A613-425D-9977-80EE4CF56827}" dt="2024-06-03T06:56:25.972" v="137" actId="26606"/>
          <ac:spMkLst>
            <pc:docMk/>
            <pc:sldMk cId="1625336860" sldId="271"/>
            <ac:spMk id="57" creationId="{3A6596D4-D53C-424F-9F16-CC8686C079E0}"/>
          </ac:spMkLst>
        </pc:spChg>
        <pc:spChg chg="add">
          <ac:chgData name="Michael Ma" userId="6ad0b99d3e159485" providerId="LiveId" clId="{630BEDA5-A613-425D-9977-80EE4CF56827}" dt="2024-06-03T06:56:25.972" v="137" actId="26606"/>
          <ac:spMkLst>
            <pc:docMk/>
            <pc:sldMk cId="1625336860" sldId="271"/>
            <ac:spMk id="63" creationId="{9772CABD-4211-42AA-B349-D4002E52F1EF}"/>
          </ac:spMkLst>
        </pc:spChg>
        <pc:spChg chg="add">
          <ac:chgData name="Michael Ma" userId="6ad0b99d3e159485" providerId="LiveId" clId="{630BEDA5-A613-425D-9977-80EE4CF56827}" dt="2024-06-03T06:56:25.972" v="137" actId="26606"/>
          <ac:spMkLst>
            <pc:docMk/>
            <pc:sldMk cId="1625336860" sldId="271"/>
            <ac:spMk id="65" creationId="{BBD91630-4DBA-4294-8016-FEB5C3B0CED1}"/>
          </ac:spMkLst>
        </pc:spChg>
        <pc:spChg chg="add">
          <ac:chgData name="Michael Ma" userId="6ad0b99d3e159485" providerId="LiveId" clId="{630BEDA5-A613-425D-9977-80EE4CF56827}" dt="2024-06-03T06:56:25.972" v="137" actId="26606"/>
          <ac:spMkLst>
            <pc:docMk/>
            <pc:sldMk cId="1625336860" sldId="271"/>
            <ac:spMk id="67" creationId="{E67D1587-504D-41BC-9D48-B61257BFBCF0}"/>
          </ac:spMkLst>
        </pc:spChg>
        <pc:spChg chg="add">
          <ac:chgData name="Michael Ma" userId="6ad0b99d3e159485" providerId="LiveId" clId="{630BEDA5-A613-425D-9977-80EE4CF56827}" dt="2024-06-03T06:56:25.972" v="137" actId="26606"/>
          <ac:spMkLst>
            <pc:docMk/>
            <pc:sldMk cId="1625336860" sldId="271"/>
            <ac:spMk id="69" creationId="{8765DD1A-F044-4DE7-8A9B-7C30DC85A4AF}"/>
          </ac:spMkLst>
        </pc:spChg>
        <pc:spChg chg="add">
          <ac:chgData name="Michael Ma" userId="6ad0b99d3e159485" providerId="LiveId" clId="{630BEDA5-A613-425D-9977-80EE4CF56827}" dt="2024-06-03T06:56:25.972" v="137" actId="26606"/>
          <ac:spMkLst>
            <pc:docMk/>
            <pc:sldMk cId="1625336860" sldId="271"/>
            <ac:spMk id="71" creationId="{2FE2170D-72D6-48A8-8E9A-BFF3BF03D032}"/>
          </ac:spMkLst>
        </pc:spChg>
        <pc:spChg chg="add">
          <ac:chgData name="Michael Ma" userId="6ad0b99d3e159485" providerId="LiveId" clId="{630BEDA5-A613-425D-9977-80EE4CF56827}" dt="2024-06-03T06:56:25.972" v="137" actId="26606"/>
          <ac:spMkLst>
            <pc:docMk/>
            <pc:sldMk cId="1625336860" sldId="271"/>
            <ac:spMk id="73" creationId="{01D19436-094D-463D-AFEA-870FDBD03797}"/>
          </ac:spMkLst>
        </pc:spChg>
        <pc:spChg chg="add">
          <ac:chgData name="Michael Ma" userId="6ad0b99d3e159485" providerId="LiveId" clId="{630BEDA5-A613-425D-9977-80EE4CF56827}" dt="2024-06-03T06:56:25.972" v="137" actId="26606"/>
          <ac:spMkLst>
            <pc:docMk/>
            <pc:sldMk cId="1625336860" sldId="271"/>
            <ac:spMk id="75" creationId="{9A2DE6E0-967C-4C58-8558-EC08F1138BD1}"/>
          </ac:spMkLst>
        </pc:spChg>
        <pc:grpChg chg="add del">
          <ac:chgData name="Michael Ma" userId="6ad0b99d3e159485" providerId="LiveId" clId="{630BEDA5-A613-425D-9977-80EE4CF56827}" dt="2024-06-03T06:56:25.972" v="137" actId="26606"/>
          <ac:grpSpMkLst>
            <pc:docMk/>
            <pc:sldMk cId="1625336860" sldId="271"/>
            <ac:grpSpMk id="10" creationId="{A5AFB369-4673-4727-A7CD-D86AFE0AE069}"/>
          </ac:grpSpMkLst>
        </pc:grpChg>
        <pc:grpChg chg="add">
          <ac:chgData name="Michael Ma" userId="6ad0b99d3e159485" providerId="LiveId" clId="{630BEDA5-A613-425D-9977-80EE4CF56827}" dt="2024-06-03T06:56:25.972" v="137" actId="26606"/>
          <ac:grpSpMkLst>
            <pc:docMk/>
            <pc:sldMk cId="1625336860" sldId="271"/>
            <ac:grpSpMk id="43" creationId="{88C9B83F-64CD-41C1-925F-A08801FFD0BD}"/>
          </ac:grpSpMkLst>
        </pc:grpChg>
        <pc:picChg chg="add mod">
          <ac:chgData name="Michael Ma" userId="6ad0b99d3e159485" providerId="LiveId" clId="{630BEDA5-A613-425D-9977-80EE4CF56827}" dt="2024-06-03T06:56:25.972" v="137" actId="26606"/>
          <ac:picMkLst>
            <pc:docMk/>
            <pc:sldMk cId="1625336860" sldId="271"/>
            <ac:picMk id="6" creationId="{08F89E24-0998-2CD6-B198-7171AC52B087}"/>
          </ac:picMkLst>
        </pc:picChg>
        <pc:cxnChg chg="add del">
          <ac:chgData name="Michael Ma" userId="6ad0b99d3e159485" providerId="LiveId" clId="{630BEDA5-A613-425D-9977-80EE4CF56827}" dt="2024-06-03T06:56:25.972" v="137" actId="26606"/>
          <ac:cxnSpMkLst>
            <pc:docMk/>
            <pc:sldMk cId="1625336860" sldId="271"/>
            <ac:cxnSpMk id="22" creationId="{A57C1A16-B8AB-4D99-A195-A38F556A6486}"/>
          </ac:cxnSpMkLst>
        </pc:cxnChg>
        <pc:cxnChg chg="add del">
          <ac:chgData name="Michael Ma" userId="6ad0b99d3e159485" providerId="LiveId" clId="{630BEDA5-A613-425D-9977-80EE4CF56827}" dt="2024-06-03T06:56:25.972" v="137" actId="26606"/>
          <ac:cxnSpMkLst>
            <pc:docMk/>
            <pc:sldMk cId="1625336860" sldId="271"/>
            <ac:cxnSpMk id="24" creationId="{F8A9B20B-D1DD-4573-B5EC-558029519236}"/>
          </ac:cxnSpMkLst>
        </pc:cxnChg>
        <pc:cxnChg chg="add">
          <ac:chgData name="Michael Ma" userId="6ad0b99d3e159485" providerId="LiveId" clId="{630BEDA5-A613-425D-9977-80EE4CF56827}" dt="2024-06-03T06:56:25.972" v="137" actId="26606"/>
          <ac:cxnSpMkLst>
            <pc:docMk/>
            <pc:sldMk cId="1625336860" sldId="271"/>
            <ac:cxnSpMk id="59" creationId="{81BB890B-70D4-42FE-A599-6AEF1A42D972}"/>
          </ac:cxnSpMkLst>
        </pc:cxnChg>
        <pc:cxnChg chg="add">
          <ac:chgData name="Michael Ma" userId="6ad0b99d3e159485" providerId="LiveId" clId="{630BEDA5-A613-425D-9977-80EE4CF56827}" dt="2024-06-03T06:56:25.972" v="137" actId="26606"/>
          <ac:cxnSpMkLst>
            <pc:docMk/>
            <pc:sldMk cId="1625336860" sldId="271"/>
            <ac:cxnSpMk id="61" creationId="{3842D646-B58C-43C8-8152-01BC782B725D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12/23/24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12/23/24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12/23/24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12/23/24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12/23/24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12/23/24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12/23/24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12/23/24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12/23/24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12/23/24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12/23/24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12/23/24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12/23/24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12/23/24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12/23/24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12/23/24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12/23/24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libili.com/video/BV1bX4y1z7Yu/?spm_id_from=333.337.search-card.all.click" TargetMode="External"/><Relationship Id="rId2" Type="http://schemas.openxmlformats.org/officeDocument/2006/relationships/hyperlink" Target="https://www.bilibili.com/video/BV15T411n7Lu/?spm_id_from=333.337.search-card.all.click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bilibili.com/video/BV1QT411P7s7/?spm_id_from=333.337.search-card.all.click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605392-B9E2-43F3-B930-7626F45F6A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第八讲 论证与统计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B3C9FC1-CA2B-4182-B5D7-7026E1BF57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麦壳老师</a:t>
            </a:r>
            <a:endParaRPr lang="en-US" altLang="zh-CN" dirty="0"/>
          </a:p>
          <a:p>
            <a:r>
              <a:rPr lang="zh-CN" altLang="en-US" dirty="0"/>
              <a:t>浙大公管学院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4483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603893-F204-4D48-8A7A-B4036FB52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论证思维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1382763E-1FBA-4CA8-B95A-344C5F5A9D2A}"/>
              </a:ext>
            </a:extLst>
          </p:cNvPr>
          <p:cNvCxnSpPr/>
          <p:nvPr/>
        </p:nvCxnSpPr>
        <p:spPr>
          <a:xfrm>
            <a:off x="2122415" y="2348917"/>
            <a:ext cx="4723002" cy="41693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9E0FF7D9-C980-417A-932E-0EF0284AA7D9}"/>
              </a:ext>
            </a:extLst>
          </p:cNvPr>
          <p:cNvCxnSpPr>
            <a:cxnSpLocks/>
          </p:cNvCxnSpPr>
          <p:nvPr/>
        </p:nvCxnSpPr>
        <p:spPr>
          <a:xfrm flipV="1">
            <a:off x="2332139" y="2248250"/>
            <a:ext cx="4194496" cy="42699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>
            <a:extLst>
              <a:ext uri="{FF2B5EF4-FFF2-40B4-BE49-F238E27FC236}">
                <a16:creationId xmlns:a16="http://schemas.microsoft.com/office/drawing/2014/main" id="{49E0D433-37AD-45F9-BA11-77DB5DA2D817}"/>
              </a:ext>
            </a:extLst>
          </p:cNvPr>
          <p:cNvSpPr/>
          <p:nvPr/>
        </p:nvSpPr>
        <p:spPr>
          <a:xfrm>
            <a:off x="3573710" y="2550253"/>
            <a:ext cx="1535185" cy="97312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理论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1C5B6A10-ED67-4204-99CF-DE435CE23F4C}"/>
              </a:ext>
            </a:extLst>
          </p:cNvPr>
          <p:cNvSpPr/>
          <p:nvPr/>
        </p:nvSpPr>
        <p:spPr>
          <a:xfrm>
            <a:off x="3573710" y="5387130"/>
            <a:ext cx="1535185" cy="97312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实证</a:t>
            </a:r>
          </a:p>
        </p:txBody>
      </p:sp>
      <p:sp>
        <p:nvSpPr>
          <p:cNvPr id="11" name="标注: 左箭头 10">
            <a:extLst>
              <a:ext uri="{FF2B5EF4-FFF2-40B4-BE49-F238E27FC236}">
                <a16:creationId xmlns:a16="http://schemas.microsoft.com/office/drawing/2014/main" id="{2E3B10E5-6B0C-439F-AAEC-BFA0BEDFD447}"/>
              </a:ext>
            </a:extLst>
          </p:cNvPr>
          <p:cNvSpPr/>
          <p:nvPr/>
        </p:nvSpPr>
        <p:spPr>
          <a:xfrm>
            <a:off x="4907560" y="3890394"/>
            <a:ext cx="1459684" cy="985708"/>
          </a:xfrm>
          <a:prstGeom prst="left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假设</a:t>
            </a:r>
          </a:p>
        </p:txBody>
      </p:sp>
    </p:spTree>
    <p:extLst>
      <p:ext uri="{BB962C8B-B14F-4D97-AF65-F5344CB8AC3E}">
        <p14:creationId xmlns:p14="http://schemas.microsoft.com/office/powerpoint/2010/main" val="2323198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6561E1-F2B9-4C5C-874F-479C1B1D6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反思大学的作用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4E5781-3D5B-4C82-90DB-52495CF462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大学生就业难</a:t>
            </a:r>
            <a:endParaRPr lang="en-US" altLang="zh-CN" dirty="0"/>
          </a:p>
          <a:p>
            <a:pPr lvl="1"/>
            <a:r>
              <a:rPr lang="en-US" altLang="zh-CN" dirty="0">
                <a:hlinkClick r:id="rId2"/>
              </a:rPr>
              <a:t>https://www.bilibili.com/video/BV15T411n7Lu/?spm_id_from=333.337.search-card.all.click</a:t>
            </a:r>
            <a:endParaRPr lang="en-US" altLang="zh-CN" dirty="0"/>
          </a:p>
          <a:p>
            <a:r>
              <a:rPr lang="zh-CN" altLang="en-US" dirty="0"/>
              <a:t>二本大学生会不会更加迷茫</a:t>
            </a:r>
            <a:endParaRPr lang="en-US" altLang="zh-CN" dirty="0"/>
          </a:p>
          <a:p>
            <a:pPr lvl="1"/>
            <a:r>
              <a:rPr lang="en-US" altLang="zh-CN" dirty="0">
                <a:hlinkClick r:id="rId3"/>
              </a:rPr>
              <a:t>https://www.bilibili.com/video/BV1bX4y1z7Yu/?spm_id_from=333.337.search-card.all</a:t>
            </a:r>
            <a:r>
              <a:rPr lang="en-US" altLang="zh-CN">
                <a:hlinkClick r:id="rId3"/>
              </a:rPr>
              <a:t>.click</a:t>
            </a:r>
            <a:r>
              <a:rPr lang="en-US" altLang="zh-CN"/>
              <a:t> </a:t>
            </a:r>
            <a:endParaRPr lang="en-US" altLang="zh-CN" dirty="0"/>
          </a:p>
          <a:p>
            <a:r>
              <a:rPr lang="zh-CN" altLang="en-US" dirty="0"/>
              <a:t>我大爷不读大学也赚了很多钱</a:t>
            </a:r>
            <a:endParaRPr lang="en-US" altLang="zh-CN" dirty="0"/>
          </a:p>
          <a:p>
            <a:pPr lvl="1"/>
            <a:r>
              <a:rPr lang="en-US" altLang="zh-CN" dirty="0">
                <a:hlinkClick r:id="rId4"/>
              </a:rPr>
              <a:t>https://www.bilibili.com/video/BV1QT411P7s7/?spm_id_from=333.337.search-card.all.click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419633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ADADE2-36B8-49C1-A9F2-9BC4A84D7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从现实到假设：读书无用吗？</a:t>
            </a:r>
          </a:p>
        </p:txBody>
      </p:sp>
      <p:sp>
        <p:nvSpPr>
          <p:cNvPr id="4" name="箭头: 虚尾 3">
            <a:extLst>
              <a:ext uri="{FF2B5EF4-FFF2-40B4-BE49-F238E27FC236}">
                <a16:creationId xmlns:a16="http://schemas.microsoft.com/office/drawing/2014/main" id="{2AFD75D3-DCDB-406E-AEF4-81DE103989E7}"/>
              </a:ext>
            </a:extLst>
          </p:cNvPr>
          <p:cNvSpPr/>
          <p:nvPr/>
        </p:nvSpPr>
        <p:spPr>
          <a:xfrm>
            <a:off x="4354585" y="2757998"/>
            <a:ext cx="1468073" cy="950053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737DBCBB-C605-46C8-92FD-91C8AE81CAD8}"/>
              </a:ext>
            </a:extLst>
          </p:cNvPr>
          <p:cNvSpPr/>
          <p:nvPr/>
        </p:nvSpPr>
        <p:spPr>
          <a:xfrm>
            <a:off x="1753299" y="2259903"/>
            <a:ext cx="1484851" cy="194624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教育</a:t>
            </a:r>
            <a:endParaRPr lang="en-US" altLang="zh-CN" sz="2400" dirty="0"/>
          </a:p>
          <a:p>
            <a:pPr algn="ctr"/>
            <a:r>
              <a:rPr lang="zh-CN" altLang="en-US" sz="2400" dirty="0"/>
              <a:t>学历</a:t>
            </a:r>
            <a:endParaRPr lang="en-US" altLang="zh-CN" sz="2400" dirty="0"/>
          </a:p>
          <a:p>
            <a:pPr algn="ctr"/>
            <a:r>
              <a:rPr lang="zh-CN" altLang="en-US" sz="2400" dirty="0"/>
              <a:t>培训</a:t>
            </a:r>
            <a:endParaRPr lang="en-US" altLang="zh-CN" sz="2400" dirty="0"/>
          </a:p>
          <a:p>
            <a:pPr algn="ctr"/>
            <a:r>
              <a:rPr lang="zh-CN" altLang="en-US" sz="2400" dirty="0"/>
              <a:t>投资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83F7E84D-A7D3-4EDA-93A5-A73F78DB287E}"/>
              </a:ext>
            </a:extLst>
          </p:cNvPr>
          <p:cNvSpPr/>
          <p:nvPr/>
        </p:nvSpPr>
        <p:spPr>
          <a:xfrm>
            <a:off x="6939093" y="2259903"/>
            <a:ext cx="1484851" cy="194624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收入</a:t>
            </a:r>
            <a:endParaRPr lang="en-US" altLang="zh-CN" sz="2400" dirty="0"/>
          </a:p>
          <a:p>
            <a:pPr algn="ctr"/>
            <a:r>
              <a:rPr lang="zh-CN" altLang="en-US" sz="2400" dirty="0"/>
              <a:t>资产</a:t>
            </a:r>
            <a:endParaRPr lang="en-US" altLang="zh-CN" sz="2400" dirty="0"/>
          </a:p>
          <a:p>
            <a:pPr algn="ctr"/>
            <a:r>
              <a:rPr lang="zh-CN" altLang="en-US" sz="2400" dirty="0"/>
              <a:t>工资</a:t>
            </a:r>
            <a:endParaRPr lang="en-US" altLang="zh-CN" sz="2400" dirty="0"/>
          </a:p>
          <a:p>
            <a:pPr algn="ctr"/>
            <a:r>
              <a:rPr lang="zh-CN" altLang="en-US" sz="2400" dirty="0"/>
              <a:t>生活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A10ED144-4221-446D-A9C3-D7F8DEBFD0D8}"/>
              </a:ext>
            </a:extLst>
          </p:cNvPr>
          <p:cNvSpPr/>
          <p:nvPr/>
        </p:nvSpPr>
        <p:spPr>
          <a:xfrm>
            <a:off x="1820411" y="4639111"/>
            <a:ext cx="6425967" cy="1400961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/>
              <a:t>困惑：读书无用吗？</a:t>
            </a:r>
            <a:endParaRPr lang="en-US" altLang="zh-CN" sz="2800" dirty="0"/>
          </a:p>
          <a:p>
            <a:pPr algn="ctr"/>
            <a:r>
              <a:rPr lang="zh-CN" altLang="en-US" sz="2800" dirty="0"/>
              <a:t>问题：读大学真的有用吗？</a:t>
            </a:r>
          </a:p>
        </p:txBody>
      </p:sp>
    </p:spTree>
    <p:extLst>
      <p:ext uri="{BB962C8B-B14F-4D97-AF65-F5344CB8AC3E}">
        <p14:creationId xmlns:p14="http://schemas.microsoft.com/office/powerpoint/2010/main" val="3983980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7E7E13-34FB-460F-BC3C-C255BAA78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数据：中国家庭跟踪调查</a:t>
            </a:r>
            <a:r>
              <a:rPr lang="en-US" altLang="zh-CN" dirty="0"/>
              <a:t>-</a:t>
            </a:r>
            <a:r>
              <a:rPr lang="zh-CN" altLang="en-US" dirty="0"/>
              <a:t>个人库</a:t>
            </a:r>
            <a:br>
              <a:rPr lang="en-US" altLang="zh-CN" dirty="0"/>
            </a:br>
            <a:r>
              <a:rPr lang="zh-CN" altLang="en-US" dirty="0"/>
              <a:t>测量：学历水平</a:t>
            </a:r>
            <a:r>
              <a:rPr lang="en-US" altLang="zh-CN" dirty="0"/>
              <a:t>——</a:t>
            </a:r>
            <a:r>
              <a:rPr lang="zh-CN" altLang="en-US" dirty="0"/>
              <a:t>工资水平</a:t>
            </a:r>
          </a:p>
        </p:txBody>
      </p:sp>
      <p:pic>
        <p:nvPicPr>
          <p:cNvPr id="3" name="Content Placeholder 11">
            <a:extLst>
              <a:ext uri="{FF2B5EF4-FFF2-40B4-BE49-F238E27FC236}">
                <a16:creationId xmlns:a16="http://schemas.microsoft.com/office/drawing/2014/main" id="{A217E3A1-E854-4D98-8542-64FDFEE405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8692" y="1930400"/>
            <a:ext cx="6095593" cy="4434543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C657C8B9-F674-444B-BF30-3DFEA98778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2974267"/>
              </p:ext>
            </p:extLst>
          </p:nvPr>
        </p:nvGraphicFramePr>
        <p:xfrm>
          <a:off x="463260" y="2202917"/>
          <a:ext cx="4063998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6">
                  <a:extLst>
                    <a:ext uri="{9D8B030D-6E8A-4147-A177-3AD203B41FA5}">
                      <a16:colId xmlns:a16="http://schemas.microsoft.com/office/drawing/2014/main" val="425156745"/>
                    </a:ext>
                  </a:extLst>
                </a:gridCol>
                <a:gridCol w="1354666">
                  <a:extLst>
                    <a:ext uri="{9D8B030D-6E8A-4147-A177-3AD203B41FA5}">
                      <a16:colId xmlns:a16="http://schemas.microsoft.com/office/drawing/2014/main" val="3243347248"/>
                    </a:ext>
                  </a:extLst>
                </a:gridCol>
                <a:gridCol w="1354666">
                  <a:extLst>
                    <a:ext uri="{9D8B030D-6E8A-4147-A177-3AD203B41FA5}">
                      <a16:colId xmlns:a16="http://schemas.microsoft.com/office/drawing/2014/main" val="42422746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学历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平均值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标准差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92225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文盲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3307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66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9811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小学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6451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123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878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初中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9747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175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8373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高中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11677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296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0166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大专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22277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856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8018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大学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29176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1337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42052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硕士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45338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6335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395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博士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44624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10888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2627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0836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8A959A-23B4-4974-97A0-C0796732C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关于论证：回归分析</a:t>
            </a:r>
          </a:p>
        </p:txBody>
      </p:sp>
      <p:pic>
        <p:nvPicPr>
          <p:cNvPr id="1026" name="Picture 2" descr="回归分析方法">
            <a:extLst>
              <a:ext uri="{FF2B5EF4-FFF2-40B4-BE49-F238E27FC236}">
                <a16:creationId xmlns:a16="http://schemas.microsoft.com/office/drawing/2014/main" id="{F7121CF3-BD40-4548-A23A-1C501FCCC3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4860" y="1732084"/>
            <a:ext cx="7161577" cy="4896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08969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7380A4-9C72-43E4-B1E6-41161BCD2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初中知识了解一下：</a:t>
            </a:r>
            <a:br>
              <a:rPr lang="en-US" altLang="zh-CN" dirty="0"/>
            </a:br>
            <a:r>
              <a:rPr lang="zh-CN" altLang="en-US" dirty="0"/>
              <a:t>一元线性回归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7C9191-F5DE-471F-8E8F-CB21FE1A48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3200" dirty="0"/>
              <a:t>考察一个随机变量</a:t>
            </a:r>
            <a:r>
              <a:rPr lang="en-US" altLang="zh-CN" sz="3200" dirty="0"/>
              <a:t>Y</a:t>
            </a:r>
            <a:r>
              <a:rPr lang="zh-CN" altLang="en-US" sz="3200" dirty="0"/>
              <a:t>与一个普通变量</a:t>
            </a:r>
            <a:r>
              <a:rPr lang="en-US" altLang="zh-CN" sz="3200" dirty="0"/>
              <a:t>x</a:t>
            </a:r>
            <a:r>
              <a:rPr lang="zh-CN" altLang="en-US" sz="3200" dirty="0"/>
              <a:t>（非随机）之间的联系。</a:t>
            </a:r>
            <a:endParaRPr lang="en-US" altLang="zh-CN" sz="3200" dirty="0"/>
          </a:p>
          <a:p>
            <a:r>
              <a:rPr lang="zh-CN" altLang="en-US" sz="3200" dirty="0"/>
              <a:t>你所观察的数据如以下方式出现：</a:t>
            </a:r>
            <a:endParaRPr lang="en-US" altLang="zh-CN" sz="3200" dirty="0"/>
          </a:p>
          <a:p>
            <a:pPr lvl="1"/>
            <a:r>
              <a:rPr lang="zh-CN" altLang="en-US" sz="3000" dirty="0"/>
              <a:t>（</a:t>
            </a:r>
            <a:r>
              <a:rPr lang="en-US" altLang="zh-CN" sz="3000" dirty="0"/>
              <a:t>x</a:t>
            </a:r>
            <a:r>
              <a:rPr lang="en-US" altLang="zh-CN" sz="3000" baseline="-25000" dirty="0"/>
              <a:t>1</a:t>
            </a:r>
            <a:r>
              <a:rPr lang="en-US" altLang="zh-CN" sz="3000" dirty="0"/>
              <a:t>,y</a:t>
            </a:r>
            <a:r>
              <a:rPr lang="en-US" altLang="zh-CN" sz="3000" baseline="-25000" dirty="0"/>
              <a:t>1</a:t>
            </a:r>
            <a:r>
              <a:rPr lang="zh-CN" altLang="en-US" sz="3000" dirty="0"/>
              <a:t>）</a:t>
            </a:r>
            <a:r>
              <a:rPr lang="en-US" altLang="zh-CN" sz="3000" dirty="0"/>
              <a:t>,(x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,y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),···, (</a:t>
            </a:r>
            <a:r>
              <a:rPr lang="en-US" altLang="zh-CN" sz="3000" dirty="0" err="1"/>
              <a:t>x</a:t>
            </a:r>
            <a:r>
              <a:rPr lang="en-US" altLang="zh-CN" sz="3000" baseline="-25000" dirty="0" err="1"/>
              <a:t>n</a:t>
            </a:r>
            <a:r>
              <a:rPr lang="en-US" altLang="zh-CN" sz="3000" dirty="0"/>
              <a:t>, </a:t>
            </a:r>
            <a:r>
              <a:rPr lang="en-US" altLang="zh-CN" sz="3000" dirty="0" err="1"/>
              <a:t>y</a:t>
            </a:r>
            <a:r>
              <a:rPr lang="en-US" altLang="zh-CN" sz="3000" baseline="-25000" dirty="0" err="1"/>
              <a:t>n</a:t>
            </a:r>
            <a:r>
              <a:rPr lang="en-US" altLang="zh-CN" sz="3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26331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1CDA4F-51C3-4962-8B15-E277880BA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回归方程及求解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436693-D780-4A2C-A2F1-EEFBDE60C3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Y=</a:t>
            </a:r>
            <a:r>
              <a:rPr lang="en-US" altLang="zh-CN" dirty="0" err="1"/>
              <a:t>a+bx+e</a:t>
            </a:r>
            <a:endParaRPr lang="en-US" altLang="zh-CN" dirty="0"/>
          </a:p>
          <a:p>
            <a:pPr lvl="1"/>
            <a:r>
              <a:rPr lang="en-US" altLang="zh-CN" dirty="0"/>
              <a:t>a</a:t>
            </a:r>
            <a:r>
              <a:rPr lang="zh-CN" altLang="en-US" dirty="0"/>
              <a:t>代表截距项</a:t>
            </a:r>
            <a:endParaRPr lang="en-US" altLang="zh-CN" dirty="0"/>
          </a:p>
          <a:p>
            <a:pPr lvl="1"/>
            <a:r>
              <a:rPr lang="en-US" altLang="zh-CN" dirty="0"/>
              <a:t>b</a:t>
            </a:r>
            <a:r>
              <a:rPr lang="zh-CN" altLang="en-US" dirty="0"/>
              <a:t>代表回归系数</a:t>
            </a:r>
            <a:endParaRPr lang="en-US" altLang="zh-CN" dirty="0"/>
          </a:p>
          <a:p>
            <a:pPr lvl="1"/>
            <a:r>
              <a:rPr lang="en-US" altLang="zh-CN" dirty="0"/>
              <a:t>e</a:t>
            </a:r>
            <a:r>
              <a:rPr lang="zh-CN" altLang="en-US" dirty="0"/>
              <a:t>代表误差</a:t>
            </a:r>
            <a:endParaRPr lang="en-US" altLang="zh-CN" dirty="0"/>
          </a:p>
          <a:p>
            <a:r>
              <a:rPr lang="zh-CN" altLang="en-US" dirty="0"/>
              <a:t>最小二乘原则</a:t>
            </a:r>
            <a:endParaRPr lang="en-US" altLang="zh-CN" dirty="0"/>
          </a:p>
          <a:p>
            <a:pPr lvl="1"/>
            <a:r>
              <a:rPr lang="zh-CN" altLang="en-US" dirty="0"/>
              <a:t>衡量直线距离所有三点的距离远近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AC47DC8-7C52-4673-8FFF-E17B5E140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787" y="4803582"/>
            <a:ext cx="3772426" cy="138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112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947207-FFBE-44AB-A632-2E60AEFDB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直接使用软件计算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6FDD2F3-B29A-4C2B-B71F-387B8696806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7092"/>
          <a:stretch/>
        </p:blipFill>
        <p:spPr>
          <a:xfrm>
            <a:off x="551857" y="1502561"/>
            <a:ext cx="9777657" cy="409182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FEB51AAA-00F4-4379-8939-74346DDB552C}"/>
              </a:ext>
            </a:extLst>
          </p:cNvPr>
          <p:cNvSpPr txBox="1"/>
          <p:nvPr/>
        </p:nvSpPr>
        <p:spPr>
          <a:xfrm>
            <a:off x="2281806" y="5594385"/>
            <a:ext cx="1662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Y=1460+1474X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38456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6DFF6BDE-4644-4FEB-94A7-47706D31E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反思一下：你是否认可以上结论？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D3BEA1B-EC47-47C9-BB60-4AE0EC8094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你能不能举出一些反例？</a:t>
            </a:r>
          </a:p>
        </p:txBody>
      </p:sp>
    </p:spTree>
    <p:extLst>
      <p:ext uri="{BB962C8B-B14F-4D97-AF65-F5344CB8AC3E}">
        <p14:creationId xmlns:p14="http://schemas.microsoft.com/office/powerpoint/2010/main" val="16145201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B516E8-3410-4A77-A9B0-7247708F0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社科研究的困境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FD80FD-0F63-40AA-B5CF-3922B37A31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人不能同时踏入两条河流</a:t>
            </a:r>
            <a:endParaRPr lang="en-US" altLang="zh-CN" dirty="0"/>
          </a:p>
          <a:p>
            <a:pPr lvl="1"/>
            <a:r>
              <a:rPr lang="zh-CN" altLang="en-US" dirty="0"/>
              <a:t>我既不能同时进入大学</a:t>
            </a:r>
            <a:endParaRPr lang="en-US" altLang="zh-CN" dirty="0"/>
          </a:p>
          <a:p>
            <a:pPr lvl="1"/>
            <a:r>
              <a:rPr lang="zh-CN" altLang="en-US" dirty="0"/>
              <a:t>也不能同时不进入大学</a:t>
            </a:r>
            <a:endParaRPr lang="en-US" altLang="zh-CN" dirty="0"/>
          </a:p>
          <a:p>
            <a:pPr lvl="1"/>
            <a:r>
              <a:rPr lang="zh-CN" altLang="en-US" dirty="0"/>
              <a:t>进入大学的我，必须和不进入大学的我，比较，才有意义</a:t>
            </a:r>
            <a:endParaRPr lang="en-US" altLang="zh-CN" dirty="0"/>
          </a:p>
          <a:p>
            <a:r>
              <a:rPr lang="zh-CN" altLang="en-US" dirty="0"/>
              <a:t>自然科学的假设</a:t>
            </a:r>
            <a:endParaRPr lang="en-US" altLang="zh-CN" dirty="0"/>
          </a:p>
          <a:p>
            <a:pPr lvl="1"/>
            <a:r>
              <a:rPr lang="zh-CN" altLang="en-US" dirty="0"/>
              <a:t>牛顿：</a:t>
            </a:r>
            <a:r>
              <a:rPr lang="en-US" altLang="zh-CN" dirty="0"/>
              <a:t>A</a:t>
            </a:r>
            <a:r>
              <a:rPr lang="zh-CN" altLang="en-US" dirty="0"/>
              <a:t>苹果和</a:t>
            </a:r>
            <a:r>
              <a:rPr lang="en-US" altLang="zh-CN" dirty="0"/>
              <a:t>B</a:t>
            </a:r>
            <a:r>
              <a:rPr lang="zh-CN" altLang="en-US" dirty="0"/>
              <a:t>苹果掉下来不存在差异</a:t>
            </a:r>
            <a:endParaRPr lang="en-US" altLang="zh-CN" dirty="0"/>
          </a:p>
          <a:p>
            <a:pPr lvl="1"/>
            <a:r>
              <a:rPr lang="zh-CN" altLang="en-US" dirty="0"/>
              <a:t>伽利略：斜坡实验中，</a:t>
            </a:r>
            <a:r>
              <a:rPr lang="en-US" altLang="zh-CN" dirty="0"/>
              <a:t>A</a:t>
            </a:r>
            <a:r>
              <a:rPr lang="zh-CN" altLang="en-US" dirty="0"/>
              <a:t>球和</a:t>
            </a:r>
            <a:r>
              <a:rPr lang="en-US" altLang="zh-CN" dirty="0"/>
              <a:t>B</a:t>
            </a:r>
            <a:r>
              <a:rPr lang="zh-CN" altLang="en-US" dirty="0"/>
              <a:t>球不存在差异</a:t>
            </a:r>
            <a:endParaRPr lang="en-US" altLang="zh-CN" dirty="0"/>
          </a:p>
          <a:p>
            <a:pPr lvl="1"/>
            <a:r>
              <a:rPr lang="zh-CN" altLang="en-US" dirty="0"/>
              <a:t>也就是说，研究对象可以任意替换，不存在主观力量</a:t>
            </a:r>
          </a:p>
        </p:txBody>
      </p:sp>
    </p:spTree>
    <p:extLst>
      <p:ext uri="{BB962C8B-B14F-4D97-AF65-F5344CB8AC3E}">
        <p14:creationId xmlns:p14="http://schemas.microsoft.com/office/powerpoint/2010/main" val="32749648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0F68BE-6AC6-4D52-AE08-91802659E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多元回归方程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F00DDD-E0BF-49BC-A086-193599E5E1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引入另外变量，“拼爹”</a:t>
            </a:r>
            <a:endParaRPr lang="en-US" altLang="zh-CN" dirty="0"/>
          </a:p>
          <a:p>
            <a:pPr lvl="1"/>
            <a:r>
              <a:rPr lang="zh-CN" altLang="en-US" dirty="0"/>
              <a:t>一个人读大学，然后获得一定的社会地位，是不是跟原生家庭有关系？</a:t>
            </a:r>
            <a:endParaRPr lang="en-US" altLang="zh-CN" dirty="0"/>
          </a:p>
          <a:p>
            <a:pPr lvl="1"/>
            <a:r>
              <a:rPr lang="zh-CN" altLang="en-US" dirty="0"/>
              <a:t>比如读大学的人之所以能够找到好工作，是因为其父母的教育、收入与见识能够给孩子带来额外的价值；</a:t>
            </a:r>
            <a:endParaRPr lang="en-US" altLang="zh-CN" dirty="0"/>
          </a:p>
          <a:p>
            <a:pPr lvl="1"/>
            <a:r>
              <a:rPr lang="zh-CN" altLang="en-US" dirty="0"/>
              <a:t>比如，读大学的人可能在基因遗传上面更加具有优异的特征；</a:t>
            </a:r>
            <a:endParaRPr lang="en-US" altLang="zh-CN" dirty="0"/>
          </a:p>
          <a:p>
            <a:pPr lvl="1"/>
            <a:r>
              <a:rPr lang="zh-CN" altLang="en-US" dirty="0"/>
              <a:t>再比如，读大学可能会收获校友关系网络，这个可能帮助其找到好工作。</a:t>
            </a:r>
            <a:endParaRPr lang="en-US" altLang="zh-CN" dirty="0"/>
          </a:p>
          <a:p>
            <a:r>
              <a:rPr lang="zh-CN" altLang="en-US" dirty="0"/>
              <a:t>基本公式</a:t>
            </a:r>
            <a:endParaRPr lang="en-US" altLang="zh-CN" dirty="0"/>
          </a:p>
          <a:p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9CDF7E6-3D3A-4254-BCC1-AB555F866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041" y="4740462"/>
            <a:ext cx="4391638" cy="866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8866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0EBFD8-0348-4320-A975-58B963BB1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多元回归的几何图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7417574-9385-4361-A076-7E49B97F9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294" y="1473433"/>
            <a:ext cx="8076850" cy="5384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8519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D5AB3C8F-8818-47D2-8FE1-E5BEBC6BA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在软件中的实现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866021A-C135-42C5-9F49-BD14B67A9E2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6858"/>
          <a:stretch/>
        </p:blipFill>
        <p:spPr>
          <a:xfrm>
            <a:off x="819325" y="2039455"/>
            <a:ext cx="8898344" cy="3967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8335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88C9B83F-64CD-41C1-925F-A08801FFD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1655065-0BD7-4422-BEC0-4401E9980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4DDD90AC-ABEC-4A76-9C9C-AD0A5F8FC7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Rectangle 23">
              <a:extLst>
                <a:ext uri="{FF2B5EF4-FFF2-40B4-BE49-F238E27FC236}">
                  <a16:creationId xmlns:a16="http://schemas.microsoft.com/office/drawing/2014/main" id="{21A8AFEF-EC50-4C0B-9C64-814B76C82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47" name="Rectangle 25">
              <a:extLst>
                <a:ext uri="{FF2B5EF4-FFF2-40B4-BE49-F238E27FC236}">
                  <a16:creationId xmlns:a16="http://schemas.microsoft.com/office/drawing/2014/main" id="{CAFAA800-E117-4357-84E4-56B63EA03E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48" name="Isosceles Triangle 47">
              <a:extLst>
                <a:ext uri="{FF2B5EF4-FFF2-40B4-BE49-F238E27FC236}">
                  <a16:creationId xmlns:a16="http://schemas.microsoft.com/office/drawing/2014/main" id="{8DDFC9F4-3B45-402D-8AD7-60B3F08ED7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49" name="Rectangle 27">
              <a:extLst>
                <a:ext uri="{FF2B5EF4-FFF2-40B4-BE49-F238E27FC236}">
                  <a16:creationId xmlns:a16="http://schemas.microsoft.com/office/drawing/2014/main" id="{F26A0854-FBE4-4587-B349-06BE192BD7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50" name="Rectangle 28">
              <a:extLst>
                <a:ext uri="{FF2B5EF4-FFF2-40B4-BE49-F238E27FC236}">
                  <a16:creationId xmlns:a16="http://schemas.microsoft.com/office/drawing/2014/main" id="{54A9C4C6-FF7D-470E-BFCA-CE4F60A1F0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51" name="Rectangle 29">
              <a:extLst>
                <a:ext uri="{FF2B5EF4-FFF2-40B4-BE49-F238E27FC236}">
                  <a16:creationId xmlns:a16="http://schemas.microsoft.com/office/drawing/2014/main" id="{B1721EA8-4871-45D4-B78F-AE805A3004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52" name="Isosceles Triangle 51">
              <a:extLst>
                <a:ext uri="{FF2B5EF4-FFF2-40B4-BE49-F238E27FC236}">
                  <a16:creationId xmlns:a16="http://schemas.microsoft.com/office/drawing/2014/main" id="{E5763971-E3A3-45C6-9BA8-2E032C7A55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53" name="Isosceles Triangle 52">
              <a:extLst>
                <a:ext uri="{FF2B5EF4-FFF2-40B4-BE49-F238E27FC236}">
                  <a16:creationId xmlns:a16="http://schemas.microsoft.com/office/drawing/2014/main" id="{32752E94-0E01-4AF5-A43A-F2FAD8737C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08F89E24-0998-2CD6-B198-7171AC52B0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091" t="11987" b="11405"/>
          <a:stretch/>
        </p:blipFill>
        <p:spPr>
          <a:xfrm>
            <a:off x="1" y="10"/>
            <a:ext cx="12191999" cy="6857990"/>
          </a:xfrm>
          <a:prstGeom prst="rect">
            <a:avLst/>
          </a:prstGeom>
        </p:spPr>
      </p:pic>
      <p:sp>
        <p:nvSpPr>
          <p:cNvPr id="55" name="Isosceles Triangle 54">
            <a:extLst>
              <a:ext uri="{FF2B5EF4-FFF2-40B4-BE49-F238E27FC236}">
                <a16:creationId xmlns:a16="http://schemas.microsoft.com/office/drawing/2014/main" id="{3559A5F2-8BE0-4998-A1E4-1B145465A9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57" name="Parallelogram 56">
            <a:extLst>
              <a:ext uri="{FF2B5EF4-FFF2-40B4-BE49-F238E27FC236}">
                <a16:creationId xmlns:a16="http://schemas.microsoft.com/office/drawing/2014/main" id="{3A6596D4-D53C-424F-9F16-CC8686C079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84541" y="0"/>
            <a:ext cx="7315200" cy="6858000"/>
          </a:xfrm>
          <a:prstGeom prst="parallelogram">
            <a:avLst>
              <a:gd name="adj" fmla="val 14937"/>
            </a:avLst>
          </a:prstGeom>
          <a:solidFill>
            <a:schemeClr val="tx1">
              <a:alpha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81BB890B-70D4-42FE-A599-6AEF1A42D9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3842D646-B58C-43C8-8152-01BC782B72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 23">
            <a:extLst>
              <a:ext uri="{FF2B5EF4-FFF2-40B4-BE49-F238E27FC236}">
                <a16:creationId xmlns:a16="http://schemas.microsoft.com/office/drawing/2014/main" id="{9772CABD-4211-42AA-B349-D4002E52F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5" name="Rectangle 25">
            <a:extLst>
              <a:ext uri="{FF2B5EF4-FFF2-40B4-BE49-F238E27FC236}">
                <a16:creationId xmlns:a16="http://schemas.microsoft.com/office/drawing/2014/main" id="{BBD91630-4DBA-4294-8016-FEB5C3B0C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7" name="Isosceles Triangle 66">
            <a:extLst>
              <a:ext uri="{FF2B5EF4-FFF2-40B4-BE49-F238E27FC236}">
                <a16:creationId xmlns:a16="http://schemas.microsoft.com/office/drawing/2014/main" id="{E67D1587-504D-41BC-9D48-B61257BFB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3DD9FB5-FD8E-3588-A703-4B1071BEE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4200" y="1678665"/>
            <a:ext cx="4569803" cy="236913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zh-CN" altLang="en-US" sz="5400" dirty="0"/>
              <a:t>论学者的养成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E43A2B2-E7E7-5705-2F26-E6BDD916D7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00964" y="4050832"/>
            <a:ext cx="4573037" cy="10968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zh-CN" altLang="en-US" sz="1800">
                <a:solidFill>
                  <a:schemeClr val="bg1"/>
                </a:solidFill>
              </a:rPr>
              <a:t>推荐：李开元</a:t>
            </a:r>
            <a:r>
              <a:rPr lang="en-US" altLang="zh-CN" sz="1800">
                <a:solidFill>
                  <a:schemeClr val="bg1"/>
                </a:solidFill>
              </a:rPr>
              <a:t>《</a:t>
            </a:r>
            <a:r>
              <a:rPr lang="zh-CN" altLang="en-US" sz="1800">
                <a:solidFill>
                  <a:schemeClr val="bg1"/>
                </a:solidFill>
              </a:rPr>
              <a:t>秦崩：从秦始皇到刘邦</a:t>
            </a:r>
            <a:r>
              <a:rPr lang="en-US" altLang="zh-CN" sz="1800">
                <a:solidFill>
                  <a:schemeClr val="bg1"/>
                </a:solidFill>
              </a:rPr>
              <a:t>》</a:t>
            </a:r>
          </a:p>
        </p:txBody>
      </p:sp>
      <p:sp>
        <p:nvSpPr>
          <p:cNvPr id="69" name="Rectangle 27">
            <a:extLst>
              <a:ext uri="{FF2B5EF4-FFF2-40B4-BE49-F238E27FC236}">
                <a16:creationId xmlns:a16="http://schemas.microsoft.com/office/drawing/2014/main" id="{8765DD1A-F044-4DE7-8A9B-7C30DC85A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71" name="Rectangle 28">
            <a:extLst>
              <a:ext uri="{FF2B5EF4-FFF2-40B4-BE49-F238E27FC236}">
                <a16:creationId xmlns:a16="http://schemas.microsoft.com/office/drawing/2014/main" id="{2FE2170D-72D6-48A8-8E9A-BFF3BF03D0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73" name="Rectangle 29">
            <a:extLst>
              <a:ext uri="{FF2B5EF4-FFF2-40B4-BE49-F238E27FC236}">
                <a16:creationId xmlns:a16="http://schemas.microsoft.com/office/drawing/2014/main" id="{01D19436-094D-463D-AFEA-870FDBD03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75" name="Isosceles Triangle 74">
            <a:extLst>
              <a:ext uri="{FF2B5EF4-FFF2-40B4-BE49-F238E27FC236}">
                <a16:creationId xmlns:a16="http://schemas.microsoft.com/office/drawing/2014/main" id="{9A2DE6E0-967C-4C58-8558-EC08F1138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5336860"/>
      </p:ext>
    </p:extLst>
  </p:cSld>
  <p:clrMapOvr>
    <a:masterClrMapping/>
  </p:clrMapOvr>
</p:sld>
</file>

<file path=ppt/theme/theme1.xml><?xml version="1.0" encoding="utf-8"?>
<a:theme xmlns:a="http://schemas.openxmlformats.org/drawingml/2006/main" name="平面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207</TotalTime>
  <Words>526</Words>
  <Application>Microsoft Macintosh PowerPoint</Application>
  <PresentationFormat>宽屏</PresentationFormat>
  <Paragraphs>89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9" baseType="lpstr">
      <vt:lpstr>Arial</vt:lpstr>
      <vt:lpstr>Trebuchet MS</vt:lpstr>
      <vt:lpstr>Wingdings 3</vt:lpstr>
      <vt:lpstr>平面</vt:lpstr>
      <vt:lpstr>第八讲 论证与统计</vt:lpstr>
      <vt:lpstr>论证思维</vt:lpstr>
      <vt:lpstr>反思大学的作用</vt:lpstr>
      <vt:lpstr>从现实到假设：读书无用吗？</vt:lpstr>
      <vt:lpstr>数据：中国家庭跟踪调查-个人库 测量：学历水平——工资水平</vt:lpstr>
      <vt:lpstr>关于论证：回归分析</vt:lpstr>
      <vt:lpstr>初中知识了解一下： 一元线性回归</vt:lpstr>
      <vt:lpstr>回归方程及求解</vt:lpstr>
      <vt:lpstr>直接使用软件计算</vt:lpstr>
      <vt:lpstr>反思一下：你是否认可以上结论？</vt:lpstr>
      <vt:lpstr>社科研究的困境</vt:lpstr>
      <vt:lpstr>多元回归方程</vt:lpstr>
      <vt:lpstr>多元回归的几何图</vt:lpstr>
      <vt:lpstr>在软件中的实现</vt:lpstr>
      <vt:lpstr>论学者的养成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第七讲 论证</dc:title>
  <dc:creator>think</dc:creator>
  <cp:lastModifiedBy>Bianca Ma 2029</cp:lastModifiedBy>
  <cp:revision>12</cp:revision>
  <dcterms:created xsi:type="dcterms:W3CDTF">2023-12-25T06:55:53Z</dcterms:created>
  <dcterms:modified xsi:type="dcterms:W3CDTF">2024-12-23T06:34:33Z</dcterms:modified>
</cp:coreProperties>
</file>