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handoutMasterIdLst>
    <p:handoutMasterId r:id="rId35"/>
  </p:handout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8" r:id="rId23"/>
    <p:sldId id="279" r:id="rId24"/>
    <p:sldId id="280" r:id="rId25"/>
    <p:sldId id="281" r:id="rId26"/>
    <p:sldId id="282" r:id="rId27"/>
    <p:sldId id="283" r:id="rId28"/>
    <p:sldId id="288" r:id="rId29"/>
    <p:sldId id="284" r:id="rId30"/>
    <p:sldId id="285" r:id="rId31"/>
    <p:sldId id="286" r:id="rId32"/>
    <p:sldId id="287" r:id="rId33"/>
  </p:sldIdLst>
  <p:sldSz cx="9144000" cy="6858000" type="screen4x3"/>
  <p:notesSz cx="6858000" cy="9144000"/>
  <p:defaultTextStyle>
    <a:defPPr>
      <a:defRPr lang="zh-CN"/>
    </a:defPPr>
    <a:lvl1pPr marL="0" lvl="0"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None/>
      <a:defRPr sz="2000" b="1" i="0" u="none" kern="1200" baseline="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886"/>
    <p:restoredTop sz="94660"/>
  </p:normalViewPr>
  <p:slideViewPr>
    <p:cSldViewPr showGuides="1">
      <p:cViewPr varScale="1">
        <p:scale>
          <a:sx n="74" d="100"/>
          <a:sy n="74" d="100"/>
        </p:scale>
        <p:origin x="-372" y="-96"/>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40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handoutMaster" Target="handoutMasters/handoutMaster1.xml"/><Relationship Id="rId34" Type="http://schemas.openxmlformats.org/officeDocument/2006/relationships/notesMaster" Target="notesMasters/notesMaster1.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5" Type="http://schemas.openxmlformats.org/officeDocument/2006/relationships/image" Target="../media/image5.wmf"/><Relationship Id="rId4" Type="http://schemas.openxmlformats.org/officeDocument/2006/relationships/image" Target="../media/image4.wmf"/><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页眉占位符 3073"/>
          <p:cNvSpPr>
            <a:spLocks noGrp="1"/>
          </p:cNvSpPr>
          <p:nvPr>
            <p:ph type="hdr" sz="quarter"/>
          </p:nvPr>
        </p:nvSpPr>
        <p:spPr>
          <a:xfrm>
            <a:off x="0" y="0"/>
            <a:ext cx="2971800" cy="457200"/>
          </a:xfrm>
          <a:prstGeom prst="rect">
            <a:avLst/>
          </a:prstGeom>
          <a:noFill/>
          <a:ln w="9525">
            <a:noFill/>
          </a:ln>
        </p:spPr>
        <p:txBody>
          <a:bodyPr/>
          <a:p>
            <a:pPr lvl="0" eaLnBrk="1" hangingPunct="1"/>
            <a:endParaRPr lang="zh-CN" altLang="en-US" sz="1200" b="0" dirty="0"/>
          </a:p>
        </p:txBody>
      </p:sp>
      <p:sp>
        <p:nvSpPr>
          <p:cNvPr id="3075" name="日期占位符 3074"/>
          <p:cNvSpPr>
            <a:spLocks noGrp="1"/>
          </p:cNvSpPr>
          <p:nvPr>
            <p:ph type="dt" sz="quarter" idx="1"/>
          </p:nvPr>
        </p:nvSpPr>
        <p:spPr>
          <a:xfrm>
            <a:off x="3886200" y="0"/>
            <a:ext cx="2971800" cy="457200"/>
          </a:xfrm>
          <a:prstGeom prst="rect">
            <a:avLst/>
          </a:prstGeom>
          <a:noFill/>
          <a:ln w="9525">
            <a:noFill/>
          </a:ln>
        </p:spPr>
        <p:txBody>
          <a:bodyPr/>
          <a:p>
            <a:pPr lvl="0" algn="r" eaLnBrk="1" hangingPunct="1"/>
            <a:endParaRPr lang="zh-CN" altLang="en-US" sz="1200" b="0" dirty="0"/>
          </a:p>
        </p:txBody>
      </p:sp>
      <p:sp>
        <p:nvSpPr>
          <p:cNvPr id="3076" name="页脚占位符 3075"/>
          <p:cNvSpPr>
            <a:spLocks noGrp="1"/>
          </p:cNvSpPr>
          <p:nvPr>
            <p:ph type="ftr" sz="quarter" idx="2"/>
          </p:nvPr>
        </p:nvSpPr>
        <p:spPr>
          <a:xfrm>
            <a:off x="0" y="8686800"/>
            <a:ext cx="2971800" cy="457200"/>
          </a:xfrm>
          <a:prstGeom prst="rect">
            <a:avLst/>
          </a:prstGeom>
          <a:noFill/>
          <a:ln w="9525">
            <a:noFill/>
          </a:ln>
        </p:spPr>
        <p:txBody>
          <a:bodyPr anchor="b" anchorCtr="0"/>
          <a:p>
            <a:pPr lvl="0" eaLnBrk="1" hangingPunct="1"/>
            <a:endParaRPr lang="zh-CN" altLang="en-US" sz="1200" b="0" dirty="0"/>
          </a:p>
        </p:txBody>
      </p:sp>
      <p:sp>
        <p:nvSpPr>
          <p:cNvPr id="3077" name="灯片编号占位符 3076"/>
          <p:cNvSpPr>
            <a:spLocks noGrp="1"/>
          </p:cNvSpPr>
          <p:nvPr>
            <p:ph type="sldNum" sz="quarter" idx="3"/>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页眉占位符 2049"/>
          <p:cNvSpPr>
            <a:spLocks noGrp="1"/>
          </p:cNvSpPr>
          <p:nvPr>
            <p:ph type="hdr" sz="quarter"/>
          </p:nvPr>
        </p:nvSpPr>
        <p:spPr>
          <a:xfrm>
            <a:off x="0" y="0"/>
            <a:ext cx="2971800" cy="457200"/>
          </a:xfrm>
          <a:prstGeom prst="rect">
            <a:avLst/>
          </a:prstGeom>
          <a:noFill/>
          <a:ln w="9525">
            <a:noFill/>
          </a:ln>
        </p:spPr>
        <p:txBody>
          <a:bodyPr/>
          <a:p>
            <a:pPr lvl="0" eaLnBrk="1" hangingPunct="1"/>
            <a:endParaRPr lang="zh-CN" altLang="en-US" sz="1200" b="0" dirty="0"/>
          </a:p>
        </p:txBody>
      </p:sp>
      <p:sp>
        <p:nvSpPr>
          <p:cNvPr id="2051" name="日期占位符 2050"/>
          <p:cNvSpPr>
            <a:spLocks noGrp="1"/>
          </p:cNvSpPr>
          <p:nvPr>
            <p:ph type="dt" idx="1"/>
          </p:nvPr>
        </p:nvSpPr>
        <p:spPr>
          <a:xfrm>
            <a:off x="3886200" y="0"/>
            <a:ext cx="2971800" cy="457200"/>
          </a:xfrm>
          <a:prstGeom prst="rect">
            <a:avLst/>
          </a:prstGeom>
          <a:noFill/>
          <a:ln w="9525">
            <a:noFill/>
          </a:ln>
        </p:spPr>
        <p:txBody>
          <a:bodyPr/>
          <a:p>
            <a:pPr lvl="0" algn="r" eaLnBrk="1" hangingPunct="1"/>
            <a:endParaRPr lang="zh-CN" altLang="en-US" sz="1200" b="0" dirty="0"/>
          </a:p>
        </p:txBody>
      </p:sp>
      <p:sp>
        <p:nvSpPr>
          <p:cNvPr id="2052" name="幻灯片图像占位符 2051"/>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2053" name="文本占位符 2052"/>
          <p:cNvSpPr>
            <a:spLocks noGrp="1"/>
          </p:cNvSpPr>
          <p:nvPr>
            <p:ph type="body" sz="quarter" idx="3"/>
          </p:nvPr>
        </p:nvSpPr>
        <p:spPr>
          <a:xfrm>
            <a:off x="914400" y="4343400"/>
            <a:ext cx="5029200" cy="4114800"/>
          </a:xfrm>
          <a:prstGeom prst="rect">
            <a:avLst/>
          </a:prstGeom>
          <a:noFill/>
          <a:ln w="9525">
            <a:noFill/>
          </a:ln>
        </p:spPr>
        <p:txBody>
          <a:bodyPr/>
          <a:p>
            <a:pPr lvl="0"/>
            <a:r>
              <a:rPr lang="zh-CN" altLang="en-US" dirty="0"/>
              <a:t>单击以编辑母版文本样式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54" name="页脚占位符 2053"/>
          <p:cNvSpPr>
            <a:spLocks noGrp="1"/>
          </p:cNvSpPr>
          <p:nvPr>
            <p:ph type="ftr" sz="quarter" idx="4"/>
          </p:nvPr>
        </p:nvSpPr>
        <p:spPr>
          <a:xfrm>
            <a:off x="0" y="8686800"/>
            <a:ext cx="2971800" cy="457200"/>
          </a:xfrm>
          <a:prstGeom prst="rect">
            <a:avLst/>
          </a:prstGeom>
          <a:noFill/>
          <a:ln w="9525">
            <a:noFill/>
          </a:ln>
        </p:spPr>
        <p:txBody>
          <a:bodyPr anchor="b" anchorCtr="0"/>
          <a:p>
            <a:pPr lvl="0" eaLnBrk="1" hangingPunct="1"/>
            <a:endParaRPr lang="zh-CN" altLang="en-US" sz="1200" b="0" dirty="0"/>
          </a:p>
        </p:txBody>
      </p:sp>
      <p:sp>
        <p:nvSpPr>
          <p:cNvPr id="2055" name="灯片编号占位符 2054"/>
          <p:cNvSpPr>
            <a:spLocks noGrp="1"/>
          </p:cNvSpPr>
          <p:nvPr>
            <p:ph type="sldNum" sz="quarter" idx="5"/>
          </p:nvPr>
        </p:nvSpPr>
        <p:spPr>
          <a:xfrm>
            <a:off x="3886200" y="8686800"/>
            <a:ext cx="2971800" cy="457200"/>
          </a:xfrm>
          <a:prstGeom prst="rect">
            <a:avLst/>
          </a:prstGeom>
          <a:noFill/>
          <a:ln w="9525">
            <a:noFill/>
          </a:ln>
        </p:spPr>
        <p:txBody>
          <a:bodyPr anchor="b" anchorCtr="0"/>
          <a:p>
            <a:pPr lvl="0" algn="r" eaLnBrk="1" hangingPunct="1"/>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gradFill rotWithShape="0">
          <a:gsLst>
            <a:gs pos="0">
              <a:schemeClr val="bg2"/>
            </a:gs>
            <a:gs pos="50000">
              <a:schemeClr val="bg1"/>
            </a:gs>
            <a:gs pos="100000">
              <a:schemeClr val="bg2"/>
            </a:gs>
          </a:gsLst>
          <a:lin ang="0" scaled="1"/>
          <a:tileRect/>
        </a:gradFill>
        <a:effectLst>
          <a:outerShdw dist="107763" dir="2699999" algn="ctr" rotWithShape="0">
            <a:srgbClr val="020000"/>
          </a:outerShdw>
        </a:effectLst>
      </p:bgPr>
    </p:bg>
    <p:spTree>
      <p:nvGrpSpPr>
        <p:cNvPr id="1" name=""/>
        <p:cNvGrpSpPr/>
        <p:nvPr/>
      </p:nvGrpSpPr>
      <p:grpSpPr/>
      <p:sp>
        <p:nvSpPr>
          <p:cNvPr id="9218" name="矩形 9217"/>
          <p:cNvSpPr/>
          <p:nvPr/>
        </p:nvSpPr>
        <p:spPr>
          <a:xfrm>
            <a:off x="8783638" y="444500"/>
            <a:ext cx="360362" cy="3152775"/>
          </a:xfrm>
          <a:prstGeom prst="rect">
            <a:avLst/>
          </a:prstGeom>
          <a:gradFill rotWithShape="0">
            <a:gsLst>
              <a:gs pos="0">
                <a:schemeClr val="bg2"/>
              </a:gs>
              <a:gs pos="50000">
                <a:schemeClr val="hlink"/>
              </a:gs>
              <a:gs pos="100000">
                <a:schemeClr val="bg2"/>
              </a:gs>
            </a:gsLst>
            <a:lin ang="0" scaled="1"/>
            <a:tileRect/>
          </a:gradFill>
          <a:ln w="9525">
            <a:noFill/>
          </a:ln>
        </p:spPr>
        <p:txBody>
          <a:bodyPr wrap="none" anchor="ctr" anchorCtr="0"/>
          <a:p>
            <a:pPr lvl="0" algn="ctr" eaLnBrk="1" hangingPunct="1">
              <a:lnSpc>
                <a:spcPct val="100000"/>
              </a:lnSpc>
              <a:spcBef>
                <a:spcPct val="0"/>
              </a:spcBef>
            </a:pPr>
            <a:endParaRPr sz="2400" b="0" dirty="0">
              <a:latin typeface="Times New Roman" panose="02020603050405020304" pitchFamily="18" charset="0"/>
            </a:endParaRPr>
          </a:p>
        </p:txBody>
      </p:sp>
      <p:sp>
        <p:nvSpPr>
          <p:cNvPr id="9219" name="任意多边形 9218"/>
          <p:cNvSpPr/>
          <p:nvPr/>
        </p:nvSpPr>
        <p:spPr>
          <a:xfrm>
            <a:off x="0" y="0"/>
            <a:ext cx="9144000" cy="2133600"/>
          </a:xfrm>
          <a:custGeom>
            <a:avLst/>
            <a:gdLst/>
            <a:ahLst/>
            <a:cxnLst/>
            <a:pathLst>
              <a:path w="5760" h="1104">
                <a:moveTo>
                  <a:pt x="0" y="0"/>
                </a:moveTo>
                <a:lnTo>
                  <a:pt x="5760" y="0"/>
                </a:lnTo>
                <a:lnTo>
                  <a:pt x="5760" y="720"/>
                </a:lnTo>
                <a:cubicBezTo>
                  <a:pt x="5400" y="824"/>
                  <a:pt x="4560" y="577"/>
                  <a:pt x="3600" y="624"/>
                </a:cubicBezTo>
                <a:cubicBezTo>
                  <a:pt x="2640" y="671"/>
                  <a:pt x="600" y="1104"/>
                  <a:pt x="0" y="1000"/>
                </a:cubicBezTo>
                <a:lnTo>
                  <a:pt x="0" y="0"/>
                </a:lnTo>
                <a:close/>
              </a:path>
            </a:pathLst>
          </a:custGeom>
          <a:gradFill rotWithShape="0">
            <a:gsLst>
              <a:gs pos="0">
                <a:schemeClr val="bg2"/>
              </a:gs>
              <a:gs pos="50000">
                <a:schemeClr val="bg1"/>
              </a:gs>
              <a:gs pos="100000">
                <a:schemeClr val="bg2"/>
              </a:gs>
            </a:gsLst>
            <a:lin ang="0" scaled="1"/>
            <a:tileRect/>
          </a:gradFill>
          <a:ln w="9525">
            <a:noFill/>
          </a:ln>
        </p:spPr>
        <p:txBody>
          <a:bodyPr/>
          <a:p>
            <a:endParaRPr lang="zh-CN" altLang="en-US"/>
          </a:p>
        </p:txBody>
      </p:sp>
      <p:sp>
        <p:nvSpPr>
          <p:cNvPr id="9220" name="任意多边形 9219"/>
          <p:cNvSpPr/>
          <p:nvPr/>
        </p:nvSpPr>
        <p:spPr>
          <a:xfrm>
            <a:off x="0" y="1163638"/>
            <a:ext cx="9144000" cy="5694362"/>
          </a:xfrm>
          <a:custGeom>
            <a:avLst/>
            <a:gdLst/>
            <a:ahLst/>
            <a:cxnLst/>
            <a:pathLst>
              <a:path w="5760" h="3587">
                <a:moveTo>
                  <a:pt x="0" y="582"/>
                </a:moveTo>
                <a:cubicBezTo>
                  <a:pt x="1027" y="680"/>
                  <a:pt x="1960" y="387"/>
                  <a:pt x="2640" y="267"/>
                </a:cubicBezTo>
                <a:cubicBezTo>
                  <a:pt x="2640" y="267"/>
                  <a:pt x="3268" y="180"/>
                  <a:pt x="3373" y="160"/>
                </a:cubicBezTo>
                <a:cubicBezTo>
                  <a:pt x="4120" y="0"/>
                  <a:pt x="5280" y="358"/>
                  <a:pt x="5760" y="358"/>
                </a:cubicBezTo>
                <a:lnTo>
                  <a:pt x="5760" y="3587"/>
                </a:lnTo>
                <a:lnTo>
                  <a:pt x="0" y="3587"/>
                </a:lnTo>
                <a:cubicBezTo>
                  <a:pt x="0" y="3587"/>
                  <a:pt x="0" y="582"/>
                  <a:pt x="0" y="582"/>
                </a:cubicBezTo>
                <a:close/>
              </a:path>
            </a:pathLst>
          </a:custGeom>
          <a:gradFill rotWithShape="0">
            <a:gsLst>
              <a:gs pos="0">
                <a:schemeClr val="bg2">
                  <a:alpha val="100000"/>
                </a:schemeClr>
              </a:gs>
              <a:gs pos="50000">
                <a:schemeClr val="bg1"/>
              </a:gs>
              <a:gs pos="100000">
                <a:schemeClr val="bg2">
                  <a:alpha val="100000"/>
                </a:schemeClr>
              </a:gs>
            </a:gsLst>
            <a:lin ang="0" scaled="1"/>
            <a:tileRect/>
          </a:gradFill>
          <a:ln w="9525">
            <a:noFill/>
          </a:ln>
        </p:spPr>
        <p:txBody>
          <a:bodyPr/>
          <a:p>
            <a:endParaRPr lang="zh-CN" altLang="en-US"/>
          </a:p>
        </p:txBody>
      </p:sp>
      <p:sp>
        <p:nvSpPr>
          <p:cNvPr id="9221" name="任意多边形 9220"/>
          <p:cNvSpPr/>
          <p:nvPr/>
        </p:nvSpPr>
        <p:spPr>
          <a:xfrm>
            <a:off x="0" y="292100"/>
            <a:ext cx="9144000" cy="854075"/>
          </a:xfrm>
          <a:custGeom>
            <a:avLst/>
            <a:gdLst/>
            <a:ahLst/>
            <a:cxnLst/>
            <a:pathLst>
              <a:path w="5760" h="538">
                <a:moveTo>
                  <a:pt x="0" y="163"/>
                </a:moveTo>
                <a:lnTo>
                  <a:pt x="0" y="403"/>
                </a:lnTo>
                <a:cubicBezTo>
                  <a:pt x="295" y="450"/>
                  <a:pt x="1011" y="481"/>
                  <a:pt x="1773" y="443"/>
                </a:cubicBezTo>
                <a:cubicBezTo>
                  <a:pt x="2535" y="405"/>
                  <a:pt x="3909" y="161"/>
                  <a:pt x="4573" y="176"/>
                </a:cubicBezTo>
                <a:cubicBezTo>
                  <a:pt x="5237" y="191"/>
                  <a:pt x="5562" y="538"/>
                  <a:pt x="5760" y="536"/>
                </a:cubicBezTo>
                <a:lnTo>
                  <a:pt x="5760" y="163"/>
                </a:lnTo>
                <a:cubicBezTo>
                  <a:pt x="5560" y="79"/>
                  <a:pt x="5189" y="0"/>
                  <a:pt x="4560" y="29"/>
                </a:cubicBezTo>
                <a:cubicBezTo>
                  <a:pt x="3931" y="58"/>
                  <a:pt x="2747" y="314"/>
                  <a:pt x="1987" y="336"/>
                </a:cubicBezTo>
                <a:cubicBezTo>
                  <a:pt x="1227" y="358"/>
                  <a:pt x="414" y="199"/>
                  <a:pt x="0" y="163"/>
                </a:cubicBezTo>
                <a:close/>
              </a:path>
            </a:pathLst>
          </a:custGeom>
          <a:gradFill rotWithShape="0">
            <a:gsLst>
              <a:gs pos="0">
                <a:schemeClr val="bg1"/>
              </a:gs>
              <a:gs pos="50000">
                <a:schemeClr val="bg2"/>
              </a:gs>
              <a:gs pos="100000">
                <a:schemeClr val="bg1"/>
              </a:gs>
            </a:gsLst>
            <a:lin ang="0" scaled="1"/>
            <a:tileRect/>
          </a:gradFill>
          <a:ln w="9525">
            <a:noFill/>
          </a:ln>
        </p:spPr>
        <p:txBody>
          <a:bodyPr/>
          <a:p>
            <a:endParaRPr lang="zh-CN" altLang="en-US"/>
          </a:p>
        </p:txBody>
      </p:sp>
      <p:sp>
        <p:nvSpPr>
          <p:cNvPr id="9222" name="任意多边形 9221"/>
          <p:cNvSpPr/>
          <p:nvPr/>
        </p:nvSpPr>
        <p:spPr>
          <a:xfrm>
            <a:off x="0" y="2405063"/>
            <a:ext cx="9144000" cy="1069975"/>
          </a:xfrm>
          <a:custGeom>
            <a:avLst/>
            <a:gdLst/>
            <a:ahLst/>
            <a:cxnLst/>
            <a:pathLst>
              <a:path w="5760" h="674">
                <a:moveTo>
                  <a:pt x="0" y="246"/>
                </a:moveTo>
                <a:lnTo>
                  <a:pt x="0" y="406"/>
                </a:lnTo>
                <a:cubicBezTo>
                  <a:pt x="213" y="463"/>
                  <a:pt x="1009" y="616"/>
                  <a:pt x="1280" y="645"/>
                </a:cubicBezTo>
                <a:cubicBezTo>
                  <a:pt x="1551" y="674"/>
                  <a:pt x="1092" y="669"/>
                  <a:pt x="1627" y="580"/>
                </a:cubicBezTo>
                <a:cubicBezTo>
                  <a:pt x="2162" y="491"/>
                  <a:pt x="3804" y="109"/>
                  <a:pt x="4493" y="113"/>
                </a:cubicBezTo>
                <a:cubicBezTo>
                  <a:pt x="5182" y="117"/>
                  <a:pt x="5549" y="586"/>
                  <a:pt x="5760" y="606"/>
                </a:cubicBezTo>
                <a:lnTo>
                  <a:pt x="5760" y="233"/>
                </a:lnTo>
                <a:cubicBezTo>
                  <a:pt x="5471" y="158"/>
                  <a:pt x="4818" y="0"/>
                  <a:pt x="4040" y="33"/>
                </a:cubicBezTo>
                <a:cubicBezTo>
                  <a:pt x="3262" y="66"/>
                  <a:pt x="1766" y="398"/>
                  <a:pt x="1093" y="433"/>
                </a:cubicBezTo>
                <a:cubicBezTo>
                  <a:pt x="420" y="468"/>
                  <a:pt x="228" y="285"/>
                  <a:pt x="0" y="246"/>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9223" name="任意多边形 9222"/>
          <p:cNvSpPr/>
          <p:nvPr/>
        </p:nvSpPr>
        <p:spPr>
          <a:xfrm>
            <a:off x="2476500" y="1522413"/>
            <a:ext cx="6667500" cy="5335587"/>
          </a:xfrm>
          <a:custGeom>
            <a:avLst/>
            <a:gdLst/>
            <a:ahLst/>
            <a:cxnLst/>
            <a:pathLst>
              <a:path w="4200" h="3361">
                <a:moveTo>
                  <a:pt x="0" y="3361"/>
                </a:moveTo>
                <a:cubicBezTo>
                  <a:pt x="118" y="2850"/>
                  <a:pt x="354" y="590"/>
                  <a:pt x="1054" y="295"/>
                </a:cubicBezTo>
                <a:cubicBezTo>
                  <a:pt x="1754" y="0"/>
                  <a:pt x="3676" y="1299"/>
                  <a:pt x="4200" y="1588"/>
                </a:cubicBezTo>
                <a:lnTo>
                  <a:pt x="4200" y="2028"/>
                </a:lnTo>
                <a:cubicBezTo>
                  <a:pt x="3700" y="1837"/>
                  <a:pt x="1842" y="220"/>
                  <a:pt x="1200" y="442"/>
                </a:cubicBezTo>
                <a:cubicBezTo>
                  <a:pt x="558" y="664"/>
                  <a:pt x="547" y="2875"/>
                  <a:pt x="347" y="3361"/>
                </a:cubicBezTo>
                <a:lnTo>
                  <a:pt x="0" y="3361"/>
                </a:lnTo>
                <a:close/>
              </a:path>
            </a:pathLst>
          </a:custGeom>
          <a:gradFill rotWithShape="0">
            <a:gsLst>
              <a:gs pos="0">
                <a:schemeClr val="accent2"/>
              </a:gs>
              <a:gs pos="50000">
                <a:schemeClr val="bg1"/>
              </a:gs>
              <a:gs pos="100000">
                <a:schemeClr val="accent2"/>
              </a:gs>
            </a:gsLst>
            <a:lin ang="5400000" scaled="1"/>
            <a:tileRect/>
          </a:gradFill>
          <a:ln w="9525">
            <a:noFill/>
          </a:ln>
        </p:spPr>
        <p:txBody>
          <a:bodyPr/>
          <a:p>
            <a:endParaRPr lang="zh-CN" altLang="en-US"/>
          </a:p>
        </p:txBody>
      </p:sp>
      <p:sp>
        <p:nvSpPr>
          <p:cNvPr id="9224" name="任意多边形 9223"/>
          <p:cNvSpPr/>
          <p:nvPr/>
        </p:nvSpPr>
        <p:spPr>
          <a:xfrm>
            <a:off x="0" y="3443288"/>
            <a:ext cx="9144000" cy="3055937"/>
          </a:xfrm>
          <a:custGeom>
            <a:avLst/>
            <a:gdLst/>
            <a:ahLst/>
            <a:cxnLst/>
            <a:pathLst>
              <a:path w="5760" h="1925">
                <a:moveTo>
                  <a:pt x="0" y="804"/>
                </a:moveTo>
                <a:lnTo>
                  <a:pt x="0" y="991"/>
                </a:lnTo>
                <a:cubicBezTo>
                  <a:pt x="258" y="1160"/>
                  <a:pt x="1005" y="1925"/>
                  <a:pt x="1547" y="1818"/>
                </a:cubicBezTo>
                <a:cubicBezTo>
                  <a:pt x="2089" y="1711"/>
                  <a:pt x="2551" y="398"/>
                  <a:pt x="3253" y="351"/>
                </a:cubicBezTo>
                <a:cubicBezTo>
                  <a:pt x="3955" y="304"/>
                  <a:pt x="5342" y="1404"/>
                  <a:pt x="5760" y="1537"/>
                </a:cubicBezTo>
                <a:lnTo>
                  <a:pt x="5760" y="1151"/>
                </a:lnTo>
                <a:cubicBezTo>
                  <a:pt x="5405" y="1124"/>
                  <a:pt x="3982" y="0"/>
                  <a:pt x="3240" y="84"/>
                </a:cubicBezTo>
                <a:cubicBezTo>
                  <a:pt x="2542" y="171"/>
                  <a:pt x="2113" y="1551"/>
                  <a:pt x="1573" y="1671"/>
                </a:cubicBezTo>
                <a:cubicBezTo>
                  <a:pt x="1033" y="1791"/>
                  <a:pt x="262" y="826"/>
                  <a:pt x="0" y="804"/>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9225" name="任意多边形 9224"/>
          <p:cNvSpPr/>
          <p:nvPr/>
        </p:nvSpPr>
        <p:spPr>
          <a:xfrm>
            <a:off x="0" y="3552825"/>
            <a:ext cx="6237288" cy="3365500"/>
          </a:xfrm>
          <a:custGeom>
            <a:avLst/>
            <a:gdLst/>
            <a:ahLst/>
            <a:cxnLst/>
            <a:pathLst>
              <a:path w="4196" h="2120">
                <a:moveTo>
                  <a:pt x="0" y="415"/>
                </a:moveTo>
                <a:lnTo>
                  <a:pt x="0" y="508"/>
                </a:lnTo>
                <a:cubicBezTo>
                  <a:pt x="160" y="577"/>
                  <a:pt x="1280" y="138"/>
                  <a:pt x="1933" y="229"/>
                </a:cubicBezTo>
                <a:cubicBezTo>
                  <a:pt x="2586" y="320"/>
                  <a:pt x="3644" y="746"/>
                  <a:pt x="3920" y="1055"/>
                </a:cubicBezTo>
                <a:cubicBezTo>
                  <a:pt x="4196" y="1364"/>
                  <a:pt x="3583" y="2120"/>
                  <a:pt x="3587" y="2082"/>
                </a:cubicBezTo>
                <a:lnTo>
                  <a:pt x="3947" y="829"/>
                </a:lnTo>
                <a:cubicBezTo>
                  <a:pt x="3725" y="494"/>
                  <a:pt x="2911" y="138"/>
                  <a:pt x="2253" y="69"/>
                </a:cubicBezTo>
                <a:cubicBezTo>
                  <a:pt x="1595" y="0"/>
                  <a:pt x="469" y="343"/>
                  <a:pt x="0" y="415"/>
                </a:cubicBezTo>
                <a:close/>
              </a:path>
            </a:pathLst>
          </a:custGeom>
          <a:gradFill rotWithShape="0">
            <a:gsLst>
              <a:gs pos="0">
                <a:schemeClr val="accent2">
                  <a:alpha val="100000"/>
                </a:schemeClr>
              </a:gs>
              <a:gs pos="50000">
                <a:schemeClr val="bg1"/>
              </a:gs>
              <a:gs pos="100000">
                <a:schemeClr val="accent2">
                  <a:alpha val="100000"/>
                </a:schemeClr>
              </a:gs>
            </a:gsLst>
            <a:lin ang="5400000" scaled="1"/>
            <a:tileRect/>
          </a:gradFill>
          <a:ln w="9525">
            <a:noFill/>
          </a:ln>
        </p:spPr>
        <p:txBody>
          <a:bodyPr/>
          <a:p>
            <a:endParaRPr lang="zh-CN" altLang="en-US"/>
          </a:p>
        </p:txBody>
      </p:sp>
      <p:sp>
        <p:nvSpPr>
          <p:cNvPr id="9226" name="标题 9225"/>
          <p:cNvSpPr>
            <a:spLocks noGrp="1"/>
          </p:cNvSpPr>
          <p:nvPr>
            <p:ph type="ctrTitle"/>
          </p:nvPr>
        </p:nvSpPr>
        <p:spPr>
          <a:xfrm>
            <a:off x="685800" y="2286000"/>
            <a:ext cx="7772400" cy="1143000"/>
          </a:xfrm>
          <a:prstGeom prst="rect">
            <a:avLst/>
          </a:prstGeom>
          <a:noFill/>
          <a:ln w="9525">
            <a:noFill/>
          </a:ln>
        </p:spPr>
        <p:txBody>
          <a:bodyPr anchor="ctr" anchorCtr="0"/>
          <a:lstStyle>
            <a:lvl1pPr lvl="0">
              <a:buClrTx/>
              <a:buSzTx/>
              <a:buFontTx/>
              <a:defRPr/>
            </a:lvl1pPr>
          </a:lstStyle>
          <a:p>
            <a:pPr lvl="0"/>
            <a:r>
              <a:rPr lang="zh-CN" altLang="en-US" dirty="0"/>
              <a:t>单击此处编辑母版标题样式</a:t>
            </a:r>
            <a:endParaRPr lang="zh-CN" altLang="zh-CN" dirty="0"/>
          </a:p>
        </p:txBody>
      </p:sp>
      <p:sp>
        <p:nvSpPr>
          <p:cNvPr id="9227" name="副标题 9226"/>
          <p:cNvSpPr>
            <a:spLocks noGrp="1"/>
          </p:cNvSpPr>
          <p:nvPr>
            <p:ph type="subTitle" idx="1"/>
          </p:nvPr>
        </p:nvSpPr>
        <p:spPr>
          <a:xfrm>
            <a:off x="1371600" y="3886200"/>
            <a:ext cx="6400800" cy="1752600"/>
          </a:xfrm>
          <a:prstGeom prst="rect">
            <a:avLst/>
          </a:prstGeom>
          <a:noFill/>
          <a:ln w="9525">
            <a:noFill/>
          </a:ln>
        </p:spPr>
        <p:txBody>
          <a:bodyPr anchor="t" anchorCtr="0"/>
          <a:lstStyle>
            <a:lvl1pPr marL="0" lvl="0" indent="0" algn="ctr">
              <a:buClrTx/>
              <a:buSzTx/>
              <a:buFontTx/>
              <a:buNone/>
              <a:defRPr/>
            </a:lvl1pPr>
            <a:lvl2pPr marL="457200" lvl="1" indent="0" algn="ctr">
              <a:buClrTx/>
              <a:buSzTx/>
              <a:buFontTx/>
              <a:buNone/>
              <a:defRPr/>
            </a:lvl2pPr>
            <a:lvl3pPr marL="914400" lvl="2" indent="0" algn="ctr">
              <a:buClrTx/>
              <a:buSzTx/>
              <a:buFontTx/>
              <a:buNone/>
              <a:defRPr/>
            </a:lvl3pPr>
            <a:lvl4pPr marL="1371600" lvl="3" indent="0" algn="ctr">
              <a:buClrTx/>
              <a:buSzTx/>
              <a:buFontTx/>
              <a:buNone/>
              <a:defRPr/>
            </a:lvl4pPr>
            <a:lvl5pPr marL="1828800" lvl="4" indent="0" algn="ctr">
              <a:buClrTx/>
              <a:buSzTx/>
              <a:buFontTx/>
              <a:buNone/>
              <a:defRPr/>
            </a:lvl5pPr>
          </a:lstStyle>
          <a:p>
            <a:pPr lvl="0"/>
            <a:r>
              <a:rPr lang="zh-CN" altLang="en-US" dirty="0"/>
              <a:t>单击此处编辑母版副标题样式</a:t>
            </a:r>
            <a:endParaRPr lang="zh-CN" altLang="en-US" dirty="0"/>
          </a:p>
        </p:txBody>
      </p:sp>
      <p:sp>
        <p:nvSpPr>
          <p:cNvPr id="9228" name="日期占位符 9227"/>
          <p:cNvSpPr>
            <a:spLocks noGrp="1"/>
          </p:cNvSpPr>
          <p:nvPr>
            <p:ph type="dt" sz="half" idx="2"/>
          </p:nvPr>
        </p:nvSpPr>
        <p:spPr>
          <a:xfrm>
            <a:off x="685800" y="6248400"/>
            <a:ext cx="1905000" cy="457200"/>
          </a:xfrm>
          <a:prstGeom prst="rect">
            <a:avLst/>
          </a:prstGeom>
          <a:noFill/>
          <a:ln w="9525">
            <a:noFill/>
          </a:ln>
        </p:spPr>
        <p:txBody>
          <a:bodyPr anchor="t" anchorCtr="0"/>
          <a:lstStyle>
            <a:lvl1pPr>
              <a:defRPr sz="1400" b="0">
                <a:solidFill>
                  <a:srgbClr val="FFFFCC"/>
                </a:solidFill>
              </a:defRPr>
            </a:lvl1pPr>
          </a:lstStyle>
          <a:p>
            <a:pPr eaLnBrk="1" hangingPunct="1">
              <a:lnSpc>
                <a:spcPct val="100000"/>
              </a:lnSpc>
              <a:spcBef>
                <a:spcPct val="50000"/>
              </a:spcBef>
            </a:pPr>
            <a:endParaRPr lang="zh-CN" altLang="en-US" dirty="0">
              <a:latin typeface="Times New Roman" panose="02020603050405020304" pitchFamily="18" charset="0"/>
            </a:endParaRPr>
          </a:p>
        </p:txBody>
      </p:sp>
      <p:sp>
        <p:nvSpPr>
          <p:cNvPr id="9229" name="页脚占位符 9228"/>
          <p:cNvSpPr>
            <a:spLocks noGrp="1"/>
          </p:cNvSpPr>
          <p:nvPr>
            <p:ph type="ftr" sz="quarter" idx="3"/>
          </p:nvPr>
        </p:nvSpPr>
        <p:spPr>
          <a:xfrm>
            <a:off x="3124200" y="6248400"/>
            <a:ext cx="2895600" cy="457200"/>
          </a:xfrm>
          <a:prstGeom prst="rect">
            <a:avLst/>
          </a:prstGeom>
          <a:noFill/>
          <a:ln w="9525">
            <a:noFill/>
          </a:ln>
        </p:spPr>
        <p:txBody>
          <a:bodyPr anchor="t" anchorCtr="0"/>
          <a:lstStyle>
            <a:lvl1pPr algn="ctr">
              <a:defRPr sz="1400" b="0">
                <a:solidFill>
                  <a:srgbClr val="FFFFCC"/>
                </a:solidFill>
              </a:defRPr>
            </a:lvl1pPr>
          </a:lstStyle>
          <a:p>
            <a:pPr eaLnBrk="1" hangingPunct="1">
              <a:lnSpc>
                <a:spcPct val="100000"/>
              </a:lnSpc>
              <a:spcBef>
                <a:spcPct val="50000"/>
              </a:spcBef>
            </a:pPr>
            <a:endParaRPr lang="zh-CN" altLang="en-US" dirty="0">
              <a:latin typeface="Times New Roman" panose="02020603050405020304" pitchFamily="18" charset="0"/>
            </a:endParaRPr>
          </a:p>
        </p:txBody>
      </p:sp>
      <p:sp>
        <p:nvSpPr>
          <p:cNvPr id="9230" name="灯片编号占位符 9229"/>
          <p:cNvSpPr>
            <a:spLocks noGrp="1"/>
          </p:cNvSpPr>
          <p:nvPr>
            <p:ph type="sldNum" sz="quarter" idx="4"/>
          </p:nvPr>
        </p:nvSpPr>
        <p:spPr>
          <a:xfrm>
            <a:off x="6553200" y="6248400"/>
            <a:ext cx="1905000" cy="457200"/>
          </a:xfrm>
          <a:prstGeom prst="rect">
            <a:avLst/>
          </a:prstGeom>
          <a:noFill/>
          <a:ln w="9525">
            <a:noFill/>
          </a:ln>
        </p:spPr>
        <p:txBody>
          <a:bodyPr anchor="t" anchorCtr="0"/>
          <a:lstStyle>
            <a:lvl1pPr algn="r">
              <a:defRPr sz="1400" b="0">
                <a:solidFill>
                  <a:srgbClr val="FFFFCC"/>
                </a:solidFill>
              </a:defRPr>
            </a:lvl1pPr>
          </a:lstStyle>
          <a:p>
            <a:pPr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8" fill="hold" grpId="0" nodeType="afterEffect">
                                  <p:stCondLst>
                                    <p:cond delay="1000"/>
                                  </p:stCondLst>
                                  <p:childTnLst>
                                    <p:set>
                                      <p:cBhvr>
                                        <p:cTn id="6" dur="1" fill="hold">
                                          <p:stCondLst>
                                            <p:cond delay="0"/>
                                          </p:stCondLst>
                                        </p:cTn>
                                        <p:tgtEl>
                                          <p:spTgt spid="9218"/>
                                        </p:tgtEl>
                                        <p:attrNameLst>
                                          <p:attrName>style.visibility</p:attrName>
                                        </p:attrNameLst>
                                      </p:cBhvr>
                                      <p:to>
                                        <p:strVal val="visible"/>
                                      </p:to>
                                    </p:set>
                                    <p:anim calcmode="lin" valueType="num">
                                      <p:cBhvr additive="base">
                                        <p:cTn id="7" dur="5000" fill="hold"/>
                                        <p:tgtEl>
                                          <p:spTgt spid="9218"/>
                                        </p:tgtEl>
                                        <p:attrNameLst>
                                          <p:attrName>ppt_x</p:attrName>
                                        </p:attrNameLst>
                                      </p:cBhvr>
                                      <p:tavLst>
                                        <p:tav tm="0">
                                          <p:val>
                                            <p:strVal val="0-#ppt_w/2"/>
                                          </p:val>
                                        </p:tav>
                                        <p:tav tm="100000">
                                          <p:val>
                                            <p:strVal val="#ppt_x"/>
                                          </p:val>
                                        </p:tav>
                                      </p:tavLst>
                                    </p:anim>
                                    <p:anim calcmode="lin" valueType="num">
                                      <p:cBhvr additive="base">
                                        <p:cTn id="8" dur="5000" fill="hold"/>
                                        <p:tgtEl>
                                          <p:spTgt spid="92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nimBg="1"/>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lnSpc>
                <a:spcPct val="100000"/>
              </a:lnSpc>
              <a:spcBef>
                <a:spcPct val="50000"/>
              </a:spcBef>
            </a:pPr>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9724" y="1981200"/>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9" name="灯片编号占位符 8"/>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灯片编号占位符 4"/>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4" name="灯片编号占位符 3"/>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7" name="灯片编号占位符 6"/>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609600"/>
            <a:ext cx="5716657" cy="54864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6" name="灯片编号占位符 5"/>
          <p:cNvSpPr>
            <a:spLocks noGrp="1"/>
          </p:cNvSpPr>
          <p:nvPr>
            <p:ph type="sldNum" sz="quarter" idx="12"/>
          </p:nvPr>
        </p:nvSpPr>
        <p:spPr/>
        <p:txBody>
          <a:body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0" scaled="1"/>
          <a:tileRect/>
        </a:gradFill>
        <a:effectLst>
          <a:outerShdw dist="107763" dir="2699999" algn="ctr" rotWithShape="0">
            <a:srgbClr val="020000"/>
          </a:outerShdw>
        </a:effectLst>
      </p:bgPr>
    </p:bg>
    <p:spTree>
      <p:nvGrpSpPr>
        <p:cNvPr id="1" name=""/>
        <p:cNvGrpSpPr/>
        <p:nvPr/>
      </p:nvGrpSpPr>
      <p:grpSpPr/>
      <p:sp>
        <p:nvSpPr>
          <p:cNvPr id="8194" name="矩形 8193"/>
          <p:cNvSpPr/>
          <p:nvPr/>
        </p:nvSpPr>
        <p:spPr>
          <a:xfrm>
            <a:off x="8783638" y="444500"/>
            <a:ext cx="360362" cy="3152775"/>
          </a:xfrm>
          <a:prstGeom prst="rect">
            <a:avLst/>
          </a:prstGeom>
          <a:gradFill rotWithShape="0">
            <a:gsLst>
              <a:gs pos="0">
                <a:schemeClr val="bg2"/>
              </a:gs>
              <a:gs pos="50000">
                <a:schemeClr val="hlink"/>
              </a:gs>
              <a:gs pos="100000">
                <a:schemeClr val="bg2"/>
              </a:gs>
            </a:gsLst>
            <a:lin ang="0" scaled="1"/>
            <a:tileRect/>
          </a:gradFill>
          <a:ln w="9525">
            <a:noFill/>
          </a:ln>
        </p:spPr>
        <p:txBody>
          <a:bodyPr wrap="none" anchor="ctr" anchorCtr="0"/>
          <a:p>
            <a:pPr lvl="0" algn="ctr" eaLnBrk="1" hangingPunct="1">
              <a:lnSpc>
                <a:spcPct val="100000"/>
              </a:lnSpc>
              <a:spcBef>
                <a:spcPct val="0"/>
              </a:spcBef>
            </a:pPr>
            <a:endParaRPr sz="2400" b="0" dirty="0">
              <a:latin typeface="Times New Roman" panose="02020603050405020304" pitchFamily="18" charset="0"/>
            </a:endParaRPr>
          </a:p>
        </p:txBody>
      </p:sp>
      <p:sp>
        <p:nvSpPr>
          <p:cNvPr id="8195" name="任意多边形 8194"/>
          <p:cNvSpPr/>
          <p:nvPr/>
        </p:nvSpPr>
        <p:spPr>
          <a:xfrm>
            <a:off x="0" y="0"/>
            <a:ext cx="9144000" cy="2133600"/>
          </a:xfrm>
          <a:custGeom>
            <a:avLst/>
            <a:gdLst/>
            <a:ahLst/>
            <a:cxnLst/>
            <a:pathLst>
              <a:path w="5760" h="1104">
                <a:moveTo>
                  <a:pt x="0" y="0"/>
                </a:moveTo>
                <a:lnTo>
                  <a:pt x="5760" y="0"/>
                </a:lnTo>
                <a:lnTo>
                  <a:pt x="5760" y="720"/>
                </a:lnTo>
                <a:cubicBezTo>
                  <a:pt x="5400" y="824"/>
                  <a:pt x="4560" y="577"/>
                  <a:pt x="3600" y="624"/>
                </a:cubicBezTo>
                <a:cubicBezTo>
                  <a:pt x="2640" y="671"/>
                  <a:pt x="600" y="1104"/>
                  <a:pt x="0" y="1000"/>
                </a:cubicBezTo>
                <a:lnTo>
                  <a:pt x="0" y="0"/>
                </a:lnTo>
                <a:close/>
              </a:path>
            </a:pathLst>
          </a:custGeom>
          <a:gradFill rotWithShape="0">
            <a:gsLst>
              <a:gs pos="0">
                <a:schemeClr val="bg2"/>
              </a:gs>
              <a:gs pos="50000">
                <a:schemeClr val="bg1"/>
              </a:gs>
              <a:gs pos="100000">
                <a:schemeClr val="bg2"/>
              </a:gs>
            </a:gsLst>
            <a:lin ang="0" scaled="1"/>
            <a:tileRect/>
          </a:gradFill>
          <a:ln w="9525">
            <a:noFill/>
          </a:ln>
        </p:spPr>
        <p:txBody>
          <a:bodyPr/>
          <a:p>
            <a:endParaRPr lang="zh-CN" altLang="en-US"/>
          </a:p>
        </p:txBody>
      </p:sp>
      <p:sp>
        <p:nvSpPr>
          <p:cNvPr id="8196" name="任意多边形 8195"/>
          <p:cNvSpPr/>
          <p:nvPr/>
        </p:nvSpPr>
        <p:spPr>
          <a:xfrm>
            <a:off x="0" y="1163638"/>
            <a:ext cx="9144000" cy="5694362"/>
          </a:xfrm>
          <a:custGeom>
            <a:avLst/>
            <a:gdLst/>
            <a:ahLst/>
            <a:cxnLst/>
            <a:pathLst>
              <a:path w="5760" h="3587">
                <a:moveTo>
                  <a:pt x="0" y="582"/>
                </a:moveTo>
                <a:cubicBezTo>
                  <a:pt x="1027" y="680"/>
                  <a:pt x="1960" y="387"/>
                  <a:pt x="2640" y="267"/>
                </a:cubicBezTo>
                <a:cubicBezTo>
                  <a:pt x="2640" y="267"/>
                  <a:pt x="3268" y="180"/>
                  <a:pt x="3373" y="160"/>
                </a:cubicBezTo>
                <a:cubicBezTo>
                  <a:pt x="4120" y="0"/>
                  <a:pt x="5280" y="358"/>
                  <a:pt x="5760" y="358"/>
                </a:cubicBezTo>
                <a:lnTo>
                  <a:pt x="5760" y="3587"/>
                </a:lnTo>
                <a:lnTo>
                  <a:pt x="0" y="3587"/>
                </a:lnTo>
                <a:cubicBezTo>
                  <a:pt x="0" y="3587"/>
                  <a:pt x="0" y="582"/>
                  <a:pt x="0" y="582"/>
                </a:cubicBezTo>
                <a:close/>
              </a:path>
            </a:pathLst>
          </a:custGeom>
          <a:gradFill rotWithShape="0">
            <a:gsLst>
              <a:gs pos="0">
                <a:schemeClr val="bg2">
                  <a:alpha val="100000"/>
                </a:schemeClr>
              </a:gs>
              <a:gs pos="50000">
                <a:schemeClr val="bg1"/>
              </a:gs>
              <a:gs pos="100000">
                <a:schemeClr val="bg2">
                  <a:alpha val="100000"/>
                </a:schemeClr>
              </a:gs>
            </a:gsLst>
            <a:lin ang="0" scaled="1"/>
            <a:tileRect/>
          </a:gradFill>
          <a:ln w="9525">
            <a:noFill/>
          </a:ln>
        </p:spPr>
        <p:txBody>
          <a:bodyPr/>
          <a:p>
            <a:endParaRPr lang="zh-CN" altLang="en-US"/>
          </a:p>
        </p:txBody>
      </p:sp>
      <p:sp>
        <p:nvSpPr>
          <p:cNvPr id="8197" name="任意多边形 8196"/>
          <p:cNvSpPr/>
          <p:nvPr/>
        </p:nvSpPr>
        <p:spPr>
          <a:xfrm>
            <a:off x="0" y="292100"/>
            <a:ext cx="9144000" cy="854075"/>
          </a:xfrm>
          <a:custGeom>
            <a:avLst/>
            <a:gdLst/>
            <a:ahLst/>
            <a:cxnLst/>
            <a:pathLst>
              <a:path w="5760" h="538">
                <a:moveTo>
                  <a:pt x="0" y="163"/>
                </a:moveTo>
                <a:lnTo>
                  <a:pt x="0" y="403"/>
                </a:lnTo>
                <a:cubicBezTo>
                  <a:pt x="295" y="450"/>
                  <a:pt x="1011" y="481"/>
                  <a:pt x="1773" y="443"/>
                </a:cubicBezTo>
                <a:cubicBezTo>
                  <a:pt x="2535" y="405"/>
                  <a:pt x="3909" y="161"/>
                  <a:pt x="4573" y="176"/>
                </a:cubicBezTo>
                <a:cubicBezTo>
                  <a:pt x="5237" y="191"/>
                  <a:pt x="5562" y="538"/>
                  <a:pt x="5760" y="536"/>
                </a:cubicBezTo>
                <a:lnTo>
                  <a:pt x="5760" y="163"/>
                </a:lnTo>
                <a:cubicBezTo>
                  <a:pt x="5560" y="79"/>
                  <a:pt x="5189" y="0"/>
                  <a:pt x="4560" y="29"/>
                </a:cubicBezTo>
                <a:cubicBezTo>
                  <a:pt x="3931" y="58"/>
                  <a:pt x="2747" y="314"/>
                  <a:pt x="1987" y="336"/>
                </a:cubicBezTo>
                <a:cubicBezTo>
                  <a:pt x="1227" y="358"/>
                  <a:pt x="414" y="199"/>
                  <a:pt x="0" y="163"/>
                </a:cubicBezTo>
                <a:close/>
              </a:path>
            </a:pathLst>
          </a:custGeom>
          <a:gradFill rotWithShape="0">
            <a:gsLst>
              <a:gs pos="0">
                <a:schemeClr val="bg1"/>
              </a:gs>
              <a:gs pos="50000">
                <a:schemeClr val="bg2"/>
              </a:gs>
              <a:gs pos="100000">
                <a:schemeClr val="bg1"/>
              </a:gs>
            </a:gsLst>
            <a:lin ang="0" scaled="1"/>
            <a:tileRect/>
          </a:gradFill>
          <a:ln w="9525">
            <a:noFill/>
          </a:ln>
        </p:spPr>
        <p:txBody>
          <a:bodyPr/>
          <a:p>
            <a:endParaRPr lang="zh-CN" altLang="en-US"/>
          </a:p>
        </p:txBody>
      </p:sp>
      <p:sp>
        <p:nvSpPr>
          <p:cNvPr id="8198" name="任意多边形 8197"/>
          <p:cNvSpPr/>
          <p:nvPr/>
        </p:nvSpPr>
        <p:spPr>
          <a:xfrm>
            <a:off x="0" y="2405063"/>
            <a:ext cx="9144000" cy="1069975"/>
          </a:xfrm>
          <a:custGeom>
            <a:avLst/>
            <a:gdLst/>
            <a:ahLst/>
            <a:cxnLst/>
            <a:pathLst>
              <a:path w="5760" h="674">
                <a:moveTo>
                  <a:pt x="0" y="246"/>
                </a:moveTo>
                <a:lnTo>
                  <a:pt x="0" y="406"/>
                </a:lnTo>
                <a:cubicBezTo>
                  <a:pt x="213" y="463"/>
                  <a:pt x="1009" y="616"/>
                  <a:pt x="1280" y="645"/>
                </a:cubicBezTo>
                <a:cubicBezTo>
                  <a:pt x="1551" y="674"/>
                  <a:pt x="1092" y="669"/>
                  <a:pt x="1627" y="580"/>
                </a:cubicBezTo>
                <a:cubicBezTo>
                  <a:pt x="2162" y="491"/>
                  <a:pt x="3804" y="109"/>
                  <a:pt x="4493" y="113"/>
                </a:cubicBezTo>
                <a:cubicBezTo>
                  <a:pt x="5182" y="117"/>
                  <a:pt x="5549" y="586"/>
                  <a:pt x="5760" y="606"/>
                </a:cubicBezTo>
                <a:lnTo>
                  <a:pt x="5760" y="233"/>
                </a:lnTo>
                <a:cubicBezTo>
                  <a:pt x="5471" y="158"/>
                  <a:pt x="4818" y="0"/>
                  <a:pt x="4040" y="33"/>
                </a:cubicBezTo>
                <a:cubicBezTo>
                  <a:pt x="3262" y="66"/>
                  <a:pt x="1766" y="398"/>
                  <a:pt x="1093" y="433"/>
                </a:cubicBezTo>
                <a:cubicBezTo>
                  <a:pt x="420" y="468"/>
                  <a:pt x="228" y="285"/>
                  <a:pt x="0" y="246"/>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8199" name="任意多边形 8198"/>
          <p:cNvSpPr/>
          <p:nvPr/>
        </p:nvSpPr>
        <p:spPr>
          <a:xfrm>
            <a:off x="2476500" y="1522413"/>
            <a:ext cx="6667500" cy="5335587"/>
          </a:xfrm>
          <a:custGeom>
            <a:avLst/>
            <a:gdLst/>
            <a:ahLst/>
            <a:cxnLst/>
            <a:pathLst>
              <a:path w="4200" h="3361">
                <a:moveTo>
                  <a:pt x="0" y="3361"/>
                </a:moveTo>
                <a:cubicBezTo>
                  <a:pt x="118" y="2850"/>
                  <a:pt x="354" y="590"/>
                  <a:pt x="1054" y="295"/>
                </a:cubicBezTo>
                <a:cubicBezTo>
                  <a:pt x="1754" y="0"/>
                  <a:pt x="3676" y="1299"/>
                  <a:pt x="4200" y="1588"/>
                </a:cubicBezTo>
                <a:lnTo>
                  <a:pt x="4200" y="2028"/>
                </a:lnTo>
                <a:cubicBezTo>
                  <a:pt x="3700" y="1837"/>
                  <a:pt x="1842" y="220"/>
                  <a:pt x="1200" y="442"/>
                </a:cubicBezTo>
                <a:cubicBezTo>
                  <a:pt x="558" y="664"/>
                  <a:pt x="547" y="2875"/>
                  <a:pt x="347" y="3361"/>
                </a:cubicBezTo>
                <a:lnTo>
                  <a:pt x="0" y="3361"/>
                </a:lnTo>
                <a:close/>
              </a:path>
            </a:pathLst>
          </a:custGeom>
          <a:gradFill rotWithShape="0">
            <a:gsLst>
              <a:gs pos="0">
                <a:schemeClr val="accent2"/>
              </a:gs>
              <a:gs pos="50000">
                <a:schemeClr val="bg1"/>
              </a:gs>
              <a:gs pos="100000">
                <a:schemeClr val="accent2"/>
              </a:gs>
            </a:gsLst>
            <a:lin ang="5400000" scaled="1"/>
            <a:tileRect/>
          </a:gradFill>
          <a:ln w="9525">
            <a:noFill/>
          </a:ln>
        </p:spPr>
        <p:txBody>
          <a:bodyPr/>
          <a:p>
            <a:endParaRPr lang="zh-CN" altLang="en-US"/>
          </a:p>
        </p:txBody>
      </p:sp>
      <p:sp>
        <p:nvSpPr>
          <p:cNvPr id="8200" name="任意多边形 8199"/>
          <p:cNvSpPr/>
          <p:nvPr/>
        </p:nvSpPr>
        <p:spPr>
          <a:xfrm>
            <a:off x="0" y="3443288"/>
            <a:ext cx="9144000" cy="3055937"/>
          </a:xfrm>
          <a:custGeom>
            <a:avLst/>
            <a:gdLst/>
            <a:ahLst/>
            <a:cxnLst/>
            <a:pathLst>
              <a:path w="5760" h="1925">
                <a:moveTo>
                  <a:pt x="0" y="804"/>
                </a:moveTo>
                <a:lnTo>
                  <a:pt x="0" y="991"/>
                </a:lnTo>
                <a:cubicBezTo>
                  <a:pt x="258" y="1160"/>
                  <a:pt x="1005" y="1925"/>
                  <a:pt x="1547" y="1818"/>
                </a:cubicBezTo>
                <a:cubicBezTo>
                  <a:pt x="2089" y="1711"/>
                  <a:pt x="2551" y="398"/>
                  <a:pt x="3253" y="351"/>
                </a:cubicBezTo>
                <a:cubicBezTo>
                  <a:pt x="3955" y="304"/>
                  <a:pt x="5342" y="1404"/>
                  <a:pt x="5760" y="1537"/>
                </a:cubicBezTo>
                <a:lnTo>
                  <a:pt x="5760" y="1151"/>
                </a:lnTo>
                <a:cubicBezTo>
                  <a:pt x="5405" y="1124"/>
                  <a:pt x="3982" y="0"/>
                  <a:pt x="3240" y="84"/>
                </a:cubicBezTo>
                <a:cubicBezTo>
                  <a:pt x="2542" y="171"/>
                  <a:pt x="2113" y="1551"/>
                  <a:pt x="1573" y="1671"/>
                </a:cubicBezTo>
                <a:cubicBezTo>
                  <a:pt x="1033" y="1791"/>
                  <a:pt x="262" y="826"/>
                  <a:pt x="0" y="804"/>
                </a:cubicBezTo>
                <a:close/>
              </a:path>
            </a:pathLst>
          </a:custGeom>
          <a:gradFill rotWithShape="0">
            <a:gsLst>
              <a:gs pos="0">
                <a:schemeClr val="bg1"/>
              </a:gs>
              <a:gs pos="50000">
                <a:schemeClr val="accent2">
                  <a:alpha val="100000"/>
                </a:schemeClr>
              </a:gs>
              <a:gs pos="100000">
                <a:schemeClr val="bg1"/>
              </a:gs>
            </a:gsLst>
            <a:lin ang="0" scaled="1"/>
            <a:tileRect/>
          </a:gradFill>
          <a:ln w="9525">
            <a:noFill/>
          </a:ln>
        </p:spPr>
        <p:txBody>
          <a:bodyPr/>
          <a:p>
            <a:endParaRPr lang="zh-CN" altLang="en-US"/>
          </a:p>
        </p:txBody>
      </p:sp>
      <p:sp>
        <p:nvSpPr>
          <p:cNvPr id="8201" name="任意多边形 8200"/>
          <p:cNvSpPr/>
          <p:nvPr/>
        </p:nvSpPr>
        <p:spPr>
          <a:xfrm>
            <a:off x="0" y="3552825"/>
            <a:ext cx="6237288" cy="3365500"/>
          </a:xfrm>
          <a:custGeom>
            <a:avLst/>
            <a:gdLst/>
            <a:ahLst/>
            <a:cxnLst/>
            <a:pathLst>
              <a:path w="4196" h="2120">
                <a:moveTo>
                  <a:pt x="0" y="415"/>
                </a:moveTo>
                <a:lnTo>
                  <a:pt x="0" y="508"/>
                </a:lnTo>
                <a:cubicBezTo>
                  <a:pt x="160" y="577"/>
                  <a:pt x="1280" y="138"/>
                  <a:pt x="1933" y="229"/>
                </a:cubicBezTo>
                <a:cubicBezTo>
                  <a:pt x="2586" y="320"/>
                  <a:pt x="3644" y="746"/>
                  <a:pt x="3920" y="1055"/>
                </a:cubicBezTo>
                <a:cubicBezTo>
                  <a:pt x="4196" y="1364"/>
                  <a:pt x="3583" y="2120"/>
                  <a:pt x="3587" y="2082"/>
                </a:cubicBezTo>
                <a:lnTo>
                  <a:pt x="3947" y="829"/>
                </a:lnTo>
                <a:cubicBezTo>
                  <a:pt x="3725" y="494"/>
                  <a:pt x="2911" y="138"/>
                  <a:pt x="2253" y="69"/>
                </a:cubicBezTo>
                <a:cubicBezTo>
                  <a:pt x="1595" y="0"/>
                  <a:pt x="469" y="343"/>
                  <a:pt x="0" y="415"/>
                </a:cubicBezTo>
                <a:close/>
              </a:path>
            </a:pathLst>
          </a:custGeom>
          <a:gradFill rotWithShape="0">
            <a:gsLst>
              <a:gs pos="0">
                <a:schemeClr val="accent2">
                  <a:alpha val="100000"/>
                </a:schemeClr>
              </a:gs>
              <a:gs pos="50000">
                <a:schemeClr val="bg1"/>
              </a:gs>
              <a:gs pos="100000">
                <a:schemeClr val="accent2">
                  <a:alpha val="100000"/>
                </a:schemeClr>
              </a:gs>
            </a:gsLst>
            <a:lin ang="5400000" scaled="1"/>
            <a:tileRect/>
          </a:gradFill>
          <a:ln w="9525">
            <a:noFill/>
          </a:ln>
        </p:spPr>
        <p:txBody>
          <a:bodyPr/>
          <a:p>
            <a:endParaRPr lang="zh-CN" altLang="en-US"/>
          </a:p>
        </p:txBody>
      </p:sp>
      <p:sp>
        <p:nvSpPr>
          <p:cNvPr id="8202" name="标题 8201"/>
          <p:cNvSpPr>
            <a:spLocks noGrp="1"/>
          </p:cNvSpPr>
          <p:nvPr>
            <p:ph type="title"/>
          </p:nvPr>
        </p:nvSpPr>
        <p:spPr>
          <a:xfrm>
            <a:off x="685800" y="609600"/>
            <a:ext cx="7772400" cy="1143000"/>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8203" name="文本占位符 8202"/>
          <p:cNvSpPr>
            <a:spLocks noGrp="1"/>
          </p:cNvSpPr>
          <p:nvPr>
            <p:ph type="body" idx="1"/>
          </p:nvPr>
        </p:nvSpPr>
        <p:spPr>
          <a:xfrm>
            <a:off x="685800" y="1981200"/>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204" name="日期占位符 8203"/>
          <p:cNvSpPr>
            <a:spLocks noGrp="1"/>
          </p:cNvSpPr>
          <p:nvPr>
            <p:ph type="dt" sz="half" idx="2"/>
          </p:nvPr>
        </p:nvSpPr>
        <p:spPr>
          <a:xfrm>
            <a:off x="685800" y="6248400"/>
            <a:ext cx="1905000" cy="457200"/>
          </a:xfrm>
          <a:prstGeom prst="rect">
            <a:avLst/>
          </a:prstGeom>
          <a:noFill/>
          <a:ln w="9525">
            <a:noFill/>
          </a:ln>
        </p:spPr>
        <p:txBody>
          <a:bodyPr/>
          <a:lstStyle>
            <a:lvl1pPr>
              <a:defRPr sz="1400" b="0"/>
            </a:lvl1pPr>
          </a:lstStyle>
          <a:p>
            <a:pPr lvl="0" eaLnBrk="1" hangingPunct="1">
              <a:lnSpc>
                <a:spcPct val="100000"/>
              </a:lnSpc>
              <a:spcBef>
                <a:spcPct val="50000"/>
              </a:spcBef>
            </a:pPr>
            <a:fld id="{BB962C8B-B14F-4D97-AF65-F5344CB8AC3E}" type="datetime1">
              <a:rPr lang="zh-CN" altLang="en-US" dirty="0">
                <a:latin typeface="Times New Roman" panose="02020603050405020304" pitchFamily="18" charset="0"/>
              </a:rPr>
            </a:fld>
            <a:endParaRPr lang="zh-CN" altLang="en-US" dirty="0">
              <a:latin typeface="Times New Roman" panose="02020603050405020304" pitchFamily="18" charset="0"/>
            </a:endParaRPr>
          </a:p>
        </p:txBody>
      </p:sp>
      <p:sp>
        <p:nvSpPr>
          <p:cNvPr id="8205" name="页脚占位符 8204"/>
          <p:cNvSpPr>
            <a:spLocks noGrp="1"/>
          </p:cNvSpPr>
          <p:nvPr>
            <p:ph type="ftr" sz="quarter" idx="3"/>
          </p:nvPr>
        </p:nvSpPr>
        <p:spPr>
          <a:xfrm>
            <a:off x="3124200" y="6248400"/>
            <a:ext cx="2895600" cy="457200"/>
          </a:xfrm>
          <a:prstGeom prst="rect">
            <a:avLst/>
          </a:prstGeom>
          <a:noFill/>
          <a:ln w="9525">
            <a:noFill/>
          </a:ln>
        </p:spPr>
        <p:txBody>
          <a:bodyPr/>
          <a:lstStyle>
            <a:lvl1pPr algn="ctr">
              <a:defRPr sz="1400" b="0"/>
            </a:lvl1pPr>
          </a:lstStyle>
          <a:p>
            <a:pPr lvl="0" eaLnBrk="1" hangingPunct="1">
              <a:lnSpc>
                <a:spcPct val="100000"/>
              </a:lnSpc>
              <a:spcBef>
                <a:spcPct val="50000"/>
              </a:spcBef>
            </a:pPr>
            <a:endParaRPr lang="zh-CN" altLang="en-US" dirty="0">
              <a:latin typeface="Times New Roman" panose="02020603050405020304" pitchFamily="18" charset="0"/>
            </a:endParaRPr>
          </a:p>
        </p:txBody>
      </p:sp>
      <p:sp>
        <p:nvSpPr>
          <p:cNvPr id="8206" name="灯片编号占位符 8205"/>
          <p:cNvSpPr>
            <a:spLocks noGrp="1"/>
          </p:cNvSpPr>
          <p:nvPr>
            <p:ph type="sldNum" sz="quarter" idx="4"/>
          </p:nvPr>
        </p:nvSpPr>
        <p:spPr>
          <a:xfrm>
            <a:off x="6553200" y="6248400"/>
            <a:ext cx="1905000" cy="457200"/>
          </a:xfrm>
          <a:prstGeom prst="rect">
            <a:avLst/>
          </a:prstGeom>
          <a:noFill/>
          <a:ln w="9525">
            <a:noFill/>
          </a:ln>
        </p:spPr>
        <p:txBody>
          <a:bodyPr/>
          <a:lstStyle>
            <a:lvl1pPr algn="r">
              <a:defRPr sz="1400" b="0"/>
            </a:lvl1pPr>
          </a:lstStyle>
          <a:p>
            <a:pPr lvl="0" eaLnBrk="1" hangingPunct="1">
              <a:lnSpc>
                <a:spcPct val="100000"/>
              </a:lnSpc>
              <a:spcBef>
                <a:spcPct val="50000"/>
              </a:spcBef>
            </a:pPr>
            <a:fld id="{9A0DB2DC-4C9A-4742-B13C-FB6460FD3503}" type="slidenum">
              <a:rPr lang="zh-CN" altLang="en-US" dirty="0">
                <a:latin typeface="Times New Roman" panose="02020603050405020304" pitchFamily="18" charset="0"/>
              </a:rPr>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8" fill="hold" grpId="0" nodeType="afterEffect">
                                  <p:stCondLst>
                                    <p:cond delay="1000"/>
                                  </p:stCondLst>
                                  <p:childTnLst>
                                    <p:set>
                                      <p:cBhvr>
                                        <p:cTn id="6" dur="1" fill="hold">
                                          <p:stCondLst>
                                            <p:cond delay="0"/>
                                          </p:stCondLst>
                                        </p:cTn>
                                        <p:tgtEl>
                                          <p:spTgt spid="8194"/>
                                        </p:tgtEl>
                                        <p:attrNameLst>
                                          <p:attrName>style.visibility</p:attrName>
                                        </p:attrNameLst>
                                      </p:cBhvr>
                                      <p:to>
                                        <p:strVal val="visible"/>
                                      </p:to>
                                    </p:set>
                                    <p:anim calcmode="lin" valueType="num">
                                      <p:cBhvr additive="base">
                                        <p:cTn id="7" dur="5000" fill="hold"/>
                                        <p:tgtEl>
                                          <p:spTgt spid="8194"/>
                                        </p:tgtEl>
                                        <p:attrNameLst>
                                          <p:attrName>ppt_x</p:attrName>
                                        </p:attrNameLst>
                                      </p:cBhvr>
                                      <p:tavLst>
                                        <p:tav tm="0">
                                          <p:val>
                                            <p:strVal val="0-#ppt_w/2"/>
                                          </p:val>
                                        </p:tav>
                                        <p:tav tm="100000">
                                          <p:val>
                                            <p:strVal val="#ppt_x"/>
                                          </p:val>
                                        </p:tav>
                                      </p:tavLst>
                                    </p:anim>
                                    <p:anim calcmode="lin" valueType="num">
                                      <p:cBhvr additive="base">
                                        <p:cTn id="8" dur="5000" fill="hold"/>
                                        <p:tgtEl>
                                          <p:spTgt spid="819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nimBg="1"/>
    </p:bldLst>
  </p:timing>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4.wmf"/><Relationship Id="rId7" Type="http://schemas.openxmlformats.org/officeDocument/2006/relationships/oleObject" Target="../embeddings/oleObject4.bin"/><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2" Type="http://schemas.openxmlformats.org/officeDocument/2006/relationships/vmlDrawing" Target="../drawings/vmlDrawing1.vml"/><Relationship Id="rId11" Type="http://schemas.openxmlformats.org/officeDocument/2006/relationships/slideLayout" Target="../slideLayouts/slideLayout2.xml"/><Relationship Id="rId10" Type="http://schemas.openxmlformats.org/officeDocument/2006/relationships/image" Target="../media/image5.wmf"/><Relationship Id="rId1" Type="http://schemas.openxmlformats.org/officeDocument/2006/relationships/oleObject" Target="../embeddings/oleObject1.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6.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65537"/>
          <p:cNvSpPr>
            <a:spLocks noGrp="1"/>
          </p:cNvSpPr>
          <p:nvPr>
            <p:ph type="title"/>
          </p:nvPr>
        </p:nvSpPr>
        <p:spPr>
          <a:xfrm>
            <a:off x="900113" y="-171450"/>
            <a:ext cx="7772400" cy="1143000"/>
          </a:xfrm>
          <a:ln/>
        </p:spPr>
        <p:txBody>
          <a:bodyPr anchor="ctr" anchorCtr="0"/>
          <a:p>
            <a:r>
              <a:rPr lang="zh-CN" altLang="en-US" sz="3200" b="1" dirty="0">
                <a:solidFill>
                  <a:srgbClr val="FF0000"/>
                </a:solidFill>
                <a:latin typeface="黑体" panose="02010609060101010101" pitchFamily="2" charset="-122"/>
                <a:ea typeface="黑体" panose="02010609060101010101" pitchFamily="2" charset="-122"/>
              </a:rPr>
              <a:t>第七单元 总消费与总产出及政府财政政策</a:t>
            </a:r>
            <a:endParaRPr lang="zh-CN" altLang="en-US" b="1">
              <a:latin typeface="黑体" panose="02010609060101010101" pitchFamily="2" charset="-122"/>
              <a:ea typeface="黑体" panose="02010609060101010101" pitchFamily="2" charset="-122"/>
            </a:endParaRPr>
          </a:p>
        </p:txBody>
      </p:sp>
      <p:sp>
        <p:nvSpPr>
          <p:cNvPr id="65539" name="文本占位符 65538"/>
          <p:cNvSpPr>
            <a:spLocks noGrp="1"/>
          </p:cNvSpPr>
          <p:nvPr>
            <p:ph type="body" idx="1"/>
          </p:nvPr>
        </p:nvSpPr>
        <p:spPr>
          <a:xfrm>
            <a:off x="533400" y="685800"/>
            <a:ext cx="7772400" cy="4114800"/>
          </a:xfrm>
          <a:ln/>
        </p:spPr>
        <p:txBody>
          <a:bodyPr/>
          <a:p>
            <a:pPr marL="0" indent="0" algn="just">
              <a:lnSpc>
                <a:spcPct val="90000"/>
              </a:lnSpc>
              <a:buNone/>
            </a:pPr>
            <a:r>
              <a:rPr lang="zh-CN" altLang="en-US" sz="2400" b="1" dirty="0">
                <a:solidFill>
                  <a:srgbClr val="FF0000"/>
                </a:solidFill>
                <a:latin typeface="宋体" panose="02010600030101010101" pitchFamily="2" charset="-122"/>
              </a:rPr>
              <a:t>第一节</a:t>
            </a:r>
            <a:r>
              <a:rPr lang="en-US" altLang="zh-CN" sz="2400" b="1" dirty="0">
                <a:solidFill>
                  <a:srgbClr val="FF0000"/>
                </a:solidFill>
                <a:latin typeface="宋体" panose="02010600030101010101" pitchFamily="2" charset="-122"/>
              </a:rPr>
              <a:t>   </a:t>
            </a:r>
            <a:r>
              <a:rPr lang="zh-CN" altLang="en-US" sz="2400" b="1" dirty="0">
                <a:solidFill>
                  <a:srgbClr val="FF0000"/>
                </a:solidFill>
                <a:latin typeface="宋体" panose="02010600030101010101" pitchFamily="2" charset="-122"/>
              </a:rPr>
              <a:t>宏观经济基本模型</a:t>
            </a:r>
            <a:endParaRPr lang="zh-CN" altLang="en-US" sz="2400" b="1" dirty="0">
              <a:solidFill>
                <a:srgbClr val="FF0000"/>
              </a:solidFill>
              <a:latin typeface="宋体" panose="02010600030101010101" pitchFamily="2" charset="-122"/>
            </a:endParaRPr>
          </a:p>
          <a:p>
            <a:pPr marL="0" indent="0" algn="just">
              <a:lnSpc>
                <a:spcPct val="90000"/>
              </a:lnSpc>
              <a:buNone/>
            </a:pPr>
            <a:r>
              <a:rPr lang="zh-CN" altLang="en-US" sz="1600" b="1" dirty="0">
                <a:solidFill>
                  <a:srgbClr val="000000"/>
                </a:solidFill>
                <a:latin typeface="宋体" panose="02010600030101010101" pitchFamily="2" charset="-122"/>
              </a:rPr>
              <a:t>总需求</a:t>
            </a:r>
            <a:r>
              <a:rPr lang="en-US" altLang="zh-CN" sz="1600" b="1">
                <a:solidFill>
                  <a:srgbClr val="000000"/>
                </a:solidFill>
                <a:latin typeface="宋体" panose="02010600030101010101" pitchFamily="2" charset="-122"/>
              </a:rPr>
              <a:t>(Aggregate Demand, </a:t>
            </a:r>
            <a:r>
              <a:rPr lang="zh-CN" altLang="en-US" sz="1600" b="1" dirty="0">
                <a:solidFill>
                  <a:srgbClr val="000000"/>
                </a:solidFill>
                <a:latin typeface="宋体" panose="02010600030101010101" pitchFamily="2" charset="-122"/>
              </a:rPr>
              <a:t>简称</a:t>
            </a:r>
            <a:r>
              <a:rPr lang="en-US" altLang="zh-CN" sz="1600" b="1">
                <a:solidFill>
                  <a:srgbClr val="000000"/>
                </a:solidFill>
                <a:latin typeface="宋体" panose="02010600030101010101" pitchFamily="2" charset="-122"/>
              </a:rPr>
              <a:t>AD)</a:t>
            </a:r>
            <a:r>
              <a:rPr lang="zh-CN" altLang="en-US" sz="1600" b="1">
                <a:solidFill>
                  <a:srgbClr val="000000"/>
                </a:solidFill>
                <a:latin typeface="宋体" panose="02010600030101010101" pitchFamily="2" charset="-122"/>
              </a:rPr>
              <a:t>：</a:t>
            </a:r>
            <a:r>
              <a:rPr lang="zh-CN" altLang="en-US" sz="1600" b="1" dirty="0">
                <a:solidFill>
                  <a:srgbClr val="000000"/>
                </a:solidFill>
                <a:latin typeface="宋体" panose="02010600030101010101" pitchFamily="2" charset="-122"/>
              </a:rPr>
              <a:t>在任何物价水平上经济中需求的所有物品与劳务量。</a:t>
            </a:r>
            <a:endParaRPr lang="zh-CN" altLang="en-US" sz="1600" b="1" dirty="0">
              <a:solidFill>
                <a:srgbClr val="000000"/>
              </a:solidFill>
              <a:latin typeface="宋体" panose="02010600030101010101" pitchFamily="2" charset="-122"/>
            </a:endParaRPr>
          </a:p>
          <a:p>
            <a:pPr marL="0" indent="0" algn="just">
              <a:lnSpc>
                <a:spcPct val="90000"/>
              </a:lnSpc>
              <a:buNone/>
            </a:pPr>
            <a:r>
              <a:rPr lang="en-US" altLang="zh-CN" sz="1600" b="1" dirty="0">
                <a:solidFill>
                  <a:srgbClr val="000000"/>
                </a:solidFill>
                <a:latin typeface="宋体" panose="02010600030101010101" pitchFamily="2" charset="-122"/>
              </a:rPr>
              <a:t> </a:t>
            </a:r>
            <a:endParaRPr lang="en-US" altLang="zh-CN" sz="1600" b="1" dirty="0">
              <a:solidFill>
                <a:srgbClr val="000000"/>
              </a:solidFill>
              <a:latin typeface="宋体" panose="02010600030101010101" pitchFamily="2" charset="-122"/>
            </a:endParaRPr>
          </a:p>
          <a:p>
            <a:pPr marL="0" indent="0" algn="just">
              <a:lnSpc>
                <a:spcPct val="90000"/>
              </a:lnSpc>
              <a:buNone/>
            </a:pPr>
            <a:r>
              <a:rPr lang="en-US" altLang="zh-CN" sz="1600" b="1">
                <a:solidFill>
                  <a:srgbClr val="000000"/>
                </a:solidFill>
                <a:latin typeface="宋体" panose="02010600030101010101" pitchFamily="2" charset="-122"/>
              </a:rPr>
              <a:t>l  </a:t>
            </a:r>
            <a:r>
              <a:rPr lang="zh-CN" altLang="en-US" sz="1600" b="1" dirty="0">
                <a:solidFill>
                  <a:srgbClr val="000000"/>
                </a:solidFill>
                <a:latin typeface="宋体" panose="02010600030101010101" pitchFamily="2" charset="-122"/>
              </a:rPr>
              <a:t>总需求曲线的斜率：总需求曲线是向右下方倾斜的，这是由于存在着</a:t>
            </a:r>
            <a:r>
              <a:rPr lang="zh-CN" altLang="en-US" sz="1600" b="1" dirty="0">
                <a:solidFill>
                  <a:srgbClr val="FF0000"/>
                </a:solidFill>
                <a:latin typeface="宋体" panose="02010600030101010101" pitchFamily="2" charset="-122"/>
              </a:rPr>
              <a:t>财富效应</a:t>
            </a:r>
            <a:r>
              <a:rPr lang="zh-CN" altLang="en-US" sz="1600" b="1" dirty="0">
                <a:solidFill>
                  <a:srgbClr val="000000"/>
                </a:solidFill>
                <a:latin typeface="宋体" panose="02010600030101010101" pitchFamily="2" charset="-122"/>
              </a:rPr>
              <a:t>、</a:t>
            </a:r>
            <a:r>
              <a:rPr lang="zh-CN" altLang="en-US" sz="1600" b="1" dirty="0">
                <a:solidFill>
                  <a:srgbClr val="FF0000"/>
                </a:solidFill>
                <a:latin typeface="宋体" panose="02010600030101010101" pitchFamily="2" charset="-122"/>
              </a:rPr>
              <a:t>利率效应</a:t>
            </a:r>
            <a:r>
              <a:rPr lang="zh-CN" altLang="en-US" sz="1600" b="1" dirty="0">
                <a:solidFill>
                  <a:srgbClr val="000000"/>
                </a:solidFill>
                <a:latin typeface="宋体" panose="02010600030101010101" pitchFamily="2" charset="-122"/>
              </a:rPr>
              <a:t>和</a:t>
            </a:r>
            <a:r>
              <a:rPr lang="zh-CN" altLang="en-US" sz="1600" b="1" dirty="0">
                <a:solidFill>
                  <a:srgbClr val="FF0000"/>
                </a:solidFill>
                <a:latin typeface="宋体" panose="02010600030101010101" pitchFamily="2" charset="-122"/>
              </a:rPr>
              <a:t>汇率效应</a:t>
            </a:r>
            <a:r>
              <a:rPr lang="zh-CN" altLang="en-US" sz="1600" b="1" dirty="0">
                <a:solidFill>
                  <a:srgbClr val="000000"/>
                </a:solidFill>
                <a:latin typeface="宋体" panose="02010600030101010101" pitchFamily="2" charset="-122"/>
              </a:rPr>
              <a:t>。</a:t>
            </a:r>
            <a:endParaRPr lang="zh-CN" altLang="en-US" sz="1600" b="1" dirty="0">
              <a:solidFill>
                <a:srgbClr val="000000"/>
              </a:solidFill>
              <a:latin typeface="宋体" panose="02010600030101010101" pitchFamily="2" charset="-122"/>
            </a:endParaRPr>
          </a:p>
          <a:p>
            <a:pPr marL="0" indent="0" algn="just">
              <a:lnSpc>
                <a:spcPct val="90000"/>
              </a:lnSpc>
            </a:pPr>
            <a:endParaRPr lang="zh-CN" altLang="en-US" sz="1600" b="1">
              <a:solidFill>
                <a:srgbClr val="000000"/>
              </a:solidFill>
              <a:latin typeface="宋体" panose="02010600030101010101" pitchFamily="2" charset="-122"/>
            </a:endParaRPr>
          </a:p>
          <a:p>
            <a:pPr marL="0" indent="0" algn="just">
              <a:lnSpc>
                <a:spcPct val="90000"/>
              </a:lnSpc>
            </a:pPr>
            <a:endParaRPr lang="zh-CN" altLang="en-US" sz="1600" b="1">
              <a:solidFill>
                <a:srgbClr val="000000"/>
              </a:solidFill>
              <a:latin typeface="宋体" panose="02010600030101010101" pitchFamily="2" charset="-122"/>
            </a:endParaRPr>
          </a:p>
          <a:p>
            <a:pPr marL="0" indent="0">
              <a:lnSpc>
                <a:spcPct val="90000"/>
              </a:lnSpc>
              <a:buNone/>
            </a:pPr>
            <a:endParaRPr lang="zh-CN" altLang="en-US" sz="1600" b="1">
              <a:solidFill>
                <a:srgbClr val="000000"/>
              </a:solidFill>
              <a:latin typeface="宋体" panose="02010600030101010101" pitchFamily="2" charset="-122"/>
            </a:endParaRPr>
          </a:p>
          <a:p>
            <a:pPr marL="0" indent="0" algn="just">
              <a:lnSpc>
                <a:spcPct val="90000"/>
              </a:lnSpc>
              <a:buNone/>
            </a:pPr>
            <a:endParaRPr lang="zh-CN" altLang="en-US" sz="1600" b="1">
              <a:solidFill>
                <a:srgbClr val="000000"/>
              </a:solidFill>
              <a:latin typeface="宋体" panose="02010600030101010101" pitchFamily="2" charset="-122"/>
            </a:endParaRPr>
          </a:p>
          <a:p>
            <a:pPr marL="0" indent="0" algn="just">
              <a:lnSpc>
                <a:spcPct val="90000"/>
              </a:lnSpc>
              <a:buNone/>
            </a:pPr>
            <a:endParaRPr lang="zh-CN" altLang="en-US" sz="1600" b="1">
              <a:solidFill>
                <a:srgbClr val="000000"/>
              </a:solidFill>
              <a:latin typeface="宋体" panose="02010600030101010101" pitchFamily="2" charset="-122"/>
            </a:endParaRPr>
          </a:p>
          <a:p>
            <a:pPr marL="0" indent="0" algn="just">
              <a:lnSpc>
                <a:spcPct val="90000"/>
              </a:lnSpc>
              <a:buNone/>
            </a:pPr>
            <a:endParaRPr lang="zh-CN" altLang="en-US" sz="1600" b="1">
              <a:solidFill>
                <a:srgbClr val="000000"/>
              </a:solidFill>
              <a:latin typeface="宋体" panose="02010600030101010101" pitchFamily="2" charset="-122"/>
            </a:endParaRPr>
          </a:p>
          <a:p>
            <a:pPr marL="0" indent="0" algn="just">
              <a:lnSpc>
                <a:spcPct val="90000"/>
              </a:lnSpc>
              <a:buNone/>
            </a:pPr>
            <a:endParaRPr lang="zh-CN" altLang="en-US" sz="1600" b="1">
              <a:solidFill>
                <a:srgbClr val="000000"/>
              </a:solidFill>
              <a:latin typeface="宋体" panose="02010600030101010101" pitchFamily="2" charset="-122"/>
            </a:endParaRPr>
          </a:p>
          <a:p>
            <a:pPr marL="0" indent="0" algn="just">
              <a:lnSpc>
                <a:spcPct val="90000"/>
              </a:lnSpc>
              <a:buNone/>
            </a:pPr>
            <a:endParaRPr lang="zh-CN" altLang="en-US" sz="1600" b="1">
              <a:solidFill>
                <a:srgbClr val="000000"/>
              </a:solidFill>
              <a:latin typeface="宋体" panose="02010600030101010101" pitchFamily="2" charset="-122"/>
            </a:endParaRPr>
          </a:p>
          <a:p>
            <a:pPr marL="0" indent="0" algn="just">
              <a:lnSpc>
                <a:spcPct val="90000"/>
              </a:lnSpc>
            </a:pPr>
            <a:endParaRPr lang="zh-CN" altLang="en-US" sz="1600" b="1">
              <a:solidFill>
                <a:srgbClr val="000000"/>
              </a:solidFill>
              <a:latin typeface="宋体" panose="02010600030101010101" pitchFamily="2" charset="-122"/>
            </a:endParaRPr>
          </a:p>
          <a:p>
            <a:pPr marL="0" indent="0" algn="just">
              <a:lnSpc>
                <a:spcPct val="90000"/>
              </a:lnSpc>
              <a:buNone/>
            </a:pPr>
            <a:r>
              <a:rPr lang="en-US" altLang="zh-CN" sz="1600" b="1">
                <a:solidFill>
                  <a:srgbClr val="FF0000"/>
                </a:solidFill>
                <a:latin typeface="宋体" panose="02010600030101010101" pitchFamily="2" charset="-122"/>
              </a:rPr>
              <a:t>(1) </a:t>
            </a:r>
            <a:r>
              <a:rPr lang="zh-CN" altLang="en-US" sz="1600" b="1" dirty="0">
                <a:solidFill>
                  <a:srgbClr val="FF0000"/>
                </a:solidFill>
                <a:latin typeface="宋体" panose="02010600030101010101" pitchFamily="2" charset="-122"/>
              </a:rPr>
              <a:t>财富效应</a:t>
            </a:r>
            <a:r>
              <a:rPr lang="zh-CN" altLang="en-US" sz="1600" b="1" dirty="0">
                <a:solidFill>
                  <a:srgbClr val="000000"/>
                </a:solidFill>
                <a:latin typeface="宋体" panose="02010600030101010101" pitchFamily="2" charset="-122"/>
              </a:rPr>
              <a:t>：物价水平下降使消费者感到更富裕。这又鼓励他们更多地支出。消费支出增加意味着物品与劳务的需求量更大。这种效应有时称为“庇古效应”。</a:t>
            </a:r>
            <a:endParaRPr lang="zh-CN" altLang="en-US" sz="1600" b="1" dirty="0">
              <a:solidFill>
                <a:srgbClr val="000000"/>
              </a:solidFill>
              <a:latin typeface="宋体" panose="02010600030101010101" pitchFamily="2" charset="-122"/>
            </a:endParaRPr>
          </a:p>
          <a:p>
            <a:pPr marL="0" indent="0" algn="just">
              <a:lnSpc>
                <a:spcPct val="90000"/>
              </a:lnSpc>
              <a:buNone/>
            </a:pPr>
            <a:r>
              <a:rPr lang="en-US" altLang="zh-CN" sz="1600" b="1">
                <a:solidFill>
                  <a:srgbClr val="FF0000"/>
                </a:solidFill>
                <a:latin typeface="宋体" panose="02010600030101010101" pitchFamily="2" charset="-122"/>
              </a:rPr>
              <a:t>(2)</a:t>
            </a:r>
            <a:r>
              <a:rPr lang="zh-CN" altLang="en-US" sz="1600" b="1" dirty="0">
                <a:solidFill>
                  <a:srgbClr val="FF0000"/>
                </a:solidFill>
                <a:latin typeface="宋体" panose="02010600030101010101" pitchFamily="2" charset="-122"/>
              </a:rPr>
              <a:t>利率效应</a:t>
            </a:r>
            <a:r>
              <a:rPr lang="zh-CN" altLang="en-US" sz="1600" b="1" dirty="0">
                <a:solidFill>
                  <a:srgbClr val="000000"/>
                </a:solidFill>
                <a:latin typeface="宋体" panose="02010600030101010101" pitchFamily="2" charset="-122"/>
              </a:rPr>
              <a:t>：较低的物价水平降低了利率，鼓励了更多地支出于投资物品，从而增加了物品与劳务的需求量。这种效应有时也称为“凯恩斯效应”。</a:t>
            </a:r>
            <a:endParaRPr lang="zh-CN" altLang="en-US" sz="1600" b="1" dirty="0">
              <a:solidFill>
                <a:srgbClr val="000000"/>
              </a:solidFill>
              <a:latin typeface="宋体" panose="02010600030101010101" pitchFamily="2" charset="-122"/>
            </a:endParaRPr>
          </a:p>
          <a:p>
            <a:pPr marL="0" indent="0" algn="just">
              <a:lnSpc>
                <a:spcPct val="90000"/>
              </a:lnSpc>
              <a:buNone/>
            </a:pPr>
            <a:r>
              <a:rPr lang="en-US" altLang="zh-CN" sz="1600" b="1">
                <a:solidFill>
                  <a:srgbClr val="FF0000"/>
                </a:solidFill>
                <a:latin typeface="宋体" panose="02010600030101010101" pitchFamily="2" charset="-122"/>
              </a:rPr>
              <a:t>(3)</a:t>
            </a:r>
            <a:r>
              <a:rPr lang="zh-CN" altLang="en-US" sz="1600" b="1" dirty="0">
                <a:solidFill>
                  <a:srgbClr val="FF0000"/>
                </a:solidFill>
                <a:latin typeface="宋体" panose="02010600030101010101" pitchFamily="2" charset="-122"/>
              </a:rPr>
              <a:t>汇率效应</a:t>
            </a:r>
            <a:r>
              <a:rPr lang="zh-CN" altLang="en-US" sz="1600" b="1" dirty="0">
                <a:solidFill>
                  <a:srgbClr val="000000"/>
                </a:solidFill>
                <a:latin typeface="宋体" panose="02010600030101010101" pitchFamily="2" charset="-122"/>
              </a:rPr>
              <a:t>：本国物价水平下降会使利率降低，从而使本国的货币贬值，使得本国的出口增加，进口减少。即汇率贬值刺激了本国的净出口，增加了对本国的物品与劳务的需求量。</a:t>
            </a:r>
            <a:endParaRPr lang="zh-CN" altLang="en-US" sz="1600" b="1" dirty="0">
              <a:solidFill>
                <a:srgbClr val="000000"/>
              </a:solidFill>
              <a:latin typeface="宋体" panose="02010600030101010101" pitchFamily="2" charset="-122"/>
            </a:endParaRPr>
          </a:p>
          <a:p>
            <a:pPr marL="0" indent="0" algn="just">
              <a:lnSpc>
                <a:spcPct val="90000"/>
              </a:lnSpc>
              <a:buNone/>
            </a:pPr>
            <a:endParaRPr lang="zh-CN" altLang="en-US" sz="2800" dirty="0">
              <a:latin typeface="宋体" panose="02010600030101010101" pitchFamily="2" charset="-122"/>
            </a:endParaRPr>
          </a:p>
          <a:p>
            <a:pPr marL="0" indent="0">
              <a:lnSpc>
                <a:spcPct val="90000"/>
              </a:lnSpc>
              <a:buNone/>
            </a:pPr>
            <a:endParaRPr lang="zh-CN" altLang="en-US" sz="2800" dirty="0">
              <a:solidFill>
                <a:srgbClr val="FF0000"/>
              </a:solidFill>
              <a:latin typeface="宋体" panose="02010600030101010101" pitchFamily="2" charset="-122"/>
            </a:endParaRPr>
          </a:p>
          <a:p>
            <a:pPr marL="0" indent="0">
              <a:lnSpc>
                <a:spcPct val="90000"/>
              </a:lnSpc>
              <a:buNone/>
            </a:pPr>
            <a:endParaRPr lang="zh-CN" altLang="en-US" sz="2800">
              <a:solidFill>
                <a:srgbClr val="FF0000"/>
              </a:solidFill>
              <a:latin typeface="宋体" panose="02010600030101010101" pitchFamily="2" charset="-122"/>
            </a:endParaRPr>
          </a:p>
        </p:txBody>
      </p:sp>
      <p:grpSp>
        <p:nvGrpSpPr>
          <p:cNvPr id="65540" name="组合 65539"/>
          <p:cNvGrpSpPr/>
          <p:nvPr/>
        </p:nvGrpSpPr>
        <p:grpSpPr>
          <a:xfrm>
            <a:off x="3581400" y="2362200"/>
            <a:ext cx="5181600" cy="2209800"/>
            <a:chOff x="3780" y="3468"/>
            <a:chExt cx="4680" cy="2808"/>
          </a:xfrm>
        </p:grpSpPr>
        <p:sp>
          <p:nvSpPr>
            <p:cNvPr id="65541" name="直接连接符 65540"/>
            <p:cNvSpPr/>
            <p:nvPr/>
          </p:nvSpPr>
          <p:spPr>
            <a:xfrm flipV="1">
              <a:off x="4500" y="3468"/>
              <a:ext cx="0" cy="2340"/>
            </a:xfrm>
            <a:prstGeom prst="line">
              <a:avLst/>
            </a:prstGeom>
            <a:ln w="38100" cap="flat" cmpd="sng">
              <a:solidFill>
                <a:srgbClr val="000000"/>
              </a:solidFill>
              <a:prstDash val="solid"/>
              <a:headEnd type="none" w="med" len="med"/>
              <a:tailEnd type="triangle" w="med" len="med"/>
            </a:ln>
          </p:spPr>
        </p:sp>
        <p:sp>
          <p:nvSpPr>
            <p:cNvPr id="65542" name="直接连接符 65541"/>
            <p:cNvSpPr/>
            <p:nvPr/>
          </p:nvSpPr>
          <p:spPr>
            <a:xfrm>
              <a:off x="4500" y="5808"/>
              <a:ext cx="3060" cy="0"/>
            </a:xfrm>
            <a:prstGeom prst="line">
              <a:avLst/>
            </a:prstGeom>
            <a:ln w="38100" cap="flat" cmpd="sng">
              <a:solidFill>
                <a:srgbClr val="000000"/>
              </a:solidFill>
              <a:prstDash val="solid"/>
              <a:headEnd type="none" w="med" len="med"/>
              <a:tailEnd type="triangle" w="med" len="med"/>
            </a:ln>
          </p:spPr>
        </p:sp>
        <p:sp>
          <p:nvSpPr>
            <p:cNvPr id="65543" name="任意多边形 65542"/>
            <p:cNvSpPr/>
            <p:nvPr/>
          </p:nvSpPr>
          <p:spPr>
            <a:xfrm rot="10701281">
              <a:off x="4860" y="3936"/>
              <a:ext cx="1800" cy="1560"/>
            </a:xfrm>
            <a:custGeom>
              <a:avLst/>
              <a:gdLst>
                <a:gd name="txL" fmla="*/ 0 w 21600"/>
                <a:gd name="txT" fmla="*/ 0 h 21600"/>
                <a:gd name="txR" fmla="*/ 21600 w 21600"/>
                <a:gd name="txB" fmla="*/ 21600 h 21600"/>
              </a:gdLst>
              <a:ahLst/>
              <a:cxnLst>
                <a:cxn ang="270">
                  <a:pos x="0" y="0"/>
                </a:cxn>
                <a:cxn ang="90">
                  <a:pos x="21600" y="21600"/>
                </a:cxn>
                <a:cxn ang="90">
                  <a:pos x="0" y="21600"/>
                </a:cxn>
              </a:cxnLst>
              <a:rect l="txL" t="txT" r="txR" b="txB"/>
              <a:pathLst>
                <a:path w="21600" h="21600" fill="none">
                  <a:moveTo>
                    <a:pt x="0" y="0"/>
                  </a:moveTo>
                  <a:arcTo wR="21600" hR="21600" stAng="-5400000" swAng="5400000"/>
                </a:path>
                <a:path w="21600" h="21600" stroke="0">
                  <a:moveTo>
                    <a:pt x="0" y="0"/>
                  </a:moveTo>
                  <a:arcTo wR="21600" hR="21600" stAng="-5400000" swAng="5400000"/>
                  <a:lnTo>
                    <a:pt x="0" y="21600"/>
                  </a:lnTo>
                  <a:close/>
                </a:path>
              </a:pathLst>
            </a:custGeom>
            <a:noFill/>
            <a:ln w="38100" cap="flat" cmpd="sng">
              <a:solidFill>
                <a:srgbClr val="000000"/>
              </a:solidFill>
              <a:prstDash val="solid"/>
              <a:headEnd type="none" w="med" len="med"/>
              <a:tailEnd type="none" w="med" len="med"/>
            </a:ln>
          </p:spPr>
          <p:txBody>
            <a:bodyPr/>
            <a:p>
              <a:endParaRPr lang="zh-CN" altLang="en-US"/>
            </a:p>
          </p:txBody>
        </p:sp>
        <p:sp>
          <p:nvSpPr>
            <p:cNvPr id="65544" name="文本框 65543"/>
            <p:cNvSpPr txBox="1"/>
            <p:nvPr/>
          </p:nvSpPr>
          <p:spPr>
            <a:xfrm>
              <a:off x="3780" y="3471"/>
              <a:ext cx="900" cy="780"/>
            </a:xfrm>
            <a:prstGeom prst="rect">
              <a:avLst/>
            </a:prstGeom>
            <a:noFill/>
            <a:ln w="9525">
              <a:noFill/>
            </a:ln>
          </p:spPr>
          <p:txBody>
            <a:bodyPr/>
            <a:p>
              <a:pPr algn="just" eaLnBrk="0" hangingPunct="0">
                <a:lnSpc>
                  <a:spcPct val="100000"/>
                </a:lnSpc>
                <a:spcBef>
                  <a:spcPct val="0"/>
                </a:spcBef>
              </a:pPr>
              <a:r>
                <a:rPr lang="zh-CN" altLang="en-US" sz="1600" dirty="0">
                  <a:solidFill>
                    <a:srgbClr val="000000"/>
                  </a:solidFill>
                  <a:latin typeface="Times New Roman" panose="02020603050405020304" pitchFamily="18" charset="0"/>
                </a:rPr>
                <a:t>物价</a:t>
              </a:r>
              <a:endParaRPr lang="zh-CN" altLang="en-US" sz="1600" dirty="0">
                <a:solidFill>
                  <a:srgbClr val="000000"/>
                </a:solidFill>
                <a:latin typeface="Times New Roman" panose="02020603050405020304" pitchFamily="18" charset="0"/>
              </a:endParaRPr>
            </a:p>
            <a:p>
              <a:pPr algn="just" eaLnBrk="0" hangingPunct="0">
                <a:lnSpc>
                  <a:spcPct val="100000"/>
                </a:lnSpc>
                <a:spcBef>
                  <a:spcPct val="0"/>
                </a:spcBef>
              </a:pPr>
              <a:r>
                <a:rPr lang="zh-CN" altLang="en-US" sz="1600" dirty="0">
                  <a:solidFill>
                    <a:srgbClr val="000000"/>
                  </a:solidFill>
                  <a:latin typeface="Times New Roman" panose="02020603050405020304" pitchFamily="18" charset="0"/>
                </a:rPr>
                <a:t>水平</a:t>
              </a:r>
              <a:endParaRPr lang="zh-CN" altLang="en-US" sz="1600" dirty="0">
                <a:solidFill>
                  <a:srgbClr val="000000"/>
                </a:solidFill>
                <a:latin typeface="Times New Roman" panose="02020603050405020304" pitchFamily="18" charset="0"/>
              </a:endParaRPr>
            </a:p>
          </p:txBody>
        </p:sp>
        <p:sp>
          <p:nvSpPr>
            <p:cNvPr id="65545" name="文本框 65544"/>
            <p:cNvSpPr txBox="1"/>
            <p:nvPr/>
          </p:nvSpPr>
          <p:spPr>
            <a:xfrm>
              <a:off x="6840" y="5808"/>
              <a:ext cx="1620" cy="468"/>
            </a:xfrm>
            <a:prstGeom prst="rect">
              <a:avLst/>
            </a:prstGeom>
            <a:noFill/>
            <a:ln w="9525">
              <a:noFill/>
            </a:ln>
          </p:spPr>
          <p:txBody>
            <a:bodyPr/>
            <a:p>
              <a:pPr algn="just" eaLnBrk="0" hangingPunct="0">
                <a:lnSpc>
                  <a:spcPct val="100000"/>
                </a:lnSpc>
                <a:spcBef>
                  <a:spcPct val="0"/>
                </a:spcBef>
              </a:pPr>
              <a:r>
                <a:rPr lang="zh-CN" altLang="en-US" sz="1600" dirty="0">
                  <a:solidFill>
                    <a:srgbClr val="000000"/>
                  </a:solidFill>
                  <a:latin typeface="Times New Roman" panose="02020603050405020304" pitchFamily="18" charset="0"/>
                </a:rPr>
                <a:t>实际</a:t>
              </a:r>
              <a:r>
                <a:rPr lang="en-US" altLang="zh-CN" sz="1600">
                  <a:solidFill>
                    <a:srgbClr val="000000"/>
                  </a:solidFill>
                  <a:latin typeface="Times New Roman" panose="02020603050405020304" pitchFamily="18" charset="0"/>
                </a:rPr>
                <a:t>GDP</a:t>
              </a:r>
              <a:endParaRPr lang="en-US" altLang="zh-CN" sz="1600">
                <a:solidFill>
                  <a:srgbClr val="000000"/>
                </a:solidFill>
                <a:latin typeface="Times New Roman" panose="02020603050405020304" pitchFamily="18" charset="0"/>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3" name="文本占位符 66562"/>
          <p:cNvSpPr>
            <a:spLocks noGrp="1"/>
          </p:cNvSpPr>
          <p:nvPr>
            <p:ph type="body" idx="1"/>
          </p:nvPr>
        </p:nvSpPr>
        <p:spPr>
          <a:xfrm>
            <a:off x="838200" y="609600"/>
            <a:ext cx="7772400" cy="4114800"/>
          </a:xfrm>
          <a:ln/>
        </p:spPr>
        <p:txBody>
          <a:bodyPr/>
          <a:p>
            <a:pPr marL="0" indent="0">
              <a:lnSpc>
                <a:spcPct val="90000"/>
              </a:lnSpc>
              <a:buNone/>
            </a:pPr>
            <a:r>
              <a:rPr lang="zh-CN" altLang="en-US" sz="2800" b="1" dirty="0">
                <a:solidFill>
                  <a:srgbClr val="FF0000"/>
                </a:solidFill>
                <a:latin typeface="宋体" panose="02010600030101010101" pitchFamily="2" charset="-122"/>
              </a:rPr>
              <a:t>需求曲线的移动</a:t>
            </a:r>
            <a:endParaRPr lang="zh-CN" altLang="en-US" sz="2800" b="1" dirty="0">
              <a:solidFill>
                <a:srgbClr val="FF0000"/>
              </a:solidFill>
              <a:latin typeface="宋体" panose="02010600030101010101" pitchFamily="2" charset="-122"/>
            </a:endParaRPr>
          </a:p>
          <a:p>
            <a:pPr marL="0" indent="0">
              <a:lnSpc>
                <a:spcPct val="90000"/>
              </a:lnSpc>
              <a:buNone/>
            </a:pPr>
            <a:r>
              <a:rPr lang="zh-CN" altLang="en-US" sz="2000" b="1" dirty="0">
                <a:solidFill>
                  <a:srgbClr val="000000"/>
                </a:solidFill>
                <a:latin typeface="宋体" panose="02010600030101010101" pitchFamily="2" charset="-122"/>
              </a:rPr>
              <a:t>在任一既定物价水平上对物品和劳务的需求增加，总需求增加，</a:t>
            </a:r>
            <a:r>
              <a:rPr lang="en-US" altLang="zh-CN" sz="2000" b="1">
                <a:solidFill>
                  <a:srgbClr val="000000"/>
                </a:solidFill>
                <a:latin typeface="宋体" panose="02010600030101010101" pitchFamily="2" charset="-122"/>
              </a:rPr>
              <a:t>AD</a:t>
            </a:r>
            <a:r>
              <a:rPr lang="zh-CN" altLang="en-US" sz="2000" b="1" dirty="0">
                <a:solidFill>
                  <a:srgbClr val="000000"/>
                </a:solidFill>
                <a:latin typeface="宋体" panose="02010600030101010101" pitchFamily="2" charset="-122"/>
              </a:rPr>
              <a:t>曲线向右移动；反之，总需求减少，</a:t>
            </a:r>
            <a:r>
              <a:rPr lang="en-US" altLang="zh-CN" sz="2000" b="1">
                <a:solidFill>
                  <a:srgbClr val="000000"/>
                </a:solidFill>
                <a:latin typeface="宋体" panose="02010600030101010101" pitchFamily="2" charset="-122"/>
              </a:rPr>
              <a:t>AD</a:t>
            </a:r>
            <a:r>
              <a:rPr lang="zh-CN" altLang="en-US" sz="2000" b="1" dirty="0">
                <a:solidFill>
                  <a:srgbClr val="000000"/>
                </a:solidFill>
                <a:latin typeface="宋体" panose="02010600030101010101" pitchFamily="2" charset="-122"/>
              </a:rPr>
              <a:t>曲线向左移动。</a:t>
            </a:r>
            <a:endParaRPr lang="zh-CN" altLang="en-US" sz="2000" b="1" dirty="0">
              <a:solidFill>
                <a:srgbClr val="000000"/>
              </a:solidFill>
              <a:latin typeface="宋体" panose="02010600030101010101" pitchFamily="2" charset="-122"/>
            </a:endParaRPr>
          </a:p>
          <a:p>
            <a:pPr marL="0" indent="0">
              <a:lnSpc>
                <a:spcPct val="90000"/>
              </a:lnSpc>
              <a:buNone/>
            </a:pPr>
            <a:r>
              <a:rPr lang="zh-CN" altLang="en-US" sz="2800" b="1" dirty="0">
                <a:solidFill>
                  <a:srgbClr val="FF0000"/>
                </a:solidFill>
                <a:latin typeface="宋体" panose="02010600030101010101" pitchFamily="2" charset="-122"/>
              </a:rPr>
              <a:t>影响总需求的因素</a:t>
            </a:r>
            <a:r>
              <a:rPr lang="zh-CN" altLang="en-US" sz="2400" b="1" dirty="0">
                <a:solidFill>
                  <a:srgbClr val="FF0000"/>
                </a:solidFill>
                <a:latin typeface="宋体" panose="02010600030101010101" pitchFamily="2" charset="-122"/>
              </a:rPr>
              <a:t>：</a:t>
            </a:r>
            <a:endParaRPr lang="zh-CN" altLang="en-US" sz="2400" b="1" dirty="0">
              <a:solidFill>
                <a:srgbClr val="FF0000"/>
              </a:solidFill>
              <a:latin typeface="宋体" panose="02010600030101010101" pitchFamily="2" charset="-122"/>
            </a:endParaRPr>
          </a:p>
          <a:p>
            <a:pPr marL="0" indent="0">
              <a:lnSpc>
                <a:spcPct val="90000"/>
              </a:lnSpc>
              <a:buNone/>
            </a:pPr>
            <a:r>
              <a:rPr lang="zh-CN" altLang="en-US" sz="2400" b="1" dirty="0">
                <a:solidFill>
                  <a:srgbClr val="FF0000"/>
                </a:solidFill>
                <a:latin typeface="宋体" panose="02010600030101010101" pitchFamily="2" charset="-122"/>
              </a:rPr>
              <a:t>自主消费变动（</a:t>
            </a:r>
            <a:r>
              <a:rPr lang="en-US" altLang="zh-CN" sz="2400" b="1">
                <a:solidFill>
                  <a:srgbClr val="FF0000"/>
                </a:solidFill>
                <a:latin typeface="宋体" panose="02010600030101010101" pitchFamily="2" charset="-122"/>
              </a:rPr>
              <a:t>C</a:t>
            </a:r>
            <a:r>
              <a:rPr lang="zh-CN" altLang="en-US" sz="2400" b="1">
                <a:solidFill>
                  <a:srgbClr val="FF0000"/>
                </a:solidFill>
                <a:latin typeface="宋体" panose="02010600030101010101" pitchFamily="2" charset="-122"/>
              </a:rPr>
              <a:t>）</a:t>
            </a:r>
            <a:r>
              <a:rPr lang="zh-CN" altLang="en-US"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自主消费增加，会增加人们对物品和劳务的需求，总需求曲线向右移动。反之，自主消费减少，总需求曲线向左移动。</a:t>
            </a:r>
            <a:endParaRPr lang="zh-CN" altLang="en-US" sz="2000" b="1" dirty="0">
              <a:solidFill>
                <a:srgbClr val="000000"/>
              </a:solidFill>
              <a:latin typeface="宋体" panose="02010600030101010101" pitchFamily="2" charset="-122"/>
            </a:endParaRPr>
          </a:p>
          <a:p>
            <a:pPr marL="0" indent="0">
              <a:lnSpc>
                <a:spcPct val="90000"/>
              </a:lnSpc>
              <a:buNone/>
            </a:pPr>
            <a:r>
              <a:rPr lang="zh-CN" altLang="en-US" sz="2400" b="1" dirty="0">
                <a:solidFill>
                  <a:srgbClr val="FF0000"/>
                </a:solidFill>
                <a:latin typeface="宋体" panose="02010600030101010101" pitchFamily="2" charset="-122"/>
              </a:rPr>
              <a:t>投资变动（</a:t>
            </a:r>
            <a:r>
              <a:rPr lang="en-US" altLang="zh-CN" sz="2400" b="1">
                <a:solidFill>
                  <a:srgbClr val="FF0000"/>
                </a:solidFill>
                <a:latin typeface="宋体" panose="02010600030101010101" pitchFamily="2" charset="-122"/>
              </a:rPr>
              <a:t>I</a:t>
            </a:r>
            <a:r>
              <a:rPr lang="zh-CN" altLang="en-US" sz="2400" b="1">
                <a:solidFill>
                  <a:srgbClr val="FF0000"/>
                </a:solidFill>
                <a:latin typeface="宋体" panose="02010600030101010101" pitchFamily="2" charset="-122"/>
              </a:rPr>
              <a:t>）</a:t>
            </a:r>
            <a:r>
              <a:rPr lang="zh-CN" altLang="en-US"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企业投资增加使总需求曲线向右移动，反之总需求曲线向左移动。</a:t>
            </a:r>
            <a:endParaRPr lang="zh-CN" altLang="en-US" sz="2000" b="1" dirty="0">
              <a:solidFill>
                <a:srgbClr val="000000"/>
              </a:solidFill>
              <a:latin typeface="宋体" panose="02010600030101010101" pitchFamily="2" charset="-122"/>
            </a:endParaRPr>
          </a:p>
          <a:p>
            <a:pPr marL="0" indent="0">
              <a:lnSpc>
                <a:spcPct val="90000"/>
              </a:lnSpc>
              <a:buNone/>
            </a:pPr>
            <a:r>
              <a:rPr lang="zh-CN" altLang="en-US" sz="2400" b="1" dirty="0">
                <a:solidFill>
                  <a:srgbClr val="FF0000"/>
                </a:solidFill>
                <a:latin typeface="宋体" panose="02010600030101010101" pitchFamily="2" charset="-122"/>
              </a:rPr>
              <a:t>财政政策（</a:t>
            </a:r>
            <a:r>
              <a:rPr lang="en-US" altLang="zh-CN" sz="2400" b="1">
                <a:solidFill>
                  <a:srgbClr val="FF0000"/>
                </a:solidFill>
                <a:latin typeface="宋体" panose="02010600030101010101" pitchFamily="2" charset="-122"/>
              </a:rPr>
              <a:t>G</a:t>
            </a:r>
            <a:r>
              <a:rPr lang="zh-CN" altLang="en-US" sz="2400" b="1">
                <a:solidFill>
                  <a:srgbClr val="FF0000"/>
                </a:solidFill>
                <a:latin typeface="宋体" panose="02010600030101010101" pitchFamily="2" charset="-122"/>
              </a:rPr>
              <a:t>）</a:t>
            </a:r>
            <a:r>
              <a:rPr lang="zh-CN" altLang="en-US"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政府支出增加，对物品和劳务的需求增加，所以总需求曲线向右移动；反之，政府支出减少，总需求曲线向左移动。</a:t>
            </a:r>
            <a:endParaRPr lang="zh-CN" altLang="en-US" sz="2000" b="1" dirty="0">
              <a:solidFill>
                <a:srgbClr val="000000"/>
              </a:solidFill>
              <a:latin typeface="宋体" panose="02010600030101010101" pitchFamily="2" charset="-122"/>
            </a:endParaRPr>
          </a:p>
          <a:p>
            <a:pPr marL="0" indent="0">
              <a:lnSpc>
                <a:spcPct val="90000"/>
              </a:lnSpc>
              <a:buNone/>
            </a:pPr>
            <a:r>
              <a:rPr lang="zh-CN" altLang="en-US" sz="2400" b="1" dirty="0">
                <a:solidFill>
                  <a:srgbClr val="FF0000"/>
                </a:solidFill>
                <a:latin typeface="宋体" panose="02010600030101010101" pitchFamily="2" charset="-122"/>
              </a:rPr>
              <a:t>货币政策（</a:t>
            </a:r>
            <a:r>
              <a:rPr lang="en-US" altLang="zh-CN" sz="2400" b="1">
                <a:solidFill>
                  <a:srgbClr val="FF0000"/>
                </a:solidFill>
                <a:latin typeface="宋体" panose="02010600030101010101" pitchFamily="2" charset="-122"/>
              </a:rPr>
              <a:t>M</a:t>
            </a:r>
            <a:r>
              <a:rPr lang="zh-CN" altLang="en-US" sz="2400" b="1">
                <a:solidFill>
                  <a:srgbClr val="FF0000"/>
                </a:solidFill>
                <a:latin typeface="宋体" panose="02010600030101010101" pitchFamily="2" charset="-122"/>
              </a:rPr>
              <a:t>）</a:t>
            </a:r>
            <a:r>
              <a:rPr lang="zh-CN" altLang="en-US"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货币供给增加，人们的收入增加，对物品和劳务的需求增加，总需求曲线向右移动；反之，货币供给减少，总需求曲线向左移动。</a:t>
            </a:r>
            <a:endParaRPr lang="zh-CN" altLang="en-US" sz="2000" b="1" dirty="0">
              <a:solidFill>
                <a:srgbClr val="000000"/>
              </a:solidFill>
              <a:latin typeface="宋体" panose="02010600030101010101" pitchFamily="2" charset="-122"/>
            </a:endParaRPr>
          </a:p>
          <a:p>
            <a:pPr marL="0" indent="0">
              <a:lnSpc>
                <a:spcPct val="90000"/>
              </a:lnSpc>
              <a:buNone/>
            </a:pPr>
            <a:r>
              <a:rPr lang="zh-CN" altLang="en-US" sz="2400" b="1" dirty="0">
                <a:solidFill>
                  <a:srgbClr val="FF0000"/>
                </a:solidFill>
                <a:latin typeface="宋体" panose="02010600030101010101" pitchFamily="2" charset="-122"/>
              </a:rPr>
              <a:t>外贸波动（</a:t>
            </a:r>
            <a:r>
              <a:rPr lang="en-US" altLang="zh-CN" sz="2400" b="1">
                <a:solidFill>
                  <a:srgbClr val="FF0000"/>
                </a:solidFill>
                <a:latin typeface="宋体" panose="02010600030101010101" pitchFamily="2" charset="-122"/>
              </a:rPr>
              <a:t>NX</a:t>
            </a:r>
            <a:r>
              <a:rPr lang="zh-CN" altLang="en-US" sz="2400" b="1">
                <a:solidFill>
                  <a:srgbClr val="FF0000"/>
                </a:solidFill>
                <a:latin typeface="宋体" panose="02010600030101010101" pitchFamily="2" charset="-122"/>
              </a:rPr>
              <a:t>）</a:t>
            </a:r>
            <a:r>
              <a:rPr lang="zh-CN" altLang="en-US"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净出口增加，总需求曲线向右移动；反之，总需求曲线向左移动。</a:t>
            </a:r>
            <a:endParaRPr lang="zh-CN" altLang="en-US" sz="2000" b="1" dirty="0">
              <a:solidFill>
                <a:srgbClr val="000000"/>
              </a:solidFill>
              <a:latin typeface="宋体" panose="02010600030101010101" pitchFamily="2" charset="-122"/>
            </a:endParaRPr>
          </a:p>
          <a:p>
            <a:pPr marL="0" indent="0">
              <a:lnSpc>
                <a:spcPct val="90000"/>
              </a:lnSpc>
              <a:buNone/>
            </a:pPr>
            <a:endParaRPr lang="zh-CN" altLang="en-US" sz="2000" b="1">
              <a:solidFill>
                <a:srgbClr val="000000"/>
              </a:solidFill>
              <a:latin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标题 67585"/>
          <p:cNvSpPr>
            <a:spLocks noGrp="1"/>
          </p:cNvSpPr>
          <p:nvPr>
            <p:ph type="title"/>
          </p:nvPr>
        </p:nvSpPr>
        <p:spPr>
          <a:ln/>
        </p:spPr>
        <p:txBody>
          <a:bodyPr anchor="ctr" anchorCtr="0"/>
          <a:p>
            <a:endParaRPr dirty="0"/>
          </a:p>
        </p:txBody>
      </p:sp>
      <p:sp>
        <p:nvSpPr>
          <p:cNvPr id="67587" name="文本占位符 67586"/>
          <p:cNvSpPr>
            <a:spLocks noGrp="1"/>
          </p:cNvSpPr>
          <p:nvPr>
            <p:ph type="body" idx="1"/>
          </p:nvPr>
        </p:nvSpPr>
        <p:spPr>
          <a:xfrm>
            <a:off x="228600" y="304800"/>
            <a:ext cx="8686800" cy="6248400"/>
          </a:xfrm>
          <a:ln/>
        </p:spPr>
        <p:txBody>
          <a:bodyPr/>
          <a:p>
            <a:pPr marL="0" indent="0" algn="just">
              <a:lnSpc>
                <a:spcPct val="90000"/>
              </a:lnSpc>
              <a:buNone/>
            </a:pPr>
            <a:r>
              <a:rPr lang="en-US" altLang="zh-CN" sz="2800" b="1">
                <a:solidFill>
                  <a:srgbClr val="FF0000"/>
                </a:solidFill>
                <a:latin typeface="隶书" panose="02010509060101010101" pitchFamily="49" charset="-122"/>
                <a:ea typeface="隶书" panose="02010509060101010101" pitchFamily="49" charset="-122"/>
              </a:rPr>
              <a:t> </a:t>
            </a:r>
            <a:r>
              <a:rPr lang="zh-CN" altLang="en-US" sz="2000" b="1" dirty="0">
                <a:solidFill>
                  <a:srgbClr val="FF0000"/>
                </a:solidFill>
                <a:latin typeface="宋体" panose="02010600030101010101" pitchFamily="2" charset="-122"/>
              </a:rPr>
              <a:t>总供给（</a:t>
            </a:r>
            <a:r>
              <a:rPr lang="en-US" altLang="zh-CN" sz="2000" b="1">
                <a:solidFill>
                  <a:srgbClr val="FF0000"/>
                </a:solidFill>
                <a:latin typeface="宋体" panose="02010600030101010101" pitchFamily="2" charset="-122"/>
              </a:rPr>
              <a:t>Aggregate Supply, </a:t>
            </a:r>
            <a:r>
              <a:rPr lang="zh-CN" altLang="en-US" sz="2000" b="1" dirty="0">
                <a:solidFill>
                  <a:srgbClr val="FF0000"/>
                </a:solidFill>
                <a:latin typeface="宋体" panose="02010600030101010101" pitchFamily="2" charset="-122"/>
              </a:rPr>
              <a:t>简称</a:t>
            </a:r>
            <a:r>
              <a:rPr lang="en-US" altLang="zh-CN" sz="2000" b="1">
                <a:solidFill>
                  <a:srgbClr val="FF0000"/>
                </a:solidFill>
                <a:latin typeface="宋体" panose="02010600030101010101" pitchFamily="2" charset="-122"/>
              </a:rPr>
              <a:t>AS</a:t>
            </a:r>
            <a:r>
              <a:rPr lang="zh-CN" altLang="en-US" sz="2000" b="1">
                <a:solidFill>
                  <a:srgbClr val="FF0000"/>
                </a:solidFill>
                <a:latin typeface="宋体" panose="02010600030101010101" pitchFamily="2" charset="-122"/>
              </a:rPr>
              <a:t>）</a:t>
            </a:r>
            <a:endParaRPr lang="zh-CN" altLang="en-US" sz="2000" b="1">
              <a:solidFill>
                <a:srgbClr val="FF0000"/>
              </a:solidFill>
              <a:latin typeface="宋体" panose="02010600030101010101" pitchFamily="2" charset="-122"/>
            </a:endParaRPr>
          </a:p>
          <a:p>
            <a:pPr marL="0" indent="0" algn="just">
              <a:lnSpc>
                <a:spcPct val="90000"/>
              </a:lnSpc>
              <a:buNone/>
            </a:pPr>
            <a:r>
              <a:rPr lang="zh-CN" altLang="en-US" sz="2000" b="1" dirty="0">
                <a:solidFill>
                  <a:srgbClr val="FF0000"/>
                </a:solidFill>
                <a:latin typeface="宋体" panose="02010600030101010101" pitchFamily="2" charset="-122"/>
              </a:rPr>
              <a:t>总供给</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则是指在其他经济条件不变的情况，不同的价格水平下，经济社会的所有厂商所生产的商品或所提供劳务的数量。</a:t>
            </a:r>
            <a:endParaRPr lang="zh-CN" altLang="en-US" sz="2000" b="1" dirty="0">
              <a:solidFill>
                <a:srgbClr val="000000"/>
              </a:solidFill>
              <a:latin typeface="宋体" panose="02010600030101010101" pitchFamily="2" charset="-122"/>
            </a:endParaRPr>
          </a:p>
          <a:p>
            <a:pPr marL="0" indent="0" algn="just">
              <a:lnSpc>
                <a:spcPct val="90000"/>
              </a:lnSpc>
              <a:buNone/>
            </a:pPr>
            <a:r>
              <a:rPr lang="en-US" altLang="zh-CN" sz="2000" b="1" dirty="0">
                <a:solidFill>
                  <a:srgbClr val="000000"/>
                </a:solidFill>
                <a:latin typeface="宋体" panose="02010600030101010101" pitchFamily="2" charset="-122"/>
              </a:rPr>
              <a:t> </a:t>
            </a:r>
            <a:r>
              <a:rPr lang="zh-CN" altLang="en-US" sz="2000" b="1" dirty="0">
                <a:solidFill>
                  <a:srgbClr val="FF0000"/>
                </a:solidFill>
                <a:latin typeface="宋体" panose="02010600030101010101" pitchFamily="2" charset="-122"/>
              </a:rPr>
              <a:t>长期总供给曲线</a:t>
            </a:r>
            <a:endParaRPr lang="zh-CN" altLang="en-US" sz="2000" b="1" dirty="0">
              <a:solidFill>
                <a:srgbClr val="FF0000"/>
              </a:solidFill>
              <a:latin typeface="宋体" panose="02010600030101010101" pitchFamily="2" charset="-122"/>
            </a:endParaRPr>
          </a:p>
          <a:p>
            <a:pPr marL="0" indent="0" algn="just">
              <a:lnSpc>
                <a:spcPct val="90000"/>
              </a:lnSpc>
            </a:pPr>
            <a:r>
              <a:rPr lang="zh-CN" altLang="en-US" sz="2000" b="1" dirty="0">
                <a:solidFill>
                  <a:srgbClr val="000000"/>
                </a:solidFill>
                <a:latin typeface="宋体" panose="02010600030101010101" pitchFamily="2" charset="-122"/>
              </a:rPr>
              <a:t>斜率：垂直</a:t>
            </a:r>
            <a:endParaRPr lang="zh-CN" altLang="en-US" sz="2000" b="1" dirty="0">
              <a:solidFill>
                <a:srgbClr val="000000"/>
              </a:solidFill>
              <a:latin typeface="宋体" panose="02010600030101010101" pitchFamily="2" charset="-122"/>
            </a:endParaRPr>
          </a:p>
          <a:p>
            <a:pPr marL="0" indent="0" algn="just">
              <a:lnSpc>
                <a:spcPct val="90000"/>
              </a:lnSpc>
              <a:buNone/>
            </a:pPr>
            <a:endParaRPr lang="zh-CN" altLang="en-US" sz="2000" b="1" dirty="0">
              <a:solidFill>
                <a:srgbClr val="000000"/>
              </a:solidFill>
              <a:latin typeface="宋体" panose="02010600030101010101" pitchFamily="2" charset="-122"/>
            </a:endParaRPr>
          </a:p>
          <a:p>
            <a:pPr marL="0" indent="0" algn="just">
              <a:lnSpc>
                <a:spcPct val="90000"/>
              </a:lnSpc>
              <a:buNone/>
            </a:pPr>
            <a:endParaRPr lang="zh-CN" altLang="en-US" sz="2000" b="1" dirty="0">
              <a:solidFill>
                <a:srgbClr val="000000"/>
              </a:solidFill>
              <a:latin typeface="宋体" panose="02010600030101010101" pitchFamily="2" charset="-122"/>
            </a:endParaRPr>
          </a:p>
          <a:p>
            <a:pPr marL="0" indent="0" algn="just">
              <a:lnSpc>
                <a:spcPct val="90000"/>
              </a:lnSpc>
              <a:buNone/>
            </a:pPr>
            <a:endParaRPr lang="zh-CN" altLang="en-US" sz="2000" b="1" dirty="0">
              <a:solidFill>
                <a:srgbClr val="000000"/>
              </a:solidFill>
              <a:latin typeface="宋体" panose="02010600030101010101" pitchFamily="2" charset="-122"/>
            </a:endParaRPr>
          </a:p>
          <a:p>
            <a:pPr marL="0" indent="0" algn="just">
              <a:lnSpc>
                <a:spcPct val="90000"/>
              </a:lnSpc>
              <a:buNone/>
            </a:pPr>
            <a:endParaRPr lang="zh-CN" altLang="en-US" sz="2000" b="1" dirty="0">
              <a:solidFill>
                <a:srgbClr val="000000"/>
              </a:solidFill>
              <a:latin typeface="宋体" panose="02010600030101010101" pitchFamily="2" charset="-122"/>
            </a:endParaRPr>
          </a:p>
          <a:p>
            <a:pPr marL="0" indent="0" algn="just">
              <a:lnSpc>
                <a:spcPct val="90000"/>
              </a:lnSpc>
              <a:buNone/>
            </a:pPr>
            <a:endParaRPr lang="zh-CN" altLang="en-US" sz="2000" b="1" dirty="0">
              <a:solidFill>
                <a:srgbClr val="000000"/>
              </a:solidFill>
              <a:latin typeface="宋体" panose="02010600030101010101" pitchFamily="2" charset="-122"/>
            </a:endParaRPr>
          </a:p>
          <a:p>
            <a:pPr marL="0" indent="0" algn="just">
              <a:lnSpc>
                <a:spcPct val="90000"/>
              </a:lnSpc>
              <a:buNone/>
            </a:pPr>
            <a:endParaRPr lang="zh-CN" altLang="en-US" sz="2000" b="1" dirty="0">
              <a:solidFill>
                <a:srgbClr val="000000"/>
              </a:solidFill>
              <a:latin typeface="宋体" panose="02010600030101010101" pitchFamily="2" charset="-122"/>
            </a:endParaRPr>
          </a:p>
          <a:p>
            <a:pPr marL="0" indent="0" algn="just">
              <a:lnSpc>
                <a:spcPct val="90000"/>
              </a:lnSpc>
            </a:pPr>
            <a:r>
              <a:rPr lang="zh-CN" altLang="en-US" sz="2000" b="1" dirty="0">
                <a:solidFill>
                  <a:srgbClr val="000000"/>
                </a:solidFill>
                <a:latin typeface="宋体" panose="02010600030101010101" pitchFamily="2" charset="-122"/>
              </a:rPr>
              <a:t>在长期中，一个经济的物品与劳务供给取决于资本与劳动的供给，以及用来把资本与劳动变为物品与劳务的生产技术。由于物价水平并不影响这些实际</a:t>
            </a:r>
            <a:r>
              <a:rPr lang="en-US" altLang="zh-CN" sz="2000" b="1">
                <a:solidFill>
                  <a:srgbClr val="000000"/>
                </a:solidFill>
                <a:latin typeface="宋体" panose="02010600030101010101" pitchFamily="2" charset="-122"/>
              </a:rPr>
              <a:t>GDP</a:t>
            </a:r>
            <a:r>
              <a:rPr lang="zh-CN" altLang="en-US" sz="2000" b="1" dirty="0">
                <a:solidFill>
                  <a:srgbClr val="000000"/>
                </a:solidFill>
                <a:latin typeface="宋体" panose="02010600030101010101" pitchFamily="2" charset="-122"/>
              </a:rPr>
              <a:t>的长期决定因素，所以，长期总供给曲线是一条垂线。</a:t>
            </a:r>
            <a:endParaRPr lang="zh-CN" altLang="en-US" sz="2000" b="1" dirty="0">
              <a:solidFill>
                <a:srgbClr val="000000"/>
              </a:solidFill>
              <a:latin typeface="宋体" panose="02010600030101010101" pitchFamily="2" charset="-122"/>
            </a:endParaRPr>
          </a:p>
          <a:p>
            <a:pPr marL="0" indent="0" algn="just">
              <a:lnSpc>
                <a:spcPct val="90000"/>
              </a:lnSpc>
              <a:buNone/>
            </a:pPr>
            <a:r>
              <a:rPr lang="zh-CN" altLang="en-US" sz="2000" b="1" dirty="0">
                <a:solidFill>
                  <a:srgbClr val="FF0000"/>
                </a:solidFill>
                <a:latin typeface="宋体" panose="02010600030101010101" pitchFamily="2" charset="-122"/>
              </a:rPr>
              <a:t>长期总供给曲线的移动</a:t>
            </a:r>
            <a:endParaRPr lang="zh-CN" altLang="en-US" sz="2000" b="1" dirty="0">
              <a:solidFill>
                <a:srgbClr val="FF0000"/>
              </a:solidFill>
              <a:latin typeface="宋体" panose="02010600030101010101" pitchFamily="2" charset="-122"/>
            </a:endParaRPr>
          </a:p>
          <a:p>
            <a:pPr marL="0" indent="0">
              <a:lnSpc>
                <a:spcPct val="90000"/>
              </a:lnSpc>
              <a:buNone/>
            </a:pPr>
            <a:r>
              <a:rPr lang="zh-CN" altLang="en-US" sz="2000" b="1" dirty="0">
                <a:solidFill>
                  <a:srgbClr val="000000"/>
                </a:solidFill>
                <a:latin typeface="宋体" panose="02010600030101010101" pitchFamily="2" charset="-122"/>
              </a:rPr>
              <a:t>  影响长期总供给曲线的因素主要是生产要素的存量和技术变动。生产要素的存量增加、技术进步会导致长期总供给曲线向右移动。反之，长期总供给曲线向左移动。 </a:t>
            </a:r>
            <a:endParaRPr lang="zh-CN" altLang="en-US" sz="2000" b="1">
              <a:solidFill>
                <a:srgbClr val="000000"/>
              </a:solidFill>
              <a:latin typeface="宋体" panose="02010600030101010101" pitchFamily="2" charset="-122"/>
            </a:endParaRPr>
          </a:p>
        </p:txBody>
      </p:sp>
      <p:sp>
        <p:nvSpPr>
          <p:cNvPr id="67588" name="直接连接符 67587"/>
          <p:cNvSpPr/>
          <p:nvPr/>
        </p:nvSpPr>
        <p:spPr>
          <a:xfrm flipV="1">
            <a:off x="3235325" y="1752600"/>
            <a:ext cx="0" cy="1841500"/>
          </a:xfrm>
          <a:prstGeom prst="line">
            <a:avLst/>
          </a:prstGeom>
          <a:ln w="28575" cap="flat" cmpd="sng">
            <a:solidFill>
              <a:srgbClr val="000000"/>
            </a:solidFill>
            <a:prstDash val="solid"/>
            <a:headEnd type="none" w="med" len="med"/>
            <a:tailEnd type="triangle" w="med" len="med"/>
          </a:ln>
        </p:spPr>
      </p:sp>
      <p:sp>
        <p:nvSpPr>
          <p:cNvPr id="67589" name="直接连接符 67588"/>
          <p:cNvSpPr/>
          <p:nvPr/>
        </p:nvSpPr>
        <p:spPr>
          <a:xfrm>
            <a:off x="3235325" y="3594100"/>
            <a:ext cx="3387725" cy="0"/>
          </a:xfrm>
          <a:prstGeom prst="line">
            <a:avLst/>
          </a:prstGeom>
          <a:ln w="28575" cap="flat" cmpd="sng">
            <a:solidFill>
              <a:srgbClr val="000000"/>
            </a:solidFill>
            <a:prstDash val="solid"/>
            <a:headEnd type="none" w="med" len="med"/>
            <a:tailEnd type="triangle" w="med" len="med"/>
          </a:ln>
        </p:spPr>
      </p:sp>
      <p:sp>
        <p:nvSpPr>
          <p:cNvPr id="67590" name="文本框 67589"/>
          <p:cNvSpPr txBox="1"/>
          <p:nvPr/>
        </p:nvSpPr>
        <p:spPr>
          <a:xfrm>
            <a:off x="2438400" y="1754188"/>
            <a:ext cx="996950" cy="614362"/>
          </a:xfrm>
          <a:prstGeom prst="rect">
            <a:avLst/>
          </a:prstGeom>
          <a:noFill/>
          <a:ln w="28575">
            <a:noFill/>
          </a:ln>
        </p:spPr>
        <p:txBody>
          <a:bodyPr/>
          <a:p>
            <a:pPr algn="just" eaLnBrk="0" hangingPunct="0">
              <a:lnSpc>
                <a:spcPct val="100000"/>
              </a:lnSpc>
              <a:spcBef>
                <a:spcPct val="0"/>
              </a:spcBef>
            </a:pPr>
            <a:r>
              <a:rPr lang="zh-CN" altLang="en-US" sz="1600" dirty="0">
                <a:solidFill>
                  <a:srgbClr val="000000"/>
                </a:solidFill>
                <a:latin typeface="Times New Roman" panose="02020603050405020304" pitchFamily="18" charset="0"/>
              </a:rPr>
              <a:t>物价</a:t>
            </a:r>
            <a:endParaRPr lang="zh-CN" altLang="en-US" sz="1600" dirty="0">
              <a:solidFill>
                <a:srgbClr val="000000"/>
              </a:solidFill>
              <a:latin typeface="Times New Roman" panose="02020603050405020304" pitchFamily="18" charset="0"/>
            </a:endParaRPr>
          </a:p>
          <a:p>
            <a:pPr algn="just" eaLnBrk="0" hangingPunct="0">
              <a:lnSpc>
                <a:spcPct val="100000"/>
              </a:lnSpc>
              <a:spcBef>
                <a:spcPct val="0"/>
              </a:spcBef>
            </a:pPr>
            <a:r>
              <a:rPr lang="zh-CN" altLang="en-US" sz="1600" dirty="0">
                <a:solidFill>
                  <a:srgbClr val="000000"/>
                </a:solidFill>
                <a:latin typeface="Times New Roman" panose="02020603050405020304" pitchFamily="18" charset="0"/>
              </a:rPr>
              <a:t>水平</a:t>
            </a:r>
            <a:endParaRPr lang="zh-CN" altLang="en-US" sz="1600" dirty="0">
              <a:solidFill>
                <a:srgbClr val="000000"/>
              </a:solidFill>
              <a:latin typeface="Times New Roman" panose="02020603050405020304" pitchFamily="18" charset="0"/>
            </a:endParaRPr>
          </a:p>
        </p:txBody>
      </p:sp>
      <p:sp>
        <p:nvSpPr>
          <p:cNvPr id="67591" name="文本框 67590"/>
          <p:cNvSpPr txBox="1"/>
          <p:nvPr/>
        </p:nvSpPr>
        <p:spPr>
          <a:xfrm>
            <a:off x="5826125" y="3594100"/>
            <a:ext cx="1793875" cy="368300"/>
          </a:xfrm>
          <a:prstGeom prst="rect">
            <a:avLst/>
          </a:prstGeom>
          <a:noFill/>
          <a:ln w="28575">
            <a:noFill/>
          </a:ln>
        </p:spPr>
        <p:txBody>
          <a:bodyPr/>
          <a:p>
            <a:pPr algn="just" eaLnBrk="0" hangingPunct="0">
              <a:lnSpc>
                <a:spcPct val="100000"/>
              </a:lnSpc>
              <a:spcBef>
                <a:spcPct val="0"/>
              </a:spcBef>
            </a:pPr>
            <a:r>
              <a:rPr lang="zh-CN" altLang="en-US" sz="1600" dirty="0">
                <a:solidFill>
                  <a:srgbClr val="000000"/>
                </a:solidFill>
                <a:latin typeface="Times New Roman" panose="02020603050405020304" pitchFamily="18" charset="0"/>
              </a:rPr>
              <a:t>实际</a:t>
            </a:r>
            <a:r>
              <a:rPr lang="en-US" altLang="zh-CN" sz="1600">
                <a:solidFill>
                  <a:srgbClr val="000000"/>
                </a:solidFill>
                <a:latin typeface="Times New Roman" panose="02020603050405020304" pitchFamily="18" charset="0"/>
              </a:rPr>
              <a:t>GDP</a:t>
            </a:r>
            <a:endParaRPr lang="en-US" altLang="zh-CN" sz="1600">
              <a:solidFill>
                <a:srgbClr val="000000"/>
              </a:solidFill>
              <a:latin typeface="Times New Roman" panose="02020603050405020304" pitchFamily="18" charset="0"/>
            </a:endParaRPr>
          </a:p>
        </p:txBody>
      </p:sp>
      <p:sp>
        <p:nvSpPr>
          <p:cNvPr id="67592" name="直接连接符 67591"/>
          <p:cNvSpPr/>
          <p:nvPr/>
        </p:nvSpPr>
        <p:spPr>
          <a:xfrm flipV="1">
            <a:off x="4800600" y="1905000"/>
            <a:ext cx="0" cy="1676400"/>
          </a:xfrm>
          <a:prstGeom prst="line">
            <a:avLst/>
          </a:prstGeom>
          <a:ln w="28575" cap="flat" cmpd="sng">
            <a:solidFill>
              <a:schemeClr val="tx1"/>
            </a:solidFill>
            <a:prstDash val="solid"/>
            <a:headEnd type="none" w="med" len="med"/>
            <a:tailEnd type="none" w="med" len="med"/>
          </a:ln>
        </p:spPr>
      </p:sp>
      <p:sp>
        <p:nvSpPr>
          <p:cNvPr id="67593" name="文本框 67592"/>
          <p:cNvSpPr txBox="1"/>
          <p:nvPr/>
        </p:nvSpPr>
        <p:spPr>
          <a:xfrm>
            <a:off x="4876800" y="1600200"/>
            <a:ext cx="914400" cy="366713"/>
          </a:xfrm>
          <a:prstGeom prst="rect">
            <a:avLst/>
          </a:prstGeom>
          <a:noFill/>
          <a:ln w="9525">
            <a:noFill/>
          </a:ln>
        </p:spPr>
        <p:txBody>
          <a:bodyPr>
            <a:spAutoFit/>
          </a:bodyPr>
          <a:p>
            <a:pPr>
              <a:lnSpc>
                <a:spcPct val="100000"/>
              </a:lnSpc>
              <a:spcBef>
                <a:spcPct val="50000"/>
              </a:spcBef>
            </a:pPr>
            <a:r>
              <a:rPr lang="en-US" altLang="zh-CN" sz="1800" b="0">
                <a:latin typeface="Tahoma" panose="020B0604030504040204" pitchFamily="34" charset="0"/>
              </a:rPr>
              <a:t>LAS</a:t>
            </a:r>
            <a:endParaRPr lang="en-US" altLang="zh-CN" sz="1800" b="0">
              <a:latin typeface="Tahoma" panose="020B060403050404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1" name="文本占位符 68610"/>
          <p:cNvSpPr>
            <a:spLocks noGrp="1"/>
          </p:cNvSpPr>
          <p:nvPr>
            <p:ph type="body" idx="1"/>
          </p:nvPr>
        </p:nvSpPr>
        <p:spPr>
          <a:xfrm>
            <a:off x="762000" y="609600"/>
            <a:ext cx="7772400" cy="5638800"/>
          </a:xfrm>
          <a:ln/>
        </p:spPr>
        <p:txBody>
          <a:bodyPr/>
          <a:p>
            <a:pPr algn="just">
              <a:buNone/>
            </a:pPr>
            <a:r>
              <a:rPr lang="zh-CN" altLang="en-US" sz="3600" b="1" dirty="0">
                <a:solidFill>
                  <a:srgbClr val="FF0000"/>
                </a:solidFill>
                <a:ea typeface="隶书" panose="02010509060101010101" pitchFamily="49" charset="-122"/>
              </a:rPr>
              <a:t>短期总供给曲线</a:t>
            </a:r>
            <a:endParaRPr lang="zh-CN" altLang="en-US" sz="3600" b="1" dirty="0">
              <a:solidFill>
                <a:srgbClr val="FF0000"/>
              </a:solidFill>
              <a:ea typeface="隶书" panose="02010509060101010101" pitchFamily="49" charset="-122"/>
            </a:endParaRPr>
          </a:p>
          <a:p>
            <a:pPr algn="just">
              <a:buNone/>
            </a:pPr>
            <a:r>
              <a:rPr lang="zh-CN" altLang="en-US" sz="2800" b="1" dirty="0">
                <a:solidFill>
                  <a:srgbClr val="000000"/>
                </a:solidFill>
                <a:ea typeface="隶书" panose="02010509060101010101" pitchFamily="49" charset="-122"/>
              </a:rPr>
              <a:t>斜率：向右上方倾斜</a:t>
            </a:r>
            <a:endParaRPr lang="zh-CN" altLang="en-US" sz="2800" b="1" dirty="0">
              <a:solidFill>
                <a:srgbClr val="000000"/>
              </a:solidFill>
              <a:ea typeface="隶书" panose="02010509060101010101" pitchFamily="49" charset="-122"/>
            </a:endParaRPr>
          </a:p>
          <a:p>
            <a:pPr algn="just">
              <a:buNone/>
            </a:pPr>
            <a:endParaRPr lang="zh-CN" altLang="en-US" sz="2800" b="1" dirty="0">
              <a:solidFill>
                <a:srgbClr val="000000"/>
              </a:solidFill>
              <a:ea typeface="隶书" panose="02010509060101010101" pitchFamily="49" charset="-122"/>
            </a:endParaRPr>
          </a:p>
          <a:p>
            <a:pPr algn="just">
              <a:buNone/>
            </a:pPr>
            <a:endParaRPr lang="zh-CN" altLang="en-US" sz="2800" b="1" dirty="0">
              <a:solidFill>
                <a:srgbClr val="000000"/>
              </a:solidFill>
              <a:latin typeface="宋体" panose="02010600030101010101" pitchFamily="2" charset="-122"/>
              <a:ea typeface="隶书" panose="02010509060101010101" pitchFamily="49" charset="-122"/>
            </a:endParaRPr>
          </a:p>
          <a:p>
            <a:pPr algn="just">
              <a:buNone/>
            </a:pPr>
            <a:endParaRPr lang="zh-CN" altLang="en-US" dirty="0">
              <a:latin typeface="宋体" panose="02010600030101010101" pitchFamily="2" charset="-122"/>
            </a:endParaRPr>
          </a:p>
          <a:p>
            <a:pPr>
              <a:buNone/>
            </a:pPr>
            <a:endParaRPr lang="zh-CN" altLang="en-US"/>
          </a:p>
        </p:txBody>
      </p:sp>
      <p:sp>
        <p:nvSpPr>
          <p:cNvPr id="68612" name="直接连接符 68611"/>
          <p:cNvSpPr/>
          <p:nvPr/>
        </p:nvSpPr>
        <p:spPr>
          <a:xfrm flipV="1">
            <a:off x="2168525" y="2743200"/>
            <a:ext cx="0" cy="1841500"/>
          </a:xfrm>
          <a:prstGeom prst="line">
            <a:avLst/>
          </a:prstGeom>
          <a:ln w="38100" cap="flat" cmpd="sng">
            <a:solidFill>
              <a:srgbClr val="000000"/>
            </a:solidFill>
            <a:prstDash val="solid"/>
            <a:headEnd type="none" w="med" len="med"/>
            <a:tailEnd type="triangle" w="med" len="med"/>
          </a:ln>
        </p:spPr>
      </p:sp>
      <p:sp>
        <p:nvSpPr>
          <p:cNvPr id="68613" name="直接连接符 68612"/>
          <p:cNvSpPr/>
          <p:nvPr/>
        </p:nvSpPr>
        <p:spPr>
          <a:xfrm>
            <a:off x="2168525" y="4584700"/>
            <a:ext cx="3387725" cy="0"/>
          </a:xfrm>
          <a:prstGeom prst="line">
            <a:avLst/>
          </a:prstGeom>
          <a:ln w="38100" cap="flat" cmpd="sng">
            <a:solidFill>
              <a:srgbClr val="000000"/>
            </a:solidFill>
            <a:prstDash val="solid"/>
            <a:headEnd type="none" w="med" len="med"/>
            <a:tailEnd type="triangle" w="med" len="med"/>
          </a:ln>
        </p:spPr>
      </p:sp>
      <p:sp>
        <p:nvSpPr>
          <p:cNvPr id="68614" name="文本框 68613"/>
          <p:cNvSpPr txBox="1"/>
          <p:nvPr/>
        </p:nvSpPr>
        <p:spPr>
          <a:xfrm>
            <a:off x="1371600" y="2744788"/>
            <a:ext cx="996950" cy="614362"/>
          </a:xfrm>
          <a:prstGeom prst="rect">
            <a:avLst/>
          </a:prstGeom>
          <a:noFill/>
          <a:ln w="9525">
            <a:noFill/>
          </a:ln>
        </p:spPr>
        <p:txBody>
          <a:bodyPr/>
          <a:p>
            <a:pPr algn="just" eaLnBrk="0" hangingPunct="0">
              <a:lnSpc>
                <a:spcPct val="100000"/>
              </a:lnSpc>
              <a:spcBef>
                <a:spcPct val="0"/>
              </a:spcBef>
            </a:pPr>
            <a:r>
              <a:rPr lang="zh-CN" altLang="en-US" sz="1600" dirty="0">
                <a:solidFill>
                  <a:srgbClr val="000000"/>
                </a:solidFill>
                <a:latin typeface="Times New Roman" panose="02020603050405020304" pitchFamily="18" charset="0"/>
              </a:rPr>
              <a:t>物价</a:t>
            </a:r>
            <a:endParaRPr lang="zh-CN" altLang="en-US" sz="1600" dirty="0">
              <a:solidFill>
                <a:srgbClr val="000000"/>
              </a:solidFill>
              <a:latin typeface="Times New Roman" panose="02020603050405020304" pitchFamily="18" charset="0"/>
            </a:endParaRPr>
          </a:p>
          <a:p>
            <a:pPr algn="just" eaLnBrk="0" hangingPunct="0">
              <a:lnSpc>
                <a:spcPct val="100000"/>
              </a:lnSpc>
              <a:spcBef>
                <a:spcPct val="0"/>
              </a:spcBef>
            </a:pPr>
            <a:r>
              <a:rPr lang="zh-CN" altLang="en-US" sz="1600" dirty="0">
                <a:solidFill>
                  <a:srgbClr val="000000"/>
                </a:solidFill>
                <a:latin typeface="Times New Roman" panose="02020603050405020304" pitchFamily="18" charset="0"/>
              </a:rPr>
              <a:t>水平</a:t>
            </a:r>
            <a:endParaRPr lang="zh-CN" altLang="en-US" sz="1600" dirty="0">
              <a:solidFill>
                <a:srgbClr val="000000"/>
              </a:solidFill>
              <a:latin typeface="Times New Roman" panose="02020603050405020304" pitchFamily="18" charset="0"/>
            </a:endParaRPr>
          </a:p>
        </p:txBody>
      </p:sp>
      <p:sp>
        <p:nvSpPr>
          <p:cNvPr id="68615" name="文本框 68614"/>
          <p:cNvSpPr txBox="1"/>
          <p:nvPr/>
        </p:nvSpPr>
        <p:spPr>
          <a:xfrm>
            <a:off x="4759325" y="4584700"/>
            <a:ext cx="1793875" cy="368300"/>
          </a:xfrm>
          <a:prstGeom prst="rect">
            <a:avLst/>
          </a:prstGeom>
          <a:noFill/>
          <a:ln w="9525">
            <a:noFill/>
          </a:ln>
        </p:spPr>
        <p:txBody>
          <a:bodyPr/>
          <a:p>
            <a:pPr algn="just" eaLnBrk="0" hangingPunct="0">
              <a:lnSpc>
                <a:spcPct val="100000"/>
              </a:lnSpc>
              <a:spcBef>
                <a:spcPct val="0"/>
              </a:spcBef>
            </a:pPr>
            <a:r>
              <a:rPr lang="zh-CN" altLang="en-US" sz="1600" dirty="0">
                <a:solidFill>
                  <a:srgbClr val="000000"/>
                </a:solidFill>
                <a:latin typeface="Times New Roman" panose="02020603050405020304" pitchFamily="18" charset="0"/>
              </a:rPr>
              <a:t>实际</a:t>
            </a:r>
            <a:r>
              <a:rPr lang="en-US" altLang="zh-CN" sz="1600">
                <a:solidFill>
                  <a:srgbClr val="000000"/>
                </a:solidFill>
                <a:latin typeface="Times New Roman" panose="02020603050405020304" pitchFamily="18" charset="0"/>
              </a:rPr>
              <a:t>GDP</a:t>
            </a:r>
            <a:endParaRPr lang="en-US" altLang="zh-CN" sz="1600">
              <a:solidFill>
                <a:srgbClr val="000000"/>
              </a:solidFill>
              <a:latin typeface="Times New Roman" panose="02020603050405020304" pitchFamily="18" charset="0"/>
            </a:endParaRPr>
          </a:p>
        </p:txBody>
      </p:sp>
      <p:sp>
        <p:nvSpPr>
          <p:cNvPr id="68616" name="直接连接符 68615"/>
          <p:cNvSpPr/>
          <p:nvPr/>
        </p:nvSpPr>
        <p:spPr>
          <a:xfrm flipV="1">
            <a:off x="2667000" y="3124200"/>
            <a:ext cx="2286000" cy="990600"/>
          </a:xfrm>
          <a:prstGeom prst="line">
            <a:avLst/>
          </a:prstGeom>
          <a:ln w="38100" cap="flat" cmpd="sng">
            <a:solidFill>
              <a:schemeClr val="tx1"/>
            </a:solidFill>
            <a:prstDash val="solid"/>
            <a:headEnd type="none" w="med" len="med"/>
            <a:tailEnd type="none" w="med" len="med"/>
          </a:ln>
        </p:spPr>
      </p:sp>
      <p:sp>
        <p:nvSpPr>
          <p:cNvPr id="68617" name="文本框 68616"/>
          <p:cNvSpPr txBox="1"/>
          <p:nvPr/>
        </p:nvSpPr>
        <p:spPr>
          <a:xfrm>
            <a:off x="5105400" y="2667000"/>
            <a:ext cx="990600" cy="366713"/>
          </a:xfrm>
          <a:prstGeom prst="rect">
            <a:avLst/>
          </a:prstGeom>
          <a:noFill/>
          <a:ln w="9525">
            <a:noFill/>
          </a:ln>
        </p:spPr>
        <p:txBody>
          <a:bodyPr>
            <a:spAutoFit/>
          </a:bodyPr>
          <a:p>
            <a:pPr>
              <a:lnSpc>
                <a:spcPct val="100000"/>
              </a:lnSpc>
              <a:spcBef>
                <a:spcPct val="50000"/>
              </a:spcBef>
            </a:pPr>
            <a:r>
              <a:rPr lang="en-US" altLang="zh-CN" sz="1800" b="0">
                <a:solidFill>
                  <a:srgbClr val="000000"/>
                </a:solidFill>
                <a:latin typeface="Tahoma" panose="020B0604030504040204" pitchFamily="34" charset="0"/>
              </a:rPr>
              <a:t>SAS</a:t>
            </a:r>
            <a:endParaRPr lang="en-US" altLang="zh-CN" sz="1800" b="0">
              <a:solidFill>
                <a:srgbClr val="000000"/>
              </a:solidFill>
              <a:latin typeface="Tahoma" panose="020B060403050404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标题 69633"/>
          <p:cNvSpPr>
            <a:spLocks noGrp="1"/>
          </p:cNvSpPr>
          <p:nvPr>
            <p:ph type="title"/>
          </p:nvPr>
        </p:nvSpPr>
        <p:spPr>
          <a:xfrm>
            <a:off x="685800" y="549275"/>
            <a:ext cx="7772400" cy="5851525"/>
          </a:xfrm>
          <a:ln/>
        </p:spPr>
        <p:txBody>
          <a:bodyPr anchor="ctr" anchorCtr="0"/>
          <a:p>
            <a:pPr algn="l"/>
            <a:r>
              <a:rPr lang="zh-CN" altLang="en-US" sz="2800" b="1" dirty="0">
                <a:solidFill>
                  <a:srgbClr val="FF0000"/>
                </a:solidFill>
                <a:latin typeface="宋体" panose="02010600030101010101" pitchFamily="2" charset="-122"/>
              </a:rPr>
              <a:t>粘性工资理论</a:t>
            </a:r>
            <a:r>
              <a:rPr lang="zh-CN" altLang="en-US" sz="2800" b="1" dirty="0">
                <a:solidFill>
                  <a:srgbClr val="000000"/>
                </a:solidFill>
                <a:latin typeface="宋体" panose="02010600030101010101" pitchFamily="2" charset="-122"/>
              </a:rPr>
              <a:t>：工资不能根据物价水平迅速调整，即工资具有“粘性”，较低的物价水平使就业与生产减少从而引起企业对物品与劳务的供给量的减少。</a:t>
            </a:r>
            <a:br>
              <a:rPr lang="zh-CN" altLang="en-US" sz="2800" b="1" dirty="0">
                <a:solidFill>
                  <a:srgbClr val="000000"/>
                </a:solidFill>
                <a:latin typeface="宋体" panose="02010600030101010101" pitchFamily="2" charset="-122"/>
              </a:rPr>
            </a:br>
            <a:r>
              <a:rPr lang="zh-CN" altLang="en-US" sz="2800" b="1" dirty="0">
                <a:solidFill>
                  <a:srgbClr val="FF0000"/>
                </a:solidFill>
                <a:latin typeface="宋体" panose="02010600030101010101" pitchFamily="2" charset="-122"/>
              </a:rPr>
              <a:t>错觉理论</a:t>
            </a:r>
            <a:r>
              <a:rPr lang="zh-CN" altLang="en-US" sz="2800" b="1" dirty="0">
                <a:solidFill>
                  <a:srgbClr val="000000"/>
                </a:solidFill>
                <a:latin typeface="宋体" panose="02010600030101010101" pitchFamily="2" charset="-122"/>
              </a:rPr>
              <a:t>：物价总水平的变动会暂时误导供给者，使供给者对本身的产品价格产生错觉。物价总水平下降时，供给者会误认为是他们自己的产品的相对价格下降了，这种错觉使供给者减少产品的供给。</a:t>
            </a:r>
            <a:br>
              <a:rPr lang="zh-CN" altLang="en-US" sz="2800" b="1" dirty="0">
                <a:solidFill>
                  <a:srgbClr val="000000"/>
                </a:solidFill>
                <a:latin typeface="宋体" panose="02010600030101010101" pitchFamily="2" charset="-122"/>
              </a:rPr>
            </a:br>
            <a:r>
              <a:rPr lang="zh-CN" altLang="en-US" sz="2800" b="1" dirty="0">
                <a:solidFill>
                  <a:srgbClr val="FF0000"/>
                </a:solidFill>
                <a:latin typeface="宋体" panose="02010600030101010101" pitchFamily="2" charset="-122"/>
              </a:rPr>
              <a:t>粘性价格理论</a:t>
            </a:r>
            <a:r>
              <a:rPr lang="zh-CN" altLang="en-US" sz="2800" b="1" dirty="0">
                <a:solidFill>
                  <a:srgbClr val="000000"/>
                </a:solidFill>
                <a:latin typeface="宋体" panose="02010600030101010101" pitchFamily="2" charset="-122"/>
              </a:rPr>
              <a:t>：由于并不是所有价格都根据物价水平变动的状况而迅速调整，未预期到的物价水平下降使一些企业的价格高于合意水平，而这些高于合意水平的价格压低了销售，并引起企业减少它们生产的物品与劳务量。</a:t>
            </a:r>
            <a:endParaRPr lang="zh-CN" alt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9" name="文本占位符 70658"/>
          <p:cNvSpPr>
            <a:spLocks noGrp="1"/>
          </p:cNvSpPr>
          <p:nvPr>
            <p:ph type="body" idx="1"/>
          </p:nvPr>
        </p:nvSpPr>
        <p:spPr>
          <a:xfrm>
            <a:off x="838200" y="838200"/>
            <a:ext cx="7772400" cy="4114800"/>
          </a:xfrm>
          <a:ln/>
        </p:spPr>
        <p:txBody>
          <a:bodyPr/>
          <a:p>
            <a:pPr marL="0" indent="0">
              <a:lnSpc>
                <a:spcPct val="90000"/>
              </a:lnSpc>
              <a:buNone/>
            </a:pPr>
            <a:r>
              <a:rPr lang="zh-CN" altLang="en-US" sz="3600" b="1" dirty="0">
                <a:solidFill>
                  <a:srgbClr val="FF0000"/>
                </a:solidFill>
                <a:latin typeface="宋体" panose="02010600030101010101" pitchFamily="2" charset="-122"/>
              </a:rPr>
              <a:t>短期总供给曲线的移动</a:t>
            </a:r>
            <a:endParaRPr lang="zh-CN" altLang="en-US" sz="3600" b="1" dirty="0">
              <a:solidFill>
                <a:srgbClr val="FF0000"/>
              </a:solidFill>
              <a:latin typeface="宋体" panose="02010600030101010101" pitchFamily="2" charset="-122"/>
            </a:endParaRPr>
          </a:p>
          <a:p>
            <a:pPr marL="0" indent="0">
              <a:lnSpc>
                <a:spcPct val="90000"/>
              </a:lnSpc>
              <a:buNone/>
            </a:pPr>
            <a:r>
              <a:rPr lang="zh-CN" altLang="en-US" b="1" dirty="0">
                <a:solidFill>
                  <a:srgbClr val="FF0000"/>
                </a:solidFill>
                <a:latin typeface="宋体" panose="02010600030101010101" pitchFamily="2" charset="-122"/>
              </a:rPr>
              <a:t>生产要素存量、技术</a:t>
            </a:r>
            <a:endParaRPr lang="zh-CN" altLang="en-US" b="1" dirty="0">
              <a:solidFill>
                <a:srgbClr val="FF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生产要素存量、技术等影响长期总供给的因素也同样影响短期总供给曲线。</a:t>
            </a:r>
            <a:endParaRPr lang="zh-CN" altLang="en-US" sz="2800" b="1" dirty="0">
              <a:solidFill>
                <a:srgbClr val="000000"/>
              </a:solidFill>
              <a:latin typeface="宋体" panose="02010600030101010101" pitchFamily="2" charset="-122"/>
            </a:endParaRPr>
          </a:p>
          <a:p>
            <a:pPr marL="0" indent="0">
              <a:lnSpc>
                <a:spcPct val="90000"/>
              </a:lnSpc>
              <a:buNone/>
            </a:pPr>
            <a:r>
              <a:rPr lang="zh-CN" altLang="en-US" b="1" dirty="0">
                <a:solidFill>
                  <a:srgbClr val="FF0000"/>
                </a:solidFill>
                <a:latin typeface="宋体" panose="02010600030101010101" pitchFamily="2" charset="-122"/>
              </a:rPr>
              <a:t>预期</a:t>
            </a:r>
            <a:endParaRPr lang="zh-CN" altLang="en-US" b="1" dirty="0">
              <a:solidFill>
                <a:srgbClr val="FF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高预期的物价水平减少了物品与劳务供给量，并使短期总供给曲线向左移动。相反，低预期的物价水平增加了物品与劳务供给量，并使短期总供给曲线向右移动。</a:t>
            </a:r>
            <a:endParaRPr lang="zh-CN" altLang="en-US" sz="2800" b="1" dirty="0">
              <a:solidFill>
                <a:srgbClr val="000000"/>
              </a:solidFill>
              <a:latin typeface="宋体" panose="02010600030101010101" pitchFamily="2" charset="-122"/>
            </a:endParaRPr>
          </a:p>
          <a:p>
            <a:pPr marL="0" indent="0">
              <a:lnSpc>
                <a:spcPct val="90000"/>
              </a:lnSpc>
              <a:buNone/>
            </a:pPr>
            <a:r>
              <a:rPr lang="zh-CN" altLang="en-US" b="1" dirty="0">
                <a:solidFill>
                  <a:srgbClr val="FF0000"/>
                </a:solidFill>
                <a:latin typeface="宋体" panose="02010600030101010101" pitchFamily="2" charset="-122"/>
              </a:rPr>
              <a:t>社会平均生产成本</a:t>
            </a:r>
            <a:endParaRPr lang="zh-CN" altLang="en-US" b="1" dirty="0">
              <a:solidFill>
                <a:srgbClr val="FF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如石油价格，税收等</a:t>
            </a:r>
            <a:endParaRPr lang="zh-CN" altLang="en-US" sz="2800" b="1" dirty="0">
              <a:solidFill>
                <a:srgbClr val="000000"/>
              </a:solidFill>
              <a:latin typeface="宋体" panose="02010600030101010101" pitchFamily="2" charset="-122"/>
            </a:endParaRPr>
          </a:p>
          <a:p>
            <a:pPr marL="0" indent="0">
              <a:lnSpc>
                <a:spcPct val="90000"/>
              </a:lnSpc>
            </a:pPr>
            <a:endParaRPr lang="zh-CN" altLang="en-US" sz="2800" b="1">
              <a:solidFill>
                <a:srgbClr val="000000"/>
              </a:solidFill>
              <a:latin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3" name="文本占位符 71682"/>
          <p:cNvSpPr>
            <a:spLocks noGrp="1"/>
          </p:cNvSpPr>
          <p:nvPr>
            <p:ph type="body" idx="1"/>
          </p:nvPr>
        </p:nvSpPr>
        <p:spPr>
          <a:xfrm>
            <a:off x="914400" y="457200"/>
            <a:ext cx="7772400" cy="4114800"/>
          </a:xfrm>
          <a:ln/>
        </p:spPr>
        <p:txBody>
          <a:bodyPr/>
          <a:p>
            <a:pPr algn="just">
              <a:buNone/>
            </a:pPr>
            <a:r>
              <a:rPr lang="zh-CN" altLang="en-US" sz="4000" b="1" dirty="0">
                <a:solidFill>
                  <a:srgbClr val="FF0000"/>
                </a:solidFill>
                <a:latin typeface="隶书" panose="02010509060101010101" pitchFamily="49" charset="-122"/>
                <a:ea typeface="隶书" panose="02010509060101010101" pitchFamily="49" charset="-122"/>
              </a:rPr>
              <a:t>宏观经济均衡</a:t>
            </a:r>
            <a:endParaRPr lang="zh-CN" altLang="en-US" sz="4000" b="1" dirty="0">
              <a:solidFill>
                <a:srgbClr val="FF0000"/>
              </a:solidFill>
              <a:latin typeface="隶书" panose="02010509060101010101" pitchFamily="49" charset="-122"/>
              <a:ea typeface="隶书" panose="02010509060101010101" pitchFamily="49" charset="-122"/>
            </a:endParaRPr>
          </a:p>
          <a:p>
            <a:pPr algn="just"/>
            <a:r>
              <a:rPr lang="zh-CN" altLang="en-US" dirty="0">
                <a:solidFill>
                  <a:srgbClr val="000000"/>
                </a:solidFill>
                <a:latin typeface="隶书" panose="02010509060101010101" pitchFamily="49" charset="-122"/>
                <a:ea typeface="隶书" panose="02010509060101010101" pitchFamily="49" charset="-122"/>
              </a:rPr>
              <a:t>短期均衡：</a:t>
            </a:r>
            <a:r>
              <a:rPr lang="en-US" altLang="zh-CN">
                <a:solidFill>
                  <a:srgbClr val="000000"/>
                </a:solidFill>
                <a:latin typeface="隶书" panose="02010509060101010101" pitchFamily="49" charset="-122"/>
                <a:ea typeface="隶书" panose="02010509060101010101" pitchFamily="49" charset="-122"/>
              </a:rPr>
              <a:t>AD </a:t>
            </a:r>
            <a:r>
              <a:rPr lang="zh-CN" altLang="en-US">
                <a:solidFill>
                  <a:srgbClr val="000000"/>
                </a:solidFill>
                <a:latin typeface="隶书" panose="02010509060101010101" pitchFamily="49" charset="-122"/>
                <a:ea typeface="隶书" panose="02010509060101010101" pitchFamily="49" charset="-122"/>
              </a:rPr>
              <a:t>＝ </a:t>
            </a:r>
            <a:r>
              <a:rPr lang="en-US" altLang="zh-CN">
                <a:solidFill>
                  <a:srgbClr val="000000"/>
                </a:solidFill>
                <a:latin typeface="隶书" panose="02010509060101010101" pitchFamily="49" charset="-122"/>
                <a:ea typeface="隶书" panose="02010509060101010101" pitchFamily="49" charset="-122"/>
              </a:rPr>
              <a:t>SRAS</a:t>
            </a:r>
            <a:endParaRPr lang="en-US" altLang="zh-CN">
              <a:solidFill>
                <a:srgbClr val="000000"/>
              </a:solidFill>
              <a:latin typeface="隶书" panose="02010509060101010101" pitchFamily="49" charset="-122"/>
              <a:ea typeface="隶书" panose="02010509060101010101" pitchFamily="49" charset="-122"/>
            </a:endParaRPr>
          </a:p>
          <a:p>
            <a:pPr algn="just"/>
            <a:r>
              <a:rPr lang="zh-CN" altLang="en-US" dirty="0">
                <a:solidFill>
                  <a:srgbClr val="000000"/>
                </a:solidFill>
                <a:latin typeface="隶书" panose="02010509060101010101" pitchFamily="49" charset="-122"/>
                <a:ea typeface="隶书" panose="02010509060101010101" pitchFamily="49" charset="-122"/>
              </a:rPr>
              <a:t>长期均衡：</a:t>
            </a:r>
            <a:r>
              <a:rPr lang="en-US" altLang="zh-CN">
                <a:solidFill>
                  <a:srgbClr val="000000"/>
                </a:solidFill>
                <a:latin typeface="隶书" panose="02010509060101010101" pitchFamily="49" charset="-122"/>
                <a:ea typeface="隶书" panose="02010509060101010101" pitchFamily="49" charset="-122"/>
              </a:rPr>
              <a:t>AD </a:t>
            </a:r>
            <a:r>
              <a:rPr lang="zh-CN" altLang="en-US">
                <a:solidFill>
                  <a:srgbClr val="000000"/>
                </a:solidFill>
                <a:latin typeface="隶书" panose="02010509060101010101" pitchFamily="49" charset="-122"/>
                <a:ea typeface="隶书" panose="02010509060101010101" pitchFamily="49" charset="-122"/>
              </a:rPr>
              <a:t>＝ </a:t>
            </a:r>
            <a:r>
              <a:rPr lang="en-US" altLang="zh-CN">
                <a:solidFill>
                  <a:srgbClr val="000000"/>
                </a:solidFill>
                <a:latin typeface="隶书" panose="02010509060101010101" pitchFamily="49" charset="-122"/>
                <a:ea typeface="隶书" panose="02010509060101010101" pitchFamily="49" charset="-122"/>
              </a:rPr>
              <a:t>LRAS</a:t>
            </a:r>
            <a:endParaRPr lang="en-US" altLang="zh-CN">
              <a:solidFill>
                <a:srgbClr val="000000"/>
              </a:solidFill>
              <a:latin typeface="隶书" panose="02010509060101010101" pitchFamily="49" charset="-122"/>
              <a:ea typeface="隶书" panose="02010509060101010101" pitchFamily="49" charset="-122"/>
            </a:endParaRPr>
          </a:p>
          <a:p>
            <a:pPr algn="just">
              <a:buNone/>
            </a:pPr>
            <a:r>
              <a:rPr lang="en-US" altLang="zh-CN" b="1">
                <a:ea typeface="黑体" panose="02010609060101010101" pitchFamily="2" charset="-122"/>
              </a:rPr>
              <a:t>							</a:t>
            </a:r>
            <a:endParaRPr lang="en-US" altLang="zh-CN"/>
          </a:p>
        </p:txBody>
      </p:sp>
      <p:grpSp>
        <p:nvGrpSpPr>
          <p:cNvPr id="71684" name="组合 71683"/>
          <p:cNvGrpSpPr/>
          <p:nvPr/>
        </p:nvGrpSpPr>
        <p:grpSpPr>
          <a:xfrm>
            <a:off x="1752600" y="2895600"/>
            <a:ext cx="4114800" cy="2590800"/>
            <a:chOff x="4500" y="4560"/>
            <a:chExt cx="3240" cy="2496"/>
          </a:xfrm>
        </p:grpSpPr>
        <p:sp>
          <p:nvSpPr>
            <p:cNvPr id="71685" name="直接连接符 71684"/>
            <p:cNvSpPr/>
            <p:nvPr/>
          </p:nvSpPr>
          <p:spPr>
            <a:xfrm flipV="1">
              <a:off x="4500" y="4560"/>
              <a:ext cx="0" cy="2496"/>
            </a:xfrm>
            <a:prstGeom prst="line">
              <a:avLst/>
            </a:prstGeom>
            <a:ln w="38100" cap="flat" cmpd="sng">
              <a:solidFill>
                <a:srgbClr val="000000"/>
              </a:solidFill>
              <a:prstDash val="solid"/>
              <a:headEnd type="none" w="med" len="med"/>
              <a:tailEnd type="triangle" w="med" len="med"/>
            </a:ln>
          </p:spPr>
        </p:sp>
        <p:sp>
          <p:nvSpPr>
            <p:cNvPr id="71686" name="直接连接符 71685"/>
            <p:cNvSpPr/>
            <p:nvPr/>
          </p:nvSpPr>
          <p:spPr>
            <a:xfrm>
              <a:off x="4500" y="7056"/>
              <a:ext cx="3240" cy="0"/>
            </a:xfrm>
            <a:prstGeom prst="line">
              <a:avLst/>
            </a:prstGeom>
            <a:ln w="38100" cap="flat" cmpd="sng">
              <a:solidFill>
                <a:srgbClr val="000000"/>
              </a:solidFill>
              <a:prstDash val="solid"/>
              <a:headEnd type="none" w="med" len="med"/>
              <a:tailEnd type="triangle" w="med" len="med"/>
            </a:ln>
          </p:spPr>
        </p:sp>
        <p:sp>
          <p:nvSpPr>
            <p:cNvPr id="71687" name="直接连接符 71686"/>
            <p:cNvSpPr/>
            <p:nvPr/>
          </p:nvSpPr>
          <p:spPr>
            <a:xfrm>
              <a:off x="6120" y="4716"/>
              <a:ext cx="0" cy="2340"/>
            </a:xfrm>
            <a:prstGeom prst="line">
              <a:avLst/>
            </a:prstGeom>
            <a:ln w="38100" cap="flat" cmpd="sng">
              <a:solidFill>
                <a:srgbClr val="000000"/>
              </a:solidFill>
              <a:prstDash val="solid"/>
              <a:headEnd type="none" w="med" len="med"/>
              <a:tailEnd type="none" w="med" len="med"/>
            </a:ln>
          </p:spPr>
        </p:sp>
        <p:sp>
          <p:nvSpPr>
            <p:cNvPr id="71688" name="直接连接符 71687"/>
            <p:cNvSpPr/>
            <p:nvPr/>
          </p:nvSpPr>
          <p:spPr>
            <a:xfrm flipV="1">
              <a:off x="5040" y="4560"/>
              <a:ext cx="2160" cy="2184"/>
            </a:xfrm>
            <a:prstGeom prst="line">
              <a:avLst/>
            </a:prstGeom>
            <a:ln w="38100" cap="flat" cmpd="sng">
              <a:solidFill>
                <a:srgbClr val="000000"/>
              </a:solidFill>
              <a:prstDash val="solid"/>
              <a:headEnd type="none" w="med" len="med"/>
              <a:tailEnd type="none" w="med" len="med"/>
            </a:ln>
          </p:spPr>
        </p:sp>
        <p:sp>
          <p:nvSpPr>
            <p:cNvPr id="71689" name="直接连接符 71688"/>
            <p:cNvSpPr/>
            <p:nvPr/>
          </p:nvSpPr>
          <p:spPr>
            <a:xfrm>
              <a:off x="5040" y="4872"/>
              <a:ext cx="2340" cy="1716"/>
            </a:xfrm>
            <a:prstGeom prst="line">
              <a:avLst/>
            </a:prstGeom>
            <a:ln w="38100" cap="flat" cmpd="sng">
              <a:solidFill>
                <a:srgbClr val="000000"/>
              </a:solidFill>
              <a:prstDash val="solid"/>
              <a:headEnd type="none" w="med" len="med"/>
              <a:tailEnd type="none" w="med" len="med"/>
            </a:ln>
          </p:spPr>
        </p:sp>
        <p:sp>
          <p:nvSpPr>
            <p:cNvPr id="71690" name="直接连接符 71689"/>
            <p:cNvSpPr/>
            <p:nvPr/>
          </p:nvSpPr>
          <p:spPr>
            <a:xfrm>
              <a:off x="4860" y="5340"/>
              <a:ext cx="2160" cy="1560"/>
            </a:xfrm>
            <a:prstGeom prst="line">
              <a:avLst/>
            </a:prstGeom>
            <a:ln w="38100" cap="flat" cmpd="sng">
              <a:solidFill>
                <a:srgbClr val="000000"/>
              </a:solidFill>
              <a:prstDash val="solid"/>
              <a:headEnd type="none" w="med" len="med"/>
              <a:tailEnd type="none" w="med" len="med"/>
            </a:ln>
          </p:spPr>
        </p:sp>
      </p:grpSp>
      <p:sp>
        <p:nvSpPr>
          <p:cNvPr id="71691" name="文本框 71690"/>
          <p:cNvSpPr txBox="1"/>
          <p:nvPr/>
        </p:nvSpPr>
        <p:spPr>
          <a:xfrm>
            <a:off x="3581400" y="2362200"/>
            <a:ext cx="838200" cy="366713"/>
          </a:xfrm>
          <a:prstGeom prst="rect">
            <a:avLst/>
          </a:prstGeom>
          <a:noFill/>
          <a:ln w="9525">
            <a:noFill/>
          </a:ln>
        </p:spPr>
        <p:txBody>
          <a:bodyPr>
            <a:spAutoFit/>
          </a:bodyPr>
          <a:p>
            <a:pPr>
              <a:lnSpc>
                <a:spcPct val="100000"/>
              </a:lnSpc>
              <a:spcBef>
                <a:spcPct val="50000"/>
              </a:spcBef>
            </a:pPr>
            <a:r>
              <a:rPr lang="en-US" altLang="zh-CN" sz="1800">
                <a:latin typeface="Tahoma" panose="020B0604030504040204" pitchFamily="34" charset="0"/>
              </a:rPr>
              <a:t>LRAS</a:t>
            </a:r>
            <a:endParaRPr lang="en-US" altLang="zh-CN" sz="1800">
              <a:latin typeface="Tahoma" panose="020B0604030504040204" pitchFamily="34" charset="0"/>
            </a:endParaRPr>
          </a:p>
        </p:txBody>
      </p:sp>
      <p:sp>
        <p:nvSpPr>
          <p:cNvPr id="71692" name="文本框 71691"/>
          <p:cNvSpPr txBox="1"/>
          <p:nvPr/>
        </p:nvSpPr>
        <p:spPr>
          <a:xfrm>
            <a:off x="5181600" y="2590800"/>
            <a:ext cx="762000" cy="336550"/>
          </a:xfrm>
          <a:prstGeom prst="rect">
            <a:avLst/>
          </a:prstGeom>
          <a:noFill/>
          <a:ln w="9525">
            <a:noFill/>
          </a:ln>
        </p:spPr>
        <p:txBody>
          <a:bodyPr>
            <a:spAutoFit/>
          </a:bodyPr>
          <a:p>
            <a:pPr>
              <a:lnSpc>
                <a:spcPct val="100000"/>
              </a:lnSpc>
              <a:spcBef>
                <a:spcPct val="50000"/>
              </a:spcBef>
            </a:pPr>
            <a:r>
              <a:rPr lang="en-US" altLang="zh-CN" sz="1600">
                <a:latin typeface="Tahoma" panose="020B0604030504040204" pitchFamily="34" charset="0"/>
              </a:rPr>
              <a:t>SRAS</a:t>
            </a:r>
            <a:endParaRPr lang="en-US" altLang="zh-CN" sz="1600">
              <a:latin typeface="Tahoma" panose="020B0604030504040204" pitchFamily="34" charset="0"/>
            </a:endParaRPr>
          </a:p>
        </p:txBody>
      </p:sp>
      <p:sp>
        <p:nvSpPr>
          <p:cNvPr id="71693" name="文本框 71692"/>
          <p:cNvSpPr txBox="1"/>
          <p:nvPr/>
        </p:nvSpPr>
        <p:spPr>
          <a:xfrm>
            <a:off x="5029200" y="5257800"/>
            <a:ext cx="685800" cy="304800"/>
          </a:xfrm>
          <a:prstGeom prst="rect">
            <a:avLst/>
          </a:prstGeom>
          <a:noFill/>
          <a:ln w="9525">
            <a:noFill/>
          </a:ln>
        </p:spPr>
        <p:txBody>
          <a:bodyPr>
            <a:spAutoFit/>
          </a:bodyPr>
          <a:p>
            <a:pPr>
              <a:lnSpc>
                <a:spcPct val="100000"/>
              </a:lnSpc>
              <a:spcBef>
                <a:spcPct val="50000"/>
              </a:spcBef>
            </a:pPr>
            <a:r>
              <a:rPr lang="en-US" altLang="zh-CN" sz="1400">
                <a:latin typeface="Tahoma" panose="020B0604030504040204" pitchFamily="34" charset="0"/>
              </a:rPr>
              <a:t>AD1</a:t>
            </a:r>
            <a:endParaRPr lang="en-US" altLang="zh-CN" sz="1400">
              <a:latin typeface="Tahoma" panose="020B0604030504040204" pitchFamily="34" charset="0"/>
            </a:endParaRPr>
          </a:p>
        </p:txBody>
      </p:sp>
      <p:sp>
        <p:nvSpPr>
          <p:cNvPr id="71694" name="文本框 71693"/>
          <p:cNvSpPr txBox="1"/>
          <p:nvPr/>
        </p:nvSpPr>
        <p:spPr>
          <a:xfrm>
            <a:off x="5410200" y="4724400"/>
            <a:ext cx="685800" cy="304800"/>
          </a:xfrm>
          <a:prstGeom prst="rect">
            <a:avLst/>
          </a:prstGeom>
          <a:noFill/>
          <a:ln w="9525">
            <a:noFill/>
          </a:ln>
        </p:spPr>
        <p:txBody>
          <a:bodyPr>
            <a:spAutoFit/>
          </a:bodyPr>
          <a:p>
            <a:pPr>
              <a:lnSpc>
                <a:spcPct val="100000"/>
              </a:lnSpc>
              <a:spcBef>
                <a:spcPct val="50000"/>
              </a:spcBef>
            </a:pPr>
            <a:r>
              <a:rPr lang="en-US" altLang="zh-CN" sz="1400">
                <a:latin typeface="Tahoma" panose="020B0604030504040204" pitchFamily="34" charset="0"/>
              </a:rPr>
              <a:t>AD2</a:t>
            </a:r>
            <a:endParaRPr lang="en-US" altLang="zh-CN" sz="1400">
              <a:latin typeface="Tahoma" panose="020B0604030504040204" pitchFamily="34" charset="0"/>
            </a:endParaRPr>
          </a:p>
        </p:txBody>
      </p:sp>
      <p:sp>
        <p:nvSpPr>
          <p:cNvPr id="71695" name="文本框 71694"/>
          <p:cNvSpPr txBox="1"/>
          <p:nvPr/>
        </p:nvSpPr>
        <p:spPr>
          <a:xfrm>
            <a:off x="4038600" y="3962400"/>
            <a:ext cx="533400" cy="304800"/>
          </a:xfrm>
          <a:prstGeom prst="rect">
            <a:avLst/>
          </a:prstGeom>
          <a:noFill/>
          <a:ln w="9525">
            <a:noFill/>
          </a:ln>
        </p:spPr>
        <p:txBody>
          <a:bodyPr>
            <a:spAutoFit/>
          </a:bodyPr>
          <a:p>
            <a:pPr>
              <a:lnSpc>
                <a:spcPct val="100000"/>
              </a:lnSpc>
              <a:spcBef>
                <a:spcPct val="50000"/>
              </a:spcBef>
            </a:pPr>
            <a:r>
              <a:rPr lang="en-US" altLang="zh-CN" sz="1400">
                <a:latin typeface="Tahoma" panose="020B0604030504040204" pitchFamily="34" charset="0"/>
              </a:rPr>
              <a:t>E</a:t>
            </a:r>
            <a:endParaRPr lang="en-US" altLang="zh-CN" sz="1400">
              <a:latin typeface="Tahoma" panose="020B0604030504040204" pitchFamily="34" charset="0"/>
            </a:endParaRPr>
          </a:p>
        </p:txBody>
      </p:sp>
      <p:sp>
        <p:nvSpPr>
          <p:cNvPr id="71696" name="文本框 71695"/>
          <p:cNvSpPr txBox="1"/>
          <p:nvPr/>
        </p:nvSpPr>
        <p:spPr>
          <a:xfrm>
            <a:off x="3200400" y="4419600"/>
            <a:ext cx="381000" cy="304800"/>
          </a:xfrm>
          <a:prstGeom prst="rect">
            <a:avLst/>
          </a:prstGeom>
          <a:noFill/>
          <a:ln w="9525">
            <a:noFill/>
          </a:ln>
        </p:spPr>
        <p:txBody>
          <a:bodyPr>
            <a:spAutoFit/>
          </a:bodyPr>
          <a:p>
            <a:pPr>
              <a:lnSpc>
                <a:spcPct val="100000"/>
              </a:lnSpc>
              <a:spcBef>
                <a:spcPct val="50000"/>
              </a:spcBef>
            </a:pPr>
            <a:r>
              <a:rPr lang="en-US" altLang="zh-CN" sz="1400">
                <a:latin typeface="Tahoma" panose="020B0604030504040204" pitchFamily="34" charset="0"/>
              </a:rPr>
              <a:t>e</a:t>
            </a:r>
            <a:endParaRPr lang="en-US" altLang="zh-CN" sz="1400">
              <a:latin typeface="Tahoma" panose="020B0604030504040204" pitchFamily="34" charset="0"/>
            </a:endParaRPr>
          </a:p>
        </p:txBody>
      </p:sp>
      <p:sp>
        <p:nvSpPr>
          <p:cNvPr id="71697" name="文本框 71696"/>
          <p:cNvSpPr txBox="1"/>
          <p:nvPr/>
        </p:nvSpPr>
        <p:spPr>
          <a:xfrm>
            <a:off x="1295400" y="2514600"/>
            <a:ext cx="7620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p</a:t>
            </a:r>
            <a:endParaRPr lang="en-US" altLang="zh-CN" sz="2400" b="0">
              <a:latin typeface="Tahoma" panose="020B0604030504040204" pitchFamily="34" charset="0"/>
            </a:endParaRPr>
          </a:p>
        </p:txBody>
      </p:sp>
      <p:sp>
        <p:nvSpPr>
          <p:cNvPr id="71698" name="文本框 71697"/>
          <p:cNvSpPr txBox="1"/>
          <p:nvPr/>
        </p:nvSpPr>
        <p:spPr>
          <a:xfrm>
            <a:off x="5943600" y="5486400"/>
            <a:ext cx="7620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Y</a:t>
            </a:r>
            <a:endParaRPr lang="en-US" altLang="zh-CN" sz="2400" b="0">
              <a:latin typeface="Tahoma" panose="020B060403050404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标题 72705"/>
          <p:cNvSpPr>
            <a:spLocks noGrp="1"/>
          </p:cNvSpPr>
          <p:nvPr>
            <p:ph type="title"/>
          </p:nvPr>
        </p:nvSpPr>
        <p:spPr>
          <a:xfrm>
            <a:off x="609600" y="-228600"/>
            <a:ext cx="7772400" cy="1143000"/>
          </a:xfrm>
          <a:ln/>
        </p:spPr>
        <p:txBody>
          <a:bodyPr anchor="ctr" anchorCtr="0"/>
          <a:p>
            <a:r>
              <a:rPr lang="zh-CN" altLang="en-US" sz="2400" b="1" dirty="0">
                <a:solidFill>
                  <a:srgbClr val="FF0000"/>
                </a:solidFill>
              </a:rPr>
              <a:t>古典经济学派与凯恩斯经济学派</a:t>
            </a:r>
            <a:endParaRPr lang="zh-CN" altLang="en-US" sz="2400" b="1">
              <a:solidFill>
                <a:srgbClr val="FF0000"/>
              </a:solidFill>
            </a:endParaRPr>
          </a:p>
        </p:txBody>
      </p:sp>
      <p:sp>
        <p:nvSpPr>
          <p:cNvPr id="72707" name="文本占位符 72706"/>
          <p:cNvSpPr>
            <a:spLocks noGrp="1"/>
          </p:cNvSpPr>
          <p:nvPr>
            <p:ph type="body" idx="1"/>
          </p:nvPr>
        </p:nvSpPr>
        <p:spPr>
          <a:ln/>
        </p:spPr>
        <p:txBody>
          <a:bodyPr/>
          <a:p>
            <a:endParaRPr dirty="0"/>
          </a:p>
        </p:txBody>
      </p:sp>
      <p:graphicFrame>
        <p:nvGraphicFramePr>
          <p:cNvPr id="72708" name="表格 72707"/>
          <p:cNvGraphicFramePr/>
          <p:nvPr/>
        </p:nvGraphicFramePr>
        <p:xfrm>
          <a:off x="395288" y="765175"/>
          <a:ext cx="8153400" cy="5864225"/>
        </p:xfrm>
        <a:graphic>
          <a:graphicData uri="http://schemas.openxmlformats.org/drawingml/2006/table">
            <a:tbl>
              <a:tblPr/>
              <a:tblGrid>
                <a:gridCol w="990600"/>
                <a:gridCol w="3200400"/>
                <a:gridCol w="3962400"/>
              </a:tblGrid>
              <a:tr h="10160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endParaRPr lang="zh-CN" altLang="en-US" dirty="0"/>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b="1" dirty="0">
                          <a:solidFill>
                            <a:srgbClr val="000000"/>
                          </a:solidFill>
                        </a:rPr>
                        <a:t>古典经济学派</a:t>
                      </a:r>
                      <a:endParaRPr lang="zh-CN" altLang="en-US" b="1">
                        <a:solidFill>
                          <a:srgbClr val="0000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b="1">
                          <a:solidFill>
                            <a:srgbClr val="000000"/>
                          </a:solidFill>
                        </a:rPr>
                        <a:t>凯恩斯</a:t>
                      </a:r>
                      <a:r>
                        <a:rPr lang="zh-CN" altLang="en-US" b="1" dirty="0">
                          <a:solidFill>
                            <a:srgbClr val="000000"/>
                          </a:solidFill>
                        </a:rPr>
                        <a:t>经济学派</a:t>
                      </a:r>
                      <a:endParaRPr lang="zh-CN" altLang="en-US" b="1">
                        <a:solidFill>
                          <a:srgbClr val="0000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498600">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2400" dirty="0">
                          <a:solidFill>
                            <a:srgbClr val="000000"/>
                          </a:solidFill>
                        </a:rPr>
                        <a:t>市场调整</a:t>
                      </a:r>
                      <a:endParaRPr lang="zh-CN" altLang="en-US" sz="2400">
                        <a:solidFill>
                          <a:srgbClr val="0000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2400" dirty="0">
                          <a:solidFill>
                            <a:srgbClr val="000000"/>
                          </a:solidFill>
                        </a:rPr>
                        <a:t>市场自身具有自动调整物价和工资。</a:t>
                      </a:r>
                      <a:endParaRPr lang="zh-CN" altLang="en-US" sz="2400">
                        <a:solidFill>
                          <a:srgbClr val="0000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2400" dirty="0">
                          <a:solidFill>
                            <a:srgbClr val="000000"/>
                          </a:solidFill>
                        </a:rPr>
                        <a:t>物价和工资都缺乏调节的灵活性，纵然面对经济环境的改变，也不可迅速调整。</a:t>
                      </a:r>
                      <a:endParaRPr lang="zh-CN" altLang="en-US" sz="2400">
                        <a:solidFill>
                          <a:srgbClr val="0000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550988">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2400" dirty="0">
                          <a:solidFill>
                            <a:srgbClr val="000000"/>
                          </a:solidFill>
                        </a:rPr>
                        <a:t>充分就业</a:t>
                      </a:r>
                      <a:endParaRPr lang="zh-CN" altLang="en-US" sz="2400">
                        <a:solidFill>
                          <a:srgbClr val="0000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2400" dirty="0">
                          <a:solidFill>
                            <a:srgbClr val="000000"/>
                          </a:solidFill>
                        </a:rPr>
                        <a:t>长期而言，各种资源都能得到最佳分配，社会最终也会处于充分就业的状态。</a:t>
                      </a:r>
                      <a:endParaRPr lang="zh-CN" altLang="en-US" sz="2400">
                        <a:solidFill>
                          <a:srgbClr val="0000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sz="2400" dirty="0">
                          <a:solidFill>
                            <a:srgbClr val="000000"/>
                          </a:solidFill>
                        </a:rPr>
                        <a:t>他们认为社会不是经常能达到充分就业的状态。</a:t>
                      </a:r>
                      <a:endParaRPr lang="zh-CN" altLang="en-US" sz="2400">
                        <a:solidFill>
                          <a:srgbClr val="0000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noFill/>
                  </a:tcPr>
                </a:tc>
              </a:tr>
              <a:tr h="1798637">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a:solidFill>
                            <a:srgbClr val="000000"/>
                          </a:solidFill>
                        </a:rPr>
                        <a:t>总</a:t>
                      </a:r>
                      <a:r>
                        <a:rPr lang="zh-CN" altLang="en-US" dirty="0">
                          <a:solidFill>
                            <a:srgbClr val="000000"/>
                          </a:solidFill>
                        </a:rPr>
                        <a:t>供需</a:t>
                      </a:r>
                      <a:endParaRPr lang="zh-CN" altLang="en-US">
                        <a:solidFill>
                          <a:srgbClr val="000000"/>
                        </a:solidFill>
                      </a:endParaRPr>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a:solidFill>
                            <a:srgbClr val="000000"/>
                          </a:solidFill>
                        </a:rPr>
                        <a:t>总</a:t>
                      </a:r>
                      <a:r>
                        <a:rPr lang="zh-CN" altLang="en-US" dirty="0">
                          <a:solidFill>
                            <a:srgbClr val="000000"/>
                          </a:solidFill>
                        </a:rPr>
                        <a:t>需求的变化不能影响总产出，总供给量的增加才可增加产出</a:t>
                      </a:r>
                      <a:endParaRPr lang="zh-CN" altLang="en-US">
                        <a:solidFill>
                          <a:srgbClr val="000000"/>
                        </a:solidFill>
                      </a:endParaRPr>
                    </a:p>
                  </a:txBody>
                  <a:tcPr>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c>
                  <a:txBody>
                    <a:bodyPr/>
                    <a:lstStyle>
                      <a:lvl1pPr marL="342900" lvl="0" indent="-342900" algn="l" defTabSz="914400" rtl="0" eaLnBrk="1" fontAlgn="base" latinLnBrk="0" hangingPunct="1">
                        <a:lnSpc>
                          <a:spcPct val="100000"/>
                        </a:lnSpc>
                        <a:spcBef>
                          <a:spcPct val="20000"/>
                        </a:spcBef>
                        <a:spcAft>
                          <a:spcPct val="0"/>
                        </a:spcAft>
                        <a:buClrTx/>
                        <a:buSzTx/>
                        <a:buFontTx/>
                        <a:buChar char="•"/>
                        <a:defRPr sz="28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Tx/>
                        <a:buSzTx/>
                        <a:buFontTx/>
                        <a:buChar char="–"/>
                        <a:defRPr sz="24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Tx/>
                        <a:buSzTx/>
                        <a:buFontTx/>
                        <a:buChar char="•"/>
                        <a:defRPr sz="20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Tx/>
                        <a:buSzTx/>
                        <a:buFontTx/>
                        <a:buChar char="»"/>
                        <a:defRPr sz="1800" b="0" i="0" u="none" kern="1200" baseline="0">
                          <a:solidFill>
                            <a:schemeClr val="tx1"/>
                          </a:solidFill>
                          <a:latin typeface="Times New Roman" panose="02020603050405020304" pitchFamily="18" charset="0"/>
                          <a:ea typeface="宋体" panose="02010600030101010101" pitchFamily="2" charset="-122"/>
                        </a:defRPr>
                      </a:lvl5pPr>
                    </a:lstStyle>
                    <a:p>
                      <a:pPr marL="0" lvl="0" indent="0">
                        <a:buNone/>
                      </a:pPr>
                      <a:r>
                        <a:rPr lang="zh-CN" altLang="en-US">
                          <a:solidFill>
                            <a:srgbClr val="000000"/>
                          </a:solidFill>
                        </a:rPr>
                        <a:t>在</a:t>
                      </a:r>
                      <a:r>
                        <a:rPr lang="zh-CN" altLang="en-US" dirty="0">
                          <a:solidFill>
                            <a:srgbClr val="000000"/>
                          </a:solidFill>
                        </a:rPr>
                        <a:t>社会未达到充分就业的状态前，总需求的变化会影响总产出。</a:t>
                      </a:r>
                      <a:endParaRPr lang="zh-CN" altLang="en-US">
                        <a:solidFill>
                          <a:srgbClr val="000000"/>
                        </a:solidFill>
                      </a:endParaRPr>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标题 73729"/>
          <p:cNvSpPr>
            <a:spLocks noGrp="1"/>
          </p:cNvSpPr>
          <p:nvPr>
            <p:ph type="title"/>
          </p:nvPr>
        </p:nvSpPr>
        <p:spPr>
          <a:xfrm>
            <a:off x="762000" y="0"/>
            <a:ext cx="7772400" cy="1143000"/>
          </a:xfrm>
          <a:ln/>
        </p:spPr>
        <p:txBody>
          <a:bodyPr anchor="ctr" anchorCtr="0"/>
          <a:p>
            <a:r>
              <a:rPr lang="zh-CN" altLang="en-US" b="1" dirty="0">
                <a:solidFill>
                  <a:srgbClr val="FF0000"/>
                </a:solidFill>
                <a:latin typeface="华文行楷" panose="02010800040101010101" pitchFamily="2" charset="-122"/>
                <a:ea typeface="华文行楷" panose="02010800040101010101" pitchFamily="2" charset="-122"/>
              </a:rPr>
              <a:t>第二节 储蓄、消费和投资</a:t>
            </a:r>
            <a:endParaRPr lang="zh-CN" altLang="en-US" b="1">
              <a:solidFill>
                <a:srgbClr val="FF0000"/>
              </a:solidFill>
              <a:latin typeface="华文行楷" panose="02010800040101010101" pitchFamily="2" charset="-122"/>
              <a:ea typeface="华文行楷" panose="02010800040101010101" pitchFamily="2" charset="-122"/>
            </a:endParaRPr>
          </a:p>
        </p:txBody>
      </p:sp>
      <p:sp>
        <p:nvSpPr>
          <p:cNvPr id="73731" name="文本占位符 73730"/>
          <p:cNvSpPr>
            <a:spLocks noGrp="1"/>
          </p:cNvSpPr>
          <p:nvPr>
            <p:ph type="body" idx="1"/>
          </p:nvPr>
        </p:nvSpPr>
        <p:spPr>
          <a:xfrm>
            <a:off x="838200" y="1219200"/>
            <a:ext cx="7772400" cy="4114800"/>
          </a:xfrm>
          <a:ln/>
        </p:spPr>
        <p:txBody>
          <a:bodyPr/>
          <a:p>
            <a:pPr marL="457200" indent="-457200">
              <a:lnSpc>
                <a:spcPct val="80000"/>
              </a:lnSpc>
              <a:buNone/>
            </a:pPr>
            <a:r>
              <a:rPr lang="zh-CN" altLang="en-US" sz="2000" b="1" dirty="0">
                <a:solidFill>
                  <a:srgbClr val="000000"/>
                </a:solidFill>
              </a:rPr>
              <a:t>消费函数</a:t>
            </a:r>
            <a:endParaRPr lang="zh-CN" altLang="en-US" sz="2000" b="1" dirty="0">
              <a:solidFill>
                <a:srgbClr val="000000"/>
              </a:solidFill>
            </a:endParaRPr>
          </a:p>
          <a:p>
            <a:pPr marL="457200" indent="-457200">
              <a:lnSpc>
                <a:spcPct val="80000"/>
              </a:lnSpc>
              <a:buNone/>
            </a:pPr>
            <a:r>
              <a:rPr lang="zh-CN" altLang="en-US" sz="2000" b="1" dirty="0">
                <a:solidFill>
                  <a:srgbClr val="FF0000"/>
                </a:solidFill>
              </a:rPr>
              <a:t>消费函数</a:t>
            </a:r>
            <a:r>
              <a:rPr lang="zh-CN" altLang="en-US" sz="2000" b="1" dirty="0">
                <a:solidFill>
                  <a:srgbClr val="000000"/>
                </a:solidFill>
              </a:rPr>
              <a:t>是指消费支出与决定消费的各种因素之间的依存关系。</a:t>
            </a:r>
            <a:endParaRPr lang="zh-CN" altLang="en-US" sz="2000" b="1" dirty="0">
              <a:solidFill>
                <a:srgbClr val="000000"/>
              </a:solidFill>
            </a:endParaRPr>
          </a:p>
          <a:p>
            <a:pPr marL="457200" indent="-457200">
              <a:lnSpc>
                <a:spcPct val="80000"/>
              </a:lnSpc>
              <a:buNone/>
            </a:pPr>
            <a:r>
              <a:rPr lang="zh-CN" altLang="en-US" sz="2000" b="1" dirty="0">
                <a:solidFill>
                  <a:srgbClr val="000000"/>
                </a:solidFill>
              </a:rPr>
              <a:t>在研究国民收入决定时，假定消费只受收入多少的影响。在其它条件不变的情况下，消费随收入变动而同方向变动。</a:t>
            </a:r>
            <a:endParaRPr lang="zh-CN" altLang="en-US" sz="2000" b="1" dirty="0">
              <a:solidFill>
                <a:srgbClr val="000000"/>
              </a:solidFill>
            </a:endParaRPr>
          </a:p>
          <a:p>
            <a:pPr marL="457200" indent="-457200">
              <a:lnSpc>
                <a:spcPct val="80000"/>
              </a:lnSpc>
              <a:buNone/>
            </a:pPr>
            <a:r>
              <a:rPr lang="en-US" altLang="zh-CN" sz="2000" b="1">
                <a:solidFill>
                  <a:srgbClr val="000000"/>
                </a:solidFill>
              </a:rPr>
              <a:t>C=f(Y)  (c:</a:t>
            </a:r>
            <a:r>
              <a:rPr lang="zh-CN" altLang="en-US" sz="2000" b="1" dirty="0">
                <a:solidFill>
                  <a:srgbClr val="000000"/>
                </a:solidFill>
              </a:rPr>
              <a:t>代表消费</a:t>
            </a:r>
            <a:r>
              <a:rPr lang="en-US" altLang="zh-CN" sz="2000" b="1">
                <a:solidFill>
                  <a:srgbClr val="000000"/>
                </a:solidFill>
              </a:rPr>
              <a:t>,Y</a:t>
            </a:r>
            <a:r>
              <a:rPr lang="zh-CN" altLang="en-US" sz="2000" b="1" dirty="0">
                <a:solidFill>
                  <a:srgbClr val="000000"/>
                </a:solidFill>
              </a:rPr>
              <a:t>代表收入</a:t>
            </a:r>
            <a:r>
              <a:rPr lang="en-US" altLang="zh-CN" sz="2000" b="1">
                <a:solidFill>
                  <a:srgbClr val="000000"/>
                </a:solidFill>
              </a:rPr>
              <a:t>)</a:t>
            </a:r>
            <a:endParaRPr lang="en-US" altLang="zh-CN" sz="2000" b="1">
              <a:solidFill>
                <a:srgbClr val="000000"/>
              </a:solidFill>
            </a:endParaRPr>
          </a:p>
          <a:p>
            <a:pPr marL="457200" indent="-457200">
              <a:lnSpc>
                <a:spcPct val="80000"/>
              </a:lnSpc>
              <a:buNone/>
            </a:pPr>
            <a:r>
              <a:rPr lang="zh-CN" altLang="en-US" sz="2000" b="1" dirty="0">
                <a:solidFill>
                  <a:srgbClr val="000000"/>
                </a:solidFill>
              </a:rPr>
              <a:t>平均消费倾向</a:t>
            </a:r>
            <a:r>
              <a:rPr lang="en-US" altLang="zh-CN" sz="2000" b="1">
                <a:solidFill>
                  <a:srgbClr val="000000"/>
                </a:solidFill>
              </a:rPr>
              <a:t>(average propensity to consume</a:t>
            </a:r>
            <a:r>
              <a:rPr lang="zh-CN" altLang="en-US" sz="2000" b="1">
                <a:solidFill>
                  <a:srgbClr val="000000"/>
                </a:solidFill>
              </a:rPr>
              <a:t>，</a:t>
            </a:r>
            <a:r>
              <a:rPr lang="zh-CN" altLang="en-US" sz="2000" b="1" dirty="0">
                <a:solidFill>
                  <a:srgbClr val="000000"/>
                </a:solidFill>
              </a:rPr>
              <a:t>简称</a:t>
            </a:r>
            <a:r>
              <a:rPr lang="en-US" altLang="zh-CN" sz="2000" b="1">
                <a:solidFill>
                  <a:srgbClr val="000000"/>
                </a:solidFill>
              </a:rPr>
              <a:t>APC):</a:t>
            </a:r>
            <a:r>
              <a:rPr lang="en-US" altLang="zh-CN" sz="2000" b="1">
                <a:solidFill>
                  <a:srgbClr val="FF0000"/>
                </a:solidFill>
              </a:rPr>
              <a:t>APC=C/Y</a:t>
            </a:r>
            <a:r>
              <a:rPr lang="en-US" altLang="zh-CN" sz="2000" b="1" baseline="-25000">
                <a:solidFill>
                  <a:srgbClr val="FF0000"/>
                </a:solidFill>
              </a:rPr>
              <a:t>d</a:t>
            </a:r>
            <a:r>
              <a:rPr lang="en-US" altLang="zh-CN" sz="2000" b="1" baseline="-25000">
                <a:solidFill>
                  <a:srgbClr val="000000"/>
                </a:solidFill>
              </a:rPr>
              <a:t>             </a:t>
            </a:r>
            <a:r>
              <a:rPr lang="en-US" altLang="zh-CN" sz="2000" b="1">
                <a:solidFill>
                  <a:srgbClr val="000000"/>
                </a:solidFill>
              </a:rPr>
              <a:t>Y</a:t>
            </a:r>
            <a:r>
              <a:rPr lang="en-US" altLang="zh-CN" sz="2000" b="1" baseline="-25000">
                <a:solidFill>
                  <a:srgbClr val="000000"/>
                </a:solidFill>
              </a:rPr>
              <a:t>d</a:t>
            </a:r>
            <a:r>
              <a:rPr lang="zh-CN" altLang="en-US" sz="2000" b="1" dirty="0">
                <a:solidFill>
                  <a:srgbClr val="000000"/>
                </a:solidFill>
              </a:rPr>
              <a:t>可支配收入</a:t>
            </a:r>
            <a:endParaRPr lang="zh-CN" altLang="en-US" sz="2000" b="1">
              <a:solidFill>
                <a:srgbClr val="000000"/>
              </a:solidFill>
            </a:endParaRPr>
          </a:p>
          <a:p>
            <a:pPr marL="457200" indent="-457200">
              <a:lnSpc>
                <a:spcPct val="80000"/>
              </a:lnSpc>
              <a:buNone/>
            </a:pPr>
            <a:r>
              <a:rPr lang="zh-CN" altLang="en-US" sz="2000" b="1" dirty="0">
                <a:solidFill>
                  <a:srgbClr val="000000"/>
                </a:solidFill>
              </a:rPr>
              <a:t>边际消费倾向</a:t>
            </a:r>
            <a:r>
              <a:rPr lang="en-US" altLang="zh-CN" sz="2000" b="1">
                <a:solidFill>
                  <a:srgbClr val="000000"/>
                </a:solidFill>
              </a:rPr>
              <a:t>(marginal propensity to consume</a:t>
            </a:r>
            <a:r>
              <a:rPr lang="zh-CN" altLang="en-US" sz="2000" b="1">
                <a:solidFill>
                  <a:srgbClr val="000000"/>
                </a:solidFill>
              </a:rPr>
              <a:t>，</a:t>
            </a:r>
            <a:r>
              <a:rPr lang="zh-CN" altLang="en-US" sz="2000" b="1" dirty="0">
                <a:solidFill>
                  <a:srgbClr val="000000"/>
                </a:solidFill>
              </a:rPr>
              <a:t>简称</a:t>
            </a:r>
            <a:r>
              <a:rPr lang="en-US" altLang="zh-CN" sz="2000" b="1">
                <a:solidFill>
                  <a:srgbClr val="000000"/>
                </a:solidFill>
              </a:rPr>
              <a:t>MPC):</a:t>
            </a:r>
            <a:r>
              <a:rPr lang="en-US" altLang="zh-CN" sz="2000" b="1">
                <a:solidFill>
                  <a:srgbClr val="FF0000"/>
                </a:solidFill>
              </a:rPr>
              <a:t>MPC=ΔC/Δy</a:t>
            </a:r>
            <a:r>
              <a:rPr lang="en-US" altLang="zh-CN" sz="2000" b="1" baseline="-25000">
                <a:solidFill>
                  <a:srgbClr val="FF0000"/>
                </a:solidFill>
              </a:rPr>
              <a:t>d</a:t>
            </a:r>
            <a:r>
              <a:rPr lang="en-US" altLang="zh-CN" sz="2000" b="1" baseline="-25000">
                <a:solidFill>
                  <a:srgbClr val="000000"/>
                </a:solidFill>
              </a:rPr>
              <a:t>      </a:t>
            </a:r>
            <a:r>
              <a:rPr lang="en-US" altLang="zh-CN" sz="2000" b="1">
                <a:solidFill>
                  <a:srgbClr val="000000"/>
                </a:solidFill>
              </a:rPr>
              <a:t>Y</a:t>
            </a:r>
            <a:r>
              <a:rPr lang="en-US" altLang="zh-CN" sz="2000" b="1" baseline="-25000">
                <a:solidFill>
                  <a:srgbClr val="000000"/>
                </a:solidFill>
              </a:rPr>
              <a:t>d</a:t>
            </a:r>
            <a:r>
              <a:rPr lang="zh-CN" altLang="en-US" sz="2000" b="1" dirty="0">
                <a:solidFill>
                  <a:srgbClr val="000000"/>
                </a:solidFill>
              </a:rPr>
              <a:t>可支配收入</a:t>
            </a:r>
            <a:endParaRPr lang="zh-CN" altLang="en-US" sz="2000" b="1" dirty="0">
              <a:solidFill>
                <a:srgbClr val="000000"/>
              </a:solidFill>
            </a:endParaRPr>
          </a:p>
          <a:p>
            <a:pPr marL="457200" indent="-457200">
              <a:lnSpc>
                <a:spcPct val="80000"/>
              </a:lnSpc>
              <a:buNone/>
            </a:pPr>
            <a:r>
              <a:rPr lang="zh-CN" altLang="en-US" sz="2000" b="1" dirty="0">
                <a:solidFill>
                  <a:srgbClr val="000000"/>
                </a:solidFill>
              </a:rPr>
              <a:t>短期消费函数</a:t>
            </a:r>
            <a:r>
              <a:rPr lang="en-US" altLang="zh-CN" sz="2000" b="1">
                <a:solidFill>
                  <a:srgbClr val="000000"/>
                </a:solidFill>
              </a:rPr>
              <a:t>: </a:t>
            </a:r>
            <a:r>
              <a:rPr lang="en-US" altLang="zh-CN" sz="2000" b="1">
                <a:solidFill>
                  <a:srgbClr val="FF0000"/>
                </a:solidFill>
              </a:rPr>
              <a:t>C=</a:t>
            </a:r>
            <a:r>
              <a:rPr lang="en-US" altLang="zh-CN" sz="2000" b="1" dirty="0" err="1">
                <a:solidFill>
                  <a:srgbClr val="FF0000"/>
                </a:solidFill>
              </a:rPr>
              <a:t>C</a:t>
            </a:r>
            <a:r>
              <a:rPr lang="en-US" altLang="zh-CN" sz="2000" b="1" baseline="-25000" dirty="0" err="1">
                <a:solidFill>
                  <a:srgbClr val="FF0000"/>
                </a:solidFill>
              </a:rPr>
              <a:t>a</a:t>
            </a:r>
            <a:r>
              <a:rPr lang="en-US" altLang="zh-CN" sz="2000" b="1" dirty="0" err="1">
                <a:solidFill>
                  <a:srgbClr val="FF0000"/>
                </a:solidFill>
              </a:rPr>
              <a:t>+cY</a:t>
            </a:r>
            <a:r>
              <a:rPr lang="en-US" altLang="zh-CN" sz="2000" b="1" baseline="-25000" dirty="0" err="1">
                <a:solidFill>
                  <a:srgbClr val="FF0000"/>
                </a:solidFill>
              </a:rPr>
              <a:t>d</a:t>
            </a:r>
            <a:r>
              <a:rPr lang="en-US" altLang="zh-CN" sz="2000" b="1" baseline="-25000">
                <a:solidFill>
                  <a:srgbClr val="000000"/>
                </a:solidFill>
              </a:rPr>
              <a:t>    </a:t>
            </a:r>
            <a:r>
              <a:rPr lang="en-US" altLang="zh-CN" sz="2000" b="1">
                <a:solidFill>
                  <a:srgbClr val="000000"/>
                </a:solidFill>
              </a:rPr>
              <a:t>C</a:t>
            </a:r>
            <a:r>
              <a:rPr lang="en-US" altLang="zh-CN" sz="2000" b="1" baseline="-25000">
                <a:solidFill>
                  <a:srgbClr val="000000"/>
                </a:solidFill>
              </a:rPr>
              <a:t>a</a:t>
            </a:r>
            <a:r>
              <a:rPr lang="en-US" altLang="zh-CN" sz="2000" b="1">
                <a:solidFill>
                  <a:srgbClr val="000000"/>
                </a:solidFill>
              </a:rPr>
              <a:t>&gt;0,  0&lt;c&lt;1</a:t>
            </a:r>
            <a:br>
              <a:rPr lang="en-US" altLang="zh-CN" sz="2000" b="1">
                <a:solidFill>
                  <a:srgbClr val="000000"/>
                </a:solidFill>
              </a:rPr>
            </a:br>
            <a:r>
              <a:rPr lang="en-US" altLang="zh-CN" sz="2000" b="1">
                <a:solidFill>
                  <a:srgbClr val="000000"/>
                </a:solidFill>
              </a:rPr>
              <a:t> </a:t>
            </a:r>
            <a:r>
              <a:rPr lang="en-US" altLang="zh-CN" sz="2000" b="1">
                <a:solidFill>
                  <a:srgbClr val="000000"/>
                </a:solidFill>
              </a:rPr>
              <a:t>C</a:t>
            </a:r>
            <a:r>
              <a:rPr lang="en-US" altLang="zh-CN" sz="2000" b="1" baseline="-25000">
                <a:solidFill>
                  <a:srgbClr val="000000"/>
                </a:solidFill>
              </a:rPr>
              <a:t>a </a:t>
            </a:r>
            <a:r>
              <a:rPr lang="zh-CN" altLang="en-US" sz="2000" b="1" dirty="0">
                <a:solidFill>
                  <a:srgbClr val="000000"/>
                </a:solidFill>
              </a:rPr>
              <a:t>自发性消费 </a:t>
            </a:r>
            <a:r>
              <a:rPr lang="en-US" altLang="zh-CN" sz="2000" b="1">
                <a:solidFill>
                  <a:srgbClr val="000000"/>
                </a:solidFill>
              </a:rPr>
              <a:t>c</a:t>
            </a:r>
            <a:r>
              <a:rPr lang="zh-CN" altLang="en-US" sz="2000" b="1" dirty="0">
                <a:solidFill>
                  <a:srgbClr val="000000"/>
                </a:solidFill>
              </a:rPr>
              <a:t>消费增加幅度</a:t>
            </a:r>
            <a:r>
              <a:rPr lang="en-US" altLang="zh-CN" sz="2000" b="1">
                <a:solidFill>
                  <a:srgbClr val="000000"/>
                </a:solidFill>
              </a:rPr>
              <a:t>(</a:t>
            </a:r>
            <a:r>
              <a:rPr lang="zh-CN" altLang="en-US" sz="2000" b="1" dirty="0">
                <a:solidFill>
                  <a:srgbClr val="000000"/>
                </a:solidFill>
              </a:rPr>
              <a:t>边际</a:t>
            </a:r>
            <a:r>
              <a:rPr lang="zh-CN" altLang="en-US" sz="2000" b="1" dirty="0">
                <a:solidFill>
                  <a:srgbClr val="000000"/>
                </a:solidFill>
              </a:rPr>
              <a:t>消费倾向</a:t>
            </a:r>
            <a:r>
              <a:rPr lang="en-US" altLang="zh-CN" sz="2000" b="1">
                <a:solidFill>
                  <a:srgbClr val="000000"/>
                </a:solidFill>
              </a:rPr>
              <a:t>)   Y</a:t>
            </a:r>
            <a:r>
              <a:rPr lang="en-US" altLang="zh-CN" sz="2000" b="1" baseline="-25000">
                <a:solidFill>
                  <a:srgbClr val="000000"/>
                </a:solidFill>
              </a:rPr>
              <a:t>d</a:t>
            </a:r>
            <a:r>
              <a:rPr lang="zh-CN" altLang="en-US" sz="2000" b="1" dirty="0">
                <a:solidFill>
                  <a:srgbClr val="000000"/>
                </a:solidFill>
              </a:rPr>
              <a:t>可支配收入</a:t>
            </a:r>
            <a:br>
              <a:rPr lang="zh-CN" altLang="en-US" sz="2000" b="1" dirty="0">
                <a:solidFill>
                  <a:srgbClr val="000000"/>
                </a:solidFill>
              </a:rPr>
            </a:br>
            <a:r>
              <a:rPr lang="zh-CN" altLang="en-US" sz="2000" b="1" dirty="0">
                <a:solidFill>
                  <a:srgbClr val="000000"/>
                </a:solidFill>
              </a:rPr>
              <a:t>长期</a:t>
            </a:r>
            <a:r>
              <a:rPr lang="zh-CN" altLang="en-US" sz="2000" b="1" dirty="0">
                <a:solidFill>
                  <a:srgbClr val="000000"/>
                </a:solidFill>
              </a:rPr>
              <a:t>消费函数</a:t>
            </a:r>
            <a:r>
              <a:rPr lang="en-US" altLang="zh-CN" sz="2000" b="1">
                <a:solidFill>
                  <a:srgbClr val="000000"/>
                </a:solidFill>
              </a:rPr>
              <a:t>: C=</a:t>
            </a:r>
            <a:r>
              <a:rPr lang="en-US" altLang="zh-CN" sz="2000" b="1" dirty="0" err="1">
                <a:solidFill>
                  <a:srgbClr val="000000"/>
                </a:solidFill>
              </a:rPr>
              <a:t>k</a:t>
            </a:r>
            <a:r>
              <a:rPr lang="en-US" altLang="zh-CN" sz="2000" b="1" dirty="0" err="1">
                <a:solidFill>
                  <a:srgbClr val="000000"/>
                </a:solidFill>
              </a:rPr>
              <a:t>Y</a:t>
            </a:r>
            <a:r>
              <a:rPr lang="en-US" altLang="zh-CN" sz="2000" b="1" baseline="-25000" dirty="0" err="1">
                <a:solidFill>
                  <a:srgbClr val="000000"/>
                </a:solidFill>
              </a:rPr>
              <a:t>d</a:t>
            </a:r>
            <a:endParaRPr lang="en-US" altLang="zh-CN" sz="2000" b="1">
              <a:solidFill>
                <a:srgbClr val="000000"/>
              </a:solidFill>
            </a:endParaRPr>
          </a:p>
          <a:p>
            <a:pPr marL="457200" indent="-457200">
              <a:lnSpc>
                <a:spcPct val="80000"/>
              </a:lnSpc>
              <a:buNone/>
            </a:pPr>
            <a:endParaRPr lang="en-US" altLang="zh-CN" sz="2000" b="1">
              <a:solidFill>
                <a:srgbClr val="000000"/>
              </a:solidFill>
            </a:endParaRPr>
          </a:p>
          <a:p>
            <a:pPr marL="457200" indent="-457200">
              <a:lnSpc>
                <a:spcPct val="80000"/>
              </a:lnSpc>
              <a:buNone/>
            </a:pPr>
            <a:br>
              <a:rPr lang="en-US" altLang="zh-CN" sz="1600" baseline="-25000">
                <a:solidFill>
                  <a:srgbClr val="000000"/>
                </a:solidFill>
              </a:rPr>
            </a:br>
            <a:endParaRPr lang="en-US" altLang="zh-CN" sz="1600" baseline="-2500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标题 74753"/>
          <p:cNvSpPr>
            <a:spLocks noGrp="1"/>
          </p:cNvSpPr>
          <p:nvPr>
            <p:ph type="title"/>
          </p:nvPr>
        </p:nvSpPr>
        <p:spPr>
          <a:ln/>
        </p:spPr>
        <p:txBody>
          <a:bodyPr anchor="ctr" anchorCtr="0"/>
          <a:p>
            <a:endParaRPr dirty="0"/>
          </a:p>
        </p:txBody>
      </p:sp>
      <p:sp>
        <p:nvSpPr>
          <p:cNvPr id="74755" name="文本占位符 74754"/>
          <p:cNvSpPr>
            <a:spLocks noGrp="1"/>
          </p:cNvSpPr>
          <p:nvPr>
            <p:ph type="body" idx="1"/>
          </p:nvPr>
        </p:nvSpPr>
        <p:spPr>
          <a:xfrm>
            <a:off x="533400" y="533400"/>
            <a:ext cx="8077200" cy="5486400"/>
          </a:xfrm>
          <a:ln/>
        </p:spPr>
        <p:txBody>
          <a:bodyPr/>
          <a:p>
            <a:pPr>
              <a:buNone/>
            </a:pPr>
            <a:endParaRPr dirty="0"/>
          </a:p>
        </p:txBody>
      </p:sp>
      <p:sp>
        <p:nvSpPr>
          <p:cNvPr id="74756" name="直接连接符 74755"/>
          <p:cNvSpPr/>
          <p:nvPr/>
        </p:nvSpPr>
        <p:spPr>
          <a:xfrm flipV="1">
            <a:off x="2286000" y="2209800"/>
            <a:ext cx="0" cy="3124200"/>
          </a:xfrm>
          <a:prstGeom prst="line">
            <a:avLst/>
          </a:prstGeom>
          <a:ln w="38100" cap="flat" cmpd="sng">
            <a:solidFill>
              <a:schemeClr val="tx2"/>
            </a:solidFill>
            <a:prstDash val="solid"/>
            <a:headEnd type="none" w="med" len="med"/>
            <a:tailEnd type="triangle" w="med" len="med"/>
          </a:ln>
        </p:spPr>
      </p:sp>
      <p:sp>
        <p:nvSpPr>
          <p:cNvPr id="74757" name="直接连接符 74756"/>
          <p:cNvSpPr/>
          <p:nvPr/>
        </p:nvSpPr>
        <p:spPr>
          <a:xfrm>
            <a:off x="2286000" y="5334000"/>
            <a:ext cx="4800600" cy="0"/>
          </a:xfrm>
          <a:prstGeom prst="line">
            <a:avLst/>
          </a:prstGeom>
          <a:ln w="38100" cap="flat" cmpd="sng">
            <a:solidFill>
              <a:schemeClr val="tx2"/>
            </a:solidFill>
            <a:prstDash val="solid"/>
            <a:headEnd type="none" w="med" len="med"/>
            <a:tailEnd type="triangle" w="med" len="med"/>
          </a:ln>
        </p:spPr>
      </p:sp>
      <p:sp>
        <p:nvSpPr>
          <p:cNvPr id="74758" name="直接连接符 74757"/>
          <p:cNvSpPr/>
          <p:nvPr/>
        </p:nvSpPr>
        <p:spPr>
          <a:xfrm flipV="1">
            <a:off x="2286000" y="3048000"/>
            <a:ext cx="3810000" cy="990600"/>
          </a:xfrm>
          <a:prstGeom prst="line">
            <a:avLst/>
          </a:prstGeom>
          <a:ln w="38100" cap="flat" cmpd="sng">
            <a:solidFill>
              <a:schemeClr val="tx2"/>
            </a:solidFill>
            <a:prstDash val="solid"/>
            <a:headEnd type="none" w="med" len="med"/>
            <a:tailEnd type="none" w="med" len="med"/>
          </a:ln>
        </p:spPr>
      </p:sp>
      <p:sp>
        <p:nvSpPr>
          <p:cNvPr id="74759" name="文本框 74758"/>
          <p:cNvSpPr txBox="1"/>
          <p:nvPr/>
        </p:nvSpPr>
        <p:spPr>
          <a:xfrm>
            <a:off x="517525" y="6116638"/>
            <a:ext cx="184150" cy="457200"/>
          </a:xfrm>
          <a:prstGeom prst="rect">
            <a:avLst/>
          </a:prstGeom>
          <a:noFill/>
          <a:ln w="9525">
            <a:noFill/>
          </a:ln>
        </p:spPr>
        <p:txBody>
          <a:bodyPr wrap="none" anchor="t" anchorCtr="0">
            <a:spAutoFit/>
          </a:bodyPr>
          <a:p>
            <a:pPr>
              <a:lnSpc>
                <a:spcPct val="100000"/>
              </a:lnSpc>
              <a:spcBef>
                <a:spcPct val="0"/>
              </a:spcBef>
            </a:pPr>
            <a:endParaRPr sz="2400" b="0" dirty="0">
              <a:latin typeface="Tahoma" panose="020B0604030504040204" pitchFamily="34" charset="0"/>
            </a:endParaRPr>
          </a:p>
        </p:txBody>
      </p:sp>
      <p:sp>
        <p:nvSpPr>
          <p:cNvPr id="74760" name="文本框 74759"/>
          <p:cNvSpPr txBox="1"/>
          <p:nvPr/>
        </p:nvSpPr>
        <p:spPr>
          <a:xfrm>
            <a:off x="1828800" y="1752600"/>
            <a:ext cx="914400" cy="457200"/>
          </a:xfrm>
          <a:prstGeom prst="rect">
            <a:avLst/>
          </a:prstGeom>
          <a:noFill/>
          <a:ln w="9525">
            <a:noFill/>
          </a:ln>
        </p:spPr>
        <p:txBody>
          <a:bodyPr>
            <a:spAutoFit/>
          </a:bodyPr>
          <a:p>
            <a:pPr>
              <a:lnSpc>
                <a:spcPct val="100000"/>
              </a:lnSpc>
              <a:spcBef>
                <a:spcPct val="50000"/>
              </a:spcBef>
            </a:pPr>
            <a:r>
              <a:rPr lang="zh-CN" altLang="en-US" sz="2400" b="0" dirty="0">
                <a:solidFill>
                  <a:srgbClr val="000000"/>
                </a:solidFill>
                <a:latin typeface="Tahoma" panose="020B0604030504040204" pitchFamily="34" charset="0"/>
              </a:rPr>
              <a:t>消费</a:t>
            </a:r>
            <a:endParaRPr lang="zh-CN" altLang="en-US" sz="2400" b="0">
              <a:solidFill>
                <a:srgbClr val="000000"/>
              </a:solidFill>
              <a:latin typeface="Tahoma" panose="020B0604030504040204" pitchFamily="34" charset="0"/>
            </a:endParaRPr>
          </a:p>
        </p:txBody>
      </p:sp>
      <p:sp>
        <p:nvSpPr>
          <p:cNvPr id="74761" name="文本框 74760"/>
          <p:cNvSpPr txBox="1"/>
          <p:nvPr/>
        </p:nvSpPr>
        <p:spPr>
          <a:xfrm>
            <a:off x="6019800" y="2667000"/>
            <a:ext cx="1676400" cy="457200"/>
          </a:xfrm>
          <a:prstGeom prst="rect">
            <a:avLst/>
          </a:prstGeom>
          <a:noFill/>
          <a:ln w="9525">
            <a:noFill/>
          </a:ln>
        </p:spPr>
        <p:txBody>
          <a:bodyPr>
            <a:spAutoFit/>
          </a:bodyPr>
          <a:p>
            <a:pPr>
              <a:lnSpc>
                <a:spcPct val="100000"/>
              </a:lnSpc>
              <a:spcBef>
                <a:spcPct val="50000"/>
              </a:spcBef>
            </a:pPr>
            <a:r>
              <a:rPr lang="zh-CN" altLang="en-US" sz="2400" b="0" dirty="0">
                <a:solidFill>
                  <a:srgbClr val="000000"/>
                </a:solidFill>
                <a:latin typeface="Tahoma" panose="020B0604030504040204" pitchFamily="34" charset="0"/>
              </a:rPr>
              <a:t>消费函数</a:t>
            </a:r>
            <a:endParaRPr lang="zh-CN" altLang="en-US" sz="2400" b="0">
              <a:solidFill>
                <a:srgbClr val="000000"/>
              </a:solidFill>
              <a:latin typeface="Tahoma" panose="020B0604030504040204" pitchFamily="34" charset="0"/>
            </a:endParaRPr>
          </a:p>
        </p:txBody>
      </p:sp>
      <p:sp>
        <p:nvSpPr>
          <p:cNvPr id="74762" name="文本框 74761"/>
          <p:cNvSpPr txBox="1"/>
          <p:nvPr/>
        </p:nvSpPr>
        <p:spPr>
          <a:xfrm>
            <a:off x="7239000" y="5029200"/>
            <a:ext cx="838200" cy="457200"/>
          </a:xfrm>
          <a:prstGeom prst="rect">
            <a:avLst/>
          </a:prstGeom>
          <a:noFill/>
          <a:ln w="9525">
            <a:noFill/>
          </a:ln>
        </p:spPr>
        <p:txBody>
          <a:bodyPr>
            <a:spAutoFit/>
          </a:bodyPr>
          <a:p>
            <a:pPr>
              <a:lnSpc>
                <a:spcPct val="100000"/>
              </a:lnSpc>
              <a:spcBef>
                <a:spcPct val="50000"/>
              </a:spcBef>
            </a:pPr>
            <a:r>
              <a:rPr lang="zh-CN" altLang="en-US" sz="2400" b="0" dirty="0">
                <a:solidFill>
                  <a:srgbClr val="000000"/>
                </a:solidFill>
                <a:latin typeface="Tahoma" panose="020B0604030504040204" pitchFamily="34" charset="0"/>
              </a:rPr>
              <a:t>收入</a:t>
            </a:r>
            <a:endParaRPr lang="zh-CN" altLang="en-US" sz="2400" b="0">
              <a:solidFill>
                <a:srgbClr val="000000"/>
              </a:solidFill>
              <a:latin typeface="Tahoma" panose="020B0604030504040204" pitchFamily="34" charset="0"/>
            </a:endParaRPr>
          </a:p>
        </p:txBody>
      </p:sp>
      <p:sp>
        <p:nvSpPr>
          <p:cNvPr id="74763" name="文本框 74762"/>
          <p:cNvSpPr txBox="1"/>
          <p:nvPr/>
        </p:nvSpPr>
        <p:spPr>
          <a:xfrm>
            <a:off x="1752600" y="5410200"/>
            <a:ext cx="914400" cy="457200"/>
          </a:xfrm>
          <a:prstGeom prst="rect">
            <a:avLst/>
          </a:prstGeom>
          <a:noFill/>
          <a:ln w="9525">
            <a:noFill/>
          </a:ln>
        </p:spPr>
        <p:txBody>
          <a:bodyPr>
            <a:spAutoFit/>
          </a:bodyPr>
          <a:p>
            <a:pPr>
              <a:lnSpc>
                <a:spcPct val="100000"/>
              </a:lnSpc>
              <a:spcBef>
                <a:spcPct val="50000"/>
              </a:spcBef>
            </a:pPr>
            <a:r>
              <a:rPr lang="en-US" altLang="zh-CN" sz="2400" b="0">
                <a:solidFill>
                  <a:srgbClr val="000000"/>
                </a:solidFill>
                <a:latin typeface="Tahoma" panose="020B0604030504040204" pitchFamily="34" charset="0"/>
              </a:rPr>
              <a:t>0</a:t>
            </a:r>
            <a:endParaRPr lang="en-US" altLang="zh-CN" sz="2400" b="0">
              <a:solidFill>
                <a:srgbClr val="000000"/>
              </a:solidFill>
              <a:latin typeface="Tahoma" panose="020B0604030504040204" pitchFamily="34" charset="0"/>
            </a:endParaRPr>
          </a:p>
        </p:txBody>
      </p:sp>
      <p:sp>
        <p:nvSpPr>
          <p:cNvPr id="74764" name="右大括号 74763"/>
          <p:cNvSpPr/>
          <p:nvPr/>
        </p:nvSpPr>
        <p:spPr>
          <a:xfrm>
            <a:off x="2362200" y="4114800"/>
            <a:ext cx="228600" cy="1143000"/>
          </a:xfrm>
          <a:prstGeom prst="rightBrace">
            <a:avLst>
              <a:gd name="adj1" fmla="val 41666"/>
              <a:gd name="adj2" fmla="val 50000"/>
            </a:avLst>
          </a:prstGeom>
          <a:noFill/>
          <a:ln w="38100" cap="flat" cmpd="sng">
            <a:solidFill>
              <a:schemeClr val="tx2"/>
            </a:solidFill>
            <a:prstDash val="solid"/>
            <a:headEnd type="none" w="med" len="med"/>
            <a:tailEnd type="none" w="med" len="med"/>
          </a:ln>
        </p:spPr>
        <p:txBody>
          <a:bodyPr/>
          <a:p>
            <a:endParaRPr lang="zh-CN" altLang="en-US"/>
          </a:p>
        </p:txBody>
      </p:sp>
      <p:sp>
        <p:nvSpPr>
          <p:cNvPr id="74765" name="文本框 74764"/>
          <p:cNvSpPr txBox="1"/>
          <p:nvPr/>
        </p:nvSpPr>
        <p:spPr>
          <a:xfrm>
            <a:off x="2743200" y="4495800"/>
            <a:ext cx="1447800" cy="336550"/>
          </a:xfrm>
          <a:prstGeom prst="rect">
            <a:avLst/>
          </a:prstGeom>
          <a:noFill/>
          <a:ln w="9525">
            <a:noFill/>
          </a:ln>
        </p:spPr>
        <p:txBody>
          <a:bodyPr>
            <a:spAutoFit/>
          </a:bodyPr>
          <a:p>
            <a:pPr>
              <a:lnSpc>
                <a:spcPct val="100000"/>
              </a:lnSpc>
              <a:spcBef>
                <a:spcPct val="50000"/>
              </a:spcBef>
            </a:pPr>
            <a:r>
              <a:rPr lang="zh-CN" altLang="en-US" sz="1600" b="0" dirty="0">
                <a:solidFill>
                  <a:srgbClr val="000000"/>
                </a:solidFill>
                <a:latin typeface="Tahoma" panose="020B0604030504040204" pitchFamily="34" charset="0"/>
              </a:rPr>
              <a:t>自主消费</a:t>
            </a:r>
            <a:r>
              <a:rPr lang="en-US" altLang="zh-CN" sz="1600">
                <a:solidFill>
                  <a:srgbClr val="000000"/>
                </a:solidFill>
                <a:latin typeface="Tahoma" panose="020B0604030504040204" pitchFamily="34" charset="0"/>
              </a:rPr>
              <a:t>C</a:t>
            </a:r>
            <a:r>
              <a:rPr lang="en-US" altLang="zh-CN" sz="1600" baseline="-25000">
                <a:solidFill>
                  <a:srgbClr val="000000"/>
                </a:solidFill>
                <a:latin typeface="Tahoma" panose="020B0604030504040204" pitchFamily="34" charset="0"/>
              </a:rPr>
              <a:t>a</a:t>
            </a:r>
            <a:endParaRPr lang="en-US" altLang="zh-CN" sz="1600" baseline="-25000">
              <a:solidFill>
                <a:srgbClr val="000000"/>
              </a:solidFill>
              <a:latin typeface="Tahoma" panose="020B060403050404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标题 75777"/>
          <p:cNvSpPr>
            <a:spLocks noGrp="1"/>
          </p:cNvSpPr>
          <p:nvPr>
            <p:ph type="title"/>
          </p:nvPr>
        </p:nvSpPr>
        <p:spPr>
          <a:xfrm>
            <a:off x="762000" y="549275"/>
            <a:ext cx="7772400" cy="5470525"/>
          </a:xfrm>
          <a:ln/>
        </p:spPr>
        <p:txBody>
          <a:bodyPr anchor="ctr" anchorCtr="0"/>
          <a:p>
            <a:pPr algn="l"/>
            <a:r>
              <a:rPr lang="zh-CN" altLang="en-US" sz="2400" b="1" dirty="0">
                <a:solidFill>
                  <a:srgbClr val="FF0000"/>
                </a:solidFill>
                <a:latin typeface="宋体" panose="02010600030101010101" pitchFamily="2" charset="-122"/>
              </a:rPr>
              <a:t>储蓄函数</a:t>
            </a:r>
            <a:br>
              <a:rPr lang="zh-CN" altLang="en-US" sz="2400" b="1" dirty="0">
                <a:solidFill>
                  <a:srgbClr val="FF0000"/>
                </a:solidFill>
                <a:latin typeface="宋体" panose="02010600030101010101" pitchFamily="2" charset="-122"/>
              </a:rPr>
            </a:br>
            <a:r>
              <a:rPr lang="zh-CN" altLang="en-US" sz="2000" b="1" dirty="0">
                <a:solidFill>
                  <a:srgbClr val="000000"/>
                </a:solidFill>
                <a:latin typeface="宋体" panose="02010600030101010101" pitchFamily="2" charset="-122"/>
              </a:rPr>
              <a:t>储蓄函数</a:t>
            </a:r>
            <a:r>
              <a:rPr lang="en-US" altLang="zh-CN"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是指储蓄与决定储蓄的各种因素之间的依存关系。</a:t>
            </a:r>
            <a:br>
              <a:rPr lang="zh-CN" altLang="en-US" sz="2000" b="1" dirty="0">
                <a:solidFill>
                  <a:srgbClr val="000000"/>
                </a:solidFill>
                <a:latin typeface="宋体" panose="02010600030101010101" pitchFamily="2" charset="-122"/>
              </a:rPr>
            </a:br>
            <a:r>
              <a:rPr lang="zh-CN" altLang="en-US" sz="2000" b="1" dirty="0">
                <a:solidFill>
                  <a:srgbClr val="000000"/>
                </a:solidFill>
                <a:latin typeface="宋体" panose="02010600030101010101" pitchFamily="2" charset="-122"/>
              </a:rPr>
              <a:t>在研究国民收入决定时，假定储蓄只受收入多少的影响。在其它条件不变的情况下，储蓄随收入变动而同方向变动。 </a:t>
            </a:r>
            <a:br>
              <a:rPr lang="zh-CN" altLang="en-US" sz="2000" b="1" dirty="0">
                <a:solidFill>
                  <a:srgbClr val="000000"/>
                </a:solidFill>
                <a:latin typeface="宋体" panose="02010600030101010101" pitchFamily="2" charset="-122"/>
              </a:rPr>
            </a:br>
            <a:r>
              <a:rPr lang="en-US" altLang="zh-CN" sz="2000" b="1">
                <a:solidFill>
                  <a:srgbClr val="000000"/>
                </a:solidFill>
                <a:latin typeface="宋体" panose="02010600030101010101" pitchFamily="2" charset="-122"/>
              </a:rPr>
              <a:t>S=f(Y)</a:t>
            </a:r>
            <a:br>
              <a:rPr lang="en-US" altLang="zh-CN" sz="2000" b="1">
                <a:solidFill>
                  <a:srgbClr val="000000"/>
                </a:solidFill>
                <a:latin typeface="宋体" panose="02010600030101010101" pitchFamily="2" charset="-122"/>
              </a:rPr>
            </a:br>
            <a:br>
              <a:rPr lang="en-US" altLang="zh-CN" sz="2000" b="1">
                <a:solidFill>
                  <a:srgbClr val="000000"/>
                </a:solidFill>
                <a:latin typeface="宋体" panose="02010600030101010101" pitchFamily="2" charset="-122"/>
              </a:rPr>
            </a:br>
            <a:r>
              <a:rPr lang="zh-CN" altLang="en-US" sz="2000" b="1" dirty="0">
                <a:solidFill>
                  <a:srgbClr val="000000"/>
                </a:solidFill>
                <a:latin typeface="宋体" panose="02010600030101010101" pitchFamily="2" charset="-122"/>
              </a:rPr>
              <a:t>平均储蓄倾向</a:t>
            </a:r>
            <a:r>
              <a:rPr lang="en-US" altLang="zh-CN" sz="2000" b="1">
                <a:solidFill>
                  <a:srgbClr val="000000"/>
                </a:solidFill>
                <a:latin typeface="宋体" panose="02010600030101010101" pitchFamily="2" charset="-122"/>
              </a:rPr>
              <a:t>(average propensity to save</a:t>
            </a:r>
            <a:r>
              <a:rPr lang="zh-CN" altLang="en-US"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简称</a:t>
            </a:r>
            <a:r>
              <a:rPr lang="en-US" altLang="zh-CN" sz="2000" b="1">
                <a:solidFill>
                  <a:srgbClr val="000000"/>
                </a:solidFill>
                <a:latin typeface="宋体" panose="02010600030101010101" pitchFamily="2" charset="-122"/>
              </a:rPr>
              <a:t>APS):APS=S/Y</a:t>
            </a:r>
            <a:r>
              <a:rPr lang="en-US" altLang="zh-CN" sz="2000" b="1" baseline="-25000">
                <a:solidFill>
                  <a:srgbClr val="000000"/>
                </a:solidFill>
                <a:latin typeface="宋体" panose="02010600030101010101" pitchFamily="2" charset="-122"/>
              </a:rPr>
              <a:t>d             </a:t>
            </a:r>
            <a:r>
              <a:rPr lang="en-US" altLang="zh-CN" sz="2000" b="1">
                <a:solidFill>
                  <a:srgbClr val="000000"/>
                </a:solidFill>
                <a:latin typeface="宋体" panose="02010600030101010101" pitchFamily="2" charset="-122"/>
              </a:rPr>
              <a:t>Y</a:t>
            </a:r>
            <a:r>
              <a:rPr lang="en-US" altLang="zh-CN" sz="2000" b="1" baseline="-25000">
                <a:solidFill>
                  <a:srgbClr val="000000"/>
                </a:solidFill>
                <a:latin typeface="宋体" panose="02010600030101010101" pitchFamily="2" charset="-122"/>
              </a:rPr>
              <a:t>d</a:t>
            </a:r>
            <a:r>
              <a:rPr lang="zh-CN" altLang="en-US" sz="2000" b="1" dirty="0">
                <a:solidFill>
                  <a:srgbClr val="000000"/>
                </a:solidFill>
                <a:latin typeface="宋体" panose="02010600030101010101" pitchFamily="2" charset="-122"/>
              </a:rPr>
              <a:t>可支配收入</a:t>
            </a:r>
            <a:br>
              <a:rPr lang="zh-CN" altLang="en-US" sz="2000" b="1" dirty="0">
                <a:solidFill>
                  <a:srgbClr val="000000"/>
                </a:solidFill>
                <a:latin typeface="宋体" panose="02010600030101010101" pitchFamily="2" charset="-122"/>
              </a:rPr>
            </a:br>
            <a:r>
              <a:rPr lang="zh-CN" altLang="en-US" sz="2000" b="1" dirty="0">
                <a:solidFill>
                  <a:srgbClr val="000000"/>
                </a:solidFill>
                <a:latin typeface="宋体" panose="02010600030101010101" pitchFamily="2" charset="-122"/>
              </a:rPr>
              <a:t>边际储蓄倾向</a:t>
            </a:r>
            <a:r>
              <a:rPr lang="en-US" altLang="zh-CN" sz="2000" b="1">
                <a:solidFill>
                  <a:srgbClr val="000000"/>
                </a:solidFill>
                <a:latin typeface="宋体" panose="02010600030101010101" pitchFamily="2" charset="-122"/>
              </a:rPr>
              <a:t>(marginal propensity to save</a:t>
            </a:r>
            <a:r>
              <a:rPr lang="zh-CN" altLang="en-US" sz="2000" b="1">
                <a:solidFill>
                  <a:srgbClr val="000000"/>
                </a:solidFill>
                <a:latin typeface="宋体" panose="02010600030101010101" pitchFamily="2" charset="-122"/>
              </a:rPr>
              <a:t>，</a:t>
            </a:r>
            <a:r>
              <a:rPr lang="zh-CN" altLang="en-US" sz="2000" b="1" dirty="0">
                <a:solidFill>
                  <a:srgbClr val="000000"/>
                </a:solidFill>
                <a:latin typeface="宋体" panose="02010600030101010101" pitchFamily="2" charset="-122"/>
              </a:rPr>
              <a:t>简称</a:t>
            </a:r>
            <a:r>
              <a:rPr lang="en-US" altLang="zh-CN" sz="2000" b="1">
                <a:solidFill>
                  <a:srgbClr val="000000"/>
                </a:solidFill>
                <a:latin typeface="宋体" panose="02010600030101010101" pitchFamily="2" charset="-122"/>
              </a:rPr>
              <a:t>MPS):MPS=ΔS/Δy</a:t>
            </a:r>
            <a:r>
              <a:rPr lang="en-US" altLang="zh-CN" sz="2000" b="1" baseline="-25000">
                <a:solidFill>
                  <a:srgbClr val="000000"/>
                </a:solidFill>
                <a:latin typeface="宋体" panose="02010600030101010101" pitchFamily="2" charset="-122"/>
              </a:rPr>
              <a:t>d      </a:t>
            </a:r>
            <a:r>
              <a:rPr lang="en-US" altLang="zh-CN" sz="2000" b="1">
                <a:solidFill>
                  <a:srgbClr val="000000"/>
                </a:solidFill>
                <a:latin typeface="宋体" panose="02010600030101010101" pitchFamily="2" charset="-122"/>
              </a:rPr>
              <a:t>Y</a:t>
            </a:r>
            <a:r>
              <a:rPr lang="en-US" altLang="zh-CN" sz="2000" b="1" baseline="-25000">
                <a:solidFill>
                  <a:srgbClr val="000000"/>
                </a:solidFill>
                <a:latin typeface="宋体" panose="02010600030101010101" pitchFamily="2" charset="-122"/>
              </a:rPr>
              <a:t>d</a:t>
            </a:r>
            <a:r>
              <a:rPr lang="zh-CN" altLang="en-US" sz="2000" b="1" dirty="0">
                <a:solidFill>
                  <a:srgbClr val="000000"/>
                </a:solidFill>
                <a:latin typeface="宋体" panose="02010600030101010101" pitchFamily="2" charset="-122"/>
              </a:rPr>
              <a:t>可支配收入</a:t>
            </a:r>
            <a:br>
              <a:rPr lang="zh-CN" altLang="en-US" sz="2000" b="1">
                <a:solidFill>
                  <a:srgbClr val="000000"/>
                </a:solidFill>
                <a:latin typeface="宋体" panose="02010600030101010101" pitchFamily="2" charset="-122"/>
              </a:rPr>
            </a:br>
            <a:br>
              <a:rPr lang="zh-CN" altLang="en-US" sz="2000" b="1">
                <a:solidFill>
                  <a:srgbClr val="000000"/>
                </a:solidFill>
                <a:latin typeface="宋体" panose="02010600030101010101" pitchFamily="2" charset="-122"/>
              </a:rPr>
            </a:br>
            <a:r>
              <a:rPr lang="en-US" altLang="zh-CN" sz="2000" b="1">
                <a:solidFill>
                  <a:srgbClr val="000000"/>
                </a:solidFill>
                <a:latin typeface="宋体" panose="02010600030101010101" pitchFamily="2" charset="-122"/>
              </a:rPr>
              <a:t>Y=C+S</a:t>
            </a:r>
            <a:br>
              <a:rPr lang="en-US" altLang="zh-CN" sz="2000" b="1">
                <a:solidFill>
                  <a:srgbClr val="000000"/>
                </a:solidFill>
                <a:latin typeface="宋体" panose="02010600030101010101" pitchFamily="2" charset="-122"/>
              </a:rPr>
            </a:br>
            <a:br>
              <a:rPr lang="en-US" altLang="zh-CN" sz="2000" b="1">
                <a:solidFill>
                  <a:srgbClr val="000000"/>
                </a:solidFill>
                <a:latin typeface="宋体" panose="02010600030101010101" pitchFamily="2" charset="-122"/>
              </a:rPr>
            </a:br>
            <a:r>
              <a:rPr lang="en-US" altLang="zh-CN" sz="2000" b="1">
                <a:solidFill>
                  <a:srgbClr val="000000"/>
                </a:solidFill>
                <a:latin typeface="宋体" panose="02010600030101010101" pitchFamily="2" charset="-122"/>
              </a:rPr>
              <a:t>S=</a:t>
            </a:r>
            <a:r>
              <a:rPr lang="en-US" altLang="zh-CN" sz="2000" b="1" baseline="-25000">
                <a:solidFill>
                  <a:srgbClr val="000000"/>
                </a:solidFill>
                <a:latin typeface="宋体" panose="02010600030101010101" pitchFamily="2" charset="-122"/>
              </a:rPr>
              <a:t> </a:t>
            </a:r>
            <a:r>
              <a:rPr lang="en-US" altLang="zh-CN" sz="2000" b="1">
                <a:solidFill>
                  <a:srgbClr val="000000"/>
                </a:solidFill>
                <a:latin typeface="宋体" panose="02010600030101010101" pitchFamily="2" charset="-122"/>
              </a:rPr>
              <a:t>Y</a:t>
            </a:r>
            <a:r>
              <a:rPr lang="en-US" altLang="zh-CN" sz="2000" b="1" baseline="-25000">
                <a:solidFill>
                  <a:srgbClr val="000000"/>
                </a:solidFill>
                <a:latin typeface="宋体" panose="02010600030101010101" pitchFamily="2" charset="-122"/>
              </a:rPr>
              <a:t>d</a:t>
            </a:r>
            <a:r>
              <a:rPr lang="en-US" altLang="zh-CN" sz="2000" b="1">
                <a:solidFill>
                  <a:srgbClr val="000000"/>
                </a:solidFill>
                <a:latin typeface="宋体" panose="02010600030101010101" pitchFamily="2" charset="-122"/>
              </a:rPr>
              <a:t>-C     S= Y</a:t>
            </a:r>
            <a:r>
              <a:rPr lang="en-US" altLang="zh-CN" sz="2000" b="1" baseline="-25000">
                <a:solidFill>
                  <a:srgbClr val="000000"/>
                </a:solidFill>
                <a:latin typeface="宋体" panose="02010600030101010101" pitchFamily="2" charset="-122"/>
              </a:rPr>
              <a:t>d</a:t>
            </a:r>
            <a:r>
              <a:rPr lang="en-US" altLang="zh-CN" sz="2000" b="1">
                <a:solidFill>
                  <a:srgbClr val="000000"/>
                </a:solidFill>
                <a:latin typeface="宋体" panose="02010600030101010101" pitchFamily="2" charset="-122"/>
              </a:rPr>
              <a:t> –(</a:t>
            </a:r>
            <a:r>
              <a:rPr lang="en-US" altLang="zh-CN" sz="2000" b="1" dirty="0" err="1">
                <a:solidFill>
                  <a:srgbClr val="000000"/>
                </a:solidFill>
                <a:latin typeface="宋体" panose="02010600030101010101" pitchFamily="2" charset="-122"/>
              </a:rPr>
              <a:t>C</a:t>
            </a:r>
            <a:r>
              <a:rPr lang="en-US" altLang="zh-CN" sz="2000" b="1" baseline="-25000" dirty="0" err="1">
                <a:solidFill>
                  <a:srgbClr val="000000"/>
                </a:solidFill>
                <a:latin typeface="宋体" panose="02010600030101010101" pitchFamily="2" charset="-122"/>
              </a:rPr>
              <a:t>a</a:t>
            </a:r>
            <a:r>
              <a:rPr lang="en-US" altLang="zh-CN" sz="2000" b="1" dirty="0" err="1">
                <a:solidFill>
                  <a:srgbClr val="000000"/>
                </a:solidFill>
                <a:latin typeface="宋体" panose="02010600030101010101" pitchFamily="2" charset="-122"/>
              </a:rPr>
              <a:t>+cY</a:t>
            </a:r>
            <a:r>
              <a:rPr lang="en-US" altLang="zh-CN" sz="2000" b="1" baseline="-25000" dirty="0" err="1">
                <a:solidFill>
                  <a:srgbClr val="000000"/>
                </a:solidFill>
                <a:latin typeface="宋体" panose="02010600030101010101" pitchFamily="2" charset="-122"/>
              </a:rPr>
              <a:t>d</a:t>
            </a:r>
            <a:r>
              <a:rPr lang="en-US" altLang="zh-CN" sz="2000" b="1">
                <a:solidFill>
                  <a:srgbClr val="000000"/>
                </a:solidFill>
                <a:latin typeface="宋体" panose="02010600030101010101" pitchFamily="2" charset="-122"/>
              </a:rPr>
              <a:t>)=- C</a:t>
            </a:r>
            <a:r>
              <a:rPr lang="en-US" altLang="zh-CN" sz="2000" b="1" baseline="-25000">
                <a:solidFill>
                  <a:srgbClr val="000000"/>
                </a:solidFill>
                <a:latin typeface="宋体" panose="02010600030101010101" pitchFamily="2" charset="-122"/>
              </a:rPr>
              <a:t>a</a:t>
            </a:r>
            <a:r>
              <a:rPr lang="en-US" altLang="zh-CN" sz="2000" b="1">
                <a:solidFill>
                  <a:srgbClr val="000000"/>
                </a:solidFill>
                <a:latin typeface="宋体" panose="02010600030101010101" pitchFamily="2" charset="-122"/>
              </a:rPr>
              <a:t> +(1-c) Y</a:t>
            </a:r>
            <a:r>
              <a:rPr lang="en-US" altLang="zh-CN" sz="2000" b="1" baseline="-25000">
                <a:solidFill>
                  <a:srgbClr val="000000"/>
                </a:solidFill>
                <a:latin typeface="宋体" panose="02010600030101010101" pitchFamily="2" charset="-122"/>
              </a:rPr>
              <a:t>d</a:t>
            </a:r>
            <a:br>
              <a:rPr lang="en-US" altLang="zh-CN" sz="2000" b="1">
                <a:solidFill>
                  <a:srgbClr val="000000"/>
                </a:solidFill>
                <a:latin typeface="宋体" panose="02010600030101010101" pitchFamily="2" charset="-122"/>
              </a:rPr>
            </a:br>
            <a:r>
              <a:rPr lang="en-US" altLang="zh-CN" sz="2000" b="1">
                <a:solidFill>
                  <a:srgbClr val="000000"/>
                </a:solidFill>
                <a:latin typeface="宋体" panose="02010600030101010101" pitchFamily="2" charset="-122"/>
              </a:rPr>
              <a:t>APC+APS=1</a:t>
            </a:r>
            <a:br>
              <a:rPr lang="en-US" altLang="zh-CN" sz="2000" b="1">
                <a:solidFill>
                  <a:srgbClr val="000000"/>
                </a:solidFill>
                <a:latin typeface="宋体" panose="02010600030101010101" pitchFamily="2" charset="-122"/>
              </a:rPr>
            </a:br>
            <a:r>
              <a:rPr lang="en-US" altLang="zh-CN" sz="2000" b="1">
                <a:solidFill>
                  <a:srgbClr val="000000"/>
                </a:solidFill>
                <a:latin typeface="宋体" panose="02010600030101010101" pitchFamily="2" charset="-122"/>
              </a:rPr>
              <a:t>MPC+MPS=1</a:t>
            </a:r>
            <a:br>
              <a:rPr lang="en-US" altLang="zh-CN" sz="2000" b="1">
                <a:solidFill>
                  <a:srgbClr val="000000"/>
                </a:solidFill>
                <a:latin typeface="宋体" panose="02010600030101010101" pitchFamily="2" charset="-122"/>
              </a:rPr>
            </a:br>
            <a:endParaRPr lang="en-US" altLang="zh-CN">
              <a:latin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3" name="文本占位符 76802"/>
          <p:cNvSpPr>
            <a:spLocks noGrp="1"/>
          </p:cNvSpPr>
          <p:nvPr>
            <p:ph type="body" idx="1"/>
          </p:nvPr>
        </p:nvSpPr>
        <p:spPr>
          <a:xfrm>
            <a:off x="381000" y="381000"/>
            <a:ext cx="8229600" cy="5638800"/>
          </a:xfrm>
          <a:ln/>
        </p:spPr>
        <p:txBody>
          <a:bodyPr/>
          <a:p>
            <a:pPr marL="0" indent="0">
              <a:buNone/>
            </a:pPr>
            <a:r>
              <a:rPr lang="zh-CN" altLang="en-US" b="1" dirty="0">
                <a:solidFill>
                  <a:srgbClr val="FF0000"/>
                </a:solidFill>
                <a:latin typeface="宋体" panose="02010600030101010101" pitchFamily="2" charset="-122"/>
              </a:rPr>
              <a:t>生命周期储蓄与永久性收入假说</a:t>
            </a:r>
            <a:endParaRPr lang="zh-CN" altLang="en-US" b="1" dirty="0">
              <a:solidFill>
                <a:srgbClr val="FF0000"/>
              </a:solidFill>
              <a:latin typeface="宋体" panose="02010600030101010101" pitchFamily="2" charset="-122"/>
            </a:endParaRPr>
          </a:p>
          <a:p>
            <a:pPr marL="0" indent="0">
              <a:buNone/>
            </a:pPr>
            <a:r>
              <a:rPr lang="zh-CN" altLang="en-US" b="1" dirty="0">
                <a:solidFill>
                  <a:srgbClr val="FF0000"/>
                </a:solidFill>
                <a:latin typeface="宋体" panose="02010600030101010101" pitchFamily="2" charset="-122"/>
              </a:rPr>
              <a:t>生命周期储蓄</a:t>
            </a:r>
            <a:r>
              <a:rPr lang="en-US" altLang="zh-CN" b="1">
                <a:solidFill>
                  <a:srgbClr val="FF0000"/>
                </a:solidFill>
                <a:latin typeface="宋体" panose="02010600030101010101" pitchFamily="2" charset="-122"/>
              </a:rPr>
              <a:t>:</a:t>
            </a:r>
            <a:r>
              <a:rPr lang="zh-CN" altLang="en-US" b="1" dirty="0">
                <a:solidFill>
                  <a:srgbClr val="000000"/>
                </a:solidFill>
                <a:latin typeface="宋体" panose="02010600030101010101" pitchFamily="2" charset="-122"/>
              </a:rPr>
              <a:t>意思是说个人会在具有工作能力的期间储蓄。这样做不仅为了消费，最重要还是为未来打算，让自己能安享退休后生活。</a:t>
            </a:r>
            <a:endParaRPr lang="zh-CN" altLang="en-US" b="1" dirty="0">
              <a:solidFill>
                <a:srgbClr val="000000"/>
              </a:solidFill>
              <a:latin typeface="宋体" panose="02010600030101010101" pitchFamily="2" charset="-122"/>
            </a:endParaRPr>
          </a:p>
          <a:p>
            <a:pPr marL="0" indent="0">
              <a:buNone/>
            </a:pPr>
            <a:r>
              <a:rPr lang="zh-CN" altLang="en-US" b="1" dirty="0">
                <a:solidFill>
                  <a:srgbClr val="FF0000"/>
                </a:solidFill>
                <a:latin typeface="宋体" panose="02010600030101010101" pitchFamily="2" charset="-122"/>
              </a:rPr>
              <a:t>永久性收入假说</a:t>
            </a:r>
            <a:r>
              <a:rPr lang="en-US" altLang="zh-CN" b="1">
                <a:solidFill>
                  <a:srgbClr val="FF0000"/>
                </a:solidFill>
                <a:latin typeface="宋体" panose="02010600030101010101" pitchFamily="2" charset="-122"/>
              </a:rPr>
              <a:t>:</a:t>
            </a:r>
            <a:r>
              <a:rPr lang="zh-CN" altLang="en-US" b="1" dirty="0">
                <a:solidFill>
                  <a:srgbClr val="000000"/>
                </a:solidFill>
                <a:latin typeface="宋体" panose="02010600030101010101" pitchFamily="2" charset="-122"/>
              </a:rPr>
              <a:t>指的是消费取决于当前收入的程度，远不如取决于永久性的程度。</a:t>
            </a:r>
            <a:endParaRPr lang="zh-CN" altLang="en-US" b="1" dirty="0">
              <a:solidFill>
                <a:srgbClr val="000000"/>
              </a:solidFill>
              <a:latin typeface="宋体" panose="02010600030101010101" pitchFamily="2" charset="-122"/>
            </a:endParaRPr>
          </a:p>
          <a:p>
            <a:pPr marL="0" indent="0">
              <a:buNone/>
            </a:pPr>
            <a:r>
              <a:rPr lang="zh-CN" altLang="en-US" b="1" dirty="0">
                <a:solidFill>
                  <a:srgbClr val="000000"/>
                </a:solidFill>
                <a:latin typeface="宋体" panose="02010600030101010101" pitchFamily="2" charset="-122"/>
              </a:rPr>
              <a:t>影响消费的其它因素</a:t>
            </a:r>
            <a:r>
              <a:rPr lang="en-US" altLang="zh-CN" b="1">
                <a:solidFill>
                  <a:srgbClr val="000000"/>
                </a:solidFill>
                <a:latin typeface="宋体" panose="02010600030101010101" pitchFamily="2" charset="-122"/>
              </a:rPr>
              <a:t>:</a:t>
            </a:r>
            <a:r>
              <a:rPr lang="zh-CN" altLang="en-US" b="1" dirty="0">
                <a:solidFill>
                  <a:srgbClr val="FF0000"/>
                </a:solidFill>
                <a:latin typeface="宋体" panose="02010600030101010101" pitchFamily="2" charset="-122"/>
              </a:rPr>
              <a:t>收入分配</a:t>
            </a:r>
            <a:r>
              <a:rPr lang="zh-CN" altLang="en-US" b="1" dirty="0">
                <a:solidFill>
                  <a:srgbClr val="000000"/>
                </a:solidFill>
                <a:latin typeface="宋体" panose="02010600030101010101" pitchFamily="2" charset="-122"/>
              </a:rPr>
              <a:t>。</a:t>
            </a:r>
            <a:endParaRPr lang="zh-CN" altLang="en-US" b="1" dirty="0">
              <a:solidFill>
                <a:srgbClr val="000000"/>
              </a:solidFill>
              <a:latin typeface="宋体" panose="02010600030101010101" pitchFamily="2" charset="-122"/>
            </a:endParaRPr>
          </a:p>
          <a:p>
            <a:pPr marL="0" indent="0">
              <a:buNone/>
            </a:pPr>
            <a:r>
              <a:rPr lang="zh-CN" altLang="en-US" b="1" dirty="0">
                <a:solidFill>
                  <a:srgbClr val="000000"/>
                </a:solidFill>
                <a:latin typeface="宋体" panose="02010600030101010101" pitchFamily="2" charset="-122"/>
              </a:rPr>
              <a:t>高收入家庭消费倾向较小，国民收入分配越平均，全国平均消费倾向就会比较大。</a:t>
            </a:r>
            <a:endParaRPr lang="zh-CN" altLang="en-US" b="1" dirty="0">
              <a:solidFill>
                <a:srgbClr val="000000"/>
              </a:solidFill>
              <a:latin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标题 77825"/>
          <p:cNvSpPr>
            <a:spLocks noGrp="1"/>
          </p:cNvSpPr>
          <p:nvPr>
            <p:ph type="title"/>
          </p:nvPr>
        </p:nvSpPr>
        <p:spPr>
          <a:ln/>
        </p:spPr>
        <p:txBody>
          <a:bodyPr anchor="ctr" anchorCtr="0"/>
          <a:p>
            <a:endParaRPr dirty="0"/>
          </a:p>
        </p:txBody>
      </p:sp>
      <p:sp>
        <p:nvSpPr>
          <p:cNvPr id="77827" name="文本占位符 77826"/>
          <p:cNvSpPr>
            <a:spLocks noGrp="1"/>
          </p:cNvSpPr>
          <p:nvPr>
            <p:ph type="body" idx="1"/>
          </p:nvPr>
        </p:nvSpPr>
        <p:spPr>
          <a:xfrm>
            <a:off x="533400" y="457200"/>
            <a:ext cx="8077200" cy="5562600"/>
          </a:xfrm>
          <a:ln/>
        </p:spPr>
        <p:txBody>
          <a:bodyPr/>
          <a:p>
            <a:pPr marL="0" indent="0">
              <a:lnSpc>
                <a:spcPct val="90000"/>
              </a:lnSpc>
              <a:buNone/>
            </a:pPr>
            <a:r>
              <a:rPr lang="zh-CN" altLang="en-US" sz="2400" dirty="0">
                <a:solidFill>
                  <a:srgbClr val="000000"/>
                </a:solidFill>
                <a:latin typeface="宋体" panose="02010600030101010101" pitchFamily="2" charset="-122"/>
              </a:rPr>
              <a:t>投资行为及其影响</a:t>
            </a:r>
            <a:endParaRPr lang="zh-CN" altLang="en-US" sz="2400" dirty="0">
              <a:solidFill>
                <a:srgbClr val="000000"/>
              </a:solidFill>
              <a:latin typeface="宋体" panose="02010600030101010101" pitchFamily="2" charset="-122"/>
            </a:endParaRPr>
          </a:p>
          <a:p>
            <a:pPr marL="0" indent="0">
              <a:lnSpc>
                <a:spcPct val="90000"/>
              </a:lnSpc>
              <a:buNone/>
            </a:pPr>
            <a:r>
              <a:rPr lang="zh-CN" altLang="en-US" sz="2400" b="1" dirty="0">
                <a:solidFill>
                  <a:srgbClr val="FF0000"/>
                </a:solidFill>
                <a:latin typeface="宋体" panose="02010600030101010101" pitchFamily="2" charset="-122"/>
              </a:rPr>
              <a:t>宏观经济学的投资</a:t>
            </a:r>
            <a:r>
              <a:rPr lang="en-US" altLang="zh-CN" sz="2400">
                <a:solidFill>
                  <a:srgbClr val="000000"/>
                </a:solidFill>
                <a:latin typeface="宋体" panose="02010600030101010101" pitchFamily="2" charset="-122"/>
              </a:rPr>
              <a:t>:</a:t>
            </a:r>
            <a:r>
              <a:rPr lang="zh-CN" altLang="en-US" sz="2400" dirty="0">
                <a:solidFill>
                  <a:srgbClr val="000000"/>
                </a:solidFill>
                <a:latin typeface="宋体" panose="02010600030101010101" pitchFamily="2" charset="-122"/>
              </a:rPr>
              <a:t>是指厂商或民间新置的机械设备、新建的厂房，以及增加的存货。</a:t>
            </a:r>
            <a:endParaRPr lang="zh-CN" altLang="en-US" sz="2400" dirty="0">
              <a:solidFill>
                <a:srgbClr val="000000"/>
              </a:solidFill>
              <a:latin typeface="宋体" panose="02010600030101010101" pitchFamily="2" charset="-122"/>
            </a:endParaRPr>
          </a:p>
          <a:p>
            <a:pPr marL="0" indent="0">
              <a:lnSpc>
                <a:spcPct val="90000"/>
              </a:lnSpc>
              <a:buNone/>
            </a:pPr>
            <a:r>
              <a:rPr lang="zh-CN" altLang="en-US" sz="2400" dirty="0">
                <a:solidFill>
                  <a:srgbClr val="000000"/>
                </a:solidFill>
                <a:latin typeface="宋体" panose="02010600030101010101" pitchFamily="2" charset="-122"/>
              </a:rPr>
              <a:t>投资总值</a:t>
            </a:r>
            <a:r>
              <a:rPr lang="en-US" altLang="zh-CN" sz="2400">
                <a:solidFill>
                  <a:srgbClr val="000000"/>
                </a:solidFill>
                <a:latin typeface="宋体" panose="02010600030101010101" pitchFamily="2" charset="-122"/>
              </a:rPr>
              <a:t>-</a:t>
            </a:r>
            <a:r>
              <a:rPr lang="zh-CN" altLang="en-US" sz="2400" dirty="0">
                <a:solidFill>
                  <a:srgbClr val="000000"/>
                </a:solidFill>
                <a:latin typeface="宋体" panose="02010600030101010101" pitchFamily="2" charset="-122"/>
              </a:rPr>
              <a:t>投资净值</a:t>
            </a:r>
            <a:r>
              <a:rPr lang="en-US" altLang="zh-CN" sz="2400">
                <a:solidFill>
                  <a:srgbClr val="000000"/>
                </a:solidFill>
                <a:latin typeface="宋体" panose="02010600030101010101" pitchFamily="2" charset="-122"/>
              </a:rPr>
              <a:t>=</a:t>
            </a:r>
            <a:r>
              <a:rPr lang="zh-CN" altLang="en-US" sz="2400" dirty="0">
                <a:solidFill>
                  <a:srgbClr val="000000"/>
                </a:solidFill>
                <a:latin typeface="宋体" panose="02010600030101010101" pitchFamily="2" charset="-122"/>
              </a:rPr>
              <a:t>折旧</a:t>
            </a:r>
            <a:endParaRPr lang="zh-CN" altLang="en-US" sz="2400" dirty="0">
              <a:solidFill>
                <a:srgbClr val="000000"/>
              </a:solidFill>
              <a:latin typeface="宋体" panose="02010600030101010101" pitchFamily="2" charset="-122"/>
            </a:endParaRPr>
          </a:p>
          <a:p>
            <a:pPr marL="0" indent="0">
              <a:lnSpc>
                <a:spcPct val="90000"/>
              </a:lnSpc>
              <a:buNone/>
            </a:pPr>
            <a:r>
              <a:rPr lang="zh-CN" altLang="en-US" sz="2400" dirty="0">
                <a:solidFill>
                  <a:srgbClr val="000000"/>
                </a:solidFill>
                <a:latin typeface="宋体" panose="02010600030101010101" pitchFamily="2" charset="-122"/>
              </a:rPr>
              <a:t>固定资本投资</a:t>
            </a:r>
            <a:r>
              <a:rPr lang="en-US" altLang="zh-CN" sz="2400">
                <a:solidFill>
                  <a:srgbClr val="000000"/>
                </a:solidFill>
                <a:latin typeface="宋体" panose="02010600030101010101" pitchFamily="2" charset="-122"/>
              </a:rPr>
              <a:t>:</a:t>
            </a:r>
            <a:r>
              <a:rPr lang="zh-CN" altLang="en-US" sz="2400" dirty="0">
                <a:solidFill>
                  <a:srgbClr val="000000"/>
                </a:solidFill>
                <a:latin typeface="宋体" panose="02010600030101010101" pitchFamily="2" charset="-122"/>
              </a:rPr>
              <a:t>是指对新的机械设备和建筑物的投资，而固定资本投资也有总值与净值之分。</a:t>
            </a:r>
            <a:endParaRPr lang="zh-CN" altLang="en-US" sz="2400" dirty="0">
              <a:solidFill>
                <a:srgbClr val="000000"/>
              </a:solidFill>
              <a:latin typeface="宋体" panose="02010600030101010101" pitchFamily="2" charset="-122"/>
            </a:endParaRPr>
          </a:p>
          <a:p>
            <a:pPr marL="0" indent="0">
              <a:lnSpc>
                <a:spcPct val="90000"/>
              </a:lnSpc>
              <a:buNone/>
            </a:pPr>
            <a:r>
              <a:rPr lang="zh-CN" altLang="en-US" sz="2400" b="1" dirty="0">
                <a:solidFill>
                  <a:srgbClr val="FF0000"/>
                </a:solidFill>
                <a:latin typeface="宋体" panose="02010600030101010101" pitchFamily="2" charset="-122"/>
              </a:rPr>
              <a:t>影响投资需求的因素</a:t>
            </a:r>
            <a:r>
              <a:rPr lang="en-US" altLang="zh-CN" sz="2400">
                <a:solidFill>
                  <a:srgbClr val="000000"/>
                </a:solidFill>
                <a:latin typeface="宋体" panose="02010600030101010101" pitchFamily="2" charset="-122"/>
              </a:rPr>
              <a:t>:</a:t>
            </a:r>
            <a:r>
              <a:rPr lang="zh-CN" altLang="en-US" sz="2400" dirty="0">
                <a:solidFill>
                  <a:srgbClr val="000000"/>
                </a:solidFill>
                <a:latin typeface="宋体" panose="02010600030101010101" pitchFamily="2" charset="-122"/>
              </a:rPr>
              <a:t>预期的投资</a:t>
            </a:r>
            <a:r>
              <a:rPr lang="zh-CN" altLang="en-US" sz="2400" dirty="0">
                <a:solidFill>
                  <a:srgbClr val="FF0000"/>
                </a:solidFill>
                <a:latin typeface="宋体" panose="02010600030101010101" pitchFamily="2" charset="-122"/>
              </a:rPr>
              <a:t>收益</a:t>
            </a:r>
            <a:r>
              <a:rPr lang="zh-CN" altLang="en-US" sz="2400" dirty="0">
                <a:solidFill>
                  <a:srgbClr val="000000"/>
                </a:solidFill>
                <a:latin typeface="宋体" panose="02010600030101010101" pitchFamily="2" charset="-122"/>
              </a:rPr>
              <a:t>和所需的投资</a:t>
            </a:r>
            <a:r>
              <a:rPr lang="zh-CN" altLang="en-US" sz="2400" dirty="0">
                <a:solidFill>
                  <a:srgbClr val="FF0000"/>
                </a:solidFill>
                <a:latin typeface="宋体" panose="02010600030101010101" pitchFamily="2" charset="-122"/>
              </a:rPr>
              <a:t>成本</a:t>
            </a:r>
            <a:r>
              <a:rPr lang="zh-CN" altLang="en-US" sz="2400" dirty="0">
                <a:solidFill>
                  <a:srgbClr val="000000"/>
                </a:solidFill>
                <a:latin typeface="宋体" panose="02010600030101010101" pitchFamily="2" charset="-122"/>
              </a:rPr>
              <a:t>。</a:t>
            </a:r>
            <a:endParaRPr lang="zh-CN" altLang="en-US" sz="2400" dirty="0">
              <a:solidFill>
                <a:srgbClr val="000000"/>
              </a:solidFill>
              <a:latin typeface="宋体" panose="02010600030101010101" pitchFamily="2" charset="-122"/>
            </a:endParaRPr>
          </a:p>
          <a:p>
            <a:pPr marL="0" indent="0">
              <a:lnSpc>
                <a:spcPct val="90000"/>
              </a:lnSpc>
              <a:buNone/>
            </a:pPr>
            <a:r>
              <a:rPr lang="zh-CN" altLang="en-US" sz="2400" dirty="0">
                <a:solidFill>
                  <a:srgbClr val="000000"/>
                </a:solidFill>
                <a:latin typeface="宋体" panose="02010600030101010101" pitchFamily="2" charset="-122"/>
              </a:rPr>
              <a:t>投资边际收益大于或等于边际成本时，理性的投资者才会进行投资。</a:t>
            </a:r>
            <a:endParaRPr lang="zh-CN" altLang="en-US" sz="2400" dirty="0">
              <a:solidFill>
                <a:srgbClr val="000000"/>
              </a:solidFill>
              <a:latin typeface="宋体" panose="02010600030101010101" pitchFamily="2" charset="-122"/>
            </a:endParaRPr>
          </a:p>
          <a:p>
            <a:pPr marL="0" indent="0">
              <a:lnSpc>
                <a:spcPct val="90000"/>
              </a:lnSpc>
              <a:buNone/>
            </a:pPr>
            <a:r>
              <a:rPr lang="zh-CN" altLang="en-US" sz="2400" dirty="0">
                <a:solidFill>
                  <a:srgbClr val="000000"/>
                </a:solidFill>
                <a:latin typeface="宋体" panose="02010600030101010101" pitchFamily="2" charset="-122"/>
              </a:rPr>
              <a:t>投资的来源是储蓄。</a:t>
            </a:r>
            <a:endParaRPr lang="zh-CN" altLang="en-US" sz="2400" dirty="0">
              <a:solidFill>
                <a:srgbClr val="000000"/>
              </a:solidFill>
              <a:latin typeface="宋体" panose="02010600030101010101" pitchFamily="2" charset="-122"/>
            </a:endParaRPr>
          </a:p>
          <a:p>
            <a:pPr marL="0" indent="0">
              <a:lnSpc>
                <a:spcPct val="90000"/>
              </a:lnSpc>
              <a:buNone/>
            </a:pPr>
            <a:r>
              <a:rPr lang="zh-CN" altLang="en-US" sz="2400" dirty="0">
                <a:solidFill>
                  <a:srgbClr val="000000"/>
                </a:solidFill>
                <a:latin typeface="宋体" panose="02010600030101010101" pitchFamily="2" charset="-122"/>
              </a:rPr>
              <a:t>不考虑政府部门和国外部门的消费和投资时</a:t>
            </a:r>
            <a:r>
              <a:rPr lang="en-US" altLang="zh-CN" sz="2400">
                <a:solidFill>
                  <a:srgbClr val="000000"/>
                </a:solidFill>
                <a:latin typeface="宋体" panose="02010600030101010101" pitchFamily="2" charset="-122"/>
              </a:rPr>
              <a:t>:</a:t>
            </a:r>
            <a:endParaRPr lang="en-US" altLang="zh-CN" sz="2400">
              <a:solidFill>
                <a:srgbClr val="000000"/>
              </a:solidFill>
              <a:latin typeface="宋体" panose="02010600030101010101" pitchFamily="2" charset="-122"/>
            </a:endParaRPr>
          </a:p>
          <a:p>
            <a:pPr marL="0" indent="0">
              <a:lnSpc>
                <a:spcPct val="90000"/>
              </a:lnSpc>
              <a:buNone/>
            </a:pPr>
            <a:r>
              <a:rPr lang="zh-CN" altLang="en-US" sz="2400" dirty="0">
                <a:solidFill>
                  <a:srgbClr val="000000"/>
                </a:solidFill>
                <a:latin typeface="宋体" panose="02010600030101010101" pitchFamily="2" charset="-122"/>
              </a:rPr>
              <a:t>总产出</a:t>
            </a:r>
            <a:r>
              <a:rPr lang="en-US" altLang="zh-CN" sz="2400">
                <a:solidFill>
                  <a:srgbClr val="000000"/>
                </a:solidFill>
                <a:latin typeface="宋体" panose="02010600030101010101" pitchFamily="2" charset="-122"/>
              </a:rPr>
              <a:t>Y=C+S</a:t>
            </a:r>
            <a:endParaRPr lang="en-US" altLang="zh-CN" sz="2400">
              <a:solidFill>
                <a:srgbClr val="000000"/>
              </a:solidFill>
              <a:latin typeface="宋体" panose="02010600030101010101" pitchFamily="2" charset="-122"/>
            </a:endParaRPr>
          </a:p>
          <a:p>
            <a:pPr marL="0" indent="0">
              <a:lnSpc>
                <a:spcPct val="90000"/>
              </a:lnSpc>
              <a:buNone/>
            </a:pPr>
            <a:r>
              <a:rPr lang="zh-CN" altLang="en-US" sz="2400" dirty="0">
                <a:solidFill>
                  <a:srgbClr val="000000"/>
                </a:solidFill>
                <a:latin typeface="宋体" panose="02010600030101010101" pitchFamily="2" charset="-122"/>
              </a:rPr>
              <a:t>总需求</a:t>
            </a:r>
            <a:r>
              <a:rPr lang="en-US" altLang="zh-CN" sz="2400">
                <a:solidFill>
                  <a:srgbClr val="000000"/>
                </a:solidFill>
                <a:latin typeface="宋体" panose="02010600030101010101" pitchFamily="2" charset="-122"/>
              </a:rPr>
              <a:t>Y=C+I</a:t>
            </a:r>
            <a:endParaRPr lang="en-US" altLang="zh-CN" sz="2400">
              <a:solidFill>
                <a:srgbClr val="000000"/>
              </a:solidFill>
              <a:latin typeface="宋体" panose="02010600030101010101" pitchFamily="2" charset="-122"/>
            </a:endParaRPr>
          </a:p>
          <a:p>
            <a:pPr marL="0" indent="0">
              <a:lnSpc>
                <a:spcPct val="90000"/>
              </a:lnSpc>
              <a:buNone/>
            </a:pPr>
            <a:r>
              <a:rPr lang="zh-CN" altLang="en-US" sz="2400" dirty="0">
                <a:solidFill>
                  <a:srgbClr val="000000"/>
                </a:solidFill>
                <a:latin typeface="宋体" panose="02010600030101010101" pitchFamily="2" charset="-122"/>
              </a:rPr>
              <a:t>均衡时</a:t>
            </a:r>
            <a:r>
              <a:rPr lang="en-US" altLang="zh-CN" sz="2400">
                <a:solidFill>
                  <a:srgbClr val="000000"/>
                </a:solidFill>
                <a:latin typeface="宋体" panose="02010600030101010101" pitchFamily="2" charset="-122"/>
              </a:rPr>
              <a:t>: </a:t>
            </a:r>
            <a:r>
              <a:rPr lang="zh-CN" altLang="en-US" sz="2400" dirty="0">
                <a:solidFill>
                  <a:srgbClr val="000000"/>
                </a:solidFill>
                <a:latin typeface="宋体" panose="02010600030101010101" pitchFamily="2" charset="-122"/>
              </a:rPr>
              <a:t>总供给</a:t>
            </a:r>
            <a:r>
              <a:rPr lang="en-US" altLang="zh-CN" sz="2400">
                <a:solidFill>
                  <a:srgbClr val="000000"/>
                </a:solidFill>
                <a:latin typeface="宋体" panose="02010600030101010101" pitchFamily="2" charset="-122"/>
              </a:rPr>
              <a:t>=</a:t>
            </a:r>
            <a:r>
              <a:rPr lang="zh-CN" altLang="en-US" sz="2400" dirty="0">
                <a:solidFill>
                  <a:srgbClr val="000000"/>
                </a:solidFill>
                <a:latin typeface="宋体" panose="02010600030101010101" pitchFamily="2" charset="-122"/>
              </a:rPr>
              <a:t>总需求  </a:t>
            </a:r>
            <a:r>
              <a:rPr lang="en-US" altLang="zh-CN" sz="2400">
                <a:solidFill>
                  <a:srgbClr val="000000"/>
                </a:solidFill>
                <a:latin typeface="宋体" panose="02010600030101010101" pitchFamily="2" charset="-122"/>
              </a:rPr>
              <a:t>S=I</a:t>
            </a:r>
            <a:endParaRPr lang="en-US" altLang="zh-CN" sz="2400">
              <a:solidFill>
                <a:srgbClr val="000000"/>
              </a:solidFill>
              <a:latin typeface="宋体" panose="0201060003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标题 78849"/>
          <p:cNvSpPr>
            <a:spLocks noGrp="1"/>
          </p:cNvSpPr>
          <p:nvPr>
            <p:ph type="title"/>
          </p:nvPr>
        </p:nvSpPr>
        <p:spPr>
          <a:xfrm>
            <a:off x="684213" y="333375"/>
            <a:ext cx="7772400" cy="1143000"/>
          </a:xfrm>
          <a:ln/>
        </p:spPr>
        <p:txBody>
          <a:bodyPr anchor="ctr" anchorCtr="0"/>
          <a:p>
            <a:pPr algn="l"/>
            <a:r>
              <a:rPr lang="zh-CN" altLang="en-US" b="1" dirty="0">
                <a:solidFill>
                  <a:srgbClr val="FF0000"/>
                </a:solidFill>
              </a:rPr>
              <a:t>凯恩斯的均衡收入模型</a:t>
            </a:r>
            <a:br>
              <a:rPr lang="zh-CN" altLang="en-US" b="1" dirty="0">
                <a:solidFill>
                  <a:srgbClr val="FF0000"/>
                </a:solidFill>
              </a:rPr>
            </a:br>
            <a:r>
              <a:rPr lang="zh-CN" altLang="en-US" sz="2800" b="1" dirty="0">
                <a:solidFill>
                  <a:srgbClr val="FF0000"/>
                </a:solidFill>
              </a:rPr>
              <a:t>两部门经济中国民收入的构成</a:t>
            </a:r>
            <a:endParaRPr lang="zh-CN" altLang="en-US" sz="2800" b="1">
              <a:solidFill>
                <a:srgbClr val="FF0000"/>
              </a:solidFill>
            </a:endParaRPr>
          </a:p>
        </p:txBody>
      </p:sp>
      <p:sp>
        <p:nvSpPr>
          <p:cNvPr id="78851" name="文本占位符 78850"/>
          <p:cNvSpPr>
            <a:spLocks noGrp="1"/>
          </p:cNvSpPr>
          <p:nvPr>
            <p:ph type="body" idx="1"/>
          </p:nvPr>
        </p:nvSpPr>
        <p:spPr>
          <a:ln/>
        </p:spPr>
        <p:txBody>
          <a:bodyPr/>
          <a:p>
            <a:pPr marL="0" indent="0">
              <a:lnSpc>
                <a:spcPct val="90000"/>
              </a:lnSpc>
              <a:buNone/>
            </a:pPr>
            <a:r>
              <a:rPr lang="zh-CN" altLang="en-US" sz="2800" b="1" dirty="0">
                <a:solidFill>
                  <a:srgbClr val="000000"/>
                </a:solidFill>
                <a:latin typeface="宋体" panose="02010600030101010101" pitchFamily="2" charset="-122"/>
              </a:rPr>
              <a:t>国民收入</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各种生产要素供给的总和</a:t>
            </a:r>
            <a:endParaRPr lang="zh-CN" altLang="en-US" sz="2800" b="1"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        </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各种生产要素所得的收入的总和</a:t>
            </a:r>
            <a:endParaRPr lang="zh-CN" altLang="en-US" sz="2800" b="1"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        </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工资</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利息</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地租</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利润</a:t>
            </a:r>
            <a:endParaRPr lang="zh-CN" altLang="en-US" sz="2800" b="1"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总供给</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消费</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储蓄</a:t>
            </a:r>
            <a:endParaRPr lang="zh-CN" altLang="en-US" sz="2800" b="1"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     </a:t>
            </a:r>
            <a:r>
              <a:rPr lang="en-US" altLang="zh-CN" sz="2800" b="1">
                <a:solidFill>
                  <a:srgbClr val="000000"/>
                </a:solidFill>
                <a:latin typeface="宋体" panose="02010600030101010101" pitchFamily="2" charset="-122"/>
              </a:rPr>
              <a:t>Y=  C + S</a:t>
            </a:r>
            <a:endParaRPr lang="en-US" altLang="zh-CN" sz="2800" b="1">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国民收入</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消费需求</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投资需求</a:t>
            </a:r>
            <a:endParaRPr lang="zh-CN" altLang="en-US" sz="2800" b="1"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        </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消费支出</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投资支出</a:t>
            </a:r>
            <a:endParaRPr lang="zh-CN" altLang="en-US" sz="2800" b="1"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总需求</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消费</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投资</a:t>
            </a:r>
            <a:endParaRPr lang="zh-CN" altLang="en-US" sz="2800" b="1" dirty="0">
              <a:solidFill>
                <a:srgbClr val="00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     </a:t>
            </a:r>
            <a:r>
              <a:rPr lang="en-US" altLang="zh-CN" sz="2800" b="1">
                <a:solidFill>
                  <a:srgbClr val="000000"/>
                </a:solidFill>
                <a:latin typeface="宋体" panose="02010600030101010101" pitchFamily="2" charset="-122"/>
              </a:rPr>
              <a:t>Y=  C + I</a:t>
            </a:r>
            <a:endParaRPr lang="en-US" altLang="zh-CN" sz="2800" b="1">
              <a:solidFill>
                <a:srgbClr val="000000"/>
              </a:solidFill>
              <a:latin typeface="宋体" panose="02010600030101010101" pitchFamily="2" charset="-122"/>
            </a:endParaRPr>
          </a:p>
          <a:p>
            <a:pPr marL="0" indent="0">
              <a:lnSpc>
                <a:spcPct val="90000"/>
              </a:lnSpc>
              <a:buNone/>
            </a:pPr>
            <a:endParaRPr lang="en-US" altLang="zh-CN" sz="2800" b="1">
              <a:solidFill>
                <a:srgbClr val="000000"/>
              </a:solidFill>
              <a:latin typeface="宋体" panose="02010600030101010101" pitchFamily="2" charset="-122"/>
            </a:endParaRPr>
          </a:p>
          <a:p>
            <a:pPr marL="0" indent="0">
              <a:lnSpc>
                <a:spcPct val="90000"/>
              </a:lnSpc>
              <a:buNone/>
            </a:pPr>
            <a:endParaRPr lang="en-US" altLang="zh-CN" sz="2800">
              <a:latin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标题 79873"/>
          <p:cNvSpPr>
            <a:spLocks noGrp="1"/>
          </p:cNvSpPr>
          <p:nvPr>
            <p:ph type="title"/>
          </p:nvPr>
        </p:nvSpPr>
        <p:spPr>
          <a:xfrm>
            <a:off x="762000" y="-228600"/>
            <a:ext cx="7772400" cy="1143000"/>
          </a:xfrm>
          <a:ln/>
        </p:spPr>
        <p:txBody>
          <a:bodyPr anchor="ctr" anchorCtr="0"/>
          <a:p>
            <a:r>
              <a:rPr lang="zh-CN" altLang="en-US">
                <a:solidFill>
                  <a:srgbClr val="FF0000"/>
                </a:solidFill>
                <a:ea typeface="华文行楷" panose="02010800040101010101" pitchFamily="2" charset="-122"/>
              </a:rPr>
              <a:t>两</a:t>
            </a:r>
            <a:r>
              <a:rPr lang="zh-CN" altLang="en-US" dirty="0">
                <a:solidFill>
                  <a:srgbClr val="FF0000"/>
                </a:solidFill>
                <a:ea typeface="华文行楷" panose="02010800040101010101" pitchFamily="2" charset="-122"/>
              </a:rPr>
              <a:t>部门经济中国民收入的决定</a:t>
            </a:r>
            <a:endParaRPr lang="zh-CN" altLang="en-US">
              <a:solidFill>
                <a:srgbClr val="FF0000"/>
              </a:solidFill>
              <a:ea typeface="华文行楷" panose="02010800040101010101" pitchFamily="2" charset="-122"/>
            </a:endParaRPr>
          </a:p>
        </p:txBody>
      </p:sp>
      <p:sp>
        <p:nvSpPr>
          <p:cNvPr id="79875" name="文本占位符 79874"/>
          <p:cNvSpPr>
            <a:spLocks noGrp="1"/>
          </p:cNvSpPr>
          <p:nvPr>
            <p:ph type="body" idx="1"/>
          </p:nvPr>
        </p:nvSpPr>
        <p:spPr>
          <a:xfrm>
            <a:off x="914400" y="914400"/>
            <a:ext cx="7772400" cy="4114800"/>
          </a:xfrm>
          <a:ln/>
        </p:spPr>
        <p:txBody>
          <a:bodyPr/>
          <a:p>
            <a:pPr>
              <a:lnSpc>
                <a:spcPct val="90000"/>
              </a:lnSpc>
              <a:buNone/>
            </a:pPr>
            <a:r>
              <a:rPr lang="zh-CN" altLang="en-US" sz="2400" b="1" dirty="0">
                <a:solidFill>
                  <a:srgbClr val="000000"/>
                </a:solidFill>
              </a:rPr>
              <a:t>两部门经济是指只有厂商与居民户的经济。</a:t>
            </a:r>
            <a:endParaRPr lang="zh-CN" altLang="en-US" sz="2400" b="1" dirty="0">
              <a:solidFill>
                <a:srgbClr val="000000"/>
              </a:solidFill>
            </a:endParaRPr>
          </a:p>
          <a:p>
            <a:pPr>
              <a:lnSpc>
                <a:spcPct val="90000"/>
              </a:lnSpc>
              <a:buNone/>
            </a:pPr>
            <a:r>
              <a:rPr lang="zh-CN" altLang="en-US" sz="2400" b="1" dirty="0">
                <a:solidFill>
                  <a:srgbClr val="000000"/>
                </a:solidFill>
              </a:rPr>
              <a:t>总供给</a:t>
            </a:r>
            <a:r>
              <a:rPr lang="en-US" altLang="zh-CN" sz="2400" b="1">
                <a:solidFill>
                  <a:srgbClr val="000000"/>
                </a:solidFill>
              </a:rPr>
              <a:t>=</a:t>
            </a:r>
            <a:r>
              <a:rPr lang="zh-CN" altLang="en-US" sz="2400" b="1" dirty="0">
                <a:solidFill>
                  <a:srgbClr val="000000"/>
                </a:solidFill>
              </a:rPr>
              <a:t>总需求</a:t>
            </a:r>
            <a:endParaRPr lang="zh-CN" altLang="en-US" sz="2400" b="1" dirty="0">
              <a:solidFill>
                <a:srgbClr val="000000"/>
              </a:solidFill>
            </a:endParaRPr>
          </a:p>
          <a:p>
            <a:pPr>
              <a:lnSpc>
                <a:spcPct val="90000"/>
              </a:lnSpc>
              <a:buNone/>
            </a:pPr>
            <a:r>
              <a:rPr lang="en-US" altLang="zh-CN" sz="2400" b="1">
                <a:solidFill>
                  <a:srgbClr val="000000"/>
                </a:solidFill>
              </a:rPr>
              <a:t>C+S=C+I</a:t>
            </a:r>
            <a:endParaRPr lang="en-US" altLang="zh-CN" sz="2400" b="1">
              <a:solidFill>
                <a:srgbClr val="000000"/>
              </a:solidFill>
            </a:endParaRPr>
          </a:p>
          <a:p>
            <a:pPr>
              <a:lnSpc>
                <a:spcPct val="90000"/>
              </a:lnSpc>
              <a:buNone/>
            </a:pPr>
            <a:r>
              <a:rPr lang="en-US" altLang="zh-CN" sz="2400" b="1">
                <a:solidFill>
                  <a:srgbClr val="000000"/>
                </a:solidFill>
              </a:rPr>
              <a:t>S=I</a:t>
            </a:r>
            <a:endParaRPr lang="en-US" altLang="zh-CN" sz="2400" b="1">
              <a:solidFill>
                <a:srgbClr val="000000"/>
              </a:solidFill>
            </a:endParaRPr>
          </a:p>
          <a:p>
            <a:pPr>
              <a:lnSpc>
                <a:spcPct val="90000"/>
              </a:lnSpc>
              <a:buNone/>
            </a:pPr>
            <a:r>
              <a:rPr lang="en-US" altLang="zh-CN" sz="2400" b="1">
                <a:solidFill>
                  <a:srgbClr val="000000"/>
                </a:solidFill>
              </a:rPr>
              <a:t>S&gt;I, </a:t>
            </a:r>
            <a:r>
              <a:rPr lang="zh-CN" altLang="en-US" sz="2400" b="1" dirty="0">
                <a:solidFill>
                  <a:srgbClr val="000000"/>
                </a:solidFill>
              </a:rPr>
              <a:t>国民收入收缩</a:t>
            </a:r>
            <a:endParaRPr lang="zh-CN" altLang="en-US" sz="2400" b="1" dirty="0">
              <a:solidFill>
                <a:srgbClr val="000000"/>
              </a:solidFill>
            </a:endParaRPr>
          </a:p>
          <a:p>
            <a:pPr>
              <a:lnSpc>
                <a:spcPct val="90000"/>
              </a:lnSpc>
              <a:buNone/>
            </a:pPr>
            <a:r>
              <a:rPr lang="en-US" altLang="zh-CN" sz="2400" b="1">
                <a:solidFill>
                  <a:srgbClr val="000000"/>
                </a:solidFill>
              </a:rPr>
              <a:t>S&lt;I, </a:t>
            </a:r>
            <a:r>
              <a:rPr lang="zh-CN" altLang="en-US" sz="2400" b="1" dirty="0">
                <a:solidFill>
                  <a:srgbClr val="000000"/>
                </a:solidFill>
              </a:rPr>
              <a:t>国民收入扩张</a:t>
            </a:r>
            <a:endParaRPr lang="zh-CN" altLang="en-US" sz="2400" b="1" dirty="0">
              <a:solidFill>
                <a:srgbClr val="000000"/>
              </a:solidFill>
            </a:endParaRPr>
          </a:p>
          <a:p>
            <a:pPr>
              <a:lnSpc>
                <a:spcPct val="90000"/>
              </a:lnSpc>
              <a:buNone/>
            </a:pPr>
            <a:r>
              <a:rPr lang="en-US" altLang="zh-CN" sz="2400" b="1">
                <a:solidFill>
                  <a:srgbClr val="000000"/>
                </a:solidFill>
              </a:rPr>
              <a:t>S=I, </a:t>
            </a:r>
            <a:r>
              <a:rPr lang="zh-CN" altLang="en-US" sz="2400" b="1" dirty="0">
                <a:solidFill>
                  <a:srgbClr val="000000"/>
                </a:solidFill>
              </a:rPr>
              <a:t>国民收入达到均衡</a:t>
            </a:r>
            <a:endParaRPr lang="zh-CN" altLang="en-US" sz="2400" b="1" dirty="0">
              <a:solidFill>
                <a:srgbClr val="000000"/>
              </a:solidFill>
            </a:endParaRPr>
          </a:p>
          <a:p>
            <a:pPr>
              <a:lnSpc>
                <a:spcPct val="90000"/>
              </a:lnSpc>
              <a:buNone/>
            </a:pPr>
            <a:r>
              <a:rPr lang="zh-CN" altLang="en-US" sz="2400" b="1" dirty="0">
                <a:solidFill>
                  <a:srgbClr val="FF0000"/>
                </a:solidFill>
              </a:rPr>
              <a:t>储蓄</a:t>
            </a:r>
            <a:r>
              <a:rPr lang="zh-CN" altLang="en-US" sz="2400" b="1" dirty="0">
                <a:solidFill>
                  <a:srgbClr val="000000"/>
                </a:solidFill>
              </a:rPr>
              <a:t>作为</a:t>
            </a:r>
            <a:r>
              <a:rPr lang="zh-CN" altLang="en-US" sz="2400" b="1" dirty="0">
                <a:solidFill>
                  <a:srgbClr val="FF0000"/>
                </a:solidFill>
              </a:rPr>
              <a:t>漏出</a:t>
            </a:r>
            <a:r>
              <a:rPr lang="en-US" altLang="zh-CN" sz="2400" b="1">
                <a:solidFill>
                  <a:srgbClr val="000000"/>
                </a:solidFill>
              </a:rPr>
              <a:t>(withdrawal)</a:t>
            </a:r>
            <a:r>
              <a:rPr lang="zh-CN" altLang="en-US" sz="2400" b="1">
                <a:solidFill>
                  <a:srgbClr val="000000"/>
                </a:solidFill>
              </a:rPr>
              <a:t>对</a:t>
            </a:r>
            <a:r>
              <a:rPr lang="zh-CN" altLang="en-US" sz="2400" b="1" dirty="0">
                <a:solidFill>
                  <a:srgbClr val="000000"/>
                </a:solidFill>
              </a:rPr>
              <a:t>国民收入有收缩作用。</a:t>
            </a:r>
            <a:endParaRPr lang="zh-CN" altLang="en-US" sz="2400" b="1" dirty="0">
              <a:solidFill>
                <a:srgbClr val="000000"/>
              </a:solidFill>
            </a:endParaRPr>
          </a:p>
          <a:p>
            <a:pPr>
              <a:lnSpc>
                <a:spcPct val="90000"/>
              </a:lnSpc>
              <a:buNone/>
            </a:pPr>
            <a:r>
              <a:rPr lang="zh-CN" altLang="en-US" sz="2400" b="1" dirty="0">
                <a:solidFill>
                  <a:srgbClr val="FF0000"/>
                </a:solidFill>
              </a:rPr>
              <a:t>投资</a:t>
            </a:r>
            <a:r>
              <a:rPr lang="zh-CN" altLang="en-US" sz="2400" b="1" dirty="0">
                <a:solidFill>
                  <a:srgbClr val="000000"/>
                </a:solidFill>
              </a:rPr>
              <a:t>作为一种</a:t>
            </a:r>
            <a:r>
              <a:rPr lang="zh-CN" altLang="en-US" sz="2400" b="1" dirty="0">
                <a:solidFill>
                  <a:srgbClr val="FF0000"/>
                </a:solidFill>
              </a:rPr>
              <a:t>注入</a:t>
            </a:r>
            <a:r>
              <a:rPr lang="en-US" altLang="zh-CN" sz="2400" b="1">
                <a:solidFill>
                  <a:srgbClr val="000000"/>
                </a:solidFill>
              </a:rPr>
              <a:t>(injection)</a:t>
            </a:r>
            <a:r>
              <a:rPr lang="zh-CN" altLang="en-US" sz="2400" b="1" dirty="0">
                <a:solidFill>
                  <a:srgbClr val="000000"/>
                </a:solidFill>
              </a:rPr>
              <a:t>对国民收入有扩张的作用。</a:t>
            </a:r>
            <a:endParaRPr lang="zh-CN" altLang="en-US" sz="2400" b="1" dirty="0">
              <a:solidFill>
                <a:srgbClr val="000000"/>
              </a:solidFill>
            </a:endParaRPr>
          </a:p>
          <a:p>
            <a:pPr>
              <a:lnSpc>
                <a:spcPct val="90000"/>
              </a:lnSpc>
              <a:buNone/>
            </a:pPr>
            <a:r>
              <a:rPr lang="zh-CN" altLang="en-US" sz="2400" b="1" dirty="0">
                <a:solidFill>
                  <a:srgbClr val="000000"/>
                </a:solidFill>
              </a:rPr>
              <a:t>国民收入均衡条件</a:t>
            </a:r>
            <a:r>
              <a:rPr lang="en-US" altLang="zh-CN" sz="2400" b="1">
                <a:solidFill>
                  <a:srgbClr val="000000"/>
                </a:solidFill>
              </a:rPr>
              <a:t>: </a:t>
            </a:r>
            <a:r>
              <a:rPr lang="zh-CN" altLang="en-US" sz="2400" b="1" dirty="0">
                <a:solidFill>
                  <a:srgbClr val="000000"/>
                </a:solidFill>
              </a:rPr>
              <a:t>漏出</a:t>
            </a:r>
            <a:r>
              <a:rPr lang="en-US" altLang="zh-CN" sz="2400" b="1">
                <a:solidFill>
                  <a:srgbClr val="000000"/>
                </a:solidFill>
              </a:rPr>
              <a:t>=</a:t>
            </a:r>
            <a:r>
              <a:rPr lang="zh-CN" altLang="en-US" sz="2400" b="1" dirty="0">
                <a:solidFill>
                  <a:srgbClr val="000000"/>
                </a:solidFill>
              </a:rPr>
              <a:t>注入</a:t>
            </a:r>
            <a:endParaRPr lang="zh-CN" altLang="en-US" sz="2400" b="1" dirty="0">
              <a:solidFill>
                <a:srgbClr val="000000"/>
              </a:solidFill>
            </a:endParaRPr>
          </a:p>
          <a:p>
            <a:pPr>
              <a:lnSpc>
                <a:spcPct val="90000"/>
              </a:lnSpc>
              <a:buNone/>
            </a:pPr>
            <a:r>
              <a:rPr lang="zh-CN" altLang="en-US" sz="2400" b="1" dirty="0">
                <a:solidFill>
                  <a:srgbClr val="000000"/>
                </a:solidFill>
              </a:rPr>
              <a:t>漏出</a:t>
            </a:r>
            <a:r>
              <a:rPr lang="en-US" altLang="zh-CN" sz="2400" b="1">
                <a:solidFill>
                  <a:srgbClr val="000000"/>
                </a:solidFill>
              </a:rPr>
              <a:t>(W)&gt;</a:t>
            </a:r>
            <a:r>
              <a:rPr lang="zh-CN" altLang="en-US" sz="2400" b="1" dirty="0">
                <a:solidFill>
                  <a:srgbClr val="000000"/>
                </a:solidFill>
              </a:rPr>
              <a:t>注入</a:t>
            </a:r>
            <a:r>
              <a:rPr lang="en-US" altLang="zh-CN" sz="2400" b="1">
                <a:solidFill>
                  <a:srgbClr val="000000"/>
                </a:solidFill>
              </a:rPr>
              <a:t>(J)  </a:t>
            </a:r>
            <a:r>
              <a:rPr lang="zh-CN" altLang="en-US" sz="2400" b="1" dirty="0">
                <a:solidFill>
                  <a:srgbClr val="000000"/>
                </a:solidFill>
              </a:rPr>
              <a:t>国民收入收缩。</a:t>
            </a:r>
            <a:endParaRPr lang="zh-CN" altLang="en-US" sz="2400" b="1">
              <a:solidFill>
                <a:srgbClr val="000000"/>
              </a:solidFill>
            </a:endParaRPr>
          </a:p>
          <a:p>
            <a:pPr>
              <a:lnSpc>
                <a:spcPct val="90000"/>
              </a:lnSpc>
              <a:buNone/>
            </a:pPr>
            <a:r>
              <a:rPr lang="zh-CN" altLang="en-US" sz="2400" b="1" dirty="0">
                <a:solidFill>
                  <a:srgbClr val="000000"/>
                </a:solidFill>
              </a:rPr>
              <a:t>漏出</a:t>
            </a:r>
            <a:r>
              <a:rPr lang="en-US" altLang="zh-CN" sz="2400" b="1">
                <a:solidFill>
                  <a:srgbClr val="000000"/>
                </a:solidFill>
              </a:rPr>
              <a:t>(W)&lt;</a:t>
            </a:r>
            <a:r>
              <a:rPr lang="zh-CN" altLang="en-US" sz="2400" b="1" dirty="0">
                <a:solidFill>
                  <a:srgbClr val="000000"/>
                </a:solidFill>
              </a:rPr>
              <a:t>注入</a:t>
            </a:r>
            <a:r>
              <a:rPr lang="en-US" altLang="zh-CN" sz="2400" b="1">
                <a:solidFill>
                  <a:srgbClr val="000000"/>
                </a:solidFill>
              </a:rPr>
              <a:t>(J)  </a:t>
            </a:r>
            <a:r>
              <a:rPr lang="zh-CN" altLang="en-US" sz="2400" b="1" dirty="0">
                <a:solidFill>
                  <a:srgbClr val="000000"/>
                </a:solidFill>
              </a:rPr>
              <a:t>国民收入扩张。</a:t>
            </a:r>
            <a:endParaRPr lang="zh-CN" altLang="en-US" sz="2400" b="1">
              <a:solidFill>
                <a:srgbClr val="000000"/>
              </a:solidFill>
            </a:endParaRPr>
          </a:p>
          <a:p>
            <a:pPr>
              <a:lnSpc>
                <a:spcPct val="90000"/>
              </a:lnSpc>
              <a:buNone/>
            </a:pPr>
            <a:r>
              <a:rPr lang="zh-CN" altLang="en-US" sz="2400" b="1" dirty="0">
                <a:solidFill>
                  <a:srgbClr val="000000"/>
                </a:solidFill>
              </a:rPr>
              <a:t>漏出</a:t>
            </a:r>
            <a:r>
              <a:rPr lang="en-US" altLang="zh-CN" sz="2400" b="1">
                <a:solidFill>
                  <a:srgbClr val="000000"/>
                </a:solidFill>
              </a:rPr>
              <a:t>(W)=</a:t>
            </a:r>
            <a:r>
              <a:rPr lang="zh-CN" altLang="en-US" sz="2400" b="1" dirty="0">
                <a:solidFill>
                  <a:srgbClr val="000000"/>
                </a:solidFill>
              </a:rPr>
              <a:t>注入</a:t>
            </a:r>
            <a:r>
              <a:rPr lang="en-US" altLang="zh-CN" sz="2400" b="1">
                <a:solidFill>
                  <a:srgbClr val="000000"/>
                </a:solidFill>
              </a:rPr>
              <a:t>(J)  </a:t>
            </a:r>
            <a:r>
              <a:rPr lang="zh-CN" altLang="en-US" sz="2400" b="1" dirty="0">
                <a:solidFill>
                  <a:srgbClr val="000000"/>
                </a:solidFill>
              </a:rPr>
              <a:t>国民收入达到均衡。</a:t>
            </a:r>
            <a:endParaRPr lang="zh-CN" altLang="en-US" sz="2800"/>
          </a:p>
          <a:p>
            <a:pPr>
              <a:lnSpc>
                <a:spcPct val="90000"/>
              </a:lnSpc>
              <a:buNone/>
            </a:pPr>
            <a:endParaRPr lang="zh-CN" altLang="en-US" sz="2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标题 80897"/>
          <p:cNvSpPr>
            <a:spLocks noGrp="1"/>
          </p:cNvSpPr>
          <p:nvPr>
            <p:ph type="title"/>
          </p:nvPr>
        </p:nvSpPr>
        <p:spPr>
          <a:ln/>
        </p:spPr>
        <p:txBody>
          <a:bodyPr anchor="ctr" anchorCtr="0"/>
          <a:p>
            <a:endParaRPr dirty="0"/>
          </a:p>
        </p:txBody>
      </p:sp>
      <p:sp>
        <p:nvSpPr>
          <p:cNvPr id="80899" name="文本占位符 80898"/>
          <p:cNvSpPr>
            <a:spLocks noGrp="1"/>
          </p:cNvSpPr>
          <p:nvPr>
            <p:ph type="body" idx="1"/>
          </p:nvPr>
        </p:nvSpPr>
        <p:spPr>
          <a:xfrm>
            <a:off x="533400" y="533400"/>
            <a:ext cx="8077200" cy="5486400"/>
          </a:xfrm>
          <a:ln/>
        </p:spPr>
        <p:txBody>
          <a:bodyPr/>
          <a:p>
            <a:pPr>
              <a:buNone/>
            </a:pPr>
            <a:r>
              <a:rPr lang="zh-CN" altLang="en-US" sz="2800">
                <a:solidFill>
                  <a:srgbClr val="000000"/>
                </a:solidFill>
                <a:latin typeface="宋体" panose="02010600030101010101" pitchFamily="2" charset="-122"/>
              </a:rPr>
              <a:t>当总</a:t>
            </a:r>
            <a:r>
              <a:rPr lang="zh-CN" altLang="en-US" sz="2800" dirty="0">
                <a:solidFill>
                  <a:srgbClr val="000000"/>
                </a:solidFill>
                <a:latin typeface="宋体" panose="02010600030101010101" pitchFamily="2" charset="-122"/>
              </a:rPr>
              <a:t>需求等于总供给时，收入则达到均衡水平。以下利用数学公式表示均衡收入的决定。</a:t>
            </a:r>
            <a:endParaRPr lang="zh-CN" altLang="en-US" sz="2800" dirty="0">
              <a:solidFill>
                <a:srgbClr val="000000"/>
              </a:solidFill>
              <a:latin typeface="宋体" panose="02010600030101010101" pitchFamily="2" charset="-122"/>
            </a:endParaRPr>
          </a:p>
          <a:p>
            <a:pPr>
              <a:buNone/>
            </a:pPr>
            <a:r>
              <a:rPr lang="zh-CN" altLang="en-US" dirty="0">
                <a:solidFill>
                  <a:srgbClr val="000000"/>
                </a:solidFill>
                <a:latin typeface="宋体" panose="02010600030101010101" pitchFamily="2" charset="-122"/>
              </a:rPr>
              <a:t>消费</a:t>
            </a:r>
            <a:r>
              <a:rPr lang="en-US" altLang="zh-CN">
                <a:solidFill>
                  <a:srgbClr val="000000"/>
                </a:solidFill>
                <a:latin typeface="宋体" panose="02010600030101010101" pitchFamily="2" charset="-122"/>
              </a:rPr>
              <a:t>: </a:t>
            </a:r>
            <a:r>
              <a:rPr lang="en-US" altLang="zh-CN" b="1">
                <a:solidFill>
                  <a:srgbClr val="000000"/>
                </a:solidFill>
                <a:latin typeface="宋体" panose="02010600030101010101" pitchFamily="2" charset="-122"/>
              </a:rPr>
              <a:t>C=</a:t>
            </a:r>
            <a:r>
              <a:rPr lang="en-US" altLang="zh-CN" b="1" dirty="0" err="1">
                <a:solidFill>
                  <a:srgbClr val="000000"/>
                </a:solidFill>
                <a:latin typeface="宋体" panose="02010600030101010101" pitchFamily="2" charset="-122"/>
              </a:rPr>
              <a:t>C</a:t>
            </a:r>
            <a:r>
              <a:rPr lang="en-US" altLang="zh-CN" b="1" baseline="-25000" dirty="0" err="1">
                <a:solidFill>
                  <a:srgbClr val="000000"/>
                </a:solidFill>
                <a:latin typeface="宋体" panose="02010600030101010101" pitchFamily="2" charset="-122"/>
              </a:rPr>
              <a:t>a</a:t>
            </a:r>
            <a:r>
              <a:rPr lang="en-US" altLang="zh-CN" b="1" dirty="0" err="1">
                <a:solidFill>
                  <a:srgbClr val="000000"/>
                </a:solidFill>
                <a:latin typeface="宋体" panose="02010600030101010101" pitchFamily="2" charset="-122"/>
              </a:rPr>
              <a:t>+cY</a:t>
            </a:r>
            <a:endParaRPr lang="en-US" altLang="zh-CN" b="1" baseline="-25000">
              <a:solidFill>
                <a:srgbClr val="000000"/>
              </a:solidFill>
              <a:latin typeface="宋体" panose="02010600030101010101" pitchFamily="2" charset="-122"/>
            </a:endParaRPr>
          </a:p>
          <a:p>
            <a:pPr>
              <a:buNone/>
            </a:pPr>
            <a:r>
              <a:rPr lang="zh-CN" altLang="en-US" b="1" dirty="0">
                <a:solidFill>
                  <a:srgbClr val="000000"/>
                </a:solidFill>
                <a:latin typeface="宋体" panose="02010600030101010101" pitchFamily="2" charset="-122"/>
              </a:rPr>
              <a:t>投资</a:t>
            </a:r>
            <a:r>
              <a:rPr lang="en-US" altLang="zh-CN" b="1">
                <a:solidFill>
                  <a:srgbClr val="000000"/>
                </a:solidFill>
                <a:latin typeface="宋体" panose="02010600030101010101" pitchFamily="2" charset="-122"/>
              </a:rPr>
              <a:t>:  </a:t>
            </a:r>
            <a:endParaRPr lang="en-US" altLang="zh-CN" b="1">
              <a:solidFill>
                <a:srgbClr val="000000"/>
              </a:solidFill>
              <a:latin typeface="宋体" panose="02010600030101010101" pitchFamily="2" charset="-122"/>
            </a:endParaRPr>
          </a:p>
          <a:p>
            <a:pPr>
              <a:buNone/>
            </a:pPr>
            <a:endParaRPr lang="en-US" altLang="zh-CN" b="1">
              <a:solidFill>
                <a:srgbClr val="000000"/>
              </a:solidFill>
              <a:latin typeface="宋体" panose="02010600030101010101" pitchFamily="2" charset="-122"/>
            </a:endParaRPr>
          </a:p>
          <a:p>
            <a:pPr>
              <a:buNone/>
            </a:pPr>
            <a:endParaRPr lang="en-US" altLang="zh-CN" b="1">
              <a:solidFill>
                <a:srgbClr val="000000"/>
              </a:solidFill>
              <a:latin typeface="宋体" panose="02010600030101010101" pitchFamily="2" charset="-122"/>
            </a:endParaRPr>
          </a:p>
          <a:p>
            <a:pPr>
              <a:buNone/>
            </a:pPr>
            <a:endParaRPr lang="en-US" altLang="zh-CN" b="1">
              <a:solidFill>
                <a:srgbClr val="000000"/>
              </a:solidFill>
              <a:latin typeface="宋体" panose="02010600030101010101" pitchFamily="2" charset="-122"/>
            </a:endParaRPr>
          </a:p>
          <a:p>
            <a:pPr eaLnBrk="0" hangingPunct="0">
              <a:spcBef>
                <a:spcPct val="0"/>
              </a:spcBef>
              <a:buNone/>
            </a:pPr>
            <a:endParaRPr lang="en-US" altLang="zh-CN" b="1">
              <a:solidFill>
                <a:srgbClr val="000000"/>
              </a:solidFill>
              <a:latin typeface="宋体" panose="02010600030101010101" pitchFamily="2" charset="-122"/>
            </a:endParaRPr>
          </a:p>
        </p:txBody>
      </p:sp>
      <p:graphicFrame>
        <p:nvGraphicFramePr>
          <p:cNvPr id="80900" name="对象 80899"/>
          <p:cNvGraphicFramePr/>
          <p:nvPr/>
        </p:nvGraphicFramePr>
        <p:xfrm>
          <a:off x="838200" y="2667000"/>
          <a:ext cx="2886075" cy="528638"/>
        </p:xfrm>
        <a:graphic>
          <a:graphicData uri="http://schemas.openxmlformats.org/presentationml/2006/ole">
            <mc:AlternateContent xmlns:mc="http://schemas.openxmlformats.org/markup-compatibility/2006">
              <mc:Choice xmlns:v="urn:schemas-microsoft-com:vml" Requires="v">
                <p:oleObj spid="_x0000_s3076" name="" r:id="rId1" imgW="1179830" imgH="215900" progId="Equation.3">
                  <p:embed/>
                </p:oleObj>
              </mc:Choice>
              <mc:Fallback>
                <p:oleObj name="" r:id="rId1" imgW="1179830" imgH="215900" progId="Equation.3">
                  <p:embed/>
                  <p:pic>
                    <p:nvPicPr>
                      <p:cNvPr id="0" name="图片 3075"/>
                      <p:cNvPicPr/>
                      <p:nvPr/>
                    </p:nvPicPr>
                    <p:blipFill>
                      <a:blip r:embed="rId2"/>
                      <a:stretch>
                        <a:fillRect/>
                      </a:stretch>
                    </p:blipFill>
                    <p:spPr>
                      <a:xfrm>
                        <a:off x="838200" y="2667000"/>
                        <a:ext cx="2886075" cy="528638"/>
                      </a:xfrm>
                      <a:prstGeom prst="rect">
                        <a:avLst/>
                      </a:prstGeom>
                      <a:noFill/>
                      <a:ln w="38100">
                        <a:noFill/>
                        <a:miter/>
                      </a:ln>
                    </p:spPr>
                  </p:pic>
                </p:oleObj>
              </mc:Fallback>
            </mc:AlternateContent>
          </a:graphicData>
        </a:graphic>
      </p:graphicFrame>
      <p:graphicFrame>
        <p:nvGraphicFramePr>
          <p:cNvPr id="80901" name="对象 80900"/>
          <p:cNvGraphicFramePr/>
          <p:nvPr/>
        </p:nvGraphicFramePr>
        <p:xfrm>
          <a:off x="1905000" y="2071688"/>
          <a:ext cx="1219200" cy="576262"/>
        </p:xfrm>
        <a:graphic>
          <a:graphicData uri="http://schemas.openxmlformats.org/presentationml/2006/ole">
            <mc:AlternateContent xmlns:mc="http://schemas.openxmlformats.org/markup-compatibility/2006">
              <mc:Choice xmlns:v="urn:schemas-microsoft-com:vml" Requires="v">
                <p:oleObj spid="_x0000_s3079" name="" r:id="rId3" imgW="342900" imgH="203200" progId="Equation.3">
                  <p:embed/>
                </p:oleObj>
              </mc:Choice>
              <mc:Fallback>
                <p:oleObj name="" r:id="rId3" imgW="342900" imgH="203200" progId="Equation.3">
                  <p:embed/>
                  <p:pic>
                    <p:nvPicPr>
                      <p:cNvPr id="0" name="图片 3078"/>
                      <p:cNvPicPr/>
                      <p:nvPr/>
                    </p:nvPicPr>
                    <p:blipFill>
                      <a:blip r:embed="rId4"/>
                      <a:stretch>
                        <a:fillRect/>
                      </a:stretch>
                    </p:blipFill>
                    <p:spPr>
                      <a:xfrm>
                        <a:off x="1905000" y="2071688"/>
                        <a:ext cx="1219200" cy="576262"/>
                      </a:xfrm>
                      <a:prstGeom prst="rect">
                        <a:avLst/>
                      </a:prstGeom>
                      <a:noFill/>
                      <a:ln w="38100">
                        <a:noFill/>
                        <a:miter/>
                      </a:ln>
                    </p:spPr>
                  </p:pic>
                </p:oleObj>
              </mc:Fallback>
            </mc:AlternateContent>
          </a:graphicData>
        </a:graphic>
      </p:graphicFrame>
      <p:graphicFrame>
        <p:nvGraphicFramePr>
          <p:cNvPr id="80902" name="对象 80901"/>
          <p:cNvGraphicFramePr/>
          <p:nvPr/>
        </p:nvGraphicFramePr>
        <p:xfrm>
          <a:off x="609600" y="3278188"/>
          <a:ext cx="3124200" cy="506412"/>
        </p:xfrm>
        <a:graphic>
          <a:graphicData uri="http://schemas.openxmlformats.org/presentationml/2006/ole">
            <mc:AlternateContent xmlns:mc="http://schemas.openxmlformats.org/markup-compatibility/2006">
              <mc:Choice xmlns:v="urn:schemas-microsoft-com:vml" Requires="v">
                <p:oleObj spid="_x0000_s3077" name="" r:id="rId5" imgW="989330" imgH="215900" progId="Equation.3">
                  <p:embed/>
                </p:oleObj>
              </mc:Choice>
              <mc:Fallback>
                <p:oleObj name="" r:id="rId5" imgW="989330" imgH="215900" progId="Equation.3">
                  <p:embed/>
                  <p:pic>
                    <p:nvPicPr>
                      <p:cNvPr id="0" name="图片 3076"/>
                      <p:cNvPicPr/>
                      <p:nvPr/>
                    </p:nvPicPr>
                    <p:blipFill>
                      <a:blip r:embed="rId6"/>
                      <a:stretch>
                        <a:fillRect/>
                      </a:stretch>
                    </p:blipFill>
                    <p:spPr>
                      <a:xfrm>
                        <a:off x="609600" y="3278188"/>
                        <a:ext cx="3124200" cy="506412"/>
                      </a:xfrm>
                      <a:prstGeom prst="rect">
                        <a:avLst/>
                      </a:prstGeom>
                      <a:noFill/>
                      <a:ln w="38100">
                        <a:noFill/>
                        <a:miter/>
                      </a:ln>
                    </p:spPr>
                  </p:pic>
                </p:oleObj>
              </mc:Fallback>
            </mc:AlternateContent>
          </a:graphicData>
        </a:graphic>
      </p:graphicFrame>
      <p:graphicFrame>
        <p:nvGraphicFramePr>
          <p:cNvPr id="80903" name="对象 80902"/>
          <p:cNvGraphicFramePr/>
          <p:nvPr/>
        </p:nvGraphicFramePr>
        <p:xfrm>
          <a:off x="609600" y="3767138"/>
          <a:ext cx="2971800" cy="525462"/>
        </p:xfrm>
        <a:graphic>
          <a:graphicData uri="http://schemas.openxmlformats.org/presentationml/2006/ole">
            <mc:AlternateContent xmlns:mc="http://schemas.openxmlformats.org/markup-compatibility/2006">
              <mc:Choice xmlns:v="urn:schemas-microsoft-com:vml" Requires="v">
                <p:oleObj spid="_x0000_s3078" name="" r:id="rId7" imgW="1066165" imgH="254000" progId="Equation.3">
                  <p:embed/>
                </p:oleObj>
              </mc:Choice>
              <mc:Fallback>
                <p:oleObj name="" r:id="rId7" imgW="1066165" imgH="254000" progId="Equation.3">
                  <p:embed/>
                  <p:pic>
                    <p:nvPicPr>
                      <p:cNvPr id="0" name="图片 3077"/>
                      <p:cNvPicPr/>
                      <p:nvPr/>
                    </p:nvPicPr>
                    <p:blipFill>
                      <a:blip r:embed="rId8"/>
                      <a:stretch>
                        <a:fillRect/>
                      </a:stretch>
                    </p:blipFill>
                    <p:spPr>
                      <a:xfrm>
                        <a:off x="609600" y="3767138"/>
                        <a:ext cx="2971800" cy="525462"/>
                      </a:xfrm>
                      <a:prstGeom prst="rect">
                        <a:avLst/>
                      </a:prstGeom>
                      <a:noFill/>
                      <a:ln w="38100">
                        <a:noFill/>
                        <a:miter/>
                      </a:ln>
                    </p:spPr>
                  </p:pic>
                </p:oleObj>
              </mc:Fallback>
            </mc:AlternateContent>
          </a:graphicData>
        </a:graphic>
      </p:graphicFrame>
      <p:graphicFrame>
        <p:nvGraphicFramePr>
          <p:cNvPr id="80904" name="对象 80903"/>
          <p:cNvGraphicFramePr/>
          <p:nvPr/>
        </p:nvGraphicFramePr>
        <p:xfrm>
          <a:off x="609600" y="4648200"/>
          <a:ext cx="2819400" cy="976313"/>
        </p:xfrm>
        <a:graphic>
          <a:graphicData uri="http://schemas.openxmlformats.org/presentationml/2006/ole">
            <mc:AlternateContent xmlns:mc="http://schemas.openxmlformats.org/markup-compatibility/2006">
              <mc:Choice xmlns:v="urn:schemas-microsoft-com:vml" Requires="v">
                <p:oleObj spid="_x0000_s3080" name="" r:id="rId9" imgW="875665" imgH="431800" progId="Equation.3">
                  <p:embed/>
                </p:oleObj>
              </mc:Choice>
              <mc:Fallback>
                <p:oleObj name="" r:id="rId9" imgW="875665" imgH="431800" progId="Equation.3">
                  <p:embed/>
                  <p:pic>
                    <p:nvPicPr>
                      <p:cNvPr id="0" name="图片 3079"/>
                      <p:cNvPicPr/>
                      <p:nvPr/>
                    </p:nvPicPr>
                    <p:blipFill>
                      <a:blip r:embed="rId10"/>
                      <a:stretch>
                        <a:fillRect/>
                      </a:stretch>
                    </p:blipFill>
                    <p:spPr>
                      <a:xfrm>
                        <a:off x="609600" y="4648200"/>
                        <a:ext cx="2819400" cy="976313"/>
                      </a:xfrm>
                      <a:prstGeom prst="rect">
                        <a:avLst/>
                      </a:prstGeom>
                      <a:noFill/>
                      <a:ln w="38100">
                        <a:noFill/>
                        <a:miter/>
                      </a:ln>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文本占位符 81921"/>
          <p:cNvSpPr>
            <a:spLocks noGrp="1"/>
          </p:cNvSpPr>
          <p:nvPr>
            <p:ph type="body" idx="1"/>
          </p:nvPr>
        </p:nvSpPr>
        <p:spPr>
          <a:xfrm>
            <a:off x="179388" y="4762500"/>
            <a:ext cx="8382000" cy="2095500"/>
          </a:xfrm>
          <a:ln/>
        </p:spPr>
        <p:txBody>
          <a:bodyPr/>
          <a:p>
            <a:pPr marL="0" indent="0">
              <a:lnSpc>
                <a:spcPct val="90000"/>
              </a:lnSpc>
              <a:buNone/>
            </a:pPr>
            <a:r>
              <a:rPr lang="zh-CN" altLang="en-US" sz="2000" dirty="0">
                <a:solidFill>
                  <a:srgbClr val="000000"/>
                </a:solidFill>
                <a:latin typeface="宋体" panose="02010600030101010101" pitchFamily="2" charset="-122"/>
              </a:rPr>
              <a:t>横轴</a:t>
            </a:r>
            <a:r>
              <a:rPr lang="en-US" altLang="zh-CN" sz="2000">
                <a:solidFill>
                  <a:srgbClr val="000000"/>
                </a:solidFill>
                <a:latin typeface="宋体" panose="02010600030101010101" pitchFamily="2" charset="-122"/>
              </a:rPr>
              <a:t>OY</a:t>
            </a:r>
            <a:r>
              <a:rPr lang="zh-CN" altLang="en-US" sz="2000" dirty="0">
                <a:solidFill>
                  <a:srgbClr val="000000"/>
                </a:solidFill>
                <a:latin typeface="宋体" panose="02010600030101010101" pitchFamily="2" charset="-122"/>
              </a:rPr>
              <a:t>代表国民收入，纵轴</a:t>
            </a:r>
            <a:r>
              <a:rPr lang="en-US" altLang="zh-CN" sz="2000">
                <a:solidFill>
                  <a:srgbClr val="000000"/>
                </a:solidFill>
                <a:latin typeface="宋体" panose="02010600030101010101" pitchFamily="2" charset="-122"/>
              </a:rPr>
              <a:t>OC</a:t>
            </a:r>
            <a:r>
              <a:rPr lang="zh-CN" altLang="en-US" sz="2000">
                <a:solidFill>
                  <a:srgbClr val="000000"/>
                </a:solidFill>
                <a:latin typeface="宋体" panose="02010600030101010101" pitchFamily="2" charset="-122"/>
              </a:rPr>
              <a:t>，</a:t>
            </a:r>
            <a:r>
              <a:rPr lang="en-US" altLang="zh-CN" sz="2000">
                <a:solidFill>
                  <a:srgbClr val="000000"/>
                </a:solidFill>
                <a:latin typeface="宋体" panose="02010600030101010101" pitchFamily="2" charset="-122"/>
              </a:rPr>
              <a:t>I</a:t>
            </a:r>
            <a:r>
              <a:rPr lang="zh-CN" altLang="en-US" sz="2000" dirty="0">
                <a:solidFill>
                  <a:srgbClr val="000000"/>
                </a:solidFill>
                <a:latin typeface="宋体" panose="02010600030101010101" pitchFamily="2" charset="-122"/>
              </a:rPr>
              <a:t>代表消费与投资。</a:t>
            </a:r>
            <a:r>
              <a:rPr lang="en-US" altLang="zh-CN" sz="2000" b="1">
                <a:solidFill>
                  <a:srgbClr val="FF0000"/>
                </a:solidFill>
                <a:latin typeface="宋体" panose="02010600030101010101" pitchFamily="2" charset="-122"/>
              </a:rPr>
              <a:t>45</a:t>
            </a:r>
            <a:r>
              <a:rPr lang="en-US" altLang="zh-CN" sz="2000" b="1" baseline="30000">
                <a:solidFill>
                  <a:srgbClr val="FF0000"/>
                </a:solidFill>
                <a:latin typeface="宋体" panose="02010600030101010101" pitchFamily="2" charset="-122"/>
              </a:rPr>
              <a:t>°</a:t>
            </a:r>
            <a:r>
              <a:rPr lang="zh-CN" altLang="en-US" sz="2000" b="1" dirty="0">
                <a:solidFill>
                  <a:srgbClr val="FF0000"/>
                </a:solidFill>
                <a:latin typeface="宋体" panose="02010600030101010101" pitchFamily="2" charset="-122"/>
              </a:rPr>
              <a:t>线表示总供给等于总需求</a:t>
            </a:r>
            <a:r>
              <a:rPr lang="zh-CN" altLang="en-US" sz="2000" dirty="0">
                <a:solidFill>
                  <a:srgbClr val="000000"/>
                </a:solidFill>
                <a:latin typeface="宋体" panose="02010600030101010101" pitchFamily="2" charset="-122"/>
              </a:rPr>
              <a:t>，</a:t>
            </a:r>
            <a:r>
              <a:rPr lang="en-US" altLang="zh-CN" sz="2000" b="1">
                <a:solidFill>
                  <a:srgbClr val="FF0000"/>
                </a:solidFill>
                <a:latin typeface="宋体" panose="02010600030101010101" pitchFamily="2" charset="-122"/>
              </a:rPr>
              <a:t>(C+I)</a:t>
            </a:r>
            <a:r>
              <a:rPr lang="zh-CN" altLang="en-US" sz="2000" b="1">
                <a:solidFill>
                  <a:srgbClr val="FF0000"/>
                </a:solidFill>
                <a:latin typeface="宋体" panose="02010600030101010101" pitchFamily="2" charset="-122"/>
              </a:rPr>
              <a:t>是</a:t>
            </a:r>
            <a:r>
              <a:rPr lang="zh-CN" altLang="en-US" sz="2000" b="1" dirty="0">
                <a:solidFill>
                  <a:srgbClr val="FF0000"/>
                </a:solidFill>
                <a:latin typeface="宋体" panose="02010600030101010101" pitchFamily="2" charset="-122"/>
              </a:rPr>
              <a:t>消费加投资，即总需求曲线。</a:t>
            </a:r>
            <a:r>
              <a:rPr lang="zh-CN" altLang="en-US" sz="2000" dirty="0">
                <a:solidFill>
                  <a:srgbClr val="000000"/>
                </a:solidFill>
                <a:latin typeface="宋体" panose="02010600030101010101" pitchFamily="2" charset="-122"/>
              </a:rPr>
              <a:t> </a:t>
            </a:r>
            <a:r>
              <a:rPr lang="en-US" altLang="zh-CN" sz="2000" b="1">
                <a:solidFill>
                  <a:srgbClr val="FF0000"/>
                </a:solidFill>
                <a:latin typeface="宋体" panose="02010600030101010101" pitchFamily="2" charset="-122"/>
              </a:rPr>
              <a:t>(C+I)</a:t>
            </a:r>
            <a:r>
              <a:rPr lang="zh-CN" altLang="en-US" sz="2000" b="1" dirty="0">
                <a:solidFill>
                  <a:srgbClr val="FF0000"/>
                </a:solidFill>
                <a:latin typeface="宋体" panose="02010600030101010101" pitchFamily="2" charset="-122"/>
              </a:rPr>
              <a:t>曲线与</a:t>
            </a:r>
            <a:r>
              <a:rPr lang="en-US" altLang="zh-CN" sz="2000" b="1">
                <a:solidFill>
                  <a:srgbClr val="FF0000"/>
                </a:solidFill>
                <a:latin typeface="宋体" panose="02010600030101010101" pitchFamily="2" charset="-122"/>
              </a:rPr>
              <a:t>45</a:t>
            </a:r>
            <a:r>
              <a:rPr lang="en-US" altLang="zh-CN" sz="2000" b="1" baseline="30000">
                <a:solidFill>
                  <a:srgbClr val="FF0000"/>
                </a:solidFill>
                <a:latin typeface="宋体" panose="02010600030101010101" pitchFamily="2" charset="-122"/>
              </a:rPr>
              <a:t>°</a:t>
            </a:r>
            <a:r>
              <a:rPr lang="zh-CN" altLang="en-US" sz="2000" b="1" dirty="0">
                <a:solidFill>
                  <a:srgbClr val="FF0000"/>
                </a:solidFill>
                <a:latin typeface="宋体" panose="02010600030101010101" pitchFamily="2" charset="-122"/>
              </a:rPr>
              <a:t>线相交于</a:t>
            </a:r>
            <a:r>
              <a:rPr lang="en-US" altLang="zh-CN" sz="2000" b="1">
                <a:solidFill>
                  <a:srgbClr val="FF0000"/>
                </a:solidFill>
                <a:latin typeface="宋体" panose="02010600030101010101" pitchFamily="2" charset="-122"/>
              </a:rPr>
              <a:t>E</a:t>
            </a:r>
            <a:r>
              <a:rPr lang="zh-CN" altLang="en-US" sz="2000" b="1">
                <a:solidFill>
                  <a:srgbClr val="FF0000"/>
                </a:solidFill>
                <a:latin typeface="宋体" panose="02010600030101010101" pitchFamily="2" charset="-122"/>
              </a:rPr>
              <a:t>，</a:t>
            </a:r>
            <a:r>
              <a:rPr lang="zh-CN" altLang="en-US" sz="2000" b="1" dirty="0">
                <a:solidFill>
                  <a:srgbClr val="FF0000"/>
                </a:solidFill>
                <a:latin typeface="宋体" panose="02010600030101010101" pitchFamily="2" charset="-122"/>
              </a:rPr>
              <a:t>这时总供给等于总需求，就决定了在既定的消费与投资水平下，国民收入为</a:t>
            </a:r>
            <a:r>
              <a:rPr lang="en-US" altLang="zh-CN" sz="2000" b="1">
                <a:solidFill>
                  <a:srgbClr val="FF0000"/>
                </a:solidFill>
                <a:latin typeface="宋体" panose="02010600030101010101" pitchFamily="2" charset="-122"/>
              </a:rPr>
              <a:t>OH</a:t>
            </a:r>
            <a:r>
              <a:rPr lang="zh-CN" altLang="en-US" sz="2000" b="1">
                <a:solidFill>
                  <a:srgbClr val="FF0000"/>
                </a:solidFill>
                <a:latin typeface="宋体" panose="02010600030101010101" pitchFamily="2" charset="-122"/>
              </a:rPr>
              <a:t>。</a:t>
            </a:r>
            <a:r>
              <a:rPr lang="zh-CN" altLang="en-US" sz="2000">
                <a:solidFill>
                  <a:srgbClr val="000000"/>
                </a:solidFill>
                <a:latin typeface="宋体" panose="02010600030101010101" pitchFamily="2" charset="-122"/>
              </a:rPr>
              <a:t>在</a:t>
            </a:r>
            <a:r>
              <a:rPr lang="en-US" altLang="zh-CN" sz="2000">
                <a:solidFill>
                  <a:srgbClr val="000000"/>
                </a:solidFill>
                <a:latin typeface="宋体" panose="02010600030101010101" pitchFamily="2" charset="-122"/>
              </a:rPr>
              <a:t>E</a:t>
            </a:r>
            <a:r>
              <a:rPr lang="zh-CN" altLang="en-US" sz="2000" dirty="0">
                <a:solidFill>
                  <a:srgbClr val="000000"/>
                </a:solidFill>
                <a:latin typeface="宋体" panose="02010600030101010101" pitchFamily="2" charset="-122"/>
              </a:rPr>
              <a:t>点之左，国民收入小</a:t>
            </a:r>
            <a:r>
              <a:rPr lang="zh-CN" altLang="en-US" sz="2000">
                <a:solidFill>
                  <a:srgbClr val="000000"/>
                </a:solidFill>
                <a:latin typeface="宋体" panose="02010600030101010101" pitchFamily="2" charset="-122"/>
              </a:rPr>
              <a:t>于</a:t>
            </a:r>
            <a:r>
              <a:rPr lang="en-US" altLang="zh-CN" sz="2000">
                <a:solidFill>
                  <a:srgbClr val="000000"/>
                </a:solidFill>
                <a:latin typeface="宋体" panose="02010600030101010101" pitchFamily="2" charset="-122"/>
              </a:rPr>
              <a:t>OH</a:t>
            </a:r>
            <a:r>
              <a:rPr lang="zh-CN" altLang="en-US" sz="2000">
                <a:solidFill>
                  <a:srgbClr val="000000"/>
                </a:solidFill>
                <a:latin typeface="宋体" panose="02010600030101010101" pitchFamily="2" charset="-122"/>
              </a:rPr>
              <a:t>，</a:t>
            </a:r>
            <a:r>
              <a:rPr lang="zh-CN" altLang="en-US" sz="2000" dirty="0">
                <a:solidFill>
                  <a:srgbClr val="000000"/>
                </a:solidFill>
                <a:latin typeface="宋体" panose="02010600030101010101" pitchFamily="2" charset="-122"/>
              </a:rPr>
              <a:t>这时总需求大于总供给</a:t>
            </a:r>
            <a:r>
              <a:rPr lang="en-US" altLang="zh-CN" sz="2000">
                <a:solidFill>
                  <a:srgbClr val="000000"/>
                </a:solidFill>
                <a:latin typeface="宋体" panose="02010600030101010101" pitchFamily="2" charset="-122"/>
              </a:rPr>
              <a:t>(S&lt;I)</a:t>
            </a:r>
            <a:r>
              <a:rPr lang="zh-CN" altLang="en-US" sz="2000">
                <a:solidFill>
                  <a:srgbClr val="000000"/>
                </a:solidFill>
                <a:latin typeface="宋体" panose="02010600030101010101" pitchFamily="2" charset="-122"/>
              </a:rPr>
              <a:t>，</a:t>
            </a:r>
            <a:r>
              <a:rPr lang="zh-CN" altLang="en-US" sz="2000" dirty="0">
                <a:solidFill>
                  <a:srgbClr val="000000"/>
                </a:solidFill>
                <a:latin typeface="宋体" panose="02010600030101010101" pitchFamily="2" charset="-122"/>
              </a:rPr>
              <a:t>因此国民收入一定要增加至</a:t>
            </a:r>
            <a:r>
              <a:rPr lang="en-US" altLang="zh-CN" sz="2000">
                <a:solidFill>
                  <a:srgbClr val="000000"/>
                </a:solidFill>
                <a:latin typeface="宋体" panose="02010600030101010101" pitchFamily="2" charset="-122"/>
              </a:rPr>
              <a:t>OH;</a:t>
            </a:r>
            <a:r>
              <a:rPr lang="zh-CN" altLang="en-US" sz="2000">
                <a:solidFill>
                  <a:srgbClr val="000000"/>
                </a:solidFill>
                <a:latin typeface="宋体" panose="02010600030101010101" pitchFamily="2" charset="-122"/>
              </a:rPr>
              <a:t>在</a:t>
            </a:r>
            <a:r>
              <a:rPr lang="en-US" altLang="zh-CN" sz="2000">
                <a:solidFill>
                  <a:srgbClr val="000000"/>
                </a:solidFill>
                <a:latin typeface="宋体" panose="02010600030101010101" pitchFamily="2" charset="-122"/>
              </a:rPr>
              <a:t>E</a:t>
            </a:r>
            <a:r>
              <a:rPr lang="zh-CN" altLang="en-US" sz="2000" dirty="0">
                <a:solidFill>
                  <a:srgbClr val="000000"/>
                </a:solidFill>
                <a:latin typeface="宋体" panose="02010600030101010101" pitchFamily="2" charset="-122"/>
              </a:rPr>
              <a:t>点之右，国民收入大于</a:t>
            </a:r>
            <a:r>
              <a:rPr lang="en-US" altLang="zh-CN" sz="2000">
                <a:solidFill>
                  <a:srgbClr val="000000"/>
                </a:solidFill>
                <a:latin typeface="宋体" panose="02010600030101010101" pitchFamily="2" charset="-122"/>
              </a:rPr>
              <a:t>OH</a:t>
            </a:r>
            <a:r>
              <a:rPr lang="zh-CN" altLang="en-US" sz="2000">
                <a:solidFill>
                  <a:srgbClr val="000000"/>
                </a:solidFill>
                <a:latin typeface="宋体" panose="02010600030101010101" pitchFamily="2" charset="-122"/>
              </a:rPr>
              <a:t>，</a:t>
            </a:r>
            <a:r>
              <a:rPr lang="zh-CN" altLang="en-US" sz="2000" dirty="0">
                <a:solidFill>
                  <a:srgbClr val="000000"/>
                </a:solidFill>
                <a:latin typeface="宋体" panose="02010600030101010101" pitchFamily="2" charset="-122"/>
              </a:rPr>
              <a:t>这时总需求小于总供给</a:t>
            </a:r>
            <a:r>
              <a:rPr lang="en-US" altLang="zh-CN" sz="2000">
                <a:solidFill>
                  <a:srgbClr val="000000"/>
                </a:solidFill>
                <a:latin typeface="宋体" panose="02010600030101010101" pitchFamily="2" charset="-122"/>
              </a:rPr>
              <a:t>(S&gt;I)</a:t>
            </a:r>
            <a:r>
              <a:rPr lang="zh-CN" altLang="en-US" sz="2000">
                <a:solidFill>
                  <a:srgbClr val="000000"/>
                </a:solidFill>
                <a:latin typeface="宋体" panose="02010600030101010101" pitchFamily="2" charset="-122"/>
              </a:rPr>
              <a:t>，</a:t>
            </a:r>
            <a:r>
              <a:rPr lang="zh-CN" altLang="en-US" sz="2000" dirty="0">
                <a:solidFill>
                  <a:srgbClr val="000000"/>
                </a:solidFill>
                <a:latin typeface="宋体" panose="02010600030101010101" pitchFamily="2" charset="-122"/>
              </a:rPr>
              <a:t>因此国民收入一定要减少至</a:t>
            </a:r>
            <a:r>
              <a:rPr lang="en-US" altLang="zh-CN" sz="2000">
                <a:solidFill>
                  <a:srgbClr val="000000"/>
                </a:solidFill>
                <a:latin typeface="宋体" panose="02010600030101010101" pitchFamily="2" charset="-122"/>
              </a:rPr>
              <a:t>OH</a:t>
            </a:r>
            <a:r>
              <a:rPr lang="zh-CN" altLang="en-US" sz="2000">
                <a:solidFill>
                  <a:srgbClr val="000000"/>
                </a:solidFill>
                <a:latin typeface="宋体" panose="02010600030101010101" pitchFamily="2" charset="-122"/>
              </a:rPr>
              <a:t>。</a:t>
            </a:r>
            <a:r>
              <a:rPr lang="zh-CN" altLang="en-US" sz="2000" b="1" dirty="0">
                <a:solidFill>
                  <a:srgbClr val="FF0000"/>
                </a:solidFill>
                <a:latin typeface="宋体" panose="02010600030101010101" pitchFamily="2" charset="-122"/>
              </a:rPr>
              <a:t>只有在</a:t>
            </a:r>
            <a:r>
              <a:rPr lang="en-US" altLang="zh-CN" sz="2000" b="1">
                <a:solidFill>
                  <a:srgbClr val="FF0000"/>
                </a:solidFill>
                <a:latin typeface="宋体" panose="02010600030101010101" pitchFamily="2" charset="-122"/>
              </a:rPr>
              <a:t>E</a:t>
            </a:r>
            <a:r>
              <a:rPr lang="zh-CN" altLang="en-US" sz="2000" b="1" dirty="0">
                <a:solidFill>
                  <a:srgbClr val="FF0000"/>
                </a:solidFill>
                <a:latin typeface="宋体" panose="02010600030101010101" pitchFamily="2" charset="-122"/>
              </a:rPr>
              <a:t>点，国民收入才达到均衡</a:t>
            </a:r>
            <a:r>
              <a:rPr lang="zh-CN" altLang="en-US" sz="2000" dirty="0">
                <a:solidFill>
                  <a:srgbClr val="000000"/>
                </a:solidFill>
                <a:latin typeface="宋体" panose="02010600030101010101" pitchFamily="2" charset="-122"/>
              </a:rPr>
              <a:t>。</a:t>
            </a:r>
            <a:endParaRPr lang="zh-CN" altLang="en-US" sz="2000">
              <a:solidFill>
                <a:srgbClr val="000000"/>
              </a:solidFill>
              <a:latin typeface="宋体" panose="02010600030101010101" pitchFamily="2" charset="-122"/>
            </a:endParaRPr>
          </a:p>
        </p:txBody>
      </p:sp>
      <p:sp>
        <p:nvSpPr>
          <p:cNvPr id="81923" name="直接连接符 81922"/>
          <p:cNvSpPr/>
          <p:nvPr/>
        </p:nvSpPr>
        <p:spPr>
          <a:xfrm>
            <a:off x="1524000" y="4343400"/>
            <a:ext cx="6324600" cy="0"/>
          </a:xfrm>
          <a:prstGeom prst="line">
            <a:avLst/>
          </a:prstGeom>
          <a:ln w="57150" cap="flat" cmpd="sng">
            <a:solidFill>
              <a:schemeClr val="tx1"/>
            </a:solidFill>
            <a:prstDash val="solid"/>
            <a:headEnd type="none" w="med" len="med"/>
            <a:tailEnd type="triangle" w="med" len="med"/>
          </a:ln>
        </p:spPr>
      </p:sp>
      <p:sp>
        <p:nvSpPr>
          <p:cNvPr id="81924" name="直接连接符 81923"/>
          <p:cNvSpPr/>
          <p:nvPr/>
        </p:nvSpPr>
        <p:spPr>
          <a:xfrm flipV="1">
            <a:off x="1447800" y="838200"/>
            <a:ext cx="0" cy="3505200"/>
          </a:xfrm>
          <a:prstGeom prst="line">
            <a:avLst/>
          </a:prstGeom>
          <a:ln w="57150" cap="flat" cmpd="sng">
            <a:solidFill>
              <a:schemeClr val="tx1"/>
            </a:solidFill>
            <a:prstDash val="solid"/>
            <a:headEnd type="none" w="med" len="med"/>
            <a:tailEnd type="triangle" w="med" len="med"/>
          </a:ln>
        </p:spPr>
      </p:sp>
      <p:sp>
        <p:nvSpPr>
          <p:cNvPr id="81925" name="文本框 81924"/>
          <p:cNvSpPr txBox="1"/>
          <p:nvPr/>
        </p:nvSpPr>
        <p:spPr>
          <a:xfrm>
            <a:off x="7620000" y="4495800"/>
            <a:ext cx="8382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Y</a:t>
            </a:r>
            <a:endParaRPr lang="en-US" altLang="zh-CN" sz="2400" b="0">
              <a:latin typeface="Tahoma" panose="020B0604030504040204" pitchFamily="34" charset="0"/>
            </a:endParaRPr>
          </a:p>
        </p:txBody>
      </p:sp>
      <p:sp>
        <p:nvSpPr>
          <p:cNvPr id="81926" name="直接连接符 81925"/>
          <p:cNvSpPr/>
          <p:nvPr/>
        </p:nvSpPr>
        <p:spPr>
          <a:xfrm flipV="1">
            <a:off x="1447800" y="685800"/>
            <a:ext cx="3962400" cy="3657600"/>
          </a:xfrm>
          <a:prstGeom prst="line">
            <a:avLst/>
          </a:prstGeom>
          <a:ln w="38100" cap="flat" cmpd="sng">
            <a:solidFill>
              <a:schemeClr val="tx1"/>
            </a:solidFill>
            <a:prstDash val="solid"/>
            <a:headEnd type="none" w="med" len="med"/>
            <a:tailEnd type="none" w="med" len="med"/>
          </a:ln>
        </p:spPr>
      </p:sp>
      <p:sp>
        <p:nvSpPr>
          <p:cNvPr id="81927" name="任意多边形 81926"/>
          <p:cNvSpPr/>
          <p:nvPr/>
        </p:nvSpPr>
        <p:spPr>
          <a:xfrm>
            <a:off x="1949450" y="3881438"/>
            <a:ext cx="223838" cy="461962"/>
          </a:xfrm>
          <a:custGeom>
            <a:avLst/>
            <a:gdLst/>
            <a:ahLst/>
            <a:cxnLst/>
            <a:pathLst>
              <a:path w="141" h="291">
                <a:moveTo>
                  <a:pt x="68" y="291"/>
                </a:moveTo>
                <a:cubicBezTo>
                  <a:pt x="78" y="264"/>
                  <a:pt x="141" y="179"/>
                  <a:pt x="130" y="131"/>
                </a:cubicBezTo>
                <a:cubicBezTo>
                  <a:pt x="119" y="83"/>
                  <a:pt x="27" y="27"/>
                  <a:pt x="0" y="0"/>
                </a:cubicBezTo>
              </a:path>
            </a:pathLst>
          </a:custGeom>
          <a:noFill/>
          <a:ln w="9525" cap="flat" cmpd="sng">
            <a:solidFill>
              <a:schemeClr val="tx1"/>
            </a:solidFill>
            <a:prstDash val="solid"/>
            <a:headEnd type="none" w="med" len="med"/>
            <a:tailEnd type="none" w="med" len="med"/>
          </a:ln>
        </p:spPr>
        <p:txBody>
          <a:bodyPr/>
          <a:p>
            <a:endParaRPr lang="zh-CN" altLang="en-US"/>
          </a:p>
        </p:txBody>
      </p:sp>
      <p:sp>
        <p:nvSpPr>
          <p:cNvPr id="81928" name="文本框 81927"/>
          <p:cNvSpPr txBox="1"/>
          <p:nvPr/>
        </p:nvSpPr>
        <p:spPr>
          <a:xfrm>
            <a:off x="2362200" y="3657600"/>
            <a:ext cx="8382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45</a:t>
            </a:r>
            <a:r>
              <a:rPr lang="en-US" altLang="zh-CN" sz="2400" b="0" baseline="30000">
                <a:latin typeface="Tahoma" panose="020B0604030504040204" pitchFamily="34" charset="0"/>
              </a:rPr>
              <a:t>°</a:t>
            </a:r>
            <a:endParaRPr lang="en-US" altLang="zh-CN" sz="2400" b="0">
              <a:latin typeface="Tahoma" panose="020B0604030504040204" pitchFamily="34" charset="0"/>
            </a:endParaRPr>
          </a:p>
        </p:txBody>
      </p:sp>
      <p:sp>
        <p:nvSpPr>
          <p:cNvPr id="81929" name="直接连接符 81928"/>
          <p:cNvSpPr/>
          <p:nvPr/>
        </p:nvSpPr>
        <p:spPr>
          <a:xfrm flipV="1">
            <a:off x="1447800" y="1676400"/>
            <a:ext cx="4495800" cy="1447800"/>
          </a:xfrm>
          <a:prstGeom prst="line">
            <a:avLst/>
          </a:prstGeom>
          <a:ln w="38100" cap="flat" cmpd="sng">
            <a:solidFill>
              <a:schemeClr val="tx1"/>
            </a:solidFill>
            <a:prstDash val="solid"/>
            <a:headEnd type="none" w="med" len="med"/>
            <a:tailEnd type="none" w="med" len="med"/>
          </a:ln>
        </p:spPr>
      </p:sp>
      <p:sp>
        <p:nvSpPr>
          <p:cNvPr id="81930" name="文本框 81929"/>
          <p:cNvSpPr txBox="1"/>
          <p:nvPr/>
        </p:nvSpPr>
        <p:spPr>
          <a:xfrm>
            <a:off x="5943600" y="1219200"/>
            <a:ext cx="2743200" cy="1004888"/>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C+I   </a:t>
            </a:r>
            <a:r>
              <a:rPr lang="zh-CN" altLang="en-US" sz="2400" b="0" dirty="0">
                <a:latin typeface="Tahoma" panose="020B0604030504040204" pitchFamily="34" charset="0"/>
              </a:rPr>
              <a:t>预算总支出</a:t>
            </a:r>
            <a:endParaRPr lang="zh-CN" altLang="en-US" sz="2400" b="0">
              <a:latin typeface="Tahoma" panose="020B0604030504040204" pitchFamily="34" charset="0"/>
            </a:endParaRPr>
          </a:p>
          <a:p>
            <a:pPr>
              <a:lnSpc>
                <a:spcPct val="100000"/>
              </a:lnSpc>
              <a:spcBef>
                <a:spcPct val="50000"/>
              </a:spcBef>
            </a:pPr>
            <a:endParaRPr lang="zh-CN" altLang="en-US" sz="2400" b="0">
              <a:latin typeface="Tahoma" panose="020B0604030504040204" pitchFamily="34" charset="0"/>
            </a:endParaRPr>
          </a:p>
        </p:txBody>
      </p:sp>
      <p:sp>
        <p:nvSpPr>
          <p:cNvPr id="81931" name="文本框 81930"/>
          <p:cNvSpPr txBox="1"/>
          <p:nvPr/>
        </p:nvSpPr>
        <p:spPr>
          <a:xfrm>
            <a:off x="2895600" y="1905000"/>
            <a:ext cx="6096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  E</a:t>
            </a:r>
            <a:endParaRPr lang="en-US" altLang="zh-CN" sz="2400" b="0">
              <a:latin typeface="Tahoma" panose="020B0604030504040204" pitchFamily="34" charset="0"/>
            </a:endParaRPr>
          </a:p>
        </p:txBody>
      </p:sp>
      <p:sp>
        <p:nvSpPr>
          <p:cNvPr id="81932" name="直接连接符 81931"/>
          <p:cNvSpPr/>
          <p:nvPr/>
        </p:nvSpPr>
        <p:spPr>
          <a:xfrm>
            <a:off x="3505200" y="2438400"/>
            <a:ext cx="0" cy="1905000"/>
          </a:xfrm>
          <a:prstGeom prst="line">
            <a:avLst/>
          </a:prstGeom>
          <a:ln w="38100" cap="flat" cmpd="sng">
            <a:solidFill>
              <a:schemeClr val="tx1"/>
            </a:solidFill>
            <a:prstDash val="sysDot"/>
            <a:headEnd type="none" w="med" len="med"/>
            <a:tailEnd type="none" w="med" len="med"/>
          </a:ln>
        </p:spPr>
      </p:sp>
      <p:sp>
        <p:nvSpPr>
          <p:cNvPr id="81933" name="文本框 81932"/>
          <p:cNvSpPr txBox="1"/>
          <p:nvPr/>
        </p:nvSpPr>
        <p:spPr>
          <a:xfrm>
            <a:off x="3200400" y="4495800"/>
            <a:ext cx="9144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 H</a:t>
            </a:r>
            <a:endParaRPr lang="en-US" altLang="zh-CN" sz="2400" b="0">
              <a:latin typeface="Tahoma" panose="020B0604030504040204" pitchFamily="34" charset="0"/>
            </a:endParaRPr>
          </a:p>
        </p:txBody>
      </p:sp>
      <p:sp>
        <p:nvSpPr>
          <p:cNvPr id="81934" name="文本框 81933"/>
          <p:cNvSpPr txBox="1"/>
          <p:nvPr/>
        </p:nvSpPr>
        <p:spPr>
          <a:xfrm>
            <a:off x="1143000" y="4419600"/>
            <a:ext cx="7620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0</a:t>
            </a:r>
            <a:endParaRPr lang="en-US" altLang="zh-CN" sz="2400" b="0">
              <a:latin typeface="Tahoma" panose="020B0604030504040204" pitchFamily="34" charset="0"/>
            </a:endParaRPr>
          </a:p>
        </p:txBody>
      </p:sp>
      <p:sp>
        <p:nvSpPr>
          <p:cNvPr id="81935" name="标题 81934"/>
          <p:cNvSpPr txBox="1"/>
          <p:nvPr>
            <p:ph type="title"/>
          </p:nvPr>
        </p:nvSpPr>
        <p:spPr>
          <a:xfrm>
            <a:off x="0" y="304800"/>
            <a:ext cx="2895600" cy="685800"/>
          </a:xfrm>
          <a:ln/>
        </p:spPr>
        <p:txBody>
          <a:bodyPr vert="horz" wrap="square" lIns="91440" tIns="45720" rIns="91440" bIns="45720" anchor="b" anchorCtr="0"/>
          <a:p>
            <a:pPr>
              <a:spcBef>
                <a:spcPct val="50000"/>
              </a:spcBef>
            </a:pPr>
            <a:r>
              <a:rPr lang="en-US" altLang="zh-CN" sz="2400">
                <a:solidFill>
                  <a:schemeClr val="tx1"/>
                </a:solidFill>
              </a:rPr>
              <a:t>  C,I </a:t>
            </a:r>
            <a:r>
              <a:rPr lang="zh-CN" altLang="en-US" sz="2400">
                <a:solidFill>
                  <a:schemeClr val="tx1"/>
                </a:solidFill>
              </a:rPr>
              <a:t>总</a:t>
            </a:r>
            <a:r>
              <a:rPr lang="zh-CN" altLang="en-US" sz="2400" dirty="0">
                <a:solidFill>
                  <a:schemeClr val="tx1"/>
                </a:solidFill>
              </a:rPr>
              <a:t>需求</a:t>
            </a:r>
            <a:endParaRPr lang="zh-CN" altLang="en-US" sz="2400">
              <a:solidFill>
                <a:schemeClr val="tx1"/>
              </a:solidFill>
            </a:endParaRPr>
          </a:p>
        </p:txBody>
      </p:sp>
      <p:sp>
        <p:nvSpPr>
          <p:cNvPr id="81936" name="直接连接符 81935"/>
          <p:cNvSpPr/>
          <p:nvPr/>
        </p:nvSpPr>
        <p:spPr>
          <a:xfrm>
            <a:off x="1447800" y="3581400"/>
            <a:ext cx="4724400" cy="0"/>
          </a:xfrm>
          <a:prstGeom prst="line">
            <a:avLst/>
          </a:prstGeom>
          <a:ln w="38100" cap="flat" cmpd="sng">
            <a:solidFill>
              <a:schemeClr val="tx1"/>
            </a:solidFill>
            <a:prstDash val="solid"/>
            <a:headEnd type="none" w="med" len="med"/>
            <a:tailEnd type="none" w="med" len="med"/>
          </a:ln>
        </p:spPr>
      </p:sp>
      <p:sp>
        <p:nvSpPr>
          <p:cNvPr id="81937" name="文本框 81936"/>
          <p:cNvSpPr txBox="1"/>
          <p:nvPr/>
        </p:nvSpPr>
        <p:spPr>
          <a:xfrm>
            <a:off x="6172200" y="3429000"/>
            <a:ext cx="5334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I</a:t>
            </a:r>
            <a:endParaRPr lang="en-US" altLang="zh-CN" sz="2400" b="0">
              <a:latin typeface="Tahoma" panose="020B0604030504040204" pitchFamily="34" charset="0"/>
            </a:endParaRPr>
          </a:p>
        </p:txBody>
      </p:sp>
      <p:sp>
        <p:nvSpPr>
          <p:cNvPr id="81938" name="直接连接符 81937"/>
          <p:cNvSpPr/>
          <p:nvPr/>
        </p:nvSpPr>
        <p:spPr>
          <a:xfrm flipH="1">
            <a:off x="1905000" y="2209800"/>
            <a:ext cx="3733800" cy="2438400"/>
          </a:xfrm>
          <a:prstGeom prst="line">
            <a:avLst/>
          </a:prstGeom>
          <a:ln w="38100" cap="flat" cmpd="sng">
            <a:solidFill>
              <a:schemeClr val="tx1"/>
            </a:solidFill>
            <a:prstDash val="solid"/>
            <a:headEnd type="none" w="med" len="med"/>
            <a:tailEnd type="none" w="med" len="med"/>
          </a:ln>
        </p:spPr>
      </p:sp>
      <p:sp>
        <p:nvSpPr>
          <p:cNvPr id="81939" name="文本框 81938"/>
          <p:cNvSpPr txBox="1"/>
          <p:nvPr/>
        </p:nvSpPr>
        <p:spPr>
          <a:xfrm>
            <a:off x="5715000" y="2057400"/>
            <a:ext cx="6096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S</a:t>
            </a:r>
            <a:endParaRPr lang="en-US" altLang="zh-CN" sz="2400" b="0">
              <a:latin typeface="Tahoma" panose="020B0604030504040204" pitchFamily="34" charset="0"/>
            </a:endParaRPr>
          </a:p>
        </p:txBody>
      </p:sp>
      <p:sp>
        <p:nvSpPr>
          <p:cNvPr id="81940" name="文本框 81939"/>
          <p:cNvSpPr txBox="1"/>
          <p:nvPr/>
        </p:nvSpPr>
        <p:spPr>
          <a:xfrm>
            <a:off x="3657600" y="3733800"/>
            <a:ext cx="4572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E”</a:t>
            </a:r>
            <a:endParaRPr lang="en-US" altLang="zh-CN" sz="2400" b="0">
              <a:latin typeface="Tahoma" panose="020B060403050404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标题 82945"/>
          <p:cNvSpPr>
            <a:spLocks noGrp="1"/>
          </p:cNvSpPr>
          <p:nvPr>
            <p:ph type="title"/>
          </p:nvPr>
        </p:nvSpPr>
        <p:spPr>
          <a:ln/>
        </p:spPr>
        <p:txBody>
          <a:bodyPr anchor="ctr" anchorCtr="0"/>
          <a:p>
            <a:r>
              <a:rPr lang="zh-CN" altLang="en-US" sz="2800" b="1">
                <a:solidFill>
                  <a:srgbClr val="000000"/>
                </a:solidFill>
                <a:latin typeface="宋体" panose="02010600030101010101" pitchFamily="2" charset="-122"/>
              </a:rPr>
              <a:t>试</a:t>
            </a:r>
            <a:r>
              <a:rPr lang="zh-CN" altLang="en-US" sz="2800" b="1" dirty="0">
                <a:solidFill>
                  <a:srgbClr val="000000"/>
                </a:solidFill>
                <a:latin typeface="宋体" panose="02010600030101010101" pitchFamily="2" charset="-122"/>
              </a:rPr>
              <a:t>根据以下</a:t>
            </a:r>
            <a:r>
              <a:rPr lang="en-US" altLang="zh-CN" sz="2800" b="1">
                <a:solidFill>
                  <a:srgbClr val="000000"/>
                </a:solidFill>
                <a:latin typeface="宋体" panose="02010600030101010101" pitchFamily="2" charset="-122"/>
              </a:rPr>
              <a:t>A</a:t>
            </a:r>
            <a:r>
              <a:rPr lang="zh-CN" altLang="en-US" sz="2800" b="1" dirty="0">
                <a:solidFill>
                  <a:srgbClr val="000000"/>
                </a:solidFill>
                <a:latin typeface="宋体" panose="02010600030101010101" pitchFamily="2" charset="-122"/>
              </a:rPr>
              <a:t>国的资料回答附设的问题</a:t>
            </a:r>
            <a:r>
              <a:rPr lang="en-US" altLang="zh-CN" sz="2800" b="1">
                <a:solidFill>
                  <a:srgbClr val="000000"/>
                </a:solidFill>
                <a:latin typeface="宋体" panose="02010600030101010101" pitchFamily="2" charset="-122"/>
              </a:rPr>
              <a:t>:</a:t>
            </a:r>
            <a:endParaRPr lang="en-US" altLang="zh-CN" sz="2800" b="1">
              <a:solidFill>
                <a:srgbClr val="000000"/>
              </a:solidFill>
              <a:latin typeface="宋体" panose="02010600030101010101" pitchFamily="2" charset="-122"/>
            </a:endParaRPr>
          </a:p>
        </p:txBody>
      </p:sp>
      <p:sp>
        <p:nvSpPr>
          <p:cNvPr id="82947" name="文本占位符 82946"/>
          <p:cNvSpPr>
            <a:spLocks noGrp="1"/>
          </p:cNvSpPr>
          <p:nvPr>
            <p:ph type="body" idx="1"/>
          </p:nvPr>
        </p:nvSpPr>
        <p:spPr>
          <a:ln/>
        </p:spPr>
        <p:txBody>
          <a:bodyPr/>
          <a:p>
            <a:pPr marL="533400" indent="-533400">
              <a:buNone/>
            </a:pPr>
            <a:r>
              <a:rPr lang="en-US" altLang="zh-CN" sz="2800" b="1">
                <a:solidFill>
                  <a:srgbClr val="000000"/>
                </a:solidFill>
                <a:latin typeface="宋体" panose="02010600030101010101" pitchFamily="2" charset="-122"/>
              </a:rPr>
              <a:t>i.</a:t>
            </a:r>
            <a:r>
              <a:rPr lang="zh-CN" altLang="en-US" sz="2800" b="1" dirty="0">
                <a:solidFill>
                  <a:srgbClr val="000000"/>
                </a:solidFill>
                <a:latin typeface="宋体" panose="02010600030101010101" pitchFamily="2" charset="-122"/>
              </a:rPr>
              <a:t>消费函数</a:t>
            </a:r>
            <a:r>
              <a:rPr lang="en-US" altLang="zh-CN" sz="2800" b="1">
                <a:solidFill>
                  <a:srgbClr val="000000"/>
                </a:solidFill>
                <a:latin typeface="宋体" panose="02010600030101010101" pitchFamily="2" charset="-122"/>
              </a:rPr>
              <a:t>C=200+0.8Y</a:t>
            </a:r>
            <a:endParaRPr lang="en-US" altLang="zh-CN" sz="2800" b="1">
              <a:solidFill>
                <a:srgbClr val="000000"/>
              </a:solidFill>
              <a:latin typeface="宋体" panose="02010600030101010101" pitchFamily="2" charset="-122"/>
            </a:endParaRPr>
          </a:p>
          <a:p>
            <a:pPr marL="533400" indent="-533400">
              <a:buNone/>
            </a:pPr>
            <a:r>
              <a:rPr lang="en-US" altLang="zh-CN" sz="2800" b="1">
                <a:solidFill>
                  <a:srgbClr val="000000"/>
                </a:solidFill>
                <a:latin typeface="宋体" panose="02010600030101010101" pitchFamily="2" charset="-122"/>
              </a:rPr>
              <a:t>ii.</a:t>
            </a:r>
            <a:r>
              <a:rPr lang="zh-CN" altLang="en-US" sz="2800" b="1" dirty="0">
                <a:solidFill>
                  <a:srgbClr val="000000"/>
                </a:solidFill>
                <a:latin typeface="宋体" panose="02010600030101010101" pitchFamily="2" charset="-122"/>
              </a:rPr>
              <a:t>投资函数</a:t>
            </a:r>
            <a:r>
              <a:rPr lang="en-US" altLang="zh-CN" sz="2800" b="1">
                <a:solidFill>
                  <a:srgbClr val="000000"/>
                </a:solidFill>
                <a:latin typeface="宋体" panose="02010600030101010101" pitchFamily="2" charset="-122"/>
              </a:rPr>
              <a:t>I=100</a:t>
            </a:r>
            <a:endParaRPr lang="en-US" altLang="zh-CN" sz="2800" b="1">
              <a:solidFill>
                <a:srgbClr val="000000"/>
              </a:solidFill>
              <a:latin typeface="宋体" panose="02010600030101010101" pitchFamily="2" charset="-122"/>
            </a:endParaRPr>
          </a:p>
          <a:p>
            <a:pPr marL="533400" indent="-533400">
              <a:buNone/>
            </a:pPr>
            <a:r>
              <a:rPr lang="en-US" altLang="zh-CN" sz="2800" b="1">
                <a:solidFill>
                  <a:srgbClr val="000000"/>
                </a:solidFill>
                <a:latin typeface="宋体" panose="02010600030101010101" pitchFamily="2" charset="-122"/>
              </a:rPr>
              <a:t>iii.</a:t>
            </a:r>
            <a:r>
              <a:rPr lang="zh-CN" altLang="en-US" sz="2800" b="1" dirty="0">
                <a:solidFill>
                  <a:srgbClr val="000000"/>
                </a:solidFill>
                <a:latin typeface="宋体" panose="02010600030101010101" pitchFamily="2" charset="-122"/>
              </a:rPr>
              <a:t>总需求</a:t>
            </a:r>
            <a:r>
              <a:rPr lang="en-US" altLang="zh-CN" sz="2800" b="1">
                <a:solidFill>
                  <a:srgbClr val="000000"/>
                </a:solidFill>
                <a:latin typeface="宋体" panose="02010600030101010101" pitchFamily="2" charset="-122"/>
              </a:rPr>
              <a:t>=C+I</a:t>
            </a:r>
            <a:endParaRPr lang="en-US" altLang="zh-CN" sz="2800" b="1">
              <a:solidFill>
                <a:srgbClr val="000000"/>
              </a:solidFill>
              <a:latin typeface="宋体" panose="02010600030101010101" pitchFamily="2" charset="-122"/>
            </a:endParaRPr>
          </a:p>
          <a:p>
            <a:pPr marL="533400" indent="-533400">
              <a:buNone/>
            </a:pPr>
            <a:r>
              <a:rPr lang="en-US" altLang="zh-CN" sz="2800" b="1">
                <a:solidFill>
                  <a:srgbClr val="000000"/>
                </a:solidFill>
                <a:latin typeface="宋体" panose="02010600030101010101" pitchFamily="2" charset="-122"/>
              </a:rPr>
              <a:t>iv.</a:t>
            </a:r>
            <a:r>
              <a:rPr lang="zh-CN" altLang="en-US" sz="2800" b="1" dirty="0">
                <a:solidFill>
                  <a:srgbClr val="000000"/>
                </a:solidFill>
                <a:latin typeface="宋体" panose="02010600030101010101" pitchFamily="2" charset="-122"/>
              </a:rPr>
              <a:t>总供给</a:t>
            </a:r>
            <a:r>
              <a:rPr lang="en-US" altLang="zh-CN" sz="2800" b="1">
                <a:solidFill>
                  <a:srgbClr val="000000"/>
                </a:solidFill>
                <a:latin typeface="宋体" panose="02010600030101010101" pitchFamily="2" charset="-122"/>
              </a:rPr>
              <a:t>=Y</a:t>
            </a:r>
            <a:endParaRPr lang="en-US" altLang="zh-CN" sz="2800" b="1">
              <a:solidFill>
                <a:srgbClr val="000000"/>
              </a:solidFill>
              <a:latin typeface="宋体" panose="02010600030101010101" pitchFamily="2" charset="-122"/>
            </a:endParaRPr>
          </a:p>
          <a:p>
            <a:pPr marL="533400" indent="-533400">
              <a:buNone/>
            </a:pPr>
            <a:r>
              <a:rPr lang="en-US" altLang="zh-CN" sz="2800" b="1">
                <a:solidFill>
                  <a:srgbClr val="000000"/>
                </a:solidFill>
                <a:latin typeface="宋体" panose="02010600030101010101" pitchFamily="2" charset="-122"/>
              </a:rPr>
              <a:t>a.A</a:t>
            </a:r>
            <a:r>
              <a:rPr lang="zh-CN" altLang="en-US" sz="2800" b="1" dirty="0">
                <a:solidFill>
                  <a:srgbClr val="000000"/>
                </a:solidFill>
                <a:latin typeface="宋体" panose="02010600030101010101" pitchFamily="2" charset="-122"/>
              </a:rPr>
              <a:t>国的</a:t>
            </a:r>
            <a:r>
              <a:rPr lang="en-US" altLang="zh-CN" sz="2800" b="1">
                <a:solidFill>
                  <a:srgbClr val="000000"/>
                </a:solidFill>
                <a:latin typeface="宋体" panose="02010600030101010101" pitchFamily="2" charset="-122"/>
              </a:rPr>
              <a:t>MPC</a:t>
            </a:r>
            <a:r>
              <a:rPr lang="zh-CN" altLang="en-US" sz="2800" b="1">
                <a:solidFill>
                  <a:srgbClr val="000000"/>
                </a:solidFill>
                <a:latin typeface="宋体" panose="02010600030101010101" pitchFamily="2" charset="-122"/>
              </a:rPr>
              <a:t>和</a:t>
            </a:r>
            <a:r>
              <a:rPr lang="en-US" altLang="zh-CN" sz="2800" b="1">
                <a:solidFill>
                  <a:srgbClr val="000000"/>
                </a:solidFill>
                <a:latin typeface="宋体" panose="02010600030101010101" pitchFamily="2" charset="-122"/>
              </a:rPr>
              <a:t>MPS</a:t>
            </a:r>
            <a:r>
              <a:rPr lang="zh-CN" altLang="en-US" sz="2800" b="1" dirty="0">
                <a:solidFill>
                  <a:srgbClr val="000000"/>
                </a:solidFill>
                <a:latin typeface="宋体" panose="02010600030101010101" pitchFamily="2" charset="-122"/>
              </a:rPr>
              <a:t>是多少，均衡收入</a:t>
            </a:r>
            <a:r>
              <a:rPr lang="en-US" altLang="zh-CN" sz="2800" b="1">
                <a:solidFill>
                  <a:srgbClr val="000000"/>
                </a:solidFill>
                <a:latin typeface="宋体" panose="02010600030101010101" pitchFamily="2" charset="-122"/>
              </a:rPr>
              <a:t>?</a:t>
            </a:r>
            <a:endParaRPr lang="en-US" altLang="zh-CN" sz="2800" b="1">
              <a:solidFill>
                <a:srgbClr val="000000"/>
              </a:solidFill>
              <a:latin typeface="宋体" panose="02010600030101010101" pitchFamily="2" charset="-122"/>
            </a:endParaRPr>
          </a:p>
          <a:p>
            <a:pPr marL="533400" indent="-533400">
              <a:buNone/>
            </a:pPr>
            <a:r>
              <a:rPr lang="en-US" altLang="zh-CN" sz="2800" b="1">
                <a:solidFill>
                  <a:srgbClr val="000000"/>
                </a:solidFill>
                <a:latin typeface="宋体" panose="02010600030101010101" pitchFamily="2" charset="-122"/>
              </a:rPr>
              <a:t>b.</a:t>
            </a:r>
            <a:r>
              <a:rPr lang="zh-CN" altLang="en-US" sz="2800" b="1" dirty="0">
                <a:solidFill>
                  <a:srgbClr val="000000"/>
                </a:solidFill>
                <a:latin typeface="宋体" panose="02010600030101010101" pitchFamily="2" charset="-122"/>
              </a:rPr>
              <a:t>当投资增加</a:t>
            </a:r>
            <a:r>
              <a:rPr lang="en-US" altLang="zh-CN" sz="2800" b="1">
                <a:solidFill>
                  <a:srgbClr val="000000"/>
                </a:solidFill>
                <a:latin typeface="宋体" panose="02010600030101010101" pitchFamily="2" charset="-122"/>
              </a:rPr>
              <a:t>10</a:t>
            </a:r>
            <a:r>
              <a:rPr lang="zh-CN" altLang="en-US" sz="2800" b="1" dirty="0">
                <a:solidFill>
                  <a:srgbClr val="000000"/>
                </a:solidFill>
                <a:latin typeface="宋体" panose="02010600030101010101" pitchFamily="2" charset="-122"/>
              </a:rPr>
              <a:t>个单位</a:t>
            </a:r>
            <a:r>
              <a:rPr lang="en-US" altLang="zh-CN" sz="2800" b="1">
                <a:solidFill>
                  <a:srgbClr val="000000"/>
                </a:solidFill>
                <a:latin typeface="宋体" panose="02010600030101010101" pitchFamily="2" charset="-122"/>
              </a:rPr>
              <a:t>,</a:t>
            </a:r>
            <a:r>
              <a:rPr lang="zh-CN" altLang="en-US" sz="2800" b="1" dirty="0">
                <a:solidFill>
                  <a:srgbClr val="000000"/>
                </a:solidFill>
                <a:latin typeface="宋体" panose="02010600030101010101" pitchFamily="2" charset="-122"/>
              </a:rPr>
              <a:t>即上述</a:t>
            </a:r>
            <a:r>
              <a:rPr lang="en-US" altLang="zh-CN" sz="2800" b="1">
                <a:solidFill>
                  <a:srgbClr val="000000"/>
                </a:solidFill>
                <a:latin typeface="宋体" panose="02010600030101010101" pitchFamily="2" charset="-122"/>
              </a:rPr>
              <a:t>(ii)</a:t>
            </a:r>
            <a:r>
              <a:rPr lang="zh-CN" altLang="en-US" sz="2800" b="1">
                <a:solidFill>
                  <a:srgbClr val="000000"/>
                </a:solidFill>
                <a:latin typeface="宋体" panose="02010600030101010101" pitchFamily="2" charset="-122"/>
              </a:rPr>
              <a:t>的</a:t>
            </a:r>
            <a:r>
              <a:rPr lang="en-US" altLang="zh-CN" sz="2800" b="1">
                <a:solidFill>
                  <a:srgbClr val="000000"/>
                </a:solidFill>
                <a:latin typeface="宋体" panose="02010600030101010101" pitchFamily="2" charset="-122"/>
              </a:rPr>
              <a:t>I=110</a:t>
            </a:r>
            <a:r>
              <a:rPr lang="zh-CN" altLang="en-US" sz="2800" b="1" dirty="0">
                <a:solidFill>
                  <a:srgbClr val="000000"/>
                </a:solidFill>
                <a:latin typeface="宋体" panose="02010600030101010101" pitchFamily="2" charset="-122"/>
              </a:rPr>
              <a:t>时，均衡收入会上升多少</a:t>
            </a:r>
            <a:r>
              <a:rPr lang="en-US" altLang="zh-CN" sz="2800" b="1">
                <a:solidFill>
                  <a:srgbClr val="000000"/>
                </a:solidFill>
                <a:latin typeface="宋体" panose="02010600030101010101" pitchFamily="2" charset="-122"/>
              </a:rPr>
              <a:t>?</a:t>
            </a:r>
            <a:endParaRPr lang="en-US" altLang="zh-CN" sz="2800" b="1">
              <a:solidFill>
                <a:srgbClr val="000000"/>
              </a:solidFill>
              <a:latin typeface="宋体" panose="02010600030101010101" pitchFamily="2" charset="-122"/>
            </a:endParaRPr>
          </a:p>
          <a:p>
            <a:pPr marL="533400" indent="-533400">
              <a:buNone/>
            </a:pPr>
            <a:r>
              <a:rPr lang="en-US" altLang="zh-CN" sz="2800" b="1" dirty="0" err="1">
                <a:solidFill>
                  <a:srgbClr val="000000"/>
                </a:solidFill>
                <a:latin typeface="宋体" panose="02010600030101010101" pitchFamily="2" charset="-122"/>
              </a:rPr>
              <a:t>c.A</a:t>
            </a:r>
            <a:r>
              <a:rPr lang="zh-CN" altLang="en-US" sz="2800" b="1" dirty="0">
                <a:solidFill>
                  <a:srgbClr val="000000"/>
                </a:solidFill>
                <a:latin typeface="宋体" panose="02010600030101010101" pitchFamily="2" charset="-122"/>
              </a:rPr>
              <a:t>国的储蓄函数是什么</a:t>
            </a:r>
            <a:r>
              <a:rPr lang="en-US" altLang="zh-CN" sz="2800" b="1">
                <a:solidFill>
                  <a:srgbClr val="000000"/>
                </a:solidFill>
                <a:latin typeface="宋体" panose="02010600030101010101" pitchFamily="2" charset="-122"/>
              </a:rPr>
              <a:t>?</a:t>
            </a:r>
            <a:endParaRPr lang="en-US" altLang="zh-CN" sz="2800" b="1">
              <a:solidFill>
                <a:srgbClr val="000000"/>
              </a:solidFill>
              <a:latin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标题 84993"/>
          <p:cNvSpPr>
            <a:spLocks noGrp="1"/>
          </p:cNvSpPr>
          <p:nvPr>
            <p:ph type="title"/>
          </p:nvPr>
        </p:nvSpPr>
        <p:spPr>
          <a:xfrm>
            <a:off x="762000" y="0"/>
            <a:ext cx="7772400" cy="914400"/>
          </a:xfrm>
          <a:ln/>
        </p:spPr>
        <p:txBody>
          <a:bodyPr anchor="ctr" anchorCtr="0"/>
          <a:p>
            <a:r>
              <a:rPr lang="zh-CN" altLang="en-US" sz="2800" b="1" dirty="0">
                <a:solidFill>
                  <a:srgbClr val="FF0000"/>
                </a:solidFill>
              </a:rPr>
              <a:t>简单凯恩斯模型的引申</a:t>
            </a:r>
            <a:br>
              <a:rPr lang="zh-CN" altLang="en-US" sz="2800" b="1" dirty="0">
                <a:solidFill>
                  <a:srgbClr val="FF0000"/>
                </a:solidFill>
              </a:rPr>
            </a:br>
            <a:r>
              <a:rPr lang="zh-CN" altLang="en-US" sz="2800" b="1" dirty="0">
                <a:solidFill>
                  <a:srgbClr val="FF0000"/>
                </a:solidFill>
              </a:rPr>
              <a:t>三部门经济中国民收入的决定</a:t>
            </a:r>
            <a:endParaRPr lang="zh-CN" altLang="en-US" sz="2800" b="1">
              <a:solidFill>
                <a:srgbClr val="FF0000"/>
              </a:solidFill>
            </a:endParaRPr>
          </a:p>
        </p:txBody>
      </p:sp>
      <p:sp>
        <p:nvSpPr>
          <p:cNvPr id="84995" name="文本占位符 84994"/>
          <p:cNvSpPr>
            <a:spLocks noGrp="1"/>
          </p:cNvSpPr>
          <p:nvPr>
            <p:ph type="body" idx="1"/>
          </p:nvPr>
        </p:nvSpPr>
        <p:spPr>
          <a:xfrm>
            <a:off x="228600" y="990600"/>
            <a:ext cx="8915400" cy="4114800"/>
          </a:xfrm>
          <a:ln/>
        </p:spPr>
        <p:txBody>
          <a:bodyPr/>
          <a:p>
            <a:pPr marL="0" indent="0">
              <a:lnSpc>
                <a:spcPct val="90000"/>
              </a:lnSpc>
              <a:buNone/>
            </a:pPr>
            <a:r>
              <a:rPr lang="zh-CN" altLang="en-US" sz="2400" b="1">
                <a:solidFill>
                  <a:srgbClr val="FF0000"/>
                </a:solidFill>
              </a:rPr>
              <a:t>三</a:t>
            </a:r>
            <a:r>
              <a:rPr lang="zh-CN" altLang="en-US" sz="2400" b="1" dirty="0">
                <a:solidFill>
                  <a:srgbClr val="FF0000"/>
                </a:solidFill>
              </a:rPr>
              <a:t>部门经济</a:t>
            </a:r>
            <a:r>
              <a:rPr lang="zh-CN" altLang="en-US" sz="2400" dirty="0">
                <a:solidFill>
                  <a:srgbClr val="000000"/>
                </a:solidFill>
              </a:rPr>
              <a:t>是包括了</a:t>
            </a:r>
            <a:r>
              <a:rPr lang="zh-CN" altLang="en-US" sz="2400" b="1" dirty="0">
                <a:solidFill>
                  <a:srgbClr val="FF0000"/>
                </a:solidFill>
              </a:rPr>
              <a:t>厂商、居民户与政府</a:t>
            </a:r>
            <a:r>
              <a:rPr lang="zh-CN" altLang="en-US" sz="2400" dirty="0">
                <a:solidFill>
                  <a:srgbClr val="000000"/>
                </a:solidFill>
              </a:rPr>
              <a:t>的经济。</a:t>
            </a:r>
            <a:endParaRPr lang="zh-CN" altLang="en-US" sz="2400" dirty="0">
              <a:solidFill>
                <a:srgbClr val="000000"/>
              </a:solidFill>
            </a:endParaRPr>
          </a:p>
          <a:p>
            <a:pPr marL="0" indent="0">
              <a:lnSpc>
                <a:spcPct val="90000"/>
              </a:lnSpc>
              <a:buNone/>
            </a:pPr>
            <a:r>
              <a:rPr lang="zh-CN" altLang="en-US" sz="2400" b="1" dirty="0">
                <a:solidFill>
                  <a:srgbClr val="FF0000"/>
                </a:solidFill>
              </a:rPr>
              <a:t>政府</a:t>
            </a:r>
            <a:r>
              <a:rPr lang="zh-CN" altLang="en-US" sz="2400" dirty="0">
                <a:solidFill>
                  <a:srgbClr val="000000"/>
                </a:solidFill>
              </a:rPr>
              <a:t>在经济中的</a:t>
            </a:r>
            <a:r>
              <a:rPr lang="zh-CN" altLang="en-US" sz="2400" b="1" dirty="0">
                <a:solidFill>
                  <a:srgbClr val="FF0000"/>
                </a:solidFill>
              </a:rPr>
              <a:t>作用</a:t>
            </a:r>
            <a:r>
              <a:rPr lang="zh-CN" altLang="en-US" sz="2400" dirty="0">
                <a:solidFill>
                  <a:srgbClr val="000000"/>
                </a:solidFill>
              </a:rPr>
              <a:t>主要通过</a:t>
            </a:r>
            <a:r>
              <a:rPr lang="zh-CN" altLang="en-US" sz="2400" b="1" dirty="0">
                <a:solidFill>
                  <a:srgbClr val="FF0000"/>
                </a:solidFill>
              </a:rPr>
              <a:t>政府支出</a:t>
            </a:r>
            <a:r>
              <a:rPr lang="zh-CN" altLang="en-US" sz="2400" dirty="0">
                <a:solidFill>
                  <a:srgbClr val="000000"/>
                </a:solidFill>
              </a:rPr>
              <a:t>与</a:t>
            </a:r>
            <a:r>
              <a:rPr lang="zh-CN" altLang="en-US" sz="2400" b="1" dirty="0">
                <a:solidFill>
                  <a:srgbClr val="FF0000"/>
                </a:solidFill>
              </a:rPr>
              <a:t>税收</a:t>
            </a:r>
            <a:r>
              <a:rPr lang="zh-CN" altLang="en-US" sz="2400" dirty="0">
                <a:solidFill>
                  <a:srgbClr val="000000"/>
                </a:solidFill>
              </a:rPr>
              <a:t>来实现。</a:t>
            </a:r>
            <a:endParaRPr lang="zh-CN" altLang="en-US" sz="2400" dirty="0">
              <a:solidFill>
                <a:srgbClr val="000000"/>
              </a:solidFill>
            </a:endParaRPr>
          </a:p>
          <a:p>
            <a:pPr marL="0" indent="0">
              <a:lnSpc>
                <a:spcPct val="90000"/>
              </a:lnSpc>
              <a:buNone/>
            </a:pPr>
            <a:r>
              <a:rPr lang="zh-CN" altLang="en-US" sz="2400" b="1" dirty="0">
                <a:solidFill>
                  <a:srgbClr val="FF0000"/>
                </a:solidFill>
              </a:rPr>
              <a:t>政府支出</a:t>
            </a:r>
            <a:r>
              <a:rPr lang="zh-CN" altLang="en-US" sz="2400" dirty="0">
                <a:solidFill>
                  <a:srgbClr val="000000"/>
                </a:solidFill>
              </a:rPr>
              <a:t>包括对</a:t>
            </a:r>
            <a:r>
              <a:rPr lang="zh-CN" altLang="en-US" sz="2400" b="1" dirty="0">
                <a:solidFill>
                  <a:srgbClr val="000000"/>
                </a:solidFill>
              </a:rPr>
              <a:t>产品与劳务的购买</a:t>
            </a:r>
            <a:r>
              <a:rPr lang="zh-CN" altLang="en-US" sz="2400" dirty="0">
                <a:solidFill>
                  <a:srgbClr val="000000"/>
                </a:solidFill>
              </a:rPr>
              <a:t>与</a:t>
            </a:r>
            <a:r>
              <a:rPr lang="zh-CN" altLang="en-US" sz="2400" b="1" dirty="0">
                <a:solidFill>
                  <a:srgbClr val="000000"/>
                </a:solidFill>
              </a:rPr>
              <a:t>转移支付</a:t>
            </a:r>
            <a:r>
              <a:rPr lang="zh-CN" altLang="en-US" sz="2400" dirty="0">
                <a:solidFill>
                  <a:srgbClr val="000000"/>
                </a:solidFill>
              </a:rPr>
              <a:t>，转移支付是政府不以换取产品与劳务为目的的支出。</a:t>
            </a:r>
            <a:r>
              <a:rPr lang="zh-CN" altLang="en-US" sz="2400" b="1" dirty="0">
                <a:solidFill>
                  <a:srgbClr val="FF0000"/>
                </a:solidFill>
              </a:rPr>
              <a:t>政府税收</a:t>
            </a:r>
            <a:r>
              <a:rPr lang="zh-CN" altLang="en-US" sz="2400" dirty="0">
                <a:solidFill>
                  <a:srgbClr val="000000"/>
                </a:solidFill>
              </a:rPr>
              <a:t>主要包括两类。一类是</a:t>
            </a:r>
            <a:r>
              <a:rPr lang="zh-CN" altLang="en-US" sz="2400" b="1" dirty="0">
                <a:solidFill>
                  <a:srgbClr val="000000"/>
                </a:solidFill>
              </a:rPr>
              <a:t>直接税</a:t>
            </a:r>
            <a:r>
              <a:rPr lang="zh-CN" altLang="en-US" sz="2400" dirty="0">
                <a:solidFill>
                  <a:srgbClr val="000000"/>
                </a:solidFill>
              </a:rPr>
              <a:t>，这种税是对财产与收入征收的税，由纳税人直接承担。另一类是</a:t>
            </a:r>
            <a:r>
              <a:rPr lang="zh-CN" altLang="en-US" sz="2400" b="1" dirty="0">
                <a:solidFill>
                  <a:srgbClr val="000000"/>
                </a:solidFill>
              </a:rPr>
              <a:t>间接税</a:t>
            </a:r>
            <a:r>
              <a:rPr lang="zh-CN" altLang="en-US" sz="2400" dirty="0">
                <a:solidFill>
                  <a:srgbClr val="000000"/>
                </a:solidFill>
              </a:rPr>
              <a:t>，这种税是对商品与劳务所征收的税。</a:t>
            </a:r>
            <a:endParaRPr lang="zh-CN" altLang="en-US" sz="2400" dirty="0">
              <a:solidFill>
                <a:srgbClr val="000000"/>
              </a:solidFill>
            </a:endParaRPr>
          </a:p>
          <a:p>
            <a:pPr marL="0" indent="0">
              <a:lnSpc>
                <a:spcPct val="90000"/>
              </a:lnSpc>
              <a:buNone/>
            </a:pPr>
            <a:r>
              <a:rPr lang="zh-CN" altLang="en-US" sz="2400" b="1" dirty="0">
                <a:solidFill>
                  <a:srgbClr val="FF0000"/>
                </a:solidFill>
              </a:rPr>
              <a:t>从总供给的角度，</a:t>
            </a:r>
            <a:r>
              <a:rPr lang="en-US" altLang="zh-CN" sz="2400" b="1">
                <a:solidFill>
                  <a:srgbClr val="FF0000"/>
                </a:solidFill>
              </a:rPr>
              <a:t>Y=C(</a:t>
            </a:r>
            <a:r>
              <a:rPr lang="zh-CN" altLang="en-US" sz="2400" b="1" dirty="0">
                <a:solidFill>
                  <a:srgbClr val="FF0000"/>
                </a:solidFill>
              </a:rPr>
              <a:t>消费</a:t>
            </a:r>
            <a:r>
              <a:rPr lang="en-US" altLang="zh-CN" sz="2400" b="1">
                <a:solidFill>
                  <a:srgbClr val="FF0000"/>
                </a:solidFill>
              </a:rPr>
              <a:t>)+S(</a:t>
            </a:r>
            <a:r>
              <a:rPr lang="zh-CN" altLang="en-US" sz="2400" b="1" dirty="0">
                <a:solidFill>
                  <a:srgbClr val="FF0000"/>
                </a:solidFill>
              </a:rPr>
              <a:t>储蓄</a:t>
            </a:r>
            <a:r>
              <a:rPr lang="en-US" altLang="zh-CN" sz="2400" b="1">
                <a:solidFill>
                  <a:srgbClr val="FF0000"/>
                </a:solidFill>
              </a:rPr>
              <a:t>)+T(</a:t>
            </a:r>
            <a:r>
              <a:rPr lang="zh-CN" altLang="en-US" sz="2400" b="1" dirty="0">
                <a:solidFill>
                  <a:srgbClr val="FF0000"/>
                </a:solidFill>
              </a:rPr>
              <a:t>税收</a:t>
            </a:r>
            <a:r>
              <a:rPr lang="en-US" altLang="zh-CN" sz="2400" b="1">
                <a:solidFill>
                  <a:srgbClr val="FF0000"/>
                </a:solidFill>
              </a:rPr>
              <a:t>)</a:t>
            </a:r>
            <a:endParaRPr lang="en-US" altLang="zh-CN" sz="2400" b="1">
              <a:solidFill>
                <a:srgbClr val="FF0000"/>
              </a:solidFill>
            </a:endParaRPr>
          </a:p>
          <a:p>
            <a:pPr marL="0" indent="0">
              <a:lnSpc>
                <a:spcPct val="90000"/>
              </a:lnSpc>
              <a:buNone/>
            </a:pPr>
            <a:r>
              <a:rPr lang="zh-CN" altLang="en-US" sz="2400" b="1" dirty="0">
                <a:solidFill>
                  <a:srgbClr val="FF0000"/>
                </a:solidFill>
              </a:rPr>
              <a:t>从总需求的角度，</a:t>
            </a:r>
            <a:r>
              <a:rPr lang="en-US" altLang="zh-CN" sz="2400" b="1">
                <a:solidFill>
                  <a:srgbClr val="FF0000"/>
                </a:solidFill>
              </a:rPr>
              <a:t>Y=C (</a:t>
            </a:r>
            <a:r>
              <a:rPr lang="zh-CN" altLang="en-US" sz="2400" b="1" dirty="0">
                <a:solidFill>
                  <a:srgbClr val="FF0000"/>
                </a:solidFill>
              </a:rPr>
              <a:t>消费</a:t>
            </a:r>
            <a:r>
              <a:rPr lang="en-US" altLang="zh-CN" sz="2400" b="1">
                <a:solidFill>
                  <a:srgbClr val="FF0000"/>
                </a:solidFill>
              </a:rPr>
              <a:t>) +I(</a:t>
            </a:r>
            <a:r>
              <a:rPr lang="zh-CN" altLang="en-US" sz="2400" b="1" dirty="0">
                <a:solidFill>
                  <a:srgbClr val="FF0000"/>
                </a:solidFill>
              </a:rPr>
              <a:t>投资</a:t>
            </a:r>
            <a:r>
              <a:rPr lang="en-US" altLang="zh-CN" sz="2400" b="1">
                <a:solidFill>
                  <a:srgbClr val="FF0000"/>
                </a:solidFill>
              </a:rPr>
              <a:t>)+G(</a:t>
            </a:r>
            <a:r>
              <a:rPr lang="zh-CN" altLang="en-US" sz="2400" b="1" dirty="0">
                <a:solidFill>
                  <a:srgbClr val="FF0000"/>
                </a:solidFill>
              </a:rPr>
              <a:t>政府支出</a:t>
            </a:r>
            <a:r>
              <a:rPr lang="en-US" altLang="zh-CN" sz="2400" b="1">
                <a:solidFill>
                  <a:srgbClr val="FF0000"/>
                </a:solidFill>
              </a:rPr>
              <a:t>)</a:t>
            </a:r>
            <a:endParaRPr lang="en-US" altLang="zh-CN" sz="2400" b="1">
              <a:solidFill>
                <a:srgbClr val="FF0000"/>
              </a:solidFill>
            </a:endParaRPr>
          </a:p>
          <a:p>
            <a:pPr marL="0" indent="0">
              <a:lnSpc>
                <a:spcPct val="90000"/>
              </a:lnSpc>
              <a:buNone/>
            </a:pPr>
            <a:r>
              <a:rPr lang="en-US" altLang="zh-CN" sz="2400" b="1">
                <a:solidFill>
                  <a:srgbClr val="FF0000"/>
                </a:solidFill>
              </a:rPr>
              <a:t>(I-S)</a:t>
            </a:r>
            <a:r>
              <a:rPr lang="zh-CN" altLang="en-US" sz="2400" b="1" dirty="0">
                <a:solidFill>
                  <a:srgbClr val="FF0000"/>
                </a:solidFill>
              </a:rPr>
              <a:t>称为投资储蓄差额，</a:t>
            </a:r>
            <a:r>
              <a:rPr lang="en-US" altLang="zh-CN" sz="2400" b="1">
                <a:solidFill>
                  <a:srgbClr val="FF0000"/>
                </a:solidFill>
              </a:rPr>
              <a:t>(T-G)</a:t>
            </a:r>
            <a:r>
              <a:rPr lang="zh-CN" altLang="en-US" sz="2400" b="1" dirty="0">
                <a:solidFill>
                  <a:srgbClr val="FF0000"/>
                </a:solidFill>
              </a:rPr>
              <a:t>称为政府收支差额</a:t>
            </a:r>
            <a:endParaRPr lang="zh-CN" altLang="en-US" sz="2400" b="1" dirty="0">
              <a:solidFill>
                <a:srgbClr val="FF0000"/>
              </a:solidFill>
            </a:endParaRPr>
          </a:p>
          <a:p>
            <a:pPr marL="0" indent="0">
              <a:lnSpc>
                <a:spcPct val="90000"/>
              </a:lnSpc>
              <a:buNone/>
            </a:pPr>
            <a:r>
              <a:rPr lang="zh-CN" altLang="en-US" sz="2400" dirty="0">
                <a:solidFill>
                  <a:srgbClr val="000000"/>
                </a:solidFill>
              </a:rPr>
              <a:t>国民收入</a:t>
            </a:r>
            <a:r>
              <a:rPr lang="zh-CN" altLang="en-US" sz="2400" b="1" dirty="0">
                <a:solidFill>
                  <a:srgbClr val="000000"/>
                </a:solidFill>
              </a:rPr>
              <a:t>均衡条件</a:t>
            </a:r>
            <a:r>
              <a:rPr lang="en-US" altLang="zh-CN" sz="2400" b="1">
                <a:solidFill>
                  <a:srgbClr val="000000"/>
                </a:solidFill>
              </a:rPr>
              <a:t>: </a:t>
            </a:r>
            <a:r>
              <a:rPr lang="zh-CN" altLang="en-US" sz="2400" b="1" dirty="0">
                <a:solidFill>
                  <a:srgbClr val="000000"/>
                </a:solidFill>
              </a:rPr>
              <a:t>总供给</a:t>
            </a:r>
            <a:r>
              <a:rPr lang="en-US" altLang="zh-CN" sz="2400" b="1">
                <a:solidFill>
                  <a:srgbClr val="000000"/>
                </a:solidFill>
              </a:rPr>
              <a:t>=</a:t>
            </a:r>
            <a:r>
              <a:rPr lang="zh-CN" altLang="en-US" sz="2400" b="1" dirty="0">
                <a:solidFill>
                  <a:srgbClr val="000000"/>
                </a:solidFill>
              </a:rPr>
              <a:t>总需求</a:t>
            </a:r>
            <a:endParaRPr lang="zh-CN" altLang="en-US" sz="2400" b="1" dirty="0">
              <a:solidFill>
                <a:srgbClr val="000000"/>
              </a:solidFill>
            </a:endParaRPr>
          </a:p>
          <a:p>
            <a:pPr marL="0" indent="0">
              <a:lnSpc>
                <a:spcPct val="90000"/>
              </a:lnSpc>
              <a:buNone/>
            </a:pPr>
            <a:r>
              <a:rPr lang="en-US" altLang="zh-CN" sz="2400">
                <a:solidFill>
                  <a:srgbClr val="000000"/>
                </a:solidFill>
              </a:rPr>
              <a:t>C+S+T=C+I+G  </a:t>
            </a:r>
            <a:r>
              <a:rPr lang="zh-CN" altLang="en-US" sz="2400" dirty="0">
                <a:solidFill>
                  <a:srgbClr val="000000"/>
                </a:solidFill>
              </a:rPr>
              <a:t>可得， </a:t>
            </a:r>
            <a:r>
              <a:rPr lang="en-US" altLang="zh-CN" sz="2400">
                <a:solidFill>
                  <a:srgbClr val="000000"/>
                </a:solidFill>
              </a:rPr>
              <a:t>S+T=I+G </a:t>
            </a:r>
            <a:endParaRPr lang="en-US" altLang="zh-CN" sz="2400">
              <a:solidFill>
                <a:srgbClr val="000000"/>
              </a:solidFill>
            </a:endParaRPr>
          </a:p>
          <a:p>
            <a:pPr marL="0" indent="0">
              <a:lnSpc>
                <a:spcPct val="90000"/>
              </a:lnSpc>
              <a:buNone/>
            </a:pPr>
            <a:r>
              <a:rPr lang="en-US" altLang="zh-CN" sz="2400" b="1">
                <a:solidFill>
                  <a:srgbClr val="000000"/>
                </a:solidFill>
              </a:rPr>
              <a:t>S+T&gt;I+G  </a:t>
            </a:r>
            <a:r>
              <a:rPr lang="zh-CN" altLang="en-US" sz="2400" b="1" dirty="0">
                <a:solidFill>
                  <a:srgbClr val="000000"/>
                </a:solidFill>
              </a:rPr>
              <a:t>国民收入收缩</a:t>
            </a:r>
            <a:endParaRPr lang="zh-CN" altLang="en-US" sz="2400" b="1" dirty="0">
              <a:solidFill>
                <a:srgbClr val="000000"/>
              </a:solidFill>
            </a:endParaRPr>
          </a:p>
          <a:p>
            <a:pPr marL="0" indent="0">
              <a:lnSpc>
                <a:spcPct val="90000"/>
              </a:lnSpc>
              <a:buNone/>
            </a:pPr>
            <a:r>
              <a:rPr lang="en-US" altLang="zh-CN" sz="2400" b="1">
                <a:solidFill>
                  <a:srgbClr val="000000"/>
                </a:solidFill>
              </a:rPr>
              <a:t>S+T&lt;I+G  </a:t>
            </a:r>
            <a:r>
              <a:rPr lang="zh-CN" altLang="en-US" sz="2400" b="1" dirty="0">
                <a:solidFill>
                  <a:srgbClr val="000000"/>
                </a:solidFill>
              </a:rPr>
              <a:t>国民收入扩张</a:t>
            </a:r>
            <a:endParaRPr lang="zh-CN" altLang="en-US" sz="2400" b="1">
              <a:solidFill>
                <a:srgbClr val="000000"/>
              </a:solidFill>
            </a:endParaRPr>
          </a:p>
          <a:p>
            <a:pPr marL="0" indent="0">
              <a:lnSpc>
                <a:spcPct val="90000"/>
              </a:lnSpc>
              <a:buNone/>
            </a:pPr>
            <a:r>
              <a:rPr lang="en-US" altLang="zh-CN" sz="2400" b="1">
                <a:solidFill>
                  <a:srgbClr val="000000"/>
                </a:solidFill>
              </a:rPr>
              <a:t>S+T=I+G  </a:t>
            </a:r>
            <a:r>
              <a:rPr lang="zh-CN" altLang="en-US" sz="2400" b="1" dirty="0">
                <a:solidFill>
                  <a:srgbClr val="000000"/>
                </a:solidFill>
              </a:rPr>
              <a:t>国民收入均衡</a:t>
            </a:r>
            <a:endParaRPr lang="zh-CN" altLang="en-US" sz="2400" b="1" dirty="0">
              <a:solidFill>
                <a:srgbClr val="000000"/>
              </a:solidFill>
            </a:endParaRPr>
          </a:p>
          <a:p>
            <a:pPr marL="0" indent="0">
              <a:lnSpc>
                <a:spcPct val="90000"/>
              </a:lnSpc>
              <a:buNone/>
            </a:pPr>
            <a:r>
              <a:rPr lang="zh-CN" altLang="en-US" sz="2400" b="1" dirty="0">
                <a:solidFill>
                  <a:srgbClr val="FF0000"/>
                </a:solidFill>
              </a:rPr>
              <a:t>漏出</a:t>
            </a:r>
            <a:r>
              <a:rPr lang="zh-CN" altLang="en-US" sz="2400" dirty="0">
                <a:solidFill>
                  <a:srgbClr val="000000"/>
                </a:solidFill>
              </a:rPr>
              <a:t>包括了</a:t>
            </a:r>
            <a:r>
              <a:rPr lang="zh-CN" altLang="en-US" sz="2400" b="1" dirty="0">
                <a:solidFill>
                  <a:srgbClr val="000000"/>
                </a:solidFill>
              </a:rPr>
              <a:t>储蓄</a:t>
            </a:r>
            <a:r>
              <a:rPr lang="zh-CN" altLang="en-US" sz="2400" dirty="0">
                <a:solidFill>
                  <a:srgbClr val="000000"/>
                </a:solidFill>
              </a:rPr>
              <a:t>与</a:t>
            </a:r>
            <a:r>
              <a:rPr lang="zh-CN" altLang="en-US" sz="2400" b="1" dirty="0">
                <a:solidFill>
                  <a:srgbClr val="000000"/>
                </a:solidFill>
              </a:rPr>
              <a:t>税收</a:t>
            </a:r>
            <a:r>
              <a:rPr lang="zh-CN" altLang="en-US" sz="2400" dirty="0">
                <a:solidFill>
                  <a:srgbClr val="000000"/>
                </a:solidFill>
              </a:rPr>
              <a:t>，</a:t>
            </a:r>
            <a:r>
              <a:rPr lang="zh-CN" altLang="en-US" sz="2400" b="1" dirty="0">
                <a:solidFill>
                  <a:srgbClr val="FF0000"/>
                </a:solidFill>
              </a:rPr>
              <a:t>注入</a:t>
            </a:r>
            <a:r>
              <a:rPr lang="zh-CN" altLang="en-US" sz="2400" dirty="0">
                <a:solidFill>
                  <a:srgbClr val="000000"/>
                </a:solidFill>
              </a:rPr>
              <a:t>包括了</a:t>
            </a:r>
            <a:r>
              <a:rPr lang="zh-CN" altLang="en-US" sz="2400" b="1" dirty="0">
                <a:solidFill>
                  <a:srgbClr val="000000"/>
                </a:solidFill>
              </a:rPr>
              <a:t>投资</a:t>
            </a:r>
            <a:r>
              <a:rPr lang="zh-CN" altLang="en-US" sz="2400" dirty="0">
                <a:solidFill>
                  <a:srgbClr val="000000"/>
                </a:solidFill>
              </a:rPr>
              <a:t>与</a:t>
            </a:r>
            <a:r>
              <a:rPr lang="zh-CN" altLang="en-US" sz="2400" b="1" dirty="0">
                <a:solidFill>
                  <a:srgbClr val="000000"/>
                </a:solidFill>
              </a:rPr>
              <a:t>政府支出</a:t>
            </a:r>
            <a:r>
              <a:rPr lang="zh-CN" altLang="en-US" sz="2400" dirty="0">
                <a:solidFill>
                  <a:srgbClr val="000000"/>
                </a:solidFill>
              </a:rPr>
              <a:t>。</a:t>
            </a:r>
            <a:endParaRPr lang="zh-CN" altLang="en-US" sz="2400">
              <a:solidFill>
                <a:srgbClr val="00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标题 86017"/>
          <p:cNvSpPr>
            <a:spLocks noGrp="1"/>
          </p:cNvSpPr>
          <p:nvPr>
            <p:ph type="title"/>
          </p:nvPr>
        </p:nvSpPr>
        <p:spPr>
          <a:xfrm>
            <a:off x="684213" y="0"/>
            <a:ext cx="7772400" cy="900113"/>
          </a:xfrm>
          <a:ln/>
        </p:spPr>
        <p:txBody>
          <a:bodyPr anchor="ctr" anchorCtr="0"/>
          <a:p>
            <a:r>
              <a:rPr lang="zh-CN" altLang="en-US" b="1">
                <a:solidFill>
                  <a:srgbClr val="FF0000"/>
                </a:solidFill>
                <a:ea typeface="华文行楷" panose="02010800040101010101" pitchFamily="2" charset="-122"/>
              </a:rPr>
              <a:t>四</a:t>
            </a:r>
            <a:r>
              <a:rPr lang="zh-CN" altLang="en-US" b="1" dirty="0">
                <a:solidFill>
                  <a:srgbClr val="FF0000"/>
                </a:solidFill>
                <a:ea typeface="华文行楷" panose="02010800040101010101" pitchFamily="2" charset="-122"/>
              </a:rPr>
              <a:t>部门经济中国民收入的决定</a:t>
            </a:r>
            <a:endParaRPr lang="zh-CN" altLang="en-US" b="1">
              <a:solidFill>
                <a:srgbClr val="FF0000"/>
              </a:solidFill>
              <a:ea typeface="华文行楷" panose="02010800040101010101" pitchFamily="2" charset="-122"/>
            </a:endParaRPr>
          </a:p>
        </p:txBody>
      </p:sp>
      <p:sp>
        <p:nvSpPr>
          <p:cNvPr id="86019" name="文本占位符 86018"/>
          <p:cNvSpPr>
            <a:spLocks noGrp="1"/>
          </p:cNvSpPr>
          <p:nvPr>
            <p:ph type="body" idx="1"/>
          </p:nvPr>
        </p:nvSpPr>
        <p:spPr>
          <a:xfrm>
            <a:off x="304800" y="914400"/>
            <a:ext cx="8610600" cy="5610225"/>
          </a:xfrm>
          <a:ln/>
        </p:spPr>
        <p:txBody>
          <a:bodyPr/>
          <a:p>
            <a:pPr marL="0" indent="0">
              <a:lnSpc>
                <a:spcPct val="90000"/>
              </a:lnSpc>
              <a:buNone/>
            </a:pPr>
            <a:r>
              <a:rPr lang="zh-CN" altLang="en-US" sz="2800" b="1">
                <a:solidFill>
                  <a:srgbClr val="FF0000"/>
                </a:solidFill>
                <a:latin typeface="宋体" panose="02010600030101010101" pitchFamily="2" charset="-122"/>
              </a:rPr>
              <a:t>四</a:t>
            </a:r>
            <a:r>
              <a:rPr lang="zh-CN" altLang="en-US" sz="2800" b="1" dirty="0">
                <a:solidFill>
                  <a:srgbClr val="FF0000"/>
                </a:solidFill>
                <a:latin typeface="宋体" panose="02010600030101010101" pitchFamily="2" charset="-122"/>
              </a:rPr>
              <a:t>部门经济</a:t>
            </a:r>
            <a:r>
              <a:rPr lang="zh-CN" altLang="en-US" sz="2800" dirty="0">
                <a:solidFill>
                  <a:srgbClr val="000000"/>
                </a:solidFill>
                <a:latin typeface="宋体" panose="02010600030101010101" pitchFamily="2" charset="-122"/>
              </a:rPr>
              <a:t>是包括了</a:t>
            </a:r>
            <a:r>
              <a:rPr lang="zh-CN" altLang="en-US" sz="2800" b="1" dirty="0">
                <a:solidFill>
                  <a:srgbClr val="FF0000"/>
                </a:solidFill>
                <a:latin typeface="宋体" panose="02010600030101010101" pitchFamily="2" charset="-122"/>
              </a:rPr>
              <a:t>厂商、居民户、政府与国外部门</a:t>
            </a:r>
            <a:r>
              <a:rPr lang="zh-CN" altLang="en-US" sz="2800" dirty="0">
                <a:solidFill>
                  <a:srgbClr val="000000"/>
                </a:solidFill>
                <a:latin typeface="宋体" panose="02010600030101010101" pitchFamily="2" charset="-122"/>
              </a:rPr>
              <a:t>的经济，又称开放经济</a:t>
            </a:r>
            <a:r>
              <a:rPr lang="en-US" altLang="zh-CN" sz="2800">
                <a:solidFill>
                  <a:srgbClr val="000000"/>
                </a:solidFill>
                <a:latin typeface="宋体" panose="02010600030101010101" pitchFamily="2" charset="-122"/>
              </a:rPr>
              <a:t>(open economy)</a:t>
            </a:r>
            <a:r>
              <a:rPr lang="zh-CN" altLang="en-US" sz="2800">
                <a:solidFill>
                  <a:srgbClr val="000000"/>
                </a:solidFill>
                <a:latin typeface="宋体" panose="02010600030101010101" pitchFamily="2" charset="-122"/>
              </a:rPr>
              <a:t>。</a:t>
            </a:r>
            <a:endParaRPr lang="zh-CN" altLang="en-US" sz="2800">
              <a:solidFill>
                <a:srgbClr val="000000"/>
              </a:solidFill>
              <a:latin typeface="宋体" panose="02010600030101010101" pitchFamily="2" charset="-122"/>
            </a:endParaRPr>
          </a:p>
          <a:p>
            <a:pPr marL="0" indent="0">
              <a:lnSpc>
                <a:spcPct val="90000"/>
              </a:lnSpc>
              <a:buNone/>
            </a:pPr>
            <a:r>
              <a:rPr lang="zh-CN" altLang="en-US" sz="2800" b="1">
                <a:solidFill>
                  <a:srgbClr val="FF0000"/>
                </a:solidFill>
                <a:latin typeface="宋体" panose="02010600030101010101" pitchFamily="2" charset="-122"/>
              </a:rPr>
              <a:t>从总</a:t>
            </a:r>
            <a:r>
              <a:rPr lang="zh-CN" altLang="en-US" sz="2800" b="1" dirty="0">
                <a:solidFill>
                  <a:srgbClr val="FF0000"/>
                </a:solidFill>
                <a:latin typeface="宋体" panose="02010600030101010101" pitchFamily="2" charset="-122"/>
              </a:rPr>
              <a:t>供给角度，</a:t>
            </a:r>
            <a:r>
              <a:rPr lang="en-US" altLang="zh-CN" sz="2800" b="1">
                <a:solidFill>
                  <a:srgbClr val="FF0000"/>
                </a:solidFill>
                <a:latin typeface="宋体" panose="02010600030101010101" pitchFamily="2" charset="-122"/>
              </a:rPr>
              <a:t>Y=C(</a:t>
            </a:r>
            <a:r>
              <a:rPr lang="zh-CN" altLang="en-US" sz="2800" b="1" dirty="0">
                <a:solidFill>
                  <a:srgbClr val="FF0000"/>
                </a:solidFill>
                <a:latin typeface="宋体" panose="02010600030101010101" pitchFamily="2" charset="-122"/>
              </a:rPr>
              <a:t>消费</a:t>
            </a:r>
            <a:r>
              <a:rPr lang="en-US" altLang="zh-CN" sz="2800" b="1">
                <a:solidFill>
                  <a:srgbClr val="FF0000"/>
                </a:solidFill>
                <a:latin typeface="宋体" panose="02010600030101010101" pitchFamily="2" charset="-122"/>
              </a:rPr>
              <a:t>)+S(</a:t>
            </a:r>
            <a:r>
              <a:rPr lang="zh-CN" altLang="en-US" sz="2800" b="1" dirty="0">
                <a:solidFill>
                  <a:srgbClr val="FF0000"/>
                </a:solidFill>
                <a:latin typeface="宋体" panose="02010600030101010101" pitchFamily="2" charset="-122"/>
              </a:rPr>
              <a:t>储蓄</a:t>
            </a:r>
            <a:r>
              <a:rPr lang="en-US" altLang="zh-CN" sz="2800" b="1">
                <a:solidFill>
                  <a:srgbClr val="FF0000"/>
                </a:solidFill>
                <a:latin typeface="宋体" panose="02010600030101010101" pitchFamily="2" charset="-122"/>
              </a:rPr>
              <a:t>)+T(</a:t>
            </a:r>
            <a:r>
              <a:rPr lang="zh-CN" altLang="en-US" sz="2800" b="1" dirty="0">
                <a:solidFill>
                  <a:srgbClr val="FF0000"/>
                </a:solidFill>
                <a:latin typeface="宋体" panose="02010600030101010101" pitchFamily="2" charset="-122"/>
              </a:rPr>
              <a:t>税收</a:t>
            </a:r>
            <a:r>
              <a:rPr lang="en-US" altLang="zh-CN" sz="2800" b="1">
                <a:solidFill>
                  <a:srgbClr val="FF0000"/>
                </a:solidFill>
                <a:latin typeface="宋体" panose="02010600030101010101" pitchFamily="2" charset="-122"/>
              </a:rPr>
              <a:t>)+M(</a:t>
            </a:r>
            <a:r>
              <a:rPr lang="zh-CN" altLang="en-US" sz="2800" b="1" dirty="0">
                <a:solidFill>
                  <a:srgbClr val="FF0000"/>
                </a:solidFill>
                <a:latin typeface="宋体" panose="02010600030101010101" pitchFamily="2" charset="-122"/>
              </a:rPr>
              <a:t>进口</a:t>
            </a:r>
            <a:r>
              <a:rPr lang="en-US" altLang="zh-CN" sz="2800" b="1">
                <a:solidFill>
                  <a:srgbClr val="FF0000"/>
                </a:solidFill>
                <a:latin typeface="宋体" panose="02010600030101010101" pitchFamily="2" charset="-122"/>
              </a:rPr>
              <a:t>)</a:t>
            </a:r>
            <a:endParaRPr lang="en-US" altLang="zh-CN" sz="2800" b="1">
              <a:solidFill>
                <a:srgbClr val="FF0000"/>
              </a:solidFill>
              <a:latin typeface="宋体" panose="02010600030101010101" pitchFamily="2" charset="-122"/>
            </a:endParaRPr>
          </a:p>
          <a:p>
            <a:pPr marL="0" indent="0">
              <a:lnSpc>
                <a:spcPct val="90000"/>
              </a:lnSpc>
              <a:buNone/>
            </a:pPr>
            <a:r>
              <a:rPr lang="zh-CN" altLang="en-US" sz="2800" b="1" dirty="0">
                <a:solidFill>
                  <a:srgbClr val="FF0000"/>
                </a:solidFill>
                <a:latin typeface="宋体" panose="02010600030101010101" pitchFamily="2" charset="-122"/>
              </a:rPr>
              <a:t>总需求角度，</a:t>
            </a:r>
            <a:r>
              <a:rPr lang="en-US" altLang="zh-CN" sz="2800" b="1">
                <a:solidFill>
                  <a:srgbClr val="FF0000"/>
                </a:solidFill>
                <a:latin typeface="宋体" panose="02010600030101010101" pitchFamily="2" charset="-122"/>
              </a:rPr>
              <a:t>Y=C (</a:t>
            </a:r>
            <a:r>
              <a:rPr lang="zh-CN" altLang="en-US" sz="2800" b="1" dirty="0">
                <a:solidFill>
                  <a:srgbClr val="FF0000"/>
                </a:solidFill>
                <a:latin typeface="宋体" panose="02010600030101010101" pitchFamily="2" charset="-122"/>
              </a:rPr>
              <a:t>消费</a:t>
            </a:r>
            <a:r>
              <a:rPr lang="en-US" altLang="zh-CN" sz="2800" b="1">
                <a:solidFill>
                  <a:srgbClr val="FF0000"/>
                </a:solidFill>
                <a:latin typeface="宋体" panose="02010600030101010101" pitchFamily="2" charset="-122"/>
              </a:rPr>
              <a:t>) +I(</a:t>
            </a:r>
            <a:r>
              <a:rPr lang="zh-CN" altLang="en-US" sz="2800" b="1" dirty="0">
                <a:solidFill>
                  <a:srgbClr val="FF0000"/>
                </a:solidFill>
                <a:latin typeface="宋体" panose="02010600030101010101" pitchFamily="2" charset="-122"/>
              </a:rPr>
              <a:t>投资</a:t>
            </a:r>
            <a:r>
              <a:rPr lang="en-US" altLang="zh-CN" sz="2800" b="1">
                <a:solidFill>
                  <a:srgbClr val="FF0000"/>
                </a:solidFill>
                <a:latin typeface="宋体" panose="02010600030101010101" pitchFamily="2" charset="-122"/>
              </a:rPr>
              <a:t>)+G(</a:t>
            </a:r>
            <a:r>
              <a:rPr lang="zh-CN" altLang="en-US" sz="2800" b="1" dirty="0">
                <a:solidFill>
                  <a:srgbClr val="FF0000"/>
                </a:solidFill>
                <a:latin typeface="宋体" panose="02010600030101010101" pitchFamily="2" charset="-122"/>
              </a:rPr>
              <a:t>政府支出</a:t>
            </a:r>
            <a:r>
              <a:rPr lang="en-US" altLang="zh-CN" sz="2800" b="1">
                <a:solidFill>
                  <a:srgbClr val="FF0000"/>
                </a:solidFill>
                <a:latin typeface="宋体" panose="02010600030101010101" pitchFamily="2" charset="-122"/>
              </a:rPr>
              <a:t>)+X(</a:t>
            </a:r>
            <a:r>
              <a:rPr lang="zh-CN" altLang="en-US" sz="2800" b="1" dirty="0">
                <a:solidFill>
                  <a:srgbClr val="FF0000"/>
                </a:solidFill>
                <a:latin typeface="宋体" panose="02010600030101010101" pitchFamily="2" charset="-122"/>
              </a:rPr>
              <a:t>出口</a:t>
            </a:r>
            <a:r>
              <a:rPr lang="en-US" altLang="zh-CN" sz="2800" b="1">
                <a:solidFill>
                  <a:srgbClr val="FF0000"/>
                </a:solidFill>
                <a:latin typeface="宋体" panose="02010600030101010101" pitchFamily="2" charset="-122"/>
              </a:rPr>
              <a:t>)</a:t>
            </a:r>
            <a:endParaRPr lang="en-US" altLang="zh-CN" sz="2800" b="1">
              <a:solidFill>
                <a:srgbClr val="FF0000"/>
              </a:solidFill>
              <a:latin typeface="宋体" panose="02010600030101010101" pitchFamily="2" charset="-122"/>
            </a:endParaRPr>
          </a:p>
          <a:p>
            <a:pPr marL="0" indent="0">
              <a:lnSpc>
                <a:spcPct val="90000"/>
              </a:lnSpc>
              <a:buNone/>
            </a:pPr>
            <a:r>
              <a:rPr lang="zh-CN" altLang="en-US" sz="2800" dirty="0">
                <a:solidFill>
                  <a:srgbClr val="000000"/>
                </a:solidFill>
                <a:latin typeface="宋体" panose="02010600030101010101" pitchFamily="2" charset="-122"/>
              </a:rPr>
              <a:t>国民收入均衡条件</a:t>
            </a:r>
            <a:r>
              <a:rPr lang="en-US" altLang="zh-CN" sz="2800">
                <a:solidFill>
                  <a:srgbClr val="000000"/>
                </a:solidFill>
                <a:latin typeface="宋体" panose="02010600030101010101" pitchFamily="2" charset="-122"/>
              </a:rPr>
              <a:t>: </a:t>
            </a:r>
            <a:r>
              <a:rPr lang="zh-CN" altLang="en-US" sz="2800" dirty="0">
                <a:solidFill>
                  <a:srgbClr val="000000"/>
                </a:solidFill>
                <a:latin typeface="宋体" panose="02010600030101010101" pitchFamily="2" charset="-122"/>
              </a:rPr>
              <a:t>总供给</a:t>
            </a:r>
            <a:r>
              <a:rPr lang="en-US" altLang="zh-CN" sz="2800">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总需求</a:t>
            </a:r>
            <a:endParaRPr lang="zh-CN" altLang="en-US" sz="2800" dirty="0">
              <a:solidFill>
                <a:srgbClr val="000000"/>
              </a:solidFill>
              <a:latin typeface="宋体" panose="02010600030101010101" pitchFamily="2" charset="-122"/>
            </a:endParaRPr>
          </a:p>
          <a:p>
            <a:pPr marL="0" indent="0">
              <a:lnSpc>
                <a:spcPct val="90000"/>
              </a:lnSpc>
              <a:buNone/>
            </a:pPr>
            <a:r>
              <a:rPr lang="en-US" altLang="zh-CN" sz="2800">
                <a:solidFill>
                  <a:srgbClr val="000000"/>
                </a:solidFill>
                <a:latin typeface="宋体" panose="02010600030101010101" pitchFamily="2" charset="-122"/>
              </a:rPr>
              <a:t>C+S+T+M=C+I+G+X</a:t>
            </a:r>
            <a:r>
              <a:rPr lang="zh-CN" altLang="en-US" sz="2800">
                <a:solidFill>
                  <a:srgbClr val="000000"/>
                </a:solidFill>
                <a:latin typeface="宋体" panose="02010600030101010101" pitchFamily="2" charset="-122"/>
              </a:rPr>
              <a:t>，</a:t>
            </a:r>
            <a:r>
              <a:rPr lang="zh-CN" altLang="en-US" sz="2800" dirty="0">
                <a:solidFill>
                  <a:srgbClr val="000000"/>
                </a:solidFill>
                <a:latin typeface="宋体" panose="02010600030101010101" pitchFamily="2" charset="-122"/>
              </a:rPr>
              <a:t>可得</a:t>
            </a:r>
            <a:r>
              <a:rPr lang="en-US" altLang="zh-CN" sz="2800">
                <a:solidFill>
                  <a:srgbClr val="000000"/>
                </a:solidFill>
                <a:latin typeface="宋体" panose="02010600030101010101" pitchFamily="2" charset="-122"/>
              </a:rPr>
              <a:t>:   S+T+M=I+G+X</a:t>
            </a:r>
            <a:endParaRPr lang="en-US" altLang="zh-CN" sz="2800">
              <a:solidFill>
                <a:srgbClr val="000000"/>
              </a:solidFill>
              <a:latin typeface="宋体" panose="02010600030101010101" pitchFamily="2" charset="-122"/>
            </a:endParaRPr>
          </a:p>
          <a:p>
            <a:pPr marL="0" indent="0">
              <a:lnSpc>
                <a:spcPct val="90000"/>
              </a:lnSpc>
              <a:buNone/>
            </a:pPr>
            <a:r>
              <a:rPr lang="en-US" altLang="zh-CN" sz="2800" b="1">
                <a:solidFill>
                  <a:srgbClr val="FF0000"/>
                </a:solidFill>
                <a:latin typeface="宋体" panose="02010600030101010101" pitchFamily="2" charset="-122"/>
              </a:rPr>
              <a:t>S+T+M&gt;I+G+X </a:t>
            </a:r>
            <a:r>
              <a:rPr lang="zh-CN" altLang="en-US" sz="2800" b="1">
                <a:solidFill>
                  <a:srgbClr val="FF0000"/>
                </a:solidFill>
                <a:latin typeface="宋体" panose="02010600030101010101" pitchFamily="2" charset="-122"/>
              </a:rPr>
              <a:t>，</a:t>
            </a:r>
            <a:r>
              <a:rPr lang="zh-CN" altLang="en-US" sz="2800" b="1" dirty="0">
                <a:solidFill>
                  <a:srgbClr val="FF0000"/>
                </a:solidFill>
                <a:latin typeface="宋体" panose="02010600030101010101" pitchFamily="2" charset="-122"/>
              </a:rPr>
              <a:t>国民收入收缩</a:t>
            </a:r>
            <a:endParaRPr lang="zh-CN" altLang="en-US" sz="2800" b="1" dirty="0">
              <a:solidFill>
                <a:srgbClr val="FF0000"/>
              </a:solidFill>
              <a:latin typeface="宋体" panose="02010600030101010101" pitchFamily="2" charset="-122"/>
            </a:endParaRPr>
          </a:p>
          <a:p>
            <a:pPr marL="0" indent="0">
              <a:lnSpc>
                <a:spcPct val="90000"/>
              </a:lnSpc>
              <a:buNone/>
            </a:pPr>
            <a:r>
              <a:rPr lang="en-US" altLang="zh-CN" sz="2800" b="1">
                <a:solidFill>
                  <a:srgbClr val="FF0000"/>
                </a:solidFill>
                <a:latin typeface="宋体" panose="02010600030101010101" pitchFamily="2" charset="-122"/>
              </a:rPr>
              <a:t>S+T+M&lt;I+G+X</a:t>
            </a:r>
            <a:r>
              <a:rPr lang="zh-CN" altLang="en-US" sz="2800" b="1">
                <a:solidFill>
                  <a:srgbClr val="FF0000"/>
                </a:solidFill>
                <a:latin typeface="宋体" panose="02010600030101010101" pitchFamily="2" charset="-122"/>
              </a:rPr>
              <a:t>， </a:t>
            </a:r>
            <a:r>
              <a:rPr lang="zh-CN" altLang="en-US" sz="2800" b="1" dirty="0">
                <a:solidFill>
                  <a:srgbClr val="FF0000"/>
                </a:solidFill>
                <a:latin typeface="宋体" panose="02010600030101010101" pitchFamily="2" charset="-122"/>
              </a:rPr>
              <a:t>国民收入扩张</a:t>
            </a:r>
            <a:endParaRPr lang="zh-CN" altLang="en-US" sz="2800" b="1" dirty="0">
              <a:solidFill>
                <a:srgbClr val="FF0000"/>
              </a:solidFill>
              <a:latin typeface="宋体" panose="02010600030101010101" pitchFamily="2" charset="-122"/>
            </a:endParaRPr>
          </a:p>
          <a:p>
            <a:pPr marL="0" indent="0">
              <a:lnSpc>
                <a:spcPct val="90000"/>
              </a:lnSpc>
              <a:buNone/>
            </a:pPr>
            <a:r>
              <a:rPr lang="en-US" altLang="zh-CN" sz="2800" b="1">
                <a:solidFill>
                  <a:srgbClr val="FF0000"/>
                </a:solidFill>
                <a:latin typeface="宋体" panose="02010600030101010101" pitchFamily="2" charset="-122"/>
              </a:rPr>
              <a:t>S+T+M=I+G+X</a:t>
            </a:r>
            <a:r>
              <a:rPr lang="zh-CN" altLang="en-US" sz="2800" b="1">
                <a:solidFill>
                  <a:srgbClr val="FF0000"/>
                </a:solidFill>
                <a:latin typeface="宋体" panose="02010600030101010101" pitchFamily="2" charset="-122"/>
              </a:rPr>
              <a:t>， </a:t>
            </a:r>
            <a:r>
              <a:rPr lang="zh-CN" altLang="en-US" sz="2800" b="1" dirty="0">
                <a:solidFill>
                  <a:srgbClr val="FF0000"/>
                </a:solidFill>
                <a:latin typeface="宋体" panose="02010600030101010101" pitchFamily="2" charset="-122"/>
              </a:rPr>
              <a:t>国民收入均衡</a:t>
            </a:r>
            <a:endParaRPr lang="zh-CN" altLang="en-US" sz="2800" b="1" dirty="0">
              <a:solidFill>
                <a:srgbClr val="FF0000"/>
              </a:solidFill>
              <a:latin typeface="宋体" panose="02010600030101010101" pitchFamily="2" charset="-122"/>
            </a:endParaRPr>
          </a:p>
          <a:p>
            <a:pPr marL="0" indent="0">
              <a:lnSpc>
                <a:spcPct val="90000"/>
              </a:lnSpc>
              <a:buNone/>
            </a:pPr>
            <a:r>
              <a:rPr lang="zh-CN" altLang="en-US" sz="2800" b="1" dirty="0">
                <a:solidFill>
                  <a:srgbClr val="FF0000"/>
                </a:solidFill>
                <a:latin typeface="宋体" panose="02010600030101010101" pitchFamily="2" charset="-122"/>
              </a:rPr>
              <a:t>漏出</a:t>
            </a:r>
            <a:r>
              <a:rPr lang="zh-CN" altLang="en-US" sz="2800" dirty="0">
                <a:solidFill>
                  <a:srgbClr val="000000"/>
                </a:solidFill>
                <a:latin typeface="宋体" panose="02010600030101010101" pitchFamily="2" charset="-122"/>
              </a:rPr>
              <a:t>包括了储蓄、税收与进口</a:t>
            </a:r>
            <a:endParaRPr lang="zh-CN" altLang="en-US" sz="2800" dirty="0">
              <a:solidFill>
                <a:srgbClr val="000000"/>
              </a:solidFill>
              <a:latin typeface="宋体" panose="02010600030101010101" pitchFamily="2" charset="-122"/>
            </a:endParaRPr>
          </a:p>
          <a:p>
            <a:pPr marL="0" indent="0">
              <a:lnSpc>
                <a:spcPct val="90000"/>
              </a:lnSpc>
              <a:buNone/>
            </a:pPr>
            <a:r>
              <a:rPr lang="zh-CN" altLang="en-US" sz="2800" b="1" dirty="0">
                <a:solidFill>
                  <a:srgbClr val="FF0000"/>
                </a:solidFill>
                <a:latin typeface="宋体" panose="02010600030101010101" pitchFamily="2" charset="-122"/>
              </a:rPr>
              <a:t>注入</a:t>
            </a:r>
            <a:r>
              <a:rPr lang="zh-CN" altLang="en-US" sz="2800" dirty="0">
                <a:solidFill>
                  <a:srgbClr val="000000"/>
                </a:solidFill>
                <a:latin typeface="宋体" panose="02010600030101010101" pitchFamily="2" charset="-122"/>
              </a:rPr>
              <a:t>包括了投资、政府支出与出口</a:t>
            </a:r>
            <a:endParaRPr lang="zh-CN" altLang="en-US" sz="2800" dirty="0">
              <a:solidFill>
                <a:srgbClr val="000000"/>
              </a:solidFill>
              <a:latin typeface="宋体" panose="02010600030101010101" pitchFamily="2" charset="-122"/>
            </a:endParaRPr>
          </a:p>
          <a:p>
            <a:pPr marL="0" indent="0">
              <a:lnSpc>
                <a:spcPct val="90000"/>
              </a:lnSpc>
              <a:buNone/>
            </a:pPr>
            <a:endParaRPr lang="zh-CN" altLang="en-US" sz="2800">
              <a:solidFill>
                <a:srgbClr val="000000"/>
              </a:solidFill>
              <a:latin typeface="宋体" panose="02010600030101010101" pitchFamily="2" charset="-122"/>
            </a:endParaRPr>
          </a:p>
          <a:p>
            <a:pPr marL="0" indent="0">
              <a:lnSpc>
                <a:spcPct val="90000"/>
              </a:lnSpc>
              <a:buNone/>
            </a:pPr>
            <a:endParaRPr lang="zh-CN" altLang="en-US" sz="2800">
              <a:solidFill>
                <a:srgbClr val="000000"/>
              </a:solidFill>
              <a:latin typeface="宋体" panose="02010600030101010101" pitchFamily="2" charset="-122"/>
            </a:endParaRPr>
          </a:p>
          <a:p>
            <a:pPr marL="0" indent="0">
              <a:lnSpc>
                <a:spcPct val="90000"/>
              </a:lnSpc>
              <a:buNone/>
            </a:pPr>
            <a:endParaRPr lang="zh-CN" altLang="en-US" sz="2400">
              <a:solidFill>
                <a:srgbClr val="000000"/>
              </a:solidFill>
              <a:latin typeface="宋体" panose="02010600030101010101" pitchFamily="2" charset="-122"/>
            </a:endParaRPr>
          </a:p>
          <a:p>
            <a:pPr marL="0" indent="0">
              <a:lnSpc>
                <a:spcPct val="90000"/>
              </a:lnSpc>
              <a:buNone/>
            </a:pPr>
            <a:endParaRPr lang="zh-CN" altLang="en-US" sz="2400">
              <a:solidFill>
                <a:srgbClr val="000000"/>
              </a:solidFill>
              <a:latin typeface="宋体" panose="02010600030101010101" pitchFamily="2" charset="-122"/>
            </a:endParaRPr>
          </a:p>
          <a:p>
            <a:pPr marL="0" indent="0">
              <a:lnSpc>
                <a:spcPct val="90000"/>
              </a:lnSpc>
              <a:buNone/>
            </a:pPr>
            <a:endParaRPr lang="zh-CN" altLang="en-US" sz="2400">
              <a:solidFill>
                <a:srgbClr val="000000"/>
              </a:solidFill>
              <a:latin typeface="宋体" panose="02010600030101010101" pitchFamily="2" charset="-122"/>
            </a:endParaRPr>
          </a:p>
          <a:p>
            <a:pPr marL="0" indent="0">
              <a:lnSpc>
                <a:spcPct val="90000"/>
              </a:lnSpc>
              <a:buNone/>
            </a:pPr>
            <a:endParaRPr lang="zh-CN" altLang="en-US" sz="2000">
              <a:solidFill>
                <a:srgbClr val="000000"/>
              </a:solidFill>
              <a:latin typeface="宋体" panose="02010600030101010101"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标题 87041"/>
          <p:cNvSpPr>
            <a:spLocks noGrp="1"/>
          </p:cNvSpPr>
          <p:nvPr>
            <p:ph type="title"/>
          </p:nvPr>
        </p:nvSpPr>
        <p:spPr>
          <a:ln/>
        </p:spPr>
        <p:txBody>
          <a:bodyPr anchor="ctr" anchorCtr="0"/>
          <a:p>
            <a:r>
              <a:rPr lang="zh-CN" altLang="en-US" b="1" dirty="0">
                <a:solidFill>
                  <a:srgbClr val="FF0000"/>
                </a:solidFill>
                <a:ea typeface="华文行楷" panose="02010800040101010101" pitchFamily="2" charset="-122"/>
              </a:rPr>
              <a:t>国民收入的调节</a:t>
            </a:r>
            <a:endParaRPr lang="zh-CN" altLang="en-US" b="1">
              <a:solidFill>
                <a:srgbClr val="FF0000"/>
              </a:solidFill>
              <a:ea typeface="华文行楷" panose="02010800040101010101" pitchFamily="2" charset="-122"/>
            </a:endParaRPr>
          </a:p>
        </p:txBody>
      </p:sp>
      <p:sp>
        <p:nvSpPr>
          <p:cNvPr id="87043" name="文本占位符 87042"/>
          <p:cNvSpPr>
            <a:spLocks noGrp="1"/>
          </p:cNvSpPr>
          <p:nvPr>
            <p:ph type="body" idx="1"/>
          </p:nvPr>
        </p:nvSpPr>
        <p:spPr>
          <a:ln/>
        </p:spPr>
        <p:txBody>
          <a:bodyPr/>
          <a:p>
            <a:pPr>
              <a:lnSpc>
                <a:spcPct val="90000"/>
              </a:lnSpc>
              <a:buNone/>
            </a:pPr>
            <a:r>
              <a:rPr lang="zh-CN" altLang="en-US" sz="2800">
                <a:solidFill>
                  <a:srgbClr val="000000"/>
                </a:solidFill>
              </a:rPr>
              <a:t>以三部份</a:t>
            </a:r>
            <a:r>
              <a:rPr lang="zh-CN" altLang="en-US" sz="2800" dirty="0">
                <a:solidFill>
                  <a:srgbClr val="000000"/>
                </a:solidFill>
              </a:rPr>
              <a:t>经济为例</a:t>
            </a:r>
            <a:r>
              <a:rPr lang="en-US" altLang="zh-CN" sz="2800">
                <a:solidFill>
                  <a:srgbClr val="000000"/>
                </a:solidFill>
              </a:rPr>
              <a:t>:</a:t>
            </a:r>
            <a:endParaRPr lang="en-US" altLang="zh-CN" sz="2800">
              <a:solidFill>
                <a:srgbClr val="000000"/>
              </a:solidFill>
            </a:endParaRPr>
          </a:p>
          <a:p>
            <a:pPr>
              <a:lnSpc>
                <a:spcPct val="90000"/>
              </a:lnSpc>
              <a:buNone/>
            </a:pPr>
            <a:r>
              <a:rPr lang="zh-CN" altLang="en-US" sz="2800" dirty="0">
                <a:solidFill>
                  <a:srgbClr val="000000"/>
                </a:solidFill>
              </a:rPr>
              <a:t>国民收入均衡条件</a:t>
            </a:r>
            <a:r>
              <a:rPr lang="en-US" altLang="zh-CN" sz="2800">
                <a:solidFill>
                  <a:srgbClr val="000000"/>
                </a:solidFill>
              </a:rPr>
              <a:t>:</a:t>
            </a:r>
            <a:endParaRPr lang="en-US" altLang="zh-CN" sz="2800">
              <a:solidFill>
                <a:srgbClr val="000000"/>
              </a:solidFill>
            </a:endParaRPr>
          </a:p>
          <a:p>
            <a:pPr>
              <a:lnSpc>
                <a:spcPct val="90000"/>
              </a:lnSpc>
              <a:buNone/>
            </a:pPr>
            <a:r>
              <a:rPr lang="en-US" altLang="zh-CN" sz="2800">
                <a:solidFill>
                  <a:srgbClr val="000000"/>
                </a:solidFill>
              </a:rPr>
              <a:t>C+I+G=C+S+T</a:t>
            </a:r>
            <a:endParaRPr lang="en-US" altLang="zh-CN" sz="2800">
              <a:solidFill>
                <a:srgbClr val="000000"/>
              </a:solidFill>
            </a:endParaRPr>
          </a:p>
          <a:p>
            <a:pPr>
              <a:lnSpc>
                <a:spcPct val="90000"/>
              </a:lnSpc>
              <a:buNone/>
            </a:pPr>
            <a:r>
              <a:rPr lang="en-US" altLang="zh-CN" sz="2800">
                <a:solidFill>
                  <a:srgbClr val="000000"/>
                </a:solidFill>
              </a:rPr>
              <a:t>I+G=S+T</a:t>
            </a:r>
            <a:endParaRPr lang="en-US" altLang="zh-CN" sz="2800">
              <a:solidFill>
                <a:srgbClr val="000000"/>
              </a:solidFill>
            </a:endParaRPr>
          </a:p>
          <a:p>
            <a:pPr>
              <a:lnSpc>
                <a:spcPct val="90000"/>
              </a:lnSpc>
              <a:buNone/>
            </a:pPr>
            <a:r>
              <a:rPr lang="en-US" altLang="zh-CN" sz="2800">
                <a:solidFill>
                  <a:srgbClr val="000000"/>
                </a:solidFill>
              </a:rPr>
              <a:t>I-S=T-G</a:t>
            </a:r>
            <a:endParaRPr lang="en-US" altLang="zh-CN" sz="2800">
              <a:solidFill>
                <a:srgbClr val="000000"/>
              </a:solidFill>
            </a:endParaRPr>
          </a:p>
          <a:p>
            <a:pPr>
              <a:lnSpc>
                <a:spcPct val="90000"/>
              </a:lnSpc>
              <a:buNone/>
            </a:pPr>
            <a:r>
              <a:rPr lang="en-US" altLang="zh-CN" sz="2800">
                <a:solidFill>
                  <a:srgbClr val="000000"/>
                </a:solidFill>
              </a:rPr>
              <a:t>(I-S)</a:t>
            </a:r>
            <a:r>
              <a:rPr lang="zh-CN" altLang="en-US" sz="2800" dirty="0">
                <a:solidFill>
                  <a:srgbClr val="000000"/>
                </a:solidFill>
              </a:rPr>
              <a:t>称为投资储蓄差额，</a:t>
            </a:r>
            <a:r>
              <a:rPr lang="en-US" altLang="zh-CN" sz="2800">
                <a:solidFill>
                  <a:srgbClr val="000000"/>
                </a:solidFill>
              </a:rPr>
              <a:t>(T-G)</a:t>
            </a:r>
            <a:r>
              <a:rPr lang="zh-CN" altLang="en-US" sz="2800" dirty="0">
                <a:solidFill>
                  <a:srgbClr val="000000"/>
                </a:solidFill>
              </a:rPr>
              <a:t>称为政府收支差额。可以通过调节这两个差额来使国民收入达到均衡。</a:t>
            </a:r>
            <a:endParaRPr lang="zh-CN" altLang="en-US" sz="2800" dirty="0">
              <a:solidFill>
                <a:srgbClr val="000000"/>
              </a:solidFill>
            </a:endParaRPr>
          </a:p>
          <a:p>
            <a:pPr>
              <a:lnSpc>
                <a:spcPct val="90000"/>
              </a:lnSpc>
              <a:buNone/>
            </a:pPr>
            <a:r>
              <a:rPr lang="zh-CN" altLang="en-US" sz="2800" dirty="0">
                <a:solidFill>
                  <a:srgbClr val="000000"/>
                </a:solidFill>
              </a:rPr>
              <a:t>这种调节对于运用财政政策与货币政策来管理经济是有指导意义的。</a:t>
            </a:r>
            <a:endParaRPr lang="zh-CN" altLang="en-US" sz="2800" dirty="0">
              <a:solidFill>
                <a:srgbClr val="000000"/>
              </a:solidFill>
            </a:endParaRPr>
          </a:p>
          <a:p>
            <a:pPr>
              <a:lnSpc>
                <a:spcPct val="90000"/>
              </a:lnSpc>
              <a:buNone/>
            </a:pPr>
            <a:endParaRPr lang="zh-CN" altLang="en-US" sz="2800">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标题 88065"/>
          <p:cNvSpPr>
            <a:spLocks noGrp="1"/>
          </p:cNvSpPr>
          <p:nvPr>
            <p:ph type="title"/>
          </p:nvPr>
        </p:nvSpPr>
        <p:spPr>
          <a:ln/>
        </p:spPr>
        <p:txBody>
          <a:bodyPr anchor="ctr" anchorCtr="0"/>
          <a:p>
            <a:endParaRPr dirty="0"/>
          </a:p>
        </p:txBody>
      </p:sp>
      <p:sp>
        <p:nvSpPr>
          <p:cNvPr id="88067" name="文本占位符 88066"/>
          <p:cNvSpPr>
            <a:spLocks noGrp="1"/>
          </p:cNvSpPr>
          <p:nvPr>
            <p:ph type="body" idx="1"/>
          </p:nvPr>
        </p:nvSpPr>
        <p:spPr>
          <a:xfrm>
            <a:off x="533400" y="533400"/>
            <a:ext cx="8077200" cy="5486400"/>
          </a:xfrm>
          <a:ln/>
        </p:spPr>
        <p:txBody>
          <a:bodyPr/>
          <a:p>
            <a:pPr>
              <a:buNone/>
            </a:pPr>
            <a:r>
              <a:rPr lang="zh-CN" altLang="en-US" sz="2400" dirty="0">
                <a:solidFill>
                  <a:srgbClr val="000000"/>
                </a:solidFill>
              </a:rPr>
              <a:t>政府收支与均衡收入</a:t>
            </a:r>
            <a:endParaRPr lang="zh-CN" altLang="en-US" sz="2400" dirty="0">
              <a:solidFill>
                <a:srgbClr val="000000"/>
              </a:solidFill>
            </a:endParaRPr>
          </a:p>
          <a:p>
            <a:pPr>
              <a:buNone/>
            </a:pPr>
            <a:r>
              <a:rPr lang="zh-CN" altLang="en-US" sz="2400" dirty="0">
                <a:solidFill>
                  <a:srgbClr val="000000"/>
                </a:solidFill>
              </a:rPr>
              <a:t>由于税收是通过对可支配收入的影响而进入总需求公式的，所以当总需求</a:t>
            </a:r>
            <a:r>
              <a:rPr lang="en-US" altLang="zh-CN" sz="2400">
                <a:solidFill>
                  <a:srgbClr val="000000"/>
                </a:solidFill>
              </a:rPr>
              <a:t>=</a:t>
            </a:r>
            <a:r>
              <a:rPr lang="zh-CN" altLang="en-US" sz="2400" dirty="0">
                <a:solidFill>
                  <a:srgbClr val="000000"/>
                </a:solidFill>
              </a:rPr>
              <a:t>总供给时，均衡收入</a:t>
            </a:r>
            <a:r>
              <a:rPr lang="en-US" altLang="zh-CN" sz="2400">
                <a:solidFill>
                  <a:srgbClr val="000000"/>
                </a:solidFill>
              </a:rPr>
              <a:t>Y</a:t>
            </a:r>
            <a:r>
              <a:rPr lang="en-US" altLang="zh-CN" sz="2400" baseline="30000">
                <a:solidFill>
                  <a:srgbClr val="000000"/>
                </a:solidFill>
              </a:rPr>
              <a:t>*</a:t>
            </a:r>
            <a:endParaRPr lang="en-US" altLang="zh-CN" sz="2400" baseline="30000">
              <a:solidFill>
                <a:srgbClr val="000000"/>
              </a:solidFill>
            </a:endParaRPr>
          </a:p>
          <a:p>
            <a:pPr>
              <a:buNone/>
            </a:pPr>
            <a:r>
              <a:rPr lang="en-US" altLang="zh-CN" sz="2400">
                <a:solidFill>
                  <a:srgbClr val="000000"/>
                </a:solidFill>
              </a:rPr>
              <a:t>           </a:t>
            </a:r>
            <a:r>
              <a:rPr lang="zh-CN" altLang="en-US" sz="2400" dirty="0">
                <a:solidFill>
                  <a:srgbClr val="000000"/>
                </a:solidFill>
              </a:rPr>
              <a:t>总需求</a:t>
            </a:r>
            <a:r>
              <a:rPr lang="en-US" altLang="zh-CN" sz="2400">
                <a:solidFill>
                  <a:srgbClr val="000000"/>
                </a:solidFill>
              </a:rPr>
              <a:t>=</a:t>
            </a:r>
            <a:endParaRPr lang="en-US" altLang="zh-CN" sz="2400">
              <a:solidFill>
                <a:srgbClr val="000000"/>
              </a:solidFill>
            </a:endParaRPr>
          </a:p>
          <a:p>
            <a:pPr>
              <a:buNone/>
            </a:pPr>
            <a:r>
              <a:rPr lang="zh-CN" altLang="en-US" sz="2400" dirty="0">
                <a:solidFill>
                  <a:srgbClr val="000000"/>
                </a:solidFill>
              </a:rPr>
              <a:t>总供给</a:t>
            </a:r>
            <a:r>
              <a:rPr lang="en-US" altLang="zh-CN" sz="2400">
                <a:solidFill>
                  <a:srgbClr val="000000"/>
                </a:solidFill>
              </a:rPr>
              <a:t>=</a:t>
            </a:r>
            <a:r>
              <a:rPr lang="zh-CN" altLang="en-US" sz="2400" dirty="0">
                <a:solidFill>
                  <a:srgbClr val="000000"/>
                </a:solidFill>
              </a:rPr>
              <a:t>总需求</a:t>
            </a:r>
            <a:endParaRPr lang="zh-CN" altLang="en-US" sz="2400">
              <a:solidFill>
                <a:srgbClr val="000000"/>
              </a:solidFill>
            </a:endParaRPr>
          </a:p>
        </p:txBody>
      </p:sp>
      <p:graphicFrame>
        <p:nvGraphicFramePr>
          <p:cNvPr id="88068" name="对象 88067"/>
          <p:cNvGraphicFramePr/>
          <p:nvPr/>
        </p:nvGraphicFramePr>
        <p:xfrm>
          <a:off x="3048000" y="1752600"/>
          <a:ext cx="4953000" cy="4294188"/>
        </p:xfrm>
        <a:graphic>
          <a:graphicData uri="http://schemas.openxmlformats.org/presentationml/2006/ole">
            <mc:AlternateContent xmlns:mc="http://schemas.openxmlformats.org/markup-compatibility/2006">
              <mc:Choice xmlns:v="urn:schemas-microsoft-com:vml" Requires="v">
                <p:oleObj spid="_x0000_s3081" name="" r:id="rId1" imgW="2387600" imgH="2070100" progId="Equation.3">
                  <p:embed/>
                </p:oleObj>
              </mc:Choice>
              <mc:Fallback>
                <p:oleObj name="" r:id="rId1" imgW="2387600" imgH="2070100" progId="Equation.3">
                  <p:embed/>
                  <p:pic>
                    <p:nvPicPr>
                      <p:cNvPr id="0" name="图片 3080"/>
                      <p:cNvPicPr/>
                      <p:nvPr/>
                    </p:nvPicPr>
                    <p:blipFill>
                      <a:blip r:embed="rId2"/>
                      <a:stretch>
                        <a:fillRect/>
                      </a:stretch>
                    </p:blipFill>
                    <p:spPr>
                      <a:xfrm>
                        <a:off x="3048000" y="1752600"/>
                        <a:ext cx="4953000" cy="4294188"/>
                      </a:xfrm>
                      <a:prstGeom prst="rect">
                        <a:avLst/>
                      </a:prstGeom>
                      <a:noFill/>
                      <a:ln w="38100">
                        <a:noFill/>
                        <a:miter/>
                      </a:ln>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标题 89089"/>
          <p:cNvSpPr>
            <a:spLocks noGrp="1"/>
          </p:cNvSpPr>
          <p:nvPr>
            <p:ph type="title"/>
          </p:nvPr>
        </p:nvSpPr>
        <p:spPr>
          <a:xfrm>
            <a:off x="685800" y="-228600"/>
            <a:ext cx="7772400" cy="1143000"/>
          </a:xfrm>
          <a:ln/>
        </p:spPr>
        <p:txBody>
          <a:bodyPr anchor="ctr" anchorCtr="0"/>
          <a:p>
            <a:pPr algn="l"/>
            <a:r>
              <a:rPr lang="zh-CN" altLang="en-US" b="1" dirty="0">
                <a:solidFill>
                  <a:srgbClr val="FF0000"/>
                </a:solidFill>
              </a:rPr>
              <a:t>乘数理论</a:t>
            </a:r>
            <a:endParaRPr lang="zh-CN" altLang="en-US" b="1">
              <a:solidFill>
                <a:srgbClr val="FF0000"/>
              </a:solidFill>
            </a:endParaRPr>
          </a:p>
        </p:txBody>
      </p:sp>
      <p:sp>
        <p:nvSpPr>
          <p:cNvPr id="89091" name="文本占位符 89090"/>
          <p:cNvSpPr>
            <a:spLocks noGrp="1"/>
          </p:cNvSpPr>
          <p:nvPr>
            <p:ph type="body" idx="1"/>
          </p:nvPr>
        </p:nvSpPr>
        <p:spPr>
          <a:xfrm>
            <a:off x="395288" y="990600"/>
            <a:ext cx="8215312" cy="5029200"/>
          </a:xfrm>
          <a:ln/>
        </p:spPr>
        <p:txBody>
          <a:bodyPr/>
          <a:p>
            <a:pPr marL="0" indent="0">
              <a:lnSpc>
                <a:spcPct val="90000"/>
              </a:lnSpc>
              <a:buNone/>
            </a:pPr>
            <a:r>
              <a:rPr lang="zh-CN" altLang="en-US" sz="2800" b="1" dirty="0">
                <a:solidFill>
                  <a:srgbClr val="FF0000"/>
                </a:solidFill>
                <a:latin typeface="宋体" panose="02010600030101010101" pitchFamily="2" charset="-122"/>
              </a:rPr>
              <a:t>注入的增加</a:t>
            </a:r>
            <a:r>
              <a:rPr lang="zh-CN" altLang="en-US" sz="2800" b="1" dirty="0">
                <a:solidFill>
                  <a:srgbClr val="000000"/>
                </a:solidFill>
                <a:latin typeface="宋体" panose="02010600030101010101" pitchFamily="2" charset="-122"/>
              </a:rPr>
              <a:t>会引起国民收入的增加，但注入所引起的国民收入的增加</a:t>
            </a:r>
            <a:r>
              <a:rPr lang="zh-CN" altLang="en-US" sz="2800" b="1" dirty="0">
                <a:solidFill>
                  <a:srgbClr val="FF0000"/>
                </a:solidFill>
                <a:latin typeface="宋体" panose="02010600030101010101" pitchFamily="2" charset="-122"/>
              </a:rPr>
              <a:t>必定大于最初的注入量。</a:t>
            </a:r>
            <a:endParaRPr lang="zh-CN" altLang="en-US" sz="2800" b="1" dirty="0">
              <a:solidFill>
                <a:srgbClr val="FF0000"/>
              </a:solidFill>
              <a:latin typeface="宋体" panose="02010600030101010101" pitchFamily="2" charset="-122"/>
            </a:endParaRPr>
          </a:p>
          <a:p>
            <a:pPr marL="0" indent="0">
              <a:lnSpc>
                <a:spcPct val="90000"/>
              </a:lnSpc>
              <a:buNone/>
            </a:pPr>
            <a:r>
              <a:rPr lang="zh-CN" altLang="en-US" sz="2800" b="1" dirty="0">
                <a:solidFill>
                  <a:srgbClr val="000000"/>
                </a:solidFill>
                <a:latin typeface="宋体" panose="02010600030101010101" pitchFamily="2" charset="-122"/>
              </a:rPr>
              <a:t>乘数正是国民收入的变动量与引起这种变动的最初注入量之间的比率。</a:t>
            </a:r>
            <a:endParaRPr lang="zh-CN" altLang="en-US" sz="2800" b="1" dirty="0">
              <a:solidFill>
                <a:srgbClr val="000000"/>
              </a:solidFill>
              <a:latin typeface="宋体" panose="02010600030101010101" pitchFamily="2" charset="-122"/>
            </a:endParaRPr>
          </a:p>
          <a:p>
            <a:pPr marL="0" indent="0">
              <a:lnSpc>
                <a:spcPct val="90000"/>
              </a:lnSpc>
              <a:buNone/>
            </a:pPr>
            <a:r>
              <a:rPr lang="zh-CN" altLang="en-US" sz="2800" b="1" dirty="0">
                <a:solidFill>
                  <a:srgbClr val="FF0000"/>
                </a:solidFill>
                <a:latin typeface="宋体" panose="02010600030101010101" pitchFamily="2" charset="-122"/>
              </a:rPr>
              <a:t>乘数公式  </a:t>
            </a:r>
            <a:r>
              <a:rPr lang="en-US" altLang="zh-CN" sz="2800" b="1">
                <a:solidFill>
                  <a:srgbClr val="FF0000"/>
                </a:solidFill>
                <a:latin typeface="宋体" panose="02010600030101010101" pitchFamily="2" charset="-122"/>
              </a:rPr>
              <a:t>K=ΔY/ ΔI              </a:t>
            </a:r>
            <a:endParaRPr lang="en-US" altLang="zh-CN" sz="2800" b="1">
              <a:solidFill>
                <a:srgbClr val="FF0000"/>
              </a:solidFill>
              <a:latin typeface="宋体" panose="02010600030101010101" pitchFamily="2" charset="-122"/>
            </a:endParaRPr>
          </a:p>
          <a:p>
            <a:pPr marL="0" indent="0">
              <a:lnSpc>
                <a:spcPct val="90000"/>
              </a:lnSpc>
              <a:buNone/>
            </a:pPr>
            <a:r>
              <a:rPr lang="en-US" altLang="zh-CN" sz="2800" b="1">
                <a:solidFill>
                  <a:srgbClr val="000000"/>
                </a:solidFill>
                <a:latin typeface="宋体" panose="02010600030101010101" pitchFamily="2" charset="-122"/>
              </a:rPr>
              <a:t>ΔY</a:t>
            </a:r>
            <a:r>
              <a:rPr lang="zh-CN" altLang="en-US" sz="2800" b="1" dirty="0">
                <a:solidFill>
                  <a:srgbClr val="000000"/>
                </a:solidFill>
                <a:latin typeface="宋体" panose="02010600030101010101" pitchFamily="2" charset="-122"/>
              </a:rPr>
              <a:t>代表增加的收入量，</a:t>
            </a:r>
            <a:r>
              <a:rPr lang="en-US" altLang="zh-CN" sz="2800" b="1">
                <a:solidFill>
                  <a:srgbClr val="000000"/>
                </a:solidFill>
                <a:latin typeface="宋体" panose="02010600030101010101" pitchFamily="2" charset="-122"/>
              </a:rPr>
              <a:t>ΔI</a:t>
            </a:r>
            <a:r>
              <a:rPr lang="zh-CN" altLang="en-US" sz="2800" b="1" dirty="0">
                <a:solidFill>
                  <a:srgbClr val="000000"/>
                </a:solidFill>
                <a:latin typeface="宋体" panose="02010600030101010101" pitchFamily="2" charset="-122"/>
              </a:rPr>
              <a:t>代表增加的投资量，</a:t>
            </a:r>
            <a:r>
              <a:rPr lang="en-US" altLang="zh-CN" sz="2800" b="1">
                <a:solidFill>
                  <a:srgbClr val="000000"/>
                </a:solidFill>
                <a:latin typeface="宋体" panose="02010600030101010101" pitchFamily="2" charset="-122"/>
              </a:rPr>
              <a:t>K</a:t>
            </a:r>
            <a:r>
              <a:rPr lang="zh-CN" altLang="en-US" sz="2800" b="1" dirty="0">
                <a:solidFill>
                  <a:srgbClr val="000000"/>
                </a:solidFill>
                <a:latin typeface="宋体" panose="02010600030101010101" pitchFamily="2" charset="-122"/>
              </a:rPr>
              <a:t>代表乘数。</a:t>
            </a:r>
            <a:endParaRPr lang="zh-CN" altLang="en-US" sz="2800" b="1" dirty="0">
              <a:solidFill>
                <a:srgbClr val="000000"/>
              </a:solidFill>
              <a:latin typeface="宋体" panose="02010600030101010101" pitchFamily="2" charset="-122"/>
            </a:endParaRPr>
          </a:p>
          <a:p>
            <a:pPr marL="0" indent="0">
              <a:lnSpc>
                <a:spcPct val="90000"/>
              </a:lnSpc>
              <a:buNone/>
            </a:pPr>
            <a:r>
              <a:rPr lang="en-US" altLang="zh-CN" sz="2800" b="1">
                <a:solidFill>
                  <a:srgbClr val="000000"/>
                </a:solidFill>
                <a:latin typeface="宋体" panose="02010600030101010101" pitchFamily="2" charset="-122"/>
              </a:rPr>
              <a:t>ΔY= ΔI+ ΔC,      ΔI= ΔY- ΔC</a:t>
            </a:r>
            <a:endParaRPr lang="en-US" altLang="zh-CN" sz="2800" b="1">
              <a:solidFill>
                <a:srgbClr val="000000"/>
              </a:solidFill>
              <a:latin typeface="宋体" panose="02010600030101010101" pitchFamily="2" charset="-122"/>
            </a:endParaRPr>
          </a:p>
          <a:p>
            <a:pPr marL="0" indent="0">
              <a:lnSpc>
                <a:spcPct val="90000"/>
              </a:lnSpc>
              <a:buNone/>
            </a:pPr>
            <a:r>
              <a:rPr lang="en-US" altLang="zh-CN" sz="2800" b="1">
                <a:solidFill>
                  <a:srgbClr val="000000"/>
                </a:solidFill>
                <a:latin typeface="宋体" panose="02010600030101010101" pitchFamily="2" charset="-122"/>
              </a:rPr>
              <a:t>K=ΔY/ ΔI= ΔY/ (ΔY- ΔC)</a:t>
            </a:r>
            <a:endParaRPr lang="en-US" altLang="zh-CN" sz="2800" b="1">
              <a:solidFill>
                <a:srgbClr val="000000"/>
              </a:solidFill>
              <a:latin typeface="宋体" panose="02010600030101010101" pitchFamily="2" charset="-122"/>
            </a:endParaRPr>
          </a:p>
          <a:p>
            <a:pPr marL="0" indent="0">
              <a:lnSpc>
                <a:spcPct val="90000"/>
              </a:lnSpc>
              <a:buNone/>
            </a:pPr>
            <a:r>
              <a:rPr lang="en-US" altLang="zh-CN" sz="2800" b="1">
                <a:solidFill>
                  <a:srgbClr val="000000"/>
                </a:solidFill>
                <a:latin typeface="宋体" panose="02010600030101010101" pitchFamily="2" charset="-122"/>
              </a:rPr>
              <a:t>= (ΔY/ ΔY)/(ΔY/ ΔY- ΔC/ ΔY)</a:t>
            </a:r>
            <a:endParaRPr lang="en-US" altLang="zh-CN" sz="2800" b="1">
              <a:solidFill>
                <a:srgbClr val="000000"/>
              </a:solidFill>
              <a:latin typeface="宋体" panose="02010600030101010101" pitchFamily="2" charset="-122"/>
            </a:endParaRPr>
          </a:p>
          <a:p>
            <a:pPr marL="0" indent="0">
              <a:lnSpc>
                <a:spcPct val="90000"/>
              </a:lnSpc>
              <a:buNone/>
            </a:pPr>
            <a:r>
              <a:rPr lang="en-US" altLang="zh-CN" sz="2800" b="1">
                <a:solidFill>
                  <a:srgbClr val="000000"/>
                </a:solidFill>
                <a:latin typeface="宋体" panose="02010600030101010101" pitchFamily="2" charset="-122"/>
              </a:rPr>
              <a:t>=1/(1- ΔC/ ΔY)=1/(1-MPC)</a:t>
            </a:r>
            <a:endParaRPr lang="en-US" altLang="zh-CN" sz="2800" b="1">
              <a:solidFill>
                <a:srgbClr val="000000"/>
              </a:solidFill>
              <a:latin typeface="宋体" panose="02010600030101010101" pitchFamily="2" charset="-122"/>
            </a:endParaRPr>
          </a:p>
          <a:p>
            <a:pPr marL="0" indent="0">
              <a:lnSpc>
                <a:spcPct val="90000"/>
              </a:lnSpc>
              <a:buNone/>
            </a:pPr>
            <a:r>
              <a:rPr lang="en-US" altLang="zh-CN" sz="2800" b="1">
                <a:solidFill>
                  <a:srgbClr val="000000"/>
                </a:solidFill>
                <a:latin typeface="宋体" panose="02010600030101010101" pitchFamily="2" charset="-122"/>
              </a:rPr>
              <a:t>K= 1/(1- ΔC/ ΔY)=1/ ΔS/ ΔY=1/MPS</a:t>
            </a:r>
            <a:endParaRPr lang="en-US" altLang="zh-CN" sz="2800" b="1">
              <a:solidFill>
                <a:srgbClr val="000000"/>
              </a:solidFill>
              <a:latin typeface="宋体" panose="02010600030101010101" pitchFamily="2" charset="-122"/>
            </a:endParaRPr>
          </a:p>
          <a:p>
            <a:pPr marL="0" indent="0">
              <a:lnSpc>
                <a:spcPct val="90000"/>
              </a:lnSpc>
              <a:buNone/>
            </a:pPr>
            <a:r>
              <a:rPr lang="en-US" altLang="zh-CN" sz="2800" b="1">
                <a:solidFill>
                  <a:srgbClr val="000000"/>
                </a:solidFill>
                <a:latin typeface="宋体" panose="02010600030101010101" pitchFamily="2" charset="-122"/>
              </a:rPr>
              <a:t>MPC:</a:t>
            </a:r>
            <a:r>
              <a:rPr lang="zh-CN" altLang="en-US" sz="2800" b="1" dirty="0">
                <a:solidFill>
                  <a:srgbClr val="000000"/>
                </a:solidFill>
                <a:latin typeface="宋体" panose="02010600030101010101" pitchFamily="2" charset="-122"/>
              </a:rPr>
              <a:t>边际消费倾向     </a:t>
            </a:r>
            <a:r>
              <a:rPr lang="en-US" altLang="zh-CN" sz="2800" b="1">
                <a:solidFill>
                  <a:srgbClr val="000000"/>
                </a:solidFill>
                <a:latin typeface="宋体" panose="02010600030101010101" pitchFamily="2" charset="-122"/>
              </a:rPr>
              <a:t>MPS</a:t>
            </a:r>
            <a:r>
              <a:rPr lang="zh-CN" altLang="en-US" sz="2800" b="1" dirty="0">
                <a:solidFill>
                  <a:srgbClr val="000000"/>
                </a:solidFill>
                <a:latin typeface="宋体" panose="02010600030101010101" pitchFamily="2" charset="-122"/>
              </a:rPr>
              <a:t>边际储蓄倾向</a:t>
            </a:r>
            <a:r>
              <a:rPr lang="zh-CN" altLang="en-US" sz="2800" b="1" dirty="0">
                <a:solidFill>
                  <a:srgbClr val="FF0000"/>
                </a:solidFill>
                <a:latin typeface="宋体" panose="02010600030101010101" pitchFamily="2" charset="-122"/>
              </a:rPr>
              <a:t> </a:t>
            </a:r>
            <a:endParaRPr lang="zh-CN" altLang="en-US" sz="2800" b="1" dirty="0">
              <a:solidFill>
                <a:srgbClr val="FF0000"/>
              </a:solidFill>
              <a:latin typeface="宋体" panose="02010600030101010101" pitchFamily="2" charset="-122"/>
            </a:endParaRPr>
          </a:p>
          <a:p>
            <a:pPr marL="0" indent="0">
              <a:lnSpc>
                <a:spcPct val="90000"/>
              </a:lnSpc>
              <a:buNone/>
            </a:pPr>
            <a:endParaRPr lang="zh-CN" altLang="en-US" sz="2800" b="1">
              <a:solidFill>
                <a:srgbClr val="FF0000"/>
              </a:solidFill>
              <a:latin typeface="宋体" panose="02010600030101010101" pitchFamily="2" charset="-122"/>
            </a:endParaRPr>
          </a:p>
          <a:p>
            <a:pPr marL="0" indent="0">
              <a:lnSpc>
                <a:spcPct val="90000"/>
              </a:lnSpc>
              <a:buNone/>
            </a:pPr>
            <a:endParaRPr lang="zh-CN" altLang="en-US" sz="2800" b="1">
              <a:solidFill>
                <a:srgbClr val="FF0000"/>
              </a:solidFill>
              <a:latin typeface="宋体" panose="02010600030101010101" pitchFamily="2" charset="-122"/>
            </a:endParaRPr>
          </a:p>
          <a:p>
            <a:pPr marL="0" indent="0">
              <a:lnSpc>
                <a:spcPct val="90000"/>
              </a:lnSpc>
              <a:buNone/>
            </a:pPr>
            <a:endParaRPr lang="zh-CN" altLang="en-US" sz="2000" b="1">
              <a:solidFill>
                <a:srgbClr val="FF0000"/>
              </a:solidFill>
              <a:latin typeface="宋体" panose="02010600030101010101" pitchFamily="2" charset="-122"/>
            </a:endParaRPr>
          </a:p>
          <a:p>
            <a:pPr marL="0" indent="0">
              <a:lnSpc>
                <a:spcPct val="90000"/>
              </a:lnSpc>
              <a:buNone/>
            </a:pPr>
            <a:endParaRPr lang="zh-CN" altLang="en-US" sz="2800" b="1">
              <a:solidFill>
                <a:srgbClr val="FF0000"/>
              </a:solidFill>
              <a:latin typeface="宋体" panose="02010600030101010101" pitchFamily="2" charset="-122"/>
            </a:endParaRPr>
          </a:p>
          <a:p>
            <a:pPr marL="0" indent="0">
              <a:lnSpc>
                <a:spcPct val="90000"/>
              </a:lnSpc>
              <a:buNone/>
            </a:pPr>
            <a:endParaRPr lang="zh-CN" altLang="en-US" sz="2800" b="1">
              <a:solidFill>
                <a:srgbClr val="FF0000"/>
              </a:solidFill>
              <a:latin typeface="宋体" panose="02010600030101010101"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标题 90113"/>
          <p:cNvSpPr>
            <a:spLocks noGrp="1"/>
          </p:cNvSpPr>
          <p:nvPr>
            <p:ph type="title"/>
          </p:nvPr>
        </p:nvSpPr>
        <p:spPr>
          <a:ln/>
        </p:spPr>
        <p:txBody>
          <a:bodyPr anchor="ctr" anchorCtr="0"/>
          <a:p>
            <a:endParaRPr dirty="0"/>
          </a:p>
        </p:txBody>
      </p:sp>
      <p:sp>
        <p:nvSpPr>
          <p:cNvPr id="90115" name="文本占位符 90114"/>
          <p:cNvSpPr>
            <a:spLocks noGrp="1"/>
          </p:cNvSpPr>
          <p:nvPr>
            <p:ph type="body" idx="1"/>
          </p:nvPr>
        </p:nvSpPr>
        <p:spPr>
          <a:xfrm>
            <a:off x="685800" y="609600"/>
            <a:ext cx="7772400" cy="4114800"/>
          </a:xfrm>
          <a:ln/>
        </p:spPr>
        <p:txBody>
          <a:bodyPr/>
          <a:p>
            <a:pPr>
              <a:lnSpc>
                <a:spcPct val="90000"/>
              </a:lnSpc>
              <a:buNone/>
            </a:pPr>
            <a:r>
              <a:rPr lang="zh-CN" altLang="en-US" sz="2400" b="1" dirty="0">
                <a:solidFill>
                  <a:srgbClr val="000000"/>
                </a:solidFill>
              </a:rPr>
              <a:t>消费</a:t>
            </a:r>
            <a:r>
              <a:rPr lang="en-US" altLang="zh-CN" sz="2400" b="1">
                <a:solidFill>
                  <a:srgbClr val="000000"/>
                </a:solidFill>
              </a:rPr>
              <a:t>:C= </a:t>
            </a:r>
            <a:r>
              <a:rPr lang="en-US" altLang="zh-CN" sz="2400" b="1" dirty="0" err="1">
                <a:solidFill>
                  <a:srgbClr val="000000"/>
                </a:solidFill>
              </a:rPr>
              <a:t>C</a:t>
            </a:r>
            <a:r>
              <a:rPr lang="en-US" altLang="zh-CN" sz="2400" b="1" baseline="-25000" dirty="0" err="1">
                <a:solidFill>
                  <a:srgbClr val="000000"/>
                </a:solidFill>
              </a:rPr>
              <a:t>a</a:t>
            </a:r>
            <a:r>
              <a:rPr lang="en-US" altLang="zh-CN" sz="2400" b="1" dirty="0" err="1">
                <a:solidFill>
                  <a:srgbClr val="000000"/>
                </a:solidFill>
              </a:rPr>
              <a:t>+cY</a:t>
            </a:r>
            <a:endParaRPr lang="en-US" altLang="zh-CN" sz="2400" b="1">
              <a:solidFill>
                <a:srgbClr val="000000"/>
              </a:solidFill>
            </a:endParaRPr>
          </a:p>
          <a:p>
            <a:pPr>
              <a:lnSpc>
                <a:spcPct val="90000"/>
              </a:lnSpc>
              <a:buNone/>
            </a:pPr>
            <a:r>
              <a:rPr lang="zh-CN" altLang="en-US" sz="2400" b="1" dirty="0">
                <a:solidFill>
                  <a:srgbClr val="000000"/>
                </a:solidFill>
              </a:rPr>
              <a:t>投资</a:t>
            </a:r>
            <a:r>
              <a:rPr lang="en-US" altLang="zh-CN" sz="2400" b="1">
                <a:solidFill>
                  <a:srgbClr val="000000"/>
                </a:solidFill>
              </a:rPr>
              <a:t>: I=Ī</a:t>
            </a:r>
            <a:endParaRPr lang="en-US" altLang="zh-CN" sz="2400" b="1">
              <a:solidFill>
                <a:srgbClr val="000000"/>
              </a:solidFill>
            </a:endParaRPr>
          </a:p>
          <a:p>
            <a:pPr>
              <a:lnSpc>
                <a:spcPct val="90000"/>
              </a:lnSpc>
              <a:buNone/>
            </a:pPr>
            <a:r>
              <a:rPr lang="en-US" altLang="zh-CN" sz="2400" b="1">
                <a:solidFill>
                  <a:srgbClr val="000000"/>
                </a:solidFill>
              </a:rPr>
              <a:t>C+I= </a:t>
            </a:r>
            <a:r>
              <a:rPr lang="en-US" altLang="zh-CN" sz="2400" b="1" dirty="0" err="1">
                <a:solidFill>
                  <a:srgbClr val="000000"/>
                </a:solidFill>
              </a:rPr>
              <a:t>C</a:t>
            </a:r>
            <a:r>
              <a:rPr lang="en-US" altLang="zh-CN" sz="2400" b="1" baseline="-25000" dirty="0" err="1">
                <a:solidFill>
                  <a:srgbClr val="000000"/>
                </a:solidFill>
              </a:rPr>
              <a:t>a</a:t>
            </a:r>
            <a:r>
              <a:rPr lang="en-US" altLang="zh-CN" sz="2400" b="1" dirty="0" err="1">
                <a:solidFill>
                  <a:srgbClr val="000000"/>
                </a:solidFill>
              </a:rPr>
              <a:t>+cY</a:t>
            </a:r>
            <a:r>
              <a:rPr lang="en-US" altLang="zh-CN" sz="2400" b="1">
                <a:solidFill>
                  <a:srgbClr val="000000"/>
                </a:solidFill>
              </a:rPr>
              <a:t>+ Ī</a:t>
            </a:r>
            <a:endParaRPr lang="en-US" altLang="zh-CN" sz="2400" b="1">
              <a:solidFill>
                <a:srgbClr val="000000"/>
              </a:solidFill>
            </a:endParaRPr>
          </a:p>
          <a:p>
            <a:pPr>
              <a:lnSpc>
                <a:spcPct val="90000"/>
              </a:lnSpc>
              <a:buNone/>
            </a:pPr>
            <a:r>
              <a:rPr lang="en-US" altLang="zh-CN" sz="2400" b="1">
                <a:solidFill>
                  <a:srgbClr val="000000"/>
                </a:solidFill>
              </a:rPr>
              <a:t>Y= </a:t>
            </a:r>
            <a:r>
              <a:rPr lang="en-US" altLang="zh-CN" sz="2400" b="1" dirty="0" err="1">
                <a:solidFill>
                  <a:srgbClr val="000000"/>
                </a:solidFill>
              </a:rPr>
              <a:t>C</a:t>
            </a:r>
            <a:r>
              <a:rPr lang="en-US" altLang="zh-CN" sz="2400" b="1" baseline="-25000" dirty="0" err="1">
                <a:solidFill>
                  <a:srgbClr val="000000"/>
                </a:solidFill>
              </a:rPr>
              <a:t>a</a:t>
            </a:r>
            <a:r>
              <a:rPr lang="en-US" altLang="zh-CN" sz="2400" b="1" dirty="0" err="1">
                <a:solidFill>
                  <a:srgbClr val="000000"/>
                </a:solidFill>
              </a:rPr>
              <a:t>+cY</a:t>
            </a:r>
            <a:r>
              <a:rPr lang="en-US" altLang="zh-CN" sz="2400" b="1">
                <a:solidFill>
                  <a:srgbClr val="000000"/>
                </a:solidFill>
              </a:rPr>
              <a:t>+ Ī</a:t>
            </a:r>
            <a:endParaRPr lang="en-US" altLang="zh-CN" sz="2400" b="1">
              <a:solidFill>
                <a:srgbClr val="000000"/>
              </a:solidFill>
            </a:endParaRPr>
          </a:p>
          <a:p>
            <a:pPr>
              <a:lnSpc>
                <a:spcPct val="90000"/>
              </a:lnSpc>
              <a:buNone/>
            </a:pPr>
            <a:r>
              <a:rPr lang="en-US" altLang="zh-CN" sz="2400" b="1">
                <a:solidFill>
                  <a:srgbClr val="000000"/>
                </a:solidFill>
              </a:rPr>
              <a:t>Y</a:t>
            </a:r>
            <a:r>
              <a:rPr lang="en-US" altLang="zh-CN" sz="2400" b="1" baseline="30000">
                <a:solidFill>
                  <a:srgbClr val="000000"/>
                </a:solidFill>
              </a:rPr>
              <a:t>*</a:t>
            </a:r>
            <a:r>
              <a:rPr lang="en-US" altLang="zh-CN" sz="2400" b="1">
                <a:solidFill>
                  <a:srgbClr val="000000"/>
                </a:solidFill>
              </a:rPr>
              <a:t>=1/(1-c)(</a:t>
            </a:r>
            <a:r>
              <a:rPr lang="en-US" altLang="zh-CN" sz="2400" b="1">
                <a:solidFill>
                  <a:srgbClr val="000000"/>
                </a:solidFill>
              </a:rPr>
              <a:t>C</a:t>
            </a:r>
            <a:r>
              <a:rPr lang="en-US" altLang="zh-CN" sz="2400" b="1" baseline="-25000">
                <a:solidFill>
                  <a:srgbClr val="000000"/>
                </a:solidFill>
              </a:rPr>
              <a:t>a</a:t>
            </a:r>
            <a:r>
              <a:rPr lang="en-US" altLang="zh-CN" sz="2400" b="1">
                <a:solidFill>
                  <a:srgbClr val="000000"/>
                </a:solidFill>
              </a:rPr>
              <a:t>+ Ī)</a:t>
            </a:r>
            <a:endParaRPr lang="en-US" altLang="zh-CN" sz="2400" b="1">
              <a:solidFill>
                <a:srgbClr val="000000"/>
              </a:solidFill>
            </a:endParaRPr>
          </a:p>
          <a:p>
            <a:pPr>
              <a:lnSpc>
                <a:spcPct val="90000"/>
              </a:lnSpc>
              <a:buNone/>
            </a:pPr>
            <a:r>
              <a:rPr lang="en-US" altLang="zh-CN" sz="2400" b="1">
                <a:solidFill>
                  <a:srgbClr val="000000"/>
                </a:solidFill>
              </a:rPr>
              <a:t>C</a:t>
            </a:r>
            <a:r>
              <a:rPr lang="zh-CN" altLang="en-US" sz="2400" b="1" dirty="0">
                <a:solidFill>
                  <a:srgbClr val="000000"/>
                </a:solidFill>
              </a:rPr>
              <a:t>即边际消费倾向</a:t>
            </a:r>
            <a:r>
              <a:rPr lang="en-US" altLang="zh-CN" sz="2400" b="1">
                <a:solidFill>
                  <a:srgbClr val="000000"/>
                </a:solidFill>
              </a:rPr>
              <a:t>MPC</a:t>
            </a:r>
            <a:endParaRPr lang="en-US" altLang="zh-CN" sz="2400" b="1">
              <a:solidFill>
                <a:srgbClr val="000000"/>
              </a:solidFill>
            </a:endParaRPr>
          </a:p>
          <a:p>
            <a:pPr>
              <a:lnSpc>
                <a:spcPct val="90000"/>
              </a:lnSpc>
              <a:buNone/>
            </a:pPr>
            <a:r>
              <a:rPr lang="zh-CN" altLang="en-US" sz="2400" b="1" dirty="0">
                <a:solidFill>
                  <a:srgbClr val="000000"/>
                </a:solidFill>
              </a:rPr>
              <a:t>假设</a:t>
            </a:r>
            <a:r>
              <a:rPr lang="en-US" altLang="zh-CN" sz="2400" b="1">
                <a:solidFill>
                  <a:srgbClr val="000000"/>
                </a:solidFill>
              </a:rPr>
              <a:t>MPC=0.9   </a:t>
            </a:r>
            <a:r>
              <a:rPr lang="en-US" altLang="zh-CN" sz="2400" b="1">
                <a:solidFill>
                  <a:srgbClr val="000000"/>
                </a:solidFill>
              </a:rPr>
              <a:t>C</a:t>
            </a:r>
            <a:r>
              <a:rPr lang="en-US" altLang="zh-CN" sz="2400" b="1" baseline="-25000">
                <a:solidFill>
                  <a:srgbClr val="000000"/>
                </a:solidFill>
              </a:rPr>
              <a:t>a</a:t>
            </a:r>
            <a:r>
              <a:rPr lang="zh-CN" altLang="en-US" sz="2400" b="1" dirty="0">
                <a:solidFill>
                  <a:srgbClr val="000000"/>
                </a:solidFill>
              </a:rPr>
              <a:t>增加了</a:t>
            </a:r>
            <a:r>
              <a:rPr lang="en-US" altLang="zh-CN" sz="2400" b="1">
                <a:solidFill>
                  <a:srgbClr val="000000"/>
                </a:solidFill>
              </a:rPr>
              <a:t>100</a:t>
            </a:r>
            <a:r>
              <a:rPr lang="zh-CN" altLang="en-US" sz="2400" b="1" dirty="0">
                <a:solidFill>
                  <a:srgbClr val="000000"/>
                </a:solidFill>
              </a:rPr>
              <a:t>个单位，而</a:t>
            </a:r>
            <a:r>
              <a:rPr lang="en-US" altLang="zh-CN" sz="2400" b="1">
                <a:solidFill>
                  <a:srgbClr val="000000"/>
                </a:solidFill>
              </a:rPr>
              <a:t>Ī</a:t>
            </a:r>
            <a:r>
              <a:rPr lang="zh-CN" altLang="en-US" sz="2400" b="1" dirty="0">
                <a:solidFill>
                  <a:srgbClr val="000000"/>
                </a:solidFill>
              </a:rPr>
              <a:t>保持不变，计算出</a:t>
            </a:r>
            <a:r>
              <a:rPr lang="en-US" altLang="zh-CN" sz="2400" b="1">
                <a:solidFill>
                  <a:srgbClr val="000000"/>
                </a:solidFill>
              </a:rPr>
              <a:t>Y</a:t>
            </a:r>
            <a:r>
              <a:rPr lang="en-US" altLang="zh-CN" sz="2400" b="1" baseline="30000">
                <a:solidFill>
                  <a:srgbClr val="000000"/>
                </a:solidFill>
              </a:rPr>
              <a:t>*</a:t>
            </a:r>
            <a:r>
              <a:rPr lang="zh-CN" altLang="en-US" sz="2400" b="1">
                <a:solidFill>
                  <a:srgbClr val="000000"/>
                </a:solidFill>
              </a:rPr>
              <a:t>的</a:t>
            </a:r>
            <a:r>
              <a:rPr lang="zh-CN" altLang="en-US" sz="2400" b="1" dirty="0">
                <a:solidFill>
                  <a:srgbClr val="000000"/>
                </a:solidFill>
              </a:rPr>
              <a:t>增加量</a:t>
            </a:r>
            <a:r>
              <a:rPr lang="en-US" altLang="zh-CN" sz="2400" b="1">
                <a:solidFill>
                  <a:srgbClr val="000000"/>
                </a:solidFill>
              </a:rPr>
              <a:t>(Δ Y</a:t>
            </a:r>
            <a:r>
              <a:rPr lang="en-US" altLang="zh-CN" sz="2400" b="1" baseline="30000">
                <a:solidFill>
                  <a:srgbClr val="000000"/>
                </a:solidFill>
              </a:rPr>
              <a:t>*</a:t>
            </a:r>
            <a:r>
              <a:rPr lang="en-US" altLang="zh-CN" sz="2400" b="1">
                <a:solidFill>
                  <a:srgbClr val="000000"/>
                </a:solidFill>
              </a:rPr>
              <a:t>)</a:t>
            </a:r>
            <a:r>
              <a:rPr lang="zh-CN" altLang="en-US" sz="2400" b="1">
                <a:solidFill>
                  <a:srgbClr val="000000"/>
                </a:solidFill>
              </a:rPr>
              <a:t>，</a:t>
            </a:r>
            <a:endParaRPr lang="zh-CN" altLang="en-US" sz="2400" b="1">
              <a:solidFill>
                <a:srgbClr val="000000"/>
              </a:solidFill>
            </a:endParaRPr>
          </a:p>
          <a:p>
            <a:pPr>
              <a:lnSpc>
                <a:spcPct val="90000"/>
              </a:lnSpc>
              <a:buNone/>
            </a:pPr>
            <a:r>
              <a:rPr lang="en-US" altLang="zh-CN" sz="2000" b="1">
                <a:solidFill>
                  <a:srgbClr val="000000"/>
                </a:solidFill>
              </a:rPr>
              <a:t>Δ Y</a:t>
            </a:r>
            <a:r>
              <a:rPr lang="en-US" altLang="zh-CN" sz="2000" b="1" baseline="30000">
                <a:solidFill>
                  <a:srgbClr val="000000"/>
                </a:solidFill>
              </a:rPr>
              <a:t>*</a:t>
            </a:r>
            <a:r>
              <a:rPr lang="en-US" altLang="zh-CN" sz="2000" b="1">
                <a:solidFill>
                  <a:srgbClr val="000000"/>
                </a:solidFill>
              </a:rPr>
              <a:t>=1/(1-c)(Δ </a:t>
            </a:r>
            <a:r>
              <a:rPr lang="en-US" altLang="zh-CN" sz="2000" b="1">
                <a:solidFill>
                  <a:srgbClr val="000000"/>
                </a:solidFill>
              </a:rPr>
              <a:t>C</a:t>
            </a:r>
            <a:r>
              <a:rPr lang="en-US" altLang="zh-CN" sz="2000" b="1" baseline="-25000">
                <a:solidFill>
                  <a:srgbClr val="000000"/>
                </a:solidFill>
              </a:rPr>
              <a:t>a</a:t>
            </a:r>
            <a:r>
              <a:rPr lang="en-US" altLang="zh-CN" sz="2000" b="1">
                <a:solidFill>
                  <a:srgbClr val="000000"/>
                </a:solidFill>
              </a:rPr>
              <a:t>+ Δ</a:t>
            </a:r>
            <a:r>
              <a:rPr lang="en-US" altLang="zh-CN" sz="2000" b="1">
                <a:solidFill>
                  <a:srgbClr val="000000"/>
                </a:solidFill>
              </a:rPr>
              <a:t> Ī)=1/(1-0.9)(100+0)=1000</a:t>
            </a:r>
            <a:endParaRPr lang="en-US" altLang="zh-CN" sz="2000" b="1">
              <a:solidFill>
                <a:srgbClr val="000000"/>
              </a:solidFill>
            </a:endParaRPr>
          </a:p>
          <a:p>
            <a:pPr>
              <a:lnSpc>
                <a:spcPct val="90000"/>
              </a:lnSpc>
              <a:buNone/>
            </a:pPr>
            <a:r>
              <a:rPr lang="en-US" altLang="zh-CN" sz="2400" b="1">
                <a:solidFill>
                  <a:srgbClr val="000000"/>
                </a:solidFill>
              </a:rPr>
              <a:t>C</a:t>
            </a:r>
            <a:r>
              <a:rPr lang="en-US" altLang="zh-CN" sz="2400" b="1" baseline="-25000">
                <a:solidFill>
                  <a:srgbClr val="000000"/>
                </a:solidFill>
              </a:rPr>
              <a:t>a</a:t>
            </a:r>
            <a:r>
              <a:rPr lang="zh-CN" altLang="en-US" sz="2400" b="1" dirty="0">
                <a:solidFill>
                  <a:srgbClr val="000000"/>
                </a:solidFill>
              </a:rPr>
              <a:t>增加了</a:t>
            </a:r>
            <a:r>
              <a:rPr lang="en-US" altLang="zh-CN" sz="2400" b="1">
                <a:solidFill>
                  <a:srgbClr val="000000"/>
                </a:solidFill>
              </a:rPr>
              <a:t>100</a:t>
            </a:r>
            <a:r>
              <a:rPr lang="zh-CN" altLang="en-US" sz="2400" b="1" dirty="0">
                <a:solidFill>
                  <a:srgbClr val="000000"/>
                </a:solidFill>
              </a:rPr>
              <a:t>个单位，会使 </a:t>
            </a:r>
            <a:r>
              <a:rPr lang="en-US" altLang="zh-CN" sz="2400" b="1">
                <a:solidFill>
                  <a:srgbClr val="000000"/>
                </a:solidFill>
              </a:rPr>
              <a:t>(Δ Y</a:t>
            </a:r>
            <a:r>
              <a:rPr lang="en-US" altLang="zh-CN" sz="2400" b="1" baseline="30000">
                <a:solidFill>
                  <a:srgbClr val="000000"/>
                </a:solidFill>
              </a:rPr>
              <a:t>*</a:t>
            </a:r>
            <a:r>
              <a:rPr lang="en-US" altLang="zh-CN" sz="2400" b="1">
                <a:solidFill>
                  <a:srgbClr val="000000"/>
                </a:solidFill>
              </a:rPr>
              <a:t>)</a:t>
            </a:r>
            <a:r>
              <a:rPr lang="zh-CN" altLang="en-US" sz="2400" b="1" dirty="0">
                <a:solidFill>
                  <a:srgbClr val="000000"/>
                </a:solidFill>
              </a:rPr>
              <a:t>增加量</a:t>
            </a:r>
            <a:r>
              <a:rPr lang="en-US" altLang="zh-CN" sz="2400" b="1">
                <a:solidFill>
                  <a:srgbClr val="000000"/>
                </a:solidFill>
              </a:rPr>
              <a:t>1000</a:t>
            </a:r>
            <a:r>
              <a:rPr lang="zh-CN" altLang="en-US" sz="2400" b="1" dirty="0">
                <a:solidFill>
                  <a:srgbClr val="000000"/>
                </a:solidFill>
              </a:rPr>
              <a:t>个单位，这种效果称为乘数效应。</a:t>
            </a:r>
            <a:endParaRPr lang="zh-CN" altLang="en-US" sz="2400" b="1" dirty="0">
              <a:solidFill>
                <a:srgbClr val="000000"/>
              </a:solidFill>
            </a:endParaRPr>
          </a:p>
          <a:p>
            <a:pPr>
              <a:lnSpc>
                <a:spcPct val="90000"/>
              </a:lnSpc>
              <a:buNone/>
            </a:pPr>
            <a:endParaRPr lang="zh-CN" altLang="en-US" sz="2400" b="1" dirty="0">
              <a:solidFill>
                <a:srgbClr val="000000"/>
              </a:solidFill>
            </a:endParaRPr>
          </a:p>
          <a:p>
            <a:pPr>
              <a:lnSpc>
                <a:spcPct val="90000"/>
              </a:lnSpc>
              <a:buNone/>
            </a:pPr>
            <a:endParaRPr lang="zh-CN" altLang="en-US" sz="2400" b="1">
              <a:solidFill>
                <a:srgbClr val="000000"/>
              </a:solidFill>
            </a:endParaRPr>
          </a:p>
          <a:p>
            <a:pPr>
              <a:lnSpc>
                <a:spcPct val="90000"/>
              </a:lnSpc>
              <a:buNone/>
            </a:pPr>
            <a:endParaRPr lang="zh-CN" altLang="en-US" sz="2400" b="1">
              <a:solidFill>
                <a:srgbClr val="00000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标题 91137"/>
          <p:cNvSpPr>
            <a:spLocks noGrp="1"/>
          </p:cNvSpPr>
          <p:nvPr>
            <p:ph type="title"/>
          </p:nvPr>
        </p:nvSpPr>
        <p:spPr>
          <a:xfrm>
            <a:off x="609600" y="0"/>
            <a:ext cx="7772400" cy="1143000"/>
          </a:xfrm>
          <a:ln/>
        </p:spPr>
        <p:txBody>
          <a:bodyPr anchor="ctr" anchorCtr="0"/>
          <a:p>
            <a:r>
              <a:rPr lang="zh-CN" altLang="en-US" b="1" dirty="0">
                <a:solidFill>
                  <a:srgbClr val="FF0000"/>
                </a:solidFill>
                <a:ea typeface="华文行楷" panose="02010800040101010101" pitchFamily="2" charset="-122"/>
              </a:rPr>
              <a:t>经济周期理论</a:t>
            </a:r>
            <a:endParaRPr lang="zh-CN" altLang="en-US"/>
          </a:p>
        </p:txBody>
      </p:sp>
      <p:sp>
        <p:nvSpPr>
          <p:cNvPr id="91139" name="文本占位符 91138"/>
          <p:cNvSpPr>
            <a:spLocks noGrp="1"/>
          </p:cNvSpPr>
          <p:nvPr>
            <p:ph type="body" idx="1"/>
          </p:nvPr>
        </p:nvSpPr>
        <p:spPr>
          <a:xfrm>
            <a:off x="381000" y="1219200"/>
            <a:ext cx="8229600" cy="5410200"/>
          </a:xfrm>
          <a:ln/>
        </p:spPr>
        <p:txBody>
          <a:bodyPr/>
          <a:p>
            <a:pPr>
              <a:lnSpc>
                <a:spcPct val="90000"/>
              </a:lnSpc>
              <a:buNone/>
            </a:pPr>
            <a:r>
              <a:rPr lang="zh-CN" altLang="en-US" sz="2400" b="1" dirty="0">
                <a:solidFill>
                  <a:srgbClr val="000000"/>
                </a:solidFill>
              </a:rPr>
              <a:t>经济周期</a:t>
            </a:r>
            <a:r>
              <a:rPr lang="en-US" altLang="zh-CN" sz="2400" b="1">
                <a:solidFill>
                  <a:srgbClr val="000000"/>
                </a:solidFill>
              </a:rPr>
              <a:t>:</a:t>
            </a:r>
            <a:r>
              <a:rPr lang="zh-CN" altLang="en-US" sz="2400" b="1" dirty="0">
                <a:solidFill>
                  <a:srgbClr val="000000"/>
                </a:solidFill>
              </a:rPr>
              <a:t>是以商业经济为主的国家总体经济活动的一种波动，一个周期是由很多经济活动的差不多同时扩张，继之以普遍的衰退、收缩、与复苏所组成的</a:t>
            </a:r>
            <a:r>
              <a:rPr lang="en-US" altLang="zh-CN" sz="2400" b="1">
                <a:solidFill>
                  <a:srgbClr val="000000"/>
                </a:solidFill>
              </a:rPr>
              <a:t>;</a:t>
            </a:r>
            <a:r>
              <a:rPr lang="zh-CN" altLang="en-US" sz="2400" b="1" dirty="0">
                <a:solidFill>
                  <a:srgbClr val="000000"/>
                </a:solidFill>
              </a:rPr>
              <a:t>这种变动重复出现。</a:t>
            </a:r>
            <a:endParaRPr lang="zh-CN" altLang="en-US" sz="2400" b="1" dirty="0">
              <a:solidFill>
                <a:srgbClr val="000000"/>
              </a:solidFill>
            </a:endParaRPr>
          </a:p>
          <a:p>
            <a:pPr>
              <a:lnSpc>
                <a:spcPct val="90000"/>
              </a:lnSpc>
              <a:buNone/>
            </a:pPr>
            <a:endParaRPr lang="zh-CN" altLang="en-US" sz="2400" b="1" dirty="0">
              <a:solidFill>
                <a:srgbClr val="000000"/>
              </a:solidFill>
            </a:endParaRPr>
          </a:p>
          <a:p>
            <a:pPr>
              <a:lnSpc>
                <a:spcPct val="90000"/>
              </a:lnSpc>
              <a:buNone/>
            </a:pPr>
            <a:endParaRPr lang="zh-CN" altLang="en-US" sz="2400" b="1" dirty="0">
              <a:solidFill>
                <a:srgbClr val="000000"/>
              </a:solidFill>
            </a:endParaRPr>
          </a:p>
          <a:p>
            <a:pPr>
              <a:lnSpc>
                <a:spcPct val="90000"/>
              </a:lnSpc>
              <a:buNone/>
            </a:pPr>
            <a:endParaRPr lang="zh-CN" altLang="en-US" sz="2400" b="1" dirty="0">
              <a:solidFill>
                <a:srgbClr val="000000"/>
              </a:solidFill>
            </a:endParaRPr>
          </a:p>
          <a:p>
            <a:pPr>
              <a:lnSpc>
                <a:spcPct val="90000"/>
              </a:lnSpc>
              <a:buNone/>
            </a:pPr>
            <a:endParaRPr lang="zh-CN" altLang="en-US" sz="2400" b="1" dirty="0">
              <a:solidFill>
                <a:srgbClr val="000000"/>
              </a:solidFill>
            </a:endParaRPr>
          </a:p>
          <a:p>
            <a:pPr>
              <a:lnSpc>
                <a:spcPct val="90000"/>
              </a:lnSpc>
              <a:buNone/>
            </a:pPr>
            <a:endParaRPr lang="zh-CN" altLang="en-US" sz="2400" b="1" dirty="0">
              <a:solidFill>
                <a:srgbClr val="000000"/>
              </a:solidFill>
            </a:endParaRPr>
          </a:p>
          <a:p>
            <a:pPr>
              <a:lnSpc>
                <a:spcPct val="90000"/>
              </a:lnSpc>
              <a:buNone/>
            </a:pPr>
            <a:endParaRPr lang="zh-CN" altLang="en-US" sz="2400" b="1" dirty="0">
              <a:solidFill>
                <a:srgbClr val="000000"/>
              </a:solidFill>
            </a:endParaRPr>
          </a:p>
          <a:p>
            <a:pPr>
              <a:lnSpc>
                <a:spcPct val="90000"/>
              </a:lnSpc>
              <a:buNone/>
            </a:pPr>
            <a:endParaRPr lang="zh-CN" altLang="en-US" sz="2400" b="1" dirty="0">
              <a:solidFill>
                <a:srgbClr val="000000"/>
              </a:solidFill>
            </a:endParaRPr>
          </a:p>
          <a:p>
            <a:pPr>
              <a:lnSpc>
                <a:spcPct val="90000"/>
              </a:lnSpc>
              <a:buNone/>
            </a:pPr>
            <a:endParaRPr lang="zh-CN" altLang="en-US" sz="2400" b="1" dirty="0">
              <a:solidFill>
                <a:srgbClr val="000000"/>
              </a:solidFill>
            </a:endParaRPr>
          </a:p>
          <a:p>
            <a:pPr>
              <a:lnSpc>
                <a:spcPct val="90000"/>
              </a:lnSpc>
              <a:buNone/>
            </a:pPr>
            <a:endParaRPr lang="zh-CN" altLang="en-US" sz="2400" b="1" dirty="0">
              <a:solidFill>
                <a:srgbClr val="000000"/>
              </a:solidFill>
            </a:endParaRPr>
          </a:p>
          <a:p>
            <a:pPr>
              <a:lnSpc>
                <a:spcPct val="90000"/>
              </a:lnSpc>
              <a:buNone/>
            </a:pPr>
            <a:r>
              <a:rPr lang="en-US" altLang="zh-CN" sz="2400" b="1">
                <a:solidFill>
                  <a:srgbClr val="000000"/>
                </a:solidFill>
              </a:rPr>
              <a:t>A:</a:t>
            </a:r>
            <a:r>
              <a:rPr lang="zh-CN" altLang="en-US" sz="2400" b="1" dirty="0">
                <a:solidFill>
                  <a:srgbClr val="000000"/>
                </a:solidFill>
              </a:rPr>
              <a:t>衰退 </a:t>
            </a:r>
            <a:r>
              <a:rPr lang="en-US" altLang="zh-CN" sz="2400" b="1">
                <a:solidFill>
                  <a:srgbClr val="000000"/>
                </a:solidFill>
              </a:rPr>
              <a:t>B:</a:t>
            </a:r>
            <a:r>
              <a:rPr lang="zh-CN" altLang="en-US" sz="2400" b="1" dirty="0">
                <a:solidFill>
                  <a:srgbClr val="000000"/>
                </a:solidFill>
              </a:rPr>
              <a:t>复苏点 </a:t>
            </a:r>
            <a:r>
              <a:rPr lang="en-US" altLang="zh-CN" sz="2400" b="1">
                <a:solidFill>
                  <a:srgbClr val="000000"/>
                </a:solidFill>
              </a:rPr>
              <a:t>C:</a:t>
            </a:r>
            <a:r>
              <a:rPr lang="zh-CN" altLang="en-US" sz="2400" b="1" dirty="0">
                <a:solidFill>
                  <a:srgbClr val="000000"/>
                </a:solidFill>
              </a:rPr>
              <a:t>繁荣的高峰 </a:t>
            </a:r>
            <a:r>
              <a:rPr lang="en-US" altLang="zh-CN" sz="2400" b="1">
                <a:solidFill>
                  <a:srgbClr val="000000"/>
                </a:solidFill>
              </a:rPr>
              <a:t>D:</a:t>
            </a:r>
            <a:r>
              <a:rPr lang="zh-CN" altLang="en-US" sz="2400" b="1" dirty="0">
                <a:solidFill>
                  <a:srgbClr val="000000"/>
                </a:solidFill>
              </a:rPr>
              <a:t>经济下滑 </a:t>
            </a:r>
            <a:r>
              <a:rPr lang="en-US" altLang="zh-CN" sz="2400" b="1">
                <a:solidFill>
                  <a:srgbClr val="000000"/>
                </a:solidFill>
              </a:rPr>
              <a:t>E:</a:t>
            </a:r>
            <a:r>
              <a:rPr lang="zh-CN" altLang="en-US" sz="2400" b="1" dirty="0">
                <a:solidFill>
                  <a:srgbClr val="000000"/>
                </a:solidFill>
              </a:rPr>
              <a:t>经济谷底</a:t>
            </a:r>
            <a:endParaRPr lang="zh-CN" altLang="en-US" sz="2400" b="1" dirty="0">
              <a:solidFill>
                <a:srgbClr val="000000"/>
              </a:solidFill>
            </a:endParaRPr>
          </a:p>
        </p:txBody>
      </p:sp>
      <p:sp>
        <p:nvSpPr>
          <p:cNvPr id="91140" name="直接连接符 91139"/>
          <p:cNvSpPr/>
          <p:nvPr/>
        </p:nvSpPr>
        <p:spPr>
          <a:xfrm>
            <a:off x="1752600" y="5638800"/>
            <a:ext cx="5715000" cy="0"/>
          </a:xfrm>
          <a:prstGeom prst="line">
            <a:avLst/>
          </a:prstGeom>
          <a:ln w="38100" cap="flat" cmpd="sng">
            <a:solidFill>
              <a:srgbClr val="000000"/>
            </a:solidFill>
            <a:prstDash val="solid"/>
            <a:headEnd type="none" w="med" len="med"/>
            <a:tailEnd type="triangle" w="med" len="med"/>
          </a:ln>
        </p:spPr>
      </p:sp>
      <p:sp>
        <p:nvSpPr>
          <p:cNvPr id="91141" name="直接连接符 91140"/>
          <p:cNvSpPr/>
          <p:nvPr/>
        </p:nvSpPr>
        <p:spPr>
          <a:xfrm flipV="1">
            <a:off x="1752600" y="2743200"/>
            <a:ext cx="0" cy="2895600"/>
          </a:xfrm>
          <a:prstGeom prst="line">
            <a:avLst/>
          </a:prstGeom>
          <a:ln w="38100" cap="flat" cmpd="sng">
            <a:solidFill>
              <a:srgbClr val="000000"/>
            </a:solidFill>
            <a:prstDash val="solid"/>
            <a:headEnd type="none" w="med" len="med"/>
            <a:tailEnd type="triangle" w="med" len="med"/>
          </a:ln>
        </p:spPr>
      </p:sp>
      <p:sp>
        <p:nvSpPr>
          <p:cNvPr id="91142" name="任意多边形 91141"/>
          <p:cNvSpPr/>
          <p:nvPr/>
        </p:nvSpPr>
        <p:spPr>
          <a:xfrm>
            <a:off x="2514600" y="2971800"/>
            <a:ext cx="5076825" cy="2308225"/>
          </a:xfrm>
          <a:custGeom>
            <a:avLst/>
            <a:gdLst/>
            <a:ahLst/>
            <a:cxnLst/>
            <a:pathLst>
              <a:path w="3198" h="1454">
                <a:moveTo>
                  <a:pt x="0" y="1454"/>
                </a:moveTo>
                <a:lnTo>
                  <a:pt x="3198" y="0"/>
                </a:lnTo>
              </a:path>
            </a:pathLst>
          </a:custGeom>
          <a:noFill/>
          <a:ln w="38100" cap="flat" cmpd="sng">
            <a:solidFill>
              <a:srgbClr val="000000"/>
            </a:solidFill>
            <a:prstDash val="solid"/>
            <a:headEnd type="none" w="med" len="med"/>
            <a:tailEnd type="none" w="med" len="med"/>
          </a:ln>
        </p:spPr>
        <p:txBody>
          <a:bodyPr/>
          <a:p>
            <a:endParaRPr lang="zh-CN" altLang="en-US"/>
          </a:p>
        </p:txBody>
      </p:sp>
      <p:sp>
        <p:nvSpPr>
          <p:cNvPr id="91144" name="文本框 91143"/>
          <p:cNvSpPr txBox="1"/>
          <p:nvPr/>
        </p:nvSpPr>
        <p:spPr>
          <a:xfrm>
            <a:off x="7620000" y="5410200"/>
            <a:ext cx="1066800" cy="457200"/>
          </a:xfrm>
          <a:prstGeom prst="rect">
            <a:avLst/>
          </a:prstGeom>
          <a:noFill/>
          <a:ln w="9525">
            <a:noFill/>
          </a:ln>
        </p:spPr>
        <p:txBody>
          <a:bodyPr>
            <a:spAutoFit/>
          </a:bodyPr>
          <a:p>
            <a:pPr>
              <a:lnSpc>
                <a:spcPct val="100000"/>
              </a:lnSpc>
              <a:spcBef>
                <a:spcPct val="50000"/>
              </a:spcBef>
            </a:pPr>
            <a:r>
              <a:rPr lang="zh-CN" altLang="en-US" sz="2400" b="0" dirty="0">
                <a:latin typeface="Tahoma" panose="020B0604030504040204" pitchFamily="34" charset="0"/>
              </a:rPr>
              <a:t>时间</a:t>
            </a:r>
            <a:endParaRPr lang="zh-CN" altLang="en-US" sz="2400" b="0">
              <a:latin typeface="Tahoma" panose="020B0604030504040204" pitchFamily="34" charset="0"/>
            </a:endParaRPr>
          </a:p>
        </p:txBody>
      </p:sp>
      <p:sp>
        <p:nvSpPr>
          <p:cNvPr id="91145" name="文本框 91144"/>
          <p:cNvSpPr txBox="1"/>
          <p:nvPr/>
        </p:nvSpPr>
        <p:spPr>
          <a:xfrm>
            <a:off x="1981200" y="2667000"/>
            <a:ext cx="1066800" cy="457200"/>
          </a:xfrm>
          <a:prstGeom prst="rect">
            <a:avLst/>
          </a:prstGeom>
          <a:noFill/>
          <a:ln w="9525">
            <a:noFill/>
          </a:ln>
        </p:spPr>
        <p:txBody>
          <a:bodyPr>
            <a:spAutoFit/>
          </a:bodyPr>
          <a:p>
            <a:pPr>
              <a:lnSpc>
                <a:spcPct val="100000"/>
              </a:lnSpc>
              <a:spcBef>
                <a:spcPct val="50000"/>
              </a:spcBef>
            </a:pPr>
            <a:r>
              <a:rPr lang="zh-CN" altLang="en-US" sz="2400" b="0">
                <a:latin typeface="Tahoma" panose="020B0604030504040204" pitchFamily="34" charset="0"/>
              </a:rPr>
              <a:t>产出</a:t>
            </a:r>
            <a:endParaRPr lang="zh-CN" altLang="en-US" sz="2400" b="0">
              <a:latin typeface="Tahoma" panose="020B0604030504040204" pitchFamily="34" charset="0"/>
            </a:endParaRPr>
          </a:p>
        </p:txBody>
      </p:sp>
      <p:sp>
        <p:nvSpPr>
          <p:cNvPr id="91146" name="任意多边形 91145"/>
          <p:cNvSpPr/>
          <p:nvPr/>
        </p:nvSpPr>
        <p:spPr>
          <a:xfrm>
            <a:off x="4419600" y="5105400"/>
            <a:ext cx="76200" cy="76200"/>
          </a:xfrm>
          <a:custGeom>
            <a:avLst/>
            <a:gdLst>
              <a:gd name="txL" fmla="*/ 2160 w 21600"/>
              <a:gd name="txT" fmla="*/ 8640 h 21600"/>
              <a:gd name="txR" fmla="*/ 19440 w 21600"/>
              <a:gd name="txB" fmla="*/ 12960 h 21600"/>
            </a:gdLst>
            <a:ahLst/>
            <a:cxnLst/>
            <a:rect l="txL" t="txT" r="txR" b="txB"/>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91148" name="文本框 91147"/>
          <p:cNvSpPr txBox="1"/>
          <p:nvPr/>
        </p:nvSpPr>
        <p:spPr>
          <a:xfrm>
            <a:off x="4140200" y="5157788"/>
            <a:ext cx="4572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A</a:t>
            </a:r>
            <a:endParaRPr lang="en-US" altLang="zh-CN" sz="2400" b="0">
              <a:latin typeface="Tahoma" panose="020B0604030504040204" pitchFamily="34" charset="0"/>
            </a:endParaRPr>
          </a:p>
        </p:txBody>
      </p:sp>
      <p:sp>
        <p:nvSpPr>
          <p:cNvPr id="91149" name="任意多边形 91148"/>
          <p:cNvSpPr/>
          <p:nvPr/>
        </p:nvSpPr>
        <p:spPr>
          <a:xfrm flipV="1">
            <a:off x="4724400" y="4572000"/>
            <a:ext cx="76200" cy="76200"/>
          </a:xfrm>
          <a:custGeom>
            <a:avLst/>
            <a:gdLst>
              <a:gd name="txL" fmla="*/ 2154 w 21600"/>
              <a:gd name="txT" fmla="*/ 8640 h 21600"/>
              <a:gd name="txR" fmla="*/ 19445 w 21600"/>
              <a:gd name="txB" fmla="*/ 12960 h 21600"/>
            </a:gdLst>
            <a:ahLst/>
            <a:cxnLst/>
            <a:rect l="txL" t="txT" r="txR" b="txB"/>
            <a:pathLst>
              <a:path w="21600" h="21600">
                <a:moveTo>
                  <a:pt x="10800" y="0"/>
                </a:moveTo>
                <a:lnTo>
                  <a:pt x="6480" y="4309"/>
                </a:lnTo>
                <a:lnTo>
                  <a:pt x="8640" y="4309"/>
                </a:lnTo>
                <a:lnTo>
                  <a:pt x="8640" y="8640"/>
                </a:lnTo>
                <a:lnTo>
                  <a:pt x="4309" y="8640"/>
                </a:lnTo>
                <a:lnTo>
                  <a:pt x="4309" y="6480"/>
                </a:lnTo>
                <a:lnTo>
                  <a:pt x="0" y="10800"/>
                </a:lnTo>
                <a:lnTo>
                  <a:pt x="4309" y="15120"/>
                </a:lnTo>
                <a:lnTo>
                  <a:pt x="4309" y="12960"/>
                </a:lnTo>
                <a:lnTo>
                  <a:pt x="8640" y="12960"/>
                </a:lnTo>
                <a:lnTo>
                  <a:pt x="8640" y="17291"/>
                </a:lnTo>
                <a:lnTo>
                  <a:pt x="6480" y="17291"/>
                </a:lnTo>
                <a:lnTo>
                  <a:pt x="10800" y="21600"/>
                </a:lnTo>
                <a:lnTo>
                  <a:pt x="15120" y="17291"/>
                </a:lnTo>
                <a:lnTo>
                  <a:pt x="12960" y="17291"/>
                </a:lnTo>
                <a:lnTo>
                  <a:pt x="12960" y="12960"/>
                </a:lnTo>
                <a:lnTo>
                  <a:pt x="17291" y="12960"/>
                </a:lnTo>
                <a:lnTo>
                  <a:pt x="17291" y="15120"/>
                </a:lnTo>
                <a:lnTo>
                  <a:pt x="21600" y="10800"/>
                </a:lnTo>
                <a:lnTo>
                  <a:pt x="17291" y="6480"/>
                </a:lnTo>
                <a:lnTo>
                  <a:pt x="17291" y="8640"/>
                </a:lnTo>
                <a:lnTo>
                  <a:pt x="12960" y="8640"/>
                </a:lnTo>
                <a:lnTo>
                  <a:pt x="12960" y="4309"/>
                </a:lnTo>
                <a:lnTo>
                  <a:pt x="15120" y="4309"/>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91150" name="文本框 91149"/>
          <p:cNvSpPr txBox="1"/>
          <p:nvPr/>
        </p:nvSpPr>
        <p:spPr>
          <a:xfrm>
            <a:off x="4876800" y="4495800"/>
            <a:ext cx="3810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B</a:t>
            </a:r>
            <a:endParaRPr lang="en-US" altLang="zh-CN" sz="2400" b="0">
              <a:latin typeface="Tahoma" panose="020B0604030504040204" pitchFamily="34" charset="0"/>
            </a:endParaRPr>
          </a:p>
        </p:txBody>
      </p:sp>
      <p:sp>
        <p:nvSpPr>
          <p:cNvPr id="91151" name="任意多边形 91150"/>
          <p:cNvSpPr/>
          <p:nvPr/>
        </p:nvSpPr>
        <p:spPr>
          <a:xfrm flipH="1">
            <a:off x="5219700" y="3141663"/>
            <a:ext cx="76200" cy="76200"/>
          </a:xfrm>
          <a:custGeom>
            <a:avLst/>
            <a:gdLst>
              <a:gd name="txL" fmla="*/ 2160 w 21600"/>
              <a:gd name="txT" fmla="*/ 8640 h 21600"/>
              <a:gd name="txR" fmla="*/ 19440 w 21600"/>
              <a:gd name="txB" fmla="*/ 12960 h 21600"/>
            </a:gdLst>
            <a:ahLst/>
            <a:cxnLst/>
            <a:rect l="txL" t="txT" r="txR" b="txB"/>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91152" name="文本框 91151"/>
          <p:cNvSpPr txBox="1"/>
          <p:nvPr/>
        </p:nvSpPr>
        <p:spPr>
          <a:xfrm>
            <a:off x="4643438" y="2708275"/>
            <a:ext cx="4572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C</a:t>
            </a:r>
            <a:endParaRPr lang="en-US" altLang="zh-CN" sz="2400" b="0">
              <a:latin typeface="Tahoma" panose="020B0604030504040204" pitchFamily="34" charset="0"/>
            </a:endParaRPr>
          </a:p>
        </p:txBody>
      </p:sp>
      <p:sp>
        <p:nvSpPr>
          <p:cNvPr id="91153" name="任意多边形 91152"/>
          <p:cNvSpPr/>
          <p:nvPr/>
        </p:nvSpPr>
        <p:spPr>
          <a:xfrm>
            <a:off x="5580063" y="3357563"/>
            <a:ext cx="76200" cy="74612"/>
          </a:xfrm>
          <a:custGeom>
            <a:avLst/>
            <a:gdLst>
              <a:gd name="txL" fmla="*/ 2160 w 21600"/>
              <a:gd name="txT" fmla="*/ 8640 h 21600"/>
              <a:gd name="txR" fmla="*/ 19440 w 21600"/>
              <a:gd name="txB" fmla="*/ 12960 h 21600"/>
            </a:gdLst>
            <a:ahLst/>
            <a:cxnLst/>
            <a:rect l="txL" t="txT" r="txR" b="txB"/>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91154" name="文本框 91153"/>
          <p:cNvSpPr txBox="1"/>
          <p:nvPr/>
        </p:nvSpPr>
        <p:spPr>
          <a:xfrm>
            <a:off x="5486400" y="2971800"/>
            <a:ext cx="5334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D</a:t>
            </a:r>
            <a:endParaRPr lang="en-US" altLang="zh-CN" sz="2400" b="0">
              <a:latin typeface="Tahoma" panose="020B0604030504040204" pitchFamily="34" charset="0"/>
            </a:endParaRPr>
          </a:p>
        </p:txBody>
      </p:sp>
      <p:sp>
        <p:nvSpPr>
          <p:cNvPr id="91155" name="任意多边形 91154"/>
          <p:cNvSpPr/>
          <p:nvPr/>
        </p:nvSpPr>
        <p:spPr>
          <a:xfrm flipH="1" flipV="1">
            <a:off x="6588125" y="4365625"/>
            <a:ext cx="76200" cy="76200"/>
          </a:xfrm>
          <a:custGeom>
            <a:avLst/>
            <a:gdLst>
              <a:gd name="txL" fmla="*/ 2160 w 21600"/>
              <a:gd name="txT" fmla="*/ 8640 h 21600"/>
              <a:gd name="txR" fmla="*/ 19440 w 21600"/>
              <a:gd name="txB" fmla="*/ 12960 h 21600"/>
            </a:gdLst>
            <a:ahLst/>
            <a:cxnLst/>
            <a:rect l="txL" t="txT" r="txR" b="txB"/>
            <a:pathLst>
              <a:path w="21600" h="21600">
                <a:moveTo>
                  <a:pt x="10800" y="0"/>
                </a:moveTo>
                <a:lnTo>
                  <a:pt x="6480" y="4320"/>
                </a:lnTo>
                <a:lnTo>
                  <a:pt x="8640" y="4320"/>
                </a:lnTo>
                <a:lnTo>
                  <a:pt x="8640" y="8640"/>
                </a:lnTo>
                <a:lnTo>
                  <a:pt x="4320" y="8640"/>
                </a:lnTo>
                <a:lnTo>
                  <a:pt x="4320" y="6480"/>
                </a:lnTo>
                <a:lnTo>
                  <a:pt x="0" y="10800"/>
                </a:lnTo>
                <a:lnTo>
                  <a:pt x="4320" y="15120"/>
                </a:lnTo>
                <a:lnTo>
                  <a:pt x="4320" y="12960"/>
                </a:lnTo>
                <a:lnTo>
                  <a:pt x="8640" y="12960"/>
                </a:lnTo>
                <a:lnTo>
                  <a:pt x="8640" y="17280"/>
                </a:lnTo>
                <a:lnTo>
                  <a:pt x="6480" y="17280"/>
                </a:lnTo>
                <a:lnTo>
                  <a:pt x="10800" y="21600"/>
                </a:lnTo>
                <a:lnTo>
                  <a:pt x="15120" y="17280"/>
                </a:lnTo>
                <a:lnTo>
                  <a:pt x="12960" y="17280"/>
                </a:lnTo>
                <a:lnTo>
                  <a:pt x="12960" y="12960"/>
                </a:lnTo>
                <a:lnTo>
                  <a:pt x="17280" y="12960"/>
                </a:lnTo>
                <a:lnTo>
                  <a:pt x="17280" y="15120"/>
                </a:lnTo>
                <a:lnTo>
                  <a:pt x="21600" y="10800"/>
                </a:lnTo>
                <a:lnTo>
                  <a:pt x="17280" y="6480"/>
                </a:lnTo>
                <a:lnTo>
                  <a:pt x="17280" y="8640"/>
                </a:lnTo>
                <a:lnTo>
                  <a:pt x="12960" y="8640"/>
                </a:lnTo>
                <a:lnTo>
                  <a:pt x="12960" y="4320"/>
                </a:lnTo>
                <a:lnTo>
                  <a:pt x="15120" y="4320"/>
                </a:lnTo>
                <a:close/>
              </a:path>
            </a:pathLst>
          </a:cu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
        <p:nvSpPr>
          <p:cNvPr id="91156" name="文本框 91155"/>
          <p:cNvSpPr txBox="1"/>
          <p:nvPr/>
        </p:nvSpPr>
        <p:spPr>
          <a:xfrm>
            <a:off x="6858000" y="4572000"/>
            <a:ext cx="609600" cy="457200"/>
          </a:xfrm>
          <a:prstGeom prst="rect">
            <a:avLst/>
          </a:prstGeom>
          <a:noFill/>
          <a:ln w="9525">
            <a:noFill/>
          </a:ln>
        </p:spPr>
        <p:txBody>
          <a:bodyPr>
            <a:spAutoFit/>
          </a:bodyPr>
          <a:p>
            <a:pPr>
              <a:lnSpc>
                <a:spcPct val="100000"/>
              </a:lnSpc>
              <a:spcBef>
                <a:spcPct val="50000"/>
              </a:spcBef>
            </a:pPr>
            <a:r>
              <a:rPr lang="en-US" altLang="zh-CN" sz="2400" b="0">
                <a:latin typeface="Tahoma" panose="020B0604030504040204" pitchFamily="34" charset="0"/>
              </a:rPr>
              <a:t>E</a:t>
            </a:r>
            <a:endParaRPr lang="en-US" altLang="zh-CN" sz="2400" b="0">
              <a:latin typeface="Tahoma" panose="020B0604030504040204" pitchFamily="34" charset="0"/>
            </a:endParaRPr>
          </a:p>
        </p:txBody>
      </p:sp>
      <p:sp>
        <p:nvSpPr>
          <p:cNvPr id="91157" name="文本框 91156"/>
          <p:cNvSpPr txBox="1"/>
          <p:nvPr/>
        </p:nvSpPr>
        <p:spPr>
          <a:xfrm>
            <a:off x="7543800" y="2743200"/>
            <a:ext cx="1600200" cy="779463"/>
          </a:xfrm>
          <a:prstGeom prst="rect">
            <a:avLst/>
          </a:prstGeom>
          <a:noFill/>
          <a:ln w="9525">
            <a:noFill/>
          </a:ln>
        </p:spPr>
        <p:txBody>
          <a:bodyPr>
            <a:spAutoFit/>
          </a:bodyPr>
          <a:p>
            <a:pPr>
              <a:lnSpc>
                <a:spcPct val="100000"/>
              </a:lnSpc>
              <a:spcBef>
                <a:spcPct val="50000"/>
              </a:spcBef>
            </a:pPr>
            <a:r>
              <a:rPr lang="zh-CN" altLang="en-US" sz="1800">
                <a:latin typeface="Tahoma" panose="020B0604030504040204" pitchFamily="34" charset="0"/>
              </a:rPr>
              <a:t>产出</a:t>
            </a:r>
            <a:r>
              <a:rPr lang="zh-CN" altLang="en-US" sz="1800" dirty="0">
                <a:latin typeface="Tahoma" panose="020B0604030504040204" pitchFamily="34" charset="0"/>
              </a:rPr>
              <a:t>趋势线</a:t>
            </a:r>
            <a:endParaRPr lang="zh-CN" altLang="en-US" sz="1800" dirty="0">
              <a:latin typeface="Tahoma" panose="020B0604030504040204" pitchFamily="34" charset="0"/>
            </a:endParaRPr>
          </a:p>
          <a:p>
            <a:pPr>
              <a:lnSpc>
                <a:spcPct val="100000"/>
              </a:lnSpc>
              <a:spcBef>
                <a:spcPct val="50000"/>
              </a:spcBef>
            </a:pPr>
            <a:r>
              <a:rPr lang="en-US" altLang="zh-CN" sz="1800">
                <a:latin typeface="Tahoma" panose="020B0604030504040204" pitchFamily="34" charset="0"/>
              </a:rPr>
              <a:t>(</a:t>
            </a:r>
            <a:r>
              <a:rPr lang="zh-CN" altLang="en-US" sz="1800" dirty="0">
                <a:latin typeface="Tahoma" panose="020B0604030504040204" pitchFamily="34" charset="0"/>
              </a:rPr>
              <a:t>潜在</a:t>
            </a:r>
            <a:r>
              <a:rPr lang="en-US" altLang="zh-CN" sz="1800">
                <a:latin typeface="Tahoma" panose="020B0604030504040204" pitchFamily="34" charset="0"/>
              </a:rPr>
              <a:t>GDP)</a:t>
            </a:r>
            <a:endParaRPr lang="en-US" altLang="zh-CN" sz="1800">
              <a:latin typeface="Tahoma" panose="020B0604030504040204" pitchFamily="34" charset="0"/>
            </a:endParaRPr>
          </a:p>
        </p:txBody>
      </p:sp>
      <p:sp>
        <p:nvSpPr>
          <p:cNvPr id="91158" name="直接连接符 91157"/>
          <p:cNvSpPr/>
          <p:nvPr/>
        </p:nvSpPr>
        <p:spPr>
          <a:xfrm>
            <a:off x="4724400" y="4953000"/>
            <a:ext cx="685800" cy="228600"/>
          </a:xfrm>
          <a:prstGeom prst="line">
            <a:avLst/>
          </a:prstGeom>
          <a:ln w="28575" cap="flat" cmpd="sng">
            <a:solidFill>
              <a:schemeClr val="tx1"/>
            </a:solidFill>
            <a:prstDash val="solid"/>
            <a:headEnd type="none" w="med" len="med"/>
            <a:tailEnd type="triangle" w="med" len="med"/>
          </a:ln>
        </p:spPr>
      </p:sp>
      <p:sp>
        <p:nvSpPr>
          <p:cNvPr id="91159" name="文本框 91158"/>
          <p:cNvSpPr txBox="1"/>
          <p:nvPr/>
        </p:nvSpPr>
        <p:spPr>
          <a:xfrm>
            <a:off x="5486400" y="4724400"/>
            <a:ext cx="1447800" cy="779463"/>
          </a:xfrm>
          <a:prstGeom prst="rect">
            <a:avLst/>
          </a:prstGeom>
          <a:noFill/>
          <a:ln w="9525">
            <a:noFill/>
          </a:ln>
        </p:spPr>
        <p:txBody>
          <a:bodyPr>
            <a:spAutoFit/>
          </a:bodyPr>
          <a:p>
            <a:pPr>
              <a:lnSpc>
                <a:spcPct val="100000"/>
              </a:lnSpc>
              <a:spcBef>
                <a:spcPct val="50000"/>
              </a:spcBef>
            </a:pPr>
            <a:r>
              <a:rPr lang="zh-CN" altLang="en-US" sz="1800" dirty="0">
                <a:latin typeface="Tahoma" panose="020B0604030504040204" pitchFamily="34" charset="0"/>
              </a:rPr>
              <a:t>实际生产线</a:t>
            </a:r>
            <a:endParaRPr lang="zh-CN" altLang="en-US" sz="1800" dirty="0">
              <a:latin typeface="Tahoma" panose="020B0604030504040204" pitchFamily="34" charset="0"/>
            </a:endParaRPr>
          </a:p>
          <a:p>
            <a:pPr>
              <a:lnSpc>
                <a:spcPct val="100000"/>
              </a:lnSpc>
              <a:spcBef>
                <a:spcPct val="50000"/>
              </a:spcBef>
            </a:pPr>
            <a:r>
              <a:rPr lang="zh-CN" altLang="en-US" sz="1800" dirty="0">
                <a:latin typeface="Tahoma" panose="020B0604030504040204" pitchFamily="34" charset="0"/>
              </a:rPr>
              <a:t>实际</a:t>
            </a:r>
            <a:r>
              <a:rPr lang="en-US" altLang="zh-CN" sz="1800">
                <a:latin typeface="Tahoma" panose="020B0604030504040204" pitchFamily="34" charset="0"/>
              </a:rPr>
              <a:t>GDP</a:t>
            </a:r>
            <a:endParaRPr lang="en-US" altLang="zh-CN" sz="1800">
              <a:latin typeface="Tahoma" panose="020B0604030504040204" pitchFamily="34" charset="0"/>
            </a:endParaRPr>
          </a:p>
        </p:txBody>
      </p:sp>
      <p:sp>
        <p:nvSpPr>
          <p:cNvPr id="91160" name="文本框 91159"/>
          <p:cNvSpPr txBox="1"/>
          <p:nvPr/>
        </p:nvSpPr>
        <p:spPr>
          <a:xfrm>
            <a:off x="5410200" y="5029200"/>
            <a:ext cx="1371600" cy="457200"/>
          </a:xfrm>
          <a:prstGeom prst="rect">
            <a:avLst/>
          </a:prstGeom>
          <a:noFill/>
          <a:ln w="9525">
            <a:noFill/>
          </a:ln>
        </p:spPr>
        <p:txBody>
          <a:bodyPr>
            <a:spAutoFit/>
          </a:bodyPr>
          <a:p>
            <a:pPr>
              <a:lnSpc>
                <a:spcPct val="100000"/>
              </a:lnSpc>
              <a:spcBef>
                <a:spcPct val="50000"/>
              </a:spcBef>
            </a:pPr>
            <a:endParaRPr sz="2400" b="0" dirty="0">
              <a:latin typeface="Tahoma" panose="020B0604030504040204" pitchFamily="34" charset="0"/>
            </a:endParaRPr>
          </a:p>
        </p:txBody>
      </p:sp>
      <p:sp>
        <p:nvSpPr>
          <p:cNvPr id="91162" name="任意多边形 91161"/>
          <p:cNvSpPr/>
          <p:nvPr/>
        </p:nvSpPr>
        <p:spPr>
          <a:xfrm>
            <a:off x="3419475" y="2708275"/>
            <a:ext cx="3743325" cy="2579688"/>
          </a:xfrm>
          <a:custGeom>
            <a:avLst/>
            <a:gdLst/>
            <a:ahLst/>
            <a:cxnLst/>
            <a:pathLst>
              <a:path w="2358" h="1625">
                <a:moveTo>
                  <a:pt x="0" y="1089"/>
                </a:moveTo>
                <a:cubicBezTo>
                  <a:pt x="245" y="1357"/>
                  <a:pt x="491" y="1625"/>
                  <a:pt x="680" y="1497"/>
                </a:cubicBezTo>
                <a:cubicBezTo>
                  <a:pt x="869" y="1369"/>
                  <a:pt x="907" y="386"/>
                  <a:pt x="1134" y="318"/>
                </a:cubicBezTo>
                <a:cubicBezTo>
                  <a:pt x="1361" y="250"/>
                  <a:pt x="1837" y="1142"/>
                  <a:pt x="2041" y="1089"/>
                </a:cubicBezTo>
                <a:cubicBezTo>
                  <a:pt x="2245" y="1036"/>
                  <a:pt x="2301" y="518"/>
                  <a:pt x="2358" y="0"/>
                </a:cubicBezTo>
              </a:path>
            </a:pathLst>
          </a:custGeom>
          <a:noFill/>
          <a:ln w="38100" cap="flat" cmpd="sng">
            <a:solidFill>
              <a:srgbClr val="000000">
                <a:alpha val="100000"/>
              </a:srgbClr>
            </a:solidFill>
            <a:prstDash val="solid"/>
            <a:headEnd type="none" w="med" len="med"/>
            <a:tailEnd type="none" w="med" len="med"/>
          </a:ln>
        </p:spPr>
        <p:txBody>
          <a:bodyPr/>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3" name="文本占位符 92162"/>
          <p:cNvSpPr>
            <a:spLocks noGrp="1"/>
          </p:cNvSpPr>
          <p:nvPr>
            <p:ph type="body" idx="1"/>
          </p:nvPr>
        </p:nvSpPr>
        <p:spPr>
          <a:xfrm>
            <a:off x="228600" y="692150"/>
            <a:ext cx="8534400" cy="5257800"/>
          </a:xfrm>
          <a:ln/>
        </p:spPr>
        <p:txBody>
          <a:bodyPr/>
          <a:p>
            <a:pPr marL="0" indent="0" algn="just">
              <a:lnSpc>
                <a:spcPct val="90000"/>
              </a:lnSpc>
              <a:buNone/>
            </a:pPr>
            <a:r>
              <a:rPr lang="zh-CN" altLang="en-US" sz="3600" b="1" dirty="0">
                <a:solidFill>
                  <a:srgbClr val="FF0000"/>
                </a:solidFill>
                <a:latin typeface="宋体" panose="02010600030101010101" pitchFamily="2" charset="-122"/>
              </a:rPr>
              <a:t>第四节</a:t>
            </a:r>
            <a:r>
              <a:rPr lang="en-US" altLang="zh-CN" sz="3600" b="1" dirty="0">
                <a:solidFill>
                  <a:srgbClr val="FF0000"/>
                </a:solidFill>
                <a:latin typeface="宋体" panose="02010600030101010101" pitchFamily="2" charset="-122"/>
              </a:rPr>
              <a:t>  </a:t>
            </a:r>
            <a:r>
              <a:rPr lang="zh-CN" altLang="en-US" sz="3600" b="1" dirty="0">
                <a:solidFill>
                  <a:srgbClr val="FF0000"/>
                </a:solidFill>
                <a:latin typeface="宋体" panose="02010600030101010101" pitchFamily="2" charset="-122"/>
              </a:rPr>
              <a:t>宏观经济政策：财政政策</a:t>
            </a:r>
            <a:endParaRPr lang="zh-CN" altLang="en-US" sz="3600" b="1" dirty="0">
              <a:solidFill>
                <a:srgbClr val="FF0000"/>
              </a:solidFill>
              <a:latin typeface="宋体" panose="02010600030101010101" pitchFamily="2" charset="-122"/>
            </a:endParaRPr>
          </a:p>
          <a:p>
            <a:pPr marL="0" indent="0" algn="just">
              <a:lnSpc>
                <a:spcPct val="90000"/>
              </a:lnSpc>
              <a:buNone/>
            </a:pPr>
            <a:r>
              <a:rPr lang="zh-CN" altLang="en-US" b="1" dirty="0">
                <a:solidFill>
                  <a:srgbClr val="FF0000"/>
                </a:solidFill>
                <a:latin typeface="宋体" panose="02010600030101010101" pitchFamily="2" charset="-122"/>
              </a:rPr>
              <a:t>财政政策</a:t>
            </a:r>
            <a:r>
              <a:rPr lang="en-US" altLang="zh-CN" b="1">
                <a:solidFill>
                  <a:srgbClr val="FF0000"/>
                </a:solidFill>
                <a:latin typeface="宋体" panose="02010600030101010101" pitchFamily="2" charset="-122"/>
              </a:rPr>
              <a:t>:</a:t>
            </a:r>
            <a:r>
              <a:rPr lang="zh-CN" altLang="en-US" b="1" dirty="0">
                <a:solidFill>
                  <a:srgbClr val="000000"/>
                </a:solidFill>
                <a:latin typeface="宋体" panose="02010600030101010101" pitchFamily="2" charset="-122"/>
              </a:rPr>
              <a:t>是指通过改变政府的开支或税收来影响本地居民生产总值</a:t>
            </a:r>
            <a:r>
              <a:rPr lang="en-US" altLang="zh-CN" b="1">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国民收入</a:t>
            </a:r>
            <a:r>
              <a:rPr lang="en-US" altLang="zh-CN" b="1">
                <a:solidFill>
                  <a:srgbClr val="000000"/>
                </a:solidFill>
                <a:latin typeface="宋体" panose="02010600030101010101" pitchFamily="2" charset="-122"/>
              </a:rPr>
              <a:t>)</a:t>
            </a:r>
            <a:r>
              <a:rPr lang="zh-CN" altLang="en-US" b="1" dirty="0">
                <a:solidFill>
                  <a:srgbClr val="000000"/>
                </a:solidFill>
                <a:latin typeface="宋体" panose="02010600030101010101" pitchFamily="2" charset="-122"/>
              </a:rPr>
              <a:t>的策略。</a:t>
            </a:r>
            <a:endParaRPr lang="zh-CN" altLang="en-US" b="1" dirty="0">
              <a:solidFill>
                <a:srgbClr val="000000"/>
              </a:solidFill>
              <a:latin typeface="宋体" panose="02010600030101010101" pitchFamily="2" charset="-122"/>
            </a:endParaRPr>
          </a:p>
          <a:p>
            <a:pPr marL="0" indent="0" algn="just">
              <a:lnSpc>
                <a:spcPct val="90000"/>
              </a:lnSpc>
              <a:buNone/>
            </a:pPr>
            <a:r>
              <a:rPr lang="en-US" altLang="zh-CN" sz="2400" b="1">
                <a:solidFill>
                  <a:srgbClr val="FF0000"/>
                </a:solidFill>
                <a:latin typeface="宋体" panose="02010600030101010101" pitchFamily="2" charset="-122"/>
              </a:rPr>
              <a:t>A</a:t>
            </a:r>
            <a:r>
              <a:rPr lang="zh-CN" altLang="en-US" sz="2400" b="1">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简单的凯恩斯模型</a:t>
            </a:r>
            <a:endParaRPr lang="zh-CN" altLang="en-US" sz="2400" b="1" dirty="0">
              <a:solidFill>
                <a:srgbClr val="FF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需求决定均衡产出：</a:t>
            </a:r>
            <a:endParaRPr lang="zh-CN" altLang="en-US" sz="2400" b="1" dirty="0">
              <a:solidFill>
                <a:srgbClr val="000000"/>
              </a:solidFill>
              <a:latin typeface="宋体" panose="02010600030101010101" pitchFamily="2" charset="-122"/>
            </a:endParaRPr>
          </a:p>
          <a:p>
            <a:pPr marL="0" indent="0" algn="just">
              <a:lnSpc>
                <a:spcPct val="90000"/>
              </a:lnSpc>
              <a:buNone/>
            </a:pPr>
            <a:r>
              <a:rPr lang="en-US" altLang="zh-CN" sz="2400" b="1">
                <a:solidFill>
                  <a:srgbClr val="000000"/>
                </a:solidFill>
                <a:latin typeface="宋体" panose="02010600030101010101" pitchFamily="2" charset="-122"/>
              </a:rPr>
              <a:t>Y </a:t>
            </a:r>
            <a:r>
              <a:rPr lang="zh-CN" altLang="en-US" sz="2400" b="1">
                <a:solidFill>
                  <a:srgbClr val="000000"/>
                </a:solidFill>
                <a:latin typeface="宋体" panose="02010600030101010101" pitchFamily="2" charset="-122"/>
              </a:rPr>
              <a:t>＝ </a:t>
            </a:r>
            <a:r>
              <a:rPr lang="en-US" altLang="zh-CN" sz="2400" b="1">
                <a:solidFill>
                  <a:srgbClr val="000000"/>
                </a:solidFill>
                <a:latin typeface="宋体" panose="02010600030101010101" pitchFamily="2" charset="-122"/>
              </a:rPr>
              <a:t>C</a:t>
            </a:r>
            <a:r>
              <a:rPr lang="zh-CN" altLang="en-US" sz="2400" b="1">
                <a:solidFill>
                  <a:srgbClr val="000000"/>
                </a:solidFill>
                <a:latin typeface="宋体" panose="02010600030101010101" pitchFamily="2" charset="-122"/>
              </a:rPr>
              <a:t>＋</a:t>
            </a:r>
            <a:r>
              <a:rPr lang="en-US" altLang="zh-CN" sz="2400" b="1">
                <a:solidFill>
                  <a:srgbClr val="000000"/>
                </a:solidFill>
                <a:latin typeface="宋体" panose="02010600030101010101" pitchFamily="2" charset="-122"/>
              </a:rPr>
              <a:t>I</a:t>
            </a:r>
            <a:r>
              <a:rPr lang="zh-CN" altLang="en-US" sz="2400" b="1">
                <a:solidFill>
                  <a:srgbClr val="000000"/>
                </a:solidFill>
                <a:latin typeface="宋体" panose="02010600030101010101" pitchFamily="2" charset="-122"/>
              </a:rPr>
              <a:t>＋</a:t>
            </a:r>
            <a:r>
              <a:rPr lang="en-US" altLang="zh-CN" sz="2400" b="1">
                <a:solidFill>
                  <a:srgbClr val="000000"/>
                </a:solidFill>
                <a:latin typeface="宋体" panose="02010600030101010101" pitchFamily="2" charset="-122"/>
              </a:rPr>
              <a:t>G,	</a:t>
            </a:r>
            <a:endParaRPr lang="en-US" altLang="zh-CN" sz="2400" b="1">
              <a:solidFill>
                <a:srgbClr val="00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其中：</a:t>
            </a:r>
            <a:r>
              <a:rPr lang="en-US" altLang="zh-CN" sz="2400" b="1">
                <a:solidFill>
                  <a:srgbClr val="000000"/>
                </a:solidFill>
                <a:latin typeface="宋体" panose="02010600030101010101" pitchFamily="2" charset="-122"/>
              </a:rPr>
              <a:t>C</a:t>
            </a:r>
            <a:r>
              <a:rPr lang="zh-CN" altLang="en-US" sz="2400" b="1">
                <a:solidFill>
                  <a:srgbClr val="000000"/>
                </a:solidFill>
                <a:latin typeface="宋体" panose="02010600030101010101" pitchFamily="2" charset="-122"/>
              </a:rPr>
              <a:t>＝</a:t>
            </a:r>
            <a:r>
              <a:rPr lang="en-US" altLang="zh-CN" sz="2400" b="1">
                <a:solidFill>
                  <a:srgbClr val="000000"/>
                </a:solidFill>
                <a:latin typeface="宋体" panose="02010600030101010101" pitchFamily="2" charset="-122"/>
              </a:rPr>
              <a:t>C</a:t>
            </a:r>
            <a:r>
              <a:rPr lang="en-US" altLang="zh-CN" sz="2400" b="1" baseline="-30000">
                <a:solidFill>
                  <a:srgbClr val="000000"/>
                </a:solidFill>
                <a:latin typeface="宋体" panose="02010600030101010101" pitchFamily="2" charset="-122"/>
              </a:rPr>
              <a:t>0</a:t>
            </a:r>
            <a:r>
              <a:rPr lang="zh-CN" altLang="en-US" sz="2400" b="1">
                <a:solidFill>
                  <a:srgbClr val="000000"/>
                </a:solidFill>
                <a:latin typeface="宋体" panose="02010600030101010101" pitchFamily="2" charset="-122"/>
              </a:rPr>
              <a:t>＋</a:t>
            </a:r>
            <a:r>
              <a:rPr lang="en-US" altLang="zh-CN" sz="2400" b="1">
                <a:solidFill>
                  <a:srgbClr val="000000"/>
                </a:solidFill>
                <a:latin typeface="宋体" panose="02010600030101010101" pitchFamily="2" charset="-122"/>
              </a:rPr>
              <a:t>c(Y-T)</a:t>
            </a:r>
            <a:endParaRPr lang="en-US" altLang="zh-CN" sz="2400" b="1">
              <a:solidFill>
                <a:srgbClr val="00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均衡产出 </a:t>
            </a:r>
            <a:r>
              <a:rPr lang="en-US" altLang="zh-CN" sz="2400" b="1">
                <a:solidFill>
                  <a:srgbClr val="000000"/>
                </a:solidFill>
                <a:latin typeface="宋体" panose="02010600030101010101" pitchFamily="2" charset="-122"/>
              </a:rPr>
              <a:t>Y</a:t>
            </a:r>
            <a:r>
              <a:rPr lang="en-US" altLang="zh-CN" sz="2400" b="1" baseline="30000">
                <a:solidFill>
                  <a:srgbClr val="000000"/>
                </a:solidFill>
                <a:latin typeface="宋体" panose="02010600030101010101" pitchFamily="2" charset="-122"/>
              </a:rPr>
              <a:t> </a:t>
            </a:r>
            <a:r>
              <a:rPr lang="en-US" altLang="zh-CN" sz="2400" b="1">
                <a:solidFill>
                  <a:srgbClr val="000000"/>
                </a:solidFill>
                <a:latin typeface="宋体" panose="02010600030101010101" pitchFamily="2" charset="-122"/>
              </a:rPr>
              <a:t>= (1/1-c)(C</a:t>
            </a:r>
            <a:r>
              <a:rPr lang="en-US" altLang="zh-CN" sz="2400" b="1" baseline="-30000">
                <a:solidFill>
                  <a:srgbClr val="000000"/>
                </a:solidFill>
                <a:latin typeface="宋体" panose="02010600030101010101" pitchFamily="2" charset="-122"/>
              </a:rPr>
              <a:t>0</a:t>
            </a:r>
            <a:r>
              <a:rPr lang="en-US" altLang="zh-CN" sz="2400" b="1">
                <a:solidFill>
                  <a:srgbClr val="000000"/>
                </a:solidFill>
                <a:latin typeface="宋体" panose="02010600030101010101" pitchFamily="2" charset="-122"/>
              </a:rPr>
              <a:t>+I+G-cT)</a:t>
            </a:r>
            <a:endParaRPr lang="en-US" altLang="zh-CN" sz="2400" b="1">
              <a:solidFill>
                <a:srgbClr val="000000"/>
              </a:solidFill>
              <a:latin typeface="宋体" panose="02010600030101010101" pitchFamily="2" charset="-122"/>
            </a:endParaRPr>
          </a:p>
          <a:p>
            <a:pPr marL="0" indent="0" algn="just">
              <a:lnSpc>
                <a:spcPct val="90000"/>
              </a:lnSpc>
              <a:buNone/>
            </a:pPr>
            <a:r>
              <a:rPr lang="en-US" altLang="zh-CN" sz="2400" b="1">
                <a:solidFill>
                  <a:srgbClr val="FF0000"/>
                </a:solidFill>
                <a:latin typeface="宋体" panose="02010600030101010101" pitchFamily="2" charset="-122"/>
              </a:rPr>
              <a:t>B</a:t>
            </a:r>
            <a:r>
              <a:rPr lang="zh-CN" altLang="en-US" sz="2400" b="1">
                <a:solidFill>
                  <a:srgbClr val="FF0000"/>
                </a:solidFill>
                <a:latin typeface="宋体" panose="02010600030101010101" pitchFamily="2" charset="-122"/>
              </a:rPr>
              <a:t>．</a:t>
            </a:r>
            <a:r>
              <a:rPr lang="zh-CN" altLang="en-US" sz="2400" b="1" dirty="0">
                <a:solidFill>
                  <a:srgbClr val="FF0000"/>
                </a:solidFill>
                <a:latin typeface="宋体" panose="02010600030101010101" pitchFamily="2" charset="-122"/>
              </a:rPr>
              <a:t>财政政策工具</a:t>
            </a:r>
            <a:endParaRPr lang="zh-CN" altLang="en-US" sz="2400" b="1" dirty="0">
              <a:solidFill>
                <a:srgbClr val="FF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政府购买</a:t>
            </a:r>
            <a:r>
              <a:rPr lang="en-US" altLang="zh-CN" sz="2400" b="1">
                <a:solidFill>
                  <a:srgbClr val="000000"/>
                </a:solidFill>
                <a:latin typeface="宋体" panose="02010600030101010101" pitchFamily="2" charset="-122"/>
              </a:rPr>
              <a:t>(G)</a:t>
            </a:r>
            <a:endParaRPr lang="en-US" altLang="zh-CN" sz="2400" b="1">
              <a:solidFill>
                <a:srgbClr val="000000"/>
              </a:solidFill>
              <a:latin typeface="宋体" panose="02010600030101010101" pitchFamily="2" charset="-122"/>
            </a:endParaRPr>
          </a:p>
          <a:p>
            <a:pPr marL="0" indent="0" algn="just">
              <a:lnSpc>
                <a:spcPct val="90000"/>
              </a:lnSpc>
              <a:buNone/>
            </a:pPr>
            <a:r>
              <a:rPr lang="zh-CN" altLang="en-US" sz="2400" b="1" dirty="0">
                <a:solidFill>
                  <a:srgbClr val="000000"/>
                </a:solidFill>
                <a:latin typeface="宋体" panose="02010600030101010101" pitchFamily="2" charset="-122"/>
              </a:rPr>
              <a:t>税收</a:t>
            </a:r>
            <a:r>
              <a:rPr lang="en-US" altLang="zh-CN" sz="2400" b="1">
                <a:solidFill>
                  <a:srgbClr val="000000"/>
                </a:solidFill>
                <a:latin typeface="宋体" panose="02010600030101010101" pitchFamily="2" charset="-122"/>
              </a:rPr>
              <a:t>(T)</a:t>
            </a:r>
            <a:endParaRPr lang="en-US" altLang="zh-CN" sz="2400" b="1">
              <a:solidFill>
                <a:srgbClr val="000000"/>
              </a:solidFill>
              <a:latin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3" name="文本占位符 97282"/>
          <p:cNvSpPr>
            <a:spLocks noGrp="1"/>
          </p:cNvSpPr>
          <p:nvPr>
            <p:ph type="body" idx="1"/>
          </p:nvPr>
        </p:nvSpPr>
        <p:spPr>
          <a:xfrm>
            <a:off x="685800" y="476250"/>
            <a:ext cx="7772400" cy="5619750"/>
          </a:xfrm>
          <a:ln/>
        </p:spPr>
        <p:txBody>
          <a:bodyPr/>
          <a:p>
            <a:pPr algn="just">
              <a:buNone/>
            </a:pPr>
            <a:r>
              <a:rPr lang="en-US" altLang="zh-CN" sz="2800" b="1">
                <a:solidFill>
                  <a:srgbClr val="FF0000"/>
                </a:solidFill>
                <a:latin typeface="宋体" panose="02010600030101010101" pitchFamily="2" charset="-122"/>
              </a:rPr>
              <a:t>C</a:t>
            </a:r>
            <a:r>
              <a:rPr lang="zh-CN" altLang="en-US" sz="2800" b="1" dirty="0">
                <a:solidFill>
                  <a:srgbClr val="FF0000"/>
                </a:solidFill>
                <a:latin typeface="宋体" panose="02010600030101010101" pitchFamily="2" charset="-122"/>
              </a:rPr>
              <a:t>．政府购买对总需求和总产出的影响</a:t>
            </a:r>
            <a:endParaRPr lang="zh-CN" altLang="en-US" sz="2800" b="1" dirty="0">
              <a:solidFill>
                <a:srgbClr val="FF0000"/>
              </a:solidFill>
              <a:latin typeface="宋体" panose="02010600030101010101" pitchFamily="2" charset="-122"/>
            </a:endParaRPr>
          </a:p>
          <a:p>
            <a:pPr algn="just">
              <a:buNone/>
            </a:pPr>
            <a:r>
              <a:rPr lang="en-US" altLang="zh-CN" sz="2800" b="1">
                <a:solidFill>
                  <a:srgbClr val="000000"/>
                </a:solidFill>
                <a:latin typeface="宋体" panose="02010600030101010101" pitchFamily="2" charset="-122"/>
              </a:rPr>
              <a:t>·       </a:t>
            </a:r>
            <a:r>
              <a:rPr lang="en-US" altLang="zh-CN" sz="2800" b="1">
                <a:solidFill>
                  <a:srgbClr val="FF0000"/>
                </a:solidFill>
                <a:latin typeface="宋体" panose="02010600030101010101" pitchFamily="2" charset="-122"/>
              </a:rPr>
              <a:t>  </a:t>
            </a:r>
            <a:r>
              <a:rPr lang="zh-CN" altLang="en-US" sz="2800" b="1" dirty="0">
                <a:solidFill>
                  <a:srgbClr val="FF0000"/>
                </a:solidFill>
                <a:latin typeface="宋体" panose="02010600030101010101" pitchFamily="2" charset="-122"/>
              </a:rPr>
              <a:t>乘数效应</a:t>
            </a:r>
            <a:r>
              <a:rPr lang="zh-CN" altLang="en-US" sz="2800" b="1" dirty="0">
                <a:solidFill>
                  <a:srgbClr val="000000"/>
                </a:solidFill>
                <a:latin typeface="宋体" panose="02010600030101010101" pitchFamily="2" charset="-122"/>
              </a:rPr>
              <a:t>：</a:t>
            </a:r>
            <a:r>
              <a:rPr lang="en-US" altLang="zh-CN" sz="2800" b="1">
                <a:solidFill>
                  <a:srgbClr val="000000"/>
                </a:solidFill>
                <a:latin typeface="宋体" panose="02010600030101010101" pitchFamily="2" charset="-122"/>
              </a:rPr>
              <a:t>ΔY = [1/</a:t>
            </a:r>
            <a:r>
              <a:rPr lang="zh-CN" altLang="en-US" sz="2800" b="1" dirty="0">
                <a:solidFill>
                  <a:srgbClr val="000000"/>
                </a:solidFill>
                <a:latin typeface="宋体" panose="02010600030101010101" pitchFamily="2" charset="-122"/>
              </a:rPr>
              <a:t>（</a:t>
            </a:r>
            <a:r>
              <a:rPr lang="en-US" altLang="zh-CN" sz="2800" b="1">
                <a:solidFill>
                  <a:srgbClr val="000000"/>
                </a:solidFill>
                <a:latin typeface="宋体" panose="02010600030101010101" pitchFamily="2" charset="-122"/>
              </a:rPr>
              <a:t>1-c</a:t>
            </a:r>
            <a:r>
              <a:rPr lang="zh-CN" altLang="en-US" sz="2800" b="1" dirty="0">
                <a:solidFill>
                  <a:srgbClr val="000000"/>
                </a:solidFill>
                <a:latin typeface="宋体" panose="02010600030101010101" pitchFamily="2" charset="-122"/>
              </a:rPr>
              <a:t>）</a:t>
            </a:r>
            <a:r>
              <a:rPr lang="en-US" altLang="zh-CN" sz="2800" b="1">
                <a:solidFill>
                  <a:srgbClr val="000000"/>
                </a:solidFill>
                <a:latin typeface="宋体" panose="02010600030101010101" pitchFamily="2" charset="-122"/>
              </a:rPr>
              <a:t>]ΔG</a:t>
            </a:r>
            <a:endParaRPr lang="en-US" altLang="zh-CN" sz="2800" b="1">
              <a:solidFill>
                <a:srgbClr val="000000"/>
              </a:solidFill>
              <a:latin typeface="宋体" panose="02010600030101010101" pitchFamily="2" charset="-122"/>
            </a:endParaRPr>
          </a:p>
          <a:p>
            <a:pPr algn="just">
              <a:buNone/>
            </a:pPr>
            <a:r>
              <a:rPr lang="zh-CN" altLang="en-US" sz="2800" b="1" dirty="0">
                <a:solidFill>
                  <a:srgbClr val="000000"/>
                </a:solidFill>
                <a:latin typeface="宋体" panose="02010600030101010101" pitchFamily="2" charset="-122"/>
              </a:rPr>
              <a:t>当扩张性财政政策增加了收入，从而增加了消费支出时引起的总需求的额外移动。</a:t>
            </a:r>
            <a:endParaRPr lang="zh-CN" altLang="en-US" sz="2800" b="1" dirty="0">
              <a:solidFill>
                <a:srgbClr val="000000"/>
              </a:solidFill>
              <a:latin typeface="宋体" panose="02010600030101010101" pitchFamily="2" charset="-122"/>
            </a:endParaRPr>
          </a:p>
          <a:p>
            <a:pPr algn="just">
              <a:buNone/>
            </a:pPr>
            <a:r>
              <a:rPr lang="en-US" altLang="zh-CN" sz="2800" b="1">
                <a:solidFill>
                  <a:srgbClr val="000000"/>
                </a:solidFill>
                <a:latin typeface="宋体" panose="02010600030101010101" pitchFamily="2" charset="-122"/>
              </a:rPr>
              <a:t>·         </a:t>
            </a:r>
            <a:r>
              <a:rPr lang="zh-CN" altLang="en-US" sz="2800" b="1" dirty="0">
                <a:solidFill>
                  <a:srgbClr val="FF0000"/>
                </a:solidFill>
                <a:latin typeface="宋体" panose="02010600030101010101" pitchFamily="2" charset="-122"/>
              </a:rPr>
              <a:t>挤出效应</a:t>
            </a:r>
            <a:endParaRPr lang="zh-CN" altLang="en-US" sz="2800" b="1" dirty="0">
              <a:solidFill>
                <a:srgbClr val="FF0000"/>
              </a:solidFill>
              <a:latin typeface="宋体" panose="02010600030101010101" pitchFamily="2" charset="-122"/>
            </a:endParaRPr>
          </a:p>
          <a:p>
            <a:pPr algn="just">
              <a:buNone/>
            </a:pPr>
            <a:r>
              <a:rPr lang="zh-CN" altLang="en-US" sz="2800" b="1" dirty="0">
                <a:solidFill>
                  <a:srgbClr val="000000"/>
                </a:solidFill>
                <a:latin typeface="宋体" panose="02010600030101010101" pitchFamily="2" charset="-122"/>
              </a:rPr>
              <a:t>当扩张性财政政策引起利率上升，从而减少了投资支出时所引起的总需求减少。</a:t>
            </a:r>
            <a:endParaRPr lang="zh-CN" altLang="en-US" sz="2800" b="1" dirty="0">
              <a:solidFill>
                <a:srgbClr val="000000"/>
              </a:solidFill>
              <a:latin typeface="宋体" panose="02010600030101010101" pitchFamily="2" charset="-122"/>
            </a:endParaRPr>
          </a:p>
          <a:p>
            <a:pPr algn="just">
              <a:buNone/>
            </a:pPr>
            <a:r>
              <a:rPr lang="en-US" altLang="zh-CN" sz="2800" b="1">
                <a:solidFill>
                  <a:srgbClr val="FF0000"/>
                </a:solidFill>
                <a:latin typeface="宋体" panose="02010600030101010101" pitchFamily="2" charset="-122"/>
              </a:rPr>
              <a:t>D</a:t>
            </a:r>
            <a:r>
              <a:rPr lang="zh-CN" altLang="en-US" sz="2800" b="1" dirty="0">
                <a:solidFill>
                  <a:srgbClr val="FF0000"/>
                </a:solidFill>
                <a:latin typeface="宋体" panose="02010600030101010101" pitchFamily="2" charset="-122"/>
              </a:rPr>
              <a:t>．税收对总需求的影响</a:t>
            </a:r>
            <a:endParaRPr lang="zh-CN" altLang="en-US" sz="2800" b="1" dirty="0">
              <a:solidFill>
                <a:srgbClr val="FF0000"/>
              </a:solidFill>
              <a:latin typeface="宋体" panose="02010600030101010101" pitchFamily="2" charset="-122"/>
            </a:endParaRPr>
          </a:p>
          <a:p>
            <a:pPr algn="just">
              <a:buNone/>
            </a:pPr>
            <a:r>
              <a:rPr lang="en-US" altLang="zh-CN" sz="2800" b="1">
                <a:solidFill>
                  <a:srgbClr val="000000"/>
                </a:solidFill>
                <a:latin typeface="宋体" panose="02010600030101010101" pitchFamily="2" charset="-122"/>
              </a:rPr>
              <a:t>·         </a:t>
            </a:r>
            <a:r>
              <a:rPr lang="zh-CN" altLang="en-US" sz="2800" b="1" dirty="0">
                <a:solidFill>
                  <a:srgbClr val="000000"/>
                </a:solidFill>
                <a:latin typeface="宋体" panose="02010600030101010101" pitchFamily="2" charset="-122"/>
              </a:rPr>
              <a:t>乘数效应：</a:t>
            </a:r>
            <a:r>
              <a:rPr lang="en-US" altLang="zh-CN" sz="2800" b="1">
                <a:solidFill>
                  <a:srgbClr val="000000"/>
                </a:solidFill>
                <a:latin typeface="宋体" panose="02010600030101010101" pitchFamily="2" charset="-122"/>
              </a:rPr>
              <a:t>ΔY =[-c/</a:t>
            </a:r>
            <a:r>
              <a:rPr lang="zh-CN" altLang="en-US" sz="2800" b="1" dirty="0">
                <a:solidFill>
                  <a:srgbClr val="000000"/>
                </a:solidFill>
                <a:latin typeface="宋体" panose="02010600030101010101" pitchFamily="2" charset="-122"/>
              </a:rPr>
              <a:t>（</a:t>
            </a:r>
            <a:r>
              <a:rPr lang="en-US" altLang="zh-CN" sz="2800" b="1">
                <a:solidFill>
                  <a:srgbClr val="000000"/>
                </a:solidFill>
                <a:latin typeface="宋体" panose="02010600030101010101" pitchFamily="2" charset="-122"/>
              </a:rPr>
              <a:t>1-c)]ΔT</a:t>
            </a:r>
            <a:endParaRPr lang="en-US" altLang="zh-CN" sz="2800" b="1">
              <a:solidFill>
                <a:srgbClr val="000000"/>
              </a:solidFill>
              <a:latin typeface="宋体" panose="02010600030101010101" pitchFamily="2" charset="-122"/>
            </a:endParaRPr>
          </a:p>
          <a:p>
            <a:pPr algn="just">
              <a:buNone/>
            </a:pPr>
            <a:r>
              <a:rPr lang="en-US" altLang="zh-CN" sz="2800" b="1">
                <a:solidFill>
                  <a:srgbClr val="FF0000"/>
                </a:solidFill>
                <a:latin typeface="宋体" panose="02010600030101010101" pitchFamily="2" charset="-122"/>
              </a:rPr>
              <a:t>E</a:t>
            </a:r>
            <a:r>
              <a:rPr lang="zh-CN" altLang="en-US" sz="2800" b="1" dirty="0">
                <a:solidFill>
                  <a:srgbClr val="FF0000"/>
                </a:solidFill>
                <a:latin typeface="宋体" panose="02010600030101010101" pitchFamily="2" charset="-122"/>
              </a:rPr>
              <a:t>．平衡预算财政政策对总需求的影响</a:t>
            </a:r>
            <a:endParaRPr lang="zh-CN" altLang="en-US" sz="2800" b="1" dirty="0">
              <a:solidFill>
                <a:srgbClr val="FF0000"/>
              </a:solidFill>
              <a:latin typeface="宋体" panose="02010600030101010101" pitchFamily="2" charset="-122"/>
            </a:endParaRPr>
          </a:p>
          <a:p>
            <a:pPr>
              <a:buNone/>
            </a:pPr>
            <a:r>
              <a:rPr lang="zh-CN" altLang="en-US" sz="2800" b="1" dirty="0">
                <a:solidFill>
                  <a:srgbClr val="000000"/>
                </a:solidFill>
                <a:latin typeface="宋体" panose="02010600030101010101" pitchFamily="2" charset="-122"/>
              </a:rPr>
              <a:t>乘数效应：</a:t>
            </a:r>
            <a:r>
              <a:rPr lang="en-US" altLang="zh-CN" sz="2800" b="1">
                <a:solidFill>
                  <a:srgbClr val="000000"/>
                </a:solidFill>
                <a:latin typeface="宋体" panose="02010600030101010101" pitchFamily="2" charset="-122"/>
              </a:rPr>
              <a:t>ΔY = 1 x</a:t>
            </a:r>
            <a:r>
              <a:rPr lang="zh-CN" altLang="en-US" sz="2800" b="1" dirty="0">
                <a:solidFill>
                  <a:srgbClr val="000000"/>
                </a:solidFill>
                <a:latin typeface="宋体" panose="02010600030101010101" pitchFamily="2" charset="-122"/>
              </a:rPr>
              <a:t>（</a:t>
            </a:r>
            <a:r>
              <a:rPr lang="en-US" altLang="zh-CN" sz="2800" b="1">
                <a:solidFill>
                  <a:srgbClr val="000000"/>
                </a:solidFill>
                <a:latin typeface="宋体" panose="02010600030101010101" pitchFamily="2" charset="-122"/>
              </a:rPr>
              <a:t>ΔG =ΔT</a:t>
            </a:r>
            <a:r>
              <a:rPr lang="zh-CN" altLang="en-US" sz="2800" b="1" dirty="0">
                <a:solidFill>
                  <a:srgbClr val="000000"/>
                </a:solidFill>
                <a:latin typeface="宋体" panose="02010600030101010101" pitchFamily="2" charset="-122"/>
              </a:rPr>
              <a:t>） </a:t>
            </a:r>
            <a:endParaRPr lang="zh-CN" altLang="en-US" sz="2800" b="1" dirty="0">
              <a:solidFill>
                <a:srgbClr val="000000"/>
              </a:solidFill>
              <a:latin typeface="宋体" panose="02010600030101010101" pitchFamily="2" charset="-122"/>
            </a:endParaRPr>
          </a:p>
          <a:p>
            <a:endParaRPr lang="zh-CN" alt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标题 93185"/>
          <p:cNvSpPr>
            <a:spLocks noGrp="1"/>
          </p:cNvSpPr>
          <p:nvPr>
            <p:ph type="title"/>
          </p:nvPr>
        </p:nvSpPr>
        <p:spPr>
          <a:ln/>
        </p:spPr>
        <p:txBody>
          <a:bodyPr anchor="ctr" anchorCtr="0"/>
          <a:p>
            <a:endParaRPr dirty="0"/>
          </a:p>
        </p:txBody>
      </p:sp>
      <p:sp>
        <p:nvSpPr>
          <p:cNvPr id="93187" name="文本占位符 93186"/>
          <p:cNvSpPr>
            <a:spLocks noGrp="1"/>
          </p:cNvSpPr>
          <p:nvPr>
            <p:ph type="body" idx="1"/>
          </p:nvPr>
        </p:nvSpPr>
        <p:spPr>
          <a:xfrm>
            <a:off x="685800" y="1143000"/>
            <a:ext cx="7772400" cy="4114800"/>
          </a:xfrm>
          <a:ln/>
        </p:spPr>
        <p:txBody>
          <a:bodyPr/>
          <a:p>
            <a:pPr algn="just">
              <a:lnSpc>
                <a:spcPct val="90000"/>
              </a:lnSpc>
              <a:buNone/>
            </a:pPr>
            <a:r>
              <a:rPr lang="en-US" altLang="zh-CN" sz="2400" b="1">
                <a:solidFill>
                  <a:srgbClr val="000000"/>
                </a:solidFill>
                <a:latin typeface="宋体" panose="02010600030101010101" pitchFamily="2" charset="-122"/>
              </a:rPr>
              <a:t>Y</a:t>
            </a:r>
            <a:r>
              <a:rPr lang="en-US" altLang="zh-CN" sz="2400" b="1" baseline="30000">
                <a:solidFill>
                  <a:srgbClr val="000000"/>
                </a:solidFill>
                <a:latin typeface="宋体" panose="02010600030101010101" pitchFamily="2" charset="-122"/>
              </a:rPr>
              <a:t> </a:t>
            </a:r>
            <a:r>
              <a:rPr lang="en-US" altLang="zh-CN" sz="2400" b="1">
                <a:solidFill>
                  <a:srgbClr val="000000"/>
                </a:solidFill>
                <a:latin typeface="宋体" panose="02010600030101010101" pitchFamily="2" charset="-122"/>
              </a:rPr>
              <a:t>= (1/1-c)(C</a:t>
            </a:r>
            <a:r>
              <a:rPr lang="en-US" altLang="zh-CN" sz="2400" b="1" baseline="-30000">
                <a:solidFill>
                  <a:srgbClr val="000000"/>
                </a:solidFill>
                <a:latin typeface="宋体" panose="02010600030101010101" pitchFamily="2" charset="-122"/>
              </a:rPr>
              <a:t>0</a:t>
            </a:r>
            <a:r>
              <a:rPr lang="en-US" altLang="zh-CN" sz="2400" b="1">
                <a:solidFill>
                  <a:srgbClr val="000000"/>
                </a:solidFill>
                <a:latin typeface="宋体" panose="02010600030101010101" pitchFamily="2" charset="-122"/>
              </a:rPr>
              <a:t>+I+G-cT+NX)</a:t>
            </a:r>
            <a:endParaRPr lang="en-US" altLang="zh-CN" sz="2400" b="1">
              <a:solidFill>
                <a:srgbClr val="000000"/>
              </a:solidFill>
              <a:latin typeface="宋体" panose="02010600030101010101" pitchFamily="2" charset="-122"/>
            </a:endParaRPr>
          </a:p>
          <a:p>
            <a:pPr algn="just">
              <a:lnSpc>
                <a:spcPct val="90000"/>
              </a:lnSpc>
              <a:buNone/>
            </a:pPr>
            <a:r>
              <a:rPr lang="zh-CN" altLang="en-US" sz="2400" b="1" dirty="0">
                <a:solidFill>
                  <a:srgbClr val="000000"/>
                </a:solidFill>
                <a:latin typeface="宋体" panose="02010600030101010101" pitchFamily="2" charset="-122"/>
              </a:rPr>
              <a:t>假设其他外生性变项保持不变， 政府开支</a:t>
            </a:r>
            <a:r>
              <a:rPr lang="en-US" altLang="zh-CN" sz="2400" b="1">
                <a:solidFill>
                  <a:srgbClr val="000000"/>
                </a:solidFill>
                <a:latin typeface="宋体" panose="02010600030101010101" pitchFamily="2" charset="-122"/>
              </a:rPr>
              <a:t>G</a:t>
            </a:r>
            <a:r>
              <a:rPr lang="zh-CN" altLang="en-US" sz="2400" b="1" dirty="0">
                <a:solidFill>
                  <a:srgbClr val="000000"/>
                </a:solidFill>
                <a:latin typeface="宋体" panose="02010600030101010101" pitchFamily="2" charset="-122"/>
              </a:rPr>
              <a:t>变动，数式可写成</a:t>
            </a:r>
            <a:r>
              <a:rPr lang="en-US" altLang="zh-CN" sz="2400" b="1">
                <a:solidFill>
                  <a:srgbClr val="000000"/>
                </a:solidFill>
                <a:latin typeface="宋体" panose="02010600030101010101" pitchFamily="2" charset="-122"/>
              </a:rPr>
              <a:t>:</a:t>
            </a:r>
            <a:endParaRPr lang="en-US" altLang="zh-CN" sz="2400" b="1">
              <a:solidFill>
                <a:srgbClr val="000000"/>
              </a:solidFill>
              <a:latin typeface="宋体" panose="02010600030101010101" pitchFamily="2" charset="-122"/>
            </a:endParaRPr>
          </a:p>
          <a:p>
            <a:pPr algn="just">
              <a:lnSpc>
                <a:spcPct val="90000"/>
              </a:lnSpc>
              <a:buNone/>
            </a:pPr>
            <a:r>
              <a:rPr lang="en-US" altLang="zh-CN" sz="2400" b="1">
                <a:solidFill>
                  <a:srgbClr val="000000"/>
                </a:solidFill>
                <a:latin typeface="宋体" panose="02010600030101010101" pitchFamily="2" charset="-122"/>
              </a:rPr>
              <a:t>Δ Y</a:t>
            </a:r>
            <a:r>
              <a:rPr lang="en-US" altLang="zh-CN" sz="2400" b="1" baseline="30000">
                <a:solidFill>
                  <a:srgbClr val="000000"/>
                </a:solidFill>
                <a:latin typeface="宋体" panose="02010600030101010101" pitchFamily="2" charset="-122"/>
              </a:rPr>
              <a:t>*</a:t>
            </a:r>
            <a:r>
              <a:rPr lang="en-US" altLang="zh-CN" sz="2400" b="1">
                <a:solidFill>
                  <a:srgbClr val="000000"/>
                </a:solidFill>
                <a:latin typeface="宋体" panose="02010600030101010101" pitchFamily="2" charset="-122"/>
              </a:rPr>
              <a:t>=1/(1-c)(ΔG)</a:t>
            </a:r>
            <a:endParaRPr lang="en-US" altLang="zh-CN" sz="2400" b="1">
              <a:solidFill>
                <a:srgbClr val="000000"/>
              </a:solidFill>
              <a:latin typeface="宋体" panose="02010600030101010101" pitchFamily="2" charset="-122"/>
            </a:endParaRPr>
          </a:p>
          <a:p>
            <a:pPr algn="just">
              <a:lnSpc>
                <a:spcPct val="90000"/>
              </a:lnSpc>
              <a:buNone/>
            </a:pPr>
            <a:r>
              <a:rPr lang="zh-CN" altLang="en-US" sz="2400" b="1">
                <a:solidFill>
                  <a:srgbClr val="000000"/>
                </a:solidFill>
                <a:latin typeface="宋体" panose="02010600030101010101" pitchFamily="2" charset="-122"/>
              </a:rPr>
              <a:t>当</a:t>
            </a:r>
            <a:r>
              <a:rPr lang="en-US" altLang="zh-CN" sz="2400" b="1">
                <a:solidFill>
                  <a:srgbClr val="000000"/>
                </a:solidFill>
                <a:latin typeface="宋体" panose="02010600030101010101" pitchFamily="2" charset="-122"/>
              </a:rPr>
              <a:t>MPC=0.75,</a:t>
            </a:r>
            <a:r>
              <a:rPr lang="zh-CN" altLang="en-US" sz="2400" b="1">
                <a:solidFill>
                  <a:srgbClr val="000000"/>
                </a:solidFill>
                <a:latin typeface="宋体" panose="02010600030101010101" pitchFamily="2" charset="-122"/>
              </a:rPr>
              <a:t>若</a:t>
            </a:r>
            <a:r>
              <a:rPr lang="zh-CN" altLang="en-US" sz="2400" b="1" dirty="0">
                <a:solidFill>
                  <a:srgbClr val="000000"/>
                </a:solidFill>
                <a:latin typeface="宋体" panose="02010600030101010101" pitchFamily="2" charset="-122"/>
              </a:rPr>
              <a:t>想要增加总收入</a:t>
            </a:r>
            <a:r>
              <a:rPr lang="en-US" altLang="zh-CN" sz="2400" b="1">
                <a:solidFill>
                  <a:srgbClr val="000000"/>
                </a:solidFill>
                <a:latin typeface="宋体" panose="02010600030101010101" pitchFamily="2" charset="-122"/>
              </a:rPr>
              <a:t>100</a:t>
            </a:r>
            <a:r>
              <a:rPr lang="zh-CN" altLang="en-US" sz="2400" b="1" dirty="0">
                <a:solidFill>
                  <a:srgbClr val="000000"/>
                </a:solidFill>
                <a:latin typeface="宋体" panose="02010600030101010101" pitchFamily="2" charset="-122"/>
              </a:rPr>
              <a:t>个单位，政府应增加的政府开支为</a:t>
            </a:r>
            <a:r>
              <a:rPr lang="en-US" altLang="zh-CN" sz="2400" b="1">
                <a:solidFill>
                  <a:srgbClr val="000000"/>
                </a:solidFill>
                <a:latin typeface="宋体" panose="02010600030101010101" pitchFamily="2" charset="-122"/>
              </a:rPr>
              <a:t>:</a:t>
            </a:r>
            <a:endParaRPr lang="en-US" altLang="zh-CN" sz="2400" b="1">
              <a:solidFill>
                <a:srgbClr val="000000"/>
              </a:solidFill>
              <a:latin typeface="宋体" panose="02010600030101010101" pitchFamily="2" charset="-122"/>
            </a:endParaRPr>
          </a:p>
          <a:p>
            <a:pPr algn="just">
              <a:lnSpc>
                <a:spcPct val="90000"/>
              </a:lnSpc>
              <a:buNone/>
            </a:pPr>
            <a:r>
              <a:rPr lang="en-US" altLang="zh-CN" sz="2400" b="1">
                <a:solidFill>
                  <a:srgbClr val="000000"/>
                </a:solidFill>
                <a:latin typeface="宋体" panose="02010600030101010101" pitchFamily="2" charset="-122"/>
              </a:rPr>
              <a:t>100=I/(1-0.75) ΔG  </a:t>
            </a:r>
            <a:r>
              <a:rPr lang="zh-CN" altLang="en-US" sz="2400" b="1">
                <a:solidFill>
                  <a:srgbClr val="000000"/>
                </a:solidFill>
                <a:latin typeface="宋体" panose="02010600030101010101" pitchFamily="2" charset="-122"/>
              </a:rPr>
              <a:t>， </a:t>
            </a:r>
            <a:r>
              <a:rPr lang="en-US" altLang="zh-CN" sz="2400" b="1">
                <a:solidFill>
                  <a:srgbClr val="000000"/>
                </a:solidFill>
                <a:latin typeface="宋体" panose="02010600030101010101" pitchFamily="2" charset="-122"/>
              </a:rPr>
              <a:t>ΔG =100x0.25=25</a:t>
            </a:r>
            <a:endParaRPr lang="en-US" altLang="zh-CN" sz="2400" b="1">
              <a:solidFill>
                <a:srgbClr val="000000"/>
              </a:solidFill>
              <a:latin typeface="宋体" panose="02010600030101010101" pitchFamily="2" charset="-122"/>
            </a:endParaRPr>
          </a:p>
          <a:p>
            <a:pPr algn="just">
              <a:lnSpc>
                <a:spcPct val="90000"/>
              </a:lnSpc>
              <a:buNone/>
            </a:pPr>
            <a:r>
              <a:rPr lang="zh-CN" altLang="en-US" sz="2400" b="1" dirty="0">
                <a:solidFill>
                  <a:srgbClr val="000000"/>
                </a:solidFill>
                <a:latin typeface="宋体" panose="02010600030101010101" pitchFamily="2" charset="-122"/>
              </a:rPr>
              <a:t>假设其他外生性变项保持不变，而政府的税收</a:t>
            </a:r>
            <a:r>
              <a:rPr lang="en-US" altLang="zh-CN" sz="2400" b="1">
                <a:solidFill>
                  <a:srgbClr val="000000"/>
                </a:solidFill>
                <a:latin typeface="宋体" panose="02010600030101010101" pitchFamily="2" charset="-122"/>
              </a:rPr>
              <a:t>T</a:t>
            </a:r>
            <a:r>
              <a:rPr lang="zh-CN" altLang="en-US" sz="2400" b="1" dirty="0">
                <a:solidFill>
                  <a:srgbClr val="000000"/>
                </a:solidFill>
                <a:latin typeface="宋体" panose="02010600030101010101" pitchFamily="2" charset="-122"/>
              </a:rPr>
              <a:t>变化</a:t>
            </a:r>
            <a:r>
              <a:rPr lang="en-US" altLang="zh-CN" sz="2400" b="1">
                <a:solidFill>
                  <a:srgbClr val="000000"/>
                </a:solidFill>
                <a:latin typeface="宋体" panose="02010600030101010101" pitchFamily="2" charset="-122"/>
              </a:rPr>
              <a:t>:</a:t>
            </a:r>
            <a:endParaRPr lang="en-US" altLang="zh-CN" sz="2400" b="1">
              <a:solidFill>
                <a:srgbClr val="000000"/>
              </a:solidFill>
              <a:latin typeface="宋体" panose="02010600030101010101" pitchFamily="2" charset="-122"/>
            </a:endParaRPr>
          </a:p>
          <a:p>
            <a:pPr algn="just">
              <a:lnSpc>
                <a:spcPct val="90000"/>
              </a:lnSpc>
              <a:buNone/>
            </a:pPr>
            <a:r>
              <a:rPr lang="en-US" altLang="zh-CN" sz="2400" b="1">
                <a:solidFill>
                  <a:srgbClr val="000000"/>
                </a:solidFill>
                <a:latin typeface="宋体" panose="02010600030101010101" pitchFamily="2" charset="-122"/>
              </a:rPr>
              <a:t>Δ Y</a:t>
            </a:r>
            <a:r>
              <a:rPr lang="en-US" altLang="zh-CN" sz="2400" b="1" baseline="30000">
                <a:solidFill>
                  <a:srgbClr val="000000"/>
                </a:solidFill>
                <a:latin typeface="宋体" panose="02010600030101010101" pitchFamily="2" charset="-122"/>
              </a:rPr>
              <a:t>*</a:t>
            </a:r>
            <a:r>
              <a:rPr lang="en-US" altLang="zh-CN" sz="2400" b="1">
                <a:solidFill>
                  <a:srgbClr val="000000"/>
                </a:solidFill>
                <a:latin typeface="宋体" panose="02010600030101010101" pitchFamily="2" charset="-122"/>
              </a:rPr>
              <a:t>=-c/(1-c)(ΔT)</a:t>
            </a:r>
            <a:endParaRPr lang="en-US" altLang="zh-CN" sz="2400" b="1">
              <a:solidFill>
                <a:srgbClr val="000000"/>
              </a:solidFill>
              <a:latin typeface="宋体" panose="02010600030101010101" pitchFamily="2" charset="-122"/>
            </a:endParaRPr>
          </a:p>
          <a:p>
            <a:pPr algn="just">
              <a:lnSpc>
                <a:spcPct val="90000"/>
              </a:lnSpc>
              <a:buNone/>
            </a:pPr>
            <a:r>
              <a:rPr lang="zh-CN" altLang="en-US" sz="2400" b="1">
                <a:solidFill>
                  <a:srgbClr val="000000"/>
                </a:solidFill>
                <a:latin typeface="宋体" panose="02010600030101010101" pitchFamily="2" charset="-122"/>
              </a:rPr>
              <a:t>当</a:t>
            </a:r>
            <a:r>
              <a:rPr lang="en-US" altLang="zh-CN" sz="2400" b="1">
                <a:solidFill>
                  <a:srgbClr val="000000"/>
                </a:solidFill>
                <a:latin typeface="宋体" panose="02010600030101010101" pitchFamily="2" charset="-122"/>
              </a:rPr>
              <a:t>MPC=0.75,</a:t>
            </a:r>
            <a:r>
              <a:rPr lang="zh-CN" altLang="en-US" sz="2400" b="1" dirty="0">
                <a:solidFill>
                  <a:srgbClr val="000000"/>
                </a:solidFill>
                <a:latin typeface="宋体" panose="02010600030101010101" pitchFamily="2" charset="-122"/>
              </a:rPr>
              <a:t>若想要增加总收入</a:t>
            </a:r>
            <a:r>
              <a:rPr lang="en-US" altLang="zh-CN" sz="2400" b="1">
                <a:solidFill>
                  <a:srgbClr val="000000"/>
                </a:solidFill>
                <a:latin typeface="宋体" panose="02010600030101010101" pitchFamily="2" charset="-122"/>
              </a:rPr>
              <a:t>100</a:t>
            </a:r>
            <a:r>
              <a:rPr lang="zh-CN" altLang="en-US" sz="2400" b="1" dirty="0">
                <a:solidFill>
                  <a:srgbClr val="000000"/>
                </a:solidFill>
                <a:latin typeface="宋体" panose="02010600030101010101" pitchFamily="2" charset="-122"/>
              </a:rPr>
              <a:t>个单位，你认为政府减收多少税收呢</a:t>
            </a:r>
            <a:r>
              <a:rPr lang="en-US" altLang="zh-CN" sz="2400" b="1">
                <a:solidFill>
                  <a:srgbClr val="000000"/>
                </a:solidFill>
                <a:latin typeface="宋体" panose="02010600030101010101" pitchFamily="2" charset="-122"/>
              </a:rPr>
              <a:t>?</a:t>
            </a:r>
            <a:endParaRPr lang="en-US" altLang="zh-CN" sz="2400" b="1">
              <a:solidFill>
                <a:srgbClr val="000000"/>
              </a:solidFill>
              <a:latin typeface="宋体" panose="02010600030101010101" pitchFamily="2" charset="-122"/>
            </a:endParaRPr>
          </a:p>
          <a:p>
            <a:pPr algn="just">
              <a:lnSpc>
                <a:spcPct val="90000"/>
              </a:lnSpc>
              <a:buNone/>
            </a:pPr>
            <a:r>
              <a:rPr lang="en-US" altLang="zh-CN" sz="2400" b="1">
                <a:solidFill>
                  <a:srgbClr val="000000"/>
                </a:solidFill>
                <a:latin typeface="宋体" panose="02010600030101010101" pitchFamily="2" charset="-122"/>
              </a:rPr>
              <a:t>100=-0.75/(1-0.75) </a:t>
            </a:r>
            <a:r>
              <a:rPr lang="en-US" altLang="zh-CN" sz="2400" b="1">
                <a:solidFill>
                  <a:srgbClr val="000000"/>
                </a:solidFill>
                <a:latin typeface="宋体" panose="02010600030101010101" pitchFamily="2" charset="-122"/>
              </a:rPr>
              <a:t>ΔT</a:t>
            </a:r>
            <a:r>
              <a:rPr lang="zh-CN" altLang="en-US" sz="2400" b="1">
                <a:solidFill>
                  <a:srgbClr val="000000"/>
                </a:solidFill>
                <a:latin typeface="宋体" panose="02010600030101010101" pitchFamily="2" charset="-122"/>
              </a:rPr>
              <a:t>， </a:t>
            </a:r>
            <a:r>
              <a:rPr lang="en-US" altLang="zh-CN" sz="2400" b="1">
                <a:solidFill>
                  <a:srgbClr val="000000"/>
                </a:solidFill>
                <a:latin typeface="宋体" panose="02010600030101010101" pitchFamily="2" charset="-122"/>
              </a:rPr>
              <a:t>ΔT=-33.33</a:t>
            </a:r>
            <a:endParaRPr lang="en-US" altLang="zh-CN" sz="2400" b="1">
              <a:solidFill>
                <a:srgbClr val="000000"/>
              </a:solidFill>
              <a:latin typeface="宋体" panose="02010600030101010101" pitchFamily="2" charset="-122"/>
            </a:endParaRPr>
          </a:p>
          <a:p>
            <a:pPr>
              <a:lnSpc>
                <a:spcPct val="90000"/>
              </a:lnSpc>
              <a:buNone/>
            </a:pPr>
            <a:endParaRPr lang="en-US" altLang="zh-CN" sz="28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1" name="文本占位符 94210"/>
          <p:cNvSpPr>
            <a:spLocks noGrp="1"/>
          </p:cNvSpPr>
          <p:nvPr>
            <p:ph type="body" idx="1"/>
          </p:nvPr>
        </p:nvSpPr>
        <p:spPr>
          <a:xfrm>
            <a:off x="228600" y="692150"/>
            <a:ext cx="8382000" cy="5327650"/>
          </a:xfrm>
          <a:ln/>
        </p:spPr>
        <p:txBody>
          <a:bodyPr/>
          <a:p>
            <a:pPr marL="0" indent="0">
              <a:buNone/>
            </a:pPr>
            <a:r>
              <a:rPr lang="zh-CN" altLang="en-US" sz="2400" dirty="0">
                <a:solidFill>
                  <a:srgbClr val="000000"/>
                </a:solidFill>
                <a:latin typeface="宋体" panose="02010600030101010101" pitchFamily="2" charset="-122"/>
              </a:rPr>
              <a:t>政府收支的</a:t>
            </a:r>
            <a:r>
              <a:rPr lang="zh-CN" altLang="en-US" sz="2400" b="1" dirty="0">
                <a:solidFill>
                  <a:srgbClr val="000000"/>
                </a:solidFill>
                <a:latin typeface="宋体" panose="02010600030101010101" pitchFamily="2" charset="-122"/>
              </a:rPr>
              <a:t>自动稳定机制</a:t>
            </a:r>
            <a:endParaRPr lang="zh-CN" altLang="en-US" sz="2400" b="1" dirty="0">
              <a:solidFill>
                <a:srgbClr val="000000"/>
              </a:solidFill>
              <a:latin typeface="宋体" panose="02010600030101010101" pitchFamily="2" charset="-122"/>
            </a:endParaRPr>
          </a:p>
          <a:p>
            <a:pPr marL="0" indent="0" eaLnBrk="0" hangingPunct="0">
              <a:spcBef>
                <a:spcPct val="0"/>
              </a:spcBef>
              <a:buNone/>
            </a:pPr>
            <a:r>
              <a:rPr lang="zh-CN" altLang="en-US" sz="2400" dirty="0">
                <a:solidFill>
                  <a:srgbClr val="000000"/>
                </a:solidFill>
                <a:latin typeface="宋体" panose="02010600030101010101" pitchFamily="2" charset="-122"/>
              </a:rPr>
              <a:t>政府收支的自动稳定机制</a:t>
            </a:r>
            <a:r>
              <a:rPr lang="en-US" altLang="zh-CN" sz="2400">
                <a:solidFill>
                  <a:srgbClr val="000000"/>
                </a:solidFill>
                <a:latin typeface="宋体" panose="02010600030101010101" pitchFamily="2" charset="-122"/>
              </a:rPr>
              <a:t>:</a:t>
            </a:r>
            <a:r>
              <a:rPr lang="zh-CN" altLang="en-US" sz="2400" dirty="0">
                <a:solidFill>
                  <a:srgbClr val="000000"/>
                </a:solidFill>
                <a:latin typeface="宋体" panose="02010600030101010101" pitchFamily="2" charset="-122"/>
              </a:rPr>
              <a:t>是指政府缓和经济波动的自动调节的措施，如受国民收入影响的税收制度和社会福利制度。</a:t>
            </a:r>
            <a:endParaRPr lang="zh-CN" altLang="en-US" sz="2400" dirty="0">
              <a:solidFill>
                <a:srgbClr val="000000"/>
              </a:solidFill>
              <a:latin typeface="宋体" panose="02010600030101010101" pitchFamily="2" charset="-122"/>
            </a:endParaRPr>
          </a:p>
          <a:p>
            <a:pPr marL="0" indent="0" eaLnBrk="0" hangingPunct="0">
              <a:spcBef>
                <a:spcPct val="0"/>
              </a:spcBef>
              <a:buNone/>
            </a:pPr>
            <a:r>
              <a:rPr lang="zh-CN" altLang="en-US" sz="2400" dirty="0">
                <a:solidFill>
                  <a:srgbClr val="000000"/>
                </a:solidFill>
                <a:latin typeface="宋体" panose="02010600030101010101" pitchFamily="2" charset="-122"/>
              </a:rPr>
              <a:t>当</a:t>
            </a:r>
            <a:r>
              <a:rPr lang="zh-CN" altLang="en-US" sz="2400" b="1" dirty="0">
                <a:solidFill>
                  <a:srgbClr val="000000"/>
                </a:solidFill>
                <a:latin typeface="宋体" panose="02010600030101010101" pitchFamily="2" charset="-122"/>
              </a:rPr>
              <a:t>经济衰退</a:t>
            </a:r>
            <a:r>
              <a:rPr lang="zh-CN" altLang="en-US" sz="2400" dirty="0">
                <a:solidFill>
                  <a:srgbClr val="000000"/>
                </a:solidFill>
                <a:latin typeface="宋体" panose="02010600030101010101" pitchFamily="2" charset="-122"/>
              </a:rPr>
              <a:t>时，收入水平下降，社会的税率也会相对调低，以缓和经济衰退。</a:t>
            </a:r>
            <a:endParaRPr lang="zh-CN" altLang="en-US" sz="2400" dirty="0">
              <a:solidFill>
                <a:srgbClr val="000000"/>
              </a:solidFill>
              <a:latin typeface="宋体" panose="02010600030101010101" pitchFamily="2" charset="-122"/>
            </a:endParaRPr>
          </a:p>
          <a:p>
            <a:pPr marL="0" indent="0" eaLnBrk="0" hangingPunct="0">
              <a:spcBef>
                <a:spcPct val="0"/>
              </a:spcBef>
              <a:buNone/>
            </a:pPr>
            <a:r>
              <a:rPr lang="zh-CN" altLang="en-US" sz="2400" dirty="0">
                <a:solidFill>
                  <a:srgbClr val="000000"/>
                </a:solidFill>
                <a:latin typeface="宋体" panose="02010600030101010101" pitchFamily="2" charset="-122"/>
              </a:rPr>
              <a:t>当</a:t>
            </a:r>
            <a:r>
              <a:rPr lang="zh-CN" altLang="en-US" sz="2400" b="1" dirty="0">
                <a:solidFill>
                  <a:srgbClr val="000000"/>
                </a:solidFill>
                <a:latin typeface="宋体" panose="02010600030101010101" pitchFamily="2" charset="-122"/>
              </a:rPr>
              <a:t>经济过热</a:t>
            </a:r>
            <a:r>
              <a:rPr lang="zh-CN" altLang="en-US" sz="2400" dirty="0">
                <a:solidFill>
                  <a:srgbClr val="000000"/>
                </a:solidFill>
                <a:latin typeface="宋体" panose="02010600030101010101" pitchFamily="2" charset="-122"/>
              </a:rPr>
              <a:t>时，收入水平提高，社会的税率也会相对提高，以抑制经济过热。</a:t>
            </a:r>
            <a:endParaRPr lang="zh-CN" altLang="en-US" sz="2400" dirty="0">
              <a:solidFill>
                <a:srgbClr val="000000"/>
              </a:solidFill>
              <a:latin typeface="宋体" panose="02010600030101010101" pitchFamily="2" charset="-122"/>
            </a:endParaRPr>
          </a:p>
          <a:p>
            <a:pPr marL="0" indent="0" eaLnBrk="0" hangingPunct="0">
              <a:spcBef>
                <a:spcPct val="0"/>
              </a:spcBef>
              <a:buNone/>
            </a:pPr>
            <a:r>
              <a:rPr lang="zh-CN" altLang="en-US" sz="2400" dirty="0">
                <a:solidFill>
                  <a:srgbClr val="000000"/>
                </a:solidFill>
                <a:latin typeface="宋体" panose="02010600030101010101" pitchFamily="2" charset="-122"/>
              </a:rPr>
              <a:t>社会福利制度方面</a:t>
            </a:r>
            <a:r>
              <a:rPr lang="en-US" altLang="zh-CN" sz="2400">
                <a:solidFill>
                  <a:srgbClr val="000000"/>
                </a:solidFill>
                <a:latin typeface="宋体" panose="02010600030101010101" pitchFamily="2" charset="-122"/>
              </a:rPr>
              <a:t>:</a:t>
            </a:r>
            <a:endParaRPr lang="en-US" altLang="zh-CN" sz="2400">
              <a:solidFill>
                <a:srgbClr val="000000"/>
              </a:solidFill>
              <a:latin typeface="宋体" panose="02010600030101010101" pitchFamily="2" charset="-122"/>
            </a:endParaRPr>
          </a:p>
          <a:p>
            <a:pPr marL="0" indent="0" eaLnBrk="0" hangingPunct="0">
              <a:spcBef>
                <a:spcPct val="0"/>
              </a:spcBef>
              <a:buNone/>
            </a:pPr>
            <a:r>
              <a:rPr lang="zh-CN" altLang="en-US" sz="2400" dirty="0">
                <a:solidFill>
                  <a:srgbClr val="000000"/>
                </a:solidFill>
                <a:latin typeface="宋体" panose="02010600030101010101" pitchFamily="2" charset="-122"/>
              </a:rPr>
              <a:t>当</a:t>
            </a:r>
            <a:r>
              <a:rPr lang="zh-CN" altLang="en-US" sz="2400" b="1" dirty="0">
                <a:solidFill>
                  <a:srgbClr val="000000"/>
                </a:solidFill>
                <a:latin typeface="宋体" panose="02010600030101010101" pitchFamily="2" charset="-122"/>
              </a:rPr>
              <a:t>经济衰退</a:t>
            </a:r>
            <a:r>
              <a:rPr lang="zh-CN" altLang="en-US" sz="2400" dirty="0">
                <a:solidFill>
                  <a:srgbClr val="000000"/>
                </a:solidFill>
                <a:latin typeface="宋体" panose="02010600030101010101" pitchFamily="2" charset="-122"/>
              </a:rPr>
              <a:t>时，社会上会有更多合乎资格的家庭申请援助金，政府开支相应增加，以缓和经济衰退。</a:t>
            </a:r>
            <a:endParaRPr lang="zh-CN" altLang="en-US" sz="2400" dirty="0">
              <a:solidFill>
                <a:srgbClr val="000000"/>
              </a:solidFill>
              <a:latin typeface="宋体" panose="02010600030101010101" pitchFamily="2" charset="-122"/>
            </a:endParaRPr>
          </a:p>
          <a:p>
            <a:pPr marL="0" indent="0" eaLnBrk="0" hangingPunct="0">
              <a:spcBef>
                <a:spcPct val="0"/>
              </a:spcBef>
              <a:buNone/>
            </a:pPr>
            <a:r>
              <a:rPr lang="zh-CN" altLang="en-US" sz="2400" dirty="0">
                <a:solidFill>
                  <a:srgbClr val="000000"/>
                </a:solidFill>
                <a:latin typeface="宋体" panose="02010600030101010101" pitchFamily="2" charset="-122"/>
              </a:rPr>
              <a:t>当</a:t>
            </a:r>
            <a:r>
              <a:rPr lang="zh-CN" altLang="en-US" sz="2400" b="1" dirty="0">
                <a:solidFill>
                  <a:srgbClr val="000000"/>
                </a:solidFill>
                <a:latin typeface="宋体" panose="02010600030101010101" pitchFamily="2" charset="-122"/>
              </a:rPr>
              <a:t>经济景气</a:t>
            </a:r>
            <a:r>
              <a:rPr lang="zh-CN" altLang="en-US" sz="2400" dirty="0">
                <a:solidFill>
                  <a:srgbClr val="000000"/>
                </a:solidFill>
                <a:latin typeface="宋体" panose="02010600030101010101" pitchFamily="2" charset="-122"/>
              </a:rPr>
              <a:t>时，收入水平提高，申请援助金的家庭减少，政府开支相应减少，以抑制经济过热。</a:t>
            </a:r>
            <a:endParaRPr lang="zh-CN" altLang="en-US" sz="2400" dirty="0">
              <a:solidFill>
                <a:srgbClr val="000000"/>
              </a:solidFill>
              <a:latin typeface="宋体" panose="02010600030101010101" pitchFamily="2" charset="-122"/>
            </a:endParaRPr>
          </a:p>
          <a:p>
            <a:pPr marL="0" indent="0" eaLnBrk="0" hangingPunct="0">
              <a:spcBef>
                <a:spcPct val="0"/>
              </a:spcBef>
              <a:buNone/>
            </a:pPr>
            <a:endParaRPr lang="zh-CN" altLang="en-US" sz="2400" dirty="0">
              <a:solidFill>
                <a:srgbClr val="000000"/>
              </a:solidFill>
              <a:latin typeface="宋体" panose="02010600030101010101" pitchFamily="2" charset="-122"/>
            </a:endParaRPr>
          </a:p>
          <a:p>
            <a:pPr marL="0" indent="0" eaLnBrk="0" hangingPunct="0">
              <a:spcBef>
                <a:spcPct val="0"/>
              </a:spcBef>
              <a:buNone/>
            </a:pPr>
            <a:endParaRPr lang="zh-CN" altLang="en-US" sz="2400">
              <a:solidFill>
                <a:srgbClr val="0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5" name="文本占位符 95234"/>
          <p:cNvSpPr>
            <a:spLocks noGrp="1"/>
          </p:cNvSpPr>
          <p:nvPr>
            <p:ph type="body" idx="1"/>
          </p:nvPr>
        </p:nvSpPr>
        <p:spPr>
          <a:xfrm>
            <a:off x="685800" y="533400"/>
            <a:ext cx="7772400" cy="4114800"/>
          </a:xfrm>
          <a:ln/>
        </p:spPr>
        <p:txBody>
          <a:bodyPr/>
          <a:p>
            <a:pPr>
              <a:lnSpc>
                <a:spcPct val="90000"/>
              </a:lnSpc>
              <a:buNone/>
            </a:pPr>
            <a:r>
              <a:rPr lang="zh-CN" altLang="en-US" sz="2400" b="1" dirty="0">
                <a:solidFill>
                  <a:srgbClr val="FF0000"/>
                </a:solidFill>
              </a:rPr>
              <a:t>进出口的决定因素</a:t>
            </a:r>
            <a:endParaRPr lang="zh-CN" altLang="en-US" sz="2400" b="1" dirty="0">
              <a:solidFill>
                <a:srgbClr val="FF0000"/>
              </a:solidFill>
            </a:endParaRPr>
          </a:p>
          <a:p>
            <a:pPr>
              <a:lnSpc>
                <a:spcPct val="90000"/>
              </a:lnSpc>
              <a:buNone/>
            </a:pPr>
            <a:r>
              <a:rPr lang="en-US" altLang="zh-CN" sz="2000">
                <a:solidFill>
                  <a:srgbClr val="000000"/>
                </a:solidFill>
              </a:rPr>
              <a:t>M=</a:t>
            </a:r>
            <a:r>
              <a:rPr lang="en-US" altLang="zh-CN" sz="2000" dirty="0" err="1">
                <a:solidFill>
                  <a:srgbClr val="000000"/>
                </a:solidFill>
              </a:rPr>
              <a:t>M</a:t>
            </a:r>
            <a:r>
              <a:rPr lang="en-US" altLang="zh-CN" sz="2000" baseline="-25000" dirty="0" err="1">
                <a:solidFill>
                  <a:srgbClr val="000000"/>
                </a:solidFill>
              </a:rPr>
              <a:t>a</a:t>
            </a:r>
            <a:r>
              <a:rPr lang="en-US" altLang="zh-CN" sz="2000" dirty="0" err="1">
                <a:solidFill>
                  <a:srgbClr val="000000"/>
                </a:solidFill>
              </a:rPr>
              <a:t>+mY</a:t>
            </a:r>
            <a:r>
              <a:rPr lang="en-US" altLang="zh-CN" sz="2000">
                <a:solidFill>
                  <a:srgbClr val="000000"/>
                </a:solidFill>
              </a:rPr>
              <a:t>,        0&lt;m&lt;1</a:t>
            </a:r>
            <a:endParaRPr lang="en-US" altLang="zh-CN" sz="2000">
              <a:solidFill>
                <a:srgbClr val="000000"/>
              </a:solidFill>
            </a:endParaRPr>
          </a:p>
          <a:p>
            <a:pPr>
              <a:lnSpc>
                <a:spcPct val="90000"/>
              </a:lnSpc>
              <a:buNone/>
            </a:pPr>
            <a:r>
              <a:rPr lang="en-US" altLang="zh-CN" sz="2000">
                <a:solidFill>
                  <a:srgbClr val="000000"/>
                </a:solidFill>
              </a:rPr>
              <a:t>M:</a:t>
            </a:r>
            <a:r>
              <a:rPr lang="zh-CN" altLang="en-US" sz="2000" dirty="0">
                <a:solidFill>
                  <a:srgbClr val="000000"/>
                </a:solidFill>
              </a:rPr>
              <a:t>进口量</a:t>
            </a:r>
            <a:r>
              <a:rPr lang="en-US" altLang="zh-CN" sz="2000">
                <a:solidFill>
                  <a:srgbClr val="000000"/>
                </a:solidFill>
              </a:rPr>
              <a:t>, </a:t>
            </a:r>
            <a:r>
              <a:rPr lang="en-US" altLang="zh-CN" sz="2000">
                <a:solidFill>
                  <a:srgbClr val="000000"/>
                </a:solidFill>
              </a:rPr>
              <a:t>M</a:t>
            </a:r>
            <a:r>
              <a:rPr lang="en-US" altLang="zh-CN" sz="2000" baseline="-25000">
                <a:solidFill>
                  <a:srgbClr val="000000"/>
                </a:solidFill>
              </a:rPr>
              <a:t>a</a:t>
            </a:r>
            <a:r>
              <a:rPr lang="en-US" altLang="zh-CN" sz="2000">
                <a:solidFill>
                  <a:srgbClr val="000000"/>
                </a:solidFill>
              </a:rPr>
              <a:t>:</a:t>
            </a:r>
            <a:r>
              <a:rPr lang="zh-CN" altLang="en-US" sz="2000" dirty="0">
                <a:solidFill>
                  <a:srgbClr val="000000"/>
                </a:solidFill>
              </a:rPr>
              <a:t>自发性进口量 </a:t>
            </a:r>
            <a:r>
              <a:rPr lang="en-US" altLang="zh-CN" sz="2000">
                <a:solidFill>
                  <a:srgbClr val="000000"/>
                </a:solidFill>
              </a:rPr>
              <a:t>m:</a:t>
            </a:r>
            <a:r>
              <a:rPr lang="zh-CN" altLang="en-US" sz="2000" dirty="0">
                <a:solidFill>
                  <a:srgbClr val="000000"/>
                </a:solidFill>
              </a:rPr>
              <a:t>边际进口倾向</a:t>
            </a:r>
            <a:endParaRPr lang="zh-CN" altLang="en-US" sz="2000" dirty="0">
              <a:solidFill>
                <a:srgbClr val="000000"/>
              </a:solidFill>
            </a:endParaRPr>
          </a:p>
          <a:p>
            <a:pPr>
              <a:lnSpc>
                <a:spcPct val="90000"/>
              </a:lnSpc>
              <a:buNone/>
            </a:pPr>
            <a:r>
              <a:rPr lang="zh-CN" altLang="en-US" sz="2000" dirty="0">
                <a:solidFill>
                  <a:srgbClr val="000000"/>
                </a:solidFill>
              </a:rPr>
              <a:t>均衡收入数式法</a:t>
            </a:r>
            <a:r>
              <a:rPr lang="en-US" altLang="zh-CN" sz="2000">
                <a:solidFill>
                  <a:srgbClr val="000000"/>
                </a:solidFill>
              </a:rPr>
              <a:t>:</a:t>
            </a:r>
            <a:endParaRPr lang="en-US" altLang="zh-CN" sz="2000">
              <a:solidFill>
                <a:srgbClr val="000000"/>
              </a:solidFill>
            </a:endParaRPr>
          </a:p>
          <a:p>
            <a:pPr>
              <a:lnSpc>
                <a:spcPct val="90000"/>
              </a:lnSpc>
              <a:buNone/>
            </a:pPr>
            <a:r>
              <a:rPr lang="zh-CN" altLang="en-US" sz="2000" dirty="0">
                <a:solidFill>
                  <a:srgbClr val="000000"/>
                </a:solidFill>
              </a:rPr>
              <a:t>总需求</a:t>
            </a:r>
            <a:r>
              <a:rPr lang="en-US" altLang="zh-CN" sz="2000">
                <a:solidFill>
                  <a:srgbClr val="000000"/>
                </a:solidFill>
              </a:rPr>
              <a:t>=C+I+G+(X-M)</a:t>
            </a:r>
            <a:endParaRPr lang="en-US" altLang="zh-CN" sz="2000">
              <a:solidFill>
                <a:srgbClr val="000000"/>
              </a:solidFill>
            </a:endParaRPr>
          </a:p>
          <a:p>
            <a:pPr>
              <a:lnSpc>
                <a:spcPct val="90000"/>
              </a:lnSpc>
              <a:buNone/>
            </a:pPr>
            <a:r>
              <a:rPr lang="en-US" altLang="zh-CN" sz="2000">
                <a:solidFill>
                  <a:srgbClr val="000000"/>
                </a:solidFill>
              </a:rPr>
              <a:t>          =</a:t>
            </a:r>
            <a:r>
              <a:rPr lang="en-US" altLang="zh-CN" sz="2000" dirty="0" err="1">
                <a:solidFill>
                  <a:srgbClr val="000000"/>
                </a:solidFill>
              </a:rPr>
              <a:t>C</a:t>
            </a:r>
            <a:r>
              <a:rPr lang="en-US" altLang="zh-CN" sz="2000" baseline="-25000" dirty="0" err="1">
                <a:solidFill>
                  <a:srgbClr val="000000"/>
                </a:solidFill>
              </a:rPr>
              <a:t>a</a:t>
            </a:r>
            <a:r>
              <a:rPr lang="en-US" altLang="zh-CN" sz="2000" dirty="0" err="1">
                <a:solidFill>
                  <a:srgbClr val="000000"/>
                </a:solidFill>
              </a:rPr>
              <a:t>+c(Y-T)+I+G+X-(</a:t>
            </a:r>
            <a:r>
              <a:rPr lang="en-US" altLang="zh-CN" sz="2000" dirty="0" err="1">
                <a:solidFill>
                  <a:srgbClr val="000000"/>
                </a:solidFill>
              </a:rPr>
              <a:t>M</a:t>
            </a:r>
            <a:r>
              <a:rPr lang="en-US" altLang="zh-CN" sz="2000" baseline="-25000" dirty="0" err="1">
                <a:solidFill>
                  <a:srgbClr val="000000"/>
                </a:solidFill>
              </a:rPr>
              <a:t>a</a:t>
            </a:r>
            <a:r>
              <a:rPr lang="en-US" altLang="zh-CN" sz="2000" dirty="0" err="1">
                <a:solidFill>
                  <a:srgbClr val="000000"/>
                </a:solidFill>
              </a:rPr>
              <a:t>+mY</a:t>
            </a:r>
            <a:r>
              <a:rPr lang="en-US" altLang="zh-CN" sz="2000">
                <a:solidFill>
                  <a:srgbClr val="000000"/>
                </a:solidFill>
              </a:rPr>
              <a:t>)</a:t>
            </a:r>
            <a:endParaRPr lang="en-US" altLang="zh-CN" sz="2000">
              <a:solidFill>
                <a:srgbClr val="000000"/>
              </a:solidFill>
            </a:endParaRPr>
          </a:p>
          <a:p>
            <a:pPr>
              <a:lnSpc>
                <a:spcPct val="90000"/>
              </a:lnSpc>
              <a:buNone/>
            </a:pPr>
            <a:r>
              <a:rPr lang="en-US" altLang="zh-CN" sz="2000">
                <a:solidFill>
                  <a:srgbClr val="000000"/>
                </a:solidFill>
              </a:rPr>
              <a:t>          =(</a:t>
            </a:r>
            <a:r>
              <a:rPr lang="en-US" altLang="zh-CN" sz="2000" dirty="0" err="1">
                <a:solidFill>
                  <a:srgbClr val="000000"/>
                </a:solidFill>
              </a:rPr>
              <a:t>c-m)Y+(C</a:t>
            </a:r>
            <a:r>
              <a:rPr lang="en-US" altLang="zh-CN" sz="2000" baseline="-25000" dirty="0" err="1">
                <a:solidFill>
                  <a:srgbClr val="000000"/>
                </a:solidFill>
              </a:rPr>
              <a:t>a</a:t>
            </a:r>
            <a:r>
              <a:rPr lang="en-US" altLang="zh-CN" sz="2000" dirty="0" err="1">
                <a:solidFill>
                  <a:srgbClr val="000000"/>
                </a:solidFill>
              </a:rPr>
              <a:t>-cT+I+G+X</a:t>
            </a:r>
            <a:r>
              <a:rPr lang="en-US" altLang="zh-CN" sz="2000">
                <a:solidFill>
                  <a:srgbClr val="000000"/>
                </a:solidFill>
              </a:rPr>
              <a:t>- </a:t>
            </a:r>
            <a:r>
              <a:rPr lang="en-US" altLang="zh-CN" sz="2000">
                <a:solidFill>
                  <a:srgbClr val="000000"/>
                </a:solidFill>
              </a:rPr>
              <a:t>M</a:t>
            </a:r>
            <a:r>
              <a:rPr lang="en-US" altLang="zh-CN" sz="2000" baseline="-25000">
                <a:solidFill>
                  <a:srgbClr val="000000"/>
                </a:solidFill>
              </a:rPr>
              <a:t>a</a:t>
            </a:r>
            <a:r>
              <a:rPr lang="en-US" altLang="zh-CN" sz="2000">
                <a:solidFill>
                  <a:srgbClr val="000000"/>
                </a:solidFill>
              </a:rPr>
              <a:t>)</a:t>
            </a:r>
            <a:endParaRPr lang="en-US" altLang="zh-CN" sz="2000">
              <a:solidFill>
                <a:srgbClr val="000000"/>
              </a:solidFill>
            </a:endParaRPr>
          </a:p>
          <a:p>
            <a:pPr>
              <a:lnSpc>
                <a:spcPct val="90000"/>
              </a:lnSpc>
              <a:buNone/>
            </a:pPr>
            <a:r>
              <a:rPr lang="zh-CN" altLang="en-US" sz="2000" dirty="0">
                <a:solidFill>
                  <a:srgbClr val="000000"/>
                </a:solidFill>
              </a:rPr>
              <a:t>总供给</a:t>
            </a:r>
            <a:r>
              <a:rPr lang="en-US" altLang="zh-CN" sz="2000">
                <a:solidFill>
                  <a:srgbClr val="000000"/>
                </a:solidFill>
              </a:rPr>
              <a:t>=Y</a:t>
            </a:r>
            <a:endParaRPr lang="en-US" altLang="zh-CN" sz="2000">
              <a:solidFill>
                <a:srgbClr val="000000"/>
              </a:solidFill>
            </a:endParaRPr>
          </a:p>
          <a:p>
            <a:pPr>
              <a:lnSpc>
                <a:spcPct val="90000"/>
              </a:lnSpc>
              <a:buNone/>
            </a:pPr>
            <a:r>
              <a:rPr lang="zh-CN" altLang="en-US" sz="2000" dirty="0">
                <a:solidFill>
                  <a:srgbClr val="000000"/>
                </a:solidFill>
              </a:rPr>
              <a:t>当总供给等于总需求对</a:t>
            </a:r>
            <a:r>
              <a:rPr lang="en-US" altLang="zh-CN" sz="2000">
                <a:solidFill>
                  <a:srgbClr val="000000"/>
                </a:solidFill>
              </a:rPr>
              <a:t>,</a:t>
            </a:r>
            <a:endParaRPr lang="en-US" altLang="zh-CN" sz="2000">
              <a:solidFill>
                <a:srgbClr val="000000"/>
              </a:solidFill>
            </a:endParaRPr>
          </a:p>
          <a:p>
            <a:pPr>
              <a:lnSpc>
                <a:spcPct val="90000"/>
              </a:lnSpc>
              <a:buNone/>
            </a:pPr>
            <a:r>
              <a:rPr lang="en-US" altLang="zh-CN" sz="2000">
                <a:solidFill>
                  <a:srgbClr val="000000"/>
                </a:solidFill>
              </a:rPr>
              <a:t>Y=(</a:t>
            </a:r>
            <a:r>
              <a:rPr lang="en-US" altLang="zh-CN" sz="2000" dirty="0" err="1">
                <a:solidFill>
                  <a:srgbClr val="000000"/>
                </a:solidFill>
              </a:rPr>
              <a:t>c-m)Y+(C</a:t>
            </a:r>
            <a:r>
              <a:rPr lang="en-US" altLang="zh-CN" sz="2000" baseline="-25000" dirty="0" err="1">
                <a:solidFill>
                  <a:srgbClr val="000000"/>
                </a:solidFill>
              </a:rPr>
              <a:t>a</a:t>
            </a:r>
            <a:r>
              <a:rPr lang="en-US" altLang="zh-CN" sz="2000" dirty="0" err="1">
                <a:solidFill>
                  <a:srgbClr val="000000"/>
                </a:solidFill>
              </a:rPr>
              <a:t>-cT+I+G+X</a:t>
            </a:r>
            <a:r>
              <a:rPr lang="en-US" altLang="zh-CN" sz="2000">
                <a:solidFill>
                  <a:srgbClr val="000000"/>
                </a:solidFill>
              </a:rPr>
              <a:t>- </a:t>
            </a:r>
            <a:r>
              <a:rPr lang="en-US" altLang="zh-CN" sz="2000">
                <a:solidFill>
                  <a:srgbClr val="000000"/>
                </a:solidFill>
              </a:rPr>
              <a:t>M</a:t>
            </a:r>
            <a:r>
              <a:rPr lang="en-US" altLang="zh-CN" sz="2000" baseline="-25000">
                <a:solidFill>
                  <a:srgbClr val="000000"/>
                </a:solidFill>
              </a:rPr>
              <a:t>a</a:t>
            </a:r>
            <a:r>
              <a:rPr lang="en-US" altLang="zh-CN" sz="2000">
                <a:solidFill>
                  <a:srgbClr val="000000"/>
                </a:solidFill>
              </a:rPr>
              <a:t>)</a:t>
            </a:r>
            <a:endParaRPr lang="en-US" altLang="zh-CN" sz="2000">
              <a:solidFill>
                <a:srgbClr val="000000"/>
              </a:solidFill>
            </a:endParaRPr>
          </a:p>
          <a:p>
            <a:pPr>
              <a:lnSpc>
                <a:spcPct val="90000"/>
              </a:lnSpc>
              <a:buNone/>
            </a:pPr>
            <a:r>
              <a:rPr lang="en-US" altLang="zh-CN" sz="2000">
                <a:solidFill>
                  <a:srgbClr val="000000"/>
                </a:solidFill>
              </a:rPr>
              <a:t>(1-c+m)Y= C</a:t>
            </a:r>
            <a:r>
              <a:rPr lang="en-US" altLang="zh-CN" sz="2000" baseline="-25000">
                <a:solidFill>
                  <a:srgbClr val="000000"/>
                </a:solidFill>
              </a:rPr>
              <a:t>a</a:t>
            </a:r>
            <a:r>
              <a:rPr lang="en-US" altLang="zh-CN" sz="2000">
                <a:solidFill>
                  <a:srgbClr val="000000"/>
                </a:solidFill>
              </a:rPr>
              <a:t>-</a:t>
            </a:r>
            <a:r>
              <a:rPr lang="en-US" altLang="zh-CN" sz="2000" dirty="0" err="1">
                <a:solidFill>
                  <a:srgbClr val="000000"/>
                </a:solidFill>
              </a:rPr>
              <a:t>cT+I+G+X</a:t>
            </a:r>
            <a:r>
              <a:rPr lang="en-US" altLang="zh-CN" sz="2000">
                <a:solidFill>
                  <a:srgbClr val="000000"/>
                </a:solidFill>
              </a:rPr>
              <a:t>- </a:t>
            </a:r>
            <a:r>
              <a:rPr lang="en-US" altLang="zh-CN" sz="2000">
                <a:solidFill>
                  <a:srgbClr val="000000"/>
                </a:solidFill>
              </a:rPr>
              <a:t>M</a:t>
            </a:r>
            <a:r>
              <a:rPr lang="en-US" altLang="zh-CN" sz="2000" baseline="-25000">
                <a:solidFill>
                  <a:srgbClr val="000000"/>
                </a:solidFill>
              </a:rPr>
              <a:t>a</a:t>
            </a:r>
            <a:endParaRPr lang="en-US" altLang="zh-CN" sz="2000" baseline="-25000">
              <a:solidFill>
                <a:srgbClr val="000000"/>
              </a:solidFill>
            </a:endParaRPr>
          </a:p>
          <a:p>
            <a:pPr>
              <a:lnSpc>
                <a:spcPct val="90000"/>
              </a:lnSpc>
              <a:buNone/>
            </a:pPr>
            <a:r>
              <a:rPr lang="en-US" altLang="zh-CN" sz="2000">
                <a:solidFill>
                  <a:srgbClr val="000000"/>
                </a:solidFill>
              </a:rPr>
              <a:t>Y</a:t>
            </a:r>
            <a:r>
              <a:rPr lang="en-US" altLang="zh-CN" sz="2000" baseline="30000">
                <a:solidFill>
                  <a:srgbClr val="000000"/>
                </a:solidFill>
              </a:rPr>
              <a:t>*</a:t>
            </a:r>
            <a:r>
              <a:rPr lang="en-US" altLang="zh-CN" sz="2000">
                <a:solidFill>
                  <a:srgbClr val="000000"/>
                </a:solidFill>
              </a:rPr>
              <a:t>=1/(1-c+m) (C</a:t>
            </a:r>
            <a:r>
              <a:rPr lang="en-US" altLang="zh-CN" sz="2000" baseline="-25000">
                <a:solidFill>
                  <a:srgbClr val="000000"/>
                </a:solidFill>
              </a:rPr>
              <a:t>a</a:t>
            </a:r>
            <a:r>
              <a:rPr lang="en-US" altLang="zh-CN" sz="2000">
                <a:solidFill>
                  <a:srgbClr val="000000"/>
                </a:solidFill>
              </a:rPr>
              <a:t>-</a:t>
            </a:r>
            <a:r>
              <a:rPr lang="en-US" altLang="zh-CN" sz="2000" dirty="0" err="1">
                <a:solidFill>
                  <a:srgbClr val="000000"/>
                </a:solidFill>
              </a:rPr>
              <a:t>cT+I+G+X</a:t>
            </a:r>
            <a:r>
              <a:rPr lang="en-US" altLang="zh-CN" sz="2000">
                <a:solidFill>
                  <a:srgbClr val="000000"/>
                </a:solidFill>
              </a:rPr>
              <a:t>- </a:t>
            </a:r>
            <a:r>
              <a:rPr lang="en-US" altLang="zh-CN" sz="2000">
                <a:solidFill>
                  <a:srgbClr val="000000"/>
                </a:solidFill>
              </a:rPr>
              <a:t>M</a:t>
            </a:r>
            <a:r>
              <a:rPr lang="en-US" altLang="zh-CN" sz="2000" baseline="-25000">
                <a:solidFill>
                  <a:srgbClr val="000000"/>
                </a:solidFill>
              </a:rPr>
              <a:t>a</a:t>
            </a:r>
            <a:r>
              <a:rPr lang="en-US" altLang="zh-CN" sz="2000">
                <a:solidFill>
                  <a:srgbClr val="000000"/>
                </a:solidFill>
              </a:rPr>
              <a:t>)</a:t>
            </a:r>
            <a:endParaRPr lang="en-US" altLang="zh-CN" sz="2000">
              <a:solidFill>
                <a:srgbClr val="000000"/>
              </a:solidFill>
            </a:endParaRPr>
          </a:p>
          <a:p>
            <a:pPr>
              <a:lnSpc>
                <a:spcPct val="90000"/>
              </a:lnSpc>
              <a:buNone/>
            </a:pPr>
            <a:r>
              <a:rPr lang="zh-CN" altLang="en-US" sz="2000" dirty="0">
                <a:solidFill>
                  <a:srgbClr val="000000"/>
                </a:solidFill>
              </a:rPr>
              <a:t>比较</a:t>
            </a:r>
            <a:r>
              <a:rPr lang="en-US" altLang="zh-CN" sz="2000">
                <a:solidFill>
                  <a:srgbClr val="000000"/>
                </a:solidFill>
              </a:rPr>
              <a:t>: </a:t>
            </a:r>
            <a:r>
              <a:rPr lang="en-US" altLang="zh-CN" sz="1800" b="1">
                <a:solidFill>
                  <a:srgbClr val="000000"/>
                </a:solidFill>
                <a:latin typeface="楷体_GB2312" pitchFamily="49" charset="-122"/>
                <a:ea typeface="楷体_GB2312" pitchFamily="49" charset="-122"/>
              </a:rPr>
              <a:t>Y</a:t>
            </a:r>
            <a:r>
              <a:rPr lang="en-US" altLang="zh-CN" sz="1800" b="1" baseline="30000">
                <a:solidFill>
                  <a:srgbClr val="000000"/>
                </a:solidFill>
                <a:latin typeface="楷体_GB2312" pitchFamily="49" charset="-122"/>
                <a:ea typeface="楷体_GB2312" pitchFamily="49" charset="-122"/>
              </a:rPr>
              <a:t> </a:t>
            </a:r>
            <a:r>
              <a:rPr lang="en-US" altLang="zh-CN" sz="1800" b="1">
                <a:solidFill>
                  <a:srgbClr val="000000"/>
                </a:solidFill>
                <a:latin typeface="楷体_GB2312" pitchFamily="49" charset="-122"/>
                <a:ea typeface="楷体_GB2312" pitchFamily="49" charset="-122"/>
              </a:rPr>
              <a:t>= (1/1-c)(C</a:t>
            </a:r>
            <a:r>
              <a:rPr lang="en-US" altLang="zh-CN" sz="1800" b="1" baseline="-30000">
                <a:solidFill>
                  <a:srgbClr val="000000"/>
                </a:solidFill>
                <a:latin typeface="楷体_GB2312" pitchFamily="49" charset="-122"/>
                <a:ea typeface="楷体_GB2312" pitchFamily="49" charset="-122"/>
              </a:rPr>
              <a:t>0</a:t>
            </a:r>
            <a:r>
              <a:rPr lang="en-US" altLang="zh-CN" sz="1800" b="1">
                <a:solidFill>
                  <a:srgbClr val="000000"/>
                </a:solidFill>
                <a:latin typeface="楷体_GB2312" pitchFamily="49" charset="-122"/>
                <a:ea typeface="楷体_GB2312" pitchFamily="49" charset="-122"/>
              </a:rPr>
              <a:t>+I+G-cT)</a:t>
            </a:r>
            <a:endParaRPr lang="en-US" altLang="zh-CN" sz="1800" b="1">
              <a:solidFill>
                <a:srgbClr val="000000"/>
              </a:solidFill>
              <a:latin typeface="楷体_GB2312" pitchFamily="49" charset="-122"/>
              <a:ea typeface="楷体_GB2312" pitchFamily="49" charset="-122"/>
            </a:endParaRPr>
          </a:p>
          <a:p>
            <a:pPr>
              <a:lnSpc>
                <a:spcPct val="90000"/>
              </a:lnSpc>
              <a:buNone/>
            </a:pPr>
            <a:r>
              <a:rPr lang="zh-CN" altLang="en-US" sz="2000" dirty="0">
                <a:solidFill>
                  <a:srgbClr val="000000"/>
                </a:solidFill>
              </a:rPr>
              <a:t>政府开支的乘数</a:t>
            </a:r>
            <a:r>
              <a:rPr lang="en-US" altLang="zh-CN" sz="1800" b="1">
                <a:solidFill>
                  <a:srgbClr val="000000"/>
                </a:solidFill>
                <a:latin typeface="楷体_GB2312" pitchFamily="49" charset="-122"/>
                <a:ea typeface="楷体_GB2312" pitchFamily="49" charset="-122"/>
              </a:rPr>
              <a:t>(1/1-c)&gt; </a:t>
            </a:r>
            <a:r>
              <a:rPr lang="en-US" altLang="zh-CN" sz="2000">
                <a:solidFill>
                  <a:srgbClr val="000000"/>
                </a:solidFill>
              </a:rPr>
              <a:t>1/(1-c+m)   0&lt;m&lt;1</a:t>
            </a:r>
            <a:endParaRPr lang="en-US" altLang="zh-CN" sz="2000">
              <a:solidFill>
                <a:srgbClr val="000000"/>
              </a:solidFill>
            </a:endParaRPr>
          </a:p>
          <a:p>
            <a:pPr>
              <a:lnSpc>
                <a:spcPct val="90000"/>
              </a:lnSpc>
              <a:buNone/>
            </a:pPr>
            <a:r>
              <a:rPr lang="zh-CN" altLang="en-US" sz="2000">
                <a:solidFill>
                  <a:srgbClr val="000000"/>
                </a:solidFill>
              </a:rPr>
              <a:t>当</a:t>
            </a:r>
            <a:r>
              <a:rPr lang="zh-CN" altLang="en-US" sz="2000" dirty="0">
                <a:solidFill>
                  <a:srgbClr val="000000"/>
                </a:solidFill>
              </a:rPr>
              <a:t>考虑进出口因素之后，乘数效果会变小。</a:t>
            </a:r>
            <a:endParaRPr lang="zh-CN" altLang="en-US" sz="2000" dirty="0">
              <a:solidFill>
                <a:srgbClr val="000000"/>
              </a:solidFill>
            </a:endParaRPr>
          </a:p>
          <a:p>
            <a:pPr>
              <a:lnSpc>
                <a:spcPct val="90000"/>
              </a:lnSpc>
              <a:buNone/>
            </a:pPr>
            <a:endParaRPr lang="zh-CN" altLang="en-US" sz="2000" dirty="0">
              <a:solidFill>
                <a:srgbClr val="000000"/>
              </a:solidFill>
            </a:endParaRPr>
          </a:p>
          <a:p>
            <a:pPr>
              <a:lnSpc>
                <a:spcPct val="90000"/>
              </a:lnSpc>
              <a:buNone/>
            </a:pPr>
            <a:endParaRPr lang="zh-CN" altLang="en-US" sz="2000" dirty="0">
              <a:solidFill>
                <a:srgbClr val="000000"/>
              </a:solidFill>
            </a:endParaRPr>
          </a:p>
          <a:p>
            <a:pPr>
              <a:lnSpc>
                <a:spcPct val="90000"/>
              </a:lnSpc>
              <a:buNone/>
            </a:pPr>
            <a:endParaRPr lang="zh-CN" altLang="en-US" sz="2000" dirty="0">
              <a:solidFill>
                <a:srgbClr val="000000"/>
              </a:solidFill>
            </a:endParaRPr>
          </a:p>
          <a:p>
            <a:pPr>
              <a:lnSpc>
                <a:spcPct val="90000"/>
              </a:lnSpc>
              <a:buNone/>
            </a:pPr>
            <a:endParaRPr lang="zh-CN" altLang="en-US" sz="2000">
              <a:solidFill>
                <a:srgbClr val="000000"/>
              </a:solidFill>
            </a:endParaRPr>
          </a:p>
          <a:p>
            <a:pPr>
              <a:lnSpc>
                <a:spcPct val="90000"/>
              </a:lnSpc>
              <a:buNone/>
            </a:pPr>
            <a:endParaRPr lang="zh-CN" altLang="en-US" sz="2000">
              <a:solidFill>
                <a:srgbClr val="000000"/>
              </a:solidFill>
            </a:endParaRPr>
          </a:p>
          <a:p>
            <a:pPr>
              <a:lnSpc>
                <a:spcPct val="90000"/>
              </a:lnSpc>
              <a:buNone/>
            </a:pPr>
            <a:endParaRPr lang="zh-CN" altLang="en-US" sz="2000">
              <a:solidFill>
                <a:srgbClr val="0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标题 96257"/>
          <p:cNvSpPr>
            <a:spLocks noGrp="1"/>
          </p:cNvSpPr>
          <p:nvPr>
            <p:ph type="title"/>
          </p:nvPr>
        </p:nvSpPr>
        <p:spPr>
          <a:ln/>
        </p:spPr>
        <p:txBody>
          <a:bodyPr anchor="ctr" anchorCtr="0"/>
          <a:p>
            <a:endParaRPr dirty="0"/>
          </a:p>
        </p:txBody>
      </p:sp>
      <p:sp>
        <p:nvSpPr>
          <p:cNvPr id="96259" name="文本占位符 96258"/>
          <p:cNvSpPr>
            <a:spLocks noGrp="1"/>
          </p:cNvSpPr>
          <p:nvPr>
            <p:ph type="body" idx="1"/>
          </p:nvPr>
        </p:nvSpPr>
        <p:spPr>
          <a:ln/>
        </p:spPr>
        <p:txBody>
          <a:bodyPr/>
          <a:p>
            <a:pPr>
              <a:buNone/>
            </a:pPr>
            <a:r>
              <a:rPr lang="zh-CN" altLang="en-US" sz="2400" dirty="0">
                <a:solidFill>
                  <a:srgbClr val="000000"/>
                </a:solidFill>
              </a:rPr>
              <a:t>思考题</a:t>
            </a:r>
            <a:r>
              <a:rPr lang="en-US" altLang="zh-CN" sz="2400">
                <a:solidFill>
                  <a:srgbClr val="000000"/>
                </a:solidFill>
              </a:rPr>
              <a:t>:</a:t>
            </a:r>
            <a:endParaRPr lang="en-US" altLang="zh-CN" sz="2400">
              <a:solidFill>
                <a:srgbClr val="000000"/>
              </a:solidFill>
            </a:endParaRPr>
          </a:p>
          <a:p>
            <a:pPr>
              <a:buNone/>
            </a:pPr>
            <a:r>
              <a:rPr lang="zh-CN" altLang="en-US" sz="2400" dirty="0">
                <a:solidFill>
                  <a:srgbClr val="000000"/>
                </a:solidFill>
              </a:rPr>
              <a:t>当</a:t>
            </a:r>
            <a:r>
              <a:rPr lang="en-US" altLang="zh-CN" sz="2400">
                <a:solidFill>
                  <a:srgbClr val="000000"/>
                </a:solidFill>
              </a:rPr>
              <a:t>c=0.8 ,m=0.2 </a:t>
            </a:r>
            <a:r>
              <a:rPr lang="zh-CN" altLang="en-US" sz="2400" dirty="0">
                <a:solidFill>
                  <a:srgbClr val="000000"/>
                </a:solidFill>
              </a:rPr>
              <a:t>而自发性消费上升</a:t>
            </a:r>
            <a:r>
              <a:rPr lang="en-US" altLang="zh-CN" sz="2400">
                <a:solidFill>
                  <a:srgbClr val="000000"/>
                </a:solidFill>
              </a:rPr>
              <a:t>1000</a:t>
            </a:r>
            <a:r>
              <a:rPr lang="zh-CN" altLang="en-US" sz="2400" dirty="0">
                <a:solidFill>
                  <a:srgbClr val="000000"/>
                </a:solidFill>
              </a:rPr>
              <a:t>元</a:t>
            </a:r>
            <a:r>
              <a:rPr lang="en-US" altLang="zh-CN" sz="2400">
                <a:solidFill>
                  <a:srgbClr val="000000"/>
                </a:solidFill>
              </a:rPr>
              <a:t>,</a:t>
            </a:r>
            <a:r>
              <a:rPr lang="zh-CN" altLang="en-US" sz="2400" dirty="0">
                <a:solidFill>
                  <a:srgbClr val="000000"/>
                </a:solidFill>
              </a:rPr>
              <a:t>请问上述消费上升对均衡收入有什么影响</a:t>
            </a:r>
            <a:r>
              <a:rPr lang="en-US" altLang="zh-CN" sz="2400">
                <a:solidFill>
                  <a:srgbClr val="000000"/>
                </a:solidFill>
              </a:rPr>
              <a:t>?</a:t>
            </a:r>
            <a:endParaRPr lang="en-US" altLang="zh-CN" sz="2400">
              <a:solidFill>
                <a:srgbClr val="000000"/>
              </a:solidFill>
            </a:endParaRPr>
          </a:p>
          <a:p>
            <a:pPr>
              <a:buNone/>
            </a:pPr>
            <a:endParaRPr lang="en-US" altLang="zh-CN" sz="2400" b="1">
              <a:solidFill>
                <a:srgbClr val="000000"/>
              </a:solidFill>
              <a:latin typeface="宋体" panose="02010600030101010101" pitchFamily="2" charset="-122"/>
            </a:endParaRPr>
          </a:p>
          <a:p>
            <a:pPr>
              <a:buNone/>
            </a:pPr>
            <a:endParaRPr lang="en-US" altLang="zh-CN" sz="2400">
              <a:solidFill>
                <a:srgbClr val="000000"/>
              </a:solidFill>
            </a:endParaRPr>
          </a:p>
          <a:p>
            <a:pPr>
              <a:buNone/>
            </a:pPr>
            <a:endParaRPr lang="en-US" altLang="zh-CN" sz="2400">
              <a:solidFill>
                <a:srgbClr val="000000"/>
              </a:solidFill>
            </a:endParaRPr>
          </a:p>
        </p:txBody>
      </p:sp>
    </p:spTree>
  </p:cSld>
  <p:clrMapOvr>
    <a:masterClrMapping/>
  </p:clrMapOvr>
</p:sld>
</file>

<file path=ppt/theme/theme1.xml><?xml version="1.0" encoding="utf-8"?>
<a:theme xmlns:a="http://schemas.openxmlformats.org/drawingml/2006/main" name="彩带型模板">
  <a:themeElements>
    <a:clrScheme name="">
      <a:dk1>
        <a:srgbClr val="663300"/>
      </a:dk1>
      <a:lt1>
        <a:srgbClr val="FFFFFF"/>
      </a:lt1>
      <a:dk2>
        <a:srgbClr val="000000"/>
      </a:dk2>
      <a:lt2>
        <a:srgbClr val="FFFF99"/>
      </a:lt2>
      <a:accent1>
        <a:srgbClr val="FFCC66"/>
      </a:accent1>
      <a:accent2>
        <a:srgbClr val="FFFFCC"/>
      </a:accent2>
      <a:accent3>
        <a:srgbClr val="FFFFFF"/>
      </a:accent3>
      <a:accent4>
        <a:srgbClr val="572A00"/>
      </a:accent4>
      <a:accent5>
        <a:srgbClr val="FFE2B9"/>
      </a:accent5>
      <a:accent6>
        <a:srgbClr val="E5E5B7"/>
      </a:accent6>
      <a:hlink>
        <a:srgbClr val="FFCC00"/>
      </a:hlink>
      <a:folHlink>
        <a:srgbClr val="FF7C80"/>
      </a:folHlink>
    </a:clrScheme>
    <a:fontScheme name="">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CC"/>
        </a:dk1>
        <a:lt1>
          <a:srgbClr val="660033"/>
        </a:lt1>
        <a:dk2>
          <a:srgbClr val="FFCC00"/>
        </a:dk2>
        <a:lt2>
          <a:srgbClr val="220011"/>
        </a:lt2>
        <a:accent1>
          <a:srgbClr val="CC0099"/>
        </a:accent1>
        <a:accent2>
          <a:srgbClr val="56002B"/>
        </a:accent2>
        <a:accent3>
          <a:srgbClr val="B9AAAD"/>
        </a:accent3>
        <a:accent4>
          <a:srgbClr val="DCDCAF"/>
        </a:accent4>
        <a:accent5>
          <a:srgbClr val="E2AACA"/>
        </a:accent5>
        <a:accent6>
          <a:srgbClr val="4C0026"/>
        </a:accent6>
        <a:hlink>
          <a:srgbClr val="9C004E"/>
        </a:hlink>
        <a:folHlink>
          <a:srgbClr val="FF6600"/>
        </a:folHlink>
      </a:clrScheme>
      <a:clrMap bg1="lt1" tx1="dk1" bg2="lt2" tx2="dk2" accent1="accent1" accent2="accent2" accent3="accent3" accent4="accent4" accent5="accent5" accent6="accent6" hlink="hlink" folHlink="folHlink"/>
    </a:extraClrScheme>
    <a:extraClrScheme>
      <a:clrScheme name="">
        <a:dk1>
          <a:srgbClr val="FFFFFF"/>
        </a:dk1>
        <a:lt1>
          <a:srgbClr val="003366"/>
        </a:lt1>
        <a:dk2>
          <a:srgbClr val="33CCCC"/>
        </a:dk2>
        <a:lt2>
          <a:srgbClr val="000F1E"/>
        </a:lt2>
        <a:accent1>
          <a:srgbClr val="006699"/>
        </a:accent1>
        <a:accent2>
          <a:srgbClr val="003366"/>
        </a:accent2>
        <a:accent3>
          <a:srgbClr val="AAADB9"/>
        </a:accent3>
        <a:accent4>
          <a:srgbClr val="DCDCDC"/>
        </a:accent4>
        <a:accent5>
          <a:srgbClr val="AAB9CA"/>
        </a:accent5>
        <a:accent6>
          <a:srgbClr val="002D5B"/>
        </a:accent6>
        <a:hlink>
          <a:srgbClr val="0099CC"/>
        </a:hlink>
        <a:folHlink>
          <a:srgbClr val="009999"/>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66FFCC"/>
        </a:dk2>
        <a:lt2>
          <a:srgbClr val="002F2E"/>
        </a:lt2>
        <a:accent1>
          <a:srgbClr val="0099CC"/>
        </a:accent1>
        <a:accent2>
          <a:srgbClr val="005250"/>
        </a:accent2>
        <a:accent3>
          <a:srgbClr val="AAC1C1"/>
        </a:accent3>
        <a:accent4>
          <a:srgbClr val="DCDCDC"/>
        </a:accent4>
        <a:accent5>
          <a:srgbClr val="AACAE2"/>
        </a:accent5>
        <a:accent6>
          <a:srgbClr val="004947"/>
        </a:accent6>
        <a:hlink>
          <a:srgbClr val="00CC99"/>
        </a:hlink>
        <a:folHlink>
          <a:srgbClr val="009999"/>
        </a:folHlink>
      </a:clrScheme>
      <a:clrMap bg1="lt1" tx1="dk1" bg2="lt2" tx2="dk2" accent1="accent1" accent2="accent2" accent3="accent3" accent4="accent4" accent5="accent5" accent6="accent6" hlink="hlink" folHlink="folHlink"/>
    </a:extraClrScheme>
    <a:extraClrScheme>
      <a:clrScheme name="">
        <a:dk1>
          <a:srgbClr val="FFFFFF"/>
        </a:dk1>
        <a:lt1>
          <a:srgbClr val="000066"/>
        </a:lt1>
        <a:dk2>
          <a:srgbClr val="FFCC00"/>
        </a:dk2>
        <a:lt2>
          <a:srgbClr val="000022"/>
        </a:lt2>
        <a:accent1>
          <a:srgbClr val="666699"/>
        </a:accent1>
        <a:accent2>
          <a:srgbClr val="000048"/>
        </a:accent2>
        <a:accent3>
          <a:srgbClr val="AAAAB9"/>
        </a:accent3>
        <a:accent4>
          <a:srgbClr val="DCDCDC"/>
        </a:accent4>
        <a:accent5>
          <a:srgbClr val="B9B9CA"/>
        </a:accent5>
        <a:accent6>
          <a:srgbClr val="000040"/>
        </a:accent6>
        <a:hlink>
          <a:srgbClr val="9999FF"/>
        </a:hlink>
        <a:folHlink>
          <a:srgbClr val="000099"/>
        </a:folHlink>
      </a:clrScheme>
      <a:clrMap bg1="lt1" tx1="dk1" bg2="lt2" tx2="dk2" accent1="accent1" accent2="accent2" accent3="accent3" accent4="accent4" accent5="accent5" accent6="accent6" hlink="hlink" folHlink="folHlink"/>
    </a:extraClrScheme>
    <a:extraClrScheme>
      <a:clrScheme name="">
        <a:dk1>
          <a:srgbClr val="663300"/>
        </a:dk1>
        <a:lt1>
          <a:srgbClr val="FFFFFF"/>
        </a:lt1>
        <a:dk2>
          <a:srgbClr val="000000"/>
        </a:dk2>
        <a:lt2>
          <a:srgbClr val="FFFF99"/>
        </a:lt2>
        <a:accent1>
          <a:srgbClr val="FFCC66"/>
        </a:accent1>
        <a:accent2>
          <a:srgbClr val="FFFFCC"/>
        </a:accent2>
        <a:accent3>
          <a:srgbClr val="FFFFFF"/>
        </a:accent3>
        <a:accent4>
          <a:srgbClr val="572A00"/>
        </a:accent4>
        <a:accent5>
          <a:srgbClr val="FFE2B9"/>
        </a:accent5>
        <a:accent6>
          <a:srgbClr val="E5E5B7"/>
        </a:accent6>
        <a:hlink>
          <a:srgbClr val="FFCC00"/>
        </a:hlink>
        <a:folHlink>
          <a:srgbClr val="FF7C8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C0C0C0"/>
        </a:lt2>
        <a:accent1>
          <a:srgbClr val="CBCBCB"/>
        </a:accent1>
        <a:accent2>
          <a:srgbClr val="EAEAEA"/>
        </a:accent2>
        <a:accent3>
          <a:srgbClr val="FFFFFF"/>
        </a:accent3>
        <a:accent4>
          <a:srgbClr val="000000"/>
        </a:accent4>
        <a:accent5>
          <a:srgbClr val="E1E1E1"/>
        </a:accent5>
        <a:accent6>
          <a:srgbClr val="D2D2D2"/>
        </a:accent6>
        <a:hlink>
          <a:srgbClr val="4D4D4D"/>
        </a:hlink>
        <a:folHlink>
          <a:srgbClr val="86868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Office\Templates\演示文稿设计\彩带型模板.pot</Template>
  <TotalTime>0</TotalTime>
  <Words>6224</Words>
  <Application>WPS 演示</Application>
  <PresentationFormat>在屏幕上显示</PresentationFormat>
  <Paragraphs>428</Paragraphs>
  <Slides>31</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6</vt:i4>
      </vt:variant>
      <vt:variant>
        <vt:lpstr>幻灯片标题</vt:lpstr>
      </vt:variant>
      <vt:variant>
        <vt:i4>31</vt:i4>
      </vt:variant>
    </vt:vector>
  </HeadingPairs>
  <TitlesOfParts>
    <vt:vector size="50" baseType="lpstr">
      <vt:lpstr>Arial</vt:lpstr>
      <vt:lpstr>宋体</vt:lpstr>
      <vt:lpstr>Wingdings</vt:lpstr>
      <vt:lpstr>Times New Roman</vt:lpstr>
      <vt:lpstr>黑体</vt:lpstr>
      <vt:lpstr>隶书</vt:lpstr>
      <vt:lpstr>Tahoma</vt:lpstr>
      <vt:lpstr>华文行楷</vt:lpstr>
      <vt:lpstr>楷体_GB2312</vt:lpstr>
      <vt:lpstr>新宋体</vt:lpstr>
      <vt:lpstr>微软雅黑</vt:lpstr>
      <vt:lpstr>Arial Unicode MS</vt:lpstr>
      <vt:lpstr>彩带型模板</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XINLI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第一章微观经济学导论     1.基本经济问题  .三个重要概念  ）稀缺（scarcity）：社会资源的有限性，是指社会提供的东西少于人们想拥有的。 基本假设：  ①人类的欲望是无穷的   ②资源是有限的</dc:title>
  <dc:creator>aopen</dc:creator>
  <cp:lastModifiedBy>王瑞</cp:lastModifiedBy>
  <cp:revision>34</cp:revision>
  <dcterms:created xsi:type="dcterms:W3CDTF">2003-01-22T06:12:13Z</dcterms:created>
  <dcterms:modified xsi:type="dcterms:W3CDTF">2024-11-07T10:09:56Z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80DFD68A2D884ADC8CD457084BFB7EEB_13</vt:lpwstr>
  </property>
  <property fmtid="{D5CDD505-2E9C-101B-9397-08002B2CF9AE}" pid="3" name="KSOProductBuildVer">
    <vt:lpwstr>2052-12.1.0.18276</vt:lpwstr>
  </property>
</Properties>
</file>