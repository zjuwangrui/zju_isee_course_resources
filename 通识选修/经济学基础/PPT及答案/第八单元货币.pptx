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6"/>
  </p:handoutMasterIdLst>
  <p:sldIdLst>
    <p:sldId id="257" r:id="rId3"/>
    <p:sldId id="258" r:id="rId4"/>
    <p:sldId id="259"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5" r:id="rId19"/>
    <p:sldId id="276" r:id="rId20"/>
    <p:sldId id="278" r:id="rId21"/>
    <p:sldId id="279" r:id="rId22"/>
    <p:sldId id="281" r:id="rId23"/>
    <p:sldId id="284" r:id="rId24"/>
    <p:sldId id="285" r:id="rId25"/>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6"/>
    <p:restoredTop sz="94660"/>
  </p:normalViewPr>
  <p:slideViewPr>
    <p:cSldViewPr showGuides="1">
      <p:cViewPr varScale="1">
        <p:scale>
          <a:sx n="71" d="100"/>
          <a:sy n="71" d="100"/>
        </p:scale>
        <p:origin x="-480" y="-10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3075" name="日期占位符 3074"/>
          <p:cNvSpPr>
            <a:spLocks noGrp="1"/>
          </p:cNvSpPr>
          <p:nvPr>
            <p:ph type="dt" sz="quarter"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3076" name="页脚占位符 3075"/>
          <p:cNvSpPr>
            <a:spLocks noGrp="1"/>
          </p:cNvSpPr>
          <p:nvPr>
            <p:ph type="ftr" sz="quarter" idx="2"/>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3077" name="灯片编号占位符 3076"/>
          <p:cNvSpPr>
            <a:spLocks noGrp="1"/>
          </p:cNvSpPr>
          <p:nvPr>
            <p:ph type="sldNum" sz="quarter" idx="3"/>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2051" name="日期占位符 2050"/>
          <p:cNvSpPr>
            <a:spLocks noGrp="1"/>
          </p:cNvSpPr>
          <p:nvPr>
            <p:ph type="dt"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2052" name="幻灯片图像占位符 205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053" name="文本占位符 2052"/>
          <p:cNvSpPr>
            <a:spLocks noGrp="1"/>
          </p:cNvSpPr>
          <p:nvPr>
            <p:ph type="body" sz="quarter" idx="3"/>
          </p:nvPr>
        </p:nvSpPr>
        <p:spPr>
          <a:xfrm>
            <a:off x="914400" y="4343400"/>
            <a:ext cx="5029200" cy="4114800"/>
          </a:xfrm>
          <a:prstGeom prst="rect">
            <a:avLst/>
          </a:prstGeom>
          <a:noFill/>
          <a:ln w="9525">
            <a:noFill/>
          </a:ln>
        </p:spPr>
        <p:txBody>
          <a:bodyPr/>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4" name="页脚占位符 2053"/>
          <p:cNvSpPr>
            <a:spLocks noGrp="1"/>
          </p:cNvSpPr>
          <p:nvPr>
            <p:ph type="ftr" sz="quarter" idx="4"/>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2055" name="灯片编号占位符 2054"/>
          <p:cNvSpPr>
            <a:spLocks noGrp="1"/>
          </p:cNvSpPr>
          <p:nvPr>
            <p:ph type="sldNum" sz="quarter" idx="5"/>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45058" name="幻灯片图像占位符 45057"/>
          <p:cNvSpPr>
            <a:spLocks noTextEdit="1"/>
          </p:cNvSpPr>
          <p:nvPr>
            <p:ph type="sldImg"/>
          </p:nvPr>
        </p:nvSpPr>
        <p:spPr>
          <a:ln/>
        </p:spPr>
      </p:sp>
      <p:sp>
        <p:nvSpPr>
          <p:cNvPr id="45059" name="文本占位符 45058"/>
          <p:cNvSpPr>
            <a:spLocks noGrp="1"/>
          </p:cNvSpPr>
          <p:nvPr>
            <p:ph type="body" idx="1"/>
          </p:nvPr>
        </p:nvSpPr>
        <p:spPr>
          <a:ln/>
        </p:spPr>
        <p:txBody>
          <a:bodyPr/>
          <a:p>
            <a:pPr lvl="0"/>
            <a:r>
              <a:rPr lang="en-US" altLang="zh-CN" sz="1800" dirty="0"/>
              <a:t>1</a:t>
            </a:r>
            <a:r>
              <a:rPr lang="zh-CN" altLang="en-US" sz="1800" dirty="0"/>
              <a:t>、以物易物，交易剩余是效用。</a:t>
            </a:r>
            <a:endParaRPr lang="zh-CN" altLang="en-US" sz="1800" dirty="0"/>
          </a:p>
          <a:p>
            <a:pPr lvl="0"/>
            <a:r>
              <a:rPr lang="en-US" altLang="zh-CN" sz="1800" dirty="0"/>
              <a:t>2</a:t>
            </a:r>
            <a:r>
              <a:rPr lang="zh-CN" altLang="en-US" sz="1800" dirty="0"/>
              <a:t>、以物易物，交易剩余是劳动时间，</a:t>
            </a:r>
            <a:endParaRPr lang="zh-CN" altLang="en-US" sz="1800" dirty="0"/>
          </a:p>
          <a:p>
            <a:pPr lvl="0"/>
            <a:r>
              <a:rPr lang="en-US" altLang="zh-CN" sz="1800" dirty="0"/>
              <a:t>3</a:t>
            </a:r>
            <a:r>
              <a:rPr lang="zh-CN" altLang="en-US" sz="1800" dirty="0"/>
              <a:t>、货币作为交换的媒介与价格的标准，</a:t>
            </a:r>
            <a:endParaRPr lang="zh-CN" altLang="en-US" sz="1800" dirty="0"/>
          </a:p>
          <a:p>
            <a:pPr lvl="0"/>
            <a:endParaRPr lang="zh-CN" altLang="en-US" sz="18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49154" name="幻灯片图像占位符 49153"/>
          <p:cNvSpPr>
            <a:spLocks noTextEdit="1"/>
          </p:cNvSpPr>
          <p:nvPr>
            <p:ph type="sldImg"/>
          </p:nvPr>
        </p:nvSpPr>
        <p:spPr>
          <a:ln/>
        </p:spPr>
      </p:sp>
      <p:sp>
        <p:nvSpPr>
          <p:cNvPr id="49155" name="文本占位符 49154"/>
          <p:cNvSpPr>
            <a:spLocks noGrp="1"/>
          </p:cNvSpPr>
          <p:nvPr>
            <p:ph type="body" idx="1"/>
          </p:nvPr>
        </p:nvSpPr>
        <p:spPr>
          <a:ln/>
        </p:spPr>
        <p:txBody>
          <a:bodyPr/>
          <a:p>
            <a:pPr lvl="0">
              <a:lnSpc>
                <a:spcPct val="125000"/>
              </a:lnSpc>
            </a:pPr>
            <a:r>
              <a:rPr lang="en-US" altLang="zh-CN" sz="1800" dirty="0"/>
              <a:t>1</a:t>
            </a:r>
            <a:r>
              <a:rPr lang="zh-CN" altLang="en-US" sz="1800" dirty="0"/>
              <a:t>、由于非现金结算的方便与安全，即使没有利息，也使具有非现金结算功能的活期存款有了需求。</a:t>
            </a:r>
            <a:br>
              <a:rPr lang="zh-CN" altLang="en-US" sz="1800" dirty="0"/>
            </a:br>
            <a:r>
              <a:rPr lang="en-US" altLang="zh-CN" sz="1800" dirty="0"/>
              <a:t>2</a:t>
            </a:r>
            <a:r>
              <a:rPr lang="zh-CN" altLang="en-US" sz="1800" dirty="0"/>
              <a:t>、注意，至今中国的活期存款仍然不具有非现金结算的功能。</a:t>
            </a:r>
            <a:endParaRPr lang="zh-CN" altLang="en-US" sz="1800" dirty="0"/>
          </a:p>
          <a:p>
            <a:pPr lvl="0"/>
            <a:endParaRPr lang="zh-CN" altLang="en-US" sz="18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52226" name="幻灯片图像占位符 52225"/>
          <p:cNvSpPr>
            <a:spLocks noTextEdit="1"/>
          </p:cNvSpPr>
          <p:nvPr>
            <p:ph type="sldImg"/>
          </p:nvPr>
        </p:nvSpPr>
        <p:spPr>
          <a:ln/>
        </p:spPr>
      </p:sp>
      <p:sp>
        <p:nvSpPr>
          <p:cNvPr id="52227" name="文本占位符 52226"/>
          <p:cNvSpPr>
            <a:spLocks noGrp="1"/>
          </p:cNvSpPr>
          <p:nvPr>
            <p:ph type="body" idx="1"/>
          </p:nvPr>
        </p:nvSpPr>
        <p:spPr>
          <a:ln/>
        </p:spPr>
        <p:txBody>
          <a:bodyPr/>
          <a:p>
            <a:pPr lvl="0"/>
            <a:r>
              <a:rPr lang="zh-CN" altLang="en-US" sz="1800" dirty="0"/>
              <a:t>存款是商业银行贷款的主要资金来源；</a:t>
            </a:r>
            <a:br>
              <a:rPr lang="zh-CN" altLang="en-US" sz="1800" dirty="0"/>
            </a:br>
            <a:endParaRPr lang="zh-CN" altLang="en-US" sz="18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54274" name="幻灯片图像占位符 54273"/>
          <p:cNvSpPr>
            <a:spLocks noTextEdit="1"/>
          </p:cNvSpPr>
          <p:nvPr>
            <p:ph type="sldImg"/>
          </p:nvPr>
        </p:nvSpPr>
        <p:spPr>
          <a:ln/>
        </p:spPr>
      </p:sp>
      <p:sp>
        <p:nvSpPr>
          <p:cNvPr id="54275" name="文本占位符 54274"/>
          <p:cNvSpPr>
            <a:spLocks noGrp="1"/>
          </p:cNvSpPr>
          <p:nvPr>
            <p:ph type="body" idx="1"/>
          </p:nvPr>
        </p:nvSpPr>
        <p:spPr>
          <a:ln/>
        </p:spPr>
        <p:txBody>
          <a:bodyPr/>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56322" name="幻灯片图像占位符 56321"/>
          <p:cNvSpPr>
            <a:spLocks noTextEdit="1"/>
          </p:cNvSpPr>
          <p:nvPr>
            <p:ph type="sldImg"/>
          </p:nvPr>
        </p:nvSpPr>
        <p:spPr>
          <a:ln/>
        </p:spPr>
      </p:sp>
      <p:sp>
        <p:nvSpPr>
          <p:cNvPr id="56323" name="文本占位符 56322"/>
          <p:cNvSpPr>
            <a:spLocks noGrp="1"/>
          </p:cNvSpPr>
          <p:nvPr>
            <p:ph type="body" idx="1"/>
          </p:nvPr>
        </p:nvSpPr>
        <p:spPr>
          <a:ln/>
        </p:spPr>
        <p:txBody>
          <a:bodyPr/>
          <a:p>
            <a:pPr lvl="0"/>
            <a:r>
              <a:rPr lang="zh-CN" altLang="en-US" sz="1800" dirty="0"/>
              <a:t>存款是商业银行贷款的主要资金来源；</a:t>
            </a:r>
            <a:br>
              <a:rPr lang="zh-CN" altLang="en-US" sz="1800" dirty="0"/>
            </a:br>
            <a:endParaRPr lang="zh-CN" altLang="en-US" sz="18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59394" name="幻灯片图像占位符 59393"/>
          <p:cNvSpPr>
            <a:spLocks noTextEdit="1"/>
          </p:cNvSpPr>
          <p:nvPr>
            <p:ph type="sldImg"/>
          </p:nvPr>
        </p:nvSpPr>
        <p:spPr>
          <a:ln/>
        </p:spPr>
      </p:sp>
      <p:sp>
        <p:nvSpPr>
          <p:cNvPr id="59395" name="文本占位符 59394"/>
          <p:cNvSpPr>
            <a:spLocks noGrp="1"/>
          </p:cNvSpPr>
          <p:nvPr>
            <p:ph type="body" idx="1"/>
          </p:nvPr>
        </p:nvSpPr>
        <p:spPr>
          <a:ln/>
        </p:spPr>
        <p:txBody>
          <a:bodyPr/>
          <a:p>
            <a:pPr lvl="0">
              <a:lnSpc>
                <a:spcPct val="125000"/>
              </a:lnSpc>
            </a:pPr>
            <a:r>
              <a:rPr lang="zh-CN" altLang="en-US" sz="1800" dirty="0"/>
              <a:t>比如，</a:t>
            </a:r>
            <a:r>
              <a:rPr lang="en-US" altLang="zh-CN" sz="1800" dirty="0"/>
              <a:t>10%</a:t>
            </a:r>
            <a:r>
              <a:rPr lang="zh-CN" altLang="en-US" sz="1800" dirty="0"/>
              <a:t>的法定准备金率，决定了一笔</a:t>
            </a:r>
            <a:r>
              <a:rPr lang="en-US" altLang="zh-CN" sz="1800" dirty="0"/>
              <a:t>100</a:t>
            </a:r>
            <a:r>
              <a:rPr lang="zh-CN" altLang="en-US" sz="1800" dirty="0"/>
              <a:t>万的存款，最多可贷出</a:t>
            </a:r>
            <a:r>
              <a:rPr lang="en-US" altLang="zh-CN" sz="1800" dirty="0"/>
              <a:t>90</a:t>
            </a:r>
            <a:r>
              <a:rPr lang="zh-CN" altLang="en-US" sz="1800" dirty="0"/>
              <a:t>万元；</a:t>
            </a:r>
            <a:endParaRPr lang="zh-CN" altLang="en-US" sz="1800" dirty="0"/>
          </a:p>
          <a:p>
            <a:pPr lvl="0"/>
            <a:endParaRPr lang="zh-CN" altLang="en-US" sz="18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9218" name="矩形 9217"/>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9219" name="任意多边形 9218"/>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9220" name="任意多边形 9219"/>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9221" name="任意多边形 9220"/>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9222" name="任意多边形 9221"/>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3" name="任意多边形 9222"/>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9224" name="任意多边形 9223"/>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5" name="任意多边形 9224"/>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9226" name="标题 9225"/>
          <p:cNvSpPr>
            <a:spLocks noGrp="1"/>
          </p:cNvSpPr>
          <p:nvPr>
            <p:ph type="ctrTitle"/>
          </p:nvPr>
        </p:nvSpPr>
        <p:spPr>
          <a:xfrm>
            <a:off x="685800" y="2286000"/>
            <a:ext cx="7772400" cy="1143000"/>
          </a:xfrm>
          <a:prstGeom prst="rect">
            <a:avLst/>
          </a:prstGeom>
          <a:noFill/>
          <a:ln w="9525">
            <a:noFill/>
          </a:ln>
        </p:spPr>
        <p:txBody>
          <a:bodyPr anchor="ctr" anchorCtr="0"/>
          <a:lstStyle>
            <a:lvl1pPr lvl="0">
              <a:buClrTx/>
              <a:buSzTx/>
              <a:buFontTx/>
              <a:defRPr/>
            </a:lvl1pPr>
          </a:lstStyle>
          <a:p>
            <a:pPr lvl="0"/>
            <a:r>
              <a:rPr lang="zh-CN" altLang="en-US" dirty="0"/>
              <a:t>单击此处编辑母版标题样式</a:t>
            </a:r>
            <a:endParaRPr lang="zh-CN" altLang="zh-CN" dirty="0"/>
          </a:p>
        </p:txBody>
      </p:sp>
      <p:sp>
        <p:nvSpPr>
          <p:cNvPr id="9227" name="副标题 922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r>
              <a:rPr lang="zh-CN" altLang="en-US" dirty="0"/>
              <a:t>单击此处编辑母版副标题样式</a:t>
            </a:r>
            <a:endParaRPr lang="zh-CN" altLang="en-US" dirty="0"/>
          </a:p>
        </p:txBody>
      </p:sp>
      <p:sp>
        <p:nvSpPr>
          <p:cNvPr id="9228" name="日期占位符 9227"/>
          <p:cNvSpPr>
            <a:spLocks noGrp="1"/>
          </p:cNvSpPr>
          <p:nvPr>
            <p:ph type="dt" sz="half" idx="2"/>
          </p:nvPr>
        </p:nvSpPr>
        <p:spPr>
          <a:xfrm>
            <a:off x="685800" y="6248400"/>
            <a:ext cx="1905000" cy="457200"/>
          </a:xfrm>
          <a:prstGeom prst="rect">
            <a:avLst/>
          </a:prstGeom>
          <a:noFill/>
          <a:ln w="9525">
            <a:noFill/>
          </a:ln>
        </p:spPr>
        <p:txBody>
          <a:bodyPr anchor="t" anchorCtr="0"/>
          <a:lstStyle>
            <a:lvl1pP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29" name="页脚占位符 9228"/>
          <p:cNvSpPr>
            <a:spLocks noGrp="1"/>
          </p:cNvSpPr>
          <p:nvPr>
            <p:ph type="ftr" sz="quarter" idx="3"/>
          </p:nvPr>
        </p:nvSpPr>
        <p:spPr>
          <a:xfrm>
            <a:off x="3124200" y="6248400"/>
            <a:ext cx="2895600" cy="457200"/>
          </a:xfrm>
          <a:prstGeom prst="rect">
            <a:avLst/>
          </a:prstGeom>
          <a:noFill/>
          <a:ln w="9525">
            <a:noFill/>
          </a:ln>
        </p:spPr>
        <p:txBody>
          <a:bodyPr anchor="t" anchorCtr="0"/>
          <a:lstStyle>
            <a:lvl1pPr algn="ct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30" name="灯片编号占位符 9229"/>
          <p:cNvSpPr>
            <a:spLocks noGrp="1"/>
          </p:cNvSpPr>
          <p:nvPr>
            <p:ph type="sldNum" sz="quarter" idx="4"/>
          </p:nvPr>
        </p:nvSpPr>
        <p:spPr>
          <a:xfrm>
            <a:off x="6553200" y="6248400"/>
            <a:ext cx="1905000" cy="457200"/>
          </a:xfrm>
          <a:prstGeom prst="rect">
            <a:avLst/>
          </a:prstGeom>
          <a:noFill/>
          <a:ln w="9525">
            <a:noFill/>
          </a:ln>
        </p:spPr>
        <p:txBody>
          <a:bodyPr anchor="t" anchorCtr="0"/>
          <a:lstStyle>
            <a:lvl1pPr algn="r">
              <a:defRPr sz="1400" b="0">
                <a:solidFill>
                  <a:srgbClr val="FFFFCC"/>
                </a:solidFill>
              </a:defRPr>
            </a:lvl1pPr>
          </a:lstStyle>
          <a:p>
            <a:pPr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0" fill="hold"/>
                                        <p:tgtEl>
                                          <p:spTgt spid="9218"/>
                                        </p:tgtEl>
                                        <p:attrNameLst>
                                          <p:attrName>ppt_x</p:attrName>
                                        </p:attrNameLst>
                                      </p:cBhvr>
                                      <p:tavLst>
                                        <p:tav tm="0">
                                          <p:val>
                                            <p:strVal val="0-#ppt_w/2"/>
                                          </p:val>
                                        </p:tav>
                                        <p:tav tm="100000">
                                          <p:val>
                                            <p:strVal val="#ppt_x"/>
                                          </p:val>
                                        </p:tav>
                                      </p:tavLst>
                                    </p:anim>
                                    <p:anim calcmode="lin" valueType="num">
                                      <p:cBhvr additive="base">
                                        <p:cTn id="8" dur="50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8194" name="矩形 8193"/>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8195" name="任意多边形 8194"/>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8196" name="任意多边形 8195"/>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8197" name="任意多边形 8196"/>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8198" name="任意多边形 8197"/>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199" name="任意多边形 8198"/>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8200" name="任意多边形 8199"/>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201" name="任意多边形 8200"/>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8202" name="标题 8201"/>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8203" name="文本占位符 8202"/>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204" name="日期占位符 8203"/>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8205" name="页脚占位符 8204"/>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206" name="灯片编号占位符 8205"/>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0" fill="hold"/>
                                        <p:tgtEl>
                                          <p:spTgt spid="8194"/>
                                        </p:tgtEl>
                                        <p:attrNameLst>
                                          <p:attrName>ppt_x</p:attrName>
                                        </p:attrNameLst>
                                      </p:cBhvr>
                                      <p:tavLst>
                                        <p:tav tm="0">
                                          <p:val>
                                            <p:strVal val="0-#ppt_w/2"/>
                                          </p:val>
                                        </p:tav>
                                        <p:tav tm="100000">
                                          <p:val>
                                            <p:strVal val="#ppt_x"/>
                                          </p:val>
                                        </p:tav>
                                      </p:tavLst>
                                    </p:anim>
                                    <p:anim calcmode="lin" valueType="num">
                                      <p:cBhvr additive="base">
                                        <p:cTn id="8" dur="50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Lst>
  </p:timing>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43009"/>
          <p:cNvSpPr>
            <a:spLocks noGrp="1"/>
          </p:cNvSpPr>
          <p:nvPr>
            <p:ph type="title"/>
          </p:nvPr>
        </p:nvSpPr>
        <p:spPr>
          <a:xfrm>
            <a:off x="1143000" y="228600"/>
            <a:ext cx="7793038" cy="1143000"/>
          </a:xfrm>
          <a:ln/>
        </p:spPr>
        <p:txBody>
          <a:bodyPr anchor="ctr" anchorCtr="0"/>
          <a:p>
            <a:r>
              <a:rPr lang="zh-CN" altLang="en-US" b="1" dirty="0">
                <a:solidFill>
                  <a:srgbClr val="000000"/>
                </a:solidFill>
                <a:latin typeface="华文行楷" panose="02010800040101010101" pitchFamily="2" charset="-122"/>
                <a:ea typeface="华文行楷" panose="02010800040101010101" pitchFamily="2" charset="-122"/>
              </a:rPr>
              <a:t>单元八 货币与金融市场</a:t>
            </a:r>
            <a:endParaRPr lang="zh-CN" altLang="en-US" b="1">
              <a:solidFill>
                <a:srgbClr val="000000"/>
              </a:solidFill>
              <a:latin typeface="华文行楷" panose="02010800040101010101" pitchFamily="2" charset="-122"/>
              <a:ea typeface="华文行楷" panose="02010800040101010101" pitchFamily="2" charset="-122"/>
            </a:endParaRPr>
          </a:p>
        </p:txBody>
      </p:sp>
      <p:sp>
        <p:nvSpPr>
          <p:cNvPr id="43011" name="文本占位符 43010"/>
          <p:cNvSpPr>
            <a:spLocks noGrp="1"/>
          </p:cNvSpPr>
          <p:nvPr>
            <p:ph type="body" idx="1"/>
          </p:nvPr>
        </p:nvSpPr>
        <p:spPr>
          <a:xfrm>
            <a:off x="685800" y="1371600"/>
            <a:ext cx="7772400" cy="4114800"/>
          </a:xfrm>
          <a:ln/>
        </p:spPr>
        <p:txBody>
          <a:bodyPr/>
          <a:p>
            <a:pPr marL="0" indent="0">
              <a:lnSpc>
                <a:spcPct val="90000"/>
              </a:lnSpc>
              <a:buNone/>
            </a:pPr>
            <a:r>
              <a:rPr lang="zh-CN" altLang="en-US" sz="2800" b="1" dirty="0">
                <a:solidFill>
                  <a:srgbClr val="000000"/>
                </a:solidFill>
                <a:latin typeface="宋体" panose="02010600030101010101" pitchFamily="2" charset="-122"/>
              </a:rPr>
              <a:t>货币的含义</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货币</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是人们普遍接受的交易媒介</a:t>
            </a:r>
            <a:r>
              <a:rPr lang="en-US" altLang="zh-CN" sz="2800">
                <a:solidFill>
                  <a:srgbClr val="000000"/>
                </a:solidFill>
                <a:latin typeface="宋体" panose="02010600030101010101" pitchFamily="2" charset="-122"/>
              </a:rPr>
              <a:t>(medium of exchange)</a:t>
            </a:r>
            <a:r>
              <a:rPr lang="zh-CN" altLang="en-US" sz="2800" dirty="0">
                <a:solidFill>
                  <a:srgbClr val="000000"/>
                </a:solidFill>
                <a:latin typeface="宋体" panose="02010600030101010101" pitchFamily="2" charset="-122"/>
              </a:rPr>
              <a:t>。经济中人们经常用于向其他人购买物品与劳务的一组资产。</a:t>
            </a:r>
            <a:endParaRPr lang="zh-CN" altLang="en-US" sz="2800"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金融体系</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经济中促使－个人的储蓄与另一个人的投资相匹配的－组机构。</a:t>
            </a:r>
            <a:endParaRPr lang="zh-CN" altLang="en-US" sz="2800"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金融市场</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储蓄者可以通过它直接向借款人提供资金的金融机构。</a:t>
            </a:r>
            <a:endParaRPr lang="zh-CN" altLang="en-US" sz="2800"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金融中介机构</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储蓄者可以通过它间接向借款人提供资金的金融机构。</a:t>
            </a:r>
            <a:endParaRPr lang="zh-CN" altLang="en-US" sz="2800"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共同基金</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向公众出售股份，并用收入来购买股票与债券资产组合的机构。</a:t>
            </a:r>
            <a:endParaRPr lang="zh-CN" altLang="en-US" sz="2800" dirty="0">
              <a:solidFill>
                <a:srgbClr val="000000"/>
              </a:solidFill>
              <a:latin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44033"/>
          <p:cNvSpPr>
            <a:spLocks noGrp="1"/>
          </p:cNvSpPr>
          <p:nvPr>
            <p:ph type="title"/>
          </p:nvPr>
        </p:nvSpPr>
        <p:spPr>
          <a:ln/>
        </p:spPr>
        <p:txBody>
          <a:bodyPr anchor="ctr" anchorCtr="0"/>
          <a:p>
            <a:r>
              <a:rPr lang="zh-CN" altLang="en-US" dirty="0">
                <a:ea typeface="黑体" panose="02010609060101010101" pitchFamily="2" charset="-122"/>
              </a:rPr>
              <a:t>货币的职能</a:t>
            </a:r>
            <a:endParaRPr lang="zh-CN" altLang="en-US" dirty="0">
              <a:ea typeface="黑体" panose="02010609060101010101" pitchFamily="2" charset="-122"/>
            </a:endParaRPr>
          </a:p>
        </p:txBody>
      </p:sp>
      <p:sp>
        <p:nvSpPr>
          <p:cNvPr id="44035" name="文本占位符 44034"/>
          <p:cNvSpPr>
            <a:spLocks noGrp="1"/>
          </p:cNvSpPr>
          <p:nvPr>
            <p:ph type="body" idx="1"/>
          </p:nvPr>
        </p:nvSpPr>
        <p:spPr>
          <a:xfrm>
            <a:off x="381000" y="2214563"/>
            <a:ext cx="8386763" cy="4110037"/>
          </a:xfrm>
          <a:ln/>
        </p:spPr>
        <p:txBody>
          <a:bodyPr/>
          <a:p>
            <a:pPr>
              <a:lnSpc>
                <a:spcPct val="125000"/>
              </a:lnSpc>
            </a:pPr>
            <a:r>
              <a:rPr lang="zh-CN" altLang="en-US">
                <a:solidFill>
                  <a:srgbClr val="000000"/>
                </a:solidFill>
              </a:rPr>
              <a:t>（</a:t>
            </a:r>
            <a:r>
              <a:rPr lang="en-US" altLang="zh-CN">
                <a:solidFill>
                  <a:srgbClr val="000000"/>
                </a:solidFill>
              </a:rPr>
              <a:t>1</a:t>
            </a:r>
            <a:r>
              <a:rPr lang="zh-CN" altLang="en-US">
                <a:solidFill>
                  <a:srgbClr val="000000"/>
                </a:solidFill>
              </a:rPr>
              <a:t>）</a:t>
            </a:r>
            <a:r>
              <a:rPr lang="zh-CN" altLang="en-US" dirty="0">
                <a:solidFill>
                  <a:srgbClr val="000000"/>
                </a:solidFill>
              </a:rPr>
              <a:t>交换媒介</a:t>
            </a:r>
            <a:endParaRPr lang="zh-CN" altLang="en-US">
              <a:solidFill>
                <a:srgbClr val="000000"/>
              </a:solidFill>
            </a:endParaRPr>
          </a:p>
          <a:p>
            <a:pPr>
              <a:lnSpc>
                <a:spcPct val="125000"/>
              </a:lnSpc>
            </a:pPr>
            <a:r>
              <a:rPr lang="zh-CN" altLang="en-US">
                <a:solidFill>
                  <a:srgbClr val="000000"/>
                </a:solidFill>
              </a:rPr>
              <a:t>（</a:t>
            </a:r>
            <a:r>
              <a:rPr lang="en-US" altLang="zh-CN">
                <a:solidFill>
                  <a:srgbClr val="000000"/>
                </a:solidFill>
              </a:rPr>
              <a:t>2</a:t>
            </a:r>
            <a:r>
              <a:rPr lang="zh-CN" altLang="en-US">
                <a:solidFill>
                  <a:srgbClr val="000000"/>
                </a:solidFill>
              </a:rPr>
              <a:t>）计价</a:t>
            </a:r>
            <a:r>
              <a:rPr lang="zh-CN" altLang="en-US" dirty="0">
                <a:solidFill>
                  <a:srgbClr val="000000"/>
                </a:solidFill>
              </a:rPr>
              <a:t>单位</a:t>
            </a:r>
            <a:endParaRPr lang="zh-CN" altLang="en-US">
              <a:solidFill>
                <a:srgbClr val="000000"/>
              </a:solidFill>
            </a:endParaRPr>
          </a:p>
          <a:p>
            <a:pPr>
              <a:lnSpc>
                <a:spcPct val="125000"/>
              </a:lnSpc>
            </a:pPr>
            <a:r>
              <a:rPr lang="zh-CN" altLang="en-US">
                <a:solidFill>
                  <a:srgbClr val="000000"/>
                </a:solidFill>
              </a:rPr>
              <a:t>（</a:t>
            </a:r>
            <a:r>
              <a:rPr lang="en-US" altLang="zh-CN">
                <a:solidFill>
                  <a:srgbClr val="000000"/>
                </a:solidFill>
              </a:rPr>
              <a:t>3</a:t>
            </a:r>
            <a:r>
              <a:rPr lang="zh-CN" altLang="en-US">
                <a:solidFill>
                  <a:srgbClr val="000000"/>
                </a:solidFill>
              </a:rPr>
              <a:t>）</a:t>
            </a:r>
            <a:r>
              <a:rPr lang="zh-CN" altLang="en-US" dirty="0">
                <a:solidFill>
                  <a:srgbClr val="000000"/>
                </a:solidFill>
              </a:rPr>
              <a:t>支付手段</a:t>
            </a:r>
            <a:endParaRPr lang="zh-CN" altLang="en-US">
              <a:solidFill>
                <a:srgbClr val="000000"/>
              </a:solidFill>
            </a:endParaRPr>
          </a:p>
          <a:p>
            <a:pPr>
              <a:lnSpc>
                <a:spcPct val="125000"/>
              </a:lnSpc>
            </a:pPr>
            <a:r>
              <a:rPr lang="zh-CN" altLang="en-US">
                <a:solidFill>
                  <a:srgbClr val="000000"/>
                </a:solidFill>
              </a:rPr>
              <a:t>（</a:t>
            </a:r>
            <a:r>
              <a:rPr lang="en-US" altLang="zh-CN">
                <a:solidFill>
                  <a:srgbClr val="000000"/>
                </a:solidFill>
              </a:rPr>
              <a:t>4</a:t>
            </a:r>
            <a:r>
              <a:rPr lang="zh-CN" altLang="en-US">
                <a:solidFill>
                  <a:srgbClr val="000000"/>
                </a:solidFill>
              </a:rPr>
              <a:t>）</a:t>
            </a:r>
            <a:r>
              <a:rPr lang="zh-CN" altLang="en-US" dirty="0">
                <a:solidFill>
                  <a:srgbClr val="000000"/>
                </a:solidFill>
              </a:rPr>
              <a:t>贮存手段</a:t>
            </a:r>
            <a:endParaRPr lang="zh-CN" altLang="en-US"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46081"/>
          <p:cNvSpPr>
            <a:spLocks noGrp="1"/>
          </p:cNvSpPr>
          <p:nvPr>
            <p:ph type="title"/>
          </p:nvPr>
        </p:nvSpPr>
        <p:spPr>
          <a:ln/>
        </p:spPr>
        <p:txBody>
          <a:bodyPr anchor="ctr" anchorCtr="0"/>
          <a:p>
            <a:br>
              <a:rPr lang="en-US" altLang="zh-CN" dirty="0"/>
            </a:br>
            <a:r>
              <a:rPr lang="zh-CN" altLang="en-US" dirty="0"/>
              <a:t>货币的需求</a:t>
            </a:r>
            <a:endParaRPr lang="zh-CN" altLang="en-US"/>
          </a:p>
        </p:txBody>
      </p:sp>
      <p:sp>
        <p:nvSpPr>
          <p:cNvPr id="46083" name="文本占位符 46082"/>
          <p:cNvSpPr>
            <a:spLocks noGrp="1"/>
          </p:cNvSpPr>
          <p:nvPr>
            <p:ph type="body" idx="1"/>
          </p:nvPr>
        </p:nvSpPr>
        <p:spPr>
          <a:ln/>
        </p:spPr>
        <p:txBody>
          <a:bodyPr/>
          <a:p>
            <a:endParaRPr lang="en-US" altLang="zh-CN" dirty="0">
              <a:solidFill>
                <a:srgbClr val="000000"/>
              </a:solidFill>
            </a:endParaRPr>
          </a:p>
          <a:p>
            <a:r>
              <a:rPr lang="zh-CN" altLang="en-US" dirty="0">
                <a:solidFill>
                  <a:srgbClr val="000000"/>
                </a:solidFill>
              </a:rPr>
              <a:t>交易动机</a:t>
            </a:r>
            <a:endParaRPr lang="zh-CN" altLang="en-US" dirty="0">
              <a:solidFill>
                <a:srgbClr val="000000"/>
              </a:solidFill>
            </a:endParaRPr>
          </a:p>
          <a:p>
            <a:r>
              <a:rPr lang="zh-CN" altLang="en-US" dirty="0">
                <a:solidFill>
                  <a:srgbClr val="000000"/>
                </a:solidFill>
              </a:rPr>
              <a:t>谨慎动机</a:t>
            </a:r>
            <a:endParaRPr lang="zh-CN" altLang="en-US" dirty="0">
              <a:solidFill>
                <a:srgbClr val="000000"/>
              </a:solidFill>
            </a:endParaRPr>
          </a:p>
          <a:p>
            <a:r>
              <a:rPr lang="zh-CN" altLang="en-US" dirty="0">
                <a:solidFill>
                  <a:srgbClr val="000000"/>
                </a:solidFill>
              </a:rPr>
              <a:t>投机动机</a:t>
            </a:r>
            <a:endParaRPr lang="zh-CN" altLang="en-US" dirty="0">
              <a:solidFill>
                <a:srgbClr val="000000"/>
              </a:solidFill>
            </a:endParaRPr>
          </a:p>
          <a:p>
            <a:pPr>
              <a:buNone/>
            </a:pPr>
            <a:endParaRPr lang="zh-CN" altLang="en-US">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48129"/>
          <p:cNvSpPr>
            <a:spLocks noGrp="1"/>
          </p:cNvSpPr>
          <p:nvPr>
            <p:ph type="title"/>
          </p:nvPr>
        </p:nvSpPr>
        <p:spPr>
          <a:ln/>
        </p:spPr>
        <p:txBody>
          <a:bodyPr anchor="ctr" anchorCtr="0"/>
          <a:p>
            <a:r>
              <a:rPr lang="zh-CN" altLang="en-US" sz="3200" dirty="0"/>
              <a:t>商业银行的定义</a:t>
            </a:r>
            <a:endParaRPr lang="zh-CN" altLang="en-US" sz="3200" dirty="0"/>
          </a:p>
        </p:txBody>
      </p:sp>
      <p:sp>
        <p:nvSpPr>
          <p:cNvPr id="48131" name="文本占位符 48130"/>
          <p:cNvSpPr>
            <a:spLocks noGrp="1"/>
          </p:cNvSpPr>
          <p:nvPr>
            <p:ph type="body" idx="1"/>
          </p:nvPr>
        </p:nvSpPr>
        <p:spPr>
          <a:xfrm>
            <a:off x="304800" y="2214563"/>
            <a:ext cx="8534400" cy="4110037"/>
          </a:xfrm>
          <a:ln/>
        </p:spPr>
        <p:txBody>
          <a:bodyPr/>
          <a:p>
            <a:pPr>
              <a:lnSpc>
                <a:spcPct val="125000"/>
              </a:lnSpc>
            </a:pPr>
            <a:r>
              <a:rPr lang="zh-CN" altLang="en-US" sz="4000" dirty="0">
                <a:solidFill>
                  <a:srgbClr val="000000"/>
                </a:solidFill>
              </a:rPr>
              <a:t>商业银行是可以接受活期存款，使客户能够进行非现金结算，从而具有创造存款货币功能的金融机构。</a:t>
            </a:r>
            <a:endParaRPr lang="zh-CN" altLang="en-US" sz="4000" dirty="0">
              <a:solidFill>
                <a:srgbClr val="000000"/>
              </a:solidFill>
            </a:endParaRPr>
          </a:p>
          <a:p>
            <a:pPr>
              <a:lnSpc>
                <a:spcPct val="125000"/>
              </a:lnSpc>
            </a:pPr>
            <a:r>
              <a:rPr lang="zh-CN" altLang="en-US" sz="4000" dirty="0">
                <a:solidFill>
                  <a:srgbClr val="000000"/>
                </a:solidFill>
              </a:rPr>
              <a:t>大额支付与异地支付的非现金结算；</a:t>
            </a:r>
            <a:endParaRPr lang="zh-CN" altLang="en-US" sz="40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50177"/>
          <p:cNvSpPr>
            <a:spLocks noGrp="1"/>
          </p:cNvSpPr>
          <p:nvPr>
            <p:ph type="title"/>
          </p:nvPr>
        </p:nvSpPr>
        <p:spPr>
          <a:ln/>
        </p:spPr>
        <p:txBody>
          <a:bodyPr anchor="ctr" anchorCtr="0"/>
          <a:p>
            <a:endParaRPr dirty="0">
              <a:ea typeface="黑体" panose="02010609060101010101" pitchFamily="2" charset="-122"/>
            </a:endParaRPr>
          </a:p>
        </p:txBody>
      </p:sp>
      <p:sp>
        <p:nvSpPr>
          <p:cNvPr id="50179" name="文本占位符 50178"/>
          <p:cNvSpPr>
            <a:spLocks noGrp="1"/>
          </p:cNvSpPr>
          <p:nvPr>
            <p:ph type="body" idx="1"/>
          </p:nvPr>
        </p:nvSpPr>
        <p:spPr>
          <a:xfrm>
            <a:off x="685800" y="3511550"/>
            <a:ext cx="7772400" cy="2584450"/>
          </a:xfrm>
          <a:ln/>
        </p:spPr>
        <p:txBody>
          <a:bodyPr/>
          <a:p>
            <a:pPr algn="ctr"/>
            <a:r>
              <a:rPr lang="zh-CN" altLang="en-US" sz="4800" dirty="0">
                <a:solidFill>
                  <a:srgbClr val="000000"/>
                </a:solidFill>
              </a:rPr>
              <a:t>商业银行的准备金制度</a:t>
            </a:r>
            <a:endParaRPr lang="zh-CN" altLang="en-US" sz="4800"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51201"/>
          <p:cNvSpPr>
            <a:spLocks noGrp="1"/>
          </p:cNvSpPr>
          <p:nvPr>
            <p:ph type="title"/>
          </p:nvPr>
        </p:nvSpPr>
        <p:spPr>
          <a:ln/>
        </p:spPr>
        <p:txBody>
          <a:bodyPr anchor="ctr" anchorCtr="0"/>
          <a:p>
            <a:r>
              <a:rPr lang="zh-CN" altLang="en-US"/>
              <a:t>（</a:t>
            </a:r>
            <a:r>
              <a:rPr lang="en-US" altLang="zh-CN"/>
              <a:t>1</a:t>
            </a:r>
            <a:r>
              <a:rPr lang="zh-CN" altLang="en-US"/>
              <a:t>）</a:t>
            </a:r>
            <a:r>
              <a:rPr lang="zh-CN" altLang="en-US" dirty="0"/>
              <a:t>准备金</a:t>
            </a:r>
            <a:endParaRPr lang="zh-CN" altLang="en-US" dirty="0"/>
          </a:p>
        </p:txBody>
      </p:sp>
      <p:sp>
        <p:nvSpPr>
          <p:cNvPr id="51203" name="文本占位符 51202"/>
          <p:cNvSpPr>
            <a:spLocks noGrp="1"/>
          </p:cNvSpPr>
          <p:nvPr>
            <p:ph type="body" idx="1"/>
          </p:nvPr>
        </p:nvSpPr>
        <p:spPr>
          <a:xfrm>
            <a:off x="809625" y="2214563"/>
            <a:ext cx="7958138" cy="4110037"/>
          </a:xfrm>
          <a:ln/>
        </p:spPr>
        <p:txBody>
          <a:bodyPr/>
          <a:p>
            <a:pPr>
              <a:lnSpc>
                <a:spcPct val="125000"/>
              </a:lnSpc>
            </a:pPr>
            <a:r>
              <a:rPr lang="zh-CN" altLang="en-US" dirty="0">
                <a:solidFill>
                  <a:srgbClr val="000000"/>
                </a:solidFill>
              </a:rPr>
              <a:t>为保证取款的要求，存款不能全部贷出，而要保留一定的储备，或称准备金。</a:t>
            </a:r>
            <a:endParaRPr lang="zh-CN" altLang="en-US" dirty="0">
              <a:solidFill>
                <a:srgbClr val="000000"/>
              </a:solidFill>
            </a:endParaRPr>
          </a:p>
          <a:p>
            <a:pPr>
              <a:lnSpc>
                <a:spcPct val="125000"/>
              </a:lnSpc>
            </a:pPr>
            <a:r>
              <a:rPr lang="zh-CN" altLang="en-US" dirty="0">
                <a:solidFill>
                  <a:srgbClr val="000000"/>
                </a:solidFill>
              </a:rPr>
              <a:t>准备金是银行以手中现款的形式，或以存放在中央银行的存款形式，还可能以有价证券的形式所持有的款项或资产。</a:t>
            </a:r>
            <a:endParaRPr lang="zh-CN" altLang="en-US"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p:cNvSpPr>
          <p:nvPr>
            <p:ph type="title"/>
          </p:nvPr>
        </p:nvSpPr>
        <p:spPr>
          <a:ln/>
        </p:spPr>
        <p:txBody>
          <a:bodyPr anchor="ctr" anchorCtr="0"/>
          <a:p>
            <a:r>
              <a:rPr lang="zh-CN" altLang="en-US" dirty="0"/>
              <a:t>货币供给定义</a:t>
            </a:r>
            <a:endParaRPr lang="zh-CN" altLang="en-US" dirty="0"/>
          </a:p>
        </p:txBody>
      </p:sp>
      <p:sp>
        <p:nvSpPr>
          <p:cNvPr id="53251" name="文本占位符 53250"/>
          <p:cNvSpPr>
            <a:spLocks noGrp="1"/>
          </p:cNvSpPr>
          <p:nvPr>
            <p:ph type="body" idx="1"/>
          </p:nvPr>
        </p:nvSpPr>
        <p:spPr>
          <a:xfrm>
            <a:off x="762000" y="2209800"/>
            <a:ext cx="7958138" cy="3881438"/>
          </a:xfrm>
          <a:ln/>
        </p:spPr>
        <p:txBody>
          <a:bodyPr/>
          <a:p>
            <a:pPr marL="0" indent="0">
              <a:lnSpc>
                <a:spcPct val="90000"/>
              </a:lnSpc>
              <a:buNone/>
            </a:pPr>
            <a:r>
              <a:rPr lang="zh-CN" altLang="en-US" sz="2800" dirty="0">
                <a:solidFill>
                  <a:srgbClr val="000000"/>
                </a:solidFill>
              </a:rPr>
              <a:t>现金（</a:t>
            </a:r>
            <a:r>
              <a:rPr lang="en-US" altLang="zh-CN" sz="2800">
                <a:solidFill>
                  <a:srgbClr val="000000"/>
                </a:solidFill>
              </a:rPr>
              <a:t>M</a:t>
            </a:r>
            <a:r>
              <a:rPr lang="en-US" altLang="zh-CN" sz="2800" baseline="-25000">
                <a:solidFill>
                  <a:srgbClr val="000000"/>
                </a:solidFill>
              </a:rPr>
              <a:t>0</a:t>
            </a:r>
            <a:r>
              <a:rPr lang="zh-CN" altLang="en-US" sz="2800">
                <a:solidFill>
                  <a:srgbClr val="000000"/>
                </a:solidFill>
              </a:rPr>
              <a:t>）：</a:t>
            </a:r>
            <a:endParaRPr lang="zh-CN" altLang="en-US" sz="2800">
              <a:solidFill>
                <a:srgbClr val="000000"/>
              </a:solidFill>
            </a:endParaRPr>
          </a:p>
          <a:p>
            <a:pPr marL="0" indent="0">
              <a:lnSpc>
                <a:spcPct val="90000"/>
              </a:lnSpc>
              <a:buNone/>
            </a:pPr>
            <a:r>
              <a:rPr lang="zh-CN" altLang="en-US" sz="2800" dirty="0">
                <a:solidFill>
                  <a:srgbClr val="000000"/>
                </a:solidFill>
              </a:rPr>
              <a:t>交易货币</a:t>
            </a:r>
            <a:r>
              <a:rPr lang="zh-CN" altLang="en-US" sz="2800">
                <a:solidFill>
                  <a:srgbClr val="000000"/>
                </a:solidFill>
              </a:rPr>
              <a:t>（</a:t>
            </a:r>
            <a:r>
              <a:rPr lang="en-US" altLang="zh-CN" sz="2800">
                <a:solidFill>
                  <a:srgbClr val="000000"/>
                </a:solidFill>
              </a:rPr>
              <a:t>M</a:t>
            </a:r>
            <a:r>
              <a:rPr lang="en-US" altLang="zh-CN" sz="2800" baseline="-30000">
                <a:solidFill>
                  <a:srgbClr val="000000"/>
                </a:solidFill>
              </a:rPr>
              <a:t>1</a:t>
            </a:r>
            <a:r>
              <a:rPr lang="zh-CN" altLang="en-US" sz="2800" dirty="0">
                <a:solidFill>
                  <a:srgbClr val="000000"/>
                </a:solidFill>
              </a:rPr>
              <a:t>）是最狭义的货币： </a:t>
            </a:r>
            <a:r>
              <a:rPr lang="en-US" altLang="zh-CN" sz="2800">
                <a:solidFill>
                  <a:srgbClr val="000000"/>
                </a:solidFill>
              </a:rPr>
              <a:t>M</a:t>
            </a:r>
            <a:r>
              <a:rPr lang="en-US" altLang="zh-CN" sz="2800" baseline="-30000">
                <a:solidFill>
                  <a:srgbClr val="000000"/>
                </a:solidFill>
              </a:rPr>
              <a:t>1</a:t>
            </a:r>
            <a:r>
              <a:rPr lang="en-US" altLang="zh-CN" sz="2800">
                <a:solidFill>
                  <a:srgbClr val="000000"/>
                </a:solidFill>
              </a:rPr>
              <a:t>= M</a:t>
            </a:r>
            <a:r>
              <a:rPr lang="en-US" altLang="zh-CN" sz="2800" baseline="-25000">
                <a:solidFill>
                  <a:srgbClr val="000000"/>
                </a:solidFill>
              </a:rPr>
              <a:t>0</a:t>
            </a:r>
            <a:r>
              <a:rPr lang="en-US" altLang="zh-CN" sz="2800">
                <a:solidFill>
                  <a:srgbClr val="000000"/>
                </a:solidFill>
              </a:rPr>
              <a:t> +</a:t>
            </a:r>
            <a:r>
              <a:rPr lang="zh-CN" altLang="en-US" sz="2800" dirty="0">
                <a:solidFill>
                  <a:srgbClr val="000000"/>
                </a:solidFill>
              </a:rPr>
              <a:t>活期存款</a:t>
            </a:r>
            <a:endParaRPr lang="zh-CN" altLang="en-US" sz="2800" dirty="0">
              <a:solidFill>
                <a:srgbClr val="000000"/>
              </a:solidFill>
            </a:endParaRPr>
          </a:p>
          <a:p>
            <a:pPr marL="0" indent="0">
              <a:lnSpc>
                <a:spcPct val="90000"/>
              </a:lnSpc>
              <a:buNone/>
            </a:pPr>
            <a:r>
              <a:rPr lang="zh-CN" altLang="en-US" sz="2800" dirty="0">
                <a:solidFill>
                  <a:srgbClr val="000000"/>
                </a:solidFill>
              </a:rPr>
              <a:t>广义货币（</a:t>
            </a:r>
            <a:r>
              <a:rPr lang="en-US" altLang="zh-CN" sz="2800">
                <a:solidFill>
                  <a:srgbClr val="000000"/>
                </a:solidFill>
              </a:rPr>
              <a:t>M</a:t>
            </a:r>
            <a:r>
              <a:rPr lang="en-US" altLang="zh-CN" sz="2800" baseline="-30000">
                <a:solidFill>
                  <a:srgbClr val="000000"/>
                </a:solidFill>
              </a:rPr>
              <a:t>2</a:t>
            </a:r>
            <a:r>
              <a:rPr lang="zh-CN" altLang="en-US" sz="2800">
                <a:solidFill>
                  <a:srgbClr val="000000"/>
                </a:solidFill>
              </a:rPr>
              <a:t>）： </a:t>
            </a:r>
            <a:r>
              <a:rPr lang="en-US" altLang="zh-CN" sz="2800">
                <a:solidFill>
                  <a:srgbClr val="000000"/>
                </a:solidFill>
              </a:rPr>
              <a:t>M</a:t>
            </a:r>
            <a:r>
              <a:rPr lang="en-US" altLang="zh-CN" sz="2800" baseline="-30000">
                <a:solidFill>
                  <a:srgbClr val="000000"/>
                </a:solidFill>
              </a:rPr>
              <a:t>2</a:t>
            </a:r>
            <a:r>
              <a:rPr lang="en-US" altLang="zh-CN" sz="2800">
                <a:solidFill>
                  <a:srgbClr val="000000"/>
                </a:solidFill>
              </a:rPr>
              <a:t>=M</a:t>
            </a:r>
            <a:r>
              <a:rPr lang="en-US" altLang="zh-CN" sz="2800" baseline="-30000">
                <a:solidFill>
                  <a:srgbClr val="000000"/>
                </a:solidFill>
              </a:rPr>
              <a:t>1</a:t>
            </a:r>
            <a:r>
              <a:rPr lang="en-US" altLang="zh-CN" sz="2800">
                <a:solidFill>
                  <a:srgbClr val="000000"/>
                </a:solidFill>
              </a:rPr>
              <a:t>+</a:t>
            </a:r>
            <a:r>
              <a:rPr lang="zh-CN" altLang="en-US" sz="2800" dirty="0">
                <a:solidFill>
                  <a:srgbClr val="000000"/>
                </a:solidFill>
              </a:rPr>
              <a:t>定期储蓄</a:t>
            </a:r>
            <a:endParaRPr lang="zh-CN" altLang="en-US" sz="2800" dirty="0">
              <a:solidFill>
                <a:srgbClr val="000000"/>
              </a:solidFill>
            </a:endParaRPr>
          </a:p>
          <a:p>
            <a:pPr marL="0" indent="0">
              <a:lnSpc>
                <a:spcPct val="90000"/>
              </a:lnSpc>
              <a:buNone/>
            </a:pPr>
            <a:r>
              <a:rPr lang="zh-CN" altLang="en-US" sz="2800" dirty="0">
                <a:solidFill>
                  <a:srgbClr val="000000"/>
                </a:solidFill>
              </a:rPr>
              <a:t>总信贷（</a:t>
            </a:r>
            <a:r>
              <a:rPr lang="en-US" altLang="zh-CN" sz="2800">
                <a:solidFill>
                  <a:srgbClr val="000000"/>
                </a:solidFill>
              </a:rPr>
              <a:t>M</a:t>
            </a:r>
            <a:r>
              <a:rPr lang="en-US" altLang="zh-CN" sz="2800" baseline="-30000">
                <a:solidFill>
                  <a:srgbClr val="000000"/>
                </a:solidFill>
              </a:rPr>
              <a:t>3</a:t>
            </a:r>
            <a:r>
              <a:rPr lang="zh-CN" altLang="en-US" sz="2800">
                <a:solidFill>
                  <a:srgbClr val="000000"/>
                </a:solidFill>
              </a:rPr>
              <a:t>）： </a:t>
            </a:r>
            <a:r>
              <a:rPr lang="en-US" altLang="zh-CN" sz="2800">
                <a:solidFill>
                  <a:srgbClr val="000000"/>
                </a:solidFill>
              </a:rPr>
              <a:t>M</a:t>
            </a:r>
            <a:r>
              <a:rPr lang="en-US" altLang="zh-CN" sz="2800" baseline="-30000">
                <a:solidFill>
                  <a:srgbClr val="000000"/>
                </a:solidFill>
              </a:rPr>
              <a:t>3</a:t>
            </a:r>
            <a:r>
              <a:rPr lang="en-US" altLang="zh-CN" sz="2800">
                <a:solidFill>
                  <a:srgbClr val="000000"/>
                </a:solidFill>
              </a:rPr>
              <a:t>=M</a:t>
            </a:r>
            <a:r>
              <a:rPr lang="en-US" altLang="zh-CN" sz="2800" baseline="-30000">
                <a:solidFill>
                  <a:srgbClr val="000000"/>
                </a:solidFill>
              </a:rPr>
              <a:t>2</a:t>
            </a:r>
            <a:r>
              <a:rPr lang="en-US" altLang="zh-CN" sz="2800">
                <a:solidFill>
                  <a:srgbClr val="000000"/>
                </a:solidFill>
              </a:rPr>
              <a:t>+</a:t>
            </a:r>
            <a:r>
              <a:rPr lang="zh-CN" altLang="en-US" sz="2800" dirty="0">
                <a:solidFill>
                  <a:srgbClr val="000000"/>
                </a:solidFill>
              </a:rPr>
              <a:t>其他金融票据</a:t>
            </a:r>
            <a:endParaRPr lang="zh-CN" altLang="en-US" sz="2800" dirty="0">
              <a:solidFill>
                <a:srgbClr val="000000"/>
              </a:solidFill>
            </a:endParaRPr>
          </a:p>
          <a:p>
            <a:pPr marL="0" indent="0">
              <a:lnSpc>
                <a:spcPct val="90000"/>
              </a:lnSpc>
              <a:buNone/>
            </a:pPr>
            <a:endParaRPr lang="zh-CN" altLang="en-US" sz="2800">
              <a:solidFill>
                <a:srgbClr val="000000"/>
              </a:solidFill>
            </a:endParaRPr>
          </a:p>
          <a:p>
            <a:pPr marL="0" indent="0">
              <a:lnSpc>
                <a:spcPct val="90000"/>
              </a:lnSpc>
              <a:buNone/>
            </a:pPr>
            <a:r>
              <a:rPr lang="en-US" altLang="zh-CN" sz="2800">
                <a:solidFill>
                  <a:srgbClr val="000000"/>
                </a:solidFill>
              </a:rPr>
              <a:t>M</a:t>
            </a:r>
            <a:r>
              <a:rPr lang="en-US" altLang="zh-CN" sz="2800" baseline="-30000">
                <a:solidFill>
                  <a:srgbClr val="000000"/>
                </a:solidFill>
              </a:rPr>
              <a:t>2</a:t>
            </a:r>
            <a:r>
              <a:rPr lang="zh-CN" altLang="en-US" sz="2800" baseline="-30000" dirty="0">
                <a:solidFill>
                  <a:srgbClr val="000000"/>
                </a:solidFill>
              </a:rPr>
              <a:t>、 </a:t>
            </a:r>
            <a:r>
              <a:rPr lang="en-US" altLang="zh-CN" sz="2800">
                <a:solidFill>
                  <a:srgbClr val="000000"/>
                </a:solidFill>
              </a:rPr>
              <a:t>M</a:t>
            </a:r>
            <a:r>
              <a:rPr lang="en-US" altLang="zh-CN" sz="2800" baseline="-30000">
                <a:solidFill>
                  <a:srgbClr val="000000"/>
                </a:solidFill>
              </a:rPr>
              <a:t>3</a:t>
            </a:r>
            <a:r>
              <a:rPr lang="zh-CN" altLang="en-US" sz="2800" dirty="0">
                <a:solidFill>
                  <a:srgbClr val="000000"/>
                </a:solidFill>
              </a:rPr>
              <a:t>广义货币</a:t>
            </a:r>
            <a:endParaRPr lang="zh-CN" altLang="en-US" sz="2800" dirty="0">
              <a:solidFill>
                <a:srgbClr val="000000"/>
              </a:solidFill>
            </a:endParaRPr>
          </a:p>
          <a:p>
            <a:pPr marL="0" indent="0">
              <a:lnSpc>
                <a:spcPct val="90000"/>
              </a:lnSpc>
              <a:buNone/>
            </a:pPr>
            <a:r>
              <a:rPr lang="en-US" altLang="zh-CN" sz="2800">
                <a:solidFill>
                  <a:srgbClr val="000000"/>
                </a:solidFill>
              </a:rPr>
              <a:t>M</a:t>
            </a:r>
            <a:r>
              <a:rPr lang="en-US" altLang="zh-CN" sz="2800" baseline="-30000">
                <a:solidFill>
                  <a:srgbClr val="000000"/>
                </a:solidFill>
              </a:rPr>
              <a:t>1</a:t>
            </a:r>
            <a:r>
              <a:rPr lang="zh-CN" altLang="en-US" sz="2800" baseline="-30000" dirty="0">
                <a:solidFill>
                  <a:srgbClr val="000000"/>
                </a:solidFill>
              </a:rPr>
              <a:t>、 </a:t>
            </a:r>
            <a:r>
              <a:rPr lang="en-US" altLang="zh-CN" sz="2800">
                <a:solidFill>
                  <a:srgbClr val="000000"/>
                </a:solidFill>
              </a:rPr>
              <a:t>M</a:t>
            </a:r>
            <a:r>
              <a:rPr lang="en-US" altLang="zh-CN" sz="2800" baseline="-30000">
                <a:solidFill>
                  <a:srgbClr val="000000"/>
                </a:solidFill>
              </a:rPr>
              <a:t>2</a:t>
            </a:r>
            <a:r>
              <a:rPr lang="zh-CN" altLang="en-US" sz="2800" baseline="-30000" dirty="0">
                <a:solidFill>
                  <a:srgbClr val="000000"/>
                </a:solidFill>
              </a:rPr>
              <a:t>、 </a:t>
            </a:r>
            <a:r>
              <a:rPr lang="en-US" altLang="zh-CN" sz="2800">
                <a:solidFill>
                  <a:srgbClr val="000000"/>
                </a:solidFill>
              </a:rPr>
              <a:t>M</a:t>
            </a:r>
            <a:r>
              <a:rPr lang="en-US" altLang="zh-CN" sz="2800" baseline="-30000">
                <a:solidFill>
                  <a:srgbClr val="000000"/>
                </a:solidFill>
              </a:rPr>
              <a:t>3</a:t>
            </a:r>
            <a:r>
              <a:rPr lang="zh-CN" altLang="en-US" sz="2800" dirty="0">
                <a:solidFill>
                  <a:srgbClr val="000000"/>
                </a:solidFill>
              </a:rPr>
              <a:t>主要差别是流动性。</a:t>
            </a:r>
            <a:endParaRPr lang="zh-CN" altLang="en-US" sz="2800" dirty="0">
              <a:solidFill>
                <a:srgbClr val="000000"/>
              </a:solidFill>
            </a:endParaRPr>
          </a:p>
          <a:p>
            <a:pPr marL="0" indent="0">
              <a:lnSpc>
                <a:spcPct val="90000"/>
              </a:lnSpc>
              <a:buNone/>
            </a:pPr>
            <a:r>
              <a:rPr lang="en-US" altLang="zh-CN" sz="2800">
                <a:solidFill>
                  <a:srgbClr val="000000"/>
                </a:solidFill>
              </a:rPr>
              <a:t>M</a:t>
            </a:r>
            <a:r>
              <a:rPr lang="en-US" altLang="zh-CN" sz="2800" baseline="-30000">
                <a:solidFill>
                  <a:srgbClr val="000000"/>
                </a:solidFill>
              </a:rPr>
              <a:t>1</a:t>
            </a:r>
            <a:r>
              <a:rPr lang="zh-CN" altLang="en-US" sz="2800" dirty="0">
                <a:solidFill>
                  <a:srgbClr val="000000"/>
                </a:solidFill>
              </a:rPr>
              <a:t>流动性最高</a:t>
            </a:r>
            <a:r>
              <a:rPr lang="en-US" altLang="zh-CN" sz="2800">
                <a:solidFill>
                  <a:srgbClr val="000000"/>
                </a:solidFill>
              </a:rPr>
              <a:t>;   M</a:t>
            </a:r>
            <a:r>
              <a:rPr lang="en-US" altLang="zh-CN" sz="2800" baseline="-30000">
                <a:solidFill>
                  <a:srgbClr val="000000"/>
                </a:solidFill>
              </a:rPr>
              <a:t>3</a:t>
            </a:r>
            <a:r>
              <a:rPr lang="zh-CN" altLang="en-US" sz="2800" dirty="0">
                <a:solidFill>
                  <a:srgbClr val="000000"/>
                </a:solidFill>
              </a:rPr>
              <a:t>流动性最低。</a:t>
            </a:r>
            <a:endParaRPr lang="zh-CN" altLang="en-US" sz="28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55297"/>
          <p:cNvSpPr>
            <a:spLocks noGrp="1"/>
          </p:cNvSpPr>
          <p:nvPr>
            <p:ph type="title"/>
          </p:nvPr>
        </p:nvSpPr>
        <p:spPr>
          <a:ln/>
        </p:spPr>
        <p:txBody>
          <a:bodyPr anchor="ctr" anchorCtr="0"/>
          <a:p>
            <a:r>
              <a:rPr lang="zh-CN" altLang="en-US" sz="3200" b="1" dirty="0">
                <a:solidFill>
                  <a:srgbClr val="000000"/>
                </a:solidFill>
                <a:latin typeface="宋体" panose="02010600030101010101" pitchFamily="2" charset="-122"/>
              </a:rPr>
              <a:t>存款货币的创造过程</a:t>
            </a:r>
            <a:br>
              <a:rPr lang="zh-CN" altLang="en-US"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a:t>
            </a:r>
            <a:r>
              <a:rPr lang="en-US" altLang="zh-CN" sz="3200" b="1">
                <a:solidFill>
                  <a:srgbClr val="000000"/>
                </a:solidFill>
                <a:latin typeface="宋体" panose="02010600030101010101" pitchFamily="2" charset="-122"/>
              </a:rPr>
              <a:t>1</a:t>
            </a:r>
            <a:r>
              <a:rPr lang="zh-CN" altLang="en-US" sz="3200" b="1">
                <a:solidFill>
                  <a:srgbClr val="000000"/>
                </a:solidFill>
                <a:latin typeface="宋体" panose="02010600030101010101" pitchFamily="2" charset="-122"/>
              </a:rPr>
              <a:t>）</a:t>
            </a:r>
            <a:r>
              <a:rPr lang="zh-CN" altLang="en-US" sz="3200" b="1" dirty="0">
                <a:solidFill>
                  <a:srgbClr val="000000"/>
                </a:solidFill>
                <a:latin typeface="宋体" panose="02010600030101010101" pitchFamily="2" charset="-122"/>
              </a:rPr>
              <a:t>准备金</a:t>
            </a:r>
            <a:endParaRPr lang="zh-CN" altLang="en-US" sz="3200" b="1" dirty="0">
              <a:solidFill>
                <a:srgbClr val="000000"/>
              </a:solidFill>
              <a:latin typeface="宋体" panose="02010600030101010101" pitchFamily="2" charset="-122"/>
            </a:endParaRPr>
          </a:p>
        </p:txBody>
      </p:sp>
      <p:sp>
        <p:nvSpPr>
          <p:cNvPr id="55299" name="文本占位符 55298"/>
          <p:cNvSpPr>
            <a:spLocks noGrp="1"/>
          </p:cNvSpPr>
          <p:nvPr>
            <p:ph type="body" idx="1"/>
          </p:nvPr>
        </p:nvSpPr>
        <p:spPr>
          <a:xfrm>
            <a:off x="809625" y="2214563"/>
            <a:ext cx="7958138" cy="4110037"/>
          </a:xfrm>
          <a:ln/>
        </p:spPr>
        <p:txBody>
          <a:bodyPr/>
          <a:p>
            <a:pPr marL="0" indent="0">
              <a:lnSpc>
                <a:spcPct val="125000"/>
              </a:lnSpc>
              <a:buNone/>
            </a:pPr>
            <a:r>
              <a:rPr lang="zh-CN" altLang="en-US" dirty="0">
                <a:solidFill>
                  <a:srgbClr val="000000"/>
                </a:solidFill>
              </a:rPr>
              <a:t>为保证取款的要求，存款不能全部贷出，而要保留一定的储备，或称准备金。</a:t>
            </a:r>
            <a:endParaRPr lang="zh-CN" altLang="en-US" dirty="0">
              <a:solidFill>
                <a:srgbClr val="000000"/>
              </a:solidFill>
            </a:endParaRPr>
          </a:p>
          <a:p>
            <a:pPr marL="0" indent="0">
              <a:lnSpc>
                <a:spcPct val="125000"/>
              </a:lnSpc>
              <a:buNone/>
            </a:pPr>
            <a:r>
              <a:rPr lang="zh-CN" altLang="en-US" dirty="0">
                <a:solidFill>
                  <a:srgbClr val="000000"/>
                </a:solidFill>
              </a:rPr>
              <a:t>准备金是银行以手中现款的形式，或以存放在中央银行的存款形式，还可能以有价证券的形式所持有的款项或资产。</a:t>
            </a:r>
            <a:endParaRPr lang="zh-CN" altLang="en-US"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57345"/>
          <p:cNvSpPr>
            <a:spLocks noGrp="1"/>
          </p:cNvSpPr>
          <p:nvPr>
            <p:ph type="title"/>
          </p:nvPr>
        </p:nvSpPr>
        <p:spPr>
          <a:ln/>
        </p:spPr>
        <p:txBody>
          <a:bodyPr anchor="ctr" anchorCtr="0"/>
          <a:p>
            <a:endParaRPr dirty="0"/>
          </a:p>
        </p:txBody>
      </p:sp>
      <p:sp>
        <p:nvSpPr>
          <p:cNvPr id="57347" name="文本占位符 57346"/>
          <p:cNvSpPr>
            <a:spLocks noGrp="1"/>
          </p:cNvSpPr>
          <p:nvPr>
            <p:ph type="body" idx="1"/>
          </p:nvPr>
        </p:nvSpPr>
        <p:spPr>
          <a:xfrm>
            <a:off x="685800" y="2703513"/>
            <a:ext cx="7772400" cy="3392487"/>
          </a:xfrm>
          <a:ln/>
        </p:spPr>
        <p:txBody>
          <a:bodyPr/>
          <a:p>
            <a:pPr algn="ctr">
              <a:buNone/>
            </a:pPr>
            <a:r>
              <a:rPr lang="en-US" altLang="zh-CN">
                <a:solidFill>
                  <a:srgbClr val="000000"/>
                </a:solidFill>
                <a:latin typeface="宋体" panose="02010600030101010101" pitchFamily="2" charset="-122"/>
              </a:rPr>
              <a:t> </a:t>
            </a:r>
            <a:r>
              <a:rPr lang="zh-CN" altLang="en-US" sz="4800" dirty="0">
                <a:solidFill>
                  <a:srgbClr val="000000"/>
                </a:solidFill>
                <a:latin typeface="宋体" panose="02010600030101010101" pitchFamily="2" charset="-122"/>
              </a:rPr>
              <a:t>法定准备金和超额准备金</a:t>
            </a:r>
            <a:endParaRPr lang="zh-CN" altLang="en-US" sz="4800" dirty="0">
              <a:solidFill>
                <a:srgbClr val="000000"/>
              </a:solidFill>
              <a:latin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58369"/>
          <p:cNvSpPr>
            <a:spLocks noGrp="1"/>
          </p:cNvSpPr>
          <p:nvPr>
            <p:ph type="title"/>
          </p:nvPr>
        </p:nvSpPr>
        <p:spPr>
          <a:ln/>
        </p:spPr>
        <p:txBody>
          <a:bodyPr anchor="ctr" anchorCtr="0"/>
          <a:p>
            <a:r>
              <a:rPr lang="en-US" altLang="zh-CN"/>
              <a:t>A</a:t>
            </a:r>
            <a:r>
              <a:rPr lang="zh-CN" altLang="en-US"/>
              <a:t>、</a:t>
            </a:r>
            <a:r>
              <a:rPr lang="zh-CN" altLang="en-US" dirty="0"/>
              <a:t>法定准备金</a:t>
            </a:r>
            <a:endParaRPr lang="zh-CN" altLang="en-US" dirty="0"/>
          </a:p>
        </p:txBody>
      </p:sp>
      <p:sp>
        <p:nvSpPr>
          <p:cNvPr id="58371" name="文本占位符 58370"/>
          <p:cNvSpPr>
            <a:spLocks noGrp="1"/>
          </p:cNvSpPr>
          <p:nvPr>
            <p:ph type="body" idx="1"/>
          </p:nvPr>
        </p:nvSpPr>
        <p:spPr>
          <a:xfrm>
            <a:off x="381000" y="2214563"/>
            <a:ext cx="8386763" cy="3881437"/>
          </a:xfrm>
          <a:ln/>
        </p:spPr>
        <p:txBody>
          <a:bodyPr/>
          <a:p>
            <a:pPr marL="0" indent="0">
              <a:lnSpc>
                <a:spcPct val="125000"/>
              </a:lnSpc>
              <a:buNone/>
            </a:pPr>
            <a:r>
              <a:rPr lang="zh-CN" altLang="en-US" sz="3600" dirty="0">
                <a:solidFill>
                  <a:srgbClr val="000000"/>
                </a:solidFill>
              </a:rPr>
              <a:t>法定准备金率是由中央银行决定的准备金率。</a:t>
            </a:r>
            <a:endParaRPr lang="zh-CN" altLang="en-US" sz="3600" dirty="0">
              <a:solidFill>
                <a:srgbClr val="000000"/>
              </a:solidFill>
            </a:endParaRPr>
          </a:p>
          <a:p>
            <a:pPr marL="0" indent="0">
              <a:lnSpc>
                <a:spcPct val="125000"/>
              </a:lnSpc>
              <a:buNone/>
            </a:pPr>
            <a:r>
              <a:rPr lang="zh-CN" altLang="en-US" sz="3600" dirty="0">
                <a:solidFill>
                  <a:srgbClr val="000000"/>
                </a:solidFill>
              </a:rPr>
              <a:t>现代的法定准备金，大大超过了原来意义下的准备金需要，而且必须存入中央银行。</a:t>
            </a:r>
            <a:endParaRPr lang="zh-CN" altLang="en-US" sz="3600" dirty="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60417"/>
          <p:cNvSpPr>
            <a:spLocks noGrp="1"/>
          </p:cNvSpPr>
          <p:nvPr>
            <p:ph type="title"/>
          </p:nvPr>
        </p:nvSpPr>
        <p:spPr>
          <a:ln/>
        </p:spPr>
        <p:txBody>
          <a:bodyPr anchor="ctr" anchorCtr="0"/>
          <a:p>
            <a:r>
              <a:rPr lang="en-US" altLang="zh-CN"/>
              <a:t>B</a:t>
            </a:r>
            <a:r>
              <a:rPr lang="zh-CN" altLang="en-US"/>
              <a:t>、</a:t>
            </a:r>
            <a:r>
              <a:rPr lang="zh-CN" altLang="en-US" dirty="0"/>
              <a:t>超额准备金</a:t>
            </a:r>
            <a:endParaRPr lang="zh-CN" altLang="en-US" dirty="0"/>
          </a:p>
        </p:txBody>
      </p:sp>
      <p:sp>
        <p:nvSpPr>
          <p:cNvPr id="60419" name="文本占位符 60418"/>
          <p:cNvSpPr>
            <a:spLocks noGrp="1"/>
          </p:cNvSpPr>
          <p:nvPr>
            <p:ph type="body" idx="1"/>
          </p:nvPr>
        </p:nvSpPr>
        <p:spPr>
          <a:xfrm>
            <a:off x="381000" y="2214563"/>
            <a:ext cx="8386763" cy="3881437"/>
          </a:xfrm>
          <a:ln/>
        </p:spPr>
        <p:txBody>
          <a:bodyPr/>
          <a:p>
            <a:pPr marL="0" indent="0">
              <a:lnSpc>
                <a:spcPct val="125000"/>
              </a:lnSpc>
              <a:buNone/>
            </a:pPr>
            <a:r>
              <a:rPr lang="zh-CN" altLang="en-US" sz="2800" dirty="0">
                <a:solidFill>
                  <a:srgbClr val="000000"/>
                </a:solidFill>
              </a:rPr>
              <a:t>在存款发生留足准备金后，没有正常贷出的资金，就形成为超额准备金。</a:t>
            </a:r>
            <a:endParaRPr lang="zh-CN" altLang="en-US" sz="2800" dirty="0">
              <a:solidFill>
                <a:srgbClr val="000000"/>
              </a:solidFill>
            </a:endParaRPr>
          </a:p>
          <a:p>
            <a:pPr marL="0" indent="0">
              <a:lnSpc>
                <a:spcPct val="125000"/>
              </a:lnSpc>
              <a:buNone/>
            </a:pPr>
            <a:r>
              <a:rPr lang="zh-CN" altLang="en-US" sz="2800" dirty="0">
                <a:solidFill>
                  <a:srgbClr val="000000"/>
                </a:solidFill>
              </a:rPr>
              <a:t>也可能是某银行根据客户的情况，需要比法定准备金更多的储备，才足以支付时的准备金，也称为超额准备金。</a:t>
            </a:r>
            <a:endParaRPr lang="zh-CN" altLang="en-US" sz="2800" dirty="0">
              <a:solidFill>
                <a:srgbClr val="000000"/>
              </a:solidFill>
            </a:endParaRPr>
          </a:p>
          <a:p>
            <a:pPr marL="0" indent="0">
              <a:lnSpc>
                <a:spcPct val="125000"/>
              </a:lnSpc>
              <a:buNone/>
            </a:pPr>
            <a:r>
              <a:rPr lang="zh-CN" altLang="en-US" sz="2800" dirty="0">
                <a:solidFill>
                  <a:srgbClr val="000000"/>
                </a:solidFill>
              </a:rPr>
              <a:t>超额准备金留在商业银行。</a:t>
            </a:r>
            <a:endParaRPr lang="zh-CN" altLang="en-US" sz="2800"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61441"/>
          <p:cNvSpPr>
            <a:spLocks noGrp="1"/>
          </p:cNvSpPr>
          <p:nvPr>
            <p:ph type="title"/>
          </p:nvPr>
        </p:nvSpPr>
        <p:spPr>
          <a:ln/>
        </p:spPr>
        <p:txBody>
          <a:bodyPr anchor="ctr" anchorCtr="0"/>
          <a:p>
            <a:r>
              <a:rPr lang="zh-CN" altLang="en-US" dirty="0"/>
              <a:t>简单存款乘数</a:t>
            </a:r>
            <a:endParaRPr lang="zh-CN" altLang="en-US" dirty="0"/>
          </a:p>
        </p:txBody>
      </p:sp>
      <p:sp>
        <p:nvSpPr>
          <p:cNvPr id="61443" name="文本占位符 61442"/>
          <p:cNvSpPr>
            <a:spLocks noGrp="1"/>
          </p:cNvSpPr>
          <p:nvPr>
            <p:ph type="body" idx="1"/>
          </p:nvPr>
        </p:nvSpPr>
        <p:spPr>
          <a:xfrm>
            <a:off x="381000" y="2214563"/>
            <a:ext cx="8386763" cy="4110037"/>
          </a:xfrm>
          <a:ln/>
        </p:spPr>
        <p:txBody>
          <a:bodyPr/>
          <a:p>
            <a:pPr marL="0" indent="0">
              <a:lnSpc>
                <a:spcPct val="125000"/>
              </a:lnSpc>
              <a:buNone/>
            </a:pPr>
            <a:r>
              <a:rPr lang="zh-CN" altLang="en-US" sz="2400" dirty="0">
                <a:solidFill>
                  <a:srgbClr val="000000"/>
                </a:solidFill>
              </a:rPr>
              <a:t>设：法定准备金率为</a:t>
            </a:r>
            <a:r>
              <a:rPr lang="en-US" altLang="zh-CN" sz="2400">
                <a:solidFill>
                  <a:srgbClr val="000000"/>
                </a:solidFill>
              </a:rPr>
              <a:t>20%</a:t>
            </a:r>
            <a:r>
              <a:rPr lang="zh-CN" altLang="en-US" sz="2400" dirty="0">
                <a:solidFill>
                  <a:srgbClr val="000000"/>
                </a:solidFill>
              </a:rPr>
              <a:t>，商业银行没有超额准备金；</a:t>
            </a:r>
            <a:endParaRPr lang="zh-CN" altLang="en-US" sz="2400" dirty="0">
              <a:solidFill>
                <a:srgbClr val="000000"/>
              </a:solidFill>
            </a:endParaRPr>
          </a:p>
          <a:p>
            <a:pPr marL="0" indent="0">
              <a:lnSpc>
                <a:spcPct val="125000"/>
              </a:lnSpc>
              <a:buNone/>
            </a:pPr>
            <a:r>
              <a:rPr lang="zh-CN" altLang="en-US" sz="2400" dirty="0">
                <a:solidFill>
                  <a:srgbClr val="000000"/>
                </a:solidFill>
              </a:rPr>
              <a:t>甲银行吸收</a:t>
            </a:r>
            <a:r>
              <a:rPr lang="en-US" altLang="zh-CN" sz="2400">
                <a:solidFill>
                  <a:srgbClr val="000000"/>
                </a:solidFill>
              </a:rPr>
              <a:t>10000</a:t>
            </a:r>
            <a:r>
              <a:rPr lang="zh-CN" altLang="en-US" sz="2400" dirty="0">
                <a:solidFill>
                  <a:srgbClr val="000000"/>
                </a:solidFill>
              </a:rPr>
              <a:t>元存款，贷出</a:t>
            </a:r>
            <a:r>
              <a:rPr lang="en-US" altLang="zh-CN" sz="2400">
                <a:solidFill>
                  <a:srgbClr val="000000"/>
                </a:solidFill>
              </a:rPr>
              <a:t>8000</a:t>
            </a:r>
            <a:r>
              <a:rPr lang="zh-CN" altLang="en-US" sz="2400" dirty="0">
                <a:solidFill>
                  <a:srgbClr val="000000"/>
                </a:solidFill>
              </a:rPr>
              <a:t>元；</a:t>
            </a:r>
            <a:br>
              <a:rPr lang="zh-CN" altLang="en-US" sz="2400" dirty="0">
                <a:solidFill>
                  <a:srgbClr val="000000"/>
                </a:solidFill>
              </a:rPr>
            </a:br>
            <a:r>
              <a:rPr lang="zh-CN" altLang="en-US" sz="2400" dirty="0">
                <a:solidFill>
                  <a:srgbClr val="000000"/>
                </a:solidFill>
              </a:rPr>
              <a:t>乙银行得到客户</a:t>
            </a:r>
            <a:r>
              <a:rPr lang="en-US" altLang="zh-CN" sz="2400">
                <a:solidFill>
                  <a:srgbClr val="000000"/>
                </a:solidFill>
              </a:rPr>
              <a:t>8000</a:t>
            </a:r>
            <a:r>
              <a:rPr lang="zh-CN" altLang="en-US" sz="2400" dirty="0">
                <a:solidFill>
                  <a:srgbClr val="000000"/>
                </a:solidFill>
              </a:rPr>
              <a:t>元存款，贷出</a:t>
            </a:r>
            <a:r>
              <a:rPr lang="en-US" altLang="zh-CN" sz="2400">
                <a:solidFill>
                  <a:srgbClr val="000000"/>
                </a:solidFill>
              </a:rPr>
              <a:t>6400</a:t>
            </a:r>
            <a:r>
              <a:rPr lang="zh-CN" altLang="en-US" sz="2400" dirty="0">
                <a:solidFill>
                  <a:srgbClr val="000000"/>
                </a:solidFill>
              </a:rPr>
              <a:t>元；</a:t>
            </a:r>
            <a:endParaRPr lang="zh-CN" altLang="en-US" sz="2400" dirty="0">
              <a:solidFill>
                <a:srgbClr val="000000"/>
              </a:solidFill>
            </a:endParaRPr>
          </a:p>
          <a:p>
            <a:pPr marL="0" indent="0">
              <a:lnSpc>
                <a:spcPct val="125000"/>
              </a:lnSpc>
              <a:buNone/>
            </a:pPr>
            <a:r>
              <a:rPr lang="zh-CN" altLang="en-US" sz="2400" dirty="0">
                <a:solidFill>
                  <a:srgbClr val="000000"/>
                </a:solidFill>
              </a:rPr>
              <a:t>社会存款款总量</a:t>
            </a:r>
            <a:r>
              <a:rPr lang="en-US" altLang="zh-CN" sz="2400">
                <a:solidFill>
                  <a:srgbClr val="000000"/>
                </a:solidFill>
              </a:rPr>
              <a:t>=10000</a:t>
            </a:r>
            <a:r>
              <a:rPr lang="zh-CN" altLang="en-US" sz="2400">
                <a:solidFill>
                  <a:srgbClr val="000000"/>
                </a:solidFill>
              </a:rPr>
              <a:t>元</a:t>
            </a:r>
            <a:r>
              <a:rPr lang="en-US" altLang="zh-CN" sz="2400">
                <a:solidFill>
                  <a:srgbClr val="000000"/>
                </a:solidFill>
              </a:rPr>
              <a:t>+10000</a:t>
            </a:r>
            <a:r>
              <a:rPr lang="zh-CN" altLang="en-US" sz="2400">
                <a:solidFill>
                  <a:srgbClr val="000000"/>
                </a:solidFill>
              </a:rPr>
              <a:t>元</a:t>
            </a:r>
            <a:r>
              <a:rPr lang="en-US" altLang="zh-CN" sz="2400">
                <a:solidFill>
                  <a:srgbClr val="000000"/>
                </a:solidFill>
              </a:rPr>
              <a:t>×0.8+10000</a:t>
            </a:r>
            <a:r>
              <a:rPr lang="zh-CN" altLang="en-US" sz="2400">
                <a:solidFill>
                  <a:srgbClr val="000000"/>
                </a:solidFill>
              </a:rPr>
              <a:t>元</a:t>
            </a:r>
            <a:r>
              <a:rPr lang="en-US" altLang="zh-CN" sz="2400">
                <a:solidFill>
                  <a:srgbClr val="000000"/>
                </a:solidFill>
              </a:rPr>
              <a:t>×0.8</a:t>
            </a:r>
            <a:r>
              <a:rPr lang="en-US" altLang="zh-CN" sz="2400" baseline="30000">
                <a:solidFill>
                  <a:srgbClr val="000000"/>
                </a:solidFill>
              </a:rPr>
              <a:t>2</a:t>
            </a:r>
            <a:r>
              <a:rPr lang="en-US" altLang="zh-CN" sz="2400">
                <a:solidFill>
                  <a:srgbClr val="000000"/>
                </a:solidFill>
              </a:rPr>
              <a:t>+</a:t>
            </a:r>
            <a:r>
              <a:rPr lang="en-US" altLang="zh-CN" sz="2400">
                <a:solidFill>
                  <a:srgbClr val="000000"/>
                </a:solidFill>
                <a:latin typeface="Times New Roman" panose="02020603050405020304" pitchFamily="18" charset="0"/>
              </a:rPr>
              <a:t>—</a:t>
            </a:r>
            <a:r>
              <a:rPr lang="en-US" altLang="zh-CN" sz="2400">
                <a:solidFill>
                  <a:srgbClr val="000000"/>
                </a:solidFill>
              </a:rPr>
              <a:t>=10000</a:t>
            </a:r>
            <a:r>
              <a:rPr lang="zh-CN" altLang="en-US" sz="2400">
                <a:solidFill>
                  <a:srgbClr val="000000"/>
                </a:solidFill>
              </a:rPr>
              <a:t>元</a:t>
            </a:r>
            <a:r>
              <a:rPr lang="en-US" altLang="zh-CN" sz="2400">
                <a:solidFill>
                  <a:srgbClr val="000000"/>
                </a:solidFill>
              </a:rPr>
              <a:t>×1/(1-0.8)=10000</a:t>
            </a:r>
            <a:r>
              <a:rPr lang="zh-CN" altLang="en-US" sz="2400">
                <a:solidFill>
                  <a:srgbClr val="000000"/>
                </a:solidFill>
              </a:rPr>
              <a:t>元</a:t>
            </a:r>
            <a:r>
              <a:rPr lang="en-US" altLang="zh-CN" sz="2400">
                <a:solidFill>
                  <a:srgbClr val="000000"/>
                </a:solidFill>
              </a:rPr>
              <a:t>×1/0.2=50000</a:t>
            </a:r>
            <a:r>
              <a:rPr lang="zh-CN" altLang="en-US" sz="2400" dirty="0">
                <a:solidFill>
                  <a:srgbClr val="000000"/>
                </a:solidFill>
              </a:rPr>
              <a:t>元</a:t>
            </a:r>
            <a:endParaRPr lang="zh-CN" altLang="en-US" sz="2400" dirty="0">
              <a:solidFill>
                <a:srgbClr val="000000"/>
              </a:solidFill>
            </a:endParaRPr>
          </a:p>
          <a:p>
            <a:pPr marL="0" indent="0">
              <a:lnSpc>
                <a:spcPct val="125000"/>
              </a:lnSpc>
              <a:buNone/>
            </a:pPr>
            <a:r>
              <a:rPr lang="zh-CN" altLang="en-US" sz="2400" dirty="0">
                <a:solidFill>
                  <a:srgbClr val="000000"/>
                </a:solidFill>
              </a:rPr>
              <a:t>即：</a:t>
            </a:r>
            <a:r>
              <a:rPr lang="en-US" altLang="zh-CN" sz="2400" b="1" dirty="0" err="1">
                <a:solidFill>
                  <a:srgbClr val="000000"/>
                </a:solidFill>
              </a:rPr>
              <a:t>D</a:t>
            </a:r>
            <a:r>
              <a:rPr lang="en-US" altLang="zh-CN" sz="2400" b="1" baseline="-25000" dirty="0" err="1">
                <a:solidFill>
                  <a:srgbClr val="000000"/>
                </a:solidFill>
              </a:rPr>
              <a:t>d</a:t>
            </a:r>
            <a:r>
              <a:rPr lang="en-US" altLang="zh-CN" sz="2400" b="1">
                <a:solidFill>
                  <a:srgbClr val="000000"/>
                </a:solidFill>
              </a:rPr>
              <a:t>=R×1/r</a:t>
            </a:r>
            <a:r>
              <a:rPr lang="zh-CN" altLang="en-US" sz="2400">
                <a:solidFill>
                  <a:srgbClr val="000000"/>
                </a:solidFill>
              </a:rPr>
              <a:t>；</a:t>
            </a:r>
            <a:r>
              <a:rPr lang="zh-CN" altLang="en-US" sz="2400" dirty="0">
                <a:solidFill>
                  <a:srgbClr val="000000"/>
                </a:solidFill>
              </a:rPr>
              <a:t>其中，</a:t>
            </a:r>
            <a:r>
              <a:rPr lang="en-US" altLang="zh-CN" sz="2400">
                <a:solidFill>
                  <a:srgbClr val="000000"/>
                </a:solidFill>
              </a:rPr>
              <a:t>D</a:t>
            </a:r>
            <a:r>
              <a:rPr lang="zh-CN" altLang="en-US" sz="2400" dirty="0">
                <a:solidFill>
                  <a:srgbClr val="000000"/>
                </a:solidFill>
              </a:rPr>
              <a:t>为存款总额，</a:t>
            </a:r>
            <a:r>
              <a:rPr lang="en-US" altLang="zh-CN" sz="2400">
                <a:solidFill>
                  <a:srgbClr val="000000"/>
                </a:solidFill>
              </a:rPr>
              <a:t>R</a:t>
            </a:r>
            <a:r>
              <a:rPr lang="zh-CN" altLang="en-US" sz="2400" dirty="0">
                <a:solidFill>
                  <a:srgbClr val="000000"/>
                </a:solidFill>
              </a:rPr>
              <a:t>为初始存款额</a:t>
            </a:r>
            <a:r>
              <a:rPr lang="zh-CN" altLang="en-US" sz="2400">
                <a:solidFill>
                  <a:srgbClr val="000000"/>
                </a:solidFill>
              </a:rPr>
              <a:t>，</a:t>
            </a:r>
            <a:r>
              <a:rPr lang="en-US" altLang="zh-CN" sz="2400">
                <a:solidFill>
                  <a:srgbClr val="000000"/>
                </a:solidFill>
              </a:rPr>
              <a:t>r</a:t>
            </a:r>
            <a:r>
              <a:rPr lang="zh-CN" altLang="en-US" sz="2400" dirty="0">
                <a:solidFill>
                  <a:srgbClr val="000000"/>
                </a:solidFill>
              </a:rPr>
              <a:t>为法定准备金率，而</a:t>
            </a:r>
            <a:r>
              <a:rPr lang="en-US" altLang="zh-CN" sz="2400">
                <a:solidFill>
                  <a:srgbClr val="000000"/>
                </a:solidFill>
              </a:rPr>
              <a:t>1/ r</a:t>
            </a:r>
            <a:r>
              <a:rPr lang="zh-CN" altLang="en-US" sz="2400" dirty="0">
                <a:solidFill>
                  <a:srgbClr val="000000"/>
                </a:solidFill>
              </a:rPr>
              <a:t>就是简单货币乘数。</a:t>
            </a:r>
            <a:endParaRPr lang="zh-CN" altLang="en-US" sz="2400" dirty="0">
              <a:solidFill>
                <a:srgbClr val="000000"/>
              </a:solidFill>
            </a:endParaRPr>
          </a:p>
          <a:p>
            <a:pPr marL="0" indent="0">
              <a:lnSpc>
                <a:spcPct val="125000"/>
              </a:lnSpc>
              <a:buNone/>
            </a:pPr>
            <a:endParaRPr lang="zh-CN" altLang="en-US" sz="2400"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64513"/>
          <p:cNvSpPr>
            <a:spLocks noGrp="1"/>
          </p:cNvSpPr>
          <p:nvPr>
            <p:ph type="title"/>
          </p:nvPr>
        </p:nvSpPr>
        <p:spPr>
          <a:ln/>
        </p:spPr>
        <p:txBody>
          <a:bodyPr anchor="ctr" anchorCtr="0"/>
          <a:p>
            <a:r>
              <a:rPr lang="zh-CN" altLang="en-US" sz="3600" b="1" dirty="0">
                <a:solidFill>
                  <a:srgbClr val="000000"/>
                </a:solidFill>
              </a:rPr>
              <a:t>货币供给与通货膨胀</a:t>
            </a:r>
            <a:endParaRPr lang="zh-CN" altLang="en-US" sz="3600" b="1">
              <a:solidFill>
                <a:srgbClr val="000000"/>
              </a:solidFill>
            </a:endParaRPr>
          </a:p>
        </p:txBody>
      </p:sp>
      <p:sp>
        <p:nvSpPr>
          <p:cNvPr id="64515" name="文本占位符 64514"/>
          <p:cNvSpPr>
            <a:spLocks noGrp="1"/>
          </p:cNvSpPr>
          <p:nvPr>
            <p:ph type="body" idx="1"/>
          </p:nvPr>
        </p:nvSpPr>
        <p:spPr>
          <a:xfrm>
            <a:off x="1143000" y="1981200"/>
            <a:ext cx="7772400" cy="4114800"/>
          </a:xfrm>
          <a:ln/>
        </p:spPr>
        <p:txBody>
          <a:bodyPr/>
          <a:p>
            <a:pPr>
              <a:buNone/>
            </a:pPr>
            <a:r>
              <a:rPr lang="zh-CN" altLang="en-US" b="1" dirty="0">
                <a:solidFill>
                  <a:srgbClr val="000000"/>
                </a:solidFill>
                <a:latin typeface="宋体" panose="02010600030101010101" pitchFamily="2" charset="-122"/>
              </a:rPr>
              <a:t>货币供给与通货膨胀</a:t>
            </a:r>
            <a:r>
              <a:rPr lang="en-US" altLang="zh-CN" b="1">
                <a:solidFill>
                  <a:srgbClr val="000000"/>
                </a:solidFill>
                <a:latin typeface="宋体" panose="02010600030101010101" pitchFamily="2" charset="-122"/>
              </a:rPr>
              <a:t>:</a:t>
            </a:r>
            <a:endParaRPr lang="en-US" altLang="zh-CN" b="1">
              <a:solidFill>
                <a:srgbClr val="000000"/>
              </a:solidFill>
              <a:latin typeface="宋体" panose="02010600030101010101" pitchFamily="2" charset="-122"/>
            </a:endParaRPr>
          </a:p>
          <a:p>
            <a:pPr>
              <a:buNone/>
            </a:pPr>
            <a:r>
              <a:rPr lang="zh-CN" altLang="en-US" b="1" dirty="0">
                <a:solidFill>
                  <a:srgbClr val="000000"/>
                </a:solidFill>
                <a:latin typeface="宋体" panose="02010600030101010101" pitchFamily="2" charset="-122"/>
              </a:rPr>
              <a:t>通货膨胀</a:t>
            </a:r>
            <a:r>
              <a:rPr lang="en-US" altLang="zh-CN" b="1">
                <a:solidFill>
                  <a:srgbClr val="000000"/>
                </a:solidFill>
                <a:latin typeface="宋体" panose="02010600030101010101" pitchFamily="2" charset="-122"/>
              </a:rPr>
              <a:t>(ΔP/P)=</a:t>
            </a:r>
            <a:r>
              <a:rPr lang="zh-CN" altLang="en-US" b="1" dirty="0">
                <a:solidFill>
                  <a:srgbClr val="000000"/>
                </a:solidFill>
                <a:latin typeface="宋体" panose="02010600030101010101" pitchFamily="2" charset="-122"/>
              </a:rPr>
              <a:t>货币增长率</a:t>
            </a:r>
            <a:r>
              <a:rPr lang="en-US" altLang="zh-CN" b="1">
                <a:solidFill>
                  <a:srgbClr val="000000"/>
                </a:solidFill>
                <a:latin typeface="宋体" panose="02010600030101010101" pitchFamily="2" charset="-122"/>
              </a:rPr>
              <a:t>(Δ M</a:t>
            </a:r>
            <a:r>
              <a:rPr lang="en-US" altLang="zh-CN" b="1" baseline="30000">
                <a:solidFill>
                  <a:srgbClr val="000000"/>
                </a:solidFill>
                <a:latin typeface="宋体" panose="02010600030101010101" pitchFamily="2" charset="-122"/>
              </a:rPr>
              <a:t>s</a:t>
            </a:r>
            <a:r>
              <a:rPr lang="en-US" altLang="zh-CN" b="1">
                <a:solidFill>
                  <a:srgbClr val="000000"/>
                </a:solidFill>
                <a:latin typeface="宋体" panose="02010600030101010101" pitchFamily="2" charset="-122"/>
              </a:rPr>
              <a:t> /M</a:t>
            </a:r>
            <a:r>
              <a:rPr lang="en-US" altLang="zh-CN" b="1" baseline="30000">
                <a:solidFill>
                  <a:srgbClr val="000000"/>
                </a:solidFill>
                <a:latin typeface="宋体" panose="02010600030101010101" pitchFamily="2" charset="-122"/>
              </a:rPr>
              <a:t>s</a:t>
            </a:r>
            <a:r>
              <a:rPr lang="en-US" altLang="zh-CN" b="1">
                <a:solidFill>
                  <a:srgbClr val="000000"/>
                </a:solidFill>
                <a:latin typeface="宋体" panose="02010600030101010101" pitchFamily="2" charset="-122"/>
              </a:rPr>
              <a:t>)</a:t>
            </a:r>
            <a:endParaRPr lang="en-US" altLang="zh-CN" sz="2400" b="1">
              <a:solidFill>
                <a:srgbClr val="000000"/>
              </a:solidFill>
              <a:sym typeface="Symbol" panose="05050102010706020507" pitchFamily="18" charset="2"/>
            </a:endParaRPr>
          </a:p>
          <a:p>
            <a:pPr>
              <a:buNone/>
            </a:pPr>
            <a:endParaRPr lang="en-US" altLang="zh-CN" sz="2400" b="1">
              <a:solidFill>
                <a:srgbClr val="000000"/>
              </a:solidFill>
              <a:sym typeface="Symbol" panose="05050102010706020507" pitchFamily="18" charset="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65537"/>
          <p:cNvSpPr>
            <a:spLocks noGrp="1"/>
          </p:cNvSpPr>
          <p:nvPr>
            <p:ph type="title"/>
          </p:nvPr>
        </p:nvSpPr>
        <p:spPr>
          <a:ln/>
        </p:spPr>
        <p:txBody>
          <a:bodyPr anchor="ctr" anchorCtr="0"/>
          <a:p>
            <a:endParaRPr dirty="0"/>
          </a:p>
        </p:txBody>
      </p:sp>
      <p:sp>
        <p:nvSpPr>
          <p:cNvPr id="65539" name="文本占位符 65538"/>
          <p:cNvSpPr>
            <a:spLocks noGrp="1"/>
          </p:cNvSpPr>
          <p:nvPr>
            <p:ph type="body" idx="1"/>
          </p:nvPr>
        </p:nvSpPr>
        <p:spPr>
          <a:ln/>
        </p:spPr>
        <p:txBody>
          <a:bodyPr/>
          <a:p>
            <a:pPr>
              <a:buNone/>
            </a:pPr>
            <a:r>
              <a:rPr lang="zh-CN" altLang="en-US" b="1" dirty="0">
                <a:solidFill>
                  <a:srgbClr val="000000"/>
                </a:solidFill>
                <a:latin typeface="宋体" panose="02010600030101010101" pitchFamily="2" charset="-122"/>
              </a:rPr>
              <a:t>中央银行的功能</a:t>
            </a:r>
            <a:endParaRPr lang="zh-CN" altLang="en-US" b="1" dirty="0">
              <a:solidFill>
                <a:srgbClr val="000000"/>
              </a:solidFill>
              <a:latin typeface="宋体" panose="02010600030101010101" pitchFamily="2" charset="-122"/>
            </a:endParaRPr>
          </a:p>
          <a:p>
            <a:pPr>
              <a:buNone/>
            </a:pPr>
            <a:r>
              <a:rPr lang="en-US" altLang="zh-CN" sz="280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、作为银行的银行。</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资金供应的最后贷款人</a:t>
            </a:r>
            <a:r>
              <a:rPr lang="en-US" altLang="zh-CN" sz="2800">
                <a:solidFill>
                  <a:srgbClr val="000000"/>
                </a:solidFill>
                <a:latin typeface="宋体" panose="02010600030101010101" pitchFamily="2" charset="-122"/>
              </a:rPr>
              <a:t>)</a:t>
            </a:r>
            <a:endParaRPr lang="en-US" altLang="zh-CN" sz="2800">
              <a:solidFill>
                <a:srgbClr val="000000"/>
              </a:solidFill>
              <a:latin typeface="宋体" panose="02010600030101010101" pitchFamily="2" charset="-122"/>
            </a:endParaRPr>
          </a:p>
          <a:p>
            <a:pPr>
              <a:buNone/>
            </a:pPr>
            <a:r>
              <a:rPr lang="en-US" altLang="zh-CN" sz="2800">
                <a:solidFill>
                  <a:srgbClr val="000000"/>
                </a:solidFill>
                <a:latin typeface="宋体" panose="02010600030101010101" pitchFamily="2" charset="-122"/>
              </a:rPr>
              <a:t>2</a:t>
            </a:r>
            <a:r>
              <a:rPr lang="zh-CN" altLang="en-US" sz="2800" dirty="0">
                <a:solidFill>
                  <a:srgbClr val="000000"/>
                </a:solidFill>
                <a:latin typeface="宋体" panose="02010600030101010101" pitchFamily="2" charset="-122"/>
              </a:rPr>
              <a:t>、制定货币政策，控制货币供给。</a:t>
            </a:r>
            <a:endParaRPr lang="zh-CN" altLang="en-US" sz="2800" dirty="0">
              <a:solidFill>
                <a:srgbClr val="000000"/>
              </a:solidFill>
              <a:latin typeface="宋体" panose="02010600030101010101" pitchFamily="2" charset="-122"/>
            </a:endParaRPr>
          </a:p>
          <a:p>
            <a:pPr>
              <a:buNone/>
            </a:pPr>
            <a:r>
              <a:rPr lang="en-US" altLang="zh-CN" sz="2800">
                <a:solidFill>
                  <a:srgbClr val="000000"/>
                </a:solidFill>
                <a:latin typeface="宋体" panose="02010600030101010101" pitchFamily="2" charset="-122"/>
              </a:rPr>
              <a:t>3</a:t>
            </a:r>
            <a:r>
              <a:rPr lang="zh-CN" altLang="en-US" sz="2800" dirty="0">
                <a:solidFill>
                  <a:srgbClr val="000000"/>
                </a:solidFill>
                <a:latin typeface="宋体" panose="02010600030101010101" pitchFamily="2" charset="-122"/>
              </a:rPr>
              <a:t>、作为政府的银行。</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政府国库的款项由中央银行管理</a:t>
            </a:r>
            <a:r>
              <a:rPr lang="en-US" altLang="zh-CN" sz="2800">
                <a:solidFill>
                  <a:srgbClr val="000000"/>
                </a:solidFill>
                <a:latin typeface="宋体" panose="02010600030101010101" pitchFamily="2" charset="-122"/>
              </a:rPr>
              <a:t>)</a:t>
            </a:r>
            <a:endParaRPr lang="en-US" altLang="zh-CN" sz="2800">
              <a:solidFill>
                <a:srgbClr val="000000"/>
              </a:solidFill>
              <a:latin typeface="宋体" panose="02010600030101010101" pitchFamily="2" charset="-122"/>
            </a:endParaRPr>
          </a:p>
          <a:p>
            <a:pPr>
              <a:buNone/>
            </a:pPr>
            <a:r>
              <a:rPr lang="en-US" altLang="zh-CN" sz="2800">
                <a:solidFill>
                  <a:srgbClr val="000000"/>
                </a:solidFill>
                <a:latin typeface="宋体" panose="02010600030101010101" pitchFamily="2" charset="-122"/>
              </a:rPr>
              <a:t>4</a:t>
            </a:r>
            <a:r>
              <a:rPr lang="zh-CN" altLang="en-US" sz="2800" dirty="0">
                <a:solidFill>
                  <a:srgbClr val="000000"/>
                </a:solidFill>
                <a:latin typeface="宋体" panose="02010600030101010101" pitchFamily="2" charset="-122"/>
              </a:rPr>
              <a:t>、经营外汇储备，调节国际收支。</a:t>
            </a:r>
            <a:endParaRPr lang="zh-CN" altLang="en-US" sz="2800" dirty="0">
              <a:solidFill>
                <a:srgbClr val="000000"/>
              </a:solidFill>
              <a:latin typeface="宋体" panose="02010600030101010101" pitchFamily="2" charset="-122"/>
            </a:endParaRPr>
          </a:p>
          <a:p>
            <a:pPr>
              <a:buNone/>
            </a:pPr>
            <a:r>
              <a:rPr lang="en-US" altLang="zh-CN" sz="2800">
                <a:solidFill>
                  <a:srgbClr val="000000"/>
                </a:solidFill>
                <a:latin typeface="宋体" panose="02010600030101010101" pitchFamily="2" charset="-122"/>
              </a:rPr>
              <a:t>5</a:t>
            </a:r>
            <a:r>
              <a:rPr lang="zh-CN" altLang="en-US" sz="2800" dirty="0">
                <a:solidFill>
                  <a:srgbClr val="000000"/>
                </a:solidFill>
                <a:latin typeface="宋体" panose="02010600030101010101" pitchFamily="2" charset="-122"/>
              </a:rPr>
              <a:t>、制定银行法规，监督全国银行业务。</a:t>
            </a:r>
            <a:endParaRPr lang="zh-CN" altLang="en-US" sz="2800">
              <a:solidFill>
                <a:srgbClr val="000000"/>
              </a:solidFill>
              <a:latin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p:cNvSpPr>
          <p:nvPr>
            <p:ph type="title"/>
          </p:nvPr>
        </p:nvSpPr>
        <p:spPr>
          <a:xfrm>
            <a:off x="395288" y="188913"/>
            <a:ext cx="7953375" cy="1184275"/>
          </a:xfrm>
          <a:ln/>
        </p:spPr>
        <p:txBody>
          <a:bodyPr anchor="ctr" anchorCtr="0"/>
          <a:p>
            <a:r>
              <a:rPr lang="zh-CN" altLang="en-US" sz="3200" b="1" dirty="0">
                <a:solidFill>
                  <a:srgbClr val="000000"/>
                </a:solidFill>
              </a:rPr>
              <a:t>中央银行所采用的控制货币供给的方法</a:t>
            </a:r>
            <a:endParaRPr lang="zh-CN" altLang="en-US" sz="3200" b="1">
              <a:solidFill>
                <a:srgbClr val="000000"/>
              </a:solidFill>
            </a:endParaRPr>
          </a:p>
        </p:txBody>
      </p:sp>
      <p:sp>
        <p:nvSpPr>
          <p:cNvPr id="66563" name="文本占位符 66562"/>
          <p:cNvSpPr>
            <a:spLocks noGrp="1"/>
          </p:cNvSpPr>
          <p:nvPr>
            <p:ph type="body" idx="1"/>
          </p:nvPr>
        </p:nvSpPr>
        <p:spPr>
          <a:xfrm>
            <a:off x="323850" y="1557338"/>
            <a:ext cx="7772400" cy="4114800"/>
          </a:xfrm>
          <a:ln/>
        </p:spPr>
        <p:txBody>
          <a:bodyPr/>
          <a:p>
            <a:pPr marL="0" indent="0">
              <a:buNone/>
            </a:pPr>
            <a:r>
              <a:rPr lang="en-US" altLang="zh-CN" sz="2400" b="1">
                <a:solidFill>
                  <a:srgbClr val="000000"/>
                </a:solidFill>
              </a:rPr>
              <a:t>1</a:t>
            </a:r>
            <a:r>
              <a:rPr lang="zh-CN" altLang="en-US" sz="2400" b="1" dirty="0">
                <a:solidFill>
                  <a:srgbClr val="000000"/>
                </a:solidFill>
              </a:rPr>
              <a:t>、公开市场运作。</a:t>
            </a:r>
            <a:r>
              <a:rPr lang="zh-CN" altLang="en-US" sz="2400" dirty="0">
                <a:solidFill>
                  <a:srgbClr val="000000"/>
                </a:solidFill>
              </a:rPr>
              <a:t>中央银行可以通过债券买卖，改变储备供给，以达到改变货币供给的目的。当中央银行想增加货币供给时，会在债券市场上买入债券</a:t>
            </a:r>
            <a:r>
              <a:rPr lang="en-US" altLang="zh-CN" sz="2400">
                <a:solidFill>
                  <a:srgbClr val="000000"/>
                </a:solidFill>
              </a:rPr>
              <a:t>;</a:t>
            </a:r>
            <a:r>
              <a:rPr lang="zh-CN" altLang="en-US" sz="2400" dirty="0">
                <a:solidFill>
                  <a:srgbClr val="000000"/>
                </a:solidFill>
              </a:rPr>
              <a:t>当中央银行想减少货币供给时，会在债券市场上抛售债券</a:t>
            </a:r>
            <a:r>
              <a:rPr lang="en-US" altLang="zh-CN" sz="2400">
                <a:solidFill>
                  <a:srgbClr val="000000"/>
                </a:solidFill>
              </a:rPr>
              <a:t>;</a:t>
            </a:r>
            <a:endParaRPr lang="en-US" altLang="zh-CN" sz="2400">
              <a:solidFill>
                <a:srgbClr val="000000"/>
              </a:solidFill>
            </a:endParaRPr>
          </a:p>
          <a:p>
            <a:pPr marL="0" indent="0">
              <a:buNone/>
            </a:pPr>
            <a:r>
              <a:rPr lang="en-US" altLang="zh-CN" sz="2400" b="1">
                <a:solidFill>
                  <a:srgbClr val="000000"/>
                </a:solidFill>
              </a:rPr>
              <a:t>2</a:t>
            </a:r>
            <a:r>
              <a:rPr lang="zh-CN" altLang="en-US" sz="2400" b="1" dirty="0">
                <a:solidFill>
                  <a:srgbClr val="000000"/>
                </a:solidFill>
              </a:rPr>
              <a:t>、调整法定储备率</a:t>
            </a:r>
            <a:r>
              <a:rPr lang="zh-CN" altLang="en-US" sz="2400" dirty="0">
                <a:solidFill>
                  <a:srgbClr val="000000"/>
                </a:solidFill>
              </a:rPr>
              <a:t>。根据货币创造的概念，增加</a:t>
            </a:r>
            <a:r>
              <a:rPr lang="en-US" altLang="zh-CN" sz="2400">
                <a:solidFill>
                  <a:srgbClr val="000000"/>
                </a:solidFill>
              </a:rPr>
              <a:t>(</a:t>
            </a:r>
            <a:r>
              <a:rPr lang="zh-CN" altLang="en-US" sz="2400" dirty="0">
                <a:solidFill>
                  <a:srgbClr val="000000"/>
                </a:solidFill>
              </a:rPr>
              <a:t>调低</a:t>
            </a:r>
            <a:r>
              <a:rPr lang="en-US" altLang="zh-CN" sz="2400">
                <a:solidFill>
                  <a:srgbClr val="000000"/>
                </a:solidFill>
              </a:rPr>
              <a:t>)</a:t>
            </a:r>
            <a:r>
              <a:rPr lang="zh-CN" altLang="en-US" sz="2400" dirty="0">
                <a:solidFill>
                  <a:srgbClr val="000000"/>
                </a:solidFill>
              </a:rPr>
              <a:t>法定储备率的水平，会减少</a:t>
            </a:r>
            <a:r>
              <a:rPr lang="en-US" altLang="zh-CN" sz="2400">
                <a:solidFill>
                  <a:srgbClr val="000000"/>
                </a:solidFill>
              </a:rPr>
              <a:t>(</a:t>
            </a:r>
            <a:r>
              <a:rPr lang="zh-CN" altLang="en-US" sz="2400" dirty="0">
                <a:solidFill>
                  <a:srgbClr val="000000"/>
                </a:solidFill>
              </a:rPr>
              <a:t>增加</a:t>
            </a:r>
            <a:r>
              <a:rPr lang="en-US" altLang="zh-CN" sz="2400">
                <a:solidFill>
                  <a:srgbClr val="000000"/>
                </a:solidFill>
              </a:rPr>
              <a:t>)</a:t>
            </a:r>
            <a:r>
              <a:rPr lang="zh-CN" altLang="en-US" sz="2400" dirty="0">
                <a:solidFill>
                  <a:srgbClr val="000000"/>
                </a:solidFill>
              </a:rPr>
              <a:t>货币的供给。</a:t>
            </a:r>
            <a:endParaRPr lang="zh-CN" altLang="en-US" sz="2400" dirty="0">
              <a:solidFill>
                <a:srgbClr val="000000"/>
              </a:solidFill>
            </a:endParaRPr>
          </a:p>
          <a:p>
            <a:pPr marL="0" indent="0">
              <a:buNone/>
            </a:pPr>
            <a:r>
              <a:rPr lang="en-US" altLang="zh-CN" sz="2400" b="1">
                <a:solidFill>
                  <a:srgbClr val="000000"/>
                </a:solidFill>
              </a:rPr>
              <a:t>3</a:t>
            </a:r>
            <a:r>
              <a:rPr lang="zh-CN" altLang="en-US" sz="2400" b="1" dirty="0">
                <a:solidFill>
                  <a:srgbClr val="000000"/>
                </a:solidFill>
              </a:rPr>
              <a:t>、调整贴现率</a:t>
            </a:r>
            <a:r>
              <a:rPr lang="zh-CN" altLang="en-US" sz="2400" dirty="0">
                <a:solidFill>
                  <a:srgbClr val="000000"/>
                </a:solidFill>
              </a:rPr>
              <a:t>。较低水平的利率，鼓励银行向中央银行贷款，增加货币供给。相反，在中央银行希望减少货币供给时，贷款利率就会提高。</a:t>
            </a:r>
            <a:endParaRPr lang="zh-CN" altLang="en-US" sz="2400" dirty="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67585"/>
          <p:cNvSpPr>
            <a:spLocks noGrp="1"/>
          </p:cNvSpPr>
          <p:nvPr>
            <p:ph type="title"/>
          </p:nvPr>
        </p:nvSpPr>
        <p:spPr>
          <a:ln/>
        </p:spPr>
        <p:txBody>
          <a:bodyPr anchor="ctr" anchorCtr="0"/>
          <a:p>
            <a:r>
              <a:rPr lang="zh-CN" altLang="en-US" sz="3200" b="1" dirty="0">
                <a:solidFill>
                  <a:srgbClr val="000000"/>
                </a:solidFill>
              </a:rPr>
              <a:t>产品市场和货币市场的一般均衡</a:t>
            </a:r>
            <a:endParaRPr lang="zh-CN" altLang="en-US" sz="3200" b="1">
              <a:solidFill>
                <a:srgbClr val="000000"/>
              </a:solidFill>
            </a:endParaRPr>
          </a:p>
        </p:txBody>
      </p:sp>
      <p:sp>
        <p:nvSpPr>
          <p:cNvPr id="67587" name="文本占位符 67586"/>
          <p:cNvSpPr>
            <a:spLocks noGrp="1"/>
          </p:cNvSpPr>
          <p:nvPr>
            <p:ph type="body" idx="1"/>
          </p:nvPr>
        </p:nvSpPr>
        <p:spPr>
          <a:ln/>
        </p:spPr>
        <p:txBody>
          <a:bodyPr/>
          <a:p>
            <a:pPr>
              <a:buNone/>
            </a:pPr>
            <a:r>
              <a:rPr lang="zh-CN" altLang="en-US" dirty="0">
                <a:solidFill>
                  <a:srgbClr val="000000"/>
                </a:solidFill>
              </a:rPr>
              <a:t>实际利率与投资</a:t>
            </a:r>
            <a:r>
              <a:rPr lang="en-US" altLang="zh-CN">
                <a:solidFill>
                  <a:srgbClr val="000000"/>
                </a:solidFill>
              </a:rPr>
              <a:t>:</a:t>
            </a:r>
            <a:endParaRPr lang="en-US" altLang="zh-CN">
              <a:solidFill>
                <a:srgbClr val="000000"/>
              </a:solidFill>
            </a:endParaRPr>
          </a:p>
          <a:p>
            <a:pPr>
              <a:buNone/>
            </a:pPr>
            <a:r>
              <a:rPr lang="zh-CN" altLang="en-US" dirty="0">
                <a:solidFill>
                  <a:srgbClr val="000000"/>
                </a:solidFill>
              </a:rPr>
              <a:t>利率上升时，投资需求量就会减少</a:t>
            </a:r>
            <a:r>
              <a:rPr lang="en-US" altLang="zh-CN">
                <a:solidFill>
                  <a:srgbClr val="000000"/>
                </a:solidFill>
              </a:rPr>
              <a:t>;</a:t>
            </a:r>
            <a:endParaRPr lang="en-US" altLang="zh-CN">
              <a:solidFill>
                <a:srgbClr val="000000"/>
              </a:solidFill>
            </a:endParaRPr>
          </a:p>
          <a:p>
            <a:pPr>
              <a:buNone/>
            </a:pPr>
            <a:r>
              <a:rPr lang="zh-CN" altLang="en-US" dirty="0">
                <a:solidFill>
                  <a:srgbClr val="000000"/>
                </a:solidFill>
              </a:rPr>
              <a:t>利率下降时，投资需求量就会增加。</a:t>
            </a:r>
            <a:endParaRPr lang="zh-CN" altLang="en-US" dirty="0">
              <a:solidFill>
                <a:srgbClr val="000000"/>
              </a:solidFill>
            </a:endParaRPr>
          </a:p>
          <a:p>
            <a:pPr>
              <a:buNone/>
            </a:pPr>
            <a:r>
              <a:rPr lang="zh-CN" altLang="en-US" dirty="0">
                <a:solidFill>
                  <a:srgbClr val="000000"/>
                </a:solidFill>
              </a:rPr>
              <a:t>投资函数可写成</a:t>
            </a:r>
            <a:r>
              <a:rPr lang="en-US" altLang="zh-CN">
                <a:solidFill>
                  <a:srgbClr val="000000"/>
                </a:solidFill>
              </a:rPr>
              <a:t>:  </a:t>
            </a:r>
            <a:r>
              <a:rPr lang="en-US" altLang="zh-CN" dirty="0" err="1">
                <a:solidFill>
                  <a:srgbClr val="000000"/>
                </a:solidFill>
              </a:rPr>
              <a:t>i(r</a:t>
            </a:r>
            <a:r>
              <a:rPr lang="en-US" altLang="zh-CN">
                <a:solidFill>
                  <a:srgbClr val="000000"/>
                </a:solidFill>
              </a:rPr>
              <a:t>)=</a:t>
            </a:r>
            <a:r>
              <a:rPr lang="en-US" altLang="zh-CN" dirty="0" err="1">
                <a:solidFill>
                  <a:srgbClr val="000000"/>
                </a:solidFill>
              </a:rPr>
              <a:t>e-dr</a:t>
            </a:r>
            <a:endParaRPr lang="en-US" altLang="zh-CN">
              <a:solidFill>
                <a:srgbClr val="000000"/>
              </a:solidFill>
            </a:endParaRPr>
          </a:p>
          <a:p>
            <a:pPr>
              <a:buNone/>
            </a:pPr>
            <a:r>
              <a:rPr lang="en-US" altLang="zh-CN">
                <a:solidFill>
                  <a:srgbClr val="000000"/>
                </a:solidFill>
              </a:rPr>
              <a:t>e:</a:t>
            </a:r>
            <a:r>
              <a:rPr lang="zh-CN" altLang="en-US" dirty="0">
                <a:solidFill>
                  <a:srgbClr val="000000"/>
                </a:solidFill>
              </a:rPr>
              <a:t>自主投资</a:t>
            </a:r>
            <a:r>
              <a:rPr lang="en-US" altLang="zh-CN">
                <a:solidFill>
                  <a:srgbClr val="000000"/>
                </a:solidFill>
              </a:rPr>
              <a:t>; -</a:t>
            </a:r>
            <a:r>
              <a:rPr lang="en-US" altLang="zh-CN" dirty="0" err="1">
                <a:solidFill>
                  <a:srgbClr val="000000"/>
                </a:solidFill>
              </a:rPr>
              <a:t>dr</a:t>
            </a:r>
            <a:r>
              <a:rPr lang="zh-CN" altLang="en-US" dirty="0">
                <a:solidFill>
                  <a:srgbClr val="000000"/>
                </a:solidFill>
              </a:rPr>
              <a:t>投资需求中与利率有关。</a:t>
            </a:r>
            <a:endParaRPr lang="zh-CN" altLang="en-US" dirty="0">
              <a:solidFill>
                <a:srgbClr val="000000"/>
              </a:solidFill>
            </a:endParaRPr>
          </a:p>
          <a:p>
            <a:pPr>
              <a:buNone/>
            </a:pPr>
            <a:endParaRPr lang="zh-CN" altLang="en-US">
              <a:solidFill>
                <a:srgbClr val="000000"/>
              </a:solidFill>
            </a:endParaRPr>
          </a:p>
          <a:p>
            <a:pPr>
              <a:buNone/>
            </a:pPr>
            <a:endParaRPr lang="zh-CN" altLang="en-US">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68609"/>
          <p:cNvSpPr>
            <a:spLocks noGrp="1"/>
          </p:cNvSpPr>
          <p:nvPr>
            <p:ph type="title"/>
          </p:nvPr>
        </p:nvSpPr>
        <p:spPr>
          <a:ln/>
        </p:spPr>
        <p:txBody>
          <a:bodyPr anchor="ctr" anchorCtr="0"/>
          <a:p>
            <a:r>
              <a:rPr lang="zh-CN" altLang="en-US" dirty="0"/>
              <a:t>总需求分析</a:t>
            </a:r>
            <a:br>
              <a:rPr lang="zh-CN" altLang="en-US" dirty="0"/>
            </a:br>
            <a:r>
              <a:rPr lang="zh-CN" altLang="en-US" dirty="0"/>
              <a:t>均衡利率水平的决定</a:t>
            </a:r>
            <a:endParaRPr lang="zh-CN" altLang="en-US" dirty="0"/>
          </a:p>
        </p:txBody>
      </p:sp>
      <p:sp>
        <p:nvSpPr>
          <p:cNvPr id="68611" name="文本占位符 68610"/>
          <p:cNvSpPr>
            <a:spLocks noGrp="1"/>
          </p:cNvSpPr>
          <p:nvPr>
            <p:ph type="body" idx="1"/>
          </p:nvPr>
        </p:nvSpPr>
        <p:spPr>
          <a:ln/>
        </p:spPr>
        <p:txBody>
          <a:bodyPr/>
          <a:p>
            <a:r>
              <a:rPr lang="zh-CN" altLang="en-US" dirty="0">
                <a:solidFill>
                  <a:srgbClr val="000000"/>
                </a:solidFill>
              </a:rPr>
              <a:t>货币市场均衡：货币需求</a:t>
            </a:r>
            <a:r>
              <a:rPr lang="en-US" altLang="zh-CN">
                <a:solidFill>
                  <a:srgbClr val="000000"/>
                </a:solidFill>
              </a:rPr>
              <a:t>=</a:t>
            </a:r>
            <a:r>
              <a:rPr lang="zh-CN" altLang="en-US" dirty="0">
                <a:solidFill>
                  <a:srgbClr val="000000"/>
                </a:solidFill>
              </a:rPr>
              <a:t>货币供给</a:t>
            </a:r>
            <a:endParaRPr lang="zh-CN" altLang="en-US">
              <a:solidFill>
                <a:srgbClr val="000000"/>
              </a:solidFill>
            </a:endParaRPr>
          </a:p>
        </p:txBody>
      </p:sp>
      <p:sp>
        <p:nvSpPr>
          <p:cNvPr id="68612" name="直接连接符 68611"/>
          <p:cNvSpPr/>
          <p:nvPr/>
        </p:nvSpPr>
        <p:spPr>
          <a:xfrm flipV="1">
            <a:off x="1371600" y="2819400"/>
            <a:ext cx="0" cy="2590800"/>
          </a:xfrm>
          <a:prstGeom prst="line">
            <a:avLst/>
          </a:prstGeom>
          <a:ln w="38100" cap="flat" cmpd="sng">
            <a:solidFill>
              <a:srgbClr val="000000"/>
            </a:solidFill>
            <a:prstDash val="solid"/>
            <a:headEnd type="none" w="med" len="med"/>
            <a:tailEnd type="triangle" w="med" len="med"/>
          </a:ln>
        </p:spPr>
      </p:sp>
      <p:sp>
        <p:nvSpPr>
          <p:cNvPr id="68613" name="直接连接符 68612"/>
          <p:cNvSpPr/>
          <p:nvPr/>
        </p:nvSpPr>
        <p:spPr>
          <a:xfrm>
            <a:off x="1371600" y="5486400"/>
            <a:ext cx="5715000" cy="0"/>
          </a:xfrm>
          <a:prstGeom prst="line">
            <a:avLst/>
          </a:prstGeom>
          <a:ln w="38100" cap="flat" cmpd="sng">
            <a:solidFill>
              <a:srgbClr val="000000"/>
            </a:solidFill>
            <a:prstDash val="solid"/>
            <a:headEnd type="none" w="med" len="med"/>
            <a:tailEnd type="triangle" w="med" len="med"/>
          </a:ln>
        </p:spPr>
      </p:sp>
      <p:sp>
        <p:nvSpPr>
          <p:cNvPr id="68614" name="直接连接符 68613"/>
          <p:cNvSpPr/>
          <p:nvPr/>
        </p:nvSpPr>
        <p:spPr>
          <a:xfrm>
            <a:off x="4343400" y="3048000"/>
            <a:ext cx="0" cy="2438400"/>
          </a:xfrm>
          <a:prstGeom prst="line">
            <a:avLst/>
          </a:prstGeom>
          <a:ln w="28575" cap="flat" cmpd="sng">
            <a:solidFill>
              <a:srgbClr val="000000"/>
            </a:solidFill>
            <a:prstDash val="solid"/>
            <a:headEnd type="none" w="med" len="med"/>
            <a:tailEnd type="none" w="med" len="med"/>
          </a:ln>
        </p:spPr>
      </p:sp>
      <p:sp>
        <p:nvSpPr>
          <p:cNvPr id="68615" name="直接连接符 68614"/>
          <p:cNvSpPr/>
          <p:nvPr/>
        </p:nvSpPr>
        <p:spPr>
          <a:xfrm>
            <a:off x="2362200" y="3200400"/>
            <a:ext cx="3733800" cy="1447800"/>
          </a:xfrm>
          <a:prstGeom prst="line">
            <a:avLst/>
          </a:prstGeom>
          <a:ln w="38100" cap="flat" cmpd="sng">
            <a:solidFill>
              <a:srgbClr val="000000"/>
            </a:solidFill>
            <a:prstDash val="solid"/>
            <a:headEnd type="none" w="med" len="med"/>
            <a:tailEnd type="none" w="med" len="med"/>
          </a:ln>
        </p:spPr>
      </p:sp>
      <p:sp>
        <p:nvSpPr>
          <p:cNvPr id="68616" name="直接连接符 68615"/>
          <p:cNvSpPr/>
          <p:nvPr/>
        </p:nvSpPr>
        <p:spPr>
          <a:xfrm>
            <a:off x="1371600" y="3962400"/>
            <a:ext cx="3048000" cy="0"/>
          </a:xfrm>
          <a:prstGeom prst="line">
            <a:avLst/>
          </a:prstGeom>
          <a:ln w="28575" cap="flat" cmpd="sng">
            <a:solidFill>
              <a:srgbClr val="000000"/>
            </a:solidFill>
            <a:prstDash val="sysDot"/>
            <a:headEnd type="none" w="med" len="med"/>
            <a:tailEnd type="none" w="med" len="med"/>
          </a:ln>
        </p:spPr>
      </p:sp>
      <p:sp>
        <p:nvSpPr>
          <p:cNvPr id="68617" name="文本框 68616"/>
          <p:cNvSpPr txBox="1"/>
          <p:nvPr/>
        </p:nvSpPr>
        <p:spPr>
          <a:xfrm>
            <a:off x="304800" y="2514600"/>
            <a:ext cx="9906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imes New Roman" panose="02020603050405020304" pitchFamily="18" charset="0"/>
              </a:rPr>
              <a:t>利率</a:t>
            </a:r>
            <a:endParaRPr lang="zh-CN" altLang="en-US" sz="2400" b="0">
              <a:solidFill>
                <a:srgbClr val="000000"/>
              </a:solidFill>
              <a:latin typeface="Times New Roman" panose="02020603050405020304" pitchFamily="18" charset="0"/>
            </a:endParaRPr>
          </a:p>
        </p:txBody>
      </p:sp>
      <p:sp>
        <p:nvSpPr>
          <p:cNvPr id="68618" name="文本框 68617"/>
          <p:cNvSpPr txBox="1"/>
          <p:nvPr/>
        </p:nvSpPr>
        <p:spPr>
          <a:xfrm>
            <a:off x="762000" y="3733800"/>
            <a:ext cx="6096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imes New Roman" panose="02020603050405020304" pitchFamily="18" charset="0"/>
              </a:rPr>
              <a:t>i</a:t>
            </a:r>
            <a:r>
              <a:rPr lang="en-US" altLang="zh-CN" sz="2400" b="0" baseline="30000">
                <a:solidFill>
                  <a:srgbClr val="000000"/>
                </a:solidFill>
                <a:latin typeface="Times New Roman" panose="02020603050405020304" pitchFamily="18" charset="0"/>
                <a:cs typeface="Times New Roman" panose="02020603050405020304" pitchFamily="18" charset="0"/>
              </a:rPr>
              <a:t>*</a:t>
            </a:r>
            <a:endParaRPr lang="en-US" altLang="zh-CN" sz="2400" b="0">
              <a:solidFill>
                <a:srgbClr val="000000"/>
              </a:solidFill>
              <a:latin typeface="Times New Roman" panose="02020603050405020304" pitchFamily="18" charset="0"/>
            </a:endParaRPr>
          </a:p>
        </p:txBody>
      </p:sp>
      <p:sp>
        <p:nvSpPr>
          <p:cNvPr id="68619" name="文本框 68618"/>
          <p:cNvSpPr txBox="1"/>
          <p:nvPr/>
        </p:nvSpPr>
        <p:spPr>
          <a:xfrm>
            <a:off x="4114800" y="5715000"/>
            <a:ext cx="6858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imes New Roman" panose="02020603050405020304" pitchFamily="18" charset="0"/>
              </a:rPr>
              <a:t>M</a:t>
            </a:r>
            <a:r>
              <a:rPr lang="en-US" altLang="zh-CN" sz="2400" b="0" baseline="30000">
                <a:solidFill>
                  <a:srgbClr val="000000"/>
                </a:solidFill>
                <a:latin typeface="Times New Roman" panose="02020603050405020304" pitchFamily="18" charset="0"/>
                <a:cs typeface="Times New Roman" panose="02020603050405020304" pitchFamily="18" charset="0"/>
              </a:rPr>
              <a:t>*</a:t>
            </a:r>
            <a:endParaRPr lang="en-US" altLang="zh-CN" sz="2400" b="0">
              <a:solidFill>
                <a:srgbClr val="000000"/>
              </a:solidFill>
              <a:latin typeface="Times New Roman" panose="02020603050405020304" pitchFamily="18" charset="0"/>
            </a:endParaRPr>
          </a:p>
        </p:txBody>
      </p:sp>
      <p:sp>
        <p:nvSpPr>
          <p:cNvPr id="68620" name="文本框 68619"/>
          <p:cNvSpPr txBox="1"/>
          <p:nvPr/>
        </p:nvSpPr>
        <p:spPr>
          <a:xfrm>
            <a:off x="6781800" y="5791200"/>
            <a:ext cx="1752600" cy="457200"/>
          </a:xfrm>
          <a:prstGeom prst="rect">
            <a:avLst/>
          </a:prstGeom>
          <a:noFill/>
          <a:ln w="9525">
            <a:noFill/>
          </a:ln>
        </p:spPr>
        <p:txBody>
          <a:bodyPr>
            <a:spAutoFit/>
          </a:bodyPr>
          <a:p>
            <a:pPr>
              <a:lnSpc>
                <a:spcPct val="100000"/>
              </a:lnSpc>
              <a:spcBef>
                <a:spcPct val="50000"/>
              </a:spcBef>
            </a:pPr>
            <a:endParaRPr sz="2400" b="0" dirty="0">
              <a:latin typeface="Times New Roman" panose="02020603050405020304" pitchFamily="18" charset="0"/>
            </a:endParaRPr>
          </a:p>
        </p:txBody>
      </p:sp>
      <p:sp>
        <p:nvSpPr>
          <p:cNvPr id="68621" name="文本框 68620"/>
          <p:cNvSpPr txBox="1"/>
          <p:nvPr/>
        </p:nvSpPr>
        <p:spPr>
          <a:xfrm>
            <a:off x="6858000" y="5715000"/>
            <a:ext cx="19812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imes New Roman" panose="02020603050405020304" pitchFamily="18" charset="0"/>
              </a:rPr>
              <a:t>货币数量</a:t>
            </a:r>
            <a:endParaRPr lang="zh-CN" altLang="en-US" sz="2400" b="0">
              <a:solidFill>
                <a:srgbClr val="000000"/>
              </a:solidFill>
              <a:latin typeface="Times New Roman" panose="02020603050405020304" pitchFamily="18" charset="0"/>
            </a:endParaRPr>
          </a:p>
        </p:txBody>
      </p:sp>
      <p:sp>
        <p:nvSpPr>
          <p:cNvPr id="68622" name="文本框 68621"/>
          <p:cNvSpPr txBox="1"/>
          <p:nvPr/>
        </p:nvSpPr>
        <p:spPr>
          <a:xfrm>
            <a:off x="6096000" y="4191000"/>
            <a:ext cx="15240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imes New Roman" panose="02020603050405020304" pitchFamily="18" charset="0"/>
              </a:rPr>
              <a:t>货币需求</a:t>
            </a:r>
            <a:endParaRPr lang="zh-CN" altLang="en-US" sz="2400" b="0">
              <a:solidFill>
                <a:srgbClr val="000000"/>
              </a:solidFill>
              <a:latin typeface="Times New Roman" panose="02020603050405020304" pitchFamily="18" charset="0"/>
            </a:endParaRPr>
          </a:p>
        </p:txBody>
      </p:sp>
      <p:sp>
        <p:nvSpPr>
          <p:cNvPr id="68623" name="文本框 68622"/>
          <p:cNvSpPr txBox="1"/>
          <p:nvPr/>
        </p:nvSpPr>
        <p:spPr>
          <a:xfrm>
            <a:off x="4191000" y="2590800"/>
            <a:ext cx="19050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imes New Roman" panose="02020603050405020304" pitchFamily="18" charset="0"/>
              </a:rPr>
              <a:t>货币供给</a:t>
            </a:r>
            <a:endParaRPr lang="zh-CN" altLang="en-US" sz="2400" b="0">
              <a:solidFill>
                <a:srgbClr val="000000"/>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文本占位符 70658"/>
          <p:cNvSpPr>
            <a:spLocks noGrp="1"/>
          </p:cNvSpPr>
          <p:nvPr>
            <p:ph type="body" idx="1"/>
          </p:nvPr>
        </p:nvSpPr>
        <p:spPr>
          <a:xfrm>
            <a:off x="0" y="260350"/>
            <a:ext cx="8458200" cy="6216650"/>
          </a:xfrm>
          <a:ln/>
        </p:spPr>
        <p:txBody>
          <a:bodyPr/>
          <a:p>
            <a:pPr marL="381000" indent="-381000">
              <a:lnSpc>
                <a:spcPct val="80000"/>
              </a:lnSpc>
            </a:pPr>
            <a:r>
              <a:rPr lang="zh-CN" altLang="en-US" sz="2400" b="1" dirty="0">
                <a:solidFill>
                  <a:srgbClr val="FF0000"/>
                </a:solidFill>
                <a:latin typeface="宋体" panose="02010600030101010101" pitchFamily="2" charset="-122"/>
              </a:rPr>
              <a:t>利用</a:t>
            </a:r>
            <a:r>
              <a:rPr lang="en-US" altLang="zh-CN" sz="2400" b="1">
                <a:solidFill>
                  <a:srgbClr val="FF0000"/>
                </a:solidFill>
                <a:latin typeface="宋体" panose="02010600030101010101" pitchFamily="2" charset="-122"/>
              </a:rPr>
              <a:t>IS-LM</a:t>
            </a:r>
            <a:r>
              <a:rPr lang="zh-CN" altLang="en-US" sz="2400" b="1" dirty="0">
                <a:solidFill>
                  <a:srgbClr val="FF0000"/>
                </a:solidFill>
                <a:latin typeface="宋体" panose="02010600030101010101" pitchFamily="2" charset="-122"/>
              </a:rPr>
              <a:t>模型分析法</a:t>
            </a:r>
            <a:endParaRPr lang="zh-CN" altLang="en-US" sz="2400" b="1" dirty="0">
              <a:solidFill>
                <a:srgbClr val="FF0000"/>
              </a:solidFill>
              <a:latin typeface="宋体" panose="02010600030101010101" pitchFamily="2" charset="-122"/>
            </a:endParaRPr>
          </a:p>
          <a:p>
            <a:pPr marL="381000" indent="-381000">
              <a:lnSpc>
                <a:spcPct val="80000"/>
              </a:lnSpc>
              <a:buNone/>
            </a:pPr>
            <a:r>
              <a:rPr lang="en-US" altLang="zh-CN" sz="2000">
                <a:solidFill>
                  <a:srgbClr val="000000"/>
                </a:solidFill>
              </a:rPr>
              <a:t>I:</a:t>
            </a:r>
            <a:r>
              <a:rPr lang="zh-CN" altLang="en-US" sz="2000" dirty="0">
                <a:solidFill>
                  <a:srgbClr val="000000"/>
                </a:solidFill>
              </a:rPr>
              <a:t>投资</a:t>
            </a:r>
            <a:r>
              <a:rPr lang="en-US" altLang="zh-CN" sz="2000">
                <a:solidFill>
                  <a:srgbClr val="000000"/>
                </a:solidFill>
              </a:rPr>
              <a:t>;S:</a:t>
            </a:r>
            <a:r>
              <a:rPr lang="zh-CN" altLang="en-US" sz="2000" dirty="0">
                <a:solidFill>
                  <a:srgbClr val="000000"/>
                </a:solidFill>
              </a:rPr>
              <a:t>储蓄</a:t>
            </a:r>
            <a:r>
              <a:rPr lang="en-US" altLang="zh-CN" sz="2000">
                <a:solidFill>
                  <a:srgbClr val="000000"/>
                </a:solidFill>
              </a:rPr>
              <a:t>;L:</a:t>
            </a:r>
            <a:r>
              <a:rPr lang="zh-CN" altLang="en-US" sz="2000" dirty="0">
                <a:solidFill>
                  <a:srgbClr val="000000"/>
                </a:solidFill>
              </a:rPr>
              <a:t>货币需求</a:t>
            </a:r>
            <a:r>
              <a:rPr lang="en-US" altLang="zh-CN" sz="2000">
                <a:solidFill>
                  <a:srgbClr val="000000"/>
                </a:solidFill>
              </a:rPr>
              <a:t>;M:</a:t>
            </a:r>
            <a:r>
              <a:rPr lang="zh-CN" altLang="en-US" sz="2000" dirty="0">
                <a:solidFill>
                  <a:srgbClr val="000000"/>
                </a:solidFill>
              </a:rPr>
              <a:t>货币供给。</a:t>
            </a:r>
            <a:endParaRPr lang="zh-CN" altLang="en-US" sz="2000" dirty="0">
              <a:solidFill>
                <a:srgbClr val="000000"/>
              </a:solidFill>
            </a:endParaRPr>
          </a:p>
          <a:p>
            <a:pPr marL="381000" indent="-381000">
              <a:lnSpc>
                <a:spcPct val="80000"/>
              </a:lnSpc>
              <a:buNone/>
            </a:pPr>
            <a:r>
              <a:rPr lang="en-US" altLang="zh-CN" sz="2000">
                <a:solidFill>
                  <a:srgbClr val="000000"/>
                </a:solidFill>
              </a:rPr>
              <a:t>IS-LM</a:t>
            </a:r>
            <a:r>
              <a:rPr lang="zh-CN" altLang="en-US" sz="2000" dirty="0">
                <a:solidFill>
                  <a:srgbClr val="000000"/>
                </a:solidFill>
              </a:rPr>
              <a:t>分析是要将产品市场和货币市场的均衡同时进行分析，以说明在实现两种市场的同时均衡时利息率与国民收入的相互配合关系。</a:t>
            </a:r>
            <a:endParaRPr lang="zh-CN" altLang="en-US" sz="2000" b="1">
              <a:solidFill>
                <a:srgbClr val="000000"/>
              </a:solidFill>
              <a:latin typeface="宋体" panose="02010600030101010101" pitchFamily="2" charset="-122"/>
            </a:endParaRPr>
          </a:p>
          <a:p>
            <a:pPr marL="381000" indent="-381000">
              <a:lnSpc>
                <a:spcPct val="80000"/>
              </a:lnSpc>
            </a:pPr>
            <a:r>
              <a:rPr lang="en-US" altLang="zh-CN" sz="2000" b="1">
                <a:solidFill>
                  <a:srgbClr val="000000"/>
                </a:solidFill>
                <a:latin typeface="宋体" panose="02010600030101010101" pitchFamily="2" charset="-122"/>
              </a:rPr>
              <a:t>IS</a:t>
            </a:r>
            <a:r>
              <a:rPr lang="zh-CN" altLang="en-US" sz="2000" b="1" dirty="0">
                <a:solidFill>
                  <a:srgbClr val="000000"/>
                </a:solidFill>
                <a:latin typeface="宋体" panose="02010600030101010101" pitchFamily="2" charset="-122"/>
              </a:rPr>
              <a:t>曲线</a:t>
            </a:r>
            <a:r>
              <a:rPr lang="en-US" altLang="zh-CN" sz="2000" b="1">
                <a:solidFill>
                  <a:srgbClr val="000000"/>
                </a:solidFill>
                <a:latin typeface="宋体" panose="02010600030101010101" pitchFamily="2" charset="-122"/>
              </a:rPr>
              <a:t>:</a:t>
            </a:r>
            <a:endParaRPr lang="en-US" altLang="zh-CN" sz="2000" b="1">
              <a:solidFill>
                <a:srgbClr val="000000"/>
              </a:solidFill>
              <a:latin typeface="宋体" panose="02010600030101010101" pitchFamily="2" charset="-122"/>
            </a:endParaRPr>
          </a:p>
          <a:p>
            <a:pPr marL="381000" indent="-381000">
              <a:lnSpc>
                <a:spcPct val="80000"/>
              </a:lnSpc>
            </a:pPr>
            <a:r>
              <a:rPr lang="zh-CN" altLang="en-US" sz="2000" b="1" dirty="0">
                <a:solidFill>
                  <a:srgbClr val="000000"/>
                </a:solidFill>
                <a:latin typeface="宋体" panose="02010600030101010101" pitchFamily="2" charset="-122"/>
              </a:rPr>
              <a:t>一条反映利率和收入间相互关系的曲线。这条曲线上任何一点都代表一定的利率和收入的组合，在这样组合下，投资和储蓄都是相等的，即</a:t>
            </a:r>
            <a:r>
              <a:rPr lang="en-US" altLang="zh-CN" sz="2000" b="1">
                <a:solidFill>
                  <a:srgbClr val="000000"/>
                </a:solidFill>
                <a:latin typeface="宋体" panose="02010600030101010101" pitchFamily="2" charset="-122"/>
              </a:rPr>
              <a:t>i=s,</a:t>
            </a:r>
            <a:r>
              <a:rPr lang="zh-CN" altLang="en-US" sz="2000" b="1" dirty="0">
                <a:solidFill>
                  <a:srgbClr val="000000"/>
                </a:solidFill>
                <a:latin typeface="宋体" panose="02010600030101010101" pitchFamily="2" charset="-122"/>
              </a:rPr>
              <a:t>从而产品市场是均衡的，因此这条曲线称为</a:t>
            </a:r>
            <a:r>
              <a:rPr lang="en-US" altLang="zh-CN" sz="2000" b="1">
                <a:solidFill>
                  <a:srgbClr val="000000"/>
                </a:solidFill>
                <a:latin typeface="宋体" panose="02010600030101010101" pitchFamily="2" charset="-122"/>
              </a:rPr>
              <a:t>IS</a:t>
            </a:r>
            <a:r>
              <a:rPr lang="zh-CN" altLang="en-US" sz="2000" b="1" dirty="0">
                <a:solidFill>
                  <a:srgbClr val="000000"/>
                </a:solidFill>
                <a:latin typeface="宋体" panose="02010600030101010101" pitchFamily="2" charset="-122"/>
              </a:rPr>
              <a:t>曲线。</a:t>
            </a: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a:p>
            <a:pPr marL="381000" indent="-381000">
              <a:lnSpc>
                <a:spcPct val="80000"/>
              </a:lnSpc>
            </a:pPr>
            <a:r>
              <a:rPr lang="zh-CN" altLang="en-US" sz="2000" b="1" dirty="0">
                <a:solidFill>
                  <a:srgbClr val="000000"/>
                </a:solidFill>
                <a:latin typeface="宋体" panose="02010600030101010101" pitchFamily="2" charset="-122"/>
              </a:rPr>
              <a:t>投资</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是利息率的减函数。</a:t>
            </a:r>
            <a:endParaRPr lang="zh-CN" altLang="en-US" sz="2000" b="1" dirty="0">
              <a:solidFill>
                <a:srgbClr val="000000"/>
              </a:solidFill>
              <a:latin typeface="宋体" panose="02010600030101010101" pitchFamily="2" charset="-122"/>
            </a:endParaRPr>
          </a:p>
          <a:p>
            <a:pPr marL="381000" indent="-381000">
              <a:lnSpc>
                <a:spcPct val="80000"/>
              </a:lnSpc>
            </a:pPr>
            <a:r>
              <a:rPr lang="zh-CN" altLang="en-US" sz="2000" b="1" dirty="0">
                <a:solidFill>
                  <a:srgbClr val="000000"/>
                </a:solidFill>
                <a:latin typeface="宋体" panose="02010600030101010101" pitchFamily="2" charset="-122"/>
              </a:rPr>
              <a:t>储蓄</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是国民收入的增函数。</a:t>
            </a:r>
            <a:endParaRPr lang="zh-CN" altLang="en-US" sz="2000" b="1" dirty="0">
              <a:solidFill>
                <a:srgbClr val="000000"/>
              </a:solidFill>
              <a:latin typeface="宋体" panose="02010600030101010101" pitchFamily="2" charset="-122"/>
            </a:endParaRPr>
          </a:p>
          <a:p>
            <a:pPr marL="381000" indent="-381000">
              <a:lnSpc>
                <a:spcPct val="80000"/>
              </a:lnSpc>
            </a:pPr>
            <a:endParaRPr lang="zh-CN" altLang="en-US" sz="2000" b="1" dirty="0">
              <a:solidFill>
                <a:srgbClr val="000000"/>
              </a:solidFill>
              <a:latin typeface="宋体" panose="02010600030101010101" pitchFamily="2" charset="-122"/>
            </a:endParaRPr>
          </a:p>
        </p:txBody>
      </p:sp>
      <p:sp>
        <p:nvSpPr>
          <p:cNvPr id="70660" name="直接连接符 70659"/>
          <p:cNvSpPr/>
          <p:nvPr/>
        </p:nvSpPr>
        <p:spPr>
          <a:xfrm>
            <a:off x="2438400" y="4800600"/>
            <a:ext cx="4267200" cy="0"/>
          </a:xfrm>
          <a:prstGeom prst="line">
            <a:avLst/>
          </a:prstGeom>
          <a:ln w="38100" cap="flat" cmpd="sng">
            <a:solidFill>
              <a:srgbClr val="000000"/>
            </a:solidFill>
            <a:prstDash val="solid"/>
            <a:headEnd type="none" w="med" len="med"/>
            <a:tailEnd type="triangle" w="med" len="med"/>
          </a:ln>
        </p:spPr>
      </p:sp>
      <p:sp>
        <p:nvSpPr>
          <p:cNvPr id="70661" name="直接连接符 70660"/>
          <p:cNvSpPr/>
          <p:nvPr/>
        </p:nvSpPr>
        <p:spPr>
          <a:xfrm flipV="1">
            <a:off x="2438400" y="2667000"/>
            <a:ext cx="0" cy="2209800"/>
          </a:xfrm>
          <a:prstGeom prst="line">
            <a:avLst/>
          </a:prstGeom>
          <a:ln w="38100" cap="flat" cmpd="sng">
            <a:solidFill>
              <a:srgbClr val="000000"/>
            </a:solidFill>
            <a:prstDash val="solid"/>
            <a:headEnd type="none" w="med" len="med"/>
            <a:tailEnd type="triangle" w="med" len="med"/>
          </a:ln>
        </p:spPr>
      </p:sp>
      <p:sp>
        <p:nvSpPr>
          <p:cNvPr id="70662" name="文本框 70661"/>
          <p:cNvSpPr txBox="1"/>
          <p:nvPr/>
        </p:nvSpPr>
        <p:spPr>
          <a:xfrm>
            <a:off x="1763713" y="2492375"/>
            <a:ext cx="522287"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imes New Roman" panose="02020603050405020304" pitchFamily="18" charset="0"/>
              </a:rPr>
              <a:t>r</a:t>
            </a:r>
            <a:endParaRPr lang="en-US" altLang="zh-CN" sz="2400" b="0">
              <a:solidFill>
                <a:srgbClr val="000000"/>
              </a:solidFill>
              <a:latin typeface="Times New Roman" panose="02020603050405020304" pitchFamily="18" charset="0"/>
            </a:endParaRPr>
          </a:p>
        </p:txBody>
      </p:sp>
      <p:sp>
        <p:nvSpPr>
          <p:cNvPr id="70663" name="文本框 70662"/>
          <p:cNvSpPr txBox="1"/>
          <p:nvPr/>
        </p:nvSpPr>
        <p:spPr>
          <a:xfrm>
            <a:off x="6324600" y="5029200"/>
            <a:ext cx="6096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imes New Roman" panose="02020603050405020304" pitchFamily="18" charset="0"/>
              </a:rPr>
              <a:t>Y</a:t>
            </a:r>
            <a:endParaRPr lang="en-US" altLang="zh-CN" sz="2400" b="0">
              <a:solidFill>
                <a:srgbClr val="000000"/>
              </a:solidFill>
              <a:latin typeface="Times New Roman" panose="02020603050405020304" pitchFamily="18" charset="0"/>
            </a:endParaRPr>
          </a:p>
        </p:txBody>
      </p:sp>
      <p:sp>
        <p:nvSpPr>
          <p:cNvPr id="70664" name="直接连接符 70663"/>
          <p:cNvSpPr/>
          <p:nvPr/>
        </p:nvSpPr>
        <p:spPr>
          <a:xfrm>
            <a:off x="3352800" y="2895600"/>
            <a:ext cx="2209800" cy="1447800"/>
          </a:xfrm>
          <a:prstGeom prst="line">
            <a:avLst/>
          </a:prstGeom>
          <a:ln w="38100" cap="flat" cmpd="sng">
            <a:solidFill>
              <a:srgbClr val="000000"/>
            </a:solidFill>
            <a:prstDash val="solid"/>
            <a:headEnd type="none" w="med" len="med"/>
            <a:tailEnd type="none" w="med" len="med"/>
          </a:ln>
        </p:spPr>
      </p:sp>
      <p:sp>
        <p:nvSpPr>
          <p:cNvPr id="70665" name="文本框 70664"/>
          <p:cNvSpPr txBox="1"/>
          <p:nvPr/>
        </p:nvSpPr>
        <p:spPr>
          <a:xfrm>
            <a:off x="5715000" y="4191000"/>
            <a:ext cx="5334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imes New Roman" panose="02020603050405020304" pitchFamily="18" charset="0"/>
              </a:rPr>
              <a:t>IS</a:t>
            </a:r>
            <a:endParaRPr lang="en-US" altLang="zh-CN" sz="2400" b="0">
              <a:solidFill>
                <a:srgbClr val="000000"/>
              </a:solidFill>
              <a:latin typeface="Times New Roman" panose="02020603050405020304" pitchFamily="18" charset="0"/>
            </a:endParaRPr>
          </a:p>
        </p:txBody>
      </p:sp>
      <p:sp>
        <p:nvSpPr>
          <p:cNvPr id="70666" name="直接连接符 70665"/>
          <p:cNvSpPr/>
          <p:nvPr/>
        </p:nvSpPr>
        <p:spPr>
          <a:xfrm>
            <a:off x="2438400" y="3276600"/>
            <a:ext cx="1447800" cy="0"/>
          </a:xfrm>
          <a:prstGeom prst="line">
            <a:avLst/>
          </a:prstGeom>
          <a:ln w="9525" cap="flat" cmpd="sng">
            <a:solidFill>
              <a:srgbClr val="000000"/>
            </a:solidFill>
            <a:prstDash val="sysDot"/>
            <a:miter/>
            <a:headEnd type="none" w="med" len="med"/>
            <a:tailEnd type="none" w="med" len="med"/>
          </a:ln>
        </p:spPr>
      </p:sp>
      <p:sp>
        <p:nvSpPr>
          <p:cNvPr id="70667" name="直接连接符 70666"/>
          <p:cNvSpPr/>
          <p:nvPr/>
        </p:nvSpPr>
        <p:spPr>
          <a:xfrm>
            <a:off x="2438400" y="4114800"/>
            <a:ext cx="2819400" cy="0"/>
          </a:xfrm>
          <a:prstGeom prst="line">
            <a:avLst/>
          </a:prstGeom>
          <a:ln w="9525" cap="flat" cmpd="sng">
            <a:solidFill>
              <a:srgbClr val="000000"/>
            </a:solidFill>
            <a:prstDash val="sysDot"/>
            <a:miter/>
            <a:headEnd type="none" w="med" len="med"/>
            <a:tailEnd type="none" w="med" len="med"/>
          </a:ln>
        </p:spPr>
      </p:sp>
      <p:sp>
        <p:nvSpPr>
          <p:cNvPr id="70668" name="直接连接符 70667"/>
          <p:cNvSpPr/>
          <p:nvPr/>
        </p:nvSpPr>
        <p:spPr>
          <a:xfrm>
            <a:off x="3886200" y="3276600"/>
            <a:ext cx="0" cy="1524000"/>
          </a:xfrm>
          <a:prstGeom prst="line">
            <a:avLst/>
          </a:prstGeom>
          <a:ln w="9525" cap="flat" cmpd="sng">
            <a:solidFill>
              <a:schemeClr val="tx1"/>
            </a:solidFill>
            <a:prstDash val="sysDot"/>
            <a:miter/>
            <a:headEnd type="none" w="med" len="med"/>
            <a:tailEnd type="none" w="med" len="med"/>
          </a:ln>
        </p:spPr>
      </p:sp>
      <p:sp>
        <p:nvSpPr>
          <p:cNvPr id="70669" name="直接连接符 70668"/>
          <p:cNvSpPr/>
          <p:nvPr/>
        </p:nvSpPr>
        <p:spPr>
          <a:xfrm>
            <a:off x="5105400" y="4114800"/>
            <a:ext cx="0" cy="685800"/>
          </a:xfrm>
          <a:prstGeom prst="line">
            <a:avLst/>
          </a:prstGeom>
          <a:ln w="9525" cap="flat" cmpd="sng">
            <a:solidFill>
              <a:srgbClr val="000000"/>
            </a:solidFill>
            <a:prstDash val="sysDot"/>
            <a:miter/>
            <a:headEnd type="none" w="med" len="med"/>
            <a:tailEnd type="none" w="med" len="med"/>
          </a:ln>
        </p:spPr>
      </p:sp>
      <p:sp>
        <p:nvSpPr>
          <p:cNvPr id="70670" name="文本框 70669"/>
          <p:cNvSpPr txBox="1"/>
          <p:nvPr/>
        </p:nvSpPr>
        <p:spPr>
          <a:xfrm>
            <a:off x="1752600" y="3124200"/>
            <a:ext cx="6096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r1</a:t>
            </a:r>
            <a:endParaRPr lang="en-US" altLang="zh-CN" sz="2400" b="0">
              <a:solidFill>
                <a:srgbClr val="000000"/>
              </a:solidFill>
              <a:latin typeface="Tahoma" panose="020B0604030504040204" pitchFamily="34" charset="0"/>
            </a:endParaRPr>
          </a:p>
        </p:txBody>
      </p:sp>
      <p:sp>
        <p:nvSpPr>
          <p:cNvPr id="70671" name="文本框 70670"/>
          <p:cNvSpPr txBox="1"/>
          <p:nvPr/>
        </p:nvSpPr>
        <p:spPr>
          <a:xfrm>
            <a:off x="1763713" y="3933825"/>
            <a:ext cx="6858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r2</a:t>
            </a:r>
            <a:endParaRPr lang="en-US" altLang="zh-CN" sz="2400" b="0">
              <a:solidFill>
                <a:srgbClr val="000000"/>
              </a:solidFill>
              <a:latin typeface="Tahoma" panose="020B0604030504040204" pitchFamily="34" charset="0"/>
            </a:endParaRPr>
          </a:p>
        </p:txBody>
      </p:sp>
      <p:sp>
        <p:nvSpPr>
          <p:cNvPr id="70672" name="文本框 70671"/>
          <p:cNvSpPr txBox="1"/>
          <p:nvPr/>
        </p:nvSpPr>
        <p:spPr>
          <a:xfrm>
            <a:off x="3657600" y="5029200"/>
            <a:ext cx="6096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Y1</a:t>
            </a:r>
            <a:endParaRPr lang="en-US" altLang="zh-CN" sz="2400" b="0">
              <a:solidFill>
                <a:srgbClr val="000000"/>
              </a:solidFill>
              <a:latin typeface="Tahoma" panose="020B0604030504040204" pitchFamily="34" charset="0"/>
            </a:endParaRPr>
          </a:p>
        </p:txBody>
      </p:sp>
      <p:sp>
        <p:nvSpPr>
          <p:cNvPr id="70673" name="文本框 70672"/>
          <p:cNvSpPr txBox="1"/>
          <p:nvPr/>
        </p:nvSpPr>
        <p:spPr>
          <a:xfrm>
            <a:off x="4876800" y="5029200"/>
            <a:ext cx="6858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Y2</a:t>
            </a:r>
            <a:endParaRPr lang="en-US" altLang="zh-CN" sz="2400" b="0">
              <a:solidFill>
                <a:srgbClr val="000000"/>
              </a:solidFill>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71681"/>
          <p:cNvSpPr>
            <a:spLocks noGrp="1"/>
          </p:cNvSpPr>
          <p:nvPr>
            <p:ph type="title"/>
          </p:nvPr>
        </p:nvSpPr>
        <p:spPr>
          <a:xfrm>
            <a:off x="381000" y="115888"/>
            <a:ext cx="8486775" cy="501650"/>
          </a:xfrm>
          <a:ln/>
        </p:spPr>
        <p:txBody>
          <a:bodyPr anchor="ctr" anchorCtr="0"/>
          <a:p>
            <a:r>
              <a:rPr lang="en-US" altLang="zh-CN" sz="3200">
                <a:solidFill>
                  <a:schemeClr val="tx1"/>
                </a:solidFill>
              </a:rPr>
              <a:t>L-M</a:t>
            </a:r>
            <a:r>
              <a:rPr lang="zh-CN" altLang="en-US" sz="3200" dirty="0">
                <a:solidFill>
                  <a:schemeClr val="tx1"/>
                </a:solidFill>
              </a:rPr>
              <a:t>曲线</a:t>
            </a:r>
            <a:endParaRPr lang="zh-CN" altLang="en-US" sz="3200" dirty="0">
              <a:solidFill>
                <a:schemeClr val="tx1"/>
              </a:solidFill>
            </a:endParaRPr>
          </a:p>
        </p:txBody>
      </p:sp>
      <p:sp>
        <p:nvSpPr>
          <p:cNvPr id="71683" name="文本占位符 71682"/>
          <p:cNvSpPr>
            <a:spLocks noGrp="1"/>
          </p:cNvSpPr>
          <p:nvPr>
            <p:ph type="body" idx="1"/>
          </p:nvPr>
        </p:nvSpPr>
        <p:spPr>
          <a:xfrm>
            <a:off x="0" y="609600"/>
            <a:ext cx="8955088" cy="6096000"/>
          </a:xfrm>
          <a:ln/>
        </p:spPr>
        <p:txBody>
          <a:bodyPr/>
          <a:p>
            <a:pPr marL="0" indent="0">
              <a:lnSpc>
                <a:spcPct val="90000"/>
              </a:lnSpc>
              <a:buNone/>
            </a:pPr>
            <a:r>
              <a:rPr lang="en-US" altLang="zh-CN" sz="1800">
                <a:solidFill>
                  <a:srgbClr val="000000"/>
                </a:solidFill>
                <a:latin typeface="宋体" panose="02010600030101010101" pitchFamily="2" charset="-122"/>
              </a:rPr>
              <a:t>L-M</a:t>
            </a:r>
            <a:r>
              <a:rPr lang="zh-CN" altLang="en-US" sz="1800" dirty="0">
                <a:solidFill>
                  <a:srgbClr val="000000"/>
                </a:solidFill>
                <a:latin typeface="宋体" panose="02010600030101010101" pitchFamily="2" charset="-122"/>
              </a:rPr>
              <a:t>曲线</a:t>
            </a:r>
            <a:r>
              <a:rPr lang="en-US" altLang="zh-CN" sz="1800">
                <a:solidFill>
                  <a:srgbClr val="000000"/>
                </a:solidFill>
                <a:latin typeface="宋体" panose="02010600030101010101" pitchFamily="2" charset="-122"/>
              </a:rPr>
              <a:t>:</a:t>
            </a:r>
            <a:r>
              <a:rPr lang="zh-CN" altLang="en-US" sz="1800" dirty="0">
                <a:solidFill>
                  <a:srgbClr val="000000"/>
                </a:solidFill>
                <a:latin typeface="宋体" panose="02010600030101010101" pitchFamily="2" charset="-122"/>
              </a:rPr>
              <a:t>分析货币市场的均衡，这时均衡条件是</a:t>
            </a:r>
            <a:r>
              <a:rPr lang="en-US" altLang="zh-CN" sz="1800">
                <a:solidFill>
                  <a:srgbClr val="000000"/>
                </a:solidFill>
                <a:latin typeface="宋体" panose="02010600030101010101" pitchFamily="2" charset="-122"/>
              </a:rPr>
              <a:t>:L=M</a:t>
            </a:r>
            <a:r>
              <a:rPr lang="zh-CN" altLang="en-US" sz="1800" dirty="0">
                <a:solidFill>
                  <a:srgbClr val="000000"/>
                </a:solidFill>
                <a:latin typeface="宋体" panose="02010600030101010101" pitchFamily="2" charset="-122"/>
              </a:rPr>
              <a:t>。</a:t>
            </a: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dirty="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a:p>
            <a:pPr marL="0" indent="0">
              <a:lnSpc>
                <a:spcPct val="90000"/>
              </a:lnSpc>
              <a:buNone/>
            </a:pPr>
            <a:endParaRPr lang="zh-CN" altLang="en-US" sz="1800">
              <a:solidFill>
                <a:srgbClr val="000000"/>
              </a:solidFill>
              <a:latin typeface="宋体" panose="02010600030101010101" pitchFamily="2" charset="-122"/>
            </a:endParaRPr>
          </a:p>
        </p:txBody>
      </p:sp>
      <p:sp>
        <p:nvSpPr>
          <p:cNvPr id="71684" name="直接连接符 71683"/>
          <p:cNvSpPr/>
          <p:nvPr/>
        </p:nvSpPr>
        <p:spPr>
          <a:xfrm>
            <a:off x="1600200" y="5562600"/>
            <a:ext cx="5791200" cy="0"/>
          </a:xfrm>
          <a:prstGeom prst="line">
            <a:avLst/>
          </a:prstGeom>
          <a:ln w="38100" cap="flat" cmpd="sng">
            <a:solidFill>
              <a:srgbClr val="000000"/>
            </a:solidFill>
            <a:prstDash val="solid"/>
            <a:miter/>
            <a:headEnd type="none" w="med" len="med"/>
            <a:tailEnd type="triangle" w="med" len="med"/>
          </a:ln>
        </p:spPr>
      </p:sp>
      <p:sp>
        <p:nvSpPr>
          <p:cNvPr id="71685" name="直接连接符 71684"/>
          <p:cNvSpPr/>
          <p:nvPr/>
        </p:nvSpPr>
        <p:spPr>
          <a:xfrm flipV="1">
            <a:off x="1600200" y="1905000"/>
            <a:ext cx="0" cy="3657600"/>
          </a:xfrm>
          <a:prstGeom prst="line">
            <a:avLst/>
          </a:prstGeom>
          <a:ln w="38100" cap="flat" cmpd="sng">
            <a:solidFill>
              <a:srgbClr val="000000"/>
            </a:solidFill>
            <a:prstDash val="solid"/>
            <a:miter/>
            <a:headEnd type="none" w="med" len="med"/>
            <a:tailEnd type="triangle" w="med" len="med"/>
          </a:ln>
        </p:spPr>
      </p:sp>
      <p:sp>
        <p:nvSpPr>
          <p:cNvPr id="71692" name="直接连接符 71691"/>
          <p:cNvSpPr/>
          <p:nvPr/>
        </p:nvSpPr>
        <p:spPr>
          <a:xfrm flipH="1">
            <a:off x="2286000" y="2286000"/>
            <a:ext cx="3810000" cy="2819400"/>
          </a:xfrm>
          <a:prstGeom prst="line">
            <a:avLst/>
          </a:prstGeom>
          <a:ln w="9525" cap="flat" cmpd="sng">
            <a:solidFill>
              <a:srgbClr val="000000"/>
            </a:solidFill>
            <a:prstDash val="solid"/>
            <a:miter/>
            <a:headEnd type="none" w="med" len="med"/>
            <a:tailEnd type="none" w="med" len="med"/>
          </a:ln>
        </p:spPr>
      </p:sp>
      <p:sp>
        <p:nvSpPr>
          <p:cNvPr id="71695" name="文本框 71694"/>
          <p:cNvSpPr txBox="1"/>
          <p:nvPr/>
        </p:nvSpPr>
        <p:spPr>
          <a:xfrm>
            <a:off x="6172200" y="1828800"/>
            <a:ext cx="6096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LM</a:t>
            </a:r>
            <a:endParaRPr lang="en-US" altLang="zh-CN" sz="2400" b="0">
              <a:solidFill>
                <a:srgbClr val="000000"/>
              </a:solidFill>
              <a:latin typeface="Tahoma" panose="020B0604030504040204" pitchFamily="34" charset="0"/>
            </a:endParaRPr>
          </a:p>
        </p:txBody>
      </p:sp>
      <p:sp>
        <p:nvSpPr>
          <p:cNvPr id="71696" name="文本框 71695"/>
          <p:cNvSpPr txBox="1"/>
          <p:nvPr/>
        </p:nvSpPr>
        <p:spPr>
          <a:xfrm>
            <a:off x="990600" y="1676400"/>
            <a:ext cx="4572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r</a:t>
            </a:r>
            <a:endParaRPr lang="en-US" altLang="zh-CN" sz="2400" b="0">
              <a:solidFill>
                <a:srgbClr val="000000"/>
              </a:solidFill>
              <a:latin typeface="Tahoma" panose="020B0604030504040204" pitchFamily="34" charset="0"/>
            </a:endParaRPr>
          </a:p>
        </p:txBody>
      </p:sp>
      <p:sp>
        <p:nvSpPr>
          <p:cNvPr id="71697" name="文本框 71696"/>
          <p:cNvSpPr txBox="1"/>
          <p:nvPr/>
        </p:nvSpPr>
        <p:spPr>
          <a:xfrm>
            <a:off x="990600" y="5638800"/>
            <a:ext cx="4572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0</a:t>
            </a:r>
            <a:endParaRPr lang="en-US" altLang="zh-CN" sz="2400" b="0">
              <a:solidFill>
                <a:srgbClr val="000000"/>
              </a:solidFill>
              <a:latin typeface="Tahoma" panose="020B0604030504040204" pitchFamily="34" charset="0"/>
            </a:endParaRPr>
          </a:p>
        </p:txBody>
      </p:sp>
      <p:sp>
        <p:nvSpPr>
          <p:cNvPr id="71698" name="文本框 71697"/>
          <p:cNvSpPr txBox="1"/>
          <p:nvPr/>
        </p:nvSpPr>
        <p:spPr>
          <a:xfrm>
            <a:off x="7543800" y="5486400"/>
            <a:ext cx="5334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Y</a:t>
            </a:r>
            <a:endParaRPr lang="en-US" altLang="zh-CN" sz="2400" b="0">
              <a:solidFill>
                <a:srgbClr val="000000"/>
              </a:solidFill>
              <a:latin typeface="Tahom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73729"/>
          <p:cNvSpPr>
            <a:spLocks noGrp="1"/>
          </p:cNvSpPr>
          <p:nvPr>
            <p:ph type="title"/>
          </p:nvPr>
        </p:nvSpPr>
        <p:spPr>
          <a:ln/>
        </p:spPr>
        <p:txBody>
          <a:bodyPr anchor="ctr" anchorCtr="0"/>
          <a:p>
            <a:r>
              <a:rPr lang="zh-CN" altLang="en-US" sz="2800" b="1" dirty="0">
                <a:solidFill>
                  <a:srgbClr val="000000"/>
                </a:solidFill>
              </a:rPr>
              <a:t>产品市场和货币市场的一般均衡</a:t>
            </a:r>
            <a:br>
              <a:rPr lang="zh-CN" altLang="en-US" sz="2800" b="1" dirty="0">
                <a:solidFill>
                  <a:srgbClr val="000000"/>
                </a:solidFill>
              </a:rPr>
            </a:br>
            <a:r>
              <a:rPr lang="en-US" altLang="zh-CN" sz="2800" b="1">
                <a:solidFill>
                  <a:srgbClr val="000000"/>
                </a:solidFill>
              </a:rPr>
              <a:t>I:  I&lt;S, L&lt;M         II:  I&gt;S, L&lt;M</a:t>
            </a:r>
            <a:br>
              <a:rPr lang="en-US" altLang="zh-CN" sz="2800" b="1">
                <a:solidFill>
                  <a:srgbClr val="000000"/>
                </a:solidFill>
              </a:rPr>
            </a:br>
            <a:r>
              <a:rPr lang="en-US" altLang="zh-CN" sz="2800" b="1">
                <a:solidFill>
                  <a:srgbClr val="000000"/>
                </a:solidFill>
              </a:rPr>
              <a:t>III:  I&gt;S,L&gt;M     IV :  I&lt;S,  L&gt;M</a:t>
            </a:r>
            <a:br>
              <a:rPr lang="en-US" altLang="zh-CN" sz="2800" b="1">
                <a:solidFill>
                  <a:srgbClr val="000000"/>
                </a:solidFill>
              </a:rPr>
            </a:br>
            <a:endParaRPr lang="en-US" altLang="zh-CN" sz="2800" b="1">
              <a:solidFill>
                <a:srgbClr val="000000"/>
              </a:solidFill>
            </a:endParaRPr>
          </a:p>
        </p:txBody>
      </p:sp>
      <p:sp>
        <p:nvSpPr>
          <p:cNvPr id="73731" name="文本占位符 73730"/>
          <p:cNvSpPr>
            <a:spLocks noGrp="1"/>
          </p:cNvSpPr>
          <p:nvPr>
            <p:ph type="body" idx="1"/>
          </p:nvPr>
        </p:nvSpPr>
        <p:spPr>
          <a:ln/>
        </p:spPr>
        <p:txBody>
          <a:bodyPr/>
          <a:p>
            <a:endParaRPr dirty="0"/>
          </a:p>
        </p:txBody>
      </p:sp>
      <p:sp>
        <p:nvSpPr>
          <p:cNvPr id="73732" name="直接连接符 73731"/>
          <p:cNvSpPr/>
          <p:nvPr/>
        </p:nvSpPr>
        <p:spPr>
          <a:xfrm flipV="1">
            <a:off x="1676400" y="2209800"/>
            <a:ext cx="0" cy="2971800"/>
          </a:xfrm>
          <a:prstGeom prst="line">
            <a:avLst/>
          </a:prstGeom>
          <a:ln w="38100" cap="flat" cmpd="sng">
            <a:solidFill>
              <a:srgbClr val="000000"/>
            </a:solidFill>
            <a:prstDash val="solid"/>
            <a:headEnd type="none" w="med" len="med"/>
            <a:tailEnd type="triangle" w="med" len="med"/>
          </a:ln>
        </p:spPr>
      </p:sp>
      <p:sp>
        <p:nvSpPr>
          <p:cNvPr id="73733" name="直接连接符 73732"/>
          <p:cNvSpPr/>
          <p:nvPr/>
        </p:nvSpPr>
        <p:spPr>
          <a:xfrm>
            <a:off x="1676400" y="5181600"/>
            <a:ext cx="5410200" cy="0"/>
          </a:xfrm>
          <a:prstGeom prst="line">
            <a:avLst/>
          </a:prstGeom>
          <a:ln w="38100" cap="flat" cmpd="sng">
            <a:solidFill>
              <a:srgbClr val="000000"/>
            </a:solidFill>
            <a:prstDash val="solid"/>
            <a:headEnd type="none" w="med" len="med"/>
            <a:tailEnd type="triangle" w="med" len="med"/>
          </a:ln>
        </p:spPr>
      </p:sp>
      <p:sp>
        <p:nvSpPr>
          <p:cNvPr id="73734" name="直接连接符 73733"/>
          <p:cNvSpPr/>
          <p:nvPr/>
        </p:nvSpPr>
        <p:spPr>
          <a:xfrm>
            <a:off x="3048000" y="2895600"/>
            <a:ext cx="2743200" cy="1219200"/>
          </a:xfrm>
          <a:prstGeom prst="line">
            <a:avLst/>
          </a:prstGeom>
          <a:ln w="38100" cap="flat" cmpd="sng">
            <a:solidFill>
              <a:srgbClr val="000000"/>
            </a:solidFill>
            <a:prstDash val="solid"/>
            <a:headEnd type="none" w="med" len="med"/>
            <a:tailEnd type="none" w="med" len="med"/>
          </a:ln>
        </p:spPr>
      </p:sp>
      <p:sp>
        <p:nvSpPr>
          <p:cNvPr id="73735" name="直接连接符 73734"/>
          <p:cNvSpPr/>
          <p:nvPr/>
        </p:nvSpPr>
        <p:spPr>
          <a:xfrm flipV="1">
            <a:off x="2819400" y="2514600"/>
            <a:ext cx="2819400" cy="1752600"/>
          </a:xfrm>
          <a:prstGeom prst="line">
            <a:avLst/>
          </a:prstGeom>
          <a:ln w="38100" cap="flat" cmpd="sng">
            <a:solidFill>
              <a:srgbClr val="000000"/>
            </a:solidFill>
            <a:prstDash val="solid"/>
            <a:headEnd type="none" w="med" len="med"/>
            <a:tailEnd type="none" w="med" len="med"/>
          </a:ln>
        </p:spPr>
      </p:sp>
      <p:sp>
        <p:nvSpPr>
          <p:cNvPr id="73736" name="直接连接符 73735"/>
          <p:cNvSpPr/>
          <p:nvPr/>
        </p:nvSpPr>
        <p:spPr>
          <a:xfrm>
            <a:off x="1676400" y="3429000"/>
            <a:ext cx="2514600" cy="0"/>
          </a:xfrm>
          <a:prstGeom prst="line">
            <a:avLst/>
          </a:prstGeom>
          <a:ln w="38100" cap="flat" cmpd="sng">
            <a:solidFill>
              <a:schemeClr val="tx1"/>
            </a:solidFill>
            <a:prstDash val="sysDot"/>
            <a:headEnd type="none" w="med" len="med"/>
            <a:tailEnd type="none" w="med" len="med"/>
          </a:ln>
        </p:spPr>
      </p:sp>
      <p:sp>
        <p:nvSpPr>
          <p:cNvPr id="73737" name="直接连接符 73736"/>
          <p:cNvSpPr/>
          <p:nvPr/>
        </p:nvSpPr>
        <p:spPr>
          <a:xfrm>
            <a:off x="4191000" y="3429000"/>
            <a:ext cx="0" cy="1752600"/>
          </a:xfrm>
          <a:prstGeom prst="line">
            <a:avLst/>
          </a:prstGeom>
          <a:ln w="28575" cap="flat" cmpd="sng">
            <a:solidFill>
              <a:schemeClr val="tx1"/>
            </a:solidFill>
            <a:prstDash val="sysDot"/>
            <a:headEnd type="none" w="med" len="med"/>
            <a:tailEnd type="none" w="med" len="med"/>
          </a:ln>
        </p:spPr>
      </p:sp>
      <p:sp>
        <p:nvSpPr>
          <p:cNvPr id="73738" name="文本框 73737"/>
          <p:cNvSpPr txBox="1"/>
          <p:nvPr/>
        </p:nvSpPr>
        <p:spPr>
          <a:xfrm>
            <a:off x="5791200" y="2209800"/>
            <a:ext cx="914400" cy="457200"/>
          </a:xfrm>
          <a:prstGeom prst="rect">
            <a:avLst/>
          </a:prstGeom>
          <a:noFill/>
          <a:ln w="9525">
            <a:noFill/>
          </a:ln>
        </p:spPr>
        <p:txBody>
          <a:bodyPr>
            <a:spAutoFit/>
          </a:bodyPr>
          <a:p>
            <a:pPr>
              <a:lnSpc>
                <a:spcPct val="100000"/>
              </a:lnSpc>
              <a:spcBef>
                <a:spcPct val="50000"/>
              </a:spcBef>
            </a:pPr>
            <a:r>
              <a:rPr lang="en-US" altLang="zh-CN" sz="2400" b="0">
                <a:latin typeface="Times New Roman" panose="02020603050405020304" pitchFamily="18" charset="0"/>
              </a:rPr>
              <a:t>LM</a:t>
            </a:r>
            <a:endParaRPr lang="en-US" altLang="zh-CN" sz="2400" b="0">
              <a:latin typeface="Times New Roman" panose="02020603050405020304" pitchFamily="18" charset="0"/>
            </a:endParaRPr>
          </a:p>
        </p:txBody>
      </p:sp>
      <p:sp>
        <p:nvSpPr>
          <p:cNvPr id="73739" name="文本框 73738"/>
          <p:cNvSpPr txBox="1"/>
          <p:nvPr/>
        </p:nvSpPr>
        <p:spPr>
          <a:xfrm>
            <a:off x="5867400" y="3962400"/>
            <a:ext cx="685800" cy="457200"/>
          </a:xfrm>
          <a:prstGeom prst="rect">
            <a:avLst/>
          </a:prstGeom>
          <a:noFill/>
          <a:ln w="9525">
            <a:noFill/>
          </a:ln>
        </p:spPr>
        <p:txBody>
          <a:bodyPr>
            <a:spAutoFit/>
          </a:bodyPr>
          <a:p>
            <a:pPr>
              <a:lnSpc>
                <a:spcPct val="100000"/>
              </a:lnSpc>
              <a:spcBef>
                <a:spcPct val="50000"/>
              </a:spcBef>
            </a:pPr>
            <a:r>
              <a:rPr lang="en-US" altLang="zh-CN" sz="2400" b="0">
                <a:latin typeface="Times New Roman" panose="02020603050405020304" pitchFamily="18" charset="0"/>
              </a:rPr>
              <a:t>IS</a:t>
            </a:r>
            <a:endParaRPr lang="en-US" altLang="zh-CN" sz="2400" b="0">
              <a:latin typeface="Times New Roman" panose="02020603050405020304" pitchFamily="18" charset="0"/>
            </a:endParaRPr>
          </a:p>
        </p:txBody>
      </p:sp>
      <p:sp>
        <p:nvSpPr>
          <p:cNvPr id="73740" name="文本框 73739"/>
          <p:cNvSpPr txBox="1"/>
          <p:nvPr/>
        </p:nvSpPr>
        <p:spPr>
          <a:xfrm>
            <a:off x="990600" y="2209800"/>
            <a:ext cx="533400" cy="457200"/>
          </a:xfrm>
          <a:prstGeom prst="rect">
            <a:avLst/>
          </a:prstGeom>
          <a:noFill/>
          <a:ln w="9525">
            <a:noFill/>
          </a:ln>
        </p:spPr>
        <p:txBody>
          <a:bodyPr>
            <a:spAutoFit/>
          </a:bodyPr>
          <a:p>
            <a:pPr>
              <a:lnSpc>
                <a:spcPct val="100000"/>
              </a:lnSpc>
              <a:spcBef>
                <a:spcPct val="50000"/>
              </a:spcBef>
            </a:pPr>
            <a:r>
              <a:rPr lang="en-US" altLang="zh-CN" sz="2400" b="0">
                <a:latin typeface="Times New Roman" panose="02020603050405020304" pitchFamily="18" charset="0"/>
              </a:rPr>
              <a:t>r</a:t>
            </a:r>
            <a:endParaRPr lang="en-US" altLang="zh-CN" sz="2400" b="0">
              <a:latin typeface="Times New Roman" panose="02020603050405020304" pitchFamily="18" charset="0"/>
            </a:endParaRPr>
          </a:p>
        </p:txBody>
      </p:sp>
      <p:sp>
        <p:nvSpPr>
          <p:cNvPr id="73741" name="文本框 73740"/>
          <p:cNvSpPr txBox="1"/>
          <p:nvPr/>
        </p:nvSpPr>
        <p:spPr>
          <a:xfrm>
            <a:off x="6934200" y="5410200"/>
            <a:ext cx="609600" cy="457200"/>
          </a:xfrm>
          <a:prstGeom prst="rect">
            <a:avLst/>
          </a:prstGeom>
          <a:noFill/>
          <a:ln w="9525">
            <a:noFill/>
          </a:ln>
        </p:spPr>
        <p:txBody>
          <a:bodyPr>
            <a:spAutoFit/>
          </a:bodyPr>
          <a:p>
            <a:pPr>
              <a:lnSpc>
                <a:spcPct val="100000"/>
              </a:lnSpc>
              <a:spcBef>
                <a:spcPct val="50000"/>
              </a:spcBef>
            </a:pPr>
            <a:r>
              <a:rPr lang="en-US" altLang="zh-CN" sz="2400" b="0">
                <a:latin typeface="Times New Roman" panose="02020603050405020304" pitchFamily="18" charset="0"/>
              </a:rPr>
              <a:t>y</a:t>
            </a:r>
            <a:endParaRPr lang="en-US" altLang="zh-CN" sz="2400" b="0">
              <a:latin typeface="Times New Roman" panose="02020603050405020304" pitchFamily="18" charset="0"/>
            </a:endParaRPr>
          </a:p>
        </p:txBody>
      </p:sp>
      <p:sp>
        <p:nvSpPr>
          <p:cNvPr id="73742" name="文本框 73741"/>
          <p:cNvSpPr txBox="1"/>
          <p:nvPr/>
        </p:nvSpPr>
        <p:spPr>
          <a:xfrm>
            <a:off x="3962400" y="2438400"/>
            <a:ext cx="457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I</a:t>
            </a:r>
            <a:endParaRPr lang="en-US" altLang="zh-CN" sz="2400" b="0">
              <a:latin typeface="Tahoma" panose="020B0604030504040204" pitchFamily="34" charset="0"/>
            </a:endParaRPr>
          </a:p>
        </p:txBody>
      </p:sp>
      <p:sp>
        <p:nvSpPr>
          <p:cNvPr id="73743" name="文本框 73742"/>
          <p:cNvSpPr txBox="1"/>
          <p:nvPr/>
        </p:nvSpPr>
        <p:spPr>
          <a:xfrm>
            <a:off x="2743200" y="3429000"/>
            <a:ext cx="6858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II</a:t>
            </a:r>
            <a:endParaRPr lang="en-US" altLang="zh-CN" sz="2400" b="0">
              <a:latin typeface="Tahoma" panose="020B0604030504040204" pitchFamily="34" charset="0"/>
            </a:endParaRPr>
          </a:p>
        </p:txBody>
      </p:sp>
      <p:sp>
        <p:nvSpPr>
          <p:cNvPr id="73744" name="文本框 73743"/>
          <p:cNvSpPr txBox="1"/>
          <p:nvPr/>
        </p:nvSpPr>
        <p:spPr>
          <a:xfrm>
            <a:off x="3962400" y="3962400"/>
            <a:ext cx="838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III</a:t>
            </a:r>
            <a:endParaRPr lang="en-US" altLang="zh-CN" sz="2400" b="0">
              <a:latin typeface="Tahoma" panose="020B0604030504040204" pitchFamily="34" charset="0"/>
            </a:endParaRPr>
          </a:p>
        </p:txBody>
      </p:sp>
      <p:sp>
        <p:nvSpPr>
          <p:cNvPr id="73745" name="文本框 73744"/>
          <p:cNvSpPr txBox="1"/>
          <p:nvPr/>
        </p:nvSpPr>
        <p:spPr>
          <a:xfrm>
            <a:off x="5105400" y="3124200"/>
            <a:ext cx="6096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IV</a:t>
            </a:r>
            <a:endParaRPr lang="en-US" altLang="zh-CN" sz="2400" b="0">
              <a:latin typeface="Tahoma" panose="020B060403050404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76801"/>
          <p:cNvSpPr>
            <a:spLocks noGrp="1"/>
          </p:cNvSpPr>
          <p:nvPr>
            <p:ph type="title"/>
          </p:nvPr>
        </p:nvSpPr>
        <p:spPr>
          <a:xfrm>
            <a:off x="457200" y="333375"/>
            <a:ext cx="8147050" cy="2790825"/>
          </a:xfrm>
          <a:ln/>
        </p:spPr>
        <p:txBody>
          <a:bodyPr anchor="ctr" anchorCtr="0"/>
          <a:p>
            <a:pPr algn="l"/>
            <a:r>
              <a:rPr lang="zh-CN" altLang="en-US" sz="3200" b="1" dirty="0">
                <a:solidFill>
                  <a:srgbClr val="000000"/>
                </a:solidFill>
                <a:latin typeface="宋体" panose="02010600030101010101" pitchFamily="2" charset="-122"/>
              </a:rPr>
              <a:t>宏观经济政策：货币政策</a:t>
            </a:r>
            <a:br>
              <a:rPr lang="zh-CN" altLang="en-US" sz="3200" b="1">
                <a:solidFill>
                  <a:srgbClr val="000000"/>
                </a:solidFill>
                <a:latin typeface="宋体" panose="02010600030101010101" pitchFamily="2" charset="-122"/>
              </a:rPr>
            </a:br>
            <a:r>
              <a:rPr lang="en-US" altLang="zh-CN" sz="2000">
                <a:solidFill>
                  <a:srgbClr val="000000"/>
                </a:solidFill>
                <a:latin typeface="宋体" panose="02010600030101010101" pitchFamily="2" charset="-122"/>
              </a:rPr>
              <a:t>A</a:t>
            </a:r>
            <a:r>
              <a:rPr lang="zh-CN" altLang="en-US"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货币市场</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货币供给：</a:t>
            </a:r>
            <a:r>
              <a:rPr lang="zh-CN" altLang="en-US" sz="2000" dirty="0">
                <a:solidFill>
                  <a:srgbClr val="000000"/>
                </a:solidFill>
                <a:latin typeface="宋体" panose="02010600030101010101" pitchFamily="2" charset="-122"/>
              </a:rPr>
              <a:t>由中央银行控制的，不取决于其他经济变量，是一条垂线。</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货币需求：</a:t>
            </a:r>
            <a:r>
              <a:rPr lang="zh-CN" altLang="en-US" sz="2000" dirty="0">
                <a:solidFill>
                  <a:srgbClr val="000000"/>
                </a:solidFill>
                <a:latin typeface="宋体" panose="02010600030101010101" pitchFamily="2" charset="-122"/>
              </a:rPr>
              <a:t>货币需求曲线是一条向右下方倾斜曲线。因为利率是持有货币的机会成本。利率高时，人们会少持有货币。反之</a:t>
            </a:r>
            <a:r>
              <a:rPr lang="en-US" altLang="zh-CN" sz="2000">
                <a:solidFill>
                  <a:srgbClr val="000000"/>
                </a:solidFill>
                <a:latin typeface="宋体" panose="02010600030101010101" pitchFamily="2" charset="-122"/>
              </a:rPr>
              <a:t>, </a:t>
            </a:r>
            <a:r>
              <a:rPr lang="zh-CN" altLang="en-US" sz="2000" dirty="0">
                <a:solidFill>
                  <a:srgbClr val="000000"/>
                </a:solidFill>
                <a:latin typeface="宋体" panose="02010600030101010101" pitchFamily="2" charset="-122"/>
              </a:rPr>
              <a:t>利率低时，人们会多持有货币。</a:t>
            </a:r>
            <a:br>
              <a:rPr lang="zh-CN" altLang="en-US" sz="2000" dirty="0">
                <a:solidFill>
                  <a:srgbClr val="000000"/>
                </a:solidFill>
                <a:latin typeface="宋体" panose="02010600030101010101" pitchFamily="2" charset="-122"/>
              </a:rPr>
            </a:br>
            <a:r>
              <a:rPr lang="zh-CN" altLang="en-US" sz="2000" dirty="0">
                <a:solidFill>
                  <a:srgbClr val="000000"/>
                </a:solidFill>
                <a:latin typeface="宋体" panose="02010600030101010101" pitchFamily="2" charset="-122"/>
              </a:rPr>
              <a:t>货币市场均衡：货币供给和货币需求相等时，货币市场达到均衡。</a:t>
            </a:r>
            <a:endParaRPr lang="zh-CN" altLang="en-US">
              <a:solidFill>
                <a:srgbClr val="000000"/>
              </a:solidFill>
              <a:latin typeface="宋体" panose="02010600030101010101" pitchFamily="2" charset="-122"/>
            </a:endParaRPr>
          </a:p>
        </p:txBody>
      </p:sp>
      <p:grpSp>
        <p:nvGrpSpPr>
          <p:cNvPr id="76804" name="组合 76803"/>
          <p:cNvGrpSpPr/>
          <p:nvPr/>
        </p:nvGrpSpPr>
        <p:grpSpPr>
          <a:xfrm>
            <a:off x="1828800" y="3048000"/>
            <a:ext cx="5638800" cy="3657600"/>
            <a:chOff x="4317" y="7680"/>
            <a:chExt cx="4863" cy="2808"/>
          </a:xfrm>
        </p:grpSpPr>
        <p:sp>
          <p:nvSpPr>
            <p:cNvPr id="76805" name="直接连接符 76804"/>
            <p:cNvSpPr/>
            <p:nvPr/>
          </p:nvSpPr>
          <p:spPr>
            <a:xfrm flipV="1">
              <a:off x="5040" y="7680"/>
              <a:ext cx="0" cy="2184"/>
            </a:xfrm>
            <a:prstGeom prst="line">
              <a:avLst/>
            </a:prstGeom>
            <a:ln w="9525" cap="flat" cmpd="sng">
              <a:solidFill>
                <a:srgbClr val="000000"/>
              </a:solidFill>
              <a:prstDash val="solid"/>
              <a:headEnd type="none" w="med" len="med"/>
              <a:tailEnd type="triangle" w="med" len="med"/>
            </a:ln>
          </p:spPr>
        </p:sp>
        <p:sp>
          <p:nvSpPr>
            <p:cNvPr id="76806" name="直接连接符 76805"/>
            <p:cNvSpPr/>
            <p:nvPr/>
          </p:nvSpPr>
          <p:spPr>
            <a:xfrm>
              <a:off x="5040" y="9864"/>
              <a:ext cx="3060" cy="0"/>
            </a:xfrm>
            <a:prstGeom prst="line">
              <a:avLst/>
            </a:prstGeom>
            <a:ln w="9525" cap="flat" cmpd="sng">
              <a:solidFill>
                <a:srgbClr val="000000"/>
              </a:solidFill>
              <a:prstDash val="solid"/>
              <a:headEnd type="none" w="med" len="med"/>
              <a:tailEnd type="triangle" w="med" len="med"/>
            </a:ln>
          </p:spPr>
        </p:sp>
        <p:sp>
          <p:nvSpPr>
            <p:cNvPr id="76807" name="直接连接符 76806"/>
            <p:cNvSpPr/>
            <p:nvPr/>
          </p:nvSpPr>
          <p:spPr>
            <a:xfrm flipV="1">
              <a:off x="6660" y="7992"/>
              <a:ext cx="0" cy="1872"/>
            </a:xfrm>
            <a:prstGeom prst="line">
              <a:avLst/>
            </a:prstGeom>
            <a:ln w="9525" cap="flat" cmpd="sng">
              <a:solidFill>
                <a:srgbClr val="000000"/>
              </a:solidFill>
              <a:prstDash val="solid"/>
              <a:headEnd type="none" w="med" len="med"/>
              <a:tailEnd type="none" w="med" len="med"/>
            </a:ln>
          </p:spPr>
        </p:sp>
        <p:sp>
          <p:nvSpPr>
            <p:cNvPr id="76808" name="直接连接符 76807"/>
            <p:cNvSpPr/>
            <p:nvPr/>
          </p:nvSpPr>
          <p:spPr>
            <a:xfrm>
              <a:off x="5400" y="8304"/>
              <a:ext cx="2340" cy="1092"/>
            </a:xfrm>
            <a:prstGeom prst="line">
              <a:avLst/>
            </a:prstGeom>
            <a:ln w="9525" cap="flat" cmpd="sng">
              <a:solidFill>
                <a:srgbClr val="000000"/>
              </a:solidFill>
              <a:prstDash val="solid"/>
              <a:headEnd type="none" w="med" len="med"/>
              <a:tailEnd type="none" w="med" len="med"/>
            </a:ln>
          </p:spPr>
        </p:sp>
        <p:sp>
          <p:nvSpPr>
            <p:cNvPr id="76809" name="文本框 76808"/>
            <p:cNvSpPr txBox="1"/>
            <p:nvPr/>
          </p:nvSpPr>
          <p:spPr>
            <a:xfrm>
              <a:off x="4317" y="7839"/>
              <a:ext cx="900" cy="624"/>
            </a:xfrm>
            <a:prstGeom prst="rect">
              <a:avLst/>
            </a:prstGeom>
            <a:noFill/>
            <a:ln w="9525">
              <a:noFill/>
            </a:ln>
          </p:spPr>
          <p:txBody>
            <a:bodyPr/>
            <a:p>
              <a:pPr algn="just" eaLnBrk="0" hangingPunct="0">
                <a:lnSpc>
                  <a:spcPct val="100000"/>
                </a:lnSpc>
                <a:spcBef>
                  <a:spcPct val="0"/>
                </a:spcBef>
              </a:pPr>
              <a:r>
                <a:rPr lang="zh-CN" altLang="en-US" sz="1800" dirty="0">
                  <a:solidFill>
                    <a:srgbClr val="000000"/>
                  </a:solidFill>
                  <a:latin typeface="Times New Roman" panose="02020603050405020304" pitchFamily="18" charset="0"/>
                </a:rPr>
                <a:t>利率</a:t>
              </a:r>
              <a:endParaRPr lang="zh-CN" altLang="en-US" sz="1800" dirty="0">
                <a:solidFill>
                  <a:srgbClr val="000000"/>
                </a:solidFill>
                <a:latin typeface="Times New Roman" panose="02020603050405020304" pitchFamily="18" charset="0"/>
              </a:endParaRPr>
            </a:p>
          </p:txBody>
        </p:sp>
        <p:sp>
          <p:nvSpPr>
            <p:cNvPr id="76810" name="文本框 76809"/>
            <p:cNvSpPr txBox="1"/>
            <p:nvPr/>
          </p:nvSpPr>
          <p:spPr>
            <a:xfrm>
              <a:off x="7740" y="9864"/>
              <a:ext cx="1080" cy="624"/>
            </a:xfrm>
            <a:prstGeom prst="rect">
              <a:avLst/>
            </a:prstGeom>
            <a:noFill/>
            <a:ln w="9525">
              <a:noFill/>
            </a:ln>
          </p:spPr>
          <p:txBody>
            <a:bodyPr/>
            <a:p>
              <a:pPr algn="just" eaLnBrk="0" hangingPunct="0">
                <a:lnSpc>
                  <a:spcPct val="100000"/>
                </a:lnSpc>
                <a:spcBef>
                  <a:spcPct val="0"/>
                </a:spcBef>
              </a:pPr>
              <a:r>
                <a:rPr lang="zh-CN" altLang="en-US" sz="1800" dirty="0">
                  <a:solidFill>
                    <a:srgbClr val="000000"/>
                  </a:solidFill>
                  <a:latin typeface="Times New Roman" panose="02020603050405020304" pitchFamily="18" charset="0"/>
                </a:rPr>
                <a:t>货币量</a:t>
              </a:r>
              <a:endParaRPr lang="zh-CN" altLang="en-US" sz="1800" dirty="0">
                <a:solidFill>
                  <a:srgbClr val="000000"/>
                </a:solidFill>
                <a:latin typeface="Times New Roman" panose="02020603050405020304" pitchFamily="18" charset="0"/>
              </a:endParaRPr>
            </a:p>
          </p:txBody>
        </p:sp>
        <p:sp>
          <p:nvSpPr>
            <p:cNvPr id="76811" name="文本框 76810"/>
            <p:cNvSpPr txBox="1"/>
            <p:nvPr/>
          </p:nvSpPr>
          <p:spPr>
            <a:xfrm>
              <a:off x="6660" y="7836"/>
              <a:ext cx="1440" cy="624"/>
            </a:xfrm>
            <a:prstGeom prst="rect">
              <a:avLst/>
            </a:prstGeom>
            <a:noFill/>
            <a:ln w="9525">
              <a:noFill/>
            </a:ln>
          </p:spPr>
          <p:txBody>
            <a:bodyPr/>
            <a:p>
              <a:pPr algn="just" eaLnBrk="0" hangingPunct="0">
                <a:lnSpc>
                  <a:spcPct val="100000"/>
                </a:lnSpc>
                <a:spcBef>
                  <a:spcPct val="0"/>
                </a:spcBef>
              </a:pPr>
              <a:r>
                <a:rPr lang="zh-CN" altLang="en-US" sz="1800" dirty="0">
                  <a:solidFill>
                    <a:srgbClr val="000000"/>
                  </a:solidFill>
                  <a:latin typeface="Times New Roman" panose="02020603050405020304" pitchFamily="18" charset="0"/>
                </a:rPr>
                <a:t>货币供给</a:t>
              </a:r>
              <a:endParaRPr lang="zh-CN" altLang="en-US" sz="1800" dirty="0">
                <a:solidFill>
                  <a:srgbClr val="000000"/>
                </a:solidFill>
                <a:latin typeface="Times New Roman" panose="02020603050405020304" pitchFamily="18" charset="0"/>
              </a:endParaRPr>
            </a:p>
          </p:txBody>
        </p:sp>
        <p:sp>
          <p:nvSpPr>
            <p:cNvPr id="76812" name="文本框 76811"/>
            <p:cNvSpPr txBox="1"/>
            <p:nvPr/>
          </p:nvSpPr>
          <p:spPr>
            <a:xfrm>
              <a:off x="7740" y="9240"/>
              <a:ext cx="1440" cy="624"/>
            </a:xfrm>
            <a:prstGeom prst="rect">
              <a:avLst/>
            </a:prstGeom>
            <a:noFill/>
            <a:ln w="9525">
              <a:noFill/>
            </a:ln>
          </p:spPr>
          <p:txBody>
            <a:bodyPr/>
            <a:p>
              <a:pPr algn="just" eaLnBrk="0" hangingPunct="0">
                <a:lnSpc>
                  <a:spcPct val="100000"/>
                </a:lnSpc>
                <a:spcBef>
                  <a:spcPct val="0"/>
                </a:spcBef>
              </a:pPr>
              <a:r>
                <a:rPr lang="zh-CN" altLang="en-US" sz="1800" dirty="0">
                  <a:solidFill>
                    <a:srgbClr val="000000"/>
                  </a:solidFill>
                  <a:latin typeface="Times New Roman" panose="02020603050405020304" pitchFamily="18" charset="0"/>
                </a:rPr>
                <a:t>货币需求</a:t>
              </a:r>
              <a:endParaRPr lang="zh-CN" altLang="en-US" sz="1800" dirty="0">
                <a:solidFill>
                  <a:srgbClr val="000000"/>
                </a:solidFill>
                <a:latin typeface="Times New Roman" panose="02020603050405020304" pitchFamily="18"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7" name="文本占位符 77826"/>
          <p:cNvSpPr>
            <a:spLocks noGrp="1"/>
          </p:cNvSpPr>
          <p:nvPr>
            <p:ph type="body" idx="1"/>
          </p:nvPr>
        </p:nvSpPr>
        <p:spPr>
          <a:xfrm>
            <a:off x="533400" y="476250"/>
            <a:ext cx="7772400" cy="4324350"/>
          </a:xfrm>
          <a:ln/>
        </p:spPr>
        <p:txBody>
          <a:bodyPr/>
          <a:p>
            <a:pPr marL="0" indent="0" algn="just">
              <a:lnSpc>
                <a:spcPct val="90000"/>
              </a:lnSpc>
              <a:buNone/>
            </a:pPr>
            <a:r>
              <a:rPr lang="zh-CN" altLang="en-US" sz="2800" b="1" dirty="0">
                <a:solidFill>
                  <a:srgbClr val="FF0000"/>
                </a:solidFill>
                <a:latin typeface="宋体" panose="02010600030101010101" pitchFamily="2" charset="-122"/>
              </a:rPr>
              <a:t>货币政策对利率的影响</a:t>
            </a:r>
            <a:endParaRPr lang="zh-CN" altLang="en-US" sz="28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货币供给增加时，货币供给曲线向右移动，利率下降；反之，货币供给减少时，货币供给曲线向左移动，利率上升。</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货币政策对总需求和总产出的影响</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FF0000"/>
                </a:solidFill>
                <a:latin typeface="宋体" panose="02010600030101010101" pitchFamily="2" charset="-122"/>
              </a:rPr>
              <a:t>货币政策影响投资</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货币供给增加时，利率降低，减少了借款的成本，刺激了投资。</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FF0000"/>
                </a:solidFill>
                <a:latin typeface="宋体" panose="02010600030101010101" pitchFamily="2" charset="-122"/>
              </a:rPr>
              <a:t>货币政策影响消费</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货币供给增加时，利率降低，减少了借款的成本和储蓄的收益，消费者会增加支出。</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FF0000"/>
                </a:solidFill>
                <a:latin typeface="宋体" panose="02010600030101010101" pitchFamily="2" charset="-122"/>
              </a:rPr>
              <a:t>货币政策影响总需求从而影响总产出</a:t>
            </a:r>
            <a:endParaRPr lang="zh-CN" altLang="en-US" sz="2400" b="1" dirty="0">
              <a:solidFill>
                <a:srgbClr val="FF0000"/>
              </a:solidFill>
              <a:latin typeface="宋体" panose="02010600030101010101" pitchFamily="2" charset="-122"/>
            </a:endParaRPr>
          </a:p>
          <a:p>
            <a:pPr marL="0" indent="0">
              <a:lnSpc>
                <a:spcPct val="90000"/>
              </a:lnSpc>
              <a:buNone/>
            </a:pPr>
            <a:r>
              <a:rPr lang="zh-CN" altLang="en-US" sz="2400" b="1" dirty="0">
                <a:solidFill>
                  <a:srgbClr val="000000"/>
                </a:solidFill>
                <a:latin typeface="宋体" panose="02010600030101010101" pitchFamily="2" charset="-122"/>
              </a:rPr>
              <a:t>货币供给增加会导致利率的降低，这又增加了对物品和劳务的需求，从而使总需求曲线向右移动。反之，货币供给减少会导致利率上升，总需求曲线向左移动。总需求曲线的移动会引起总产出的变动。 </a:t>
            </a:r>
            <a:endParaRPr lang="zh-CN" altLang="en-US" sz="2800">
              <a:latin typeface="宋体" panose="02010600030101010101" pitchFamily="2" charset="-122"/>
            </a:endParaRPr>
          </a:p>
        </p:txBody>
      </p:sp>
    </p:spTree>
  </p:cSld>
  <p:clrMapOvr>
    <a:masterClrMapping/>
  </p:clrMapOvr>
</p:sld>
</file>

<file path=ppt/theme/theme1.xml><?xml version="1.0" encoding="utf-8"?>
<a:theme xmlns:a="http://schemas.openxmlformats.org/drawingml/2006/main" name="彩带型模板">
  <a:themeElements>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CC"/>
        </a:dk1>
        <a:lt1>
          <a:srgbClr val="660033"/>
        </a:lt1>
        <a:dk2>
          <a:srgbClr val="FFCC00"/>
        </a:dk2>
        <a:lt2>
          <a:srgbClr val="220011"/>
        </a:lt2>
        <a:accent1>
          <a:srgbClr val="CC0099"/>
        </a:accent1>
        <a:accent2>
          <a:srgbClr val="56002B"/>
        </a:accent2>
        <a:accent3>
          <a:srgbClr val="B9AAAD"/>
        </a:accent3>
        <a:accent4>
          <a:srgbClr val="DCDCAF"/>
        </a:accent4>
        <a:accent5>
          <a:srgbClr val="E2AACA"/>
        </a:accent5>
        <a:accent6>
          <a:srgbClr val="4C0026"/>
        </a:accent6>
        <a:hlink>
          <a:srgbClr val="9C004E"/>
        </a:hlink>
        <a:folHlink>
          <a:srgbClr val="FF66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33CCCC"/>
        </a:dk2>
        <a:lt2>
          <a:srgbClr val="000F1E"/>
        </a:lt2>
        <a:accent1>
          <a:srgbClr val="006699"/>
        </a:accent1>
        <a:accent2>
          <a:srgbClr val="003366"/>
        </a:accent2>
        <a:accent3>
          <a:srgbClr val="AAADB9"/>
        </a:accent3>
        <a:accent4>
          <a:srgbClr val="DCDCDC"/>
        </a:accent4>
        <a:accent5>
          <a:srgbClr val="AAB9CA"/>
        </a:accent5>
        <a:accent6>
          <a:srgbClr val="002D5B"/>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66FFCC"/>
        </a:dk2>
        <a:lt2>
          <a:srgbClr val="002F2E"/>
        </a:lt2>
        <a:accent1>
          <a:srgbClr val="0099CC"/>
        </a:accent1>
        <a:accent2>
          <a:srgbClr val="005250"/>
        </a:accent2>
        <a:accent3>
          <a:srgbClr val="AAC1C1"/>
        </a:accent3>
        <a:accent4>
          <a:srgbClr val="DCDCDC"/>
        </a:accent4>
        <a:accent5>
          <a:srgbClr val="AACAE2"/>
        </a:accent5>
        <a:accent6>
          <a:srgbClr val="004947"/>
        </a:accent6>
        <a:hlink>
          <a:srgbClr val="00CC99"/>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CC00"/>
        </a:dk2>
        <a:lt2>
          <a:srgbClr val="000022"/>
        </a:lt2>
        <a:accent1>
          <a:srgbClr val="666699"/>
        </a:accent1>
        <a:accent2>
          <a:srgbClr val="000048"/>
        </a:accent2>
        <a:accent3>
          <a:srgbClr val="AAAAB9"/>
        </a:accent3>
        <a:accent4>
          <a:srgbClr val="DCDCDC"/>
        </a:accent4>
        <a:accent5>
          <a:srgbClr val="B9B9CA"/>
        </a:accent5>
        <a:accent6>
          <a:srgbClr val="000040"/>
        </a:accent6>
        <a:hlink>
          <a:srgbClr val="9999FF"/>
        </a:hlink>
        <a:folHlink>
          <a:srgbClr val="000099"/>
        </a:folHlink>
      </a:clrScheme>
      <a:clrMap bg1="lt1" tx1="dk1" bg2="lt2" tx2="dk2" accent1="accent1" accent2="accent2" accent3="accent3" accent4="accent4" accent5="accent5" accent6="accent6" hlink="hlink" folHlink="folHlink"/>
    </a:extraClrScheme>
    <a:extraClrScheme>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1E1E1"/>
        </a:accent5>
        <a:accent6>
          <a:srgbClr val="D2D2D2"/>
        </a:accent6>
        <a:hlink>
          <a:srgbClr val="4D4D4D"/>
        </a:hlink>
        <a:folHlink>
          <a:srgbClr val="8686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Office\Templates\演示文稿设计\彩带型模板.pot</Template>
  <TotalTime>0</TotalTime>
  <Words>2345</Words>
  <Application>WPS 演示</Application>
  <PresentationFormat>在屏幕上显示</PresentationFormat>
  <Paragraphs>230</Paragraphs>
  <Slides>22</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Times New Roman</vt:lpstr>
      <vt:lpstr>华文行楷</vt:lpstr>
      <vt:lpstr>黑体</vt:lpstr>
      <vt:lpstr>Tahoma</vt:lpstr>
      <vt:lpstr>Symbol</vt:lpstr>
      <vt:lpstr>微软雅黑</vt:lpstr>
      <vt:lpstr>Arial Unicode MS</vt:lpstr>
      <vt:lpstr>彩带型模板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XINLI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第一章微观经济学导论     1.基本经济问题  .三个重要概念  ）稀缺（scarcity）：社会资源的有限性，是指社会提供的东西少于人们想拥有的。 基本假设：  ①人类的欲望是无穷的   ②资源是有限的</dc:title>
  <dc:creator>aopen</dc:creator>
  <cp:lastModifiedBy>王瑞</cp:lastModifiedBy>
  <cp:revision>23</cp:revision>
  <dcterms:created xsi:type="dcterms:W3CDTF">2003-01-22T06:12:13Z</dcterms:created>
  <dcterms:modified xsi:type="dcterms:W3CDTF">2024-11-07T10:14:33Z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7C8DC38B2D7D44DC9CD91EE493C987B2_13</vt:lpwstr>
  </property>
  <property fmtid="{D5CDD505-2E9C-101B-9397-08002B2CF9AE}" pid="3" name="KSOProductBuildVer">
    <vt:lpwstr>2052-12.1.0.18276</vt:lpwstr>
  </property>
</Properties>
</file>