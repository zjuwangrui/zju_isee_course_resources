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53"/>
  </p:handout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86"/>
    <p:restoredTop sz="94660"/>
  </p:normalViewPr>
  <p:slideViewPr>
    <p:cSldViewPr showGuides="1">
      <p:cViewPr varScale="1">
        <p:scale>
          <a:sx n="70" d="100"/>
          <a:sy n="70" d="100"/>
        </p:scale>
        <p:origin x="-492" y="-10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3075" name="日期占位符 3074"/>
          <p:cNvSpPr>
            <a:spLocks noGrp="1"/>
          </p:cNvSpPr>
          <p:nvPr>
            <p:ph type="dt" sz="quarter"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3076" name="页脚占位符 3075"/>
          <p:cNvSpPr>
            <a:spLocks noGrp="1"/>
          </p:cNvSpPr>
          <p:nvPr>
            <p:ph type="ftr" sz="quarter" idx="2"/>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3077" name="灯片编号占位符 3076"/>
          <p:cNvSpPr>
            <a:spLocks noGrp="1"/>
          </p:cNvSpPr>
          <p:nvPr>
            <p:ph type="sldNum" sz="quarter" idx="3"/>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2049"/>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2051" name="日期占位符 2050"/>
          <p:cNvSpPr>
            <a:spLocks noGrp="1"/>
          </p:cNvSpPr>
          <p:nvPr>
            <p:ph type="dt"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2052" name="幻灯片图像占位符 205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053" name="文本占位符 2052"/>
          <p:cNvSpPr>
            <a:spLocks noGrp="1"/>
          </p:cNvSpPr>
          <p:nvPr>
            <p:ph type="body" sz="quarter" idx="3"/>
          </p:nvPr>
        </p:nvSpPr>
        <p:spPr>
          <a:xfrm>
            <a:off x="914400" y="4343400"/>
            <a:ext cx="5029200" cy="4114800"/>
          </a:xfrm>
          <a:prstGeom prst="rect">
            <a:avLst/>
          </a:prstGeom>
          <a:noFill/>
          <a:ln w="9525">
            <a:noFill/>
          </a:ln>
        </p:spPr>
        <p:txBody>
          <a:bodyPr/>
          <a:p>
            <a:pPr lvl="0"/>
            <a:r>
              <a:rPr lang="zh-CN" altLang="en-US" dirty="0"/>
              <a:t>单击以编辑母版文本样式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4" name="页脚占位符 2053"/>
          <p:cNvSpPr>
            <a:spLocks noGrp="1"/>
          </p:cNvSpPr>
          <p:nvPr>
            <p:ph type="ftr" sz="quarter" idx="4"/>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2055" name="灯片编号占位符 2054"/>
          <p:cNvSpPr>
            <a:spLocks noGrp="1"/>
          </p:cNvSpPr>
          <p:nvPr>
            <p:ph type="sldNum" sz="quarter" idx="5"/>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00354" name="幻灯片图像占位符 100353"/>
          <p:cNvSpPr>
            <a:spLocks noTextEdit="1"/>
          </p:cNvSpPr>
          <p:nvPr>
            <p:ph type="sldImg"/>
          </p:nvPr>
        </p:nvSpPr>
        <p:spPr>
          <a:ln/>
        </p:spPr>
      </p:sp>
      <p:sp>
        <p:nvSpPr>
          <p:cNvPr id="100355" name="文本占位符 100354"/>
          <p:cNvSpPr>
            <a:spLocks noGrp="1"/>
          </p:cNvSpPr>
          <p:nvPr>
            <p:ph type="body" idx="1"/>
          </p:nvPr>
        </p:nvSpPr>
        <p:spPr>
          <a:xfrm>
            <a:off x="685800" y="4343400"/>
            <a:ext cx="5486400" cy="4114800"/>
          </a:xfrm>
          <a:ln/>
        </p:spPr>
        <p:txBody>
          <a:bodyPr/>
          <a:p>
            <a:pPr lvl="0"/>
            <a:r>
              <a:rPr lang="zh-CN" altLang="en-US" dirty="0"/>
              <a:t>自然失业率是</a:t>
            </a:r>
            <a:r>
              <a:rPr lang="zh-CN" altLang="en-US" sz="1000" dirty="0"/>
              <a:t>不可避免的，也是必然存在的。但在失业中有多少属于自然失业，却至今也无法明确地确定。</a:t>
            </a:r>
            <a:endParaRPr lang="zh-CN" altLang="en-US" sz="1000" dirty="0"/>
          </a:p>
          <a:p>
            <a:pPr lvl="0"/>
            <a:r>
              <a:rPr lang="zh-CN" altLang="en-US" sz="1000" dirty="0"/>
              <a:t>在二战中美国的失业率</a:t>
            </a:r>
            <a:r>
              <a:rPr lang="en-US" altLang="zh-CN" sz="1000" dirty="0"/>
              <a:t>1%</a:t>
            </a:r>
            <a:r>
              <a:rPr lang="zh-CN" altLang="en-US" sz="1000" dirty="0"/>
              <a:t>，因此估计自然失业率为</a:t>
            </a:r>
            <a:r>
              <a:rPr lang="en-US" altLang="zh-CN" sz="1000" dirty="0"/>
              <a:t>1%</a:t>
            </a:r>
            <a:r>
              <a:rPr lang="zh-CN" altLang="en-US" sz="1000" dirty="0"/>
              <a:t>。</a:t>
            </a:r>
            <a:endParaRPr lang="zh-CN" altLang="en-US" sz="1000" dirty="0"/>
          </a:p>
          <a:p>
            <a:pPr lvl="0"/>
            <a:r>
              <a:rPr lang="en-US" altLang="zh-CN" sz="1000" dirty="0"/>
              <a:t>50</a:t>
            </a:r>
            <a:r>
              <a:rPr lang="zh-CN" altLang="en-US" sz="1000" dirty="0"/>
              <a:t>年代估计为百分之</a:t>
            </a:r>
            <a:r>
              <a:rPr lang="en-US" altLang="zh-CN" sz="1000" dirty="0"/>
              <a:t>1.5</a:t>
            </a:r>
            <a:r>
              <a:rPr lang="zh-CN" altLang="en-US" sz="1000" dirty="0"/>
              <a:t>到</a:t>
            </a:r>
            <a:r>
              <a:rPr lang="en-US" altLang="zh-CN" sz="1000" dirty="0"/>
              <a:t>2%</a:t>
            </a:r>
            <a:r>
              <a:rPr lang="zh-CN" altLang="en-US" sz="1000" dirty="0"/>
              <a:t>。</a:t>
            </a:r>
            <a:endParaRPr lang="zh-CN" altLang="en-US" sz="1000" dirty="0"/>
          </a:p>
          <a:p>
            <a:pPr lvl="0"/>
            <a:r>
              <a:rPr lang="en-US" altLang="zh-CN" sz="1000" dirty="0"/>
              <a:t>60</a:t>
            </a:r>
            <a:r>
              <a:rPr lang="zh-CN" altLang="en-US" sz="1000" dirty="0"/>
              <a:t>年代估计为小于</a:t>
            </a:r>
            <a:r>
              <a:rPr lang="en-US" altLang="zh-CN" sz="1000" dirty="0"/>
              <a:t>4%</a:t>
            </a:r>
            <a:r>
              <a:rPr lang="zh-CN" altLang="en-US" sz="1000" dirty="0"/>
              <a:t>。</a:t>
            </a:r>
            <a:endParaRPr lang="zh-CN" altLang="en-US" sz="1000" dirty="0"/>
          </a:p>
          <a:p>
            <a:pPr lvl="0"/>
            <a:r>
              <a:rPr lang="en-US" altLang="zh-CN" sz="1000" dirty="0"/>
              <a:t>70</a:t>
            </a:r>
            <a:r>
              <a:rPr lang="zh-CN" altLang="en-US" sz="1000" dirty="0"/>
              <a:t>年代估计为小于</a:t>
            </a:r>
            <a:r>
              <a:rPr lang="en-US" altLang="zh-CN" sz="1000" dirty="0"/>
              <a:t>5%</a:t>
            </a:r>
            <a:r>
              <a:rPr lang="zh-CN" altLang="en-US" sz="1000" dirty="0"/>
              <a:t>。</a:t>
            </a:r>
            <a:endParaRPr lang="zh-CN" altLang="en-US" sz="1000" dirty="0"/>
          </a:p>
          <a:p>
            <a:pPr lvl="0"/>
            <a:r>
              <a:rPr lang="en-US" altLang="zh-CN" sz="1000" dirty="0"/>
              <a:t>80</a:t>
            </a:r>
            <a:r>
              <a:rPr lang="zh-CN" altLang="en-US" sz="1000" dirty="0"/>
              <a:t>年代则估计为</a:t>
            </a:r>
            <a:r>
              <a:rPr lang="en-US" altLang="zh-CN" sz="1000" dirty="0"/>
              <a:t>6%</a:t>
            </a:r>
            <a:r>
              <a:rPr lang="zh-CN" altLang="en-US" sz="1000" dirty="0"/>
              <a:t>到</a:t>
            </a:r>
            <a:r>
              <a:rPr lang="en-US" altLang="zh-CN" sz="1000" dirty="0"/>
              <a:t>7%</a:t>
            </a:r>
            <a:r>
              <a:rPr lang="zh-CN" altLang="en-US" sz="1000" dirty="0"/>
              <a:t>。</a:t>
            </a:r>
            <a:endParaRPr lang="zh-CN" altLang="en-US" sz="1000" dirty="0"/>
          </a:p>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02402" name="幻灯片图像占位符 102401"/>
          <p:cNvSpPr>
            <a:spLocks noTextEdit="1"/>
          </p:cNvSpPr>
          <p:nvPr>
            <p:ph type="sldImg"/>
          </p:nvPr>
        </p:nvSpPr>
        <p:spPr>
          <a:ln/>
        </p:spPr>
      </p:sp>
      <p:sp>
        <p:nvSpPr>
          <p:cNvPr id="102403" name="文本占位符 102402"/>
          <p:cNvSpPr>
            <a:spLocks noGrp="1"/>
          </p:cNvSpPr>
          <p:nvPr>
            <p:ph type="body" idx="1"/>
          </p:nvPr>
        </p:nvSpPr>
        <p:spPr>
          <a:xfrm>
            <a:off x="685800" y="4343400"/>
            <a:ext cx="5486400" cy="4114800"/>
          </a:xfrm>
          <a:ln/>
        </p:spPr>
        <p:txBody>
          <a:bodyPr/>
          <a:p>
            <a:pPr lvl="0"/>
            <a:r>
              <a:rPr lang="en-US" altLang="zh-CN" sz="1000" dirty="0"/>
              <a:t>1</a:t>
            </a:r>
            <a:r>
              <a:rPr lang="zh-CN" altLang="en-US" sz="1000" dirty="0"/>
              <a:t>、劳动需求的季节性：农业、建筑业和旅游业等。</a:t>
            </a:r>
            <a:endParaRPr lang="zh-CN" altLang="en-US" sz="1000" dirty="0"/>
          </a:p>
          <a:p>
            <a:pPr lvl="0"/>
            <a:r>
              <a:rPr lang="en-US" altLang="zh-CN" sz="1000" dirty="0"/>
              <a:t>2</a:t>
            </a:r>
            <a:r>
              <a:rPr lang="zh-CN" altLang="en-US" sz="1000" dirty="0"/>
              <a:t>、劳动供给的季节性变化而产生：每年暑假前后大批学生进入劳动力市场。</a:t>
            </a:r>
            <a:endParaRPr lang="zh-CN" altLang="en-US" sz="1000" dirty="0"/>
          </a:p>
          <a:p>
            <a:pPr lvl="0"/>
            <a:r>
              <a:rPr lang="en-US" altLang="zh-CN" sz="1000" dirty="0"/>
              <a:t>3</a:t>
            </a:r>
            <a:r>
              <a:rPr lang="zh-CN" altLang="en-US" sz="1000" dirty="0"/>
              <a:t>、</a:t>
            </a:r>
            <a:r>
              <a:rPr lang="zh-CN" altLang="en-US" dirty="0"/>
              <a:t>产生结构性失业的原因：</a:t>
            </a:r>
            <a:r>
              <a:rPr lang="zh-CN" altLang="en-US" sz="1000" dirty="0"/>
              <a:t>经济高速发展：消费结构迅速变化</a:t>
            </a:r>
            <a:r>
              <a:rPr lang="en-US" altLang="zh-CN" sz="1000" dirty="0"/>
              <a:t>,</a:t>
            </a:r>
            <a:r>
              <a:rPr lang="zh-CN" altLang="en-US" sz="1000" dirty="0"/>
              <a:t>解放鞋与旅游鞋。</a:t>
            </a:r>
            <a:endParaRPr lang="zh-CN" altLang="en-US" sz="1000" dirty="0"/>
          </a:p>
          <a:p>
            <a:pPr lvl="0"/>
            <a:r>
              <a:rPr lang="zh-CN" altLang="en-US" sz="1000" dirty="0"/>
              <a:t>                                         产业技术迅速变化：电脑代替打字机。</a:t>
            </a:r>
            <a:endParaRPr lang="zh-CN" altLang="en-US" sz="1000" dirty="0"/>
          </a:p>
          <a:p>
            <a:pPr lvl="0"/>
            <a:r>
              <a:rPr lang="zh-CN" altLang="en-US" dirty="0"/>
              <a:t>                                         产业结构迅速变化：石油代替煤。</a:t>
            </a:r>
            <a:endParaRPr lang="zh-CN" altLang="en-US" dirty="0"/>
          </a:p>
          <a:p>
            <a:pPr lvl="0"/>
            <a:r>
              <a:rPr lang="zh-CN" altLang="en-US" sz="1000" dirty="0"/>
              <a:t>                                         中国经济体制改革使潜在失业显性化，集中游离出劳动素质低的员工。</a:t>
            </a:r>
            <a:endParaRPr lang="zh-CN" altLang="en-US" sz="1000" dirty="0"/>
          </a:p>
          <a:p>
            <a:pPr lvl="0"/>
            <a:r>
              <a:rPr lang="zh-CN" altLang="en-US" dirty="0"/>
              <a:t>                                         人力资源中知识存量的刚性与求职者在职的相对刚性。</a:t>
            </a:r>
            <a:endParaRPr lang="zh-CN" altLang="en-US" dirty="0"/>
          </a:p>
          <a:p>
            <a:pPr lvl="0"/>
            <a:endParaRPr lang="zh-CN" altLang="en-US" sz="1000" dirty="0"/>
          </a:p>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04450" name="幻灯片图像占位符 104449"/>
          <p:cNvSpPr>
            <a:spLocks noTextEdit="1"/>
          </p:cNvSpPr>
          <p:nvPr>
            <p:ph type="sldImg"/>
          </p:nvPr>
        </p:nvSpPr>
        <p:spPr>
          <a:ln/>
        </p:spPr>
      </p:sp>
      <p:sp>
        <p:nvSpPr>
          <p:cNvPr id="104451" name="文本占位符 104450"/>
          <p:cNvSpPr>
            <a:spLocks noGrp="1"/>
          </p:cNvSpPr>
          <p:nvPr>
            <p:ph type="body" idx="1"/>
          </p:nvPr>
        </p:nvSpPr>
        <p:spPr>
          <a:xfrm>
            <a:off x="685800" y="4343400"/>
            <a:ext cx="5486400" cy="4114800"/>
          </a:xfrm>
          <a:ln/>
        </p:spPr>
        <p:txBody>
          <a:bodyPr/>
          <a:p>
            <a:pPr lvl="0"/>
            <a:r>
              <a:rPr lang="en-US" altLang="zh-CN" dirty="0"/>
              <a:t>1</a:t>
            </a:r>
            <a:r>
              <a:rPr lang="zh-CN" altLang="en-US" dirty="0"/>
              <a:t>、最低工资法对有工资的人是保护，对没有工作的人是一种歧视。</a:t>
            </a:r>
            <a:endParaRPr lang="zh-CN" altLang="en-US" dirty="0"/>
          </a:p>
          <a:p>
            <a:pPr lvl="0"/>
            <a:r>
              <a:rPr lang="en-US" altLang="zh-CN" dirty="0"/>
              <a:t>2</a:t>
            </a:r>
            <a:r>
              <a:rPr lang="zh-CN" altLang="en-US" dirty="0"/>
              <a:t>、高工资产生的失业理论。</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06498" name="幻灯片图像占位符 106497"/>
          <p:cNvSpPr>
            <a:spLocks noTextEdit="1"/>
          </p:cNvSpPr>
          <p:nvPr>
            <p:ph type="sldImg"/>
          </p:nvPr>
        </p:nvSpPr>
        <p:spPr>
          <a:ln/>
        </p:spPr>
      </p:sp>
      <p:sp>
        <p:nvSpPr>
          <p:cNvPr id="106499" name="文本占位符 106498"/>
          <p:cNvSpPr>
            <a:spLocks noGrp="1"/>
          </p:cNvSpPr>
          <p:nvPr>
            <p:ph type="body" idx="1"/>
          </p:nvPr>
        </p:nvSpPr>
        <p:spPr>
          <a:xfrm>
            <a:off x="685800" y="4343400"/>
            <a:ext cx="5486400" cy="4114800"/>
          </a:xfrm>
          <a:ln/>
        </p:spPr>
        <p:txBody>
          <a:bodyPr/>
          <a:p>
            <a:pPr lvl="0"/>
            <a:r>
              <a:rPr lang="zh-CN" altLang="en-US" sz="1000" dirty="0"/>
              <a:t>注意：充分就业不等于没有失业，而是包括了自然失业率的。</a:t>
            </a:r>
            <a:endParaRPr lang="zh-CN" altLang="en-US" sz="1000" dirty="0"/>
          </a:p>
          <a:p>
            <a:pPr lvl="0"/>
            <a:r>
              <a:rPr lang="zh-CN" altLang="en-US" sz="1000" dirty="0"/>
              <a:t>结构性失业是否是“充分就业”所能接受的？我认为也是应该接受的。结构性失业是有效供给的不足，而不是有效需求的不足。事实是凯恩斯主义没有结构性失业的概念的。</a:t>
            </a:r>
            <a:endParaRPr lang="zh-CN" altLang="en-US" sz="1000" dirty="0"/>
          </a:p>
          <a:p>
            <a:pPr lvl="0"/>
            <a:r>
              <a:rPr lang="zh-CN" altLang="en-US" dirty="0"/>
              <a:t>技术失业论，如马克思主义认为有机构成的提高，会造成失业的增加。</a:t>
            </a:r>
            <a:endParaRPr lang="zh-CN" altLang="en-US" dirty="0"/>
          </a:p>
          <a:p>
            <a:pPr lvl="0"/>
            <a:r>
              <a:rPr lang="zh-CN" altLang="en-US" dirty="0"/>
              <a:t>货币失业（供给不足）论。</a:t>
            </a:r>
            <a:endParaRPr lang="zh-CN" altLang="en-US" dirty="0"/>
          </a:p>
          <a:p>
            <a:pPr lvl="0"/>
            <a:endParaRPr lang="zh-CN" altLang="en-US" sz="1000" dirty="0"/>
          </a:p>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09570" name="幻灯片图像占位符 109569"/>
          <p:cNvSpPr>
            <a:spLocks noTextEdit="1"/>
          </p:cNvSpPr>
          <p:nvPr>
            <p:ph type="sldImg"/>
          </p:nvPr>
        </p:nvSpPr>
        <p:spPr>
          <a:ln/>
        </p:spPr>
      </p:sp>
      <p:sp>
        <p:nvSpPr>
          <p:cNvPr id="109571" name="文本占位符 109570"/>
          <p:cNvSpPr>
            <a:spLocks noGrp="1"/>
          </p:cNvSpPr>
          <p:nvPr>
            <p:ph type="body" idx="1"/>
          </p:nvPr>
        </p:nvSpPr>
        <p:spPr>
          <a:xfrm>
            <a:off x="685800" y="4343400"/>
            <a:ext cx="5486400" cy="4114800"/>
          </a:xfrm>
          <a:ln/>
        </p:spPr>
        <p:txBody>
          <a:bodyPr/>
          <a:p>
            <a:pPr lvl="0"/>
            <a:r>
              <a:rPr lang="en-US" altLang="zh-CN" sz="1000" dirty="0"/>
              <a:t>1</a:t>
            </a:r>
            <a:r>
              <a:rPr lang="zh-CN" altLang="en-US" sz="1000" dirty="0"/>
              <a:t>、是在</a:t>
            </a:r>
            <a:r>
              <a:rPr lang="en-US" altLang="zh-CN" sz="1000" dirty="0"/>
              <a:t>1971</a:t>
            </a:r>
            <a:r>
              <a:rPr lang="zh-CN" altLang="en-US" sz="1000" dirty="0"/>
              <a:t>年</a:t>
            </a:r>
            <a:r>
              <a:rPr lang="en-US" altLang="zh-CN" sz="1000" dirty="0"/>
              <a:t>《</a:t>
            </a:r>
            <a:r>
              <a:rPr lang="zh-CN" altLang="en-US" sz="1000" dirty="0"/>
              <a:t>繁荣政治经济学</a:t>
            </a:r>
            <a:r>
              <a:rPr lang="en-US" altLang="zh-CN" sz="1000" dirty="0"/>
              <a:t>》</a:t>
            </a:r>
            <a:r>
              <a:rPr lang="zh-CN" altLang="en-US" sz="1000" dirty="0"/>
              <a:t>的分析得出的。</a:t>
            </a:r>
            <a:endParaRPr lang="zh-CN" altLang="en-US" sz="1000" dirty="0"/>
          </a:p>
          <a:p>
            <a:pPr lvl="0"/>
            <a:r>
              <a:rPr lang="en-US" altLang="zh-CN" sz="1000" dirty="0"/>
              <a:t>2</a:t>
            </a:r>
            <a:r>
              <a:rPr lang="zh-CN" altLang="en-US" sz="1000" dirty="0"/>
              <a:t>、按此计算，可测算与失业率相关的产出水平的损失。</a:t>
            </a:r>
            <a:endParaRPr lang="zh-CN" altLang="en-US" sz="1000" dirty="0"/>
          </a:p>
          <a:p>
            <a:pPr lvl="0"/>
            <a:r>
              <a:rPr lang="en-US" altLang="zh-CN" sz="1000" dirty="0"/>
              <a:t>3</a:t>
            </a:r>
            <a:r>
              <a:rPr lang="zh-CN" altLang="en-US" sz="1000" dirty="0"/>
              <a:t>、失业的边缘化和年轻化。</a:t>
            </a:r>
            <a:endParaRPr lang="zh-CN" altLang="en-US" sz="1000" dirty="0"/>
          </a:p>
          <a:p>
            <a:pPr lvl="0"/>
            <a:r>
              <a:rPr lang="en-US" altLang="zh-CN" sz="1000" dirty="0"/>
              <a:t>4</a:t>
            </a:r>
            <a:r>
              <a:rPr lang="zh-CN" altLang="en-US" sz="1000" dirty="0"/>
              <a:t>、社会损失集中在失业者身上，而他们正是社会中的弱者，尤其是</a:t>
            </a:r>
            <a:r>
              <a:rPr lang="en-US" altLang="zh-CN" sz="1000" dirty="0"/>
              <a:t>45</a:t>
            </a:r>
            <a:r>
              <a:rPr lang="zh-CN" altLang="en-US" sz="1000" dirty="0"/>
              <a:t>岁以上的低学历者。长期失业者</a:t>
            </a:r>
            <a:endParaRPr lang="zh-CN" altLang="en-US" sz="1000" dirty="0"/>
          </a:p>
          <a:p>
            <a:pPr lvl="0"/>
            <a:endParaRPr lang="zh-CN" altLang="en-US" sz="1000" dirty="0"/>
          </a:p>
          <a:p>
            <a:pPr lvl="0"/>
            <a:endParaRPr lang="zh-CN" altLang="en-US" sz="1000" dirty="0"/>
          </a:p>
          <a:p>
            <a:pPr lvl="0"/>
            <a:endParaRPr lang="zh-CN"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11618" name="幻灯片图像占位符 111617"/>
          <p:cNvSpPr>
            <a:spLocks noTextEdit="1"/>
          </p:cNvSpPr>
          <p:nvPr>
            <p:ph type="sldImg"/>
          </p:nvPr>
        </p:nvSpPr>
        <p:spPr>
          <a:ln/>
        </p:spPr>
      </p:sp>
      <p:sp>
        <p:nvSpPr>
          <p:cNvPr id="111619" name="文本占位符 111618"/>
          <p:cNvSpPr>
            <a:spLocks noGrp="1"/>
          </p:cNvSpPr>
          <p:nvPr>
            <p:ph type="body" idx="1"/>
          </p:nvPr>
        </p:nvSpPr>
        <p:spPr>
          <a:xfrm>
            <a:off x="685800" y="4343400"/>
            <a:ext cx="5486400" cy="4114800"/>
          </a:xfrm>
          <a:ln/>
        </p:spPr>
        <p:txBody>
          <a:bodyPr/>
          <a:p>
            <a:pPr lvl="0"/>
            <a:r>
              <a:rPr lang="en-US" altLang="zh-CN" dirty="0"/>
              <a:t>1</a:t>
            </a:r>
            <a:r>
              <a:rPr lang="zh-CN" altLang="en-US" dirty="0"/>
              <a:t>、</a:t>
            </a:r>
            <a:r>
              <a:rPr lang="zh-CN" altLang="en-US" sz="1000" dirty="0"/>
              <a:t>职业介绍所充分利用传媒</a:t>
            </a:r>
            <a:endParaRPr lang="zh-CN" altLang="en-US" sz="1000" dirty="0"/>
          </a:p>
          <a:p>
            <a:pPr lvl="0"/>
            <a:r>
              <a:rPr lang="en-US" altLang="zh-CN" sz="1000" dirty="0"/>
              <a:t>3</a:t>
            </a:r>
            <a:r>
              <a:rPr lang="zh-CN" altLang="en-US" sz="1000" dirty="0"/>
              <a:t>、政府指导、支持和鼓励解决季节性失业相关的产业。包括改变业态：家庭旅舍。</a:t>
            </a:r>
            <a:endParaRPr lang="zh-CN" altLang="en-US" sz="1000" dirty="0"/>
          </a:p>
          <a:p>
            <a:pPr lvl="0"/>
            <a:r>
              <a:rPr lang="en-US" altLang="zh-CN" sz="1000" dirty="0"/>
              <a:t>5</a:t>
            </a:r>
            <a:r>
              <a:rPr lang="zh-CN" altLang="en-US" sz="1000" dirty="0"/>
              <a:t>、如</a:t>
            </a:r>
            <a:r>
              <a:rPr lang="zh-CN" altLang="en-US" dirty="0"/>
              <a:t>最低工资法等。</a:t>
            </a:r>
            <a:endParaRPr lang="zh-CN" altLang="en-US" dirty="0"/>
          </a:p>
          <a:p>
            <a:pPr lvl="0"/>
            <a:endParaRPr lang="zh-CN" altLang="en-US" sz="1000" dirty="0"/>
          </a:p>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14690" name="幻灯片图像占位符 114689"/>
          <p:cNvSpPr>
            <a:spLocks noTextEdit="1"/>
          </p:cNvSpPr>
          <p:nvPr>
            <p:ph type="sldImg"/>
          </p:nvPr>
        </p:nvSpPr>
        <p:spPr>
          <a:ln/>
        </p:spPr>
      </p:sp>
      <p:sp>
        <p:nvSpPr>
          <p:cNvPr id="114691" name="文本占位符 114690"/>
          <p:cNvSpPr>
            <a:spLocks noGrp="1"/>
          </p:cNvSpPr>
          <p:nvPr>
            <p:ph type="body" idx="1"/>
          </p:nvPr>
        </p:nvSpPr>
        <p:spPr>
          <a:xfrm>
            <a:off x="685800" y="4343400"/>
            <a:ext cx="5486400" cy="4114800"/>
          </a:xfrm>
          <a:ln/>
        </p:spPr>
        <p:txBody>
          <a:bodyPr/>
          <a:p>
            <a:pPr lvl="0"/>
            <a:r>
              <a:rPr lang="en-US" altLang="zh-CN" dirty="0"/>
              <a:t>1</a:t>
            </a:r>
            <a:r>
              <a:rPr lang="zh-CN" altLang="en-US" dirty="0"/>
              <a:t>、</a:t>
            </a:r>
            <a:r>
              <a:rPr lang="zh-CN" altLang="en-US" sz="1000" dirty="0"/>
              <a:t>比如，</a:t>
            </a:r>
            <a:r>
              <a:rPr lang="en-US" altLang="zh-CN" sz="1000" dirty="0"/>
              <a:t>2.5%</a:t>
            </a:r>
            <a:r>
              <a:rPr lang="zh-CN" altLang="en-US" sz="1000" dirty="0"/>
              <a:t>的上升率就不被认为是通货膨胀。</a:t>
            </a:r>
            <a:endParaRPr lang="zh-CN" altLang="en-US" sz="1000" dirty="0"/>
          </a:p>
          <a:p>
            <a:pPr lvl="0"/>
            <a:r>
              <a:rPr lang="en-US" altLang="zh-CN" dirty="0"/>
              <a:t>2</a:t>
            </a:r>
            <a:r>
              <a:rPr lang="zh-CN" altLang="en-US" dirty="0"/>
              <a:t>、</a:t>
            </a:r>
            <a:r>
              <a:rPr lang="zh-CN" altLang="en-US" sz="1000" dirty="0"/>
              <a:t>一次性的价格调整，就不被认为是通货膨胀。</a:t>
            </a:r>
            <a:endParaRPr lang="zh-CN" altLang="en-US" sz="1000" dirty="0"/>
          </a:p>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19810" name="幻灯片图像占位符 119809"/>
          <p:cNvSpPr>
            <a:spLocks noTextEdit="1"/>
          </p:cNvSpPr>
          <p:nvPr>
            <p:ph type="sldImg"/>
          </p:nvPr>
        </p:nvSpPr>
        <p:spPr>
          <a:ln/>
        </p:spPr>
      </p:sp>
      <p:sp>
        <p:nvSpPr>
          <p:cNvPr id="119811" name="文本占位符 119810"/>
          <p:cNvSpPr>
            <a:spLocks noGrp="1"/>
          </p:cNvSpPr>
          <p:nvPr>
            <p:ph type="body" idx="1"/>
          </p:nvPr>
        </p:nvSpPr>
        <p:spPr>
          <a:xfrm>
            <a:off x="685800" y="4343400"/>
            <a:ext cx="5486400" cy="4114800"/>
          </a:xfrm>
          <a:ln/>
        </p:spPr>
        <p:txBody>
          <a:bodyPr/>
          <a:p>
            <a:pPr lvl="0"/>
            <a:r>
              <a:rPr lang="en-US" altLang="zh-CN" dirty="0"/>
              <a:t>1</a:t>
            </a:r>
            <a:r>
              <a:rPr lang="zh-CN" altLang="en-US" dirty="0"/>
              <a:t>、年率低于</a:t>
            </a:r>
            <a:r>
              <a:rPr lang="en-US" altLang="zh-CN" sz="1000" dirty="0"/>
              <a:t>10%</a:t>
            </a:r>
            <a:r>
              <a:rPr lang="zh-CN" altLang="en-US" sz="1000" dirty="0"/>
              <a:t>的通货膨胀。</a:t>
            </a:r>
            <a:endParaRPr lang="zh-CN" altLang="en-US" sz="1000" dirty="0"/>
          </a:p>
          <a:p>
            <a:pPr lvl="0"/>
            <a:r>
              <a:rPr lang="zh-CN" altLang="en-US" sz="1000" dirty="0"/>
              <a:t>     整个货币体系尚能正常运行。</a:t>
            </a:r>
            <a:endParaRPr lang="zh-CN" altLang="en-US" sz="1000" dirty="0"/>
          </a:p>
          <a:p>
            <a:pPr lvl="0"/>
            <a:r>
              <a:rPr lang="zh-CN" altLang="en-US" sz="1000" dirty="0"/>
              <a:t>     货币流通速度大体稳定。</a:t>
            </a:r>
            <a:endParaRPr lang="zh-CN" altLang="en-US" sz="1000" dirty="0"/>
          </a:p>
          <a:p>
            <a:pPr lvl="0"/>
            <a:r>
              <a:rPr lang="en-US" altLang="zh-CN" dirty="0"/>
              <a:t>2</a:t>
            </a:r>
            <a:r>
              <a:rPr lang="zh-CN" altLang="en-US" dirty="0"/>
              <a:t>、二</a:t>
            </a:r>
            <a:r>
              <a:rPr lang="zh-CN" altLang="en-US" sz="1000" dirty="0"/>
              <a:t>位数甚至三位数的通货膨胀。</a:t>
            </a:r>
            <a:endParaRPr lang="zh-CN" altLang="en-US" sz="1000" dirty="0"/>
          </a:p>
          <a:p>
            <a:pPr lvl="0"/>
            <a:r>
              <a:rPr lang="zh-CN" altLang="en-US" sz="1000" dirty="0"/>
              <a:t>     货币体系已被扭曲。</a:t>
            </a:r>
            <a:endParaRPr lang="zh-CN" altLang="en-US" sz="1000" dirty="0"/>
          </a:p>
          <a:p>
            <a:pPr lvl="0"/>
            <a:r>
              <a:rPr lang="zh-CN" altLang="en-US" sz="1000" dirty="0"/>
              <a:t>     货币流通速度加快。</a:t>
            </a:r>
            <a:endParaRPr lang="zh-CN" altLang="en-US" sz="1000" dirty="0"/>
          </a:p>
          <a:p>
            <a:pPr lvl="0"/>
            <a:r>
              <a:rPr lang="zh-CN" altLang="en-US" sz="1000" dirty="0"/>
              <a:t>     经济契约指数化。</a:t>
            </a:r>
            <a:endParaRPr lang="zh-CN" altLang="en-US" sz="1000" dirty="0"/>
          </a:p>
          <a:p>
            <a:pPr lvl="0"/>
            <a:r>
              <a:rPr lang="zh-CN" altLang="en-US" sz="1000" dirty="0"/>
              <a:t>     通货膨胀有了惯性，使停止通胀更为困难。</a:t>
            </a:r>
            <a:endParaRPr lang="zh-CN" altLang="en-US" sz="1000" dirty="0"/>
          </a:p>
          <a:p>
            <a:pPr lvl="0"/>
            <a:r>
              <a:rPr lang="zh-CN" altLang="en-US" sz="1000" dirty="0"/>
              <a:t>     但少数经济尚能较好地运转。</a:t>
            </a:r>
            <a:endParaRPr lang="zh-CN" altLang="en-US" sz="1000" dirty="0"/>
          </a:p>
          <a:p>
            <a:pPr lvl="0"/>
            <a:r>
              <a:rPr lang="en-US" altLang="zh-CN" dirty="0"/>
              <a:t>3</a:t>
            </a:r>
            <a:r>
              <a:rPr lang="zh-CN" altLang="en-US" dirty="0"/>
              <a:t>、</a:t>
            </a:r>
            <a:r>
              <a:rPr lang="zh-CN" altLang="en-US" sz="1000" dirty="0"/>
              <a:t>玻利维亚的</a:t>
            </a:r>
            <a:r>
              <a:rPr lang="en-US" altLang="zh-CN" sz="1000" dirty="0"/>
              <a:t>985</a:t>
            </a:r>
            <a:r>
              <a:rPr lang="zh-CN" altLang="en-US" sz="1000" dirty="0"/>
              <a:t>年通胀为</a:t>
            </a:r>
            <a:r>
              <a:rPr lang="en-US" altLang="zh-CN" sz="1000" dirty="0"/>
              <a:t>23,000</a:t>
            </a:r>
            <a:r>
              <a:rPr lang="zh-CN" altLang="en-US" sz="1000" dirty="0"/>
              <a:t>。</a:t>
            </a:r>
            <a:endParaRPr lang="zh-CN" altLang="en-US" sz="1000" dirty="0"/>
          </a:p>
          <a:p>
            <a:pPr lvl="0"/>
            <a:r>
              <a:rPr lang="zh-CN" altLang="en-US" sz="1000" dirty="0"/>
              <a:t>     货币流通速度极大地加快，相对价格极不稳定。</a:t>
            </a:r>
            <a:endParaRPr lang="zh-CN" altLang="en-US" sz="1000" dirty="0"/>
          </a:p>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22882" name="幻灯片图像占位符 122881"/>
          <p:cNvSpPr>
            <a:spLocks noTextEdit="1"/>
          </p:cNvSpPr>
          <p:nvPr>
            <p:ph type="sldImg"/>
          </p:nvPr>
        </p:nvSpPr>
        <p:spPr>
          <a:ln/>
        </p:spPr>
      </p:sp>
      <p:sp>
        <p:nvSpPr>
          <p:cNvPr id="122883" name="文本占位符 122882"/>
          <p:cNvSpPr>
            <a:spLocks noGrp="1"/>
          </p:cNvSpPr>
          <p:nvPr>
            <p:ph type="body" idx="1"/>
          </p:nvPr>
        </p:nvSpPr>
        <p:spPr>
          <a:xfrm>
            <a:off x="685800" y="4343400"/>
            <a:ext cx="5486400" cy="4114800"/>
          </a:xfrm>
          <a:ln/>
        </p:spPr>
        <p:txBody>
          <a:bodyPr/>
          <a:p>
            <a:pPr lvl="0"/>
            <a:r>
              <a:rPr lang="zh-CN" altLang="en-US" sz="1800" dirty="0"/>
              <a:t>按原因分类的四种通货膨胀。</a:t>
            </a:r>
            <a:endParaRPr lang="zh-CN" altLang="en-US" sz="18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24930" name="幻灯片图像占位符 124929"/>
          <p:cNvSpPr>
            <a:spLocks noTextEdit="1"/>
          </p:cNvSpPr>
          <p:nvPr>
            <p:ph type="sldImg"/>
          </p:nvPr>
        </p:nvSpPr>
        <p:spPr>
          <a:ln/>
        </p:spPr>
      </p:sp>
      <p:sp>
        <p:nvSpPr>
          <p:cNvPr id="124931" name="文本占位符 124930"/>
          <p:cNvSpPr>
            <a:spLocks noGrp="1"/>
          </p:cNvSpPr>
          <p:nvPr>
            <p:ph type="body" idx="1"/>
          </p:nvPr>
        </p:nvSpPr>
        <p:spPr>
          <a:xfrm>
            <a:off x="685800" y="4343400"/>
            <a:ext cx="5486400" cy="4114800"/>
          </a:xfrm>
          <a:ln/>
        </p:spPr>
        <p:txBody>
          <a:bodyPr/>
          <a:p>
            <a:pPr lvl="0"/>
            <a:r>
              <a:rPr lang="zh-CN" altLang="en-US" sz="1800" dirty="0"/>
              <a:t>按原因分类的四种通货膨胀。</a:t>
            </a:r>
            <a:endParaRPr lang="zh-CN" altLang="en-US" sz="18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29026" name="幻灯片图像占位符 129025"/>
          <p:cNvSpPr>
            <a:spLocks noTextEdit="1"/>
          </p:cNvSpPr>
          <p:nvPr>
            <p:ph type="sldImg"/>
          </p:nvPr>
        </p:nvSpPr>
        <p:spPr>
          <a:ln/>
        </p:spPr>
      </p:sp>
      <p:sp>
        <p:nvSpPr>
          <p:cNvPr id="129027" name="文本占位符 129026"/>
          <p:cNvSpPr>
            <a:spLocks noGrp="1"/>
          </p:cNvSpPr>
          <p:nvPr>
            <p:ph type="body" idx="1"/>
          </p:nvPr>
        </p:nvSpPr>
        <p:spPr>
          <a:xfrm>
            <a:off x="685800" y="4343400"/>
            <a:ext cx="5486400" cy="4114800"/>
          </a:xfrm>
          <a:ln/>
        </p:spPr>
        <p:txBody>
          <a:bodyPr/>
          <a:p>
            <a:pPr lvl="0"/>
            <a:endParaRPr lang="en-US" altLang="zh-CN" sz="1000" dirty="0"/>
          </a:p>
          <a:p>
            <a:pPr lvl="0"/>
            <a:r>
              <a:rPr lang="zh-CN" altLang="en-US" sz="1800" dirty="0"/>
              <a:t>比如石油危机时的价格。</a:t>
            </a:r>
            <a:endParaRPr lang="zh-CN" altLang="en-US" sz="1800" dirty="0"/>
          </a:p>
          <a:p>
            <a:pPr lvl="0"/>
            <a:endParaRPr lang="zh-CN" altLang="en-US" sz="18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31074" name="幻灯片图像占位符 131073"/>
          <p:cNvSpPr>
            <a:spLocks noTextEdit="1"/>
          </p:cNvSpPr>
          <p:nvPr>
            <p:ph type="sldImg"/>
          </p:nvPr>
        </p:nvSpPr>
        <p:spPr>
          <a:ln/>
        </p:spPr>
      </p:sp>
      <p:sp>
        <p:nvSpPr>
          <p:cNvPr id="131075" name="文本占位符 131074"/>
          <p:cNvSpPr>
            <a:spLocks noGrp="1"/>
          </p:cNvSpPr>
          <p:nvPr>
            <p:ph type="body" idx="1"/>
          </p:nvPr>
        </p:nvSpPr>
        <p:spPr>
          <a:xfrm>
            <a:off x="685800" y="4343400"/>
            <a:ext cx="5486400" cy="4114800"/>
          </a:xfrm>
          <a:ln/>
        </p:spPr>
        <p:txBody>
          <a:bodyPr/>
          <a:p>
            <a:pPr lvl="0"/>
            <a:r>
              <a:rPr lang="en-US" altLang="zh-CN" sz="1800" dirty="0"/>
              <a:t>1</a:t>
            </a:r>
            <a:r>
              <a:rPr lang="zh-CN" altLang="en-US" sz="1800" dirty="0"/>
              <a:t>、经济增长，需求增加。</a:t>
            </a:r>
            <a:endParaRPr lang="zh-CN" altLang="en-US" sz="1800" dirty="0"/>
          </a:p>
          <a:p>
            <a:pPr lvl="0"/>
            <a:r>
              <a:rPr lang="en-US" altLang="zh-CN" sz="1800" dirty="0"/>
              <a:t>2</a:t>
            </a:r>
            <a:r>
              <a:rPr lang="zh-CN" altLang="en-US" sz="1800" dirty="0"/>
              <a:t>、刚性结构，导致成本推动。</a:t>
            </a:r>
            <a:endParaRPr lang="zh-CN" altLang="en-US" sz="18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34146" name="幻灯片图像占位符 134145"/>
          <p:cNvSpPr>
            <a:spLocks noTextEdit="1"/>
          </p:cNvSpPr>
          <p:nvPr>
            <p:ph type="sldImg"/>
          </p:nvPr>
        </p:nvSpPr>
        <p:spPr>
          <a:ln/>
        </p:spPr>
      </p:sp>
      <p:sp>
        <p:nvSpPr>
          <p:cNvPr id="134147" name="文本占位符 134146"/>
          <p:cNvSpPr>
            <a:spLocks noGrp="1"/>
          </p:cNvSpPr>
          <p:nvPr>
            <p:ph type="body" idx="1"/>
          </p:nvPr>
        </p:nvSpPr>
        <p:spPr>
          <a:xfrm>
            <a:off x="685800" y="4343400"/>
            <a:ext cx="5486400" cy="4114800"/>
          </a:xfrm>
          <a:ln/>
        </p:spPr>
        <p:txBody>
          <a:bodyPr/>
          <a:p>
            <a:pPr lvl="0"/>
            <a:r>
              <a:rPr lang="en-US" altLang="zh-CN" sz="1800" dirty="0"/>
              <a:t>1</a:t>
            </a:r>
            <a:r>
              <a:rPr lang="zh-CN" altLang="en-US" sz="1800" dirty="0"/>
              <a:t>、工会的集体谈判，导致工资刚性。夕阳工业和服务业，工资的上升。</a:t>
            </a:r>
            <a:endParaRPr lang="zh-CN" altLang="en-US" sz="1800" dirty="0"/>
          </a:p>
          <a:p>
            <a:pPr lvl="0"/>
            <a:r>
              <a:rPr lang="en-US" altLang="zh-CN" sz="1800" dirty="0"/>
              <a:t>2</a:t>
            </a:r>
            <a:r>
              <a:rPr lang="zh-CN" altLang="en-US" sz="1800" dirty="0"/>
              <a:t>、工业与农业产品的比价。</a:t>
            </a:r>
            <a:endParaRPr lang="zh-CN" altLang="en-US" sz="18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36194" name="幻灯片图像占位符 136193"/>
          <p:cNvSpPr>
            <a:spLocks noTextEdit="1"/>
          </p:cNvSpPr>
          <p:nvPr>
            <p:ph type="sldImg"/>
          </p:nvPr>
        </p:nvSpPr>
        <p:spPr>
          <a:ln/>
        </p:spPr>
      </p:sp>
      <p:sp>
        <p:nvSpPr>
          <p:cNvPr id="136195" name="文本占位符 136194"/>
          <p:cNvSpPr>
            <a:spLocks noGrp="1"/>
          </p:cNvSpPr>
          <p:nvPr>
            <p:ph type="body" idx="1"/>
          </p:nvPr>
        </p:nvSpPr>
        <p:spPr>
          <a:xfrm>
            <a:off x="685800" y="4343400"/>
            <a:ext cx="5486400" cy="4114800"/>
          </a:xfrm>
          <a:ln/>
        </p:spPr>
        <p:txBody>
          <a:bodyPr/>
          <a:p>
            <a:pPr lvl="0"/>
            <a:r>
              <a:rPr lang="zh-CN" altLang="en-US" sz="1800" dirty="0"/>
              <a:t>主要是契约指数化。此外还有提前支出、提高工资的谈判。</a:t>
            </a:r>
            <a:endParaRPr lang="zh-CN" altLang="en-US" sz="18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40290" name="幻灯片图像占位符 140289"/>
          <p:cNvSpPr>
            <a:spLocks noTextEdit="1"/>
          </p:cNvSpPr>
          <p:nvPr>
            <p:ph type="sldImg"/>
          </p:nvPr>
        </p:nvSpPr>
        <p:spPr>
          <a:ln/>
        </p:spPr>
      </p:sp>
      <p:sp>
        <p:nvSpPr>
          <p:cNvPr id="140291" name="文本占位符 140290"/>
          <p:cNvSpPr>
            <a:spLocks noGrp="1"/>
          </p:cNvSpPr>
          <p:nvPr>
            <p:ph type="body" idx="1"/>
          </p:nvPr>
        </p:nvSpPr>
        <p:spPr>
          <a:xfrm>
            <a:off x="685800" y="4343400"/>
            <a:ext cx="5486400" cy="4114800"/>
          </a:xfrm>
          <a:ln/>
        </p:spPr>
        <p:txBody>
          <a:bodyPr/>
          <a:p>
            <a:pPr lvl="0"/>
            <a:r>
              <a:rPr lang="en-US" altLang="zh-CN" dirty="0"/>
              <a:t>1</a:t>
            </a:r>
            <a:r>
              <a:rPr lang="zh-CN" altLang="en-US" dirty="0"/>
              <a:t>、</a:t>
            </a:r>
            <a:r>
              <a:rPr lang="zh-CN" altLang="en-US" sz="1000" dirty="0"/>
              <a:t>减少政府支出，增加政府税收。</a:t>
            </a:r>
            <a:endParaRPr lang="zh-CN" altLang="en-US" sz="1000" dirty="0"/>
          </a:p>
          <a:p>
            <a:pPr lvl="0"/>
            <a:r>
              <a:rPr lang="en-US" altLang="zh-CN" dirty="0"/>
              <a:t>2</a:t>
            </a:r>
            <a:r>
              <a:rPr lang="zh-CN" altLang="en-US" dirty="0"/>
              <a:t>、</a:t>
            </a:r>
            <a:r>
              <a:rPr lang="zh-CN" altLang="en-US" sz="1000" dirty="0"/>
              <a:t>减少货币供给，提高市场利率。</a:t>
            </a:r>
            <a:endParaRPr lang="zh-CN" altLang="en-US" sz="1000" dirty="0"/>
          </a:p>
          <a:p>
            <a:pPr lvl="0"/>
            <a:r>
              <a:rPr lang="en-US" altLang="zh-CN" sz="1000" dirty="0"/>
              <a:t>3</a:t>
            </a:r>
            <a:r>
              <a:rPr lang="zh-CN" altLang="en-US" sz="1000" dirty="0"/>
              <a:t>、即对工资和价格的控制。它是通过使总供给曲线不能上升，甚至下降而达到降低通货膨胀的的目的。只能短期使用，而且效果欠佳，副作用明显。</a:t>
            </a:r>
            <a:endParaRPr lang="zh-CN" altLang="en-US" sz="1000" dirty="0"/>
          </a:p>
          <a:p>
            <a:pPr lvl="0"/>
            <a:r>
              <a:rPr lang="en-US" altLang="zh-CN" sz="1000" dirty="0"/>
              <a:t>4</a:t>
            </a:r>
            <a:r>
              <a:rPr lang="zh-CN" altLang="en-US" sz="1000" dirty="0"/>
              <a:t>、支持朝阳工业发展的同时，积极帮助夕阳工业完成退出过程，减少结构磨擦。</a:t>
            </a:r>
            <a:endParaRPr lang="zh-CN" altLang="en-US" sz="1000" dirty="0"/>
          </a:p>
          <a:p>
            <a:pPr lvl="0"/>
            <a:endParaRPr lang="zh-CN" altLang="en-US" sz="1000" dirty="0"/>
          </a:p>
          <a:p>
            <a:pPr lvl="0"/>
            <a:endParaRPr lang="zh-CN" altLang="en-US" sz="1000" dirty="0"/>
          </a:p>
          <a:p>
            <a:pPr lvl="0"/>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43362" name="幻灯片图像占位符 143361"/>
          <p:cNvSpPr>
            <a:spLocks noTextEdit="1"/>
          </p:cNvSpPr>
          <p:nvPr>
            <p:ph type="sldImg"/>
          </p:nvPr>
        </p:nvSpPr>
        <p:spPr>
          <a:ln/>
        </p:spPr>
      </p:sp>
      <p:sp>
        <p:nvSpPr>
          <p:cNvPr id="143363" name="文本占位符 143362"/>
          <p:cNvSpPr>
            <a:spLocks noGrp="1"/>
          </p:cNvSpPr>
          <p:nvPr>
            <p:ph type="body" idx="1"/>
          </p:nvPr>
        </p:nvSpPr>
        <p:spPr>
          <a:xfrm>
            <a:off x="685800" y="4343400"/>
            <a:ext cx="5486400" cy="4114800"/>
          </a:xfrm>
          <a:ln/>
        </p:spPr>
        <p:txBody>
          <a:bodyPr/>
          <a:p>
            <a:pPr lvl="0"/>
            <a:r>
              <a:rPr lang="en-US" altLang="zh-CN" sz="1800" dirty="0"/>
              <a:t>1</a:t>
            </a:r>
            <a:r>
              <a:rPr lang="zh-CN" altLang="en-US" sz="1800" dirty="0"/>
              <a:t>、他是新西兰人，在英国工作。</a:t>
            </a:r>
            <a:r>
              <a:rPr lang="en-US" altLang="zh-CN" sz="1800" dirty="0"/>
              <a:t>1958</a:t>
            </a:r>
            <a:r>
              <a:rPr lang="zh-CN" altLang="en-US" sz="1800" dirty="0"/>
              <a:t>年根据英国</a:t>
            </a:r>
            <a:r>
              <a:rPr lang="en-US" altLang="zh-CN" sz="1800" dirty="0"/>
              <a:t>1861-1957</a:t>
            </a:r>
            <a:r>
              <a:rPr lang="zh-CN" altLang="en-US" sz="1800" dirty="0"/>
              <a:t>年的失业率和货币工资变动率的统计资料提出了菲利普斯曲线。</a:t>
            </a:r>
            <a:endParaRPr lang="zh-CN" altLang="en-US" sz="1800" dirty="0"/>
          </a:p>
          <a:p>
            <a:pPr lvl="0"/>
            <a:endParaRPr lang="zh-CN" altLang="en-US" sz="18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45410" name="幻灯片图像占位符 145409"/>
          <p:cNvSpPr>
            <a:spLocks noTextEdit="1"/>
          </p:cNvSpPr>
          <p:nvPr>
            <p:ph type="sldImg"/>
          </p:nvPr>
        </p:nvSpPr>
        <p:spPr>
          <a:ln/>
        </p:spPr>
      </p:sp>
      <p:sp>
        <p:nvSpPr>
          <p:cNvPr id="145411" name="文本占位符 145410"/>
          <p:cNvSpPr>
            <a:spLocks noGrp="1"/>
          </p:cNvSpPr>
          <p:nvPr>
            <p:ph type="body" idx="1"/>
          </p:nvPr>
        </p:nvSpPr>
        <p:spPr>
          <a:xfrm>
            <a:off x="685800" y="4343400"/>
            <a:ext cx="5486400" cy="4114800"/>
          </a:xfrm>
          <a:ln/>
        </p:spPr>
        <p:txBody>
          <a:bodyPr/>
          <a:p>
            <a:pPr lvl="1"/>
            <a:r>
              <a:rPr lang="zh-CN" altLang="en-US" sz="1800" dirty="0"/>
              <a:t>如果，状态超过</a:t>
            </a:r>
            <a:r>
              <a:rPr lang="en-US" altLang="zh-CN" sz="1800" dirty="0"/>
              <a:t>Y</a:t>
            </a:r>
            <a:r>
              <a:rPr lang="zh-CN" altLang="en-US" sz="1800" dirty="0"/>
              <a:t>的界限，政府就需要采取扩张的或紧缩的财政与货币政策，使状态回到</a:t>
            </a:r>
            <a:r>
              <a:rPr lang="en-US" altLang="zh-CN" sz="1800" dirty="0"/>
              <a:t>Y</a:t>
            </a:r>
            <a:r>
              <a:rPr lang="zh-CN" altLang="en-US" sz="1800" dirty="0"/>
              <a:t>的界限以内。</a:t>
            </a:r>
            <a:endParaRPr lang="zh-CN" altLang="en-US" sz="1800" dirty="0"/>
          </a:p>
          <a:p>
            <a:pPr lvl="0"/>
            <a:endParaRPr lang="zh-CN" altLang="en-US" sz="18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9218" name="矩形 9217"/>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9219" name="任意多边形 9218"/>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9220" name="任意多边形 9219"/>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9221" name="任意多边形 9220"/>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9222" name="任意多边形 9221"/>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3" name="任意多边形 9222"/>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9224" name="任意多边形 9223"/>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5" name="任意多边形 9224"/>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9226" name="标题 9225"/>
          <p:cNvSpPr>
            <a:spLocks noGrp="1"/>
          </p:cNvSpPr>
          <p:nvPr>
            <p:ph type="ctrTitle"/>
          </p:nvPr>
        </p:nvSpPr>
        <p:spPr>
          <a:xfrm>
            <a:off x="685800" y="2286000"/>
            <a:ext cx="7772400" cy="1143000"/>
          </a:xfrm>
          <a:prstGeom prst="rect">
            <a:avLst/>
          </a:prstGeom>
          <a:noFill/>
          <a:ln w="9525">
            <a:noFill/>
          </a:ln>
        </p:spPr>
        <p:txBody>
          <a:bodyPr anchor="ctr" anchorCtr="0"/>
          <a:lstStyle>
            <a:lvl1pPr lvl="0">
              <a:buClrTx/>
              <a:buSzTx/>
              <a:buFontTx/>
              <a:defRPr/>
            </a:lvl1pPr>
          </a:lstStyle>
          <a:p>
            <a:pPr lvl="0"/>
            <a:r>
              <a:rPr lang="zh-CN" altLang="en-US" dirty="0"/>
              <a:t>单击此处编辑母版标题样式</a:t>
            </a:r>
            <a:endParaRPr lang="zh-CN" altLang="zh-CN" dirty="0"/>
          </a:p>
        </p:txBody>
      </p:sp>
      <p:sp>
        <p:nvSpPr>
          <p:cNvPr id="9227" name="副标题 9226"/>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Tx/>
              <a:buSzTx/>
              <a:buFontTx/>
              <a:buNone/>
              <a:defRPr/>
            </a:lvl1pPr>
            <a:lvl2pPr marL="457200" lvl="1" indent="0" algn="ctr">
              <a:buClrTx/>
              <a:buSzTx/>
              <a:buFontTx/>
              <a:buNone/>
              <a:defRPr/>
            </a:lvl2pPr>
            <a:lvl3pPr marL="914400" lvl="2" indent="0" algn="ctr">
              <a:buClrTx/>
              <a:buSzTx/>
              <a:buFontTx/>
              <a:buNone/>
              <a:defRPr/>
            </a:lvl3pPr>
            <a:lvl4pPr marL="1371600" lvl="3" indent="0" algn="ctr">
              <a:buClrTx/>
              <a:buSzTx/>
              <a:buFontTx/>
              <a:buNone/>
              <a:defRPr/>
            </a:lvl4pPr>
            <a:lvl5pPr marL="1828800" lvl="4" indent="0" algn="ctr">
              <a:buClrTx/>
              <a:buSzTx/>
              <a:buFontTx/>
              <a:buNone/>
              <a:defRPr/>
            </a:lvl5pPr>
          </a:lstStyle>
          <a:p>
            <a:pPr lvl="0"/>
            <a:r>
              <a:rPr lang="zh-CN" altLang="en-US" dirty="0"/>
              <a:t>单击此处编辑母版副标题样式</a:t>
            </a:r>
            <a:endParaRPr lang="zh-CN" altLang="en-US" dirty="0"/>
          </a:p>
        </p:txBody>
      </p:sp>
      <p:sp>
        <p:nvSpPr>
          <p:cNvPr id="9228" name="日期占位符 9227"/>
          <p:cNvSpPr>
            <a:spLocks noGrp="1"/>
          </p:cNvSpPr>
          <p:nvPr>
            <p:ph type="dt" sz="half" idx="2"/>
          </p:nvPr>
        </p:nvSpPr>
        <p:spPr>
          <a:xfrm>
            <a:off x="685800" y="6248400"/>
            <a:ext cx="1905000" cy="457200"/>
          </a:xfrm>
          <a:prstGeom prst="rect">
            <a:avLst/>
          </a:prstGeom>
          <a:noFill/>
          <a:ln w="9525">
            <a:noFill/>
          </a:ln>
        </p:spPr>
        <p:txBody>
          <a:bodyPr anchor="t" anchorCtr="0"/>
          <a:lstStyle>
            <a:lvl1pP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29" name="页脚占位符 9228"/>
          <p:cNvSpPr>
            <a:spLocks noGrp="1"/>
          </p:cNvSpPr>
          <p:nvPr>
            <p:ph type="ftr" sz="quarter" idx="3"/>
          </p:nvPr>
        </p:nvSpPr>
        <p:spPr>
          <a:xfrm>
            <a:off x="3124200" y="6248400"/>
            <a:ext cx="2895600" cy="457200"/>
          </a:xfrm>
          <a:prstGeom prst="rect">
            <a:avLst/>
          </a:prstGeom>
          <a:noFill/>
          <a:ln w="9525">
            <a:noFill/>
          </a:ln>
        </p:spPr>
        <p:txBody>
          <a:bodyPr anchor="t" anchorCtr="0"/>
          <a:lstStyle>
            <a:lvl1pPr algn="ct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30" name="灯片编号占位符 9229"/>
          <p:cNvSpPr>
            <a:spLocks noGrp="1"/>
          </p:cNvSpPr>
          <p:nvPr>
            <p:ph type="sldNum" sz="quarter" idx="4"/>
          </p:nvPr>
        </p:nvSpPr>
        <p:spPr>
          <a:xfrm>
            <a:off x="6553200" y="6248400"/>
            <a:ext cx="1905000" cy="457200"/>
          </a:xfrm>
          <a:prstGeom prst="rect">
            <a:avLst/>
          </a:prstGeom>
          <a:noFill/>
          <a:ln w="9525">
            <a:noFill/>
          </a:ln>
        </p:spPr>
        <p:txBody>
          <a:bodyPr anchor="t" anchorCtr="0"/>
          <a:lstStyle>
            <a:lvl1pPr algn="r">
              <a:defRPr sz="1400" b="0">
                <a:solidFill>
                  <a:srgbClr val="FFFFCC"/>
                </a:solidFill>
              </a:defRPr>
            </a:lvl1pPr>
          </a:lstStyle>
          <a:p>
            <a:pPr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0" fill="hold"/>
                                        <p:tgtEl>
                                          <p:spTgt spid="9218"/>
                                        </p:tgtEl>
                                        <p:attrNameLst>
                                          <p:attrName>ppt_x</p:attrName>
                                        </p:attrNameLst>
                                      </p:cBhvr>
                                      <p:tavLst>
                                        <p:tav tm="0">
                                          <p:val>
                                            <p:strVal val="0-#ppt_w/2"/>
                                          </p:val>
                                        </p:tav>
                                        <p:tav tm="100000">
                                          <p:val>
                                            <p:strVal val="#ppt_x"/>
                                          </p:val>
                                        </p:tav>
                                      </p:tavLst>
                                    </p:anim>
                                    <p:anim calcmode="lin" valueType="num">
                                      <p:cBhvr additive="base">
                                        <p:cTn id="8" dur="5000" fill="hold"/>
                                        <p:tgtEl>
                                          <p:spTgt spid="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8194" name="矩形 8193"/>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8195" name="任意多边形 8194"/>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8196" name="任意多边形 8195"/>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8197" name="任意多边形 8196"/>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8198" name="任意多边形 8197"/>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199" name="任意多边形 8198"/>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8200" name="任意多边形 8199"/>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201" name="任意多边形 8200"/>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8202" name="标题 8201"/>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8203" name="文本占位符 8202"/>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204" name="日期占位符 8203"/>
          <p:cNvSpPr>
            <a:spLocks noGrp="1"/>
          </p:cNvSpPr>
          <p:nvPr>
            <p:ph type="dt" sz="half" idx="2"/>
          </p:nvPr>
        </p:nvSpPr>
        <p:spPr>
          <a:xfrm>
            <a:off x="685800" y="6248400"/>
            <a:ext cx="1905000" cy="457200"/>
          </a:xfrm>
          <a:prstGeom prst="rect">
            <a:avLst/>
          </a:prstGeom>
          <a:noFill/>
          <a:ln w="9525">
            <a:noFill/>
          </a:ln>
        </p:spPr>
        <p:txBody>
          <a:bodyPr/>
          <a:lstStyle>
            <a:lvl1pPr>
              <a:defRPr sz="1400" b="0"/>
            </a:lvl1p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8205" name="页脚占位符 8204"/>
          <p:cNvSpPr>
            <a:spLocks noGrp="1"/>
          </p:cNvSpPr>
          <p:nvPr>
            <p:ph type="ftr" sz="quarter" idx="3"/>
          </p:nvPr>
        </p:nvSpPr>
        <p:spPr>
          <a:xfrm>
            <a:off x="3124200" y="6248400"/>
            <a:ext cx="2895600" cy="457200"/>
          </a:xfrm>
          <a:prstGeom prst="rect">
            <a:avLst/>
          </a:prstGeom>
          <a:noFill/>
          <a:ln w="9525">
            <a:noFill/>
          </a:ln>
        </p:spPr>
        <p:txBody>
          <a:bodyPr/>
          <a:lstStyle>
            <a:lvl1pPr algn="ctr">
              <a:defRPr sz="1400" b="0"/>
            </a:lvl1p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206" name="灯片编号占位符 8205"/>
          <p:cNvSpPr>
            <a:spLocks noGrp="1"/>
          </p:cNvSpPr>
          <p:nvPr>
            <p:ph type="sldNum" sz="quarter" idx="4"/>
          </p:nvPr>
        </p:nvSpPr>
        <p:spPr>
          <a:xfrm>
            <a:off x="6553200" y="6248400"/>
            <a:ext cx="1905000" cy="457200"/>
          </a:xfrm>
          <a:prstGeom prst="rect">
            <a:avLst/>
          </a:prstGeom>
          <a:noFill/>
          <a:ln w="9525">
            <a:noFill/>
          </a:ln>
        </p:spPr>
        <p:txBody>
          <a:bodyPr/>
          <a:lstStyle>
            <a:lvl1pPr algn="r">
              <a:defRPr sz="1400" b="0"/>
            </a:lvl1p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0" fill="hold"/>
                                        <p:tgtEl>
                                          <p:spTgt spid="8194"/>
                                        </p:tgtEl>
                                        <p:attrNameLst>
                                          <p:attrName>ppt_x</p:attrName>
                                        </p:attrNameLst>
                                      </p:cBhvr>
                                      <p:tavLst>
                                        <p:tav tm="0">
                                          <p:val>
                                            <p:strVal val="0-#ppt_w/2"/>
                                          </p:val>
                                        </p:tav>
                                        <p:tav tm="100000">
                                          <p:val>
                                            <p:strVal val="#ppt_x"/>
                                          </p:val>
                                        </p:tav>
                                      </p:tavLst>
                                    </p:anim>
                                    <p:anim calcmode="lin" valueType="num">
                                      <p:cBhvr additive="base">
                                        <p:cTn id="8" dur="5000" fill="hold"/>
                                        <p:tgtEl>
                                          <p:spTgt spid="8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Lst>
  </p:timing>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4.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0.xml"/><Relationship Id="rId2" Type="http://schemas.openxmlformats.org/officeDocument/2006/relationships/image" Target="../media/image4.wmf"/><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84993"/>
          <p:cNvSpPr>
            <a:spLocks noGrp="1"/>
          </p:cNvSpPr>
          <p:nvPr>
            <p:ph type="title"/>
          </p:nvPr>
        </p:nvSpPr>
        <p:spPr>
          <a:xfrm>
            <a:off x="611188" y="1916113"/>
            <a:ext cx="7793037" cy="1143000"/>
          </a:xfrm>
          <a:ln/>
        </p:spPr>
        <p:txBody>
          <a:bodyPr anchor="ctr" anchorCtr="0"/>
          <a:p>
            <a:r>
              <a:rPr lang="zh-CN" altLang="en-US" sz="3200" b="1" dirty="0">
                <a:solidFill>
                  <a:srgbClr val="000000"/>
                </a:solidFill>
                <a:latin typeface="黑体" panose="02010609060101010101" pitchFamily="2" charset="-122"/>
                <a:ea typeface="黑体" panose="02010609060101010101" pitchFamily="2" charset="-122"/>
              </a:rPr>
              <a:t>单元九 劳动力市场、通货膨胀及经济增长</a:t>
            </a:r>
            <a:endParaRPr lang="zh-CN" altLang="en-US" sz="3200" b="1" dirty="0">
              <a:solidFill>
                <a:srgbClr val="000000"/>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86017"/>
          <p:cNvSpPr>
            <a:spLocks noGrp="1"/>
          </p:cNvSpPr>
          <p:nvPr>
            <p:ph type="title"/>
          </p:nvPr>
        </p:nvSpPr>
        <p:spPr>
          <a:xfrm>
            <a:off x="468313" y="171450"/>
            <a:ext cx="7772400" cy="6686550"/>
          </a:xfrm>
          <a:ln/>
        </p:spPr>
        <p:txBody>
          <a:bodyPr anchor="ctr" anchorCtr="0"/>
          <a:p>
            <a:pPr algn="l"/>
            <a:r>
              <a:rPr lang="zh-CN" altLang="en-US" sz="2800" b="1" dirty="0">
                <a:solidFill>
                  <a:srgbClr val="000000"/>
                </a:solidFill>
                <a:latin typeface="宋体" panose="02010600030101010101" pitchFamily="2" charset="-122"/>
              </a:rPr>
              <a:t>劳动市场与总供需均衡</a:t>
            </a:r>
            <a:br>
              <a:rPr lang="zh-CN" altLang="en-US" sz="2800" b="1"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劳动市场</a:t>
            </a:r>
            <a:br>
              <a:rPr lang="zh-CN" altLang="en-US" sz="2000" b="1" dirty="0">
                <a:solidFill>
                  <a:srgbClr val="000000"/>
                </a:solidFill>
                <a:latin typeface="宋体" panose="02010600030101010101" pitchFamily="2" charset="-122"/>
              </a:rPr>
            </a:br>
            <a:r>
              <a:rPr lang="zh-CN" altLang="en-US" sz="2000" dirty="0">
                <a:solidFill>
                  <a:srgbClr val="000000"/>
                </a:solidFill>
                <a:latin typeface="宋体" panose="02010600030101010101" pitchFamily="2" charset="-122"/>
              </a:rPr>
              <a:t>总生产函数</a:t>
            </a:r>
            <a:r>
              <a:rPr lang="en-US" altLang="zh-CN" sz="200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是所有个别厂商的生产函数的总合。</a:t>
            </a:r>
            <a:br>
              <a:rPr lang="zh-CN" altLang="en-US" sz="2000"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一、生产和生产要素</a:t>
            </a:r>
            <a:br>
              <a:rPr lang="zh-CN" altLang="en-US" sz="24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生产要素：指生产中所使用的各种资源。</a:t>
            </a:r>
            <a:br>
              <a:rPr lang="zh-CN" altLang="en-US" sz="2400"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二、生产函数</a:t>
            </a:r>
            <a:br>
              <a:rPr lang="zh-CN" altLang="en-US" sz="2400" b="1"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生产函数：</a:t>
            </a:r>
            <a:r>
              <a:rPr lang="zh-CN" altLang="en-US" sz="2400" dirty="0">
                <a:solidFill>
                  <a:srgbClr val="000000"/>
                </a:solidFill>
                <a:latin typeface="宋体" panose="02010600030101010101" pitchFamily="2" charset="-122"/>
              </a:rPr>
              <a:t>从技术和功能角度看，企业通过生产过程将</a:t>
            </a:r>
            <a:r>
              <a:rPr lang="zh-CN" altLang="en-US" sz="2400" b="1" dirty="0">
                <a:solidFill>
                  <a:srgbClr val="000000"/>
                </a:solidFill>
                <a:latin typeface="宋体" panose="02010600030101010101" pitchFamily="2" charset="-122"/>
              </a:rPr>
              <a:t>投入品</a:t>
            </a:r>
            <a:r>
              <a:rPr lang="zh-CN" altLang="en-US" sz="2400" dirty="0">
                <a:solidFill>
                  <a:srgbClr val="000000"/>
                </a:solidFill>
                <a:latin typeface="宋体" panose="02010600030101010101" pitchFamily="2" charset="-122"/>
              </a:rPr>
              <a:t>（生产要素）转变为产出（产品），生产过程实现的投入品与最终产出之间对应的数量关系是生产函数</a:t>
            </a:r>
            <a:r>
              <a:rPr lang="en-US" altLang="zh-CN" sz="2400">
                <a:solidFill>
                  <a:srgbClr val="000000"/>
                </a:solidFill>
                <a:latin typeface="宋体" panose="02010600030101010101" pitchFamily="2" charset="-122"/>
              </a:rPr>
              <a:t>(Production function)</a:t>
            </a:r>
            <a:r>
              <a:rPr lang="zh-CN" altLang="en-US" sz="2400" dirty="0">
                <a:solidFill>
                  <a:srgbClr val="000000"/>
                </a:solidFill>
                <a:latin typeface="宋体" panose="02010600030101010101" pitchFamily="2" charset="-122"/>
              </a:rPr>
              <a:t>。</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随着知识技术不断进步，生产函数会发生变化。 </a:t>
            </a:r>
            <a:br>
              <a:rPr lang="zh-CN" altLang="en-US" sz="2400"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生产函数</a:t>
            </a:r>
            <a:r>
              <a:rPr lang="zh-CN" altLang="en-US" sz="2400" dirty="0">
                <a:solidFill>
                  <a:srgbClr val="000000"/>
                </a:solidFill>
                <a:latin typeface="宋体" panose="02010600030101010101" pitchFamily="2" charset="-122"/>
              </a:rPr>
              <a:t>：假定有两种投入品：劳动</a:t>
            </a:r>
            <a:r>
              <a:rPr lang="en-US" altLang="zh-CN" sz="2400">
                <a:solidFill>
                  <a:srgbClr val="000000"/>
                </a:solidFill>
                <a:latin typeface="宋体" panose="02010600030101010101" pitchFamily="2" charset="-122"/>
              </a:rPr>
              <a:t>L</a:t>
            </a:r>
            <a:r>
              <a:rPr lang="zh-CN" altLang="en-US" sz="2400" dirty="0">
                <a:solidFill>
                  <a:srgbClr val="000000"/>
                </a:solidFill>
                <a:latin typeface="宋体" panose="02010600030101010101" pitchFamily="2" charset="-122"/>
              </a:rPr>
              <a:t>和资本</a:t>
            </a:r>
            <a:r>
              <a:rPr lang="en-US" altLang="zh-CN" sz="2400">
                <a:solidFill>
                  <a:srgbClr val="000000"/>
                </a:solidFill>
                <a:latin typeface="宋体" panose="02010600030101010101" pitchFamily="2" charset="-122"/>
              </a:rPr>
              <a:t>K</a:t>
            </a:r>
            <a:r>
              <a:rPr lang="zh-CN" altLang="en-US" sz="2400" dirty="0">
                <a:solidFill>
                  <a:srgbClr val="000000"/>
                </a:solidFill>
                <a:latin typeface="宋体" panose="02010600030101010101" pitchFamily="2" charset="-122"/>
              </a:rPr>
              <a:t>，产出为</a:t>
            </a:r>
            <a:r>
              <a:rPr lang="en-US" altLang="zh-CN" sz="2400">
                <a:solidFill>
                  <a:srgbClr val="000000"/>
                </a:solidFill>
                <a:latin typeface="宋体" panose="02010600030101010101" pitchFamily="2" charset="-122"/>
              </a:rPr>
              <a:t>Q</a:t>
            </a:r>
            <a:r>
              <a:rPr lang="zh-CN" altLang="en-US" sz="2400" dirty="0">
                <a:solidFill>
                  <a:srgbClr val="000000"/>
                </a:solidFill>
                <a:latin typeface="宋体" panose="02010600030101010101" pitchFamily="2" charset="-122"/>
              </a:rPr>
              <a:t>，则生产函数可以表达为：</a:t>
            </a:r>
            <a:br>
              <a:rPr lang="zh-CN" altLang="en-US" sz="2400" dirty="0">
                <a:solidFill>
                  <a:srgbClr val="000000"/>
                </a:solidFill>
                <a:latin typeface="宋体" panose="02010600030101010101" pitchFamily="2" charset="-122"/>
              </a:rPr>
            </a:br>
            <a:r>
              <a:rPr lang="en-US" altLang="zh-CN" sz="2400">
                <a:solidFill>
                  <a:srgbClr val="000000"/>
                </a:solidFill>
                <a:latin typeface="宋体" panose="02010600030101010101" pitchFamily="2" charset="-122"/>
              </a:rPr>
              <a:t>Q = F </a:t>
            </a:r>
            <a:r>
              <a:rPr lang="zh-CN" altLang="en-US" sz="2400" dirty="0">
                <a:solidFill>
                  <a:srgbClr val="000000"/>
                </a:solidFill>
                <a:latin typeface="宋体" panose="02010600030101010101" pitchFamily="2" charset="-122"/>
              </a:rPr>
              <a:t>（</a:t>
            </a:r>
            <a:r>
              <a:rPr lang="en-US" altLang="zh-CN" sz="2400">
                <a:solidFill>
                  <a:srgbClr val="000000"/>
                </a:solidFill>
                <a:latin typeface="宋体" panose="02010600030101010101" pitchFamily="2" charset="-122"/>
              </a:rPr>
              <a:t>K</a:t>
            </a:r>
            <a:r>
              <a:rPr lang="zh-CN" altLang="en-US" sz="2400" dirty="0">
                <a:solidFill>
                  <a:srgbClr val="000000"/>
                </a:solidFill>
                <a:latin typeface="宋体" panose="02010600030101010101" pitchFamily="2" charset="-122"/>
              </a:rPr>
              <a:t>，</a:t>
            </a:r>
            <a:r>
              <a:rPr lang="en-US" altLang="zh-CN" sz="2400">
                <a:solidFill>
                  <a:srgbClr val="000000"/>
                </a:solidFill>
                <a:latin typeface="宋体" panose="02010600030101010101" pitchFamily="2" charset="-122"/>
              </a:rPr>
              <a:t>L</a:t>
            </a:r>
            <a:r>
              <a:rPr lang="zh-CN" altLang="en-US" sz="2400" dirty="0">
                <a:solidFill>
                  <a:srgbClr val="000000"/>
                </a:solidFill>
                <a:latin typeface="宋体" panose="02010600030101010101" pitchFamily="2" charset="-122"/>
              </a:rPr>
              <a:t>）</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说明：</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    在既定技术水平下，某一时间内为了生产一定数量的</a:t>
            </a:r>
            <a:r>
              <a:rPr lang="en-US" altLang="zh-CN" sz="2400">
                <a:solidFill>
                  <a:srgbClr val="000000"/>
                </a:solidFill>
                <a:latin typeface="宋体" panose="02010600030101010101" pitchFamily="2" charset="-122"/>
              </a:rPr>
              <a:t>Q</a:t>
            </a:r>
            <a:r>
              <a:rPr lang="zh-CN" altLang="en-US" sz="2400" dirty="0">
                <a:solidFill>
                  <a:srgbClr val="000000"/>
                </a:solidFill>
                <a:latin typeface="宋体" panose="02010600030101010101" pitchFamily="2" charset="-122"/>
              </a:rPr>
              <a:t>的某种产品，取决于所使用的资本要素</a:t>
            </a:r>
            <a:r>
              <a:rPr lang="en-US" altLang="zh-CN" sz="2400">
                <a:solidFill>
                  <a:srgbClr val="000000"/>
                </a:solidFill>
                <a:latin typeface="宋体" panose="02010600030101010101" pitchFamily="2" charset="-122"/>
              </a:rPr>
              <a:t>K</a:t>
            </a:r>
            <a:r>
              <a:rPr lang="zh-CN" altLang="en-US" sz="2400" dirty="0">
                <a:solidFill>
                  <a:srgbClr val="000000"/>
                </a:solidFill>
                <a:latin typeface="宋体" panose="02010600030101010101" pitchFamily="2" charset="-122"/>
              </a:rPr>
              <a:t>和劳动要素</a:t>
            </a:r>
            <a:r>
              <a:rPr lang="en-US" altLang="zh-CN" sz="2400">
                <a:solidFill>
                  <a:srgbClr val="000000"/>
                </a:solidFill>
                <a:latin typeface="宋体" panose="02010600030101010101" pitchFamily="2" charset="-122"/>
              </a:rPr>
              <a:t>L</a:t>
            </a:r>
            <a:r>
              <a:rPr lang="zh-CN" altLang="en-US" sz="2400" dirty="0">
                <a:solidFill>
                  <a:srgbClr val="000000"/>
                </a:solidFill>
                <a:latin typeface="宋体" panose="02010600030101010101" pitchFamily="2" charset="-122"/>
              </a:rPr>
              <a:t>的比例关系。</a:t>
            </a:r>
            <a:endParaRPr lang="zh-CN" altLang="en-US" sz="2400" dirty="0">
              <a:solidFill>
                <a:srgbClr val="000000"/>
              </a:solidFill>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标题 87041"/>
          <p:cNvSpPr>
            <a:spLocks noGrp="1"/>
          </p:cNvSpPr>
          <p:nvPr>
            <p:ph type="title"/>
          </p:nvPr>
        </p:nvSpPr>
        <p:spPr>
          <a:xfrm>
            <a:off x="685800" y="609600"/>
            <a:ext cx="7772400" cy="5340350"/>
          </a:xfrm>
          <a:ln/>
        </p:spPr>
        <p:txBody>
          <a:bodyPr anchor="ctr" anchorCtr="0"/>
          <a:p>
            <a:pPr algn="l"/>
            <a:r>
              <a:rPr lang="en-US" altLang="zh-CN" sz="2000" b="1">
                <a:solidFill>
                  <a:srgbClr val="000000"/>
                </a:solidFill>
                <a:latin typeface="宋体" panose="02010600030101010101" pitchFamily="2" charset="-122"/>
              </a:rPr>
              <a:t>1</a:t>
            </a:r>
            <a:r>
              <a:rPr lang="zh-CN" altLang="en-US" sz="2000" b="1" dirty="0">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	瞬时：指一个极为短暂时期，厂商根本无法变动投入数量和技术水平  </a:t>
            </a:r>
            <a:br>
              <a:rPr lang="zh-CN" altLang="en-US" sz="2400" b="1"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         </a:t>
            </a:r>
            <a:br>
              <a:rPr lang="zh-CN" altLang="en-US" sz="2400" b="1" dirty="0">
                <a:solidFill>
                  <a:srgbClr val="000000"/>
                </a:solidFill>
                <a:latin typeface="宋体" panose="02010600030101010101" pitchFamily="2" charset="-122"/>
              </a:rPr>
            </a:br>
            <a:r>
              <a:rPr lang="en-US" altLang="zh-CN" sz="2400" b="1">
                <a:solidFill>
                  <a:srgbClr val="000000"/>
                </a:solidFill>
                <a:latin typeface="宋体" panose="02010600030101010101" pitchFamily="2" charset="-122"/>
              </a:rPr>
              <a:t>2</a:t>
            </a:r>
            <a:r>
              <a:rPr lang="zh-CN" altLang="en-US" sz="2400" b="1" dirty="0">
                <a:solidFill>
                  <a:srgbClr val="000000"/>
                </a:solidFill>
                <a:latin typeface="宋体" panose="02010600030101010101" pitchFamily="2" charset="-122"/>
              </a:rPr>
              <a:t>、	短期：指一个相当短的时期，厂商只能变动一部分要素的投入</a:t>
            </a:r>
            <a:br>
              <a:rPr lang="zh-CN" altLang="en-US" sz="24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资本：指用于生产的一切资本品，如设备、厂房等，而不是投入的货币</a:t>
            </a:r>
            <a:br>
              <a:rPr lang="zh-CN" altLang="en-US" sz="2400" b="1" dirty="0">
                <a:solidFill>
                  <a:srgbClr val="000000"/>
                </a:solidFill>
                <a:latin typeface="宋体" panose="02010600030101010101" pitchFamily="2" charset="-122"/>
              </a:rPr>
            </a:br>
            <a:r>
              <a:rPr lang="en-US" altLang="zh-CN" sz="2400" b="1">
                <a:solidFill>
                  <a:srgbClr val="000000"/>
                </a:solidFill>
                <a:latin typeface="宋体" panose="02010600030101010101" pitchFamily="2" charset="-122"/>
              </a:rPr>
              <a:t>3</a:t>
            </a:r>
            <a:r>
              <a:rPr lang="zh-CN" altLang="en-US" sz="2400" b="1" dirty="0">
                <a:solidFill>
                  <a:srgbClr val="000000"/>
                </a:solidFill>
                <a:latin typeface="宋体" panose="02010600030101010101" pitchFamily="2" charset="-122"/>
              </a:rPr>
              <a:t>、	长期：指一个足够长的时期，厂商能够变动所有要素的投入</a:t>
            </a:r>
            <a:br>
              <a:rPr lang="zh-CN" altLang="en-US" sz="24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注：通过判断是否所有生产要素可变，可判断是短期还是长期生产</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p:txBody>
      </p:sp>
      <p:graphicFrame>
        <p:nvGraphicFramePr>
          <p:cNvPr id="87046" name="内容占位符 87045"/>
          <p:cNvGraphicFramePr/>
          <p:nvPr>
            <p:ph sz="half" idx="1"/>
          </p:nvPr>
        </p:nvGraphicFramePr>
        <p:xfrm>
          <a:off x="3635375" y="4149725"/>
          <a:ext cx="1800225" cy="542925"/>
        </p:xfrm>
        <a:graphic>
          <a:graphicData uri="http://schemas.openxmlformats.org/presentationml/2006/ole">
            <mc:AlternateContent xmlns:mc="http://schemas.openxmlformats.org/markup-compatibility/2006">
              <mc:Choice xmlns:v="urn:schemas-microsoft-com:vml" Requires="v">
                <p:oleObj spid="_x0000_s3077" name="" r:id="rId1" imgW="799465" imgH="241300" progId="Equation.3">
                  <p:embed/>
                </p:oleObj>
              </mc:Choice>
              <mc:Fallback>
                <p:oleObj name="" r:id="rId1" imgW="799465" imgH="241300" progId="Equation.3">
                  <p:embed/>
                  <p:pic>
                    <p:nvPicPr>
                      <p:cNvPr id="0" name="图片 3076"/>
                      <p:cNvPicPr/>
                      <p:nvPr/>
                    </p:nvPicPr>
                    <p:blipFill>
                      <a:blip r:embed="rId2"/>
                      <a:stretch>
                        <a:fillRect/>
                      </a:stretch>
                    </p:blipFill>
                    <p:spPr>
                      <a:xfrm>
                        <a:off x="3635375" y="4149725"/>
                        <a:ext cx="1800225" cy="542925"/>
                      </a:xfrm>
                      <a:prstGeom prst="rect">
                        <a:avLst/>
                      </a:prstGeom>
                      <a:solidFill>
                        <a:schemeClr val="bg1"/>
                      </a:solidFill>
                      <a:ln w="38100">
                        <a:miter/>
                      </a:ln>
                    </p:spPr>
                  </p:pic>
                </p:oleObj>
              </mc:Fallback>
            </mc:AlternateContent>
          </a:graphicData>
        </a:graphic>
      </p:graphicFrame>
      <p:graphicFrame>
        <p:nvGraphicFramePr>
          <p:cNvPr id="87045" name="对象 87044"/>
          <p:cNvGraphicFramePr/>
          <p:nvPr/>
        </p:nvGraphicFramePr>
        <p:xfrm>
          <a:off x="3657600" y="1341438"/>
          <a:ext cx="1828800" cy="574675"/>
        </p:xfrm>
        <a:graphic>
          <a:graphicData uri="http://schemas.openxmlformats.org/presentationml/2006/ole">
            <mc:AlternateContent xmlns:mc="http://schemas.openxmlformats.org/markup-compatibility/2006">
              <mc:Choice xmlns:v="urn:schemas-microsoft-com:vml" Requires="v">
                <p:oleObj spid="_x0000_s3078" name="" r:id="rId3" imgW="799465" imgH="241300" progId="Equation.3">
                  <p:embed/>
                </p:oleObj>
              </mc:Choice>
              <mc:Fallback>
                <p:oleObj name="" r:id="rId3" imgW="799465" imgH="241300" progId="Equation.3">
                  <p:embed/>
                  <p:pic>
                    <p:nvPicPr>
                      <p:cNvPr id="0" name="图片 3077"/>
                      <p:cNvPicPr/>
                      <p:nvPr/>
                    </p:nvPicPr>
                    <p:blipFill>
                      <a:blip r:embed="rId4"/>
                      <a:stretch>
                        <a:fillRect/>
                      </a:stretch>
                    </p:blipFill>
                    <p:spPr>
                      <a:xfrm>
                        <a:off x="3657600" y="1341438"/>
                        <a:ext cx="1828800" cy="574675"/>
                      </a:xfrm>
                      <a:prstGeom prst="rect">
                        <a:avLst/>
                      </a:prstGeom>
                      <a:solidFill>
                        <a:schemeClr val="bg1"/>
                      </a:solidFill>
                      <a:ln w="38100">
                        <a:noFill/>
                        <a:miter/>
                      </a:ln>
                    </p:spPr>
                  </p:pic>
                </p:oleObj>
              </mc:Fallback>
            </mc:AlternateContent>
          </a:graphicData>
        </a:graphic>
      </p:graphicFrame>
      <p:graphicFrame>
        <p:nvGraphicFramePr>
          <p:cNvPr id="87048" name="内容占位符 87047"/>
          <p:cNvGraphicFramePr/>
          <p:nvPr>
            <p:ph sz="half" idx="2"/>
          </p:nvPr>
        </p:nvGraphicFramePr>
        <p:xfrm>
          <a:off x="3635375" y="2276475"/>
          <a:ext cx="1728788" cy="530225"/>
        </p:xfrm>
        <a:graphic>
          <a:graphicData uri="http://schemas.openxmlformats.org/presentationml/2006/ole">
            <mc:AlternateContent xmlns:mc="http://schemas.openxmlformats.org/markup-compatibility/2006">
              <mc:Choice xmlns:v="urn:schemas-microsoft-com:vml" Requires="v">
                <p:oleObj spid="_x0000_s3076" name="" r:id="rId5" imgW="799465" imgH="241300" progId="Equation.3">
                  <p:embed/>
                </p:oleObj>
              </mc:Choice>
              <mc:Fallback>
                <p:oleObj name="" r:id="rId5" imgW="799465" imgH="241300" progId="Equation.3">
                  <p:embed/>
                  <p:pic>
                    <p:nvPicPr>
                      <p:cNvPr id="0" name="图片 3075"/>
                      <p:cNvPicPr/>
                      <p:nvPr/>
                    </p:nvPicPr>
                    <p:blipFill>
                      <a:blip r:embed="rId6"/>
                      <a:stretch>
                        <a:fillRect/>
                      </a:stretch>
                    </p:blipFill>
                    <p:spPr>
                      <a:xfrm>
                        <a:off x="3635375" y="2276475"/>
                        <a:ext cx="1728788" cy="530225"/>
                      </a:xfrm>
                      <a:prstGeom prst="rect">
                        <a:avLst/>
                      </a:prstGeom>
                      <a:solidFill>
                        <a:schemeClr val="bg1"/>
                      </a:solidFill>
                      <a:ln w="38100">
                        <a:miter/>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88065"/>
          <p:cNvSpPr>
            <a:spLocks noGrp="1"/>
          </p:cNvSpPr>
          <p:nvPr>
            <p:ph type="title"/>
          </p:nvPr>
        </p:nvSpPr>
        <p:spPr>
          <a:xfrm>
            <a:off x="539750" y="260350"/>
            <a:ext cx="8229600" cy="6153150"/>
          </a:xfrm>
          <a:ln/>
        </p:spPr>
        <p:txBody>
          <a:bodyPr anchor="ctr" anchorCtr="0"/>
          <a:p>
            <a:pPr algn="l"/>
            <a:r>
              <a:rPr lang="zh-CN" altLang="en-US" sz="2800" b="1" dirty="0">
                <a:solidFill>
                  <a:srgbClr val="FF0000"/>
                </a:solidFill>
                <a:latin typeface="宋体" panose="02010600030101010101" pitchFamily="2" charset="-122"/>
              </a:rPr>
              <a:t>劳动市场与工资决定</a:t>
            </a:r>
            <a:br>
              <a:rPr lang="zh-CN" altLang="en-US" sz="2800" b="1" dirty="0">
                <a:solidFill>
                  <a:srgbClr val="FF0000"/>
                </a:solidFill>
                <a:latin typeface="宋体" panose="02010600030101010101" pitchFamily="2" charset="-122"/>
              </a:rPr>
            </a:br>
            <a:r>
              <a:rPr lang="zh-CN" altLang="en-US" sz="2800" b="1" dirty="0">
                <a:solidFill>
                  <a:srgbClr val="FF0000"/>
                </a:solidFill>
                <a:latin typeface="宋体" panose="02010600030101010101" pitchFamily="2" charset="-122"/>
              </a:rPr>
              <a:t>企业的劳动需求</a:t>
            </a:r>
            <a:br>
              <a:rPr lang="zh-CN" altLang="en-US" sz="2800" b="1" dirty="0">
                <a:solidFill>
                  <a:schemeClr val="tx1"/>
                </a:solidFill>
                <a:latin typeface="宋体" panose="02010600030101010101" pitchFamily="2" charset="-122"/>
              </a:rPr>
            </a:br>
            <a:r>
              <a:rPr lang="zh-CN" altLang="en-US" sz="2800" b="1" dirty="0">
                <a:solidFill>
                  <a:srgbClr val="FF0000"/>
                </a:solidFill>
                <a:latin typeface="宋体" panose="02010600030101010101" pitchFamily="2" charset="-122"/>
              </a:rPr>
              <a:t>边际劳动产量：</a:t>
            </a:r>
            <a:r>
              <a:rPr lang="zh-CN" altLang="en-US" sz="2800" b="1" dirty="0">
                <a:solidFill>
                  <a:srgbClr val="000000"/>
                </a:solidFill>
                <a:latin typeface="宋体" panose="02010600030101010101" pitchFamily="2" charset="-122"/>
              </a:rPr>
              <a:t>增加一单位劳动引起的产量的增加。</a:t>
            </a:r>
            <a:br>
              <a:rPr lang="zh-CN" altLang="en-US" sz="2800" b="1" dirty="0">
                <a:solidFill>
                  <a:srgbClr val="000000"/>
                </a:solidFill>
                <a:latin typeface="宋体" panose="02010600030101010101" pitchFamily="2" charset="-122"/>
              </a:rPr>
            </a:br>
            <a:r>
              <a:rPr lang="zh-CN" altLang="en-US" sz="2800" b="1" dirty="0">
                <a:solidFill>
                  <a:srgbClr val="FF0000"/>
                </a:solidFill>
                <a:latin typeface="宋体" panose="02010600030101010101" pitchFamily="2" charset="-122"/>
              </a:rPr>
              <a:t>边际劳动产值</a:t>
            </a:r>
            <a:r>
              <a:rPr lang="zh-CN" altLang="en-US" sz="2800" b="1" dirty="0">
                <a:solidFill>
                  <a:schemeClr val="tx1"/>
                </a:solidFill>
                <a:latin typeface="宋体" panose="02010600030101010101" pitchFamily="2" charset="-122"/>
              </a:rPr>
              <a:t>：</a:t>
            </a:r>
            <a:r>
              <a:rPr lang="zh-CN" altLang="en-US" sz="2800" b="1" dirty="0">
                <a:solidFill>
                  <a:srgbClr val="000000"/>
                </a:solidFill>
                <a:latin typeface="宋体" panose="02010600030101010101" pitchFamily="2" charset="-122"/>
              </a:rPr>
              <a:t>劳动的边际产量乘以产品的价格，</a:t>
            </a:r>
            <a:r>
              <a:rPr lang="en-US" altLang="zh-CN" sz="2800" b="1">
                <a:solidFill>
                  <a:srgbClr val="000000"/>
                </a:solidFill>
                <a:latin typeface="宋体" panose="02010600030101010101" pitchFamily="2" charset="-122"/>
              </a:rPr>
              <a:t>VMP</a:t>
            </a:r>
            <a:r>
              <a:rPr lang="en-US" altLang="zh-CN" sz="2800" b="1" baseline="-25000">
                <a:solidFill>
                  <a:srgbClr val="000000"/>
                </a:solidFill>
                <a:latin typeface="宋体" panose="02010600030101010101" pitchFamily="2" charset="-122"/>
              </a:rPr>
              <a:t>L</a:t>
            </a:r>
            <a:r>
              <a:rPr lang="en-US" altLang="zh-CN" sz="2800" b="1">
                <a:solidFill>
                  <a:srgbClr val="000000"/>
                </a:solidFill>
                <a:latin typeface="宋体" panose="02010600030101010101" pitchFamily="2" charset="-122"/>
              </a:rPr>
              <a:t>=P*MP</a:t>
            </a:r>
            <a:r>
              <a:rPr lang="en-US" altLang="zh-CN" sz="2800" b="1" baseline="-25000">
                <a:solidFill>
                  <a:srgbClr val="000000"/>
                </a:solidFill>
                <a:latin typeface="宋体" panose="02010600030101010101" pitchFamily="2" charset="-122"/>
              </a:rPr>
              <a:t>L</a:t>
            </a:r>
            <a:r>
              <a:rPr lang="zh-CN" altLang="en-US" sz="2800" b="1" dirty="0">
                <a:solidFill>
                  <a:srgbClr val="000000"/>
                </a:solidFill>
                <a:latin typeface="宋体" panose="02010600030101010101" pitchFamily="2" charset="-122"/>
              </a:rPr>
              <a:t>。</a:t>
            </a:r>
            <a:br>
              <a:rPr lang="zh-CN" altLang="en-US" sz="28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假设产品市场与劳动市场均为完全竞争市场，劳动雇用量由下式决定</a:t>
            </a:r>
            <a:r>
              <a:rPr lang="en-US" altLang="zh-CN" sz="2800" b="1">
                <a:solidFill>
                  <a:srgbClr val="000000"/>
                </a:solidFill>
                <a:latin typeface="宋体" panose="02010600030101010101" pitchFamily="2" charset="-122"/>
              </a:rPr>
              <a:t>:W= P*MP</a:t>
            </a:r>
            <a:r>
              <a:rPr lang="en-US" altLang="zh-CN" sz="2800" b="1" baseline="-25000">
                <a:solidFill>
                  <a:srgbClr val="000000"/>
                </a:solidFill>
                <a:latin typeface="宋体" panose="02010600030101010101" pitchFamily="2" charset="-122"/>
              </a:rPr>
              <a:t>L</a:t>
            </a:r>
            <a:r>
              <a:rPr lang="en-US" altLang="zh-CN" sz="2800" b="1">
                <a:solidFill>
                  <a:srgbClr val="000000"/>
                </a:solidFill>
                <a:latin typeface="宋体" panose="02010600030101010101" pitchFamily="2" charset="-122"/>
              </a:rPr>
              <a:t> </a:t>
            </a:r>
            <a:br>
              <a:rPr lang="en-US" altLang="zh-CN" sz="2800" b="1">
                <a:solidFill>
                  <a:srgbClr val="000000"/>
                </a:solidFill>
                <a:latin typeface="宋体" panose="02010600030101010101" pitchFamily="2" charset="-122"/>
              </a:rPr>
            </a:br>
            <a:r>
              <a:rPr lang="en-US" altLang="zh-CN" sz="2800" b="1">
                <a:solidFill>
                  <a:srgbClr val="000000"/>
                </a:solidFill>
                <a:latin typeface="宋体" panose="02010600030101010101" pitchFamily="2" charset="-122"/>
              </a:rPr>
              <a:t>W</a:t>
            </a:r>
            <a:r>
              <a:rPr lang="zh-CN" altLang="en-US" sz="2800" b="1" dirty="0">
                <a:solidFill>
                  <a:srgbClr val="000000"/>
                </a:solidFill>
                <a:latin typeface="宋体" panose="02010600030101010101" pitchFamily="2" charset="-122"/>
              </a:rPr>
              <a:t>代表工资率，即厂商使用最后一单位劳动的边际成本， </a:t>
            </a:r>
            <a:r>
              <a:rPr lang="en-US" altLang="zh-CN" sz="2800" b="1">
                <a:solidFill>
                  <a:srgbClr val="000000"/>
                </a:solidFill>
                <a:latin typeface="宋体" panose="02010600030101010101" pitchFamily="2" charset="-122"/>
              </a:rPr>
              <a:t>MP</a:t>
            </a:r>
            <a:r>
              <a:rPr lang="en-US" altLang="zh-CN" sz="2800" b="1" baseline="-25000">
                <a:solidFill>
                  <a:srgbClr val="000000"/>
                </a:solidFill>
                <a:latin typeface="宋体" panose="02010600030101010101" pitchFamily="2" charset="-122"/>
              </a:rPr>
              <a:t>L</a:t>
            </a:r>
            <a:r>
              <a:rPr lang="en-US" altLang="zh-CN" sz="2800" b="1">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代表边际产量，而</a:t>
            </a:r>
            <a:r>
              <a:rPr lang="en-US" altLang="zh-CN" sz="2800" b="1">
                <a:solidFill>
                  <a:srgbClr val="000000"/>
                </a:solidFill>
                <a:latin typeface="宋体" panose="02010600030101010101" pitchFamily="2" charset="-122"/>
              </a:rPr>
              <a:t>P</a:t>
            </a:r>
            <a:r>
              <a:rPr lang="zh-CN" altLang="en-US" sz="2800" b="1" dirty="0">
                <a:solidFill>
                  <a:srgbClr val="000000"/>
                </a:solidFill>
                <a:latin typeface="宋体" panose="02010600030101010101" pitchFamily="2" charset="-122"/>
              </a:rPr>
              <a:t>则为产品的市场价格。</a:t>
            </a:r>
            <a:br>
              <a:rPr lang="zh-CN" altLang="en-US" sz="28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企业对劳动的需求曲线就是劳动的边际产值曲线。</a:t>
            </a:r>
            <a:br>
              <a:rPr lang="zh-CN" altLang="en-US" sz="2800" b="1" dirty="0">
                <a:solidFill>
                  <a:srgbClr val="000000"/>
                </a:solidFill>
                <a:latin typeface="宋体" panose="02010600030101010101" pitchFamily="2" charset="-122"/>
              </a:rPr>
            </a:br>
            <a:endParaRPr lang="zh-CN" altLang="en-US" dirty="0">
              <a:solidFill>
                <a:srgbClr val="000000"/>
              </a:solidFill>
              <a:latin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89089"/>
          <p:cNvSpPr>
            <a:spLocks noGrp="1"/>
          </p:cNvSpPr>
          <p:nvPr>
            <p:ph type="title"/>
          </p:nvPr>
        </p:nvSpPr>
        <p:spPr>
          <a:xfrm>
            <a:off x="611188" y="379413"/>
            <a:ext cx="7010400" cy="6145212"/>
          </a:xfrm>
          <a:ln/>
        </p:spPr>
        <p:txBody>
          <a:bodyPr anchor="ctr" anchorCtr="0"/>
          <a:p>
            <a:pPr algn="l"/>
            <a:r>
              <a:rPr lang="zh-CN" altLang="en-US" sz="2800" b="1" dirty="0">
                <a:solidFill>
                  <a:srgbClr val="FF0000"/>
                </a:solidFill>
                <a:latin typeface="宋体" panose="02010600030101010101" pitchFamily="2" charset="-122"/>
              </a:rPr>
              <a:t>市场工资决定及变动</a:t>
            </a:r>
            <a:br>
              <a:rPr lang="zh-CN" altLang="en-US" sz="2800" b="1" dirty="0">
                <a:solidFill>
                  <a:srgbClr val="FF0000"/>
                </a:solidFill>
                <a:latin typeface="宋体" panose="02010600030101010101" pitchFamily="2" charset="-122"/>
              </a:rPr>
            </a:br>
            <a:r>
              <a:rPr lang="zh-CN" altLang="en-US" sz="2800" b="1" dirty="0">
                <a:solidFill>
                  <a:srgbClr val="000000"/>
                </a:solidFill>
                <a:latin typeface="宋体" panose="02010600030101010101" pitchFamily="2" charset="-122"/>
              </a:rPr>
              <a:t>市场工资的决定：</a:t>
            </a:r>
            <a:r>
              <a:rPr lang="zh-CN" altLang="en-US" sz="2400" b="1" dirty="0">
                <a:solidFill>
                  <a:srgbClr val="000000"/>
                </a:solidFill>
                <a:latin typeface="宋体" panose="02010600030101010101" pitchFamily="2" charset="-122"/>
              </a:rPr>
              <a:t>劳动市场的供求均衡决定市场工资。</a:t>
            </a:r>
            <a:br>
              <a:rPr lang="zh-CN" altLang="en-US" sz="24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市场工资的变动</a:t>
            </a:r>
            <a:br>
              <a:rPr lang="zh-CN" altLang="en-US" sz="2800" b="1" dirty="0">
                <a:solidFill>
                  <a:srgbClr val="000000"/>
                </a:solidFill>
                <a:latin typeface="宋体" panose="02010600030101010101" pitchFamily="2" charset="-122"/>
              </a:rPr>
            </a:br>
            <a:r>
              <a:rPr lang="zh-CN" altLang="en-US" sz="2400" b="1" dirty="0">
                <a:solidFill>
                  <a:srgbClr val="FF0000"/>
                </a:solidFill>
                <a:latin typeface="宋体" panose="02010600030101010101" pitchFamily="2" charset="-122"/>
              </a:rPr>
              <a:t>劳动供给的变动</a:t>
            </a:r>
            <a:r>
              <a:rPr lang="zh-CN" altLang="en-US" sz="2400" b="1" dirty="0">
                <a:solidFill>
                  <a:schemeClr val="tx1"/>
                </a:solidFill>
                <a:latin typeface="宋体" panose="02010600030101010101" pitchFamily="2" charset="-122"/>
              </a:rPr>
              <a:t>：</a:t>
            </a:r>
            <a:r>
              <a:rPr lang="zh-CN" altLang="en-US" sz="2400" b="1" dirty="0">
                <a:solidFill>
                  <a:srgbClr val="000000"/>
                </a:solidFill>
                <a:latin typeface="宋体" panose="02010600030101010101" pitchFamily="2" charset="-122"/>
              </a:rPr>
              <a:t>给定劳动需求不变，劳动供给增加，工资下降，反之工资上升。</a:t>
            </a:r>
            <a:br>
              <a:rPr lang="zh-CN" altLang="en-US" sz="2400" b="1" dirty="0">
                <a:solidFill>
                  <a:schemeClr val="tx1"/>
                </a:solidFill>
                <a:latin typeface="宋体" panose="02010600030101010101" pitchFamily="2" charset="-122"/>
              </a:rPr>
            </a:br>
            <a:r>
              <a:rPr lang="zh-CN" altLang="en-US" sz="2400" b="1" dirty="0">
                <a:solidFill>
                  <a:srgbClr val="FF0000"/>
                </a:solidFill>
                <a:latin typeface="宋体" panose="02010600030101010101" pitchFamily="2" charset="-122"/>
              </a:rPr>
              <a:t>引起劳动供给变动的因素</a:t>
            </a:r>
            <a:r>
              <a:rPr lang="zh-CN" altLang="en-US" sz="2400" b="1" dirty="0">
                <a:solidFill>
                  <a:schemeClr val="tx1"/>
                </a:solidFill>
                <a:latin typeface="宋体" panose="02010600030101010101" pitchFamily="2" charset="-122"/>
              </a:rPr>
              <a:t>：</a:t>
            </a:r>
            <a:r>
              <a:rPr lang="zh-CN" altLang="en-US" sz="2400" b="1" dirty="0">
                <a:solidFill>
                  <a:srgbClr val="000000"/>
                </a:solidFill>
                <a:latin typeface="宋体" panose="02010600030101010101" pitchFamily="2" charset="-122"/>
              </a:rPr>
              <a:t>劳动人口的变动，劳动成本（食品价格、教育投资等）变动等。</a:t>
            </a:r>
            <a:br>
              <a:rPr lang="zh-CN" altLang="en-US" sz="2400" b="1" dirty="0">
                <a:solidFill>
                  <a:srgbClr val="000000"/>
                </a:solidFill>
                <a:latin typeface="宋体" panose="02010600030101010101" pitchFamily="2" charset="-122"/>
              </a:rPr>
            </a:br>
            <a:r>
              <a:rPr lang="zh-CN" altLang="en-US" sz="2400" b="1" dirty="0">
                <a:solidFill>
                  <a:srgbClr val="FF0000"/>
                </a:solidFill>
                <a:latin typeface="宋体" panose="02010600030101010101" pitchFamily="2" charset="-122"/>
              </a:rPr>
              <a:t>劳动需求的变动：</a:t>
            </a:r>
            <a:r>
              <a:rPr lang="zh-CN" altLang="en-US" sz="2400" b="1" dirty="0">
                <a:solidFill>
                  <a:srgbClr val="000000"/>
                </a:solidFill>
                <a:latin typeface="宋体" panose="02010600030101010101" pitchFamily="2" charset="-122"/>
              </a:rPr>
              <a:t>给定劳动供给不变，劳动需求增加，工资上升，反之工资下降。</a:t>
            </a:r>
            <a:br>
              <a:rPr lang="zh-CN" altLang="en-US" sz="2400" b="1" dirty="0">
                <a:solidFill>
                  <a:schemeClr val="tx1"/>
                </a:solidFill>
                <a:latin typeface="宋体" panose="02010600030101010101" pitchFamily="2" charset="-122"/>
              </a:rPr>
            </a:br>
            <a:r>
              <a:rPr lang="zh-CN" altLang="en-US" sz="2400" b="1" dirty="0">
                <a:solidFill>
                  <a:srgbClr val="FF0000"/>
                </a:solidFill>
                <a:latin typeface="宋体" panose="02010600030101010101" pitchFamily="2" charset="-122"/>
              </a:rPr>
              <a:t>引起劳动需求变动的因素</a:t>
            </a:r>
            <a:r>
              <a:rPr lang="zh-CN" altLang="en-US" sz="2400" b="1" dirty="0">
                <a:solidFill>
                  <a:schemeClr val="tx1"/>
                </a:solidFill>
                <a:latin typeface="宋体" panose="02010600030101010101" pitchFamily="2" charset="-122"/>
              </a:rPr>
              <a:t>：</a:t>
            </a:r>
            <a:r>
              <a:rPr lang="zh-CN" altLang="en-US" sz="2400" b="1" dirty="0">
                <a:solidFill>
                  <a:srgbClr val="000000"/>
                </a:solidFill>
                <a:latin typeface="宋体" panose="02010600030101010101" pitchFamily="2" charset="-122"/>
              </a:rPr>
              <a:t>边际劳动生产率变动，产品价格变动，需要工人的厂商数变动等。</a:t>
            </a:r>
            <a:endParaRPr lang="zh-CN" altLang="en-US" sz="2400" dirty="0">
              <a:solidFill>
                <a:srgbClr val="000000"/>
              </a:solidFill>
              <a:latin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90113"/>
          <p:cNvSpPr>
            <a:spLocks noGrp="1"/>
          </p:cNvSpPr>
          <p:nvPr>
            <p:ph type="title"/>
          </p:nvPr>
        </p:nvSpPr>
        <p:spPr>
          <a:ln/>
        </p:spPr>
        <p:txBody>
          <a:bodyPr anchor="ctr" anchorCtr="0"/>
          <a:p>
            <a:endParaRPr dirty="0"/>
          </a:p>
        </p:txBody>
      </p:sp>
      <p:graphicFrame>
        <p:nvGraphicFramePr>
          <p:cNvPr id="90115" name="文本占位符 90114"/>
          <p:cNvGraphicFramePr>
            <a:graphicFrameLocks noGrp="1"/>
          </p:cNvGraphicFramePr>
          <p:nvPr>
            <p:ph type="body" idx="1"/>
          </p:nvPr>
        </p:nvGraphicFramePr>
        <p:xfrm>
          <a:off x="0" y="1371600"/>
          <a:ext cx="9144000" cy="4116388"/>
        </p:xfrm>
        <a:graphic>
          <a:graphicData uri="http://schemas.openxmlformats.org/presentationml/2006/ole">
            <mc:AlternateContent xmlns:mc="http://schemas.openxmlformats.org/markup-compatibility/2006">
              <mc:Choice xmlns:v="urn:schemas-microsoft-com:vml" Requires="v">
                <p:oleObj spid="_x0000_s3079" name="" r:id="rId1" imgW="5486400" imgH="1938655" progId="Word.Document.8">
                  <p:embed/>
                </p:oleObj>
              </mc:Choice>
              <mc:Fallback>
                <p:oleObj name="" r:id="rId1" imgW="5486400" imgH="1938655" progId="Word.Document.8">
                  <p:embed/>
                  <p:pic>
                    <p:nvPicPr>
                      <p:cNvPr id="0" name="图片 3078"/>
                      <p:cNvPicPr/>
                      <p:nvPr/>
                    </p:nvPicPr>
                    <p:blipFill>
                      <a:blip r:embed="rId2"/>
                      <a:stretch>
                        <a:fillRect/>
                      </a:stretch>
                    </p:blipFill>
                    <p:spPr>
                      <a:xfrm>
                        <a:off x="0" y="1371600"/>
                        <a:ext cx="9144000" cy="4116388"/>
                      </a:xfrm>
                      <a:prstGeom prst="rect">
                        <a:avLst/>
                      </a:prstGeom>
                      <a:noFill/>
                      <a:ln w="38100">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91137"/>
          <p:cNvSpPr>
            <a:spLocks noGrp="1"/>
          </p:cNvSpPr>
          <p:nvPr>
            <p:ph type="title"/>
          </p:nvPr>
        </p:nvSpPr>
        <p:spPr>
          <a:xfrm>
            <a:off x="611188" y="692150"/>
            <a:ext cx="7772400" cy="5330825"/>
          </a:xfrm>
          <a:ln/>
        </p:spPr>
        <p:txBody>
          <a:bodyPr anchor="ctr" anchorCtr="0"/>
          <a:p>
            <a:pPr algn="l"/>
            <a:r>
              <a:rPr lang="zh-CN" altLang="en-US" sz="3200" b="1" dirty="0">
                <a:solidFill>
                  <a:srgbClr val="FF0000"/>
                </a:solidFill>
                <a:latin typeface="宋体" panose="02010600030101010101" pitchFamily="2" charset="-122"/>
              </a:rPr>
              <a:t>竞争企业的要素使用决策</a:t>
            </a:r>
            <a:br>
              <a:rPr lang="zh-CN" altLang="en-US" sz="3200" b="1" dirty="0">
                <a:solidFill>
                  <a:srgbClr val="FF0000"/>
                </a:solidFill>
                <a:latin typeface="宋体" panose="02010600030101010101" pitchFamily="2" charset="-122"/>
              </a:rPr>
            </a:br>
            <a:r>
              <a:rPr lang="zh-CN" altLang="en-US" sz="3200" b="1" dirty="0">
                <a:solidFill>
                  <a:srgbClr val="FF0000"/>
                </a:solidFill>
                <a:latin typeface="宋体" panose="02010600030101010101" pitchFamily="2" charset="-122"/>
              </a:rPr>
              <a:t>企业雇佣劳动的原则仍然是利润最大化</a:t>
            </a:r>
            <a:r>
              <a:rPr lang="zh-CN" altLang="en-US" sz="3200" b="1" dirty="0">
                <a:solidFill>
                  <a:schemeClr val="tx1"/>
                </a:solidFill>
                <a:latin typeface="宋体" panose="02010600030101010101" pitchFamily="2" charset="-122"/>
              </a:rPr>
              <a:t>。</a:t>
            </a:r>
            <a:r>
              <a:rPr lang="zh-CN" altLang="en-US" sz="3200" b="1" dirty="0">
                <a:solidFill>
                  <a:srgbClr val="000000"/>
                </a:solidFill>
                <a:latin typeface="宋体" panose="02010600030101010101" pitchFamily="2" charset="-122"/>
              </a:rPr>
              <a:t>如果多雇佣一个劳动创造的价值（要素的边际产值</a:t>
            </a:r>
            <a:r>
              <a:rPr lang="en-US" altLang="zh-CN" sz="3200" b="1">
                <a:solidFill>
                  <a:srgbClr val="000000"/>
                </a:solidFill>
                <a:latin typeface="宋体" panose="02010600030101010101" pitchFamily="2" charset="-122"/>
              </a:rPr>
              <a:t>VMP</a:t>
            </a:r>
            <a:r>
              <a:rPr lang="en-US" altLang="zh-CN" sz="3200" b="1" baseline="-25000">
                <a:solidFill>
                  <a:srgbClr val="000000"/>
                </a:solidFill>
                <a:latin typeface="宋体" panose="02010600030101010101" pitchFamily="2" charset="-122"/>
              </a:rPr>
              <a:t>L</a:t>
            </a:r>
            <a:r>
              <a:rPr lang="zh-CN" altLang="en-US" sz="3200" b="1" dirty="0">
                <a:solidFill>
                  <a:srgbClr val="000000"/>
                </a:solidFill>
                <a:latin typeface="宋体" panose="02010600030101010101" pitchFamily="2" charset="-122"/>
              </a:rPr>
              <a:t>）大于成本（雇佣要素的边际成本，</a:t>
            </a:r>
            <a:r>
              <a:rPr lang="en-US" altLang="zh-CN" sz="3200" b="1">
                <a:solidFill>
                  <a:srgbClr val="000000"/>
                </a:solidFill>
                <a:latin typeface="宋体" panose="02010600030101010101" pitchFamily="2" charset="-122"/>
              </a:rPr>
              <a:t>MFC</a:t>
            </a:r>
            <a:r>
              <a:rPr lang="zh-CN" altLang="en-US" sz="3200" b="1" dirty="0">
                <a:solidFill>
                  <a:srgbClr val="000000"/>
                </a:solidFill>
                <a:latin typeface="宋体" panose="02010600030101010101" pitchFamily="2" charset="-122"/>
              </a:rPr>
              <a:t>），企业继续雇佣劳动。反之，则应减少雇佣的劳动。</a:t>
            </a:r>
            <a:br>
              <a:rPr lang="zh-CN" altLang="en-US" sz="3200" b="1" dirty="0">
                <a:solidFill>
                  <a:srgbClr val="000000"/>
                </a:solidFill>
                <a:latin typeface="宋体" panose="02010600030101010101" pitchFamily="2" charset="-122"/>
              </a:rPr>
            </a:br>
            <a:r>
              <a:rPr lang="zh-CN" altLang="en-US" sz="3200" b="1" dirty="0">
                <a:solidFill>
                  <a:srgbClr val="FF0000"/>
                </a:solidFill>
                <a:latin typeface="宋体" panose="02010600030101010101" pitchFamily="2" charset="-122"/>
              </a:rPr>
              <a:t>劳动的边际产值等于劳动的边际成本时的劳动人（时）数是企业的最优雇佣量</a:t>
            </a:r>
            <a:r>
              <a:rPr lang="zh-CN" altLang="en-US" sz="3200" b="1" dirty="0">
                <a:solidFill>
                  <a:schemeClr val="tx1"/>
                </a:solidFill>
                <a:latin typeface="宋体" panose="02010600030101010101" pitchFamily="2" charset="-122"/>
              </a:rPr>
              <a:t>。</a:t>
            </a:r>
            <a:br>
              <a:rPr lang="zh-CN" altLang="en-US" sz="3200" b="1" dirty="0">
                <a:solidFill>
                  <a:schemeClr val="tx1"/>
                </a:solidFill>
                <a:latin typeface="宋体" panose="02010600030101010101" pitchFamily="2" charset="-122"/>
              </a:rPr>
            </a:br>
            <a:r>
              <a:rPr lang="zh-CN" altLang="en-US" sz="2800" b="1" dirty="0">
                <a:solidFill>
                  <a:srgbClr val="000000"/>
                </a:solidFill>
                <a:latin typeface="宋体" panose="02010600030101010101" pitchFamily="2" charset="-122"/>
              </a:rPr>
              <a:t>要素价格（</a:t>
            </a:r>
            <a:r>
              <a:rPr lang="en-US" altLang="zh-CN" sz="2800" b="1">
                <a:solidFill>
                  <a:srgbClr val="000000"/>
                </a:solidFill>
                <a:latin typeface="宋体" panose="02010600030101010101" pitchFamily="2" charset="-122"/>
              </a:rPr>
              <a:t>W</a:t>
            </a:r>
            <a:r>
              <a:rPr lang="zh-CN" altLang="en-US" sz="2800" b="1" dirty="0">
                <a:solidFill>
                  <a:srgbClr val="000000"/>
                </a:solidFill>
                <a:latin typeface="宋体" panose="02010600030101010101" pitchFamily="2" charset="-122"/>
              </a:rPr>
              <a:t>） </a:t>
            </a:r>
            <a:r>
              <a:rPr lang="en-US" altLang="zh-CN" sz="2800" b="1">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要素的边际产值</a:t>
            </a:r>
            <a:r>
              <a:rPr lang="en-US" altLang="zh-CN" sz="2800" b="1">
                <a:solidFill>
                  <a:srgbClr val="000000"/>
                </a:solidFill>
                <a:latin typeface="宋体" panose="02010600030101010101" pitchFamily="2" charset="-122"/>
              </a:rPr>
              <a:t>(VMP</a:t>
            </a:r>
            <a:r>
              <a:rPr lang="en-US" altLang="zh-CN" sz="2800" b="1" baseline="-25000">
                <a:solidFill>
                  <a:srgbClr val="000000"/>
                </a:solidFill>
                <a:latin typeface="宋体" panose="02010600030101010101" pitchFamily="2" charset="-122"/>
              </a:rPr>
              <a:t>L</a:t>
            </a:r>
            <a:r>
              <a:rPr lang="zh-CN" altLang="en-US" sz="2800" b="1" dirty="0">
                <a:solidFill>
                  <a:srgbClr val="000000"/>
                </a:solidFill>
                <a:latin typeface="宋体" panose="02010600030101010101" pitchFamily="2" charset="-122"/>
              </a:rPr>
              <a:t>）。</a:t>
            </a:r>
            <a:endParaRPr lang="zh-CN" altLang="en-US" sz="2800">
              <a:solidFill>
                <a:srgbClr val="000000"/>
              </a:solidFill>
              <a:latin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92161"/>
          <p:cNvSpPr>
            <a:spLocks noGrp="1"/>
          </p:cNvSpPr>
          <p:nvPr>
            <p:ph type="title"/>
          </p:nvPr>
        </p:nvSpPr>
        <p:spPr>
          <a:xfrm>
            <a:off x="0" y="0"/>
            <a:ext cx="8859838" cy="2362200"/>
          </a:xfrm>
          <a:ln/>
        </p:spPr>
        <p:txBody>
          <a:bodyPr anchor="ctr" anchorCtr="0"/>
          <a:p>
            <a:pPr algn="l"/>
            <a:r>
              <a:rPr lang="zh-CN" altLang="en-US" sz="2800" b="1" dirty="0"/>
              <a:t>工资僵性与总供给线</a:t>
            </a:r>
            <a:br>
              <a:rPr lang="zh-CN" altLang="en-US" sz="2800" b="1" dirty="0"/>
            </a:br>
            <a:r>
              <a:rPr lang="zh-CN" altLang="en-US" sz="1800" b="1" dirty="0"/>
              <a:t>工资僵性</a:t>
            </a:r>
            <a:r>
              <a:rPr lang="en-US" altLang="zh-CN" sz="1800" b="1"/>
              <a:t>:</a:t>
            </a:r>
            <a:r>
              <a:rPr lang="zh-CN" altLang="en-US" sz="1800" b="1" dirty="0"/>
              <a:t>凯恩斯模型假设，当劳动市场出现劳动短缺时，货币工资率会即时上升，使得劳动供给达到平衡</a:t>
            </a:r>
            <a:r>
              <a:rPr lang="en-US" altLang="zh-CN" sz="1800" b="1"/>
              <a:t>;</a:t>
            </a:r>
            <a:r>
              <a:rPr lang="zh-CN" altLang="en-US" sz="1800" b="1" dirty="0"/>
              <a:t>但当劳动市场供过于求时，货币工资率无法即时向下调整，故无法取得劳动供给的均衡，这</a:t>
            </a:r>
            <a:r>
              <a:rPr lang="en-US" altLang="zh-CN" sz="1800" b="1">
                <a:latin typeface="Times New Roman" panose="02020603050405020304" pitchFamily="18" charset="0"/>
              </a:rPr>
              <a:t>—</a:t>
            </a:r>
            <a:r>
              <a:rPr lang="zh-CN" altLang="en-US" sz="1800" b="1" dirty="0"/>
              <a:t>假设称为工资僵性。</a:t>
            </a:r>
            <a:br>
              <a:rPr lang="zh-CN" altLang="en-US" sz="1800" b="1" dirty="0"/>
            </a:br>
            <a:r>
              <a:rPr lang="zh-CN" altLang="en-US" sz="1800" b="1" dirty="0">
                <a:solidFill>
                  <a:srgbClr val="FF0066"/>
                </a:solidFill>
              </a:rPr>
              <a:t>凯恩斯模型</a:t>
            </a:r>
            <a:r>
              <a:rPr lang="zh-CN" altLang="en-US" sz="1800" b="1" dirty="0"/>
              <a:t>与古典模型二者之间最大的区别就在于总供给线的不同，</a:t>
            </a:r>
            <a:r>
              <a:rPr lang="zh-CN" altLang="en-US" sz="1800" b="1" dirty="0">
                <a:solidFill>
                  <a:srgbClr val="FF0066"/>
                </a:solidFill>
              </a:rPr>
              <a:t>古典模型</a:t>
            </a:r>
            <a:r>
              <a:rPr lang="zh-CN" altLang="en-US" sz="1800" b="1" dirty="0"/>
              <a:t>的总供给线是</a:t>
            </a:r>
            <a:r>
              <a:rPr lang="en-US" altLang="zh-CN" sz="1800" b="1">
                <a:latin typeface="Times New Roman" panose="02020603050405020304" pitchFamily="18" charset="0"/>
              </a:rPr>
              <a:t>—</a:t>
            </a:r>
            <a:r>
              <a:rPr lang="zh-CN" altLang="en-US" sz="1800" b="1" dirty="0"/>
              <a:t>条</a:t>
            </a:r>
            <a:r>
              <a:rPr lang="zh-CN" altLang="en-US" sz="1800" b="1" dirty="0">
                <a:solidFill>
                  <a:srgbClr val="FF0066"/>
                </a:solidFill>
              </a:rPr>
              <a:t>垂直线</a:t>
            </a:r>
            <a:r>
              <a:rPr lang="zh-CN" altLang="en-US" sz="1800" b="1" dirty="0"/>
              <a:t>，而</a:t>
            </a:r>
            <a:r>
              <a:rPr lang="zh-CN" altLang="en-US" sz="1800" b="1" dirty="0">
                <a:solidFill>
                  <a:srgbClr val="FF0066"/>
                </a:solidFill>
              </a:rPr>
              <a:t>凯恩斯模型</a:t>
            </a:r>
            <a:r>
              <a:rPr lang="zh-CN" altLang="en-US" sz="1800" b="1" dirty="0"/>
              <a:t>的总供给线则由</a:t>
            </a:r>
            <a:r>
              <a:rPr lang="zh-CN" altLang="en-US" sz="1800" b="1" dirty="0">
                <a:solidFill>
                  <a:srgbClr val="FF0066"/>
                </a:solidFill>
              </a:rPr>
              <a:t>垂直钱和正斜率</a:t>
            </a:r>
            <a:r>
              <a:rPr lang="zh-CN" altLang="en-US" sz="1800" b="1" dirty="0"/>
              <a:t>曲线组成。 </a:t>
            </a:r>
            <a:br>
              <a:rPr lang="zh-CN" altLang="en-US" sz="1800" b="1" dirty="0"/>
            </a:br>
            <a:br>
              <a:rPr lang="zh-CN" altLang="en-US" sz="1800" b="1" dirty="0"/>
            </a:br>
            <a:endParaRPr lang="zh-CN" altLang="en-US" sz="1800" b="1" dirty="0"/>
          </a:p>
        </p:txBody>
      </p:sp>
      <p:sp>
        <p:nvSpPr>
          <p:cNvPr id="92163" name="文本占位符 92162"/>
          <p:cNvSpPr>
            <a:spLocks noGrp="1"/>
          </p:cNvSpPr>
          <p:nvPr>
            <p:ph type="body" idx="1"/>
          </p:nvPr>
        </p:nvSpPr>
        <p:spPr>
          <a:xfrm>
            <a:off x="228600" y="1219200"/>
            <a:ext cx="8763000" cy="5410200"/>
          </a:xfrm>
          <a:ln/>
        </p:spPr>
        <p:txBody>
          <a:bodyPr/>
          <a:p>
            <a:pPr>
              <a:lnSpc>
                <a:spcPct val="90000"/>
              </a:lnSpc>
              <a:buNone/>
            </a:pPr>
            <a:endParaRPr lang="en-US" altLang="zh-CN" sz="2800" dirty="0">
              <a:solidFill>
                <a:srgbClr val="000000"/>
              </a:solidFill>
            </a:endParaRPr>
          </a:p>
          <a:p>
            <a:pPr>
              <a:lnSpc>
                <a:spcPct val="90000"/>
              </a:lnSpc>
              <a:buNone/>
            </a:pPr>
            <a:endParaRPr lang="en-US" altLang="zh-CN" sz="2800" dirty="0">
              <a:solidFill>
                <a:srgbClr val="000000"/>
              </a:solidFill>
            </a:endParaRPr>
          </a:p>
          <a:p>
            <a:pPr>
              <a:lnSpc>
                <a:spcPct val="90000"/>
              </a:lnSpc>
              <a:buNone/>
            </a:pPr>
            <a:endParaRPr lang="en-US" altLang="zh-CN" sz="2800" dirty="0">
              <a:solidFill>
                <a:srgbClr val="000000"/>
              </a:solidFill>
            </a:endParaRPr>
          </a:p>
          <a:p>
            <a:pPr>
              <a:lnSpc>
                <a:spcPct val="90000"/>
              </a:lnSpc>
              <a:buNone/>
            </a:pPr>
            <a:endParaRPr lang="en-US" altLang="zh-CN" sz="2800" dirty="0">
              <a:solidFill>
                <a:srgbClr val="000000"/>
              </a:solidFill>
            </a:endParaRPr>
          </a:p>
          <a:p>
            <a:pPr>
              <a:lnSpc>
                <a:spcPct val="90000"/>
              </a:lnSpc>
              <a:buNone/>
            </a:pPr>
            <a:endParaRPr lang="en-US" altLang="zh-CN" sz="2800" dirty="0">
              <a:solidFill>
                <a:srgbClr val="000000"/>
              </a:solidFill>
            </a:endParaRPr>
          </a:p>
          <a:p>
            <a:pPr>
              <a:lnSpc>
                <a:spcPct val="90000"/>
              </a:lnSpc>
              <a:buNone/>
            </a:pPr>
            <a:endParaRPr lang="en-US" altLang="zh-CN" sz="2800" dirty="0">
              <a:solidFill>
                <a:srgbClr val="000000"/>
              </a:solidFill>
            </a:endParaRPr>
          </a:p>
          <a:p>
            <a:pPr>
              <a:lnSpc>
                <a:spcPct val="90000"/>
              </a:lnSpc>
              <a:buNone/>
            </a:pPr>
            <a:endParaRPr lang="en-US" altLang="zh-CN" sz="2800" dirty="0">
              <a:solidFill>
                <a:srgbClr val="000000"/>
              </a:solidFill>
            </a:endParaRPr>
          </a:p>
          <a:p>
            <a:pPr>
              <a:lnSpc>
                <a:spcPct val="90000"/>
              </a:lnSpc>
              <a:buNone/>
            </a:pPr>
            <a:endParaRPr lang="en-US" altLang="zh-CN" sz="1800" b="1" dirty="0">
              <a:solidFill>
                <a:srgbClr val="000000"/>
              </a:solidFill>
            </a:endParaRPr>
          </a:p>
          <a:p>
            <a:pPr>
              <a:lnSpc>
                <a:spcPct val="90000"/>
              </a:lnSpc>
              <a:buNone/>
            </a:pPr>
            <a:endParaRPr lang="en-US" altLang="zh-CN" sz="1800" b="1" dirty="0">
              <a:solidFill>
                <a:srgbClr val="000000"/>
              </a:solidFill>
            </a:endParaRPr>
          </a:p>
          <a:p>
            <a:pPr>
              <a:lnSpc>
                <a:spcPct val="90000"/>
              </a:lnSpc>
              <a:buNone/>
            </a:pPr>
            <a:endParaRPr lang="en-US" altLang="zh-CN" sz="1800" b="1" dirty="0">
              <a:solidFill>
                <a:srgbClr val="000000"/>
              </a:solidFill>
            </a:endParaRPr>
          </a:p>
          <a:p>
            <a:pPr>
              <a:lnSpc>
                <a:spcPct val="90000"/>
              </a:lnSpc>
              <a:buNone/>
            </a:pPr>
            <a:endParaRPr lang="en-US" altLang="zh-CN" sz="1800" b="1" dirty="0">
              <a:solidFill>
                <a:srgbClr val="000000"/>
              </a:solidFill>
            </a:endParaRPr>
          </a:p>
          <a:p>
            <a:pPr>
              <a:lnSpc>
                <a:spcPct val="90000"/>
              </a:lnSpc>
              <a:buNone/>
            </a:pPr>
            <a:r>
              <a:rPr lang="zh-CN" altLang="en-US" sz="1800" b="1" dirty="0">
                <a:solidFill>
                  <a:srgbClr val="000000"/>
                </a:solidFill>
              </a:rPr>
              <a:t>古典模型，需求面的变动只会影响物价水平，总供线是一条垂线。凯恩斯模型中，总供给线有</a:t>
            </a:r>
            <a:r>
              <a:rPr lang="en-US" altLang="zh-CN" sz="1800" b="1">
                <a:solidFill>
                  <a:srgbClr val="000000"/>
                </a:solidFill>
                <a:latin typeface="Times New Roman" panose="02020603050405020304" pitchFamily="18" charset="0"/>
              </a:rPr>
              <a:t>—</a:t>
            </a:r>
            <a:r>
              <a:rPr lang="zh-CN" altLang="en-US" sz="1800" b="1" dirty="0">
                <a:solidFill>
                  <a:srgbClr val="000000"/>
                </a:solidFill>
              </a:rPr>
              <a:t>段正斜率的曲线，需求面的变动会影会响物价水平，而且会引起总产出变化。</a:t>
            </a:r>
            <a:endParaRPr lang="zh-CN" altLang="en-US" sz="1800" b="1" dirty="0">
              <a:solidFill>
                <a:srgbClr val="000000"/>
              </a:solidFill>
            </a:endParaRPr>
          </a:p>
        </p:txBody>
      </p:sp>
      <p:sp>
        <p:nvSpPr>
          <p:cNvPr id="92164" name="直接连接符 92163"/>
          <p:cNvSpPr/>
          <p:nvPr/>
        </p:nvSpPr>
        <p:spPr>
          <a:xfrm flipV="1">
            <a:off x="1676400" y="2286000"/>
            <a:ext cx="0" cy="3276600"/>
          </a:xfrm>
          <a:prstGeom prst="line">
            <a:avLst/>
          </a:prstGeom>
          <a:ln w="38100" cap="flat" cmpd="sng">
            <a:solidFill>
              <a:srgbClr val="000000"/>
            </a:solidFill>
            <a:prstDash val="solid"/>
            <a:miter/>
            <a:headEnd type="none" w="med" len="med"/>
            <a:tailEnd type="triangle" w="med" len="med"/>
          </a:ln>
        </p:spPr>
      </p:sp>
      <p:sp>
        <p:nvSpPr>
          <p:cNvPr id="92165" name="直接连接符 92164"/>
          <p:cNvSpPr/>
          <p:nvPr/>
        </p:nvSpPr>
        <p:spPr>
          <a:xfrm>
            <a:off x="1676400" y="5486400"/>
            <a:ext cx="6172200" cy="0"/>
          </a:xfrm>
          <a:prstGeom prst="line">
            <a:avLst/>
          </a:prstGeom>
          <a:ln w="38100" cap="flat" cmpd="sng">
            <a:solidFill>
              <a:srgbClr val="000000"/>
            </a:solidFill>
            <a:prstDash val="solid"/>
            <a:miter/>
            <a:headEnd type="none" w="med" len="med"/>
            <a:tailEnd type="triangle" w="med" len="med"/>
          </a:ln>
        </p:spPr>
      </p:sp>
      <p:sp>
        <p:nvSpPr>
          <p:cNvPr id="92166" name="任意多边形 92165"/>
          <p:cNvSpPr/>
          <p:nvPr/>
        </p:nvSpPr>
        <p:spPr>
          <a:xfrm>
            <a:off x="3124200" y="4114800"/>
            <a:ext cx="1752600" cy="914400"/>
          </a:xfrm>
          <a:custGeom>
            <a:avLst/>
            <a:gdLst/>
            <a:ahLst/>
            <a:cxnLst/>
            <a:pathLst>
              <a:path w="1104" h="480">
                <a:moveTo>
                  <a:pt x="0" y="480"/>
                </a:moveTo>
                <a:cubicBezTo>
                  <a:pt x="114" y="463"/>
                  <a:pt x="503" y="458"/>
                  <a:pt x="687" y="378"/>
                </a:cubicBezTo>
                <a:cubicBezTo>
                  <a:pt x="871" y="298"/>
                  <a:pt x="1017" y="79"/>
                  <a:pt x="1104" y="0"/>
                </a:cubicBezTo>
              </a:path>
            </a:pathLst>
          </a:custGeom>
          <a:no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2167" name="直接连接符 92166"/>
          <p:cNvSpPr/>
          <p:nvPr/>
        </p:nvSpPr>
        <p:spPr>
          <a:xfrm flipH="1">
            <a:off x="4876800" y="2438400"/>
            <a:ext cx="0" cy="1676400"/>
          </a:xfrm>
          <a:prstGeom prst="line">
            <a:avLst/>
          </a:prstGeom>
          <a:ln w="9525" cap="flat" cmpd="sng">
            <a:solidFill>
              <a:srgbClr val="000000"/>
            </a:solidFill>
            <a:prstDash val="solid"/>
            <a:miter/>
            <a:headEnd type="none" w="med" len="med"/>
            <a:tailEnd type="none" w="med" len="med"/>
          </a:ln>
        </p:spPr>
      </p:sp>
      <p:sp>
        <p:nvSpPr>
          <p:cNvPr id="92168" name="直接连接符 92167"/>
          <p:cNvSpPr/>
          <p:nvPr/>
        </p:nvSpPr>
        <p:spPr>
          <a:xfrm>
            <a:off x="1676400" y="4876800"/>
            <a:ext cx="2438400" cy="0"/>
          </a:xfrm>
          <a:prstGeom prst="line">
            <a:avLst/>
          </a:prstGeom>
          <a:ln w="28575" cap="flat" cmpd="sng">
            <a:solidFill>
              <a:srgbClr val="000000"/>
            </a:solidFill>
            <a:prstDash val="sysDot"/>
            <a:miter/>
            <a:headEnd type="none" w="med" len="med"/>
            <a:tailEnd type="none" w="med" len="med"/>
          </a:ln>
        </p:spPr>
      </p:sp>
      <p:sp>
        <p:nvSpPr>
          <p:cNvPr id="92169" name="直接连接符 92168"/>
          <p:cNvSpPr/>
          <p:nvPr/>
        </p:nvSpPr>
        <p:spPr>
          <a:xfrm>
            <a:off x="1676400" y="4572000"/>
            <a:ext cx="2819400" cy="0"/>
          </a:xfrm>
          <a:prstGeom prst="line">
            <a:avLst/>
          </a:prstGeom>
          <a:ln w="28575" cap="flat" cmpd="sng">
            <a:solidFill>
              <a:srgbClr val="000000"/>
            </a:solidFill>
            <a:prstDash val="sysDot"/>
            <a:miter/>
            <a:headEnd type="none" w="med" len="med"/>
            <a:tailEnd type="none" w="med" len="med"/>
          </a:ln>
        </p:spPr>
      </p:sp>
      <p:sp>
        <p:nvSpPr>
          <p:cNvPr id="92170" name="直接连接符 92169"/>
          <p:cNvSpPr/>
          <p:nvPr/>
        </p:nvSpPr>
        <p:spPr>
          <a:xfrm>
            <a:off x="1676400" y="4114800"/>
            <a:ext cx="3200400" cy="0"/>
          </a:xfrm>
          <a:prstGeom prst="line">
            <a:avLst/>
          </a:prstGeom>
          <a:ln w="28575" cap="flat" cmpd="sng">
            <a:solidFill>
              <a:srgbClr val="000000"/>
            </a:solidFill>
            <a:prstDash val="sysDot"/>
            <a:miter/>
            <a:headEnd type="none" w="med" len="med"/>
            <a:tailEnd type="none" w="med" len="med"/>
          </a:ln>
        </p:spPr>
      </p:sp>
      <p:sp>
        <p:nvSpPr>
          <p:cNvPr id="92171" name="直接连接符 92170"/>
          <p:cNvSpPr/>
          <p:nvPr/>
        </p:nvSpPr>
        <p:spPr>
          <a:xfrm>
            <a:off x="1676400" y="3276600"/>
            <a:ext cx="3200400" cy="0"/>
          </a:xfrm>
          <a:prstGeom prst="line">
            <a:avLst/>
          </a:prstGeom>
          <a:ln w="28575" cap="flat" cmpd="sng">
            <a:solidFill>
              <a:srgbClr val="000000"/>
            </a:solidFill>
            <a:prstDash val="sysDot"/>
            <a:miter/>
            <a:headEnd type="none" w="med" len="med"/>
            <a:tailEnd type="none" w="med" len="med"/>
          </a:ln>
        </p:spPr>
      </p:sp>
      <p:sp>
        <p:nvSpPr>
          <p:cNvPr id="92172" name="直接连接符 92171"/>
          <p:cNvSpPr/>
          <p:nvPr/>
        </p:nvSpPr>
        <p:spPr>
          <a:xfrm>
            <a:off x="4038600" y="4876800"/>
            <a:ext cx="0" cy="609600"/>
          </a:xfrm>
          <a:prstGeom prst="line">
            <a:avLst/>
          </a:prstGeom>
          <a:ln w="28575" cap="flat" cmpd="sng">
            <a:solidFill>
              <a:schemeClr val="tx1"/>
            </a:solidFill>
            <a:prstDash val="sysDot"/>
            <a:miter/>
            <a:headEnd type="none" w="med" len="med"/>
            <a:tailEnd type="none" w="med" len="med"/>
          </a:ln>
        </p:spPr>
      </p:sp>
      <p:sp>
        <p:nvSpPr>
          <p:cNvPr id="92173" name="直接连接符 92172"/>
          <p:cNvSpPr/>
          <p:nvPr/>
        </p:nvSpPr>
        <p:spPr>
          <a:xfrm>
            <a:off x="4495800" y="4572000"/>
            <a:ext cx="0" cy="914400"/>
          </a:xfrm>
          <a:prstGeom prst="line">
            <a:avLst/>
          </a:prstGeom>
          <a:ln w="28575" cap="flat" cmpd="sng">
            <a:solidFill>
              <a:schemeClr val="tx1"/>
            </a:solidFill>
            <a:prstDash val="sysDot"/>
            <a:miter/>
            <a:headEnd type="none" w="med" len="med"/>
            <a:tailEnd type="none" w="med" len="med"/>
          </a:ln>
        </p:spPr>
      </p:sp>
      <p:sp>
        <p:nvSpPr>
          <p:cNvPr id="92174" name="直接连接符 92173"/>
          <p:cNvSpPr/>
          <p:nvPr/>
        </p:nvSpPr>
        <p:spPr>
          <a:xfrm>
            <a:off x="4876800" y="4114800"/>
            <a:ext cx="0" cy="1371600"/>
          </a:xfrm>
          <a:prstGeom prst="line">
            <a:avLst/>
          </a:prstGeom>
          <a:ln w="28575" cap="flat" cmpd="sng">
            <a:solidFill>
              <a:schemeClr val="tx1"/>
            </a:solidFill>
            <a:prstDash val="sysDot"/>
            <a:miter/>
            <a:headEnd type="none" w="med" len="med"/>
            <a:tailEnd type="none" w="med" len="med"/>
          </a:ln>
        </p:spPr>
      </p:sp>
      <p:sp>
        <p:nvSpPr>
          <p:cNvPr id="92175" name="文本框 92174"/>
          <p:cNvSpPr txBox="1"/>
          <p:nvPr/>
        </p:nvSpPr>
        <p:spPr>
          <a:xfrm>
            <a:off x="4572000" y="2057400"/>
            <a:ext cx="685800" cy="457200"/>
          </a:xfrm>
          <a:prstGeom prst="rect">
            <a:avLst/>
          </a:prstGeom>
          <a:noFill/>
          <a:ln w="9525">
            <a:noFill/>
          </a:ln>
        </p:spPr>
        <p:txBody>
          <a:bodyPr>
            <a:spAutoFit/>
          </a:bodyPr>
          <a:p>
            <a:pPr>
              <a:lnSpc>
                <a:spcPct val="100000"/>
              </a:lnSpc>
              <a:spcBef>
                <a:spcPct val="50000"/>
              </a:spcBef>
            </a:pPr>
            <a:endParaRPr sz="2400" b="0" dirty="0">
              <a:latin typeface="Tahoma" panose="020B0604030504040204" pitchFamily="34" charset="0"/>
            </a:endParaRPr>
          </a:p>
        </p:txBody>
      </p:sp>
      <p:sp>
        <p:nvSpPr>
          <p:cNvPr id="92176" name="文本框 92175"/>
          <p:cNvSpPr txBox="1"/>
          <p:nvPr/>
        </p:nvSpPr>
        <p:spPr>
          <a:xfrm>
            <a:off x="990600" y="2971800"/>
            <a:ext cx="609600" cy="2017713"/>
          </a:xfrm>
          <a:prstGeom prst="rect">
            <a:avLst/>
          </a:prstGeom>
          <a:noFill/>
          <a:ln w="9525">
            <a:noFill/>
          </a:ln>
        </p:spPr>
        <p:txBody>
          <a:bodyPr>
            <a:spAutoFit/>
          </a:bodyPr>
          <a:p>
            <a:pPr>
              <a:lnSpc>
                <a:spcPct val="100000"/>
              </a:lnSpc>
              <a:spcBef>
                <a:spcPct val="50000"/>
              </a:spcBef>
            </a:pPr>
            <a:r>
              <a:rPr lang="en-US" altLang="zh-CN" sz="1800" b="0" dirty="0">
                <a:solidFill>
                  <a:srgbClr val="000000"/>
                </a:solidFill>
                <a:latin typeface="Tahoma" panose="020B0604030504040204" pitchFamily="34" charset="0"/>
              </a:rPr>
              <a:t>  </a:t>
            </a:r>
            <a:r>
              <a:rPr lang="en-US" altLang="zh-CN" sz="1800" b="0">
                <a:solidFill>
                  <a:srgbClr val="000000"/>
                </a:solidFill>
                <a:latin typeface="Tahoma" panose="020B0604030504040204" pitchFamily="34" charset="0"/>
              </a:rPr>
              <a:t>P3</a:t>
            </a:r>
            <a:endParaRPr lang="en-US" altLang="zh-CN" sz="1800" b="0">
              <a:solidFill>
                <a:srgbClr val="000000"/>
              </a:solidFill>
              <a:latin typeface="Tahoma" panose="020B0604030504040204" pitchFamily="34" charset="0"/>
            </a:endParaRPr>
          </a:p>
          <a:p>
            <a:pPr>
              <a:lnSpc>
                <a:spcPct val="100000"/>
              </a:lnSpc>
              <a:spcBef>
                <a:spcPct val="50000"/>
              </a:spcBef>
            </a:pPr>
            <a:endParaRPr lang="en-US" altLang="zh-CN" sz="1800" b="0">
              <a:solidFill>
                <a:srgbClr val="000000"/>
              </a:solidFill>
              <a:latin typeface="Tahoma" panose="020B0604030504040204" pitchFamily="34" charset="0"/>
            </a:endParaRPr>
          </a:p>
          <a:p>
            <a:pPr>
              <a:lnSpc>
                <a:spcPct val="100000"/>
              </a:lnSpc>
              <a:spcBef>
                <a:spcPct val="50000"/>
              </a:spcBef>
            </a:pPr>
            <a:r>
              <a:rPr lang="en-US" altLang="zh-CN" sz="1800" b="0">
                <a:solidFill>
                  <a:srgbClr val="000000"/>
                </a:solidFill>
                <a:latin typeface="Tahoma" panose="020B0604030504040204" pitchFamily="34" charset="0"/>
              </a:rPr>
              <a:t>  P2</a:t>
            </a:r>
            <a:endParaRPr lang="en-US" altLang="zh-CN" sz="1800" b="0">
              <a:solidFill>
                <a:srgbClr val="000000"/>
              </a:solidFill>
              <a:latin typeface="Tahoma" panose="020B0604030504040204" pitchFamily="34" charset="0"/>
            </a:endParaRPr>
          </a:p>
          <a:p>
            <a:pPr>
              <a:lnSpc>
                <a:spcPct val="100000"/>
              </a:lnSpc>
              <a:spcBef>
                <a:spcPct val="50000"/>
              </a:spcBef>
            </a:pPr>
            <a:r>
              <a:rPr lang="en-US" altLang="zh-CN" sz="1800" b="0">
                <a:solidFill>
                  <a:srgbClr val="000000"/>
                </a:solidFill>
                <a:latin typeface="Tahoma" panose="020B0604030504040204" pitchFamily="34" charset="0"/>
              </a:rPr>
              <a:t>  P1</a:t>
            </a:r>
            <a:endParaRPr lang="en-US" altLang="zh-CN" sz="1800" b="0">
              <a:solidFill>
                <a:srgbClr val="000000"/>
              </a:solidFill>
              <a:latin typeface="Tahoma" panose="020B0604030504040204" pitchFamily="34" charset="0"/>
            </a:endParaRPr>
          </a:p>
          <a:p>
            <a:pPr>
              <a:lnSpc>
                <a:spcPct val="100000"/>
              </a:lnSpc>
              <a:spcBef>
                <a:spcPct val="50000"/>
              </a:spcBef>
            </a:pPr>
            <a:r>
              <a:rPr lang="en-US" altLang="zh-CN" sz="1800" b="0">
                <a:solidFill>
                  <a:srgbClr val="000000"/>
                </a:solidFill>
                <a:latin typeface="Tahoma" panose="020B0604030504040204" pitchFamily="34" charset="0"/>
              </a:rPr>
              <a:t>  P0</a:t>
            </a:r>
            <a:endParaRPr lang="en-US" altLang="zh-CN" sz="1800" b="0">
              <a:solidFill>
                <a:srgbClr val="000000"/>
              </a:solidFill>
              <a:latin typeface="Tahoma" panose="020B0604030504040204" pitchFamily="34" charset="0"/>
            </a:endParaRPr>
          </a:p>
        </p:txBody>
      </p:sp>
      <p:sp>
        <p:nvSpPr>
          <p:cNvPr id="92177" name="文本框 92176"/>
          <p:cNvSpPr txBox="1"/>
          <p:nvPr/>
        </p:nvSpPr>
        <p:spPr>
          <a:xfrm>
            <a:off x="838200" y="1752600"/>
            <a:ext cx="1600200" cy="366713"/>
          </a:xfrm>
          <a:prstGeom prst="rect">
            <a:avLst/>
          </a:prstGeom>
          <a:noFill/>
          <a:ln w="9525">
            <a:noFill/>
          </a:ln>
        </p:spPr>
        <p:txBody>
          <a:bodyPr>
            <a:spAutoFit/>
          </a:bodyPr>
          <a:p>
            <a:pPr>
              <a:lnSpc>
                <a:spcPct val="100000"/>
              </a:lnSpc>
              <a:spcBef>
                <a:spcPct val="50000"/>
              </a:spcBef>
            </a:pPr>
            <a:r>
              <a:rPr lang="zh-CN" altLang="en-US" sz="1800" dirty="0">
                <a:latin typeface="Tahoma" panose="020B0604030504040204" pitchFamily="34" charset="0"/>
              </a:rPr>
              <a:t>物价水平</a:t>
            </a:r>
            <a:r>
              <a:rPr lang="en-US" altLang="zh-CN" sz="1800">
                <a:latin typeface="Tahoma" panose="020B0604030504040204" pitchFamily="34" charset="0"/>
              </a:rPr>
              <a:t>(P)</a:t>
            </a:r>
            <a:endParaRPr lang="en-US" altLang="zh-CN" sz="1800">
              <a:latin typeface="Tahoma" panose="020B0604030504040204" pitchFamily="34" charset="0"/>
            </a:endParaRPr>
          </a:p>
        </p:txBody>
      </p:sp>
      <p:sp>
        <p:nvSpPr>
          <p:cNvPr id="92178" name="文本框 92177"/>
          <p:cNvSpPr txBox="1"/>
          <p:nvPr/>
        </p:nvSpPr>
        <p:spPr>
          <a:xfrm>
            <a:off x="4572000" y="2133600"/>
            <a:ext cx="9144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AS</a:t>
            </a:r>
            <a:endParaRPr lang="en-US" altLang="zh-CN" sz="2400" b="0">
              <a:latin typeface="Tahoma" panose="020B0604030504040204" pitchFamily="34" charset="0"/>
            </a:endParaRPr>
          </a:p>
        </p:txBody>
      </p:sp>
      <p:sp>
        <p:nvSpPr>
          <p:cNvPr id="92179" name="文本框 92178"/>
          <p:cNvSpPr txBox="1"/>
          <p:nvPr/>
        </p:nvSpPr>
        <p:spPr>
          <a:xfrm>
            <a:off x="3810000" y="5410200"/>
            <a:ext cx="1524000" cy="366713"/>
          </a:xfrm>
          <a:prstGeom prst="rect">
            <a:avLst/>
          </a:prstGeom>
          <a:noFill/>
          <a:ln w="9525">
            <a:noFill/>
          </a:ln>
        </p:spPr>
        <p:txBody>
          <a:bodyPr>
            <a:spAutoFit/>
          </a:bodyPr>
          <a:p>
            <a:pPr>
              <a:lnSpc>
                <a:spcPct val="100000"/>
              </a:lnSpc>
              <a:spcBef>
                <a:spcPct val="50000"/>
              </a:spcBef>
            </a:pPr>
            <a:r>
              <a:rPr lang="en-US" altLang="zh-CN" sz="1800">
                <a:solidFill>
                  <a:srgbClr val="000000"/>
                </a:solidFill>
                <a:latin typeface="Tahoma" panose="020B0604030504040204" pitchFamily="34" charset="0"/>
              </a:rPr>
              <a:t>Y0  Y1 </a:t>
            </a:r>
            <a:r>
              <a:rPr lang="en-US" altLang="zh-CN" sz="1800" err="1">
                <a:solidFill>
                  <a:srgbClr val="000000"/>
                </a:solidFill>
                <a:latin typeface="Tahoma" panose="020B0604030504040204" pitchFamily="34" charset="0"/>
              </a:rPr>
              <a:t>Ys</a:t>
            </a:r>
            <a:endParaRPr lang="en-US" altLang="zh-CN" sz="1800">
              <a:solidFill>
                <a:srgbClr val="000000"/>
              </a:solidFill>
              <a:latin typeface="Tahoma" panose="020B0604030504040204" pitchFamily="34" charset="0"/>
            </a:endParaRPr>
          </a:p>
        </p:txBody>
      </p:sp>
      <p:sp>
        <p:nvSpPr>
          <p:cNvPr id="92180" name="文本框 92179"/>
          <p:cNvSpPr txBox="1"/>
          <p:nvPr/>
        </p:nvSpPr>
        <p:spPr>
          <a:xfrm>
            <a:off x="3962400" y="3048000"/>
            <a:ext cx="1524000" cy="2647950"/>
          </a:xfrm>
          <a:prstGeom prst="rect">
            <a:avLst/>
          </a:prstGeom>
          <a:noFill/>
          <a:ln w="9525">
            <a:noFill/>
          </a:ln>
        </p:spPr>
        <p:txBody>
          <a:bodyPr>
            <a:spAutoFit/>
          </a:bodyPr>
          <a:p>
            <a:pPr>
              <a:lnSpc>
                <a:spcPct val="100000"/>
              </a:lnSpc>
              <a:spcBef>
                <a:spcPct val="50000"/>
              </a:spcBef>
            </a:pPr>
            <a:r>
              <a:rPr lang="en-US" altLang="zh-CN" sz="2400" b="0" dirty="0">
                <a:solidFill>
                  <a:srgbClr val="000000"/>
                </a:solidFill>
                <a:latin typeface="Tahoma" panose="020B0604030504040204" pitchFamily="34" charset="0"/>
              </a:rPr>
              <a:t>      </a:t>
            </a:r>
            <a:r>
              <a:rPr lang="en-US" altLang="zh-CN" sz="2400" b="0">
                <a:solidFill>
                  <a:srgbClr val="000000"/>
                </a:solidFill>
                <a:latin typeface="Tahoma" panose="020B0604030504040204" pitchFamily="34" charset="0"/>
              </a:rPr>
              <a:t>d</a:t>
            </a:r>
            <a:endParaRPr lang="en-US" altLang="zh-CN" sz="2400" b="0">
              <a:solidFill>
                <a:srgbClr val="000000"/>
              </a:solidFill>
              <a:latin typeface="Tahoma" panose="020B0604030504040204" pitchFamily="34" charset="0"/>
            </a:endParaRPr>
          </a:p>
          <a:p>
            <a:pPr>
              <a:lnSpc>
                <a:spcPct val="100000"/>
              </a:lnSpc>
              <a:spcBef>
                <a:spcPct val="50000"/>
              </a:spcBef>
            </a:pPr>
            <a:r>
              <a:rPr lang="en-US" altLang="zh-CN" sz="2400" b="0">
                <a:solidFill>
                  <a:srgbClr val="000000"/>
                </a:solidFill>
                <a:latin typeface="Tahoma" panose="020B0604030504040204" pitchFamily="34" charset="0"/>
              </a:rPr>
              <a:t>       c</a:t>
            </a:r>
            <a:endParaRPr lang="en-US" altLang="zh-CN" sz="2400" b="0">
              <a:solidFill>
                <a:srgbClr val="000000"/>
              </a:solidFill>
              <a:latin typeface="Tahoma" panose="020B0604030504040204" pitchFamily="34" charset="0"/>
            </a:endParaRPr>
          </a:p>
          <a:p>
            <a:pPr>
              <a:lnSpc>
                <a:spcPct val="100000"/>
              </a:lnSpc>
              <a:spcBef>
                <a:spcPct val="50000"/>
              </a:spcBef>
            </a:pPr>
            <a:r>
              <a:rPr lang="en-US" altLang="zh-CN" sz="2400" b="0">
                <a:solidFill>
                  <a:srgbClr val="000000"/>
                </a:solidFill>
                <a:latin typeface="Tahoma" panose="020B0604030504040204" pitchFamily="34" charset="0"/>
              </a:rPr>
              <a:t>   b</a:t>
            </a:r>
            <a:endParaRPr lang="en-US" altLang="zh-CN" sz="2400" b="0">
              <a:solidFill>
                <a:srgbClr val="000000"/>
              </a:solidFill>
              <a:latin typeface="Tahoma" panose="020B0604030504040204" pitchFamily="34" charset="0"/>
            </a:endParaRPr>
          </a:p>
          <a:p>
            <a:pPr>
              <a:lnSpc>
                <a:spcPct val="100000"/>
              </a:lnSpc>
              <a:spcBef>
                <a:spcPct val="50000"/>
              </a:spcBef>
            </a:pPr>
            <a:r>
              <a:rPr lang="en-US" altLang="zh-CN" sz="2400" b="0">
                <a:solidFill>
                  <a:srgbClr val="000000"/>
                </a:solidFill>
                <a:latin typeface="Tahoma" panose="020B0604030504040204" pitchFamily="34" charset="0"/>
              </a:rPr>
              <a:t>a</a:t>
            </a:r>
            <a:endParaRPr lang="en-US" altLang="zh-CN" sz="2400" b="0">
              <a:solidFill>
                <a:srgbClr val="000000"/>
              </a:solidFill>
              <a:latin typeface="Tahoma" panose="020B0604030504040204" pitchFamily="34" charset="0"/>
            </a:endParaRPr>
          </a:p>
          <a:p>
            <a:pPr>
              <a:lnSpc>
                <a:spcPct val="100000"/>
              </a:lnSpc>
              <a:spcBef>
                <a:spcPct val="50000"/>
              </a:spcBef>
            </a:pPr>
            <a:endParaRPr lang="en-US" altLang="zh-CN" sz="2400" b="0" dirty="0">
              <a:solidFill>
                <a:srgbClr val="000000"/>
              </a:solidFill>
              <a:latin typeface="Tahoma" panose="020B0604030504040204" pitchFamily="34" charset="0"/>
            </a:endParaRPr>
          </a:p>
        </p:txBody>
      </p:sp>
      <p:sp>
        <p:nvSpPr>
          <p:cNvPr id="92181" name="直接连接符 92180"/>
          <p:cNvSpPr/>
          <p:nvPr/>
        </p:nvSpPr>
        <p:spPr>
          <a:xfrm>
            <a:off x="2209800" y="3810000"/>
            <a:ext cx="2286000" cy="1371600"/>
          </a:xfrm>
          <a:prstGeom prst="line">
            <a:avLst/>
          </a:prstGeom>
          <a:ln w="28575" cap="flat" cmpd="sng">
            <a:solidFill>
              <a:srgbClr val="000000"/>
            </a:solidFill>
            <a:prstDash val="solid"/>
            <a:miter/>
            <a:headEnd type="none" w="med" len="med"/>
            <a:tailEnd type="none" w="med" len="med"/>
          </a:ln>
        </p:spPr>
      </p:sp>
      <p:sp>
        <p:nvSpPr>
          <p:cNvPr id="92182" name="直接连接符 92181"/>
          <p:cNvSpPr/>
          <p:nvPr/>
        </p:nvSpPr>
        <p:spPr>
          <a:xfrm>
            <a:off x="2590800" y="3352800"/>
            <a:ext cx="2590800" cy="1676400"/>
          </a:xfrm>
          <a:prstGeom prst="line">
            <a:avLst/>
          </a:prstGeom>
          <a:ln w="28575" cap="flat" cmpd="sng">
            <a:solidFill>
              <a:srgbClr val="000000"/>
            </a:solidFill>
            <a:prstDash val="solid"/>
            <a:miter/>
            <a:headEnd type="none" w="med" len="med"/>
            <a:tailEnd type="none" w="med" len="med"/>
          </a:ln>
        </p:spPr>
      </p:sp>
      <p:sp>
        <p:nvSpPr>
          <p:cNvPr id="92183" name="直接连接符 92182"/>
          <p:cNvSpPr/>
          <p:nvPr/>
        </p:nvSpPr>
        <p:spPr>
          <a:xfrm>
            <a:off x="3124200" y="2971800"/>
            <a:ext cx="2438400" cy="1600200"/>
          </a:xfrm>
          <a:prstGeom prst="line">
            <a:avLst/>
          </a:prstGeom>
          <a:ln w="28575" cap="flat" cmpd="sng">
            <a:solidFill>
              <a:srgbClr val="000000"/>
            </a:solidFill>
            <a:prstDash val="solid"/>
            <a:miter/>
            <a:headEnd type="none" w="med" len="med"/>
            <a:tailEnd type="none" w="med" len="med"/>
          </a:ln>
        </p:spPr>
      </p:sp>
      <p:sp>
        <p:nvSpPr>
          <p:cNvPr id="92184" name="直接连接符 92183"/>
          <p:cNvSpPr/>
          <p:nvPr/>
        </p:nvSpPr>
        <p:spPr>
          <a:xfrm>
            <a:off x="3505200" y="2438400"/>
            <a:ext cx="2133600" cy="1447800"/>
          </a:xfrm>
          <a:prstGeom prst="line">
            <a:avLst/>
          </a:prstGeom>
          <a:ln w="38100" cap="flat" cmpd="sng">
            <a:solidFill>
              <a:srgbClr val="000000"/>
            </a:solidFill>
            <a:prstDash val="solid"/>
            <a:miter/>
            <a:headEnd type="none" w="med" len="med"/>
            <a:tailEnd type="none" w="med" len="med"/>
          </a:ln>
        </p:spPr>
      </p:sp>
      <p:sp>
        <p:nvSpPr>
          <p:cNvPr id="92185" name="文本框 92184"/>
          <p:cNvSpPr txBox="1"/>
          <p:nvPr/>
        </p:nvSpPr>
        <p:spPr>
          <a:xfrm>
            <a:off x="4495800" y="2971800"/>
            <a:ext cx="2362200" cy="2376488"/>
          </a:xfrm>
          <a:prstGeom prst="rect">
            <a:avLst/>
          </a:prstGeom>
          <a:noFill/>
          <a:ln w="9525">
            <a:noFill/>
          </a:ln>
        </p:spPr>
        <p:txBody>
          <a:bodyPr>
            <a:spAutoFit/>
          </a:bodyPr>
          <a:p>
            <a:pPr>
              <a:lnSpc>
                <a:spcPct val="100000"/>
              </a:lnSpc>
              <a:spcBef>
                <a:spcPct val="50000"/>
              </a:spcBef>
            </a:pPr>
            <a:endParaRPr lang="en-US" altLang="zh-CN" sz="2400" b="0">
              <a:solidFill>
                <a:srgbClr val="000000"/>
              </a:solidFill>
              <a:latin typeface="Tahoma" panose="020B0604030504040204" pitchFamily="34" charset="0"/>
            </a:endParaRPr>
          </a:p>
          <a:p>
            <a:pPr>
              <a:lnSpc>
                <a:spcPct val="100000"/>
              </a:lnSpc>
              <a:spcBef>
                <a:spcPct val="50000"/>
              </a:spcBef>
            </a:pPr>
            <a:r>
              <a:rPr lang="en-US" altLang="zh-CN" sz="2400" b="0">
                <a:solidFill>
                  <a:srgbClr val="000000"/>
                </a:solidFill>
                <a:latin typeface="Tahoma" panose="020B0604030504040204" pitchFamily="34" charset="0"/>
              </a:rPr>
              <a:t>          </a:t>
            </a:r>
            <a:r>
              <a:rPr lang="en-US" altLang="zh-CN" b="0">
                <a:solidFill>
                  <a:srgbClr val="000000"/>
                </a:solidFill>
                <a:latin typeface="Tahoma" panose="020B0604030504040204" pitchFamily="34" charset="0"/>
              </a:rPr>
              <a:t>AD3</a:t>
            </a:r>
            <a:endParaRPr lang="en-US" altLang="zh-CN" b="0">
              <a:solidFill>
                <a:srgbClr val="000000"/>
              </a:solidFill>
              <a:latin typeface="Tahoma" panose="020B0604030504040204" pitchFamily="34" charset="0"/>
            </a:endParaRPr>
          </a:p>
          <a:p>
            <a:pPr>
              <a:lnSpc>
                <a:spcPct val="100000"/>
              </a:lnSpc>
              <a:spcBef>
                <a:spcPct val="50000"/>
              </a:spcBef>
            </a:pPr>
            <a:r>
              <a:rPr lang="en-US" altLang="zh-CN" b="0">
                <a:solidFill>
                  <a:srgbClr val="000000"/>
                </a:solidFill>
                <a:latin typeface="Tahoma" panose="020B0604030504040204" pitchFamily="34" charset="0"/>
              </a:rPr>
              <a:t>        AD2</a:t>
            </a:r>
            <a:endParaRPr lang="en-US" altLang="zh-CN" b="0">
              <a:solidFill>
                <a:srgbClr val="000000"/>
              </a:solidFill>
              <a:latin typeface="Tahoma" panose="020B0604030504040204" pitchFamily="34" charset="0"/>
            </a:endParaRPr>
          </a:p>
          <a:p>
            <a:pPr>
              <a:lnSpc>
                <a:spcPct val="100000"/>
              </a:lnSpc>
              <a:spcBef>
                <a:spcPct val="50000"/>
              </a:spcBef>
            </a:pPr>
            <a:r>
              <a:rPr lang="en-US" altLang="zh-CN" b="0">
                <a:solidFill>
                  <a:srgbClr val="000000"/>
                </a:solidFill>
                <a:latin typeface="Tahoma" panose="020B0604030504040204" pitchFamily="34" charset="0"/>
              </a:rPr>
              <a:t>    AD1</a:t>
            </a:r>
            <a:endParaRPr lang="en-US" altLang="zh-CN" b="0">
              <a:solidFill>
                <a:srgbClr val="000000"/>
              </a:solidFill>
              <a:latin typeface="Tahoma" panose="020B0604030504040204" pitchFamily="34" charset="0"/>
            </a:endParaRPr>
          </a:p>
          <a:p>
            <a:pPr>
              <a:lnSpc>
                <a:spcPct val="100000"/>
              </a:lnSpc>
              <a:spcBef>
                <a:spcPct val="50000"/>
              </a:spcBef>
            </a:pPr>
            <a:r>
              <a:rPr lang="en-US" altLang="zh-CN" b="0">
                <a:solidFill>
                  <a:srgbClr val="000000"/>
                </a:solidFill>
                <a:latin typeface="Tahoma" panose="020B0604030504040204" pitchFamily="34" charset="0"/>
              </a:rPr>
              <a:t>AD0</a:t>
            </a:r>
            <a:endParaRPr lang="en-US" altLang="zh-CN" b="0">
              <a:solidFill>
                <a:srgbClr val="000000"/>
              </a:solidFill>
              <a:latin typeface="Tahom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93185"/>
          <p:cNvSpPr>
            <a:spLocks noGrp="1"/>
          </p:cNvSpPr>
          <p:nvPr>
            <p:ph type="title"/>
          </p:nvPr>
        </p:nvSpPr>
        <p:spPr>
          <a:xfrm>
            <a:off x="838200" y="841375"/>
            <a:ext cx="7772400" cy="5330825"/>
          </a:xfrm>
          <a:ln/>
        </p:spPr>
        <p:txBody>
          <a:bodyPr anchor="ctr" anchorCtr="0"/>
          <a:p>
            <a:endParaRPr dirty="0"/>
          </a:p>
        </p:txBody>
      </p:sp>
      <p:graphicFrame>
        <p:nvGraphicFramePr>
          <p:cNvPr id="93187" name="表格 93186"/>
          <p:cNvGraphicFramePr/>
          <p:nvPr/>
        </p:nvGraphicFramePr>
        <p:xfrm>
          <a:off x="304800" y="304800"/>
          <a:ext cx="8458200" cy="6191250"/>
        </p:xfrm>
        <a:graphic>
          <a:graphicData uri="http://schemas.openxmlformats.org/drawingml/2006/table">
            <a:tbl>
              <a:tblPr/>
              <a:tblGrid>
                <a:gridCol w="457200"/>
                <a:gridCol w="3505200"/>
                <a:gridCol w="4495800"/>
              </a:tblGrid>
              <a:tr h="5334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dirty="0"/>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rPr>
                        <a:t>古典经济学派</a:t>
                      </a:r>
                      <a:endParaRPr lang="zh-CN" altLang="en-US" sz="2400" b="1" dirty="0">
                        <a:solidFill>
                          <a:srgbClr val="000000"/>
                        </a:solidFill>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rPr>
                        <a:t>凯恩斯经济学派</a:t>
                      </a:r>
                      <a:endParaRPr lang="zh-CN" altLang="en-US" sz="2400" b="1" dirty="0">
                        <a:solidFill>
                          <a:srgbClr val="000000"/>
                        </a:solidFill>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741738">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rPr>
                        <a:t>总供给</a:t>
                      </a:r>
                      <a:endParaRPr lang="zh-CN" altLang="en-US" sz="2400" b="1" dirty="0">
                        <a:solidFill>
                          <a:srgbClr val="000000"/>
                        </a:solidFill>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latin typeface="宋体" panose="02010600030101010101" pitchFamily="2" charset="-122"/>
                        </a:rPr>
                        <a:t>认为带动市场调整是即时的，使供需重新达到均衡状态，而市场长期处于充分就业。因此，物价水平和总产出之间的关系可以用一条垂直总产出的直线来表示，总供给线是一条垂直线，只有总供给的变动才会影响总产出。</a:t>
                      </a:r>
                      <a:endParaRPr lang="zh-CN" altLang="en-US" sz="2400" b="1" dirty="0">
                        <a:solidFill>
                          <a:srgbClr val="000000"/>
                        </a:solidFill>
                        <a:latin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latin typeface="宋体" panose="02010600030101010101" pitchFamily="2" charset="-122"/>
                        </a:rPr>
                        <a:t>认为当劳动市场供过于求时，货币工资率不会及时调整，使劳动供需达到均衡。未达到充分就业时，物价与总产出之间关系可以用一条正斜率的曲线表示</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当达到充分就业时，则可以一条垂直总产出的直线来表示。因此总供给线由垂直线和正斜率曲线组成。</a:t>
                      </a:r>
                      <a:endParaRPr lang="zh-CN" altLang="en-US" sz="2400" b="1" dirty="0">
                        <a:solidFill>
                          <a:srgbClr val="000000"/>
                        </a:solidFill>
                        <a:latin typeface="宋体" panose="02010600030101010101" pitchFamily="2" charset="-122"/>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1916112">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rPr>
                        <a:t>总需求</a:t>
                      </a:r>
                      <a:endParaRPr lang="zh-CN" altLang="en-US" sz="2400" b="1" dirty="0">
                        <a:solidFill>
                          <a:srgbClr val="000000"/>
                        </a:solidFill>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latin typeface="宋体" panose="02010600030101010101" pitchFamily="2" charset="-122"/>
                        </a:rPr>
                        <a:t>总需求的变动只会导致物价水平变动，不会影响总产出。</a:t>
                      </a:r>
                      <a:endParaRPr lang="zh-CN" altLang="en-US" sz="2400" b="1" dirty="0">
                        <a:solidFill>
                          <a:srgbClr val="000000"/>
                        </a:solidFill>
                        <a:latin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b="1" dirty="0">
                          <a:solidFill>
                            <a:srgbClr val="000000"/>
                          </a:solidFill>
                          <a:latin typeface="宋体" panose="02010600030101010101" pitchFamily="2" charset="-122"/>
                        </a:rPr>
                        <a:t>当总供给在正斜率的曲线部分，总需求的变动会使物价水平和总产出变动，但在总供给线的垂直部分，总需求的变动只会导致物价水平变动，总产出不变。</a:t>
                      </a:r>
                      <a:endParaRPr lang="zh-CN" altLang="en-US" sz="2400" b="1" dirty="0">
                        <a:solidFill>
                          <a:srgbClr val="000000"/>
                        </a:solidFill>
                        <a:latin typeface="宋体" panose="02010600030101010101" pitchFamily="2" charset="-122"/>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94209"/>
          <p:cNvSpPr>
            <a:spLocks noGrp="1"/>
          </p:cNvSpPr>
          <p:nvPr>
            <p:ph type="title"/>
          </p:nvPr>
        </p:nvSpPr>
        <p:spPr>
          <a:xfrm>
            <a:off x="304800" y="914400"/>
            <a:ext cx="8591550" cy="2263775"/>
          </a:xfrm>
          <a:ln/>
        </p:spPr>
        <p:txBody>
          <a:bodyPr anchor="ctr" anchorCtr="0"/>
          <a:p>
            <a:r>
              <a:rPr lang="zh-CN" altLang="en-US" b="1" dirty="0">
                <a:solidFill>
                  <a:srgbClr val="000000"/>
                </a:solidFill>
              </a:rPr>
              <a:t>通货膨胀与失业</a:t>
            </a:r>
            <a:endParaRPr lang="zh-CN" altLang="en-US" b="1" dirty="0">
              <a:solidFill>
                <a:srgbClr val="000000"/>
              </a:solidFill>
            </a:endParaRPr>
          </a:p>
        </p:txBody>
      </p:sp>
      <p:sp>
        <p:nvSpPr>
          <p:cNvPr id="94211" name="文本占位符 94210"/>
          <p:cNvSpPr>
            <a:spLocks noGrp="1"/>
          </p:cNvSpPr>
          <p:nvPr>
            <p:ph type="body" idx="1"/>
          </p:nvPr>
        </p:nvSpPr>
        <p:spPr>
          <a:xfrm>
            <a:off x="685800" y="3324225"/>
            <a:ext cx="7772400" cy="2771775"/>
          </a:xfrm>
          <a:ln/>
        </p:spPr>
        <p:txBody>
          <a:bodyPr/>
          <a:p>
            <a:pPr algn="ctr">
              <a:buNone/>
            </a:pPr>
            <a:endParaRPr sz="4800" dirty="0"/>
          </a:p>
        </p:txBody>
      </p:sp>
    </p:spTree>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95233"/>
          <p:cNvSpPr>
            <a:spLocks noGrp="1"/>
          </p:cNvSpPr>
          <p:nvPr>
            <p:ph type="title"/>
          </p:nvPr>
        </p:nvSpPr>
        <p:spPr>
          <a:xfrm>
            <a:off x="304800" y="609600"/>
            <a:ext cx="8512175" cy="457200"/>
          </a:xfrm>
          <a:ln/>
        </p:spPr>
        <p:txBody>
          <a:bodyPr anchor="ctr" anchorCtr="0"/>
          <a:p>
            <a:r>
              <a:rPr lang="zh-CN" altLang="en-US" sz="3200" b="1" dirty="0"/>
              <a:t>劳动力市场的均衡与失业</a:t>
            </a:r>
            <a:endParaRPr lang="zh-CN" altLang="en-US" sz="3200" b="1" dirty="0"/>
          </a:p>
        </p:txBody>
      </p:sp>
      <p:sp>
        <p:nvSpPr>
          <p:cNvPr id="95235" name="文本占位符 95234"/>
          <p:cNvSpPr>
            <a:spLocks noGrp="1"/>
          </p:cNvSpPr>
          <p:nvPr>
            <p:ph type="body" idx="1"/>
          </p:nvPr>
        </p:nvSpPr>
        <p:spPr>
          <a:xfrm>
            <a:off x="1066800" y="1295400"/>
            <a:ext cx="7278688" cy="490538"/>
          </a:xfrm>
          <a:ln/>
        </p:spPr>
        <p:txBody>
          <a:bodyPr/>
          <a:p>
            <a:pPr marL="0" indent="0">
              <a:lnSpc>
                <a:spcPct val="90000"/>
              </a:lnSpc>
              <a:buNone/>
            </a:pPr>
            <a:r>
              <a:rPr lang="zh-CN" altLang="en-US" sz="2800" b="1" dirty="0">
                <a:solidFill>
                  <a:srgbClr val="000000"/>
                </a:solidFill>
                <a:latin typeface="宋体" panose="02010600030101010101" pitchFamily="2" charset="-122"/>
              </a:rPr>
              <a:t>失业是劳动力市场的失衡</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400" b="1" dirty="0">
                <a:solidFill>
                  <a:srgbClr val="000000"/>
                </a:solidFill>
                <a:latin typeface="宋体" panose="02010600030101010101" pitchFamily="2" charset="-122"/>
              </a:rPr>
              <a:t>如</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劳动需求减少，工资如还在</a:t>
            </a:r>
            <a:r>
              <a:rPr lang="en-US" altLang="zh-CN" sz="2400" b="1">
                <a:solidFill>
                  <a:srgbClr val="000000"/>
                </a:solidFill>
                <a:latin typeface="宋体" panose="02010600030101010101" pitchFamily="2" charset="-122"/>
              </a:rPr>
              <a:t>W1</a:t>
            </a:r>
            <a:r>
              <a:rPr lang="zh-CN" altLang="en-US" sz="2400" b="1" dirty="0">
                <a:solidFill>
                  <a:srgbClr val="000000"/>
                </a:solidFill>
                <a:latin typeface="宋体" panose="02010600030101010101" pitchFamily="2" charset="-122"/>
              </a:rPr>
              <a:t>，失业量</a:t>
            </a:r>
            <a:r>
              <a:rPr lang="en-US" altLang="zh-CN" sz="2400" b="1" dirty="0" err="1">
                <a:solidFill>
                  <a:srgbClr val="000000"/>
                </a:solidFill>
                <a:latin typeface="宋体" panose="02010600030101010101" pitchFamily="2" charset="-122"/>
              </a:rPr>
              <a:t>L</a:t>
            </a:r>
            <a:r>
              <a:rPr lang="en-US" altLang="zh-CN" sz="2400" b="1" baseline="-16000" dirty="0" err="1">
                <a:solidFill>
                  <a:srgbClr val="000000"/>
                </a:solidFill>
                <a:latin typeface="宋体" panose="02010600030101010101" pitchFamily="2" charset="-122"/>
              </a:rPr>
              <a:t>e</a:t>
            </a:r>
            <a:r>
              <a:rPr lang="en-US" altLang="zh-CN" sz="2400" b="1" dirty="0" err="1">
                <a:solidFill>
                  <a:srgbClr val="000000"/>
                </a:solidFill>
                <a:latin typeface="宋体" panose="02010600030101010101" pitchFamily="2" charset="-122"/>
              </a:rPr>
              <a:t>L</a:t>
            </a:r>
            <a:r>
              <a:rPr lang="en-US" altLang="zh-CN" sz="2400" b="1" baseline="-14000" dirty="0" err="1">
                <a:solidFill>
                  <a:srgbClr val="000000"/>
                </a:solidFill>
                <a:latin typeface="宋体" panose="02010600030101010101" pitchFamily="2" charset="-122"/>
              </a:rPr>
              <a:t>f</a:t>
            </a:r>
            <a:endParaRPr lang="en-US" altLang="zh-CN" sz="2400" b="1" baseline="-14000">
              <a:solidFill>
                <a:srgbClr val="000000"/>
              </a:solidFill>
              <a:latin typeface="宋体" panose="02010600030101010101" pitchFamily="2" charset="-122"/>
            </a:endParaRPr>
          </a:p>
          <a:p>
            <a:pPr marL="0" indent="0">
              <a:lnSpc>
                <a:spcPct val="90000"/>
              </a:lnSpc>
              <a:buNone/>
            </a:pPr>
            <a:endParaRPr lang="en-US" altLang="zh-CN" sz="2400" b="1">
              <a:solidFill>
                <a:srgbClr val="000000"/>
              </a:solidFill>
              <a:latin typeface="宋体" panose="02010600030101010101" pitchFamily="2" charset="-122"/>
            </a:endParaRPr>
          </a:p>
          <a:p>
            <a:pPr marL="0" indent="0">
              <a:lnSpc>
                <a:spcPct val="90000"/>
              </a:lnSpc>
              <a:buNone/>
            </a:pPr>
            <a:endParaRPr lang="en-US" altLang="zh-CN" sz="2800" dirty="0">
              <a:latin typeface="宋体" panose="02010600030101010101" pitchFamily="2" charset="-122"/>
            </a:endParaRPr>
          </a:p>
        </p:txBody>
      </p:sp>
      <p:sp>
        <p:nvSpPr>
          <p:cNvPr id="95236" name="直接连接符 95235"/>
          <p:cNvSpPr/>
          <p:nvPr/>
        </p:nvSpPr>
        <p:spPr>
          <a:xfrm>
            <a:off x="5580063" y="5589588"/>
            <a:ext cx="576262" cy="0"/>
          </a:xfrm>
          <a:prstGeom prst="line">
            <a:avLst/>
          </a:prstGeom>
          <a:ln w="9525" cap="flat" cmpd="sng">
            <a:solidFill>
              <a:schemeClr val="tx1"/>
            </a:solidFill>
            <a:prstDash val="solid"/>
            <a:headEnd type="none" w="med" len="med"/>
            <a:tailEnd type="triangle" w="med" len="med"/>
          </a:ln>
        </p:spPr>
      </p:sp>
      <p:sp>
        <p:nvSpPr>
          <p:cNvPr id="95237" name="直接连接符 95236"/>
          <p:cNvSpPr/>
          <p:nvPr/>
        </p:nvSpPr>
        <p:spPr>
          <a:xfrm flipV="1">
            <a:off x="3059113" y="2565400"/>
            <a:ext cx="0" cy="3024188"/>
          </a:xfrm>
          <a:prstGeom prst="line">
            <a:avLst/>
          </a:prstGeom>
          <a:ln w="9525" cap="flat" cmpd="sng">
            <a:solidFill>
              <a:schemeClr val="tx1"/>
            </a:solidFill>
            <a:prstDash val="solid"/>
            <a:headEnd type="none" w="med" len="med"/>
            <a:tailEnd type="triangle" w="med" len="med"/>
          </a:ln>
        </p:spPr>
      </p:sp>
      <p:sp>
        <p:nvSpPr>
          <p:cNvPr id="95238" name="直接连接符 95237"/>
          <p:cNvSpPr/>
          <p:nvPr/>
        </p:nvSpPr>
        <p:spPr>
          <a:xfrm>
            <a:off x="5580063" y="2565400"/>
            <a:ext cx="0" cy="1223963"/>
          </a:xfrm>
          <a:prstGeom prst="line">
            <a:avLst/>
          </a:prstGeom>
          <a:ln w="28575" cap="flat" cmpd="sng">
            <a:solidFill>
              <a:schemeClr val="tx1"/>
            </a:solidFill>
            <a:prstDash val="solid"/>
            <a:headEnd type="none" w="med" len="med"/>
            <a:tailEnd type="none" w="med" len="med"/>
          </a:ln>
        </p:spPr>
      </p:sp>
      <p:sp>
        <p:nvSpPr>
          <p:cNvPr id="95239" name="任意多边形 95238"/>
          <p:cNvSpPr/>
          <p:nvPr/>
        </p:nvSpPr>
        <p:spPr>
          <a:xfrm flipV="1">
            <a:off x="3779838" y="3716338"/>
            <a:ext cx="1800225" cy="151288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95240" name="直接连接符 95239"/>
          <p:cNvSpPr/>
          <p:nvPr/>
        </p:nvSpPr>
        <p:spPr>
          <a:xfrm>
            <a:off x="5580063" y="3789363"/>
            <a:ext cx="0" cy="1800225"/>
          </a:xfrm>
          <a:prstGeom prst="line">
            <a:avLst/>
          </a:prstGeom>
          <a:ln w="9525" cap="flat" cmpd="sng">
            <a:solidFill>
              <a:schemeClr val="tx1"/>
            </a:solidFill>
            <a:prstDash val="sysDot"/>
            <a:headEnd type="none" w="med" len="med"/>
            <a:tailEnd type="none" w="med" len="med"/>
          </a:ln>
        </p:spPr>
      </p:sp>
      <p:sp>
        <p:nvSpPr>
          <p:cNvPr id="95241" name="任意多边形 95240"/>
          <p:cNvSpPr/>
          <p:nvPr/>
        </p:nvSpPr>
        <p:spPr>
          <a:xfrm rot="10450063">
            <a:off x="4724400" y="2057400"/>
            <a:ext cx="2160588" cy="2376488"/>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95243" name="文本框 95242"/>
          <p:cNvSpPr txBox="1"/>
          <p:nvPr/>
        </p:nvSpPr>
        <p:spPr>
          <a:xfrm>
            <a:off x="5651500" y="2492375"/>
            <a:ext cx="865188"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S</a:t>
            </a:r>
            <a:r>
              <a:rPr lang="en-US" altLang="zh-CN" sz="1800" b="0" baseline="-25000">
                <a:latin typeface="Arial" panose="020B0604020202020204" pitchFamily="34" charset="0"/>
              </a:rPr>
              <a:t>L</a:t>
            </a:r>
            <a:endParaRPr lang="en-US" altLang="zh-CN" sz="1800" b="0" baseline="-25000">
              <a:latin typeface="Arial" panose="020B0604020202020204" pitchFamily="34" charset="0"/>
            </a:endParaRPr>
          </a:p>
        </p:txBody>
      </p:sp>
      <p:sp>
        <p:nvSpPr>
          <p:cNvPr id="95244" name="文本框 95243"/>
          <p:cNvSpPr txBox="1"/>
          <p:nvPr/>
        </p:nvSpPr>
        <p:spPr>
          <a:xfrm>
            <a:off x="3563938" y="2924175"/>
            <a:ext cx="115252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D’</a:t>
            </a:r>
            <a:r>
              <a:rPr lang="en-US" altLang="zh-CN" sz="1800" b="0" baseline="-25000">
                <a:latin typeface="Arial" panose="020B0604020202020204" pitchFamily="34" charset="0"/>
              </a:rPr>
              <a:t>L</a:t>
            </a:r>
            <a:endParaRPr lang="en-US" altLang="zh-CN" sz="1800" b="0" baseline="-25000">
              <a:latin typeface="Arial" panose="020B0604020202020204" pitchFamily="34" charset="0"/>
            </a:endParaRPr>
          </a:p>
        </p:txBody>
      </p:sp>
      <p:sp>
        <p:nvSpPr>
          <p:cNvPr id="95245" name="文本框 95244"/>
          <p:cNvSpPr txBox="1"/>
          <p:nvPr/>
        </p:nvSpPr>
        <p:spPr>
          <a:xfrm>
            <a:off x="2700338" y="2492375"/>
            <a:ext cx="935037"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W</a:t>
            </a:r>
            <a:endParaRPr lang="en-US" altLang="zh-CN" sz="1800" b="0">
              <a:latin typeface="Arial" panose="020B0604020202020204" pitchFamily="34" charset="0"/>
            </a:endParaRPr>
          </a:p>
        </p:txBody>
      </p:sp>
      <p:sp>
        <p:nvSpPr>
          <p:cNvPr id="95246" name="文本框 95245"/>
          <p:cNvSpPr txBox="1"/>
          <p:nvPr/>
        </p:nvSpPr>
        <p:spPr>
          <a:xfrm>
            <a:off x="6156325" y="5300663"/>
            <a:ext cx="576263"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L</a:t>
            </a:r>
            <a:endParaRPr lang="en-US" altLang="zh-CN" sz="1800" b="0">
              <a:latin typeface="Arial" panose="020B0604020202020204" pitchFamily="34" charset="0"/>
            </a:endParaRPr>
          </a:p>
        </p:txBody>
      </p:sp>
      <p:sp>
        <p:nvSpPr>
          <p:cNvPr id="95247" name="文本框 95246"/>
          <p:cNvSpPr txBox="1"/>
          <p:nvPr/>
        </p:nvSpPr>
        <p:spPr>
          <a:xfrm>
            <a:off x="3995738" y="5734050"/>
            <a:ext cx="50482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L</a:t>
            </a:r>
            <a:r>
              <a:rPr lang="en-US" altLang="zh-CN" sz="1800" b="0" baseline="-16000">
                <a:latin typeface="Arial" panose="020B0604020202020204" pitchFamily="34" charset="0"/>
              </a:rPr>
              <a:t>e</a:t>
            </a:r>
            <a:endParaRPr lang="en-US" altLang="zh-CN" sz="1800" b="0" baseline="-16000">
              <a:latin typeface="Arial" panose="020B0604020202020204" pitchFamily="34" charset="0"/>
            </a:endParaRPr>
          </a:p>
        </p:txBody>
      </p:sp>
      <p:sp>
        <p:nvSpPr>
          <p:cNvPr id="95248" name="文本框 95247"/>
          <p:cNvSpPr txBox="1"/>
          <p:nvPr/>
        </p:nvSpPr>
        <p:spPr>
          <a:xfrm>
            <a:off x="5580063" y="5805488"/>
            <a:ext cx="431800"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L</a:t>
            </a:r>
            <a:r>
              <a:rPr lang="en-US" altLang="zh-CN" sz="1800" b="0" baseline="-14000">
                <a:latin typeface="Arial" panose="020B0604020202020204" pitchFamily="34" charset="0"/>
              </a:rPr>
              <a:t>f</a:t>
            </a:r>
            <a:endParaRPr lang="en-US" altLang="zh-CN" sz="1800" b="0" baseline="-14000">
              <a:latin typeface="Arial" panose="020B0604020202020204" pitchFamily="34" charset="0"/>
            </a:endParaRPr>
          </a:p>
        </p:txBody>
      </p:sp>
      <p:sp>
        <p:nvSpPr>
          <p:cNvPr id="95249" name="文本框 95248"/>
          <p:cNvSpPr txBox="1"/>
          <p:nvPr/>
        </p:nvSpPr>
        <p:spPr>
          <a:xfrm>
            <a:off x="4067175" y="6165850"/>
            <a:ext cx="1657350" cy="336550"/>
          </a:xfrm>
          <a:prstGeom prst="rect">
            <a:avLst/>
          </a:prstGeom>
          <a:noFill/>
          <a:ln w="9525">
            <a:noFill/>
          </a:ln>
        </p:spPr>
        <p:txBody>
          <a:bodyPr>
            <a:spAutoFit/>
          </a:bodyPr>
          <a:p>
            <a:pPr algn="ctr">
              <a:lnSpc>
                <a:spcPct val="100000"/>
              </a:lnSpc>
              <a:spcBef>
                <a:spcPct val="50000"/>
              </a:spcBef>
            </a:pPr>
            <a:r>
              <a:rPr lang="zh-CN" altLang="en-US" sz="1600" b="0" dirty="0">
                <a:solidFill>
                  <a:srgbClr val="000000"/>
                </a:solidFill>
                <a:latin typeface="Arial" panose="020B0604020202020204" pitchFamily="34" charset="0"/>
              </a:rPr>
              <a:t>失业量</a:t>
            </a:r>
            <a:endParaRPr lang="zh-CN" altLang="en-US" sz="1600" b="0" dirty="0">
              <a:solidFill>
                <a:srgbClr val="000000"/>
              </a:solidFill>
              <a:latin typeface="Arial" panose="020B0604020202020204" pitchFamily="34" charset="0"/>
            </a:endParaRPr>
          </a:p>
        </p:txBody>
      </p:sp>
      <p:sp>
        <p:nvSpPr>
          <p:cNvPr id="95250" name="直接连接符 95249"/>
          <p:cNvSpPr/>
          <p:nvPr/>
        </p:nvSpPr>
        <p:spPr>
          <a:xfrm>
            <a:off x="3059113" y="5589588"/>
            <a:ext cx="1800225" cy="0"/>
          </a:xfrm>
          <a:prstGeom prst="line">
            <a:avLst/>
          </a:prstGeom>
          <a:ln w="9525" cap="flat" cmpd="sng">
            <a:solidFill>
              <a:schemeClr val="tx1"/>
            </a:solidFill>
            <a:prstDash val="solid"/>
            <a:headEnd type="none" w="med" len="med"/>
            <a:tailEnd type="none" w="med" len="med"/>
          </a:ln>
        </p:spPr>
      </p:sp>
      <p:sp>
        <p:nvSpPr>
          <p:cNvPr id="95251" name="直接连接符 95250"/>
          <p:cNvSpPr/>
          <p:nvPr/>
        </p:nvSpPr>
        <p:spPr>
          <a:xfrm>
            <a:off x="4859338" y="5589588"/>
            <a:ext cx="720725" cy="0"/>
          </a:xfrm>
          <a:prstGeom prst="line">
            <a:avLst/>
          </a:prstGeom>
          <a:ln w="9525" cap="flat" cmpd="sng">
            <a:solidFill>
              <a:srgbClr val="000000"/>
            </a:solidFill>
            <a:prstDash val="solid"/>
            <a:headEnd type="none" w="med" len="med"/>
            <a:tailEnd type="none" w="med" len="med"/>
          </a:ln>
        </p:spPr>
      </p:sp>
      <p:sp>
        <p:nvSpPr>
          <p:cNvPr id="95252" name="任意多边形 95251"/>
          <p:cNvSpPr/>
          <p:nvPr/>
        </p:nvSpPr>
        <p:spPr>
          <a:xfrm rot="10450063">
            <a:off x="3787775" y="3005138"/>
            <a:ext cx="2160588" cy="237648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95253" name="文本框 95252"/>
          <p:cNvSpPr txBox="1"/>
          <p:nvPr/>
        </p:nvSpPr>
        <p:spPr>
          <a:xfrm>
            <a:off x="7239000" y="4267200"/>
            <a:ext cx="5334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D</a:t>
            </a:r>
            <a:endParaRPr lang="en-US" altLang="zh-CN" sz="2400" b="0">
              <a:latin typeface="Tahoma" panose="020B0604030504040204" pitchFamily="34" charset="0"/>
            </a:endParaRPr>
          </a:p>
        </p:txBody>
      </p:sp>
      <p:sp>
        <p:nvSpPr>
          <p:cNvPr id="95254" name="直接连接符 95253"/>
          <p:cNvSpPr/>
          <p:nvPr/>
        </p:nvSpPr>
        <p:spPr>
          <a:xfrm>
            <a:off x="3048000" y="3962400"/>
            <a:ext cx="2590800" cy="0"/>
          </a:xfrm>
          <a:prstGeom prst="line">
            <a:avLst/>
          </a:prstGeom>
          <a:ln w="9525" cap="flat" cmpd="sng">
            <a:solidFill>
              <a:schemeClr val="tx1"/>
            </a:solidFill>
            <a:prstDash val="sysDot"/>
            <a:miter/>
            <a:headEnd type="none" w="med" len="med"/>
            <a:tailEnd type="none" w="med" len="med"/>
          </a:ln>
        </p:spPr>
      </p:sp>
      <p:sp>
        <p:nvSpPr>
          <p:cNvPr id="95255" name="直接连接符 95254"/>
          <p:cNvSpPr/>
          <p:nvPr/>
        </p:nvSpPr>
        <p:spPr>
          <a:xfrm>
            <a:off x="3048000" y="4953000"/>
            <a:ext cx="1752600" cy="0"/>
          </a:xfrm>
          <a:prstGeom prst="line">
            <a:avLst/>
          </a:prstGeom>
          <a:ln w="9525" cap="flat" cmpd="sng">
            <a:solidFill>
              <a:schemeClr val="tx1"/>
            </a:solidFill>
            <a:prstDash val="sysDot"/>
            <a:miter/>
            <a:headEnd type="none" w="med" len="med"/>
            <a:tailEnd type="none" w="med" len="med"/>
          </a:ln>
        </p:spPr>
      </p:sp>
      <p:sp>
        <p:nvSpPr>
          <p:cNvPr id="95256" name="直接连接符 95255"/>
          <p:cNvSpPr/>
          <p:nvPr/>
        </p:nvSpPr>
        <p:spPr>
          <a:xfrm>
            <a:off x="3924300" y="4005263"/>
            <a:ext cx="0" cy="1600200"/>
          </a:xfrm>
          <a:prstGeom prst="line">
            <a:avLst/>
          </a:prstGeom>
          <a:ln w="9525" cap="flat" cmpd="sng">
            <a:solidFill>
              <a:schemeClr val="tx1"/>
            </a:solidFill>
            <a:prstDash val="sysDot"/>
            <a:miter/>
            <a:headEnd type="none" w="med" len="med"/>
            <a:tailEnd type="none" w="med" len="med"/>
          </a:ln>
        </p:spPr>
      </p:sp>
      <p:sp>
        <p:nvSpPr>
          <p:cNvPr id="95257" name="文本框 95256"/>
          <p:cNvSpPr txBox="1"/>
          <p:nvPr/>
        </p:nvSpPr>
        <p:spPr>
          <a:xfrm>
            <a:off x="2362200" y="3733800"/>
            <a:ext cx="609600" cy="366713"/>
          </a:xfrm>
          <a:prstGeom prst="rect">
            <a:avLst/>
          </a:prstGeom>
          <a:noFill/>
          <a:ln w="9525">
            <a:noFill/>
          </a:ln>
        </p:spPr>
        <p:txBody>
          <a:bodyPr>
            <a:spAutoFit/>
          </a:bodyPr>
          <a:p>
            <a:pPr>
              <a:lnSpc>
                <a:spcPct val="100000"/>
              </a:lnSpc>
              <a:spcBef>
                <a:spcPct val="50000"/>
              </a:spcBef>
            </a:pPr>
            <a:r>
              <a:rPr lang="en-US" altLang="zh-CN" sz="1800" b="0">
                <a:latin typeface="Tahoma" panose="020B0604030504040204" pitchFamily="34" charset="0"/>
              </a:rPr>
              <a:t>W1</a:t>
            </a:r>
            <a:endParaRPr lang="en-US" altLang="zh-CN" sz="1800" b="0">
              <a:latin typeface="Tahoma" panose="020B0604030504040204" pitchFamily="34" charset="0"/>
            </a:endParaRPr>
          </a:p>
        </p:txBody>
      </p:sp>
      <p:sp>
        <p:nvSpPr>
          <p:cNvPr id="95258" name="文本框 95257"/>
          <p:cNvSpPr txBox="1"/>
          <p:nvPr/>
        </p:nvSpPr>
        <p:spPr>
          <a:xfrm>
            <a:off x="2362200" y="4724400"/>
            <a:ext cx="609600" cy="366713"/>
          </a:xfrm>
          <a:prstGeom prst="rect">
            <a:avLst/>
          </a:prstGeom>
          <a:noFill/>
          <a:ln w="9525">
            <a:noFill/>
          </a:ln>
        </p:spPr>
        <p:txBody>
          <a:bodyPr>
            <a:spAutoFit/>
          </a:bodyPr>
          <a:p>
            <a:pPr>
              <a:lnSpc>
                <a:spcPct val="100000"/>
              </a:lnSpc>
              <a:spcBef>
                <a:spcPct val="50000"/>
              </a:spcBef>
            </a:pPr>
            <a:r>
              <a:rPr lang="en-US" altLang="zh-CN" sz="1800" b="0">
                <a:latin typeface="Tahoma" panose="020B0604030504040204" pitchFamily="34" charset="0"/>
              </a:rPr>
              <a:t>W2</a:t>
            </a:r>
            <a:endParaRPr lang="en-US" altLang="zh-CN" sz="1800" b="0">
              <a:latin typeface="Tahoma" panose="020B0604030504040204" pitchFamily="34" charset="0"/>
            </a:endParaRPr>
          </a:p>
        </p:txBody>
      </p:sp>
      <p:sp>
        <p:nvSpPr>
          <p:cNvPr id="95259" name="左大括号 95258"/>
          <p:cNvSpPr/>
          <p:nvPr/>
        </p:nvSpPr>
        <p:spPr>
          <a:xfrm rot="16200000">
            <a:off x="4535488" y="5048250"/>
            <a:ext cx="503237" cy="1584325"/>
          </a:xfrm>
          <a:prstGeom prst="leftBrace">
            <a:avLst>
              <a:gd name="adj1" fmla="val 26235"/>
              <a:gd name="adj2" fmla="val 50000"/>
            </a:avLst>
          </a:prstGeom>
          <a:noFill/>
          <a:ln w="9525" cap="flat" cmpd="sng">
            <a:solidFill>
              <a:srgbClr val="000000"/>
            </a:solidFill>
            <a:prstDash val="solid"/>
            <a:headEnd type="none" w="med" len="med"/>
            <a:tailEnd type="none" w="med" len="med"/>
          </a:ln>
        </p:spPr>
        <p:txBody>
          <a:bodyPr/>
          <a:p>
            <a:endParaRPr lang="zh-CN" altLang="en-US"/>
          </a:p>
        </p:txBody>
      </p:sp>
    </p:spTree>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96257"/>
          <p:cNvSpPr>
            <a:spLocks noGrp="1"/>
          </p:cNvSpPr>
          <p:nvPr>
            <p:ph type="title"/>
          </p:nvPr>
        </p:nvSpPr>
        <p:spPr>
          <a:xfrm>
            <a:off x="250825" y="228600"/>
            <a:ext cx="8435975" cy="1066800"/>
          </a:xfrm>
          <a:ln/>
        </p:spPr>
        <p:txBody>
          <a:bodyPr anchor="ctr" anchorCtr="0"/>
          <a:p>
            <a:pPr marL="838200" indent="-838200">
              <a:buFontTx/>
              <a:buNone/>
            </a:pPr>
            <a:r>
              <a:rPr lang="zh-CN" altLang="en-US" sz="4000" b="1" dirty="0">
                <a:solidFill>
                  <a:srgbClr val="000000"/>
                </a:solidFill>
              </a:rPr>
              <a:t>失业的含义</a:t>
            </a:r>
            <a:endParaRPr lang="zh-CN" altLang="en-US" sz="4000" b="1" dirty="0">
              <a:solidFill>
                <a:srgbClr val="000000"/>
              </a:solidFill>
            </a:endParaRPr>
          </a:p>
        </p:txBody>
      </p:sp>
      <p:sp>
        <p:nvSpPr>
          <p:cNvPr id="96259" name="文本占位符 96258"/>
          <p:cNvSpPr>
            <a:spLocks noGrp="1"/>
          </p:cNvSpPr>
          <p:nvPr>
            <p:ph type="body" idx="1"/>
          </p:nvPr>
        </p:nvSpPr>
        <p:spPr>
          <a:xfrm>
            <a:off x="685800" y="3127375"/>
            <a:ext cx="7772400" cy="2968625"/>
          </a:xfrm>
          <a:ln/>
        </p:spPr>
        <p:txBody>
          <a:bodyPr/>
          <a:p>
            <a:pPr>
              <a:lnSpc>
                <a:spcPct val="125000"/>
              </a:lnSpc>
              <a:buNone/>
            </a:pPr>
            <a:r>
              <a:rPr lang="zh-CN" altLang="en-US" sz="2800" dirty="0">
                <a:solidFill>
                  <a:srgbClr val="000000"/>
                </a:solidFill>
                <a:latin typeface="宋体" panose="02010600030101010101" pitchFamily="2" charset="-122"/>
              </a:rPr>
              <a:t>劳动力</a:t>
            </a:r>
            <a:endParaRPr lang="zh-CN" altLang="en-US" sz="2800" dirty="0">
              <a:solidFill>
                <a:srgbClr val="000000"/>
              </a:solidFill>
              <a:latin typeface="宋体" panose="02010600030101010101" pitchFamily="2" charset="-122"/>
            </a:endParaRPr>
          </a:p>
          <a:p>
            <a:pPr>
              <a:lnSpc>
                <a:spcPct val="125000"/>
              </a:lnSpc>
              <a:buNone/>
            </a:pPr>
            <a:r>
              <a:rPr lang="zh-CN" altLang="en-US" sz="2800" dirty="0">
                <a:solidFill>
                  <a:srgbClr val="000000"/>
                </a:solidFill>
                <a:latin typeface="宋体" panose="02010600030101010101" pitchFamily="2" charset="-122"/>
              </a:rPr>
              <a:t>有劳动能力的人，称成为劳动力。</a:t>
            </a:r>
            <a:endParaRPr lang="zh-CN" altLang="en-US" sz="2800" dirty="0">
              <a:solidFill>
                <a:srgbClr val="000000"/>
              </a:solidFill>
              <a:latin typeface="宋体" panose="02010600030101010101" pitchFamily="2" charset="-122"/>
            </a:endParaRPr>
          </a:p>
          <a:p>
            <a:pPr>
              <a:lnSpc>
                <a:spcPct val="125000"/>
              </a:lnSpc>
              <a:buNone/>
            </a:pPr>
            <a:r>
              <a:rPr lang="zh-CN" altLang="en-US" sz="2800" dirty="0">
                <a:solidFill>
                  <a:srgbClr val="000000"/>
                </a:solidFill>
                <a:latin typeface="宋体" panose="02010600030101010101" pitchFamily="2" charset="-122"/>
              </a:rPr>
              <a:t>一般以年龄来确定：多为</a:t>
            </a:r>
            <a:r>
              <a:rPr lang="en-US" altLang="zh-CN" sz="2800">
                <a:solidFill>
                  <a:srgbClr val="000000"/>
                </a:solidFill>
                <a:latin typeface="宋体" panose="02010600030101010101" pitchFamily="2" charset="-122"/>
              </a:rPr>
              <a:t>16</a:t>
            </a:r>
            <a:r>
              <a:rPr lang="zh-CN" altLang="en-US" sz="2800" dirty="0">
                <a:solidFill>
                  <a:srgbClr val="000000"/>
                </a:solidFill>
                <a:latin typeface="宋体" panose="02010600030101010101" pitchFamily="2" charset="-122"/>
              </a:rPr>
              <a:t>岁以上</a:t>
            </a:r>
            <a:r>
              <a:rPr lang="en-US" altLang="zh-CN" sz="2800">
                <a:solidFill>
                  <a:srgbClr val="000000"/>
                </a:solidFill>
                <a:latin typeface="宋体" panose="02010600030101010101" pitchFamily="2" charset="-122"/>
              </a:rPr>
              <a:t>60</a:t>
            </a:r>
            <a:r>
              <a:rPr lang="zh-CN" altLang="en-US" sz="2800" dirty="0">
                <a:solidFill>
                  <a:srgbClr val="000000"/>
                </a:solidFill>
                <a:latin typeface="宋体" panose="02010600030101010101" pitchFamily="2" charset="-122"/>
              </a:rPr>
              <a:t>岁以下。</a:t>
            </a:r>
            <a:endParaRPr lang="zh-CN" altLang="en-US" sz="2800" dirty="0">
              <a:solidFill>
                <a:srgbClr val="000000"/>
              </a:solidFill>
              <a:latin typeface="宋体" panose="02010600030101010101" pitchFamily="2" charset="-122"/>
            </a:endParaRPr>
          </a:p>
        </p:txBody>
      </p:sp>
    </p:spTree>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标题 97281"/>
          <p:cNvSpPr>
            <a:spLocks noGrp="1"/>
          </p:cNvSpPr>
          <p:nvPr>
            <p:ph type="title"/>
          </p:nvPr>
        </p:nvSpPr>
        <p:spPr>
          <a:ln/>
        </p:spPr>
        <p:txBody>
          <a:bodyPr anchor="ctr" anchorCtr="0"/>
          <a:p>
            <a:r>
              <a:rPr lang="zh-CN" altLang="en-US" dirty="0"/>
              <a:t>就业</a:t>
            </a:r>
            <a:endParaRPr lang="zh-CN" altLang="en-US" dirty="0"/>
          </a:p>
        </p:txBody>
      </p:sp>
      <p:sp>
        <p:nvSpPr>
          <p:cNvPr id="97283" name="文本占位符 97282"/>
          <p:cNvSpPr>
            <a:spLocks noGrp="1"/>
          </p:cNvSpPr>
          <p:nvPr>
            <p:ph type="body" idx="1"/>
          </p:nvPr>
        </p:nvSpPr>
        <p:spPr>
          <a:ln/>
        </p:spPr>
        <p:txBody>
          <a:bodyPr/>
          <a:p>
            <a:pPr>
              <a:lnSpc>
                <a:spcPct val="125000"/>
              </a:lnSpc>
              <a:buNone/>
            </a:pPr>
            <a:r>
              <a:rPr lang="zh-CN" altLang="en-US" sz="2800" dirty="0">
                <a:solidFill>
                  <a:srgbClr val="000000"/>
                </a:solidFill>
              </a:rPr>
              <a:t>正在工作，并以此谋生称为就业。</a:t>
            </a:r>
            <a:endParaRPr lang="zh-CN" altLang="en-US" sz="2800" dirty="0">
              <a:solidFill>
                <a:srgbClr val="000000"/>
              </a:solidFill>
            </a:endParaRPr>
          </a:p>
          <a:p>
            <a:pPr>
              <a:lnSpc>
                <a:spcPct val="125000"/>
              </a:lnSpc>
              <a:buNone/>
            </a:pPr>
            <a:r>
              <a:rPr lang="zh-CN" altLang="en-US" sz="2800" dirty="0">
                <a:solidFill>
                  <a:srgbClr val="000000"/>
                </a:solidFill>
              </a:rPr>
              <a:t>在城市中，这个定义是比较清楚的。</a:t>
            </a:r>
            <a:endParaRPr lang="zh-CN" altLang="en-US" sz="2800" dirty="0">
              <a:solidFill>
                <a:srgbClr val="000000"/>
              </a:solidFill>
            </a:endParaRPr>
          </a:p>
          <a:p>
            <a:pPr>
              <a:lnSpc>
                <a:spcPct val="125000"/>
              </a:lnSpc>
              <a:buNone/>
            </a:pPr>
            <a:r>
              <a:rPr lang="zh-CN" altLang="en-US" sz="2800" dirty="0">
                <a:solidFill>
                  <a:srgbClr val="000000"/>
                </a:solidFill>
              </a:rPr>
              <a:t>在农村中这个定义就不是很清楚</a:t>
            </a:r>
            <a:endParaRPr lang="zh-CN" altLang="en-US" sz="2800" dirty="0">
              <a:solidFill>
                <a:srgbClr val="000000"/>
              </a:solidFill>
            </a:endParaRPr>
          </a:p>
          <a:p>
            <a:pPr lvl="1">
              <a:lnSpc>
                <a:spcPct val="125000"/>
              </a:lnSpc>
              <a:buNone/>
            </a:pPr>
            <a:r>
              <a:rPr lang="zh-CN" altLang="en-US" sz="2400" dirty="0">
                <a:solidFill>
                  <a:srgbClr val="000000"/>
                </a:solidFill>
              </a:rPr>
              <a:t>家务劳动和生产劳动；</a:t>
            </a:r>
            <a:endParaRPr lang="zh-CN" altLang="en-US" sz="2400" dirty="0">
              <a:solidFill>
                <a:srgbClr val="000000"/>
              </a:solidFill>
            </a:endParaRPr>
          </a:p>
          <a:p>
            <a:pPr lvl="1">
              <a:lnSpc>
                <a:spcPct val="125000"/>
              </a:lnSpc>
              <a:buNone/>
            </a:pPr>
            <a:r>
              <a:rPr lang="zh-CN" altLang="en-US" sz="2400" dirty="0">
                <a:solidFill>
                  <a:srgbClr val="000000"/>
                </a:solidFill>
              </a:rPr>
              <a:t>生产劳动与社会化生产劳动；</a:t>
            </a:r>
            <a:endParaRPr lang="zh-CN" altLang="en-US" sz="2400" dirty="0">
              <a:solidFill>
                <a:srgbClr val="000000"/>
              </a:solidFill>
            </a:endParaRPr>
          </a:p>
        </p:txBody>
      </p:sp>
    </p:spTree>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标题 98305"/>
          <p:cNvSpPr>
            <a:spLocks noGrp="1"/>
          </p:cNvSpPr>
          <p:nvPr>
            <p:ph type="title"/>
          </p:nvPr>
        </p:nvSpPr>
        <p:spPr>
          <a:ln/>
        </p:spPr>
        <p:txBody>
          <a:bodyPr anchor="ctr" anchorCtr="0"/>
          <a:p>
            <a:r>
              <a:rPr lang="zh-CN" altLang="en-US" dirty="0"/>
              <a:t>失业</a:t>
            </a:r>
            <a:endParaRPr lang="zh-CN" altLang="en-US" dirty="0"/>
          </a:p>
        </p:txBody>
      </p:sp>
      <p:sp>
        <p:nvSpPr>
          <p:cNvPr id="98307" name="文本占位符 98306"/>
          <p:cNvSpPr>
            <a:spLocks noGrp="1"/>
          </p:cNvSpPr>
          <p:nvPr>
            <p:ph type="body" idx="1"/>
          </p:nvPr>
        </p:nvSpPr>
        <p:spPr>
          <a:ln/>
        </p:spPr>
        <p:txBody>
          <a:bodyPr/>
          <a:p>
            <a:pPr marL="0" indent="0">
              <a:lnSpc>
                <a:spcPct val="125000"/>
              </a:lnSpc>
              <a:buNone/>
            </a:pPr>
            <a:r>
              <a:rPr lang="zh-CN" altLang="en-US" dirty="0">
                <a:solidFill>
                  <a:srgbClr val="000000"/>
                </a:solidFill>
              </a:rPr>
              <a:t>在一定年龄范围内，愿意工作而没有工作，并在寻找工作的人就称为失业。</a:t>
            </a:r>
            <a:endParaRPr lang="zh-CN" altLang="en-US" dirty="0">
              <a:solidFill>
                <a:srgbClr val="000000"/>
              </a:solidFill>
            </a:endParaRPr>
          </a:p>
          <a:p>
            <a:pPr marL="0" indent="0">
              <a:lnSpc>
                <a:spcPct val="125000"/>
              </a:lnSpc>
              <a:buNone/>
            </a:pPr>
            <a:r>
              <a:rPr lang="zh-CN" altLang="en-US" dirty="0">
                <a:solidFill>
                  <a:srgbClr val="000000"/>
                </a:solidFill>
              </a:rPr>
              <a:t>各个国家的失业保障法规，对失业都有明确的具体规定。</a:t>
            </a:r>
            <a:endParaRPr lang="zh-CN" altLang="en-US" dirty="0">
              <a:solidFill>
                <a:srgbClr val="000000"/>
              </a:solidFill>
            </a:endParaRPr>
          </a:p>
        </p:txBody>
      </p:sp>
    </p:spTree>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标题 99329"/>
          <p:cNvSpPr>
            <a:spLocks noGrp="1"/>
          </p:cNvSpPr>
          <p:nvPr>
            <p:ph type="title"/>
          </p:nvPr>
        </p:nvSpPr>
        <p:spPr>
          <a:xfrm>
            <a:off x="250825" y="228600"/>
            <a:ext cx="8435975" cy="990600"/>
          </a:xfrm>
          <a:ln/>
        </p:spPr>
        <p:txBody>
          <a:bodyPr anchor="ctr" anchorCtr="0"/>
          <a:p>
            <a:r>
              <a:rPr lang="zh-CN" altLang="en-US" dirty="0"/>
              <a:t>失业的分类。</a:t>
            </a:r>
            <a:endParaRPr lang="zh-CN" altLang="en-US" dirty="0"/>
          </a:p>
        </p:txBody>
      </p:sp>
      <p:sp>
        <p:nvSpPr>
          <p:cNvPr id="99331" name="文本占位符 99330"/>
          <p:cNvSpPr>
            <a:spLocks noGrp="1"/>
          </p:cNvSpPr>
          <p:nvPr>
            <p:ph type="body" idx="1"/>
          </p:nvPr>
        </p:nvSpPr>
        <p:spPr>
          <a:xfrm>
            <a:off x="838200" y="1905000"/>
            <a:ext cx="7924800" cy="4572000"/>
          </a:xfrm>
          <a:ln/>
        </p:spPr>
        <p:txBody>
          <a:bodyPr/>
          <a:p>
            <a:pPr marL="0" indent="0">
              <a:lnSpc>
                <a:spcPct val="125000"/>
              </a:lnSpc>
              <a:buNone/>
            </a:pPr>
            <a:r>
              <a:rPr lang="zh-CN" altLang="en-US" sz="2800" dirty="0">
                <a:solidFill>
                  <a:srgbClr val="000000"/>
                </a:solidFill>
                <a:latin typeface="宋体" panose="02010600030101010101" pitchFamily="2" charset="-122"/>
              </a:rPr>
              <a:t>自愿失业：认为工资不够满意而没有就业的人，称为自愿失业。此外都是非自愿失业。</a:t>
            </a:r>
            <a:endParaRPr lang="zh-CN" altLang="en-US" sz="2800" dirty="0">
              <a:solidFill>
                <a:srgbClr val="000000"/>
              </a:solidFill>
              <a:latin typeface="宋体" panose="02010600030101010101" pitchFamily="2" charset="-122"/>
            </a:endParaRPr>
          </a:p>
          <a:p>
            <a:pPr marL="0" indent="0">
              <a:lnSpc>
                <a:spcPct val="125000"/>
              </a:lnSpc>
              <a:buNone/>
            </a:pPr>
            <a:r>
              <a:rPr lang="zh-CN" altLang="en-US" sz="2800" dirty="0">
                <a:solidFill>
                  <a:srgbClr val="000000"/>
                </a:solidFill>
                <a:latin typeface="宋体" panose="02010600030101010101" pitchFamily="2" charset="-122"/>
              </a:rPr>
              <a:t>摩擦性失业</a:t>
            </a:r>
            <a:r>
              <a:rPr lang="en-US" altLang="zh-CN" sz="2800">
                <a:solidFill>
                  <a:srgbClr val="000000"/>
                </a:solidFill>
                <a:latin typeface="宋体" panose="02010600030101010101" pitchFamily="2" charset="-122"/>
              </a:rPr>
              <a:t>(frictional unemployment)</a:t>
            </a:r>
            <a:r>
              <a:rPr lang="zh-CN" altLang="en-US" sz="2800" dirty="0">
                <a:solidFill>
                  <a:srgbClr val="000000"/>
                </a:solidFill>
                <a:latin typeface="宋体" panose="02010600030101010101" pitchFamily="2" charset="-122"/>
              </a:rPr>
              <a:t>：由于信息的不完全性，寻找工作的再工作岗位是需要时间的。在这段时间内的失业，称为摩擦性失业。它的特点是职业空缺和失业者的并存。</a:t>
            </a:r>
            <a:endParaRPr lang="zh-CN" altLang="en-US" sz="2800" dirty="0">
              <a:solidFill>
                <a:srgbClr val="000000"/>
              </a:solidFill>
              <a:latin typeface="宋体" panose="02010600030101010101" pitchFamily="2" charset="-122"/>
            </a:endParaRPr>
          </a:p>
          <a:p>
            <a:pPr marL="0" indent="0">
              <a:lnSpc>
                <a:spcPct val="125000"/>
              </a:lnSpc>
              <a:buNone/>
            </a:pPr>
            <a:r>
              <a:rPr lang="zh-CN" altLang="en-US" sz="2800" dirty="0">
                <a:solidFill>
                  <a:srgbClr val="000000"/>
                </a:solidFill>
                <a:latin typeface="宋体" panose="02010600030101010101" pitchFamily="2" charset="-122"/>
              </a:rPr>
              <a:t>以上二项合称为自然失业</a:t>
            </a:r>
            <a:endParaRPr lang="zh-CN" altLang="en-US" sz="2800">
              <a:solidFill>
                <a:srgbClr val="000000"/>
              </a:solidFill>
              <a:latin typeface="宋体" panose="02010600030101010101" pitchFamily="2" charset="-122"/>
            </a:endParaRPr>
          </a:p>
        </p:txBody>
      </p:sp>
    </p:spTree>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标题 101377"/>
          <p:cNvSpPr>
            <a:spLocks noGrp="1"/>
          </p:cNvSpPr>
          <p:nvPr>
            <p:ph type="title"/>
          </p:nvPr>
        </p:nvSpPr>
        <p:spPr>
          <a:xfrm>
            <a:off x="685800" y="609600"/>
            <a:ext cx="7772400" cy="823913"/>
          </a:xfrm>
          <a:ln/>
        </p:spPr>
        <p:txBody>
          <a:bodyPr anchor="ctr" anchorCtr="0"/>
          <a:p>
            <a:r>
              <a:rPr lang="zh-CN" altLang="en-US" dirty="0"/>
              <a:t>续前页</a:t>
            </a:r>
            <a:endParaRPr lang="zh-CN" altLang="en-US" dirty="0"/>
          </a:p>
        </p:txBody>
      </p:sp>
      <p:sp>
        <p:nvSpPr>
          <p:cNvPr id="101379" name="文本占位符 101378"/>
          <p:cNvSpPr>
            <a:spLocks noGrp="1"/>
          </p:cNvSpPr>
          <p:nvPr>
            <p:ph type="body" idx="1"/>
          </p:nvPr>
        </p:nvSpPr>
        <p:spPr>
          <a:xfrm>
            <a:off x="228600" y="1066800"/>
            <a:ext cx="8540750" cy="4902200"/>
          </a:xfrm>
          <a:ln/>
        </p:spPr>
        <p:txBody>
          <a:bodyPr/>
          <a:p>
            <a:pPr marL="0" indent="0">
              <a:lnSpc>
                <a:spcPct val="125000"/>
              </a:lnSpc>
              <a:buNone/>
            </a:pPr>
            <a:r>
              <a:rPr lang="zh-CN" altLang="en-US" dirty="0">
                <a:solidFill>
                  <a:srgbClr val="000000"/>
                </a:solidFill>
                <a:latin typeface="宋体" panose="02010600030101010101" pitchFamily="2" charset="-122"/>
              </a:rPr>
              <a:t>结构性失业</a:t>
            </a:r>
            <a:r>
              <a:rPr lang="en-US" altLang="zh-CN">
                <a:solidFill>
                  <a:srgbClr val="000000"/>
                </a:solidFill>
                <a:latin typeface="宋体" panose="02010600030101010101" pitchFamily="2" charset="-122"/>
              </a:rPr>
              <a:t>(structural unemployment)</a:t>
            </a:r>
            <a:r>
              <a:rPr lang="zh-CN" altLang="en-US" dirty="0">
                <a:solidFill>
                  <a:srgbClr val="000000"/>
                </a:solidFill>
                <a:latin typeface="宋体" panose="02010600030101010101" pitchFamily="2" charset="-122"/>
              </a:rPr>
              <a:t>：这也是一种磨擦性失业。不同的是：这是非自愿的。当空出的职位和失业人员的劳动技能不相同时，就称为结构性失业。</a:t>
            </a:r>
            <a:endParaRPr lang="zh-CN" altLang="en-US" dirty="0">
              <a:solidFill>
                <a:srgbClr val="000000"/>
              </a:solidFill>
              <a:latin typeface="宋体" panose="02010600030101010101" pitchFamily="2" charset="-122"/>
            </a:endParaRPr>
          </a:p>
          <a:p>
            <a:pPr marL="0" indent="0">
              <a:lnSpc>
                <a:spcPct val="125000"/>
              </a:lnSpc>
              <a:buNone/>
            </a:pPr>
            <a:r>
              <a:rPr lang="zh-CN" altLang="en-US" dirty="0">
                <a:solidFill>
                  <a:srgbClr val="000000"/>
                </a:solidFill>
                <a:latin typeface="宋体" panose="02010600030101010101" pitchFamily="2" charset="-122"/>
              </a:rPr>
              <a:t>循环性失业</a:t>
            </a:r>
            <a:r>
              <a:rPr lang="en-US" altLang="zh-CN">
                <a:solidFill>
                  <a:srgbClr val="000000"/>
                </a:solidFill>
                <a:latin typeface="宋体" panose="02010600030101010101" pitchFamily="2" charset="-122"/>
              </a:rPr>
              <a:t>(</a:t>
            </a:r>
            <a:r>
              <a:rPr lang="en-US" altLang="zh-CN" dirty="0" err="1">
                <a:solidFill>
                  <a:srgbClr val="000000"/>
                </a:solidFill>
                <a:latin typeface="宋体" panose="02010600030101010101" pitchFamily="2" charset="-122"/>
              </a:rPr>
              <a:t>Cyclicalunemployment</a:t>
            </a:r>
            <a:r>
              <a:rPr lang="en-US" altLang="zh-CN">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是指由于经济周期性的波动而引起的失业。</a:t>
            </a:r>
            <a:endParaRPr lang="zh-CN" altLang="en-US" dirty="0">
              <a:solidFill>
                <a:srgbClr val="000000"/>
              </a:solidFill>
              <a:latin typeface="宋体" panose="02010600030101010101" pitchFamily="2" charset="-122"/>
            </a:endParaRPr>
          </a:p>
        </p:txBody>
      </p:sp>
    </p:spTree>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标题 103425"/>
          <p:cNvSpPr>
            <a:spLocks noGrp="1"/>
          </p:cNvSpPr>
          <p:nvPr>
            <p:ph type="title"/>
          </p:nvPr>
        </p:nvSpPr>
        <p:spPr>
          <a:xfrm>
            <a:off x="685800" y="609600"/>
            <a:ext cx="7772400" cy="896938"/>
          </a:xfrm>
          <a:ln/>
        </p:spPr>
        <p:txBody>
          <a:bodyPr anchor="ctr" anchorCtr="0"/>
          <a:p>
            <a:endParaRPr dirty="0"/>
          </a:p>
        </p:txBody>
      </p:sp>
      <p:sp>
        <p:nvSpPr>
          <p:cNvPr id="103427" name="文本占位符 103426"/>
          <p:cNvSpPr>
            <a:spLocks noGrp="1"/>
          </p:cNvSpPr>
          <p:nvPr>
            <p:ph type="body" idx="1"/>
          </p:nvPr>
        </p:nvSpPr>
        <p:spPr>
          <a:xfrm>
            <a:off x="304800" y="1676400"/>
            <a:ext cx="8537575" cy="631825"/>
          </a:xfrm>
          <a:ln/>
        </p:spPr>
        <p:txBody>
          <a:bodyPr/>
          <a:p>
            <a:pPr marL="457200" indent="-457200">
              <a:lnSpc>
                <a:spcPct val="125000"/>
              </a:lnSpc>
            </a:pPr>
            <a:r>
              <a:rPr lang="zh-CN" altLang="en-US" sz="2800" dirty="0"/>
              <a:t>古典失业：由于实际工资过高而产生的失业。</a:t>
            </a:r>
            <a:endParaRPr lang="zh-CN" altLang="en-US" sz="2800" dirty="0"/>
          </a:p>
        </p:txBody>
      </p:sp>
      <p:sp>
        <p:nvSpPr>
          <p:cNvPr id="103428" name="直接连接符 103427"/>
          <p:cNvSpPr/>
          <p:nvPr/>
        </p:nvSpPr>
        <p:spPr>
          <a:xfrm>
            <a:off x="2627313" y="5805488"/>
            <a:ext cx="3384550" cy="0"/>
          </a:xfrm>
          <a:prstGeom prst="line">
            <a:avLst/>
          </a:prstGeom>
          <a:ln w="9525" cap="flat" cmpd="sng">
            <a:solidFill>
              <a:schemeClr val="tx1"/>
            </a:solidFill>
            <a:prstDash val="solid"/>
            <a:headEnd type="none" w="med" len="med"/>
            <a:tailEnd type="triangle" w="med" len="med"/>
          </a:ln>
        </p:spPr>
      </p:sp>
      <p:sp>
        <p:nvSpPr>
          <p:cNvPr id="103429" name="直接连接符 103428"/>
          <p:cNvSpPr/>
          <p:nvPr/>
        </p:nvSpPr>
        <p:spPr>
          <a:xfrm flipV="1">
            <a:off x="2627313" y="2565400"/>
            <a:ext cx="0" cy="3240088"/>
          </a:xfrm>
          <a:prstGeom prst="line">
            <a:avLst/>
          </a:prstGeom>
          <a:ln w="9525" cap="flat" cmpd="sng">
            <a:solidFill>
              <a:schemeClr val="tx1"/>
            </a:solidFill>
            <a:prstDash val="solid"/>
            <a:headEnd type="none" w="med" len="med"/>
            <a:tailEnd type="triangle" w="med" len="med"/>
          </a:ln>
        </p:spPr>
      </p:sp>
      <p:sp>
        <p:nvSpPr>
          <p:cNvPr id="103430" name="直接连接符 103429"/>
          <p:cNvSpPr/>
          <p:nvPr/>
        </p:nvSpPr>
        <p:spPr>
          <a:xfrm>
            <a:off x="5219700" y="2636838"/>
            <a:ext cx="0" cy="1152525"/>
          </a:xfrm>
          <a:prstGeom prst="line">
            <a:avLst/>
          </a:prstGeom>
          <a:ln w="28575" cap="flat" cmpd="sng">
            <a:solidFill>
              <a:schemeClr val="tx1"/>
            </a:solidFill>
            <a:prstDash val="solid"/>
            <a:headEnd type="none" w="med" len="med"/>
            <a:tailEnd type="none" w="med" len="med"/>
          </a:ln>
        </p:spPr>
      </p:sp>
      <p:sp>
        <p:nvSpPr>
          <p:cNvPr id="103431" name="任意多边形 103430"/>
          <p:cNvSpPr/>
          <p:nvPr/>
        </p:nvSpPr>
        <p:spPr>
          <a:xfrm flipV="1">
            <a:off x="3635375" y="3716338"/>
            <a:ext cx="1584325" cy="1368425"/>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103432" name="任意多边形 103431"/>
          <p:cNvSpPr/>
          <p:nvPr/>
        </p:nvSpPr>
        <p:spPr>
          <a:xfrm>
            <a:off x="3419475" y="2924175"/>
            <a:ext cx="2447925" cy="2089150"/>
          </a:xfrm>
          <a:custGeom>
            <a:avLst/>
            <a:gdLst/>
            <a:ahLst/>
            <a:cxnLst/>
            <a:pathLst>
              <a:path w="1542" h="1316">
                <a:moveTo>
                  <a:pt x="0" y="0"/>
                </a:moveTo>
                <a:cubicBezTo>
                  <a:pt x="23" y="87"/>
                  <a:pt x="46" y="174"/>
                  <a:pt x="91" y="272"/>
                </a:cubicBezTo>
                <a:cubicBezTo>
                  <a:pt x="136" y="370"/>
                  <a:pt x="189" y="477"/>
                  <a:pt x="272" y="590"/>
                </a:cubicBezTo>
                <a:cubicBezTo>
                  <a:pt x="355" y="703"/>
                  <a:pt x="462" y="847"/>
                  <a:pt x="590" y="953"/>
                </a:cubicBezTo>
                <a:cubicBezTo>
                  <a:pt x="718" y="1059"/>
                  <a:pt x="884" y="1165"/>
                  <a:pt x="1043" y="1225"/>
                </a:cubicBezTo>
                <a:cubicBezTo>
                  <a:pt x="1202" y="1285"/>
                  <a:pt x="1372" y="1300"/>
                  <a:pt x="1542" y="1316"/>
                </a:cubicBezTo>
              </a:path>
            </a:pathLst>
          </a:custGeom>
          <a:noFill/>
          <a:ln w="28575" cap="flat" cmpd="sng">
            <a:solidFill>
              <a:schemeClr val="tx1"/>
            </a:solidFill>
            <a:prstDash val="solid"/>
            <a:headEnd type="none" w="med" len="med"/>
            <a:tailEnd type="none" w="med" len="med"/>
          </a:ln>
        </p:spPr>
        <p:txBody>
          <a:bodyPr/>
          <a:p>
            <a:endParaRPr lang="zh-CN" altLang="en-US"/>
          </a:p>
        </p:txBody>
      </p:sp>
      <p:sp>
        <p:nvSpPr>
          <p:cNvPr id="103433" name="直接连接符 103432"/>
          <p:cNvSpPr/>
          <p:nvPr/>
        </p:nvSpPr>
        <p:spPr>
          <a:xfrm>
            <a:off x="4716463" y="4724400"/>
            <a:ext cx="0" cy="1081088"/>
          </a:xfrm>
          <a:prstGeom prst="line">
            <a:avLst/>
          </a:prstGeom>
          <a:ln w="9525" cap="flat" cmpd="sng">
            <a:solidFill>
              <a:schemeClr val="tx1"/>
            </a:solidFill>
            <a:prstDash val="sysDot"/>
            <a:headEnd type="none" w="med" len="med"/>
            <a:tailEnd type="none" w="med" len="med"/>
          </a:ln>
        </p:spPr>
      </p:sp>
      <p:sp>
        <p:nvSpPr>
          <p:cNvPr id="103434" name="直接连接符 103433"/>
          <p:cNvSpPr/>
          <p:nvPr/>
        </p:nvSpPr>
        <p:spPr>
          <a:xfrm flipH="1">
            <a:off x="2627313" y="4724400"/>
            <a:ext cx="2089150" cy="0"/>
          </a:xfrm>
          <a:prstGeom prst="line">
            <a:avLst/>
          </a:prstGeom>
          <a:ln w="9525" cap="flat" cmpd="sng">
            <a:solidFill>
              <a:schemeClr val="tx1"/>
            </a:solidFill>
            <a:prstDash val="sysDot"/>
            <a:headEnd type="none" w="med" len="med"/>
            <a:tailEnd type="none" w="med" len="med"/>
          </a:ln>
        </p:spPr>
      </p:sp>
      <p:sp>
        <p:nvSpPr>
          <p:cNvPr id="103435" name="直接连接符 103434"/>
          <p:cNvSpPr/>
          <p:nvPr/>
        </p:nvSpPr>
        <p:spPr>
          <a:xfrm flipH="1">
            <a:off x="2627313" y="4076700"/>
            <a:ext cx="1368425" cy="0"/>
          </a:xfrm>
          <a:prstGeom prst="line">
            <a:avLst/>
          </a:prstGeom>
          <a:ln w="9525" cap="flat" cmpd="sng">
            <a:solidFill>
              <a:schemeClr val="tx1"/>
            </a:solidFill>
            <a:prstDash val="sysDot"/>
            <a:headEnd type="none" w="med" len="med"/>
            <a:tailEnd type="none" w="med" len="med"/>
          </a:ln>
        </p:spPr>
      </p:sp>
      <p:sp>
        <p:nvSpPr>
          <p:cNvPr id="103436" name="直接连接符 103435"/>
          <p:cNvSpPr/>
          <p:nvPr/>
        </p:nvSpPr>
        <p:spPr>
          <a:xfrm>
            <a:off x="3995738" y="4076700"/>
            <a:ext cx="1152525" cy="0"/>
          </a:xfrm>
          <a:prstGeom prst="line">
            <a:avLst/>
          </a:prstGeom>
          <a:ln w="28575" cap="flat" cmpd="sng">
            <a:solidFill>
              <a:schemeClr val="folHlink"/>
            </a:solidFill>
            <a:prstDash val="solid"/>
            <a:headEnd type="none" w="med" len="med"/>
            <a:tailEnd type="none" w="med" len="med"/>
          </a:ln>
        </p:spPr>
      </p:sp>
      <p:sp>
        <p:nvSpPr>
          <p:cNvPr id="103437" name="文本框 103436"/>
          <p:cNvSpPr txBox="1"/>
          <p:nvPr/>
        </p:nvSpPr>
        <p:spPr>
          <a:xfrm>
            <a:off x="6011863" y="5661025"/>
            <a:ext cx="647700"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L</a:t>
            </a:r>
            <a:endParaRPr lang="en-US" altLang="zh-CN" sz="1800" b="0">
              <a:latin typeface="Arial" panose="020B0604020202020204" pitchFamily="34" charset="0"/>
            </a:endParaRPr>
          </a:p>
        </p:txBody>
      </p:sp>
      <p:sp>
        <p:nvSpPr>
          <p:cNvPr id="103438" name="文本框 103437"/>
          <p:cNvSpPr txBox="1"/>
          <p:nvPr/>
        </p:nvSpPr>
        <p:spPr>
          <a:xfrm>
            <a:off x="2268538" y="2492375"/>
            <a:ext cx="79057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W</a:t>
            </a:r>
            <a:endParaRPr lang="en-US" altLang="zh-CN" sz="1800" b="0">
              <a:latin typeface="Arial" panose="020B0604020202020204" pitchFamily="34" charset="0"/>
            </a:endParaRPr>
          </a:p>
        </p:txBody>
      </p:sp>
      <p:sp>
        <p:nvSpPr>
          <p:cNvPr id="103439" name="文本框 103438"/>
          <p:cNvSpPr txBox="1"/>
          <p:nvPr/>
        </p:nvSpPr>
        <p:spPr>
          <a:xfrm>
            <a:off x="5148263" y="2636838"/>
            <a:ext cx="1008062"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S</a:t>
            </a:r>
            <a:r>
              <a:rPr lang="en-US" altLang="zh-CN" sz="1800" b="0" baseline="-14000">
                <a:latin typeface="Arial" panose="020B0604020202020204" pitchFamily="34" charset="0"/>
              </a:rPr>
              <a:t>L</a:t>
            </a:r>
            <a:endParaRPr lang="en-US" altLang="zh-CN" sz="1800" b="0" baseline="-14000">
              <a:latin typeface="Arial" panose="020B0604020202020204" pitchFamily="34" charset="0"/>
            </a:endParaRPr>
          </a:p>
        </p:txBody>
      </p:sp>
      <p:sp>
        <p:nvSpPr>
          <p:cNvPr id="103440" name="文本框 103439"/>
          <p:cNvSpPr txBox="1"/>
          <p:nvPr/>
        </p:nvSpPr>
        <p:spPr>
          <a:xfrm>
            <a:off x="3419475" y="2781300"/>
            <a:ext cx="72072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D’</a:t>
            </a:r>
            <a:r>
              <a:rPr lang="en-US" altLang="zh-CN" sz="1800" b="0" baseline="-14000">
                <a:latin typeface="Arial" panose="020B0604020202020204" pitchFamily="34" charset="0"/>
              </a:rPr>
              <a:t>L</a:t>
            </a:r>
            <a:endParaRPr lang="en-US" altLang="zh-CN" sz="1800" b="0" baseline="-14000">
              <a:latin typeface="Arial" panose="020B0604020202020204" pitchFamily="34" charset="0"/>
            </a:endParaRPr>
          </a:p>
        </p:txBody>
      </p:sp>
      <p:sp>
        <p:nvSpPr>
          <p:cNvPr id="103441" name="文本框 103440"/>
          <p:cNvSpPr txBox="1"/>
          <p:nvPr/>
        </p:nvSpPr>
        <p:spPr>
          <a:xfrm>
            <a:off x="3995738" y="3789363"/>
            <a:ext cx="1223962" cy="304800"/>
          </a:xfrm>
          <a:prstGeom prst="rect">
            <a:avLst/>
          </a:prstGeom>
          <a:noFill/>
          <a:ln w="9525">
            <a:noFill/>
          </a:ln>
        </p:spPr>
        <p:txBody>
          <a:bodyPr>
            <a:spAutoFit/>
          </a:bodyPr>
          <a:p>
            <a:pPr>
              <a:lnSpc>
                <a:spcPct val="100000"/>
              </a:lnSpc>
              <a:spcBef>
                <a:spcPct val="50000"/>
              </a:spcBef>
            </a:pPr>
            <a:r>
              <a:rPr lang="zh-CN" altLang="en-US" sz="1400" b="0" dirty="0">
                <a:solidFill>
                  <a:srgbClr val="000000"/>
                </a:solidFill>
                <a:latin typeface="Arial" panose="020B0604020202020204" pitchFamily="34" charset="0"/>
              </a:rPr>
              <a:t>失业劳动者</a:t>
            </a:r>
            <a:endParaRPr lang="zh-CN" altLang="en-US" sz="1400" b="0" dirty="0">
              <a:solidFill>
                <a:srgbClr val="000000"/>
              </a:solidFill>
              <a:latin typeface="Arial" panose="020B0604020202020204" pitchFamily="34" charset="0"/>
            </a:endParaRPr>
          </a:p>
        </p:txBody>
      </p:sp>
      <p:sp>
        <p:nvSpPr>
          <p:cNvPr id="103442" name="文本框 103441"/>
          <p:cNvSpPr txBox="1"/>
          <p:nvPr/>
        </p:nvSpPr>
        <p:spPr>
          <a:xfrm>
            <a:off x="2771775" y="3789363"/>
            <a:ext cx="865188" cy="304800"/>
          </a:xfrm>
          <a:prstGeom prst="rect">
            <a:avLst/>
          </a:prstGeom>
          <a:noFill/>
          <a:ln w="9525">
            <a:noFill/>
          </a:ln>
        </p:spPr>
        <p:txBody>
          <a:bodyPr>
            <a:spAutoFit/>
          </a:bodyPr>
          <a:p>
            <a:pPr>
              <a:lnSpc>
                <a:spcPct val="100000"/>
              </a:lnSpc>
              <a:spcBef>
                <a:spcPct val="50000"/>
              </a:spcBef>
            </a:pPr>
            <a:r>
              <a:rPr lang="zh-CN" altLang="en-US" sz="1400" b="0" dirty="0">
                <a:latin typeface="Arial" panose="020B0604020202020204" pitchFamily="34" charset="0"/>
              </a:rPr>
              <a:t>就业者</a:t>
            </a:r>
            <a:endParaRPr lang="zh-CN" altLang="en-US" sz="1400" b="0" dirty="0">
              <a:latin typeface="Arial" panose="020B0604020202020204" pitchFamily="34" charset="0"/>
            </a:endParaRPr>
          </a:p>
        </p:txBody>
      </p:sp>
      <p:sp>
        <p:nvSpPr>
          <p:cNvPr id="103443" name="直接连接符 103442"/>
          <p:cNvSpPr/>
          <p:nvPr/>
        </p:nvSpPr>
        <p:spPr>
          <a:xfrm>
            <a:off x="3995738" y="4076700"/>
            <a:ext cx="0" cy="1728788"/>
          </a:xfrm>
          <a:prstGeom prst="line">
            <a:avLst/>
          </a:prstGeom>
          <a:ln w="9525" cap="flat" cmpd="sng">
            <a:solidFill>
              <a:schemeClr val="tx1"/>
            </a:solidFill>
            <a:prstDash val="sysDot"/>
            <a:headEnd type="none" w="med" len="med"/>
            <a:tailEnd type="none" w="med" len="med"/>
          </a:ln>
        </p:spPr>
      </p:sp>
      <p:sp>
        <p:nvSpPr>
          <p:cNvPr id="103444" name="文本框 103443"/>
          <p:cNvSpPr txBox="1"/>
          <p:nvPr/>
        </p:nvSpPr>
        <p:spPr>
          <a:xfrm>
            <a:off x="4211638" y="5229225"/>
            <a:ext cx="360362" cy="366713"/>
          </a:xfrm>
          <a:prstGeom prst="rect">
            <a:avLst/>
          </a:prstGeom>
          <a:noFill/>
          <a:ln w="9525">
            <a:noFill/>
          </a:ln>
        </p:spPr>
        <p:txBody>
          <a:bodyPr>
            <a:spAutoFit/>
          </a:bodyPr>
          <a:p>
            <a:pPr>
              <a:lnSpc>
                <a:spcPct val="100000"/>
              </a:lnSpc>
              <a:spcBef>
                <a:spcPct val="50000"/>
              </a:spcBef>
            </a:pPr>
            <a:r>
              <a:rPr lang="zh-CN" altLang="en-US" sz="1800" b="0" dirty="0">
                <a:latin typeface="Arial" panose="020B0604020202020204" pitchFamily="34" charset="0"/>
              </a:rPr>
              <a:t>？</a:t>
            </a:r>
            <a:endParaRPr lang="zh-CN" altLang="en-US" sz="1800" b="0" dirty="0">
              <a:latin typeface="Arial" panose="020B0604020202020204" pitchFamily="34" charset="0"/>
            </a:endParaRPr>
          </a:p>
        </p:txBody>
      </p:sp>
      <p:sp>
        <p:nvSpPr>
          <p:cNvPr id="103445" name="直接连接符 103444"/>
          <p:cNvSpPr/>
          <p:nvPr/>
        </p:nvSpPr>
        <p:spPr>
          <a:xfrm>
            <a:off x="4500563" y="5373688"/>
            <a:ext cx="144462" cy="0"/>
          </a:xfrm>
          <a:prstGeom prst="line">
            <a:avLst/>
          </a:prstGeom>
          <a:ln w="9525" cap="flat" cmpd="sng">
            <a:solidFill>
              <a:schemeClr val="tx1"/>
            </a:solidFill>
            <a:prstDash val="solid"/>
            <a:headEnd type="none" w="med" len="med"/>
            <a:tailEnd type="triangle" w="med" len="med"/>
          </a:ln>
        </p:spPr>
      </p:sp>
      <p:sp>
        <p:nvSpPr>
          <p:cNvPr id="103446" name="直接连接符 103445"/>
          <p:cNvSpPr/>
          <p:nvPr/>
        </p:nvSpPr>
        <p:spPr>
          <a:xfrm flipH="1">
            <a:off x="4067175" y="5373688"/>
            <a:ext cx="142875" cy="0"/>
          </a:xfrm>
          <a:prstGeom prst="line">
            <a:avLst/>
          </a:prstGeom>
          <a:ln w="9525" cap="flat" cmpd="sng">
            <a:solidFill>
              <a:schemeClr val="tx1"/>
            </a:solidFill>
            <a:prstDash val="solid"/>
            <a:headEnd type="none" w="med" len="med"/>
            <a:tailEnd type="triangle" w="med" len="med"/>
          </a:ln>
        </p:spPr>
      </p:sp>
      <p:sp>
        <p:nvSpPr>
          <p:cNvPr id="103447" name="任意多边形 103446"/>
          <p:cNvSpPr/>
          <p:nvPr/>
        </p:nvSpPr>
        <p:spPr>
          <a:xfrm>
            <a:off x="4191000" y="2438400"/>
            <a:ext cx="2447925" cy="2089150"/>
          </a:xfrm>
          <a:custGeom>
            <a:avLst/>
            <a:gdLst/>
            <a:ahLst/>
            <a:cxnLst/>
            <a:pathLst>
              <a:path w="1542" h="1316">
                <a:moveTo>
                  <a:pt x="0" y="0"/>
                </a:moveTo>
                <a:cubicBezTo>
                  <a:pt x="23" y="87"/>
                  <a:pt x="46" y="174"/>
                  <a:pt x="91" y="272"/>
                </a:cubicBezTo>
                <a:cubicBezTo>
                  <a:pt x="136" y="370"/>
                  <a:pt x="189" y="477"/>
                  <a:pt x="272" y="590"/>
                </a:cubicBezTo>
                <a:cubicBezTo>
                  <a:pt x="355" y="703"/>
                  <a:pt x="462" y="847"/>
                  <a:pt x="590" y="953"/>
                </a:cubicBezTo>
                <a:cubicBezTo>
                  <a:pt x="718" y="1059"/>
                  <a:pt x="884" y="1165"/>
                  <a:pt x="1043" y="1225"/>
                </a:cubicBezTo>
                <a:cubicBezTo>
                  <a:pt x="1202" y="1285"/>
                  <a:pt x="1372" y="1300"/>
                  <a:pt x="1542" y="1316"/>
                </a:cubicBezTo>
              </a:path>
            </a:pathLst>
          </a:custGeom>
          <a:noFill/>
          <a:ln w="28575" cap="flat" cmpd="sng">
            <a:solidFill>
              <a:schemeClr val="tx1"/>
            </a:solidFill>
            <a:prstDash val="solid"/>
            <a:headEnd type="none" w="med" len="med"/>
            <a:tailEnd type="none" w="med" len="med"/>
          </a:ln>
        </p:spPr>
        <p:txBody>
          <a:bodyPr/>
          <a:p>
            <a:endParaRPr lang="zh-CN" altLang="en-US"/>
          </a:p>
        </p:txBody>
      </p:sp>
      <p:sp>
        <p:nvSpPr>
          <p:cNvPr id="103448" name="文本框 103447"/>
          <p:cNvSpPr txBox="1"/>
          <p:nvPr/>
        </p:nvSpPr>
        <p:spPr>
          <a:xfrm>
            <a:off x="6629400" y="4419600"/>
            <a:ext cx="457200" cy="914400"/>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D</a:t>
            </a:r>
            <a:r>
              <a:rPr lang="en-US" altLang="zh-CN" sz="1800" b="0" baseline="-14000">
                <a:latin typeface="Arial" panose="020B0604020202020204" pitchFamily="34" charset="0"/>
              </a:rPr>
              <a:t>L</a:t>
            </a:r>
            <a:endParaRPr lang="en-US" altLang="zh-CN" sz="1800" b="0" baseline="-14000">
              <a:latin typeface="Arial" panose="020B0604020202020204" pitchFamily="34" charset="0"/>
            </a:endParaRPr>
          </a:p>
          <a:p>
            <a:pPr>
              <a:lnSpc>
                <a:spcPct val="100000"/>
              </a:lnSpc>
              <a:spcBef>
                <a:spcPct val="50000"/>
              </a:spcBef>
            </a:pPr>
            <a:endParaRPr lang="en-US" altLang="zh-CN" sz="2400" b="0">
              <a:latin typeface="Tahoma" panose="020B0604030504040204" pitchFamily="34"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444"/>
                                        </p:tgtEl>
                                        <p:attrNameLst>
                                          <p:attrName>style.visibility</p:attrName>
                                        </p:attrNameLst>
                                      </p:cBhvr>
                                      <p:to>
                                        <p:strVal val="visible"/>
                                      </p:to>
                                    </p:set>
                                    <p:animEffect transition="in" filter="blinds(horizontal)">
                                      <p:cBhvr>
                                        <p:cTn id="7" dur="500"/>
                                        <p:tgtEl>
                                          <p:spTgt spid="10344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3443"/>
                                        </p:tgtEl>
                                        <p:attrNameLst>
                                          <p:attrName>style.visibility</p:attrName>
                                        </p:attrNameLst>
                                      </p:cBhvr>
                                      <p:to>
                                        <p:strVal val="visible"/>
                                      </p:to>
                                    </p:set>
                                    <p:animEffect transition="in" filter="blinds(horizontal)">
                                      <p:cBhvr>
                                        <p:cTn id="11" dur="500"/>
                                        <p:tgtEl>
                                          <p:spTgt spid="103443"/>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03446"/>
                                        </p:tgtEl>
                                        <p:attrNameLst>
                                          <p:attrName>style.visibility</p:attrName>
                                        </p:attrNameLst>
                                      </p:cBhvr>
                                      <p:to>
                                        <p:strVal val="visible"/>
                                      </p:to>
                                    </p:set>
                                    <p:animEffect transition="in" filter="blinds(horizontal)">
                                      <p:cBhvr>
                                        <p:cTn id="15" dur="500"/>
                                        <p:tgtEl>
                                          <p:spTgt spid="103446"/>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03445"/>
                                        </p:tgtEl>
                                        <p:attrNameLst>
                                          <p:attrName>style.visibility</p:attrName>
                                        </p:attrNameLst>
                                      </p:cBhvr>
                                      <p:to>
                                        <p:strVal val="visible"/>
                                      </p:to>
                                    </p:set>
                                    <p:animEffect transition="in" filter="blinds(horizontal)">
                                      <p:cBhvr>
                                        <p:cTn id="19" dur="500"/>
                                        <p:tgtEl>
                                          <p:spTgt spid="103445"/>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03436"/>
                                        </p:tgtEl>
                                        <p:attrNameLst>
                                          <p:attrName>style.visibility</p:attrName>
                                        </p:attrNameLst>
                                      </p:cBhvr>
                                      <p:to>
                                        <p:strVal val="visible"/>
                                      </p:to>
                                    </p:set>
                                    <p:animEffect transition="in" filter="blinds(horizontal)">
                                      <p:cBhvr>
                                        <p:cTn id="23" dur="500"/>
                                        <p:tgtEl>
                                          <p:spTgt spid="103436"/>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03435"/>
                                        </p:tgtEl>
                                        <p:attrNameLst>
                                          <p:attrName>style.visibility</p:attrName>
                                        </p:attrNameLst>
                                      </p:cBhvr>
                                      <p:to>
                                        <p:strVal val="visible"/>
                                      </p:to>
                                    </p:set>
                                    <p:animEffect transition="in" filter="blinds(horizontal)">
                                      <p:cBhvr>
                                        <p:cTn id="27" dur="500"/>
                                        <p:tgtEl>
                                          <p:spTgt spid="103435"/>
                                        </p:tgtEl>
                                      </p:cBhvr>
                                    </p:animEffect>
                                  </p:childTnLst>
                                </p:cTn>
                              </p:par>
                            </p:childTnLst>
                          </p:cTn>
                        </p:par>
                        <p:par>
                          <p:cTn id="28" fill="hold">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103441"/>
                                        </p:tgtEl>
                                        <p:attrNameLst>
                                          <p:attrName>style.visibility</p:attrName>
                                        </p:attrNameLst>
                                      </p:cBhvr>
                                      <p:to>
                                        <p:strVal val="visible"/>
                                      </p:to>
                                    </p:set>
                                    <p:animEffect transition="in" filter="blinds(horizontal)">
                                      <p:cBhvr>
                                        <p:cTn id="31" dur="500"/>
                                        <p:tgtEl>
                                          <p:spTgt spid="103441"/>
                                        </p:tgtEl>
                                      </p:cBhvr>
                                    </p:animEffect>
                                  </p:childTnLst>
                                </p:cTn>
                              </p:par>
                            </p:childTnLst>
                          </p:cTn>
                        </p:par>
                        <p:par>
                          <p:cTn id="32" fill="hold">
                            <p:stCondLst>
                              <p:cond delay="3500"/>
                            </p:stCondLst>
                            <p:childTnLst>
                              <p:par>
                                <p:cTn id="33" presetID="3" presetClass="entr" presetSubtype="10" fill="hold" grpId="0" nodeType="afterEffect">
                                  <p:stCondLst>
                                    <p:cond delay="0"/>
                                  </p:stCondLst>
                                  <p:childTnLst>
                                    <p:set>
                                      <p:cBhvr>
                                        <p:cTn id="34" dur="1" fill="hold">
                                          <p:stCondLst>
                                            <p:cond delay="0"/>
                                          </p:stCondLst>
                                        </p:cTn>
                                        <p:tgtEl>
                                          <p:spTgt spid="103442"/>
                                        </p:tgtEl>
                                        <p:attrNameLst>
                                          <p:attrName>style.visibility</p:attrName>
                                        </p:attrNameLst>
                                      </p:cBhvr>
                                      <p:to>
                                        <p:strVal val="visible"/>
                                      </p:to>
                                    </p:set>
                                    <p:animEffect transition="in" filter="blinds(horizontal)">
                                      <p:cBhvr>
                                        <p:cTn id="35" dur="500"/>
                                        <p:tgtEl>
                                          <p:spTgt spid="103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41" grpId="0"/>
      <p:bldP spid="103442" grpId="0"/>
      <p:bldP spid="1034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标题 105473"/>
          <p:cNvSpPr>
            <a:spLocks noGrp="1"/>
          </p:cNvSpPr>
          <p:nvPr>
            <p:ph type="title"/>
          </p:nvPr>
        </p:nvSpPr>
        <p:spPr>
          <a:xfrm>
            <a:off x="685800" y="609600"/>
            <a:ext cx="7772400" cy="896938"/>
          </a:xfrm>
          <a:ln/>
        </p:spPr>
        <p:txBody>
          <a:bodyPr anchor="ctr" anchorCtr="0"/>
          <a:p>
            <a:endParaRPr dirty="0"/>
          </a:p>
        </p:txBody>
      </p:sp>
      <p:sp>
        <p:nvSpPr>
          <p:cNvPr id="105475" name="文本占位符 105474"/>
          <p:cNvSpPr>
            <a:spLocks noGrp="1"/>
          </p:cNvSpPr>
          <p:nvPr>
            <p:ph type="body" idx="1"/>
          </p:nvPr>
        </p:nvSpPr>
        <p:spPr>
          <a:xfrm>
            <a:off x="381000" y="1981200"/>
            <a:ext cx="8153400" cy="4495800"/>
          </a:xfrm>
          <a:ln/>
        </p:spPr>
        <p:txBody>
          <a:bodyPr/>
          <a:p>
            <a:pPr marL="0" indent="0">
              <a:lnSpc>
                <a:spcPct val="125000"/>
              </a:lnSpc>
              <a:buNone/>
            </a:pPr>
            <a:r>
              <a:rPr lang="zh-CN" altLang="en-US" sz="2800" dirty="0">
                <a:solidFill>
                  <a:srgbClr val="000000"/>
                </a:solidFill>
              </a:rPr>
              <a:t>需求不足的失业：是由于总需求不足以实现充分就业时的均衡国民收入而产生的。</a:t>
            </a:r>
            <a:endParaRPr lang="zh-CN" altLang="en-US" sz="2800" dirty="0">
              <a:solidFill>
                <a:srgbClr val="000000"/>
              </a:solidFill>
            </a:endParaRPr>
          </a:p>
          <a:p>
            <a:pPr marL="0" indent="0">
              <a:lnSpc>
                <a:spcPct val="125000"/>
              </a:lnSpc>
              <a:buNone/>
            </a:pPr>
            <a:r>
              <a:rPr lang="zh-CN" altLang="en-US" sz="2800" dirty="0">
                <a:solidFill>
                  <a:srgbClr val="000000"/>
                </a:solidFill>
              </a:rPr>
              <a:t>凯恩斯主义充分就业的定义：充分就业是指不存在需求不足的失业情况下的就业水平。</a:t>
            </a:r>
            <a:endParaRPr lang="zh-CN" altLang="en-US" sz="2800" dirty="0">
              <a:solidFill>
                <a:srgbClr val="000000"/>
              </a:solidFill>
            </a:endParaRPr>
          </a:p>
        </p:txBody>
      </p:sp>
    </p:spTree>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标题 107521"/>
          <p:cNvSpPr>
            <a:spLocks noGrp="1"/>
          </p:cNvSpPr>
          <p:nvPr>
            <p:ph type="title"/>
          </p:nvPr>
        </p:nvSpPr>
        <p:spPr>
          <a:ln/>
        </p:spPr>
        <p:txBody>
          <a:bodyPr anchor="ctr" anchorCtr="0"/>
          <a:p>
            <a:endParaRPr dirty="0"/>
          </a:p>
        </p:txBody>
      </p:sp>
      <p:sp>
        <p:nvSpPr>
          <p:cNvPr id="107523" name="文本占位符 107522"/>
          <p:cNvSpPr>
            <a:spLocks noGrp="1"/>
          </p:cNvSpPr>
          <p:nvPr>
            <p:ph type="body" idx="1"/>
          </p:nvPr>
        </p:nvSpPr>
        <p:spPr>
          <a:xfrm>
            <a:off x="395288" y="1981200"/>
            <a:ext cx="8062912" cy="4114800"/>
          </a:xfrm>
          <a:ln/>
        </p:spPr>
        <p:txBody>
          <a:bodyPr/>
          <a:p>
            <a:pPr marL="0" indent="0">
              <a:buNone/>
            </a:pPr>
            <a:r>
              <a:rPr lang="zh-CN" altLang="en-US" b="1" dirty="0">
                <a:solidFill>
                  <a:srgbClr val="000000"/>
                </a:solidFill>
              </a:rPr>
              <a:t>失业率</a:t>
            </a:r>
            <a:r>
              <a:rPr lang="en-US" altLang="zh-CN">
                <a:solidFill>
                  <a:srgbClr val="000000"/>
                </a:solidFill>
              </a:rPr>
              <a:t>=</a:t>
            </a:r>
            <a:r>
              <a:rPr lang="zh-CN" altLang="en-US" dirty="0">
                <a:solidFill>
                  <a:srgbClr val="000000"/>
                </a:solidFill>
              </a:rPr>
              <a:t>（失业人数</a:t>
            </a:r>
            <a:r>
              <a:rPr lang="en-US" altLang="zh-CN">
                <a:solidFill>
                  <a:srgbClr val="000000"/>
                </a:solidFill>
              </a:rPr>
              <a:t>÷</a:t>
            </a:r>
            <a:r>
              <a:rPr lang="zh-CN" altLang="en-US" dirty="0">
                <a:solidFill>
                  <a:srgbClr val="000000"/>
                </a:solidFill>
              </a:rPr>
              <a:t>劳动力总数）</a:t>
            </a:r>
            <a:r>
              <a:rPr lang="en-US" altLang="zh-CN">
                <a:solidFill>
                  <a:srgbClr val="000000"/>
                </a:solidFill>
              </a:rPr>
              <a:t>×100%</a:t>
            </a:r>
            <a:endParaRPr lang="en-US" altLang="zh-CN">
              <a:solidFill>
                <a:srgbClr val="000000"/>
              </a:solidFill>
            </a:endParaRPr>
          </a:p>
          <a:p>
            <a:pPr marL="0" indent="0">
              <a:buNone/>
            </a:pPr>
            <a:r>
              <a:rPr lang="zh-CN" altLang="en-US" b="1" dirty="0">
                <a:solidFill>
                  <a:srgbClr val="000000"/>
                </a:solidFill>
              </a:rPr>
              <a:t>充分就业</a:t>
            </a:r>
            <a:r>
              <a:rPr lang="en-US" altLang="zh-CN" b="1">
                <a:solidFill>
                  <a:srgbClr val="000000"/>
                </a:solidFill>
              </a:rPr>
              <a:t>:</a:t>
            </a:r>
            <a:r>
              <a:rPr lang="zh-CN" altLang="en-US" dirty="0">
                <a:solidFill>
                  <a:srgbClr val="000000"/>
                </a:solidFill>
              </a:rPr>
              <a:t>是指劳动力市场只有摩擦性失业，而没有结构性失业与循环性失业的状态。</a:t>
            </a:r>
            <a:endParaRPr lang="zh-CN" altLang="en-US" dirty="0">
              <a:solidFill>
                <a:srgbClr val="000000"/>
              </a:solidFill>
            </a:endParaRPr>
          </a:p>
          <a:p>
            <a:pPr marL="0" indent="0">
              <a:buNone/>
            </a:pPr>
            <a:r>
              <a:rPr lang="zh-CN" altLang="en-US" b="1" dirty="0">
                <a:solidFill>
                  <a:srgbClr val="000000"/>
                </a:solidFill>
              </a:rPr>
              <a:t>自然失业率</a:t>
            </a:r>
            <a:r>
              <a:rPr lang="en-US" altLang="zh-CN">
                <a:solidFill>
                  <a:srgbClr val="000000"/>
                </a:solidFill>
              </a:rPr>
              <a:t>:</a:t>
            </a:r>
            <a:r>
              <a:rPr lang="zh-CN" altLang="en-US" dirty="0">
                <a:solidFill>
                  <a:srgbClr val="000000"/>
                </a:solidFill>
              </a:rPr>
              <a:t>如果劳动力市场存在摩擦性失业和结构性失业</a:t>
            </a:r>
            <a:r>
              <a:rPr lang="en-US" altLang="zh-CN">
                <a:solidFill>
                  <a:srgbClr val="000000"/>
                </a:solidFill>
              </a:rPr>
              <a:t>,</a:t>
            </a:r>
            <a:r>
              <a:rPr lang="zh-CN" altLang="en-US" dirty="0">
                <a:solidFill>
                  <a:srgbClr val="000000"/>
                </a:solidFill>
              </a:rPr>
              <a:t>而不存在循环性失业的状态。</a:t>
            </a:r>
            <a:endParaRPr lang="zh-CN" altLang="en-US" dirty="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标题 108545"/>
          <p:cNvSpPr>
            <a:spLocks noGrp="1"/>
          </p:cNvSpPr>
          <p:nvPr>
            <p:ph type="title"/>
          </p:nvPr>
        </p:nvSpPr>
        <p:spPr>
          <a:xfrm>
            <a:off x="0" y="-304800"/>
            <a:ext cx="8591550" cy="1544638"/>
          </a:xfrm>
          <a:ln/>
        </p:spPr>
        <p:txBody>
          <a:bodyPr anchor="ctr" anchorCtr="0"/>
          <a:p>
            <a:r>
              <a:rPr lang="zh-CN" altLang="en-US" dirty="0"/>
              <a:t>失业的损失</a:t>
            </a:r>
            <a:endParaRPr lang="zh-CN" altLang="en-US" dirty="0"/>
          </a:p>
        </p:txBody>
      </p:sp>
      <p:sp>
        <p:nvSpPr>
          <p:cNvPr id="108547" name="文本占位符 108546"/>
          <p:cNvSpPr>
            <a:spLocks noGrp="1"/>
          </p:cNvSpPr>
          <p:nvPr>
            <p:ph type="body" idx="1"/>
          </p:nvPr>
        </p:nvSpPr>
        <p:spPr>
          <a:xfrm>
            <a:off x="395288" y="981075"/>
            <a:ext cx="7924800" cy="4876800"/>
          </a:xfrm>
          <a:ln/>
        </p:spPr>
        <p:txBody>
          <a:bodyPr/>
          <a:p>
            <a:pPr marL="457200" indent="-457200">
              <a:lnSpc>
                <a:spcPct val="125000"/>
              </a:lnSpc>
              <a:buNone/>
            </a:pPr>
            <a:r>
              <a:rPr lang="zh-CN" altLang="en-US" dirty="0">
                <a:solidFill>
                  <a:srgbClr val="000000"/>
                </a:solidFill>
                <a:latin typeface="宋体" panose="02010600030101010101" pitchFamily="2" charset="-122"/>
              </a:rPr>
              <a:t>经济的影响：产出的减少。</a:t>
            </a:r>
            <a:endParaRPr lang="zh-CN" altLang="en-US" dirty="0">
              <a:solidFill>
                <a:srgbClr val="000000"/>
              </a:solidFill>
              <a:latin typeface="宋体" panose="02010600030101010101" pitchFamily="2" charset="-122"/>
            </a:endParaRPr>
          </a:p>
          <a:p>
            <a:pPr marL="1027430" lvl="1" indent="-455930">
              <a:lnSpc>
                <a:spcPct val="125000"/>
              </a:lnSpc>
            </a:pPr>
            <a:r>
              <a:rPr lang="zh-CN" altLang="en-US" sz="2400" dirty="0">
                <a:solidFill>
                  <a:srgbClr val="000000"/>
                </a:solidFill>
                <a:latin typeface="宋体" panose="02010600030101010101" pitchFamily="2" charset="-122"/>
              </a:rPr>
              <a:t>失业的损失＝潜在的ＧＤＰ－实际的ＧＤＰ</a:t>
            </a:r>
            <a:endParaRPr lang="zh-CN" altLang="en-US" sz="2400" dirty="0">
              <a:solidFill>
                <a:srgbClr val="000000"/>
              </a:solidFill>
              <a:latin typeface="宋体" panose="02010600030101010101" pitchFamily="2" charset="-122"/>
            </a:endParaRPr>
          </a:p>
          <a:p>
            <a:pPr marL="1027430" lvl="1" indent="-455930">
              <a:lnSpc>
                <a:spcPct val="125000"/>
              </a:lnSpc>
            </a:pPr>
            <a:r>
              <a:rPr lang="zh-CN" altLang="en-US" sz="2400" dirty="0">
                <a:solidFill>
                  <a:srgbClr val="000000"/>
                </a:solidFill>
                <a:latin typeface="宋体" panose="02010600030101010101" pitchFamily="2" charset="-122"/>
              </a:rPr>
              <a:t>奥肯定理：超出自然失业率</a:t>
            </a:r>
            <a:r>
              <a:rPr lang="en-US" altLang="zh-CN" sz="240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的失业率将产生</a:t>
            </a:r>
            <a:r>
              <a:rPr lang="en-US" altLang="zh-CN" sz="2400">
                <a:solidFill>
                  <a:srgbClr val="000000"/>
                </a:solidFill>
                <a:latin typeface="宋体" panose="02010600030101010101" pitchFamily="2" charset="-122"/>
              </a:rPr>
              <a:t>2%</a:t>
            </a:r>
            <a:r>
              <a:rPr lang="zh-CN" altLang="en-US" sz="2400" dirty="0">
                <a:solidFill>
                  <a:srgbClr val="000000"/>
                </a:solidFill>
                <a:latin typeface="宋体" panose="02010600030101010101" pitchFamily="2" charset="-122"/>
              </a:rPr>
              <a:t>的ＧＤＰ缺口</a:t>
            </a:r>
            <a:endParaRPr lang="zh-CN" altLang="en-US" sz="2400" dirty="0">
              <a:solidFill>
                <a:srgbClr val="000000"/>
              </a:solidFill>
              <a:latin typeface="宋体" panose="02010600030101010101" pitchFamily="2" charset="-122"/>
            </a:endParaRPr>
          </a:p>
          <a:p>
            <a:pPr marL="457200" indent="-457200">
              <a:lnSpc>
                <a:spcPct val="125000"/>
              </a:lnSpc>
              <a:buNone/>
            </a:pPr>
            <a:r>
              <a:rPr lang="zh-CN" altLang="en-US" dirty="0">
                <a:solidFill>
                  <a:srgbClr val="000000"/>
                </a:solidFill>
                <a:latin typeface="宋体" panose="02010600030101010101" pitchFamily="2" charset="-122"/>
              </a:rPr>
              <a:t>失业的社会影响</a:t>
            </a:r>
            <a:endParaRPr lang="zh-CN" altLang="en-US" dirty="0">
              <a:solidFill>
                <a:srgbClr val="000000"/>
              </a:solidFill>
              <a:latin typeface="宋体" panose="02010600030101010101" pitchFamily="2" charset="-122"/>
            </a:endParaRPr>
          </a:p>
          <a:p>
            <a:pPr marL="1027430" lvl="1" indent="-455930">
              <a:lnSpc>
                <a:spcPct val="125000"/>
              </a:lnSpc>
            </a:pPr>
            <a:r>
              <a:rPr lang="zh-CN" altLang="en-US" sz="2400" dirty="0">
                <a:solidFill>
                  <a:srgbClr val="000000"/>
                </a:solidFill>
                <a:latin typeface="宋体" panose="02010600030101010101" pitchFamily="2" charset="-122"/>
              </a:rPr>
              <a:t>产出损失</a:t>
            </a:r>
            <a:endParaRPr lang="zh-CN" altLang="en-US" sz="2400" dirty="0">
              <a:solidFill>
                <a:srgbClr val="000000"/>
              </a:solidFill>
              <a:latin typeface="宋体" panose="02010600030101010101" pitchFamily="2" charset="-122"/>
            </a:endParaRPr>
          </a:p>
          <a:p>
            <a:pPr marL="1027430" lvl="1" indent="-455930">
              <a:lnSpc>
                <a:spcPct val="125000"/>
              </a:lnSpc>
            </a:pPr>
            <a:r>
              <a:rPr lang="zh-CN" altLang="en-US" sz="2400" dirty="0">
                <a:solidFill>
                  <a:srgbClr val="000000"/>
                </a:solidFill>
                <a:latin typeface="宋体" panose="02010600030101010101" pitchFamily="2" charset="-122"/>
              </a:rPr>
              <a:t>失业者及其家庭的不稳定。</a:t>
            </a:r>
            <a:endParaRPr lang="zh-CN" altLang="en-US" sz="2400" dirty="0">
              <a:solidFill>
                <a:srgbClr val="000000"/>
              </a:solidFill>
              <a:latin typeface="宋体" panose="02010600030101010101" pitchFamily="2" charset="-122"/>
            </a:endParaRPr>
          </a:p>
          <a:p>
            <a:pPr marL="1027430" lvl="1" indent="-455930">
              <a:lnSpc>
                <a:spcPct val="125000"/>
              </a:lnSpc>
            </a:pPr>
            <a:r>
              <a:rPr lang="zh-CN" altLang="en-US" sz="2400" dirty="0">
                <a:solidFill>
                  <a:srgbClr val="000000"/>
                </a:solidFill>
                <a:latin typeface="宋体" panose="02010600030101010101" pitchFamily="2" charset="-122"/>
              </a:rPr>
              <a:t>社会的不安定。</a:t>
            </a:r>
            <a:endParaRPr lang="zh-CN" altLang="en-US" sz="2400" dirty="0">
              <a:solidFill>
                <a:srgbClr val="000000"/>
              </a:solidFill>
              <a:latin typeface="宋体" panose="02010600030101010101" pitchFamily="2" charset="-122"/>
            </a:endParaRPr>
          </a:p>
          <a:p>
            <a:pPr marL="1027430" lvl="1" indent="-455930">
              <a:lnSpc>
                <a:spcPct val="125000"/>
              </a:lnSpc>
            </a:pPr>
            <a:r>
              <a:rPr lang="zh-CN" altLang="en-US" sz="2400" dirty="0">
                <a:solidFill>
                  <a:srgbClr val="000000"/>
                </a:solidFill>
                <a:latin typeface="宋体" panose="02010600030101010101" pitchFamily="2" charset="-122"/>
              </a:rPr>
              <a:t>工作经验的损失</a:t>
            </a:r>
            <a:endParaRPr lang="zh-CN" altLang="en-US" sz="2400" dirty="0">
              <a:solidFill>
                <a:srgbClr val="000000"/>
              </a:solidFill>
              <a:latin typeface="宋体" panose="02010600030101010101" pitchFamily="2" charset="-122"/>
            </a:endParaRPr>
          </a:p>
        </p:txBody>
      </p:sp>
    </p:spTree>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标题 110593"/>
          <p:cNvSpPr>
            <a:spLocks noGrp="1"/>
          </p:cNvSpPr>
          <p:nvPr>
            <p:ph type="title"/>
          </p:nvPr>
        </p:nvSpPr>
        <p:spPr>
          <a:xfrm>
            <a:off x="228600" y="609600"/>
            <a:ext cx="8512175" cy="838200"/>
          </a:xfrm>
          <a:ln/>
        </p:spPr>
        <p:txBody>
          <a:bodyPr anchor="ctr" anchorCtr="0"/>
          <a:p>
            <a:r>
              <a:rPr lang="zh-CN" altLang="en-US" sz="4000" dirty="0"/>
              <a:t>失业的治理</a:t>
            </a:r>
            <a:endParaRPr lang="zh-CN" altLang="en-US" sz="4000" dirty="0"/>
          </a:p>
        </p:txBody>
      </p:sp>
      <p:sp>
        <p:nvSpPr>
          <p:cNvPr id="110595" name="文本占位符 110594"/>
          <p:cNvSpPr>
            <a:spLocks noGrp="1"/>
          </p:cNvSpPr>
          <p:nvPr>
            <p:ph type="body" idx="1"/>
          </p:nvPr>
        </p:nvSpPr>
        <p:spPr>
          <a:xfrm>
            <a:off x="684213" y="1773238"/>
            <a:ext cx="7772400" cy="3890962"/>
          </a:xfrm>
          <a:ln/>
        </p:spPr>
        <p:txBody>
          <a:bodyPr/>
          <a:p>
            <a:pPr marL="0" indent="0">
              <a:lnSpc>
                <a:spcPct val="125000"/>
              </a:lnSpc>
              <a:buNone/>
            </a:pPr>
            <a:r>
              <a:rPr lang="zh-CN" altLang="en-US" sz="2800" dirty="0">
                <a:solidFill>
                  <a:srgbClr val="000000"/>
                </a:solidFill>
              </a:rPr>
              <a:t>扩大就业者和职业信息以减少摩擦性失业。</a:t>
            </a:r>
            <a:endParaRPr lang="zh-CN" altLang="en-US" sz="2800" dirty="0">
              <a:solidFill>
                <a:srgbClr val="000000"/>
              </a:solidFill>
            </a:endParaRPr>
          </a:p>
          <a:p>
            <a:pPr marL="0" indent="0">
              <a:lnSpc>
                <a:spcPct val="125000"/>
              </a:lnSpc>
              <a:buNone/>
            </a:pPr>
            <a:r>
              <a:rPr lang="zh-CN" altLang="en-US" sz="2800" dirty="0">
                <a:solidFill>
                  <a:srgbClr val="000000"/>
                </a:solidFill>
              </a:rPr>
              <a:t>对失业职工进行再就业劳动技能培训，以减少结构性失业。</a:t>
            </a:r>
            <a:endParaRPr lang="zh-CN" altLang="en-US" sz="2800" dirty="0">
              <a:solidFill>
                <a:srgbClr val="000000"/>
              </a:solidFill>
            </a:endParaRPr>
          </a:p>
          <a:p>
            <a:pPr marL="0" indent="0">
              <a:lnSpc>
                <a:spcPct val="125000"/>
              </a:lnSpc>
              <a:buNone/>
            </a:pPr>
            <a:r>
              <a:rPr lang="zh-CN" altLang="en-US" sz="2800" dirty="0">
                <a:solidFill>
                  <a:srgbClr val="000000"/>
                </a:solidFill>
              </a:rPr>
              <a:t>调整区域产业结构，减少季节性失业。</a:t>
            </a:r>
            <a:endParaRPr lang="zh-CN" altLang="en-US" sz="2800" dirty="0">
              <a:solidFill>
                <a:srgbClr val="000000"/>
              </a:solidFill>
            </a:endParaRPr>
          </a:p>
          <a:p>
            <a:pPr marL="0" indent="0">
              <a:lnSpc>
                <a:spcPct val="125000"/>
              </a:lnSpc>
              <a:buNone/>
            </a:pPr>
            <a:r>
              <a:rPr lang="zh-CN" altLang="en-US" sz="2800" dirty="0">
                <a:solidFill>
                  <a:srgbClr val="000000"/>
                </a:solidFill>
              </a:rPr>
              <a:t>扩张的财政货币政策的减少需求不足的事业</a:t>
            </a:r>
            <a:endParaRPr lang="zh-CN" altLang="en-US" sz="2800" dirty="0">
              <a:solidFill>
                <a:srgbClr val="000000"/>
              </a:solidFill>
            </a:endParaRPr>
          </a:p>
          <a:p>
            <a:pPr marL="0" indent="0">
              <a:lnSpc>
                <a:spcPct val="125000"/>
              </a:lnSpc>
              <a:buNone/>
            </a:pPr>
            <a:r>
              <a:rPr lang="zh-CN" altLang="en-US" sz="2800" dirty="0">
                <a:solidFill>
                  <a:srgbClr val="000000"/>
                </a:solidFill>
              </a:rPr>
              <a:t>减少不正确的政府干预。</a:t>
            </a:r>
            <a:endParaRPr lang="zh-CN" altLang="en-US" sz="2800" dirty="0">
              <a:solidFill>
                <a:srgbClr val="000000"/>
              </a:solidFill>
            </a:endParaRPr>
          </a:p>
          <a:p>
            <a:pPr marL="0" indent="0">
              <a:lnSpc>
                <a:spcPct val="125000"/>
              </a:lnSpc>
              <a:buNone/>
            </a:pPr>
            <a:endParaRPr lang="zh-CN" altLang="en-US" dirty="0">
              <a:solidFill>
                <a:srgbClr val="000000"/>
              </a:solidFill>
            </a:endParaRPr>
          </a:p>
        </p:txBody>
      </p:sp>
    </p:spTree>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标题 112641"/>
          <p:cNvSpPr>
            <a:spLocks noGrp="1"/>
          </p:cNvSpPr>
          <p:nvPr>
            <p:ph type="title"/>
          </p:nvPr>
        </p:nvSpPr>
        <p:spPr>
          <a:xfrm>
            <a:off x="250825" y="228600"/>
            <a:ext cx="8435975" cy="1219200"/>
          </a:xfrm>
          <a:ln/>
        </p:spPr>
        <p:txBody>
          <a:bodyPr anchor="ctr" anchorCtr="0"/>
          <a:p>
            <a:r>
              <a:rPr lang="en-US" altLang="zh-CN" sz="5400" dirty="0"/>
              <a:t> </a:t>
            </a:r>
            <a:r>
              <a:rPr lang="zh-CN" altLang="en-US" sz="5400" dirty="0"/>
              <a:t>通货膨胀</a:t>
            </a:r>
            <a:endParaRPr lang="zh-CN" altLang="en-US" sz="5400" dirty="0"/>
          </a:p>
        </p:txBody>
      </p:sp>
      <p:sp>
        <p:nvSpPr>
          <p:cNvPr id="112643" name="文本占位符 112642"/>
          <p:cNvSpPr>
            <a:spLocks noGrp="1"/>
          </p:cNvSpPr>
          <p:nvPr>
            <p:ph type="body" idx="1"/>
          </p:nvPr>
        </p:nvSpPr>
        <p:spPr>
          <a:xfrm>
            <a:off x="228600" y="2209800"/>
            <a:ext cx="8540750" cy="3246438"/>
          </a:xfrm>
          <a:ln/>
        </p:spPr>
        <p:txBody>
          <a:bodyPr/>
          <a:p>
            <a:pPr marL="0" indent="0" algn="ctr">
              <a:buNone/>
            </a:pPr>
            <a:r>
              <a:rPr lang="zh-CN" altLang="en-US" sz="4800" dirty="0">
                <a:solidFill>
                  <a:srgbClr val="000000"/>
                </a:solidFill>
              </a:rPr>
              <a:t>通货膨胀的概念：</a:t>
            </a:r>
            <a:endParaRPr lang="zh-CN" altLang="en-US" sz="4800">
              <a:solidFill>
                <a:srgbClr val="000000"/>
              </a:solidFill>
            </a:endParaRPr>
          </a:p>
          <a:p>
            <a:pPr marL="0" indent="0">
              <a:buNone/>
            </a:pPr>
            <a:r>
              <a:rPr lang="zh-CN" altLang="en-US" sz="3600" dirty="0">
                <a:solidFill>
                  <a:srgbClr val="000000"/>
                </a:solidFill>
              </a:rPr>
              <a:t>通货膨胀是指价格总体水平的显著的、持续的上升。</a:t>
            </a:r>
            <a:endParaRPr lang="zh-CN" altLang="en-US" sz="3600" dirty="0">
              <a:solidFill>
                <a:srgbClr val="000000"/>
              </a:solidFill>
            </a:endParaRPr>
          </a:p>
        </p:txBody>
      </p:sp>
    </p:spTree>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标题 113665"/>
          <p:cNvSpPr>
            <a:spLocks noGrp="1"/>
          </p:cNvSpPr>
          <p:nvPr>
            <p:ph type="title"/>
          </p:nvPr>
        </p:nvSpPr>
        <p:spPr>
          <a:ln/>
        </p:spPr>
        <p:txBody>
          <a:bodyPr anchor="ctr" anchorCtr="0"/>
          <a:p>
            <a:endParaRPr dirty="0"/>
          </a:p>
        </p:txBody>
      </p:sp>
      <p:sp>
        <p:nvSpPr>
          <p:cNvPr id="113667" name="文本占位符 113666"/>
          <p:cNvSpPr>
            <a:spLocks noGrp="1"/>
          </p:cNvSpPr>
          <p:nvPr>
            <p:ph type="body" idx="1"/>
          </p:nvPr>
        </p:nvSpPr>
        <p:spPr>
          <a:ln/>
        </p:spPr>
        <p:txBody>
          <a:bodyPr/>
          <a:p>
            <a:pPr marL="0" indent="0">
              <a:lnSpc>
                <a:spcPct val="125000"/>
              </a:lnSpc>
              <a:buNone/>
            </a:pPr>
            <a:r>
              <a:rPr lang="zh-CN" altLang="en-US" dirty="0">
                <a:solidFill>
                  <a:srgbClr val="000000"/>
                </a:solidFill>
              </a:rPr>
              <a:t>不是物价总体水平的轻微上升。</a:t>
            </a:r>
            <a:endParaRPr lang="zh-CN" altLang="en-US" dirty="0">
              <a:solidFill>
                <a:srgbClr val="000000"/>
              </a:solidFill>
            </a:endParaRPr>
          </a:p>
          <a:p>
            <a:pPr marL="0" indent="0">
              <a:lnSpc>
                <a:spcPct val="125000"/>
              </a:lnSpc>
              <a:buNone/>
            </a:pPr>
            <a:r>
              <a:rPr lang="zh-CN" altLang="en-US" dirty="0">
                <a:solidFill>
                  <a:srgbClr val="000000"/>
                </a:solidFill>
              </a:rPr>
              <a:t>是指物价总体水平的持续上升。</a:t>
            </a:r>
            <a:endParaRPr lang="zh-CN" altLang="en-US" dirty="0">
              <a:solidFill>
                <a:srgbClr val="000000"/>
              </a:solidFill>
            </a:endParaRPr>
          </a:p>
          <a:p>
            <a:pPr marL="0" indent="0">
              <a:lnSpc>
                <a:spcPct val="125000"/>
              </a:lnSpc>
              <a:buNone/>
            </a:pPr>
            <a:r>
              <a:rPr lang="zh-CN" altLang="en-US" dirty="0">
                <a:solidFill>
                  <a:srgbClr val="000000"/>
                </a:solidFill>
              </a:rPr>
              <a:t>通货膨胀是物价总体水平的上升，而不一定是每一种商品有同一水平上升。</a:t>
            </a:r>
            <a:endParaRPr lang="zh-CN" altLang="en-US" dirty="0">
              <a:solidFill>
                <a:srgbClr val="000000"/>
              </a:solidFill>
            </a:endParaRPr>
          </a:p>
          <a:p>
            <a:pPr marL="0" indent="0">
              <a:lnSpc>
                <a:spcPct val="125000"/>
              </a:lnSpc>
              <a:buNone/>
            </a:pPr>
            <a:r>
              <a:rPr lang="zh-CN" altLang="en-US" dirty="0">
                <a:solidFill>
                  <a:srgbClr val="000000"/>
                </a:solidFill>
              </a:rPr>
              <a:t>这也不一定是生活水平的下降，因为收入水平有可能有或可能没有同一水平上升。</a:t>
            </a:r>
            <a:endParaRPr lang="zh-CN" altLang="en-US" dirty="0">
              <a:solidFill>
                <a:srgbClr val="000000"/>
              </a:solidFill>
            </a:endParaRPr>
          </a:p>
        </p:txBody>
      </p:sp>
    </p:spTree>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5" name="文本占位符 115714"/>
          <p:cNvSpPr>
            <a:spLocks noGrp="1"/>
          </p:cNvSpPr>
          <p:nvPr>
            <p:ph type="body" idx="1"/>
          </p:nvPr>
        </p:nvSpPr>
        <p:spPr>
          <a:xfrm>
            <a:off x="914400" y="620713"/>
            <a:ext cx="7772400" cy="4560887"/>
          </a:xfrm>
          <a:ln/>
        </p:spPr>
        <p:txBody>
          <a:bodyPr/>
          <a:p>
            <a:pPr marL="0" indent="0" algn="just">
              <a:lnSpc>
                <a:spcPct val="90000"/>
              </a:lnSpc>
              <a:buNone/>
            </a:pPr>
            <a:r>
              <a:rPr lang="en-US" altLang="zh-CN" sz="2400">
                <a:solidFill>
                  <a:srgbClr val="000000"/>
                </a:solidFill>
                <a:latin typeface="宋体" panose="02010600030101010101" pitchFamily="2" charset="-122"/>
              </a:rPr>
              <a:t>·</a:t>
            </a:r>
            <a:r>
              <a:rPr lang="en-US" altLang="zh-CN" sz="2400">
                <a:solidFill>
                  <a:srgbClr val="000000"/>
                </a:solidFill>
                <a:latin typeface="宋体" panose="02010600030101010101" pitchFamily="2" charset="-122"/>
                <a:cs typeface="Times New Roman" panose="02020603050405020304" pitchFamily="18" charset="0"/>
              </a:rPr>
              <a:t> </a:t>
            </a:r>
            <a:r>
              <a:rPr lang="en-US" altLang="zh-CN" sz="2800">
                <a:solidFill>
                  <a:srgbClr val="000000"/>
                </a:solidFill>
                <a:latin typeface="宋体" panose="02010600030101010101" pitchFamily="2" charset="-122"/>
                <a:cs typeface="Times New Roman" panose="02020603050405020304" pitchFamily="18" charset="0"/>
              </a:rPr>
              <a:t>        </a:t>
            </a:r>
            <a:r>
              <a:rPr lang="zh-CN" altLang="en-US" sz="2800" b="1" dirty="0">
                <a:solidFill>
                  <a:srgbClr val="FF0000"/>
                </a:solidFill>
                <a:latin typeface="宋体" panose="02010600030101010101" pitchFamily="2" charset="-122"/>
              </a:rPr>
              <a:t>名义</a:t>
            </a:r>
            <a:r>
              <a:rPr lang="en-US" altLang="zh-CN" sz="2800" b="1">
                <a:solidFill>
                  <a:srgbClr val="FF0000"/>
                </a:solidFill>
                <a:latin typeface="宋体" panose="02010600030101010101" pitchFamily="2" charset="-122"/>
              </a:rPr>
              <a:t>GDP</a:t>
            </a:r>
            <a:r>
              <a:rPr lang="zh-CN" altLang="en-US" sz="2800" b="1" dirty="0">
                <a:solidFill>
                  <a:srgbClr val="FF0000"/>
                </a:solidFill>
                <a:latin typeface="宋体" panose="02010600030101010101" pitchFamily="2" charset="-122"/>
              </a:rPr>
              <a:t>和实际</a:t>
            </a:r>
            <a:r>
              <a:rPr lang="en-US" altLang="zh-CN" sz="2800" b="1">
                <a:solidFill>
                  <a:srgbClr val="FF0000"/>
                </a:solidFill>
                <a:latin typeface="宋体" panose="02010600030101010101" pitchFamily="2" charset="-122"/>
              </a:rPr>
              <a:t>GDP</a:t>
            </a:r>
            <a:endParaRPr lang="en-US" altLang="zh-CN" sz="2800" b="1">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名义</a:t>
            </a:r>
            <a:r>
              <a:rPr lang="en-US" altLang="zh-CN" sz="2400" b="1">
                <a:solidFill>
                  <a:srgbClr val="000000"/>
                </a:solidFill>
                <a:latin typeface="宋体" panose="02010600030101010101" pitchFamily="2" charset="-122"/>
              </a:rPr>
              <a:t>GDP</a:t>
            </a:r>
            <a:r>
              <a:rPr lang="zh-CN" altLang="en-US"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按现期价格评价的物品与劳务的生产。</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t</a:t>
            </a:r>
            <a:r>
              <a:rPr lang="zh-CN" altLang="en-US" sz="2400" b="1" dirty="0">
                <a:solidFill>
                  <a:srgbClr val="000000"/>
                </a:solidFill>
                <a:latin typeface="宋体" panose="02010600030101010101" pitchFamily="2" charset="-122"/>
              </a:rPr>
              <a:t>年的名义</a:t>
            </a:r>
            <a:r>
              <a:rPr lang="en-US" altLang="zh-CN" sz="2400" b="1" dirty="0" err="1">
                <a:solidFill>
                  <a:srgbClr val="000000"/>
                </a:solidFill>
                <a:latin typeface="宋体" panose="02010600030101010101" pitchFamily="2" charset="-122"/>
              </a:rPr>
              <a:t>GDP</a:t>
            </a:r>
            <a:r>
              <a:rPr lang="en-US" altLang="zh-CN" sz="2400" b="1" baseline="-30000" dirty="0" err="1">
                <a:solidFill>
                  <a:srgbClr val="000000"/>
                </a:solidFill>
                <a:latin typeface="宋体" panose="02010600030101010101" pitchFamily="2" charset="-122"/>
              </a:rPr>
              <a:t>t</a:t>
            </a:r>
            <a:r>
              <a:rPr lang="en-US" altLang="zh-CN" sz="2400" b="1">
                <a:solidFill>
                  <a:srgbClr val="000000"/>
                </a:solidFill>
                <a:latin typeface="宋体" panose="02010600030101010101" pitchFamily="2" charset="-122"/>
              </a:rPr>
              <a:t>=</a:t>
            </a:r>
            <a:r>
              <a:rPr lang="en-US" altLang="zh-CN" sz="2400" b="1" dirty="0" err="1">
                <a:solidFill>
                  <a:srgbClr val="000000"/>
                </a:solidFill>
                <a:latin typeface="宋体" panose="02010600030101010101" pitchFamily="2" charset="-122"/>
              </a:rPr>
              <a:t>ΣP</a:t>
            </a:r>
            <a:r>
              <a:rPr lang="en-US" altLang="zh-CN" sz="2400" b="1" baseline="-30000" dirty="0" err="1">
                <a:solidFill>
                  <a:srgbClr val="000000"/>
                </a:solidFill>
                <a:latin typeface="宋体" panose="02010600030101010101" pitchFamily="2" charset="-122"/>
              </a:rPr>
              <a:t>t</a:t>
            </a:r>
            <a:r>
              <a:rPr lang="en-US" altLang="zh-CN" sz="2400" b="1" dirty="0" err="1">
                <a:solidFill>
                  <a:srgbClr val="000000"/>
                </a:solidFill>
                <a:latin typeface="宋体" panose="02010600030101010101" pitchFamily="2" charset="-122"/>
              </a:rPr>
              <a:t>Q</a:t>
            </a:r>
            <a:r>
              <a:rPr lang="en-US" altLang="zh-CN" sz="2400" b="1" baseline="-30000" dirty="0" err="1">
                <a:solidFill>
                  <a:srgbClr val="000000"/>
                </a:solidFill>
                <a:latin typeface="宋体" panose="02010600030101010101" pitchFamily="2" charset="-122"/>
              </a:rPr>
              <a:t>t</a:t>
            </a:r>
            <a:endParaRPr lang="en-US" altLang="zh-CN" sz="2400" b="1">
              <a:solidFill>
                <a:srgbClr val="000000"/>
              </a:solidFill>
              <a:latin typeface="宋体" panose="02010600030101010101" pitchFamily="2" charset="-122"/>
            </a:endParaRPr>
          </a:p>
          <a:p>
            <a:pPr marL="0" indent="0" algn="just">
              <a:lnSpc>
                <a:spcPct val="90000"/>
              </a:lnSpc>
              <a:buNone/>
            </a:pPr>
            <a:r>
              <a:rPr lang="en-US" altLang="zh-CN" sz="2400" b="1" baseline="-30000">
                <a:solidFill>
                  <a:srgbClr val="000000"/>
                </a:solidFill>
                <a:latin typeface="宋体" panose="02010600030101010101" pitchFamily="2" charset="-122"/>
              </a:rPr>
              <a:t> </a:t>
            </a:r>
            <a:endParaRPr lang="en-US" altLang="zh-CN" sz="2400" b="1">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实际</a:t>
            </a:r>
            <a:r>
              <a:rPr lang="en-US" altLang="zh-CN" sz="2400" b="1">
                <a:solidFill>
                  <a:srgbClr val="000000"/>
                </a:solidFill>
                <a:latin typeface="宋体" panose="02010600030101010101" pitchFamily="2" charset="-122"/>
              </a:rPr>
              <a:t>GDP</a:t>
            </a:r>
            <a:r>
              <a:rPr lang="zh-CN" altLang="en-US"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按不变价格评价的物品与劳务的生产。</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t</a:t>
            </a:r>
            <a:r>
              <a:rPr lang="zh-CN" altLang="en-US" sz="2400" b="1" dirty="0">
                <a:solidFill>
                  <a:srgbClr val="000000"/>
                </a:solidFill>
                <a:latin typeface="宋体" panose="02010600030101010101" pitchFamily="2" charset="-122"/>
              </a:rPr>
              <a:t>年的实际</a:t>
            </a:r>
            <a:r>
              <a:rPr lang="en-US" altLang="zh-CN" sz="2400" b="1" dirty="0" err="1">
                <a:solidFill>
                  <a:srgbClr val="000000"/>
                </a:solidFill>
                <a:latin typeface="宋体" panose="02010600030101010101" pitchFamily="2" charset="-122"/>
              </a:rPr>
              <a:t>GDP</a:t>
            </a:r>
            <a:r>
              <a:rPr lang="en-US" altLang="zh-CN" sz="2400" b="1" baseline="-30000" dirty="0" err="1">
                <a:solidFill>
                  <a:srgbClr val="000000"/>
                </a:solidFill>
                <a:latin typeface="宋体" panose="02010600030101010101" pitchFamily="2" charset="-122"/>
              </a:rPr>
              <a:t>t</a:t>
            </a:r>
            <a:r>
              <a:rPr lang="en-US" altLang="zh-CN" sz="2400" b="1">
                <a:solidFill>
                  <a:srgbClr val="000000"/>
                </a:solidFill>
                <a:latin typeface="宋体" panose="02010600030101010101" pitchFamily="2" charset="-122"/>
              </a:rPr>
              <a:t>=</a:t>
            </a:r>
            <a:r>
              <a:rPr lang="en-US" altLang="zh-CN" sz="2400" b="1" dirty="0" err="1">
                <a:solidFill>
                  <a:srgbClr val="000000"/>
                </a:solidFill>
                <a:latin typeface="宋体" panose="02010600030101010101" pitchFamily="2" charset="-122"/>
              </a:rPr>
              <a:t>ΣP</a:t>
            </a:r>
            <a:r>
              <a:rPr lang="en-US" altLang="zh-CN" sz="2400" b="1" baseline="-30000" dirty="0" err="1">
                <a:solidFill>
                  <a:srgbClr val="000000"/>
                </a:solidFill>
                <a:latin typeface="宋体" panose="02010600030101010101" pitchFamily="2" charset="-122"/>
              </a:rPr>
              <a:t>o</a:t>
            </a:r>
            <a:r>
              <a:rPr lang="en-US" altLang="zh-CN" sz="2400" b="1" dirty="0" err="1">
                <a:solidFill>
                  <a:srgbClr val="000000"/>
                </a:solidFill>
                <a:latin typeface="宋体" panose="02010600030101010101" pitchFamily="2" charset="-122"/>
              </a:rPr>
              <a:t>Q</a:t>
            </a:r>
            <a:r>
              <a:rPr lang="en-US" altLang="zh-CN" sz="2400" b="1" baseline="-30000" dirty="0" err="1">
                <a:solidFill>
                  <a:srgbClr val="000000"/>
                </a:solidFill>
                <a:latin typeface="宋体" panose="02010600030101010101" pitchFamily="2" charset="-122"/>
              </a:rPr>
              <a:t>t</a:t>
            </a:r>
            <a:r>
              <a:rPr lang="en-US" altLang="zh-CN" sz="2400" b="1">
                <a:solidFill>
                  <a:srgbClr val="000000"/>
                </a:solidFill>
                <a:latin typeface="宋体" panose="02010600030101010101" pitchFamily="2" charset="-122"/>
              </a:rPr>
              <a:t> , P</a:t>
            </a:r>
            <a:r>
              <a:rPr lang="en-US" altLang="zh-CN" sz="2400" b="1" baseline="-30000">
                <a:solidFill>
                  <a:srgbClr val="000000"/>
                </a:solidFill>
                <a:latin typeface="宋体" panose="02010600030101010101" pitchFamily="2" charset="-122"/>
              </a:rPr>
              <a:t>o</a:t>
            </a:r>
            <a:r>
              <a:rPr lang="en-US" altLang="zh-CN" sz="2400" b="1">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是基期的价格</a:t>
            </a:r>
            <a:endParaRPr lang="zh-CN" altLang="en-US" sz="2400" b="1" dirty="0">
              <a:solidFill>
                <a:srgbClr val="000000"/>
              </a:solidFill>
              <a:latin typeface="宋体" panose="02010600030101010101" pitchFamily="2" charset="-122"/>
            </a:endParaRPr>
          </a:p>
          <a:p>
            <a:pPr marL="0" indent="0" algn="just">
              <a:lnSpc>
                <a:spcPct val="90000"/>
              </a:lnSpc>
              <a:buNone/>
            </a:pPr>
            <a:r>
              <a:rPr lang="en-US" altLang="zh-CN" sz="2400" b="1" dirty="0">
                <a:solidFill>
                  <a:srgbClr val="000000"/>
                </a:solidFill>
                <a:latin typeface="宋体" panose="02010600030101010101" pitchFamily="2" charset="-122"/>
              </a:rPr>
              <a:t> </a:t>
            </a:r>
            <a:endParaRPr lang="en-US" altLang="zh-CN" sz="2400" b="1" dirty="0">
              <a:solidFill>
                <a:srgbClr val="000000"/>
              </a:solidFill>
              <a:latin typeface="宋体" panose="02010600030101010101" pitchFamily="2" charset="-122"/>
            </a:endParaRPr>
          </a:p>
          <a:p>
            <a:pPr marL="0" indent="0" algn="just">
              <a:lnSpc>
                <a:spcPct val="90000"/>
              </a:lnSpc>
              <a:buNone/>
            </a:pPr>
            <a:r>
              <a:rPr lang="en-US" altLang="zh-CN" sz="2400" b="1">
                <a:solidFill>
                  <a:srgbClr val="000000"/>
                </a:solidFill>
                <a:latin typeface="宋体" panose="02010600030101010101" pitchFamily="2" charset="-122"/>
              </a:rPr>
              <a:t>        GDP</a:t>
            </a:r>
            <a:r>
              <a:rPr lang="zh-CN" altLang="en-US" sz="2400" b="1" dirty="0">
                <a:solidFill>
                  <a:srgbClr val="000000"/>
                </a:solidFill>
                <a:latin typeface="宋体" panose="02010600030101010101" pitchFamily="2" charset="-122"/>
              </a:rPr>
              <a:t>平减指数</a:t>
            </a:r>
            <a:r>
              <a:rPr lang="en-US" altLang="zh-CN" sz="2400" b="1">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用名义</a:t>
            </a:r>
            <a:r>
              <a:rPr lang="en-US" altLang="zh-CN" sz="2400" b="1">
                <a:solidFill>
                  <a:srgbClr val="000000"/>
                </a:solidFill>
                <a:latin typeface="宋体" panose="02010600030101010101" pitchFamily="2" charset="-122"/>
              </a:rPr>
              <a:t>GDP</a:t>
            </a:r>
            <a:r>
              <a:rPr lang="zh-CN" altLang="en-US" sz="2400" b="1" dirty="0">
                <a:solidFill>
                  <a:srgbClr val="000000"/>
                </a:solidFill>
                <a:latin typeface="宋体" panose="02010600030101010101" pitchFamily="2" charset="-122"/>
              </a:rPr>
              <a:t>与实际</a:t>
            </a:r>
            <a:r>
              <a:rPr lang="en-US" altLang="zh-CN" sz="2400" b="1">
                <a:solidFill>
                  <a:srgbClr val="000000"/>
                </a:solidFill>
                <a:latin typeface="宋体" panose="02010600030101010101" pitchFamily="2" charset="-122"/>
              </a:rPr>
              <a:t>GDP</a:t>
            </a:r>
            <a:r>
              <a:rPr lang="zh-CN" altLang="en-US" sz="2400" b="1" dirty="0">
                <a:solidFill>
                  <a:srgbClr val="000000"/>
                </a:solidFill>
                <a:latin typeface="宋体" panose="02010600030101010101" pitchFamily="2" charset="-122"/>
              </a:rPr>
              <a:t>比例比率计算的物价水平衡量指标</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它衡量相对于基年物价水平的现期物价水平。</a:t>
            </a:r>
            <a:endParaRPr lang="zh-CN" altLang="en-US" sz="2400" b="1" dirty="0">
              <a:solidFill>
                <a:srgbClr val="000000"/>
              </a:solidFill>
              <a:latin typeface="宋体" panose="02010600030101010101" pitchFamily="2" charset="-122"/>
            </a:endParaRPr>
          </a:p>
          <a:p>
            <a:pPr marL="0" indent="0" algn="just">
              <a:lnSpc>
                <a:spcPct val="90000"/>
              </a:lnSpc>
              <a:buNone/>
            </a:pP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 </a:t>
            </a:r>
            <a:endParaRPr lang="en-US" altLang="zh-CN" sz="2400" b="1" dirty="0">
              <a:solidFill>
                <a:srgbClr val="000000"/>
              </a:solidFill>
              <a:latin typeface="宋体" panose="02010600030101010101" pitchFamily="2" charset="-122"/>
            </a:endParaRPr>
          </a:p>
          <a:p>
            <a:pPr marL="0" indent="0">
              <a:lnSpc>
                <a:spcPct val="90000"/>
              </a:lnSpc>
              <a:buNone/>
            </a:pPr>
            <a:endParaRPr lang="en-US" altLang="zh-CN" sz="2400" b="1">
              <a:solidFill>
                <a:srgbClr val="000000"/>
              </a:solidFill>
              <a:latin typeface="宋体" panose="02010600030101010101" pitchFamily="2" charset="-122"/>
            </a:endParaRPr>
          </a:p>
        </p:txBody>
      </p:sp>
      <p:graphicFrame>
        <p:nvGraphicFramePr>
          <p:cNvPr id="115716" name="对象 115715"/>
          <p:cNvGraphicFramePr/>
          <p:nvPr/>
        </p:nvGraphicFramePr>
        <p:xfrm>
          <a:off x="1447800" y="5486400"/>
          <a:ext cx="5410200" cy="685800"/>
        </p:xfrm>
        <a:graphic>
          <a:graphicData uri="http://schemas.openxmlformats.org/presentationml/2006/ole">
            <mc:AlternateContent xmlns:mc="http://schemas.openxmlformats.org/markup-compatibility/2006">
              <mc:Choice xmlns:v="urn:schemas-microsoft-com:vml" Requires="v">
                <p:oleObj spid="_x0000_s3078" name="" r:id="rId1" imgW="2273300" imgH="419100" progId="Equation.3">
                  <p:embed/>
                </p:oleObj>
              </mc:Choice>
              <mc:Fallback>
                <p:oleObj name="" r:id="rId1" imgW="2273300" imgH="419100" progId="Equation.3">
                  <p:embed/>
                  <p:pic>
                    <p:nvPicPr>
                      <p:cNvPr id="0" name="图片 3077"/>
                      <p:cNvPicPr/>
                      <p:nvPr/>
                    </p:nvPicPr>
                    <p:blipFill>
                      <a:blip r:embed="rId2"/>
                      <a:stretch>
                        <a:fillRect/>
                      </a:stretch>
                    </p:blipFill>
                    <p:spPr>
                      <a:xfrm>
                        <a:off x="1447800" y="5486400"/>
                        <a:ext cx="5410200" cy="685800"/>
                      </a:xfrm>
                      <a:prstGeom prst="rect">
                        <a:avLst/>
                      </a:prstGeom>
                      <a:noFill/>
                      <a:ln w="38100">
                        <a:noFill/>
                        <a:miter/>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标题 116737"/>
          <p:cNvSpPr>
            <a:spLocks noGrp="1"/>
          </p:cNvSpPr>
          <p:nvPr>
            <p:ph type="title"/>
          </p:nvPr>
        </p:nvSpPr>
        <p:spPr>
          <a:ln/>
        </p:spPr>
        <p:txBody>
          <a:bodyPr anchor="ctr" anchorCtr="0"/>
          <a:p>
            <a:r>
              <a:rPr lang="zh-CN" altLang="en-US" sz="3600" b="1" dirty="0">
                <a:solidFill>
                  <a:srgbClr val="FF0000"/>
                </a:solidFill>
                <a:latin typeface="隶书" panose="02010509060101010101" pitchFamily="49" charset="-122"/>
                <a:ea typeface="隶书" panose="02010509060101010101" pitchFamily="49" charset="-122"/>
              </a:rPr>
              <a:t>通货膨胀率</a:t>
            </a:r>
            <a:endParaRPr lang="zh-CN" altLang="en-US" sz="3600" b="1">
              <a:solidFill>
                <a:srgbClr val="FF0000"/>
              </a:solidFill>
              <a:latin typeface="隶书" panose="02010509060101010101" pitchFamily="49" charset="-122"/>
              <a:ea typeface="隶书" panose="02010509060101010101" pitchFamily="49" charset="-122"/>
            </a:endParaRPr>
          </a:p>
        </p:txBody>
      </p:sp>
      <p:sp>
        <p:nvSpPr>
          <p:cNvPr id="116739" name="文本占位符 116738"/>
          <p:cNvSpPr>
            <a:spLocks noGrp="1"/>
          </p:cNvSpPr>
          <p:nvPr>
            <p:ph type="body" idx="1"/>
          </p:nvPr>
        </p:nvSpPr>
        <p:spPr>
          <a:ln/>
        </p:spPr>
        <p:txBody>
          <a:bodyPr/>
          <a:p>
            <a:pPr algn="just">
              <a:lnSpc>
                <a:spcPct val="90000"/>
              </a:lnSpc>
            </a:pPr>
            <a:r>
              <a:rPr lang="en-US" altLang="zh-CN" b="1">
                <a:solidFill>
                  <a:srgbClr val="000000"/>
                </a:solidFill>
                <a:latin typeface="隶书" panose="02010509060101010101" pitchFamily="49" charset="-122"/>
                <a:ea typeface="隶书" panose="02010509060101010101" pitchFamily="49" charset="-122"/>
              </a:rPr>
              <a:t>A</a:t>
            </a:r>
            <a:r>
              <a:rPr lang="zh-CN" altLang="en-US" b="1">
                <a:solidFill>
                  <a:srgbClr val="000000"/>
                </a:solidFill>
                <a:latin typeface="隶书" panose="02010509060101010101" pitchFamily="49" charset="-122"/>
                <a:ea typeface="隶书" panose="02010509060101010101" pitchFamily="49" charset="-122"/>
              </a:rPr>
              <a:t>．</a:t>
            </a:r>
            <a:r>
              <a:rPr lang="zh-CN" altLang="en-US" b="1" dirty="0">
                <a:solidFill>
                  <a:srgbClr val="000000"/>
                </a:solidFill>
                <a:latin typeface="隶书" panose="02010509060101010101" pitchFamily="49" charset="-122"/>
                <a:ea typeface="隶书" panose="02010509060101010101" pitchFamily="49" charset="-122"/>
              </a:rPr>
              <a:t>消费物价指数（</a:t>
            </a:r>
            <a:r>
              <a:rPr lang="en-US" altLang="zh-CN" b="1">
                <a:solidFill>
                  <a:srgbClr val="000000"/>
                </a:solidFill>
                <a:latin typeface="隶书" panose="02010509060101010101" pitchFamily="49" charset="-122"/>
                <a:ea typeface="隶书" panose="02010509060101010101" pitchFamily="49" charset="-122"/>
              </a:rPr>
              <a:t>CPI</a:t>
            </a:r>
            <a:r>
              <a:rPr lang="zh-CN" altLang="en-US" b="1">
                <a:solidFill>
                  <a:srgbClr val="000000"/>
                </a:solidFill>
                <a:latin typeface="隶书" panose="02010509060101010101" pitchFamily="49" charset="-122"/>
                <a:ea typeface="隶书" panose="02010509060101010101" pitchFamily="49" charset="-122"/>
              </a:rPr>
              <a:t>）：</a:t>
            </a:r>
            <a:r>
              <a:rPr lang="zh-CN" altLang="en-US" b="1" dirty="0">
                <a:solidFill>
                  <a:srgbClr val="000000"/>
                </a:solidFill>
                <a:latin typeface="隶书" panose="02010509060101010101" pitchFamily="49" charset="-122"/>
                <a:ea typeface="隶书" panose="02010509060101010101" pitchFamily="49" charset="-122"/>
              </a:rPr>
              <a:t>普通消费者购买的物品与劳务总费用的衡量指标。</a:t>
            </a:r>
            <a:endParaRPr lang="zh-CN" altLang="en-US" b="1" dirty="0">
              <a:solidFill>
                <a:srgbClr val="000000"/>
              </a:solidFill>
              <a:latin typeface="隶书" panose="02010509060101010101" pitchFamily="49" charset="-122"/>
              <a:ea typeface="隶书" panose="02010509060101010101" pitchFamily="49" charset="-122"/>
            </a:endParaRPr>
          </a:p>
          <a:p>
            <a:pPr algn="just">
              <a:lnSpc>
                <a:spcPct val="90000"/>
              </a:lnSpc>
              <a:buNone/>
            </a:pPr>
            <a:r>
              <a:rPr lang="zh-CN" altLang="en-US" b="1" dirty="0">
                <a:solidFill>
                  <a:srgbClr val="000000"/>
                </a:solidFill>
                <a:latin typeface="隶书" panose="02010509060101010101" pitchFamily="49" charset="-122"/>
                <a:ea typeface="隶书" panose="02010509060101010101" pitchFamily="49" charset="-122"/>
              </a:rPr>
              <a:t>	</a:t>
            </a:r>
            <a:r>
              <a:rPr lang="en-US" altLang="zh-CN" b="1">
                <a:solidFill>
                  <a:srgbClr val="000000"/>
                </a:solidFill>
                <a:latin typeface="隶书" panose="02010509060101010101" pitchFamily="49" charset="-122"/>
                <a:ea typeface="隶书" panose="02010509060101010101" pitchFamily="49" charset="-122"/>
              </a:rPr>
              <a:t>t</a:t>
            </a:r>
            <a:r>
              <a:rPr lang="zh-CN" altLang="en-US" b="1" dirty="0">
                <a:solidFill>
                  <a:srgbClr val="000000"/>
                </a:solidFill>
                <a:latin typeface="隶书" panose="02010509060101010101" pitchFamily="49" charset="-122"/>
                <a:ea typeface="隶书" panose="02010509060101010101" pitchFamily="49" charset="-122"/>
              </a:rPr>
              <a:t>期的</a:t>
            </a:r>
            <a:r>
              <a:rPr lang="en-US" altLang="zh-CN" b="1">
                <a:solidFill>
                  <a:srgbClr val="000000"/>
                </a:solidFill>
                <a:latin typeface="隶书" panose="02010509060101010101" pitchFamily="49" charset="-122"/>
                <a:ea typeface="隶书" panose="02010509060101010101" pitchFamily="49" charset="-122"/>
              </a:rPr>
              <a:t>CPI:	</a:t>
            </a:r>
            <a:endParaRPr lang="en-US" altLang="zh-CN" b="1">
              <a:solidFill>
                <a:srgbClr val="000000"/>
              </a:solidFill>
              <a:latin typeface="隶书" panose="02010509060101010101" pitchFamily="49" charset="-122"/>
              <a:ea typeface="隶书" panose="02010509060101010101" pitchFamily="49" charset="-122"/>
            </a:endParaRPr>
          </a:p>
          <a:p>
            <a:pPr algn="just">
              <a:lnSpc>
                <a:spcPct val="90000"/>
              </a:lnSpc>
              <a:buNone/>
            </a:pPr>
            <a:br>
              <a:rPr lang="en-US" altLang="zh-CN" b="1">
                <a:solidFill>
                  <a:srgbClr val="000000"/>
                </a:solidFill>
                <a:latin typeface="隶书" panose="02010509060101010101" pitchFamily="49" charset="-122"/>
                <a:ea typeface="隶书" panose="02010509060101010101" pitchFamily="49" charset="-122"/>
              </a:rPr>
            </a:br>
            <a:r>
              <a:rPr lang="en-US" altLang="zh-CN" b="1">
                <a:solidFill>
                  <a:srgbClr val="000000"/>
                </a:solidFill>
                <a:latin typeface="隶书" panose="02010509060101010101" pitchFamily="49" charset="-122"/>
                <a:ea typeface="隶书" panose="02010509060101010101" pitchFamily="49" charset="-122"/>
              </a:rPr>
              <a:t> </a:t>
            </a:r>
            <a:endParaRPr lang="en-US" altLang="zh-CN" b="1">
              <a:solidFill>
                <a:srgbClr val="000000"/>
              </a:solidFill>
              <a:latin typeface="隶书" panose="02010509060101010101" pitchFamily="49" charset="-122"/>
              <a:ea typeface="隶书" panose="02010509060101010101" pitchFamily="49" charset="-122"/>
            </a:endParaRPr>
          </a:p>
          <a:p>
            <a:pPr algn="just">
              <a:lnSpc>
                <a:spcPct val="90000"/>
              </a:lnSpc>
              <a:buNone/>
            </a:pPr>
            <a:br>
              <a:rPr lang="en-US" altLang="zh-CN" b="1">
                <a:solidFill>
                  <a:srgbClr val="000000"/>
                </a:solidFill>
                <a:latin typeface="隶书" panose="02010509060101010101" pitchFamily="49" charset="-122"/>
                <a:ea typeface="隶书" panose="02010509060101010101" pitchFamily="49" charset="-122"/>
              </a:rPr>
            </a:br>
            <a:r>
              <a:rPr lang="zh-CN" altLang="en-US" b="1" dirty="0">
                <a:solidFill>
                  <a:srgbClr val="000000"/>
                </a:solidFill>
                <a:latin typeface="隶书" panose="02010509060101010101" pitchFamily="49" charset="-122"/>
                <a:ea typeface="隶书" panose="02010509060101010101" pitchFamily="49" charset="-122"/>
              </a:rPr>
              <a:t>其中</a:t>
            </a:r>
            <a:r>
              <a:rPr lang="en-US" altLang="zh-CN" b="1">
                <a:solidFill>
                  <a:srgbClr val="000000"/>
                </a:solidFill>
                <a:latin typeface="隶书" panose="02010509060101010101" pitchFamily="49" charset="-122"/>
                <a:ea typeface="隶书" panose="02010509060101010101" pitchFamily="49" charset="-122"/>
              </a:rPr>
              <a:t>P</a:t>
            </a:r>
            <a:r>
              <a:rPr lang="en-US" altLang="zh-CN" b="1" baseline="-30000">
                <a:solidFill>
                  <a:srgbClr val="000000"/>
                </a:solidFill>
                <a:latin typeface="隶书" panose="02010509060101010101" pitchFamily="49" charset="-122"/>
                <a:ea typeface="隶书" panose="02010509060101010101" pitchFamily="49" charset="-122"/>
              </a:rPr>
              <a:t>0 </a:t>
            </a:r>
            <a:r>
              <a:rPr lang="zh-CN" altLang="en-US" b="1">
                <a:solidFill>
                  <a:srgbClr val="000000"/>
                </a:solidFill>
                <a:latin typeface="隶书" panose="02010509060101010101" pitchFamily="49" charset="-122"/>
                <a:ea typeface="隶书" panose="02010509060101010101" pitchFamily="49" charset="-122"/>
              </a:rPr>
              <a:t>和</a:t>
            </a:r>
            <a:r>
              <a:rPr lang="en-US" altLang="zh-CN" b="1">
                <a:solidFill>
                  <a:srgbClr val="000000"/>
                </a:solidFill>
                <a:latin typeface="隶书" panose="02010509060101010101" pitchFamily="49" charset="-122"/>
                <a:ea typeface="隶书" panose="02010509060101010101" pitchFamily="49" charset="-122"/>
              </a:rPr>
              <a:t>Q</a:t>
            </a:r>
            <a:r>
              <a:rPr lang="en-US" altLang="zh-CN" b="1" baseline="-30000">
                <a:solidFill>
                  <a:srgbClr val="000000"/>
                </a:solidFill>
                <a:latin typeface="隶书" panose="02010509060101010101" pitchFamily="49" charset="-122"/>
                <a:ea typeface="隶书" panose="02010509060101010101" pitchFamily="49" charset="-122"/>
              </a:rPr>
              <a:t>0</a:t>
            </a:r>
            <a:r>
              <a:rPr lang="zh-CN" altLang="en-US" b="1" dirty="0">
                <a:solidFill>
                  <a:srgbClr val="000000"/>
                </a:solidFill>
                <a:latin typeface="隶书" panose="02010509060101010101" pitchFamily="49" charset="-122"/>
                <a:ea typeface="隶书" panose="02010509060101010101" pitchFamily="49" charset="-122"/>
              </a:rPr>
              <a:t>是基期的价格和数量，</a:t>
            </a:r>
            <a:r>
              <a:rPr lang="en-US" altLang="zh-CN" b="1">
                <a:solidFill>
                  <a:srgbClr val="000000"/>
                </a:solidFill>
                <a:latin typeface="隶书" panose="02010509060101010101" pitchFamily="49" charset="-122"/>
                <a:ea typeface="隶书" panose="02010509060101010101" pitchFamily="49" charset="-122"/>
              </a:rPr>
              <a:t>P</a:t>
            </a:r>
            <a:r>
              <a:rPr lang="en-US" altLang="zh-CN" b="1" baseline="-30000">
                <a:solidFill>
                  <a:srgbClr val="000000"/>
                </a:solidFill>
                <a:latin typeface="隶书" panose="02010509060101010101" pitchFamily="49" charset="-122"/>
                <a:ea typeface="隶书" panose="02010509060101010101" pitchFamily="49" charset="-122"/>
              </a:rPr>
              <a:t>t</a:t>
            </a:r>
            <a:r>
              <a:rPr lang="zh-CN" altLang="en-US" b="1">
                <a:solidFill>
                  <a:srgbClr val="000000"/>
                </a:solidFill>
                <a:latin typeface="隶书" panose="02010509060101010101" pitchFamily="49" charset="-122"/>
                <a:ea typeface="隶书" panose="02010509060101010101" pitchFamily="49" charset="-122"/>
              </a:rPr>
              <a:t>是</a:t>
            </a:r>
            <a:r>
              <a:rPr lang="en-US" altLang="zh-CN" b="1">
                <a:solidFill>
                  <a:srgbClr val="000000"/>
                </a:solidFill>
                <a:latin typeface="隶书" panose="02010509060101010101" pitchFamily="49" charset="-122"/>
                <a:ea typeface="隶书" panose="02010509060101010101" pitchFamily="49" charset="-122"/>
              </a:rPr>
              <a:t>t</a:t>
            </a:r>
            <a:r>
              <a:rPr lang="zh-CN" altLang="en-US" b="1" dirty="0">
                <a:solidFill>
                  <a:srgbClr val="000000"/>
                </a:solidFill>
                <a:latin typeface="隶书" panose="02010509060101010101" pitchFamily="49" charset="-122"/>
                <a:ea typeface="隶书" panose="02010509060101010101" pitchFamily="49" charset="-122"/>
              </a:rPr>
              <a:t>期的价格。</a:t>
            </a:r>
            <a:endParaRPr lang="zh-CN" altLang="en-US" b="1" dirty="0">
              <a:solidFill>
                <a:srgbClr val="000000"/>
              </a:solidFill>
              <a:latin typeface="隶书" panose="02010509060101010101" pitchFamily="49" charset="-122"/>
              <a:ea typeface="隶书" panose="02010509060101010101" pitchFamily="49" charset="-122"/>
            </a:endParaRPr>
          </a:p>
          <a:p>
            <a:pPr algn="just">
              <a:lnSpc>
                <a:spcPct val="90000"/>
              </a:lnSpc>
              <a:buNone/>
            </a:pPr>
            <a:endParaRPr lang="zh-CN" altLang="en-US" b="1" dirty="0">
              <a:solidFill>
                <a:srgbClr val="000000"/>
              </a:solidFill>
              <a:latin typeface="隶书" panose="02010509060101010101" pitchFamily="49" charset="-122"/>
              <a:ea typeface="隶书" panose="02010509060101010101" pitchFamily="49" charset="-122"/>
            </a:endParaRPr>
          </a:p>
          <a:p>
            <a:pPr>
              <a:lnSpc>
                <a:spcPct val="90000"/>
              </a:lnSpc>
            </a:pPr>
            <a:endParaRPr lang="zh-CN" altLang="en-US"/>
          </a:p>
        </p:txBody>
      </p:sp>
      <p:graphicFrame>
        <p:nvGraphicFramePr>
          <p:cNvPr id="116740" name="对象 116739"/>
          <p:cNvGraphicFramePr/>
          <p:nvPr/>
        </p:nvGraphicFramePr>
        <p:xfrm>
          <a:off x="3048000" y="3733800"/>
          <a:ext cx="3505200" cy="1062038"/>
        </p:xfrm>
        <a:graphic>
          <a:graphicData uri="http://schemas.openxmlformats.org/presentationml/2006/ole">
            <mc:AlternateContent xmlns:mc="http://schemas.openxmlformats.org/markup-compatibility/2006">
              <mc:Choice xmlns:v="urn:schemas-microsoft-com:vml" Requires="v">
                <p:oleObj spid="_x0000_s3076" name="" r:id="rId1" imgW="1510665" imgH="482600" progId="Equation.3">
                  <p:embed/>
                </p:oleObj>
              </mc:Choice>
              <mc:Fallback>
                <p:oleObj name="" r:id="rId1" imgW="1510665" imgH="482600" progId="Equation.3">
                  <p:embed/>
                  <p:pic>
                    <p:nvPicPr>
                      <p:cNvPr id="0" name="图片 3075"/>
                      <p:cNvPicPr/>
                      <p:nvPr/>
                    </p:nvPicPr>
                    <p:blipFill>
                      <a:blip r:embed="rId2"/>
                      <a:stretch>
                        <a:fillRect/>
                      </a:stretch>
                    </p:blipFill>
                    <p:spPr>
                      <a:xfrm>
                        <a:off x="3048000" y="3733800"/>
                        <a:ext cx="3505200" cy="1062038"/>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标题 117761"/>
          <p:cNvSpPr>
            <a:spLocks noGrp="1"/>
          </p:cNvSpPr>
          <p:nvPr>
            <p:ph type="title"/>
          </p:nvPr>
        </p:nvSpPr>
        <p:spPr>
          <a:xfrm>
            <a:off x="685800" y="0"/>
            <a:ext cx="7772400" cy="3962400"/>
          </a:xfrm>
          <a:ln/>
        </p:spPr>
        <p:txBody>
          <a:bodyPr anchor="ctr" anchorCtr="0"/>
          <a:p>
            <a:r>
              <a:rPr lang="en-US" altLang="zh-CN" dirty="0">
                <a:latin typeface="宋体" panose="02010600030101010101" pitchFamily="2" charset="-122"/>
              </a:rPr>
              <a:t> </a:t>
            </a:r>
            <a:br>
              <a:rPr lang="en-US" altLang="zh-CN" dirty="0">
                <a:latin typeface="宋体" panose="02010600030101010101" pitchFamily="2" charset="-122"/>
              </a:rPr>
            </a:br>
            <a:r>
              <a:rPr lang="en-US" altLang="zh-CN" sz="2800" b="1">
                <a:latin typeface="宋体" panose="02010600030101010101" pitchFamily="2" charset="-122"/>
              </a:rPr>
              <a:t>B.</a:t>
            </a:r>
            <a:r>
              <a:rPr lang="zh-CN" altLang="en-US" sz="2800" b="1" dirty="0">
                <a:solidFill>
                  <a:srgbClr val="000000"/>
                </a:solidFill>
                <a:latin typeface="宋体" panose="02010600030101010101" pitchFamily="2" charset="-122"/>
              </a:rPr>
              <a:t>生产物价指数（</a:t>
            </a:r>
            <a:r>
              <a:rPr lang="en-US" altLang="zh-CN" sz="2800" b="1">
                <a:solidFill>
                  <a:srgbClr val="000000"/>
                </a:solidFill>
                <a:latin typeface="宋体" panose="02010600030101010101" pitchFamily="2" charset="-122"/>
              </a:rPr>
              <a:t>PPI</a:t>
            </a:r>
            <a:r>
              <a:rPr lang="zh-CN" altLang="en-US"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生产企业购买的篮子物品与劳务费用的衡量指标。计算方法和</a:t>
            </a:r>
            <a:r>
              <a:rPr lang="en-US" altLang="zh-CN" sz="2800" b="1">
                <a:solidFill>
                  <a:srgbClr val="000000"/>
                </a:solidFill>
                <a:latin typeface="宋体" panose="02010600030101010101" pitchFamily="2" charset="-122"/>
              </a:rPr>
              <a:t>CPI</a:t>
            </a:r>
            <a:r>
              <a:rPr lang="zh-CN" altLang="en-US" sz="2800" b="1" dirty="0">
                <a:solidFill>
                  <a:srgbClr val="000000"/>
                </a:solidFill>
                <a:latin typeface="宋体" panose="02010600030101010101" pitchFamily="2" charset="-122"/>
              </a:rPr>
              <a:t>相同，只是所选的物品篮子不同。</a:t>
            </a:r>
            <a:br>
              <a:rPr lang="zh-CN" altLang="en-US" sz="2800" b="1"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 </a:t>
            </a:r>
            <a:br>
              <a:rPr lang="en-US" altLang="zh-CN" sz="2800" b="1" dirty="0">
                <a:solidFill>
                  <a:srgbClr val="000000"/>
                </a:solidFill>
                <a:latin typeface="宋体" panose="02010600030101010101" pitchFamily="2" charset="-122"/>
              </a:rPr>
            </a:br>
            <a:r>
              <a:rPr lang="en-US" altLang="zh-CN" sz="2800" b="1">
                <a:solidFill>
                  <a:srgbClr val="000000"/>
                </a:solidFill>
                <a:latin typeface="宋体" panose="02010600030101010101" pitchFamily="2" charset="-122"/>
              </a:rPr>
              <a:t>C.</a:t>
            </a:r>
            <a:r>
              <a:rPr lang="zh-CN" altLang="en-US" sz="2800" b="1" dirty="0">
                <a:solidFill>
                  <a:srgbClr val="000000"/>
                </a:solidFill>
                <a:latin typeface="宋体" panose="02010600030101010101" pitchFamily="2" charset="-122"/>
              </a:rPr>
              <a:t>通货膨胀率：前一个时期以来物价指数变动的百分比。</a:t>
            </a:r>
            <a:endParaRPr lang="zh-CN" altLang="en-US" dirty="0">
              <a:latin typeface="宋体" panose="02010600030101010101" pitchFamily="2" charset="-122"/>
            </a:endParaRPr>
          </a:p>
        </p:txBody>
      </p:sp>
      <p:graphicFrame>
        <p:nvGraphicFramePr>
          <p:cNvPr id="117763" name="文本占位符 117762"/>
          <p:cNvGraphicFramePr/>
          <p:nvPr>
            <p:ph type="body" idx="1"/>
          </p:nvPr>
        </p:nvGraphicFramePr>
        <p:xfrm>
          <a:off x="2362200" y="3810000"/>
          <a:ext cx="4419600" cy="1189038"/>
        </p:xfrm>
        <a:graphic>
          <a:graphicData uri="http://schemas.openxmlformats.org/presentationml/2006/ole">
            <mc:AlternateContent xmlns:mc="http://schemas.openxmlformats.org/markup-compatibility/2006">
              <mc:Choice xmlns:v="urn:schemas-microsoft-com:vml" Requires="v">
                <p:oleObj spid="_x0000_s3077" name="" r:id="rId1" imgW="1650365" imgH="444500" progId="Equation.3">
                  <p:embed/>
                </p:oleObj>
              </mc:Choice>
              <mc:Fallback>
                <p:oleObj name="" r:id="rId1" imgW="1650365" imgH="444500" progId="Equation.3">
                  <p:embed/>
                  <p:pic>
                    <p:nvPicPr>
                      <p:cNvPr id="0" name="图片 3076"/>
                      <p:cNvPicPr/>
                      <p:nvPr/>
                    </p:nvPicPr>
                    <p:blipFill>
                      <a:blip r:embed="rId2"/>
                      <a:stretch>
                        <a:fillRect/>
                      </a:stretch>
                    </p:blipFill>
                    <p:spPr>
                      <a:xfrm>
                        <a:off x="2362200" y="3810000"/>
                        <a:ext cx="4419600" cy="1189038"/>
                      </a:xfrm>
                      <a:prstGeom prst="rect">
                        <a:avLst/>
                      </a:prstGeom>
                      <a:noFill/>
                      <a:ln w="38100">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标题 118785"/>
          <p:cNvSpPr>
            <a:spLocks noGrp="1"/>
          </p:cNvSpPr>
          <p:nvPr>
            <p:ph type="title"/>
          </p:nvPr>
        </p:nvSpPr>
        <p:spPr>
          <a:xfrm>
            <a:off x="304800" y="533400"/>
            <a:ext cx="8588375" cy="762000"/>
          </a:xfrm>
          <a:ln/>
        </p:spPr>
        <p:txBody>
          <a:bodyPr anchor="ctr" anchorCtr="0"/>
          <a:p>
            <a:r>
              <a:rPr lang="zh-CN" altLang="en-US" dirty="0"/>
              <a:t>通货膨胀的分类</a:t>
            </a:r>
            <a:endParaRPr lang="zh-CN" altLang="en-US" dirty="0"/>
          </a:p>
        </p:txBody>
      </p:sp>
      <p:sp>
        <p:nvSpPr>
          <p:cNvPr id="118787" name="文本占位符 118786"/>
          <p:cNvSpPr>
            <a:spLocks noGrp="1"/>
          </p:cNvSpPr>
          <p:nvPr>
            <p:ph type="body" idx="1"/>
          </p:nvPr>
        </p:nvSpPr>
        <p:spPr>
          <a:xfrm>
            <a:off x="152400" y="1905000"/>
            <a:ext cx="8610600" cy="4419600"/>
          </a:xfrm>
          <a:ln/>
        </p:spPr>
        <p:txBody>
          <a:bodyPr/>
          <a:p>
            <a:pPr marL="533400" indent="-533400">
              <a:lnSpc>
                <a:spcPct val="125000"/>
              </a:lnSpc>
              <a:buFont typeface="Wingdings" panose="05000000000000000000" pitchFamily="2" charset="2"/>
              <a:buNone/>
            </a:pPr>
            <a:r>
              <a:rPr lang="zh-CN" altLang="en-US" sz="2800" dirty="0">
                <a:solidFill>
                  <a:srgbClr val="000000"/>
                </a:solidFill>
              </a:rPr>
              <a:t>按照价格上升的速度进行分类</a:t>
            </a:r>
            <a:endParaRPr lang="zh-CN" altLang="en-US" sz="2800" dirty="0">
              <a:solidFill>
                <a:srgbClr val="000000"/>
              </a:solidFill>
            </a:endParaRPr>
          </a:p>
          <a:p>
            <a:pPr marL="533400" indent="-533400">
              <a:lnSpc>
                <a:spcPct val="125000"/>
              </a:lnSpc>
              <a:buNone/>
            </a:pPr>
            <a:r>
              <a:rPr lang="en-US" altLang="zh-CN" sz="2800" b="1">
                <a:solidFill>
                  <a:srgbClr val="000000"/>
                </a:solidFill>
              </a:rPr>
              <a:t>a</a:t>
            </a:r>
            <a:r>
              <a:rPr lang="zh-CN" altLang="en-US" sz="2800" b="1" dirty="0">
                <a:solidFill>
                  <a:srgbClr val="000000"/>
                </a:solidFill>
              </a:rPr>
              <a:t>）温和的通货膨胀：</a:t>
            </a:r>
            <a:r>
              <a:rPr lang="zh-CN" altLang="en-US" sz="2800" dirty="0">
                <a:solidFill>
                  <a:srgbClr val="000000"/>
                </a:solidFill>
              </a:rPr>
              <a:t>指每年物价上升的比例在</a:t>
            </a:r>
            <a:r>
              <a:rPr lang="en-US" altLang="zh-CN" sz="2800">
                <a:solidFill>
                  <a:srgbClr val="000000"/>
                </a:solidFill>
              </a:rPr>
              <a:t>10</a:t>
            </a:r>
            <a:r>
              <a:rPr lang="zh-CN" altLang="en-US" sz="2800" dirty="0">
                <a:solidFill>
                  <a:srgbClr val="000000"/>
                </a:solidFill>
              </a:rPr>
              <a:t>％以内。</a:t>
            </a:r>
            <a:endParaRPr lang="zh-CN" altLang="en-US" sz="2800" dirty="0">
              <a:solidFill>
                <a:srgbClr val="000000"/>
              </a:solidFill>
            </a:endParaRPr>
          </a:p>
          <a:p>
            <a:pPr marL="533400" indent="-533400">
              <a:lnSpc>
                <a:spcPct val="125000"/>
              </a:lnSpc>
              <a:buNone/>
            </a:pPr>
            <a:r>
              <a:rPr lang="en-US" altLang="zh-CN" sz="2800" b="1">
                <a:solidFill>
                  <a:srgbClr val="000000"/>
                </a:solidFill>
              </a:rPr>
              <a:t>b</a:t>
            </a:r>
            <a:r>
              <a:rPr lang="zh-CN" altLang="en-US" sz="2800" b="1" dirty="0">
                <a:solidFill>
                  <a:srgbClr val="000000"/>
                </a:solidFill>
              </a:rPr>
              <a:t>）奔腾的通货膨胀：</a:t>
            </a:r>
            <a:r>
              <a:rPr lang="zh-CN" altLang="en-US" sz="2800" dirty="0">
                <a:solidFill>
                  <a:srgbClr val="000000"/>
                </a:solidFill>
              </a:rPr>
              <a:t>指年通货膨胀率在</a:t>
            </a:r>
            <a:r>
              <a:rPr lang="en-US" altLang="zh-CN" sz="2800">
                <a:solidFill>
                  <a:srgbClr val="000000"/>
                </a:solidFill>
              </a:rPr>
              <a:t>10</a:t>
            </a:r>
            <a:r>
              <a:rPr lang="zh-CN" altLang="en-US" sz="2800" dirty="0">
                <a:solidFill>
                  <a:srgbClr val="000000"/>
                </a:solidFill>
              </a:rPr>
              <a:t>％以上和</a:t>
            </a:r>
            <a:r>
              <a:rPr lang="en-US" altLang="zh-CN" sz="2800">
                <a:solidFill>
                  <a:srgbClr val="000000"/>
                </a:solidFill>
              </a:rPr>
              <a:t>100</a:t>
            </a:r>
            <a:r>
              <a:rPr lang="zh-CN" altLang="en-US" sz="2800" dirty="0">
                <a:solidFill>
                  <a:srgbClr val="000000"/>
                </a:solidFill>
              </a:rPr>
              <a:t>％以内。</a:t>
            </a:r>
            <a:endParaRPr lang="zh-CN" altLang="en-US" sz="2800" dirty="0">
              <a:solidFill>
                <a:srgbClr val="000000"/>
              </a:solidFill>
            </a:endParaRPr>
          </a:p>
          <a:p>
            <a:pPr marL="533400" indent="-533400">
              <a:lnSpc>
                <a:spcPct val="125000"/>
              </a:lnSpc>
              <a:buNone/>
            </a:pPr>
            <a:r>
              <a:rPr lang="en-US" altLang="zh-CN" sz="2800" b="1">
                <a:solidFill>
                  <a:srgbClr val="000000"/>
                </a:solidFill>
              </a:rPr>
              <a:t>c</a:t>
            </a:r>
            <a:r>
              <a:rPr lang="zh-CN" altLang="en-US" sz="2800" b="1" dirty="0">
                <a:solidFill>
                  <a:srgbClr val="000000"/>
                </a:solidFill>
              </a:rPr>
              <a:t>）超级通货膨胀：</a:t>
            </a:r>
            <a:r>
              <a:rPr lang="zh-CN" altLang="en-US" sz="2800" dirty="0">
                <a:solidFill>
                  <a:srgbClr val="000000"/>
                </a:solidFill>
              </a:rPr>
              <a:t>指通货膨胀率在</a:t>
            </a:r>
            <a:r>
              <a:rPr lang="en-US" altLang="zh-CN" sz="2800">
                <a:solidFill>
                  <a:srgbClr val="000000"/>
                </a:solidFill>
              </a:rPr>
              <a:t>100</a:t>
            </a:r>
            <a:r>
              <a:rPr lang="zh-CN" altLang="en-US" sz="2800" dirty="0">
                <a:solidFill>
                  <a:srgbClr val="000000"/>
                </a:solidFill>
              </a:rPr>
              <a:t>％以上。</a:t>
            </a:r>
            <a:endParaRPr lang="zh-CN" altLang="en-US" sz="2800" dirty="0">
              <a:solidFill>
                <a:srgbClr val="000000"/>
              </a:solidFill>
            </a:endParaRPr>
          </a:p>
        </p:txBody>
      </p:sp>
    </p:spTree>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标题 120833"/>
          <p:cNvSpPr>
            <a:spLocks noGrp="1"/>
          </p:cNvSpPr>
          <p:nvPr>
            <p:ph type="title"/>
          </p:nvPr>
        </p:nvSpPr>
        <p:spPr>
          <a:xfrm>
            <a:off x="1350963" y="533400"/>
            <a:ext cx="7793037" cy="1143000"/>
          </a:xfrm>
          <a:ln/>
        </p:spPr>
        <p:txBody>
          <a:bodyPr anchor="ctr" anchorCtr="0"/>
          <a:p>
            <a:r>
              <a:rPr lang="zh-CN" altLang="en-US" dirty="0"/>
              <a:t>通货膨胀产生的原因</a:t>
            </a:r>
            <a:endParaRPr lang="zh-CN" altLang="en-US" dirty="0"/>
          </a:p>
        </p:txBody>
      </p:sp>
      <p:sp>
        <p:nvSpPr>
          <p:cNvPr id="120835" name="文本占位符 120834"/>
          <p:cNvSpPr>
            <a:spLocks noGrp="1"/>
          </p:cNvSpPr>
          <p:nvPr>
            <p:ph type="body" idx="1"/>
          </p:nvPr>
        </p:nvSpPr>
        <p:spPr>
          <a:xfrm>
            <a:off x="762000" y="2057400"/>
            <a:ext cx="3657600" cy="1981200"/>
          </a:xfrm>
          <a:ln/>
        </p:spPr>
        <p:txBody>
          <a:bodyPr/>
          <a:p>
            <a:endParaRPr dirty="0"/>
          </a:p>
        </p:txBody>
      </p:sp>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标题 121857"/>
          <p:cNvSpPr>
            <a:spLocks noGrp="1"/>
          </p:cNvSpPr>
          <p:nvPr>
            <p:ph type="title"/>
          </p:nvPr>
        </p:nvSpPr>
        <p:spPr>
          <a:xfrm>
            <a:off x="250825" y="301625"/>
            <a:ext cx="8591550" cy="1471613"/>
          </a:xfrm>
          <a:ln/>
        </p:spPr>
        <p:txBody>
          <a:bodyPr anchor="ctr" anchorCtr="0"/>
          <a:p>
            <a:r>
              <a:rPr lang="en-US" altLang="zh-CN" dirty="0"/>
              <a:t> </a:t>
            </a:r>
            <a:endParaRPr lang="en-US" altLang="zh-CN" dirty="0"/>
          </a:p>
        </p:txBody>
      </p:sp>
      <p:sp>
        <p:nvSpPr>
          <p:cNvPr id="121859" name="文本占位符 121858"/>
          <p:cNvSpPr>
            <a:spLocks noGrp="1"/>
          </p:cNvSpPr>
          <p:nvPr>
            <p:ph type="body" idx="1"/>
          </p:nvPr>
        </p:nvSpPr>
        <p:spPr>
          <a:xfrm>
            <a:off x="381000" y="609600"/>
            <a:ext cx="8001000" cy="838200"/>
          </a:xfrm>
          <a:ln/>
        </p:spPr>
        <p:txBody>
          <a:bodyPr/>
          <a:p>
            <a:pPr algn="ctr">
              <a:lnSpc>
                <a:spcPct val="125000"/>
              </a:lnSpc>
              <a:buNone/>
            </a:pPr>
            <a:r>
              <a:rPr lang="zh-CN" altLang="en-US" sz="3600" b="1" dirty="0">
                <a:solidFill>
                  <a:schemeClr val="tx2"/>
                </a:solidFill>
              </a:rPr>
              <a:t>需求拉动的通货膨胀</a:t>
            </a:r>
            <a:endParaRPr lang="zh-CN" altLang="en-US" sz="3600" b="1" dirty="0">
              <a:solidFill>
                <a:schemeClr val="tx2"/>
              </a:solidFill>
            </a:endParaRPr>
          </a:p>
        </p:txBody>
      </p:sp>
      <p:sp>
        <p:nvSpPr>
          <p:cNvPr id="121860" name="文本框 121859"/>
          <p:cNvSpPr txBox="1"/>
          <p:nvPr/>
        </p:nvSpPr>
        <p:spPr>
          <a:xfrm>
            <a:off x="381000" y="2362200"/>
            <a:ext cx="7543800" cy="1554163"/>
          </a:xfrm>
          <a:prstGeom prst="rect">
            <a:avLst/>
          </a:prstGeom>
          <a:noFill/>
          <a:ln w="9525">
            <a:noFill/>
          </a:ln>
        </p:spPr>
        <p:txBody>
          <a:bodyPr>
            <a:spAutoFit/>
          </a:bodyPr>
          <a:p>
            <a:pPr>
              <a:lnSpc>
                <a:spcPct val="100000"/>
              </a:lnSpc>
              <a:spcBef>
                <a:spcPct val="50000"/>
              </a:spcBef>
            </a:pPr>
            <a:r>
              <a:rPr lang="zh-CN" altLang="en-US" sz="3200" b="0" dirty="0">
                <a:latin typeface="Arial" panose="020B0604020202020204" pitchFamily="34" charset="0"/>
              </a:rPr>
              <a:t>需求拉动的通货膨胀又称超额需求通货膨胀，是指总需求超过总供给所引起的一般价格水平的持续显著的上涨。</a:t>
            </a:r>
            <a:endParaRPr lang="zh-CN" altLang="en-US" sz="3200" b="0" dirty="0">
              <a:latin typeface="Arial" panose="020B0604020202020204" pitchFamily="34" charset="0"/>
            </a:endParaRPr>
          </a:p>
        </p:txBody>
      </p:sp>
    </p:spTree>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标题 123905"/>
          <p:cNvSpPr>
            <a:spLocks noGrp="1"/>
          </p:cNvSpPr>
          <p:nvPr>
            <p:ph type="title"/>
          </p:nvPr>
        </p:nvSpPr>
        <p:spPr>
          <a:xfrm>
            <a:off x="250825" y="228600"/>
            <a:ext cx="8591550" cy="1471613"/>
          </a:xfrm>
          <a:ln/>
        </p:spPr>
        <p:txBody>
          <a:bodyPr anchor="ctr" anchorCtr="0"/>
          <a:p>
            <a:r>
              <a:rPr lang="en-US" altLang="zh-CN" dirty="0"/>
              <a:t> </a:t>
            </a:r>
            <a:endParaRPr lang="en-US" altLang="zh-CN" dirty="0"/>
          </a:p>
        </p:txBody>
      </p:sp>
      <p:sp>
        <p:nvSpPr>
          <p:cNvPr id="123907" name="文本占位符 123906"/>
          <p:cNvSpPr>
            <a:spLocks noGrp="1"/>
          </p:cNvSpPr>
          <p:nvPr>
            <p:ph type="body" idx="1"/>
          </p:nvPr>
        </p:nvSpPr>
        <p:spPr>
          <a:xfrm>
            <a:off x="381000" y="609600"/>
            <a:ext cx="8001000" cy="838200"/>
          </a:xfrm>
          <a:ln/>
        </p:spPr>
        <p:txBody>
          <a:bodyPr/>
          <a:p>
            <a:pPr algn="ctr">
              <a:lnSpc>
                <a:spcPct val="125000"/>
              </a:lnSpc>
              <a:buNone/>
            </a:pPr>
            <a:r>
              <a:rPr lang="zh-CN" altLang="en-US" sz="3600" b="1" dirty="0">
                <a:solidFill>
                  <a:schemeClr val="tx2"/>
                </a:solidFill>
              </a:rPr>
              <a:t>需求拉动的通货膨胀</a:t>
            </a:r>
            <a:endParaRPr lang="zh-CN" altLang="en-US" sz="3600" b="1" dirty="0">
              <a:solidFill>
                <a:schemeClr val="tx2"/>
              </a:solidFill>
            </a:endParaRPr>
          </a:p>
        </p:txBody>
      </p:sp>
      <p:sp>
        <p:nvSpPr>
          <p:cNvPr id="123908" name="直接连接符 123907"/>
          <p:cNvSpPr/>
          <p:nvPr/>
        </p:nvSpPr>
        <p:spPr>
          <a:xfrm>
            <a:off x="1403350" y="6021388"/>
            <a:ext cx="2376488" cy="0"/>
          </a:xfrm>
          <a:prstGeom prst="line">
            <a:avLst/>
          </a:prstGeom>
          <a:ln w="9525" cap="flat" cmpd="sng">
            <a:solidFill>
              <a:schemeClr val="tx1"/>
            </a:solidFill>
            <a:prstDash val="solid"/>
            <a:headEnd type="none" w="med" len="med"/>
            <a:tailEnd type="triangle" w="med" len="med"/>
          </a:ln>
        </p:spPr>
      </p:sp>
      <p:sp>
        <p:nvSpPr>
          <p:cNvPr id="123909" name="直接连接符 123908"/>
          <p:cNvSpPr/>
          <p:nvPr/>
        </p:nvSpPr>
        <p:spPr>
          <a:xfrm flipV="1">
            <a:off x="1403350" y="3644900"/>
            <a:ext cx="0" cy="2376488"/>
          </a:xfrm>
          <a:prstGeom prst="line">
            <a:avLst/>
          </a:prstGeom>
          <a:ln w="9525" cap="flat" cmpd="sng">
            <a:solidFill>
              <a:schemeClr val="tx1"/>
            </a:solidFill>
            <a:prstDash val="solid"/>
            <a:headEnd type="none" w="med" len="med"/>
            <a:tailEnd type="triangle" w="med" len="med"/>
          </a:ln>
        </p:spPr>
      </p:sp>
      <p:sp>
        <p:nvSpPr>
          <p:cNvPr id="123910" name="直接连接符 123909"/>
          <p:cNvSpPr/>
          <p:nvPr/>
        </p:nvSpPr>
        <p:spPr>
          <a:xfrm>
            <a:off x="4500563" y="6021388"/>
            <a:ext cx="2735262" cy="0"/>
          </a:xfrm>
          <a:prstGeom prst="line">
            <a:avLst/>
          </a:prstGeom>
          <a:ln w="9525" cap="flat" cmpd="sng">
            <a:solidFill>
              <a:schemeClr val="tx1"/>
            </a:solidFill>
            <a:prstDash val="solid"/>
            <a:headEnd type="none" w="med" len="med"/>
            <a:tailEnd type="triangle" w="med" len="med"/>
          </a:ln>
        </p:spPr>
      </p:sp>
      <p:sp>
        <p:nvSpPr>
          <p:cNvPr id="123911" name="直接连接符 123910"/>
          <p:cNvSpPr/>
          <p:nvPr/>
        </p:nvSpPr>
        <p:spPr>
          <a:xfrm flipV="1">
            <a:off x="4500563" y="2708275"/>
            <a:ext cx="0" cy="3313113"/>
          </a:xfrm>
          <a:prstGeom prst="line">
            <a:avLst/>
          </a:prstGeom>
          <a:ln w="9525" cap="flat" cmpd="sng">
            <a:solidFill>
              <a:schemeClr val="tx1"/>
            </a:solidFill>
            <a:prstDash val="solid"/>
            <a:headEnd type="none" w="med" len="med"/>
            <a:tailEnd type="triangle" w="med" len="med"/>
          </a:ln>
        </p:spPr>
      </p:sp>
      <p:sp>
        <p:nvSpPr>
          <p:cNvPr id="123912" name="直接连接符 123911"/>
          <p:cNvSpPr/>
          <p:nvPr/>
        </p:nvSpPr>
        <p:spPr>
          <a:xfrm>
            <a:off x="3348038" y="3716338"/>
            <a:ext cx="0" cy="649287"/>
          </a:xfrm>
          <a:prstGeom prst="line">
            <a:avLst/>
          </a:prstGeom>
          <a:ln w="28575" cap="flat" cmpd="sng">
            <a:solidFill>
              <a:schemeClr val="tx1"/>
            </a:solidFill>
            <a:prstDash val="solid"/>
            <a:headEnd type="none" w="med" len="med"/>
            <a:tailEnd type="none" w="med" len="med"/>
          </a:ln>
        </p:spPr>
      </p:sp>
      <p:sp>
        <p:nvSpPr>
          <p:cNvPr id="123913" name="直接连接符 123912"/>
          <p:cNvSpPr/>
          <p:nvPr/>
        </p:nvSpPr>
        <p:spPr>
          <a:xfrm>
            <a:off x="6588125" y="2997200"/>
            <a:ext cx="0" cy="1368425"/>
          </a:xfrm>
          <a:prstGeom prst="line">
            <a:avLst/>
          </a:prstGeom>
          <a:ln w="28575" cap="flat" cmpd="sng">
            <a:solidFill>
              <a:schemeClr val="tx1"/>
            </a:solidFill>
            <a:prstDash val="solid"/>
            <a:headEnd type="none" w="med" len="med"/>
            <a:tailEnd type="none" w="med" len="med"/>
          </a:ln>
        </p:spPr>
      </p:sp>
      <p:sp>
        <p:nvSpPr>
          <p:cNvPr id="123914" name="直接连接符 123913"/>
          <p:cNvSpPr/>
          <p:nvPr/>
        </p:nvSpPr>
        <p:spPr>
          <a:xfrm>
            <a:off x="1403350" y="5445125"/>
            <a:ext cx="792163" cy="0"/>
          </a:xfrm>
          <a:prstGeom prst="line">
            <a:avLst/>
          </a:prstGeom>
          <a:ln w="28575" cap="flat" cmpd="sng">
            <a:solidFill>
              <a:schemeClr val="tx1"/>
            </a:solidFill>
            <a:prstDash val="solid"/>
            <a:headEnd type="none" w="med" len="med"/>
            <a:tailEnd type="none" w="med" len="med"/>
          </a:ln>
        </p:spPr>
      </p:sp>
      <p:sp>
        <p:nvSpPr>
          <p:cNvPr id="123915" name="直接连接符 123914"/>
          <p:cNvSpPr/>
          <p:nvPr/>
        </p:nvSpPr>
        <p:spPr>
          <a:xfrm>
            <a:off x="4500563" y="5445125"/>
            <a:ext cx="935037" cy="0"/>
          </a:xfrm>
          <a:prstGeom prst="line">
            <a:avLst/>
          </a:prstGeom>
          <a:ln w="28575" cap="flat" cmpd="sng">
            <a:solidFill>
              <a:schemeClr val="tx1"/>
            </a:solidFill>
            <a:prstDash val="solid"/>
            <a:headEnd type="none" w="med" len="med"/>
            <a:tailEnd type="none" w="med" len="med"/>
          </a:ln>
        </p:spPr>
      </p:sp>
      <p:sp>
        <p:nvSpPr>
          <p:cNvPr id="123916" name="任意多边形 123915"/>
          <p:cNvSpPr/>
          <p:nvPr/>
        </p:nvSpPr>
        <p:spPr>
          <a:xfrm flipV="1">
            <a:off x="2195513" y="4365625"/>
            <a:ext cx="1152525" cy="107950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123917" name="任意多边形 123916"/>
          <p:cNvSpPr/>
          <p:nvPr/>
        </p:nvSpPr>
        <p:spPr>
          <a:xfrm flipV="1">
            <a:off x="5435600" y="4365625"/>
            <a:ext cx="1152525" cy="107950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123918" name="直接连接符 123917"/>
          <p:cNvSpPr/>
          <p:nvPr/>
        </p:nvSpPr>
        <p:spPr>
          <a:xfrm>
            <a:off x="1908175" y="4365625"/>
            <a:ext cx="1150938" cy="1439863"/>
          </a:xfrm>
          <a:prstGeom prst="line">
            <a:avLst/>
          </a:prstGeom>
          <a:ln w="28575" cap="flat" cmpd="sng">
            <a:solidFill>
              <a:schemeClr val="tx1"/>
            </a:solidFill>
            <a:prstDash val="solid"/>
            <a:headEnd type="none" w="med" len="med"/>
            <a:tailEnd type="none" w="med" len="med"/>
          </a:ln>
        </p:spPr>
      </p:sp>
      <p:sp>
        <p:nvSpPr>
          <p:cNvPr id="123919" name="直接连接符 123918"/>
          <p:cNvSpPr/>
          <p:nvPr/>
        </p:nvSpPr>
        <p:spPr>
          <a:xfrm>
            <a:off x="2339975" y="3933825"/>
            <a:ext cx="1152525" cy="1439863"/>
          </a:xfrm>
          <a:prstGeom prst="line">
            <a:avLst/>
          </a:prstGeom>
          <a:ln w="28575" cap="flat" cmpd="sng">
            <a:solidFill>
              <a:schemeClr val="tx1"/>
            </a:solidFill>
            <a:prstDash val="solid"/>
            <a:headEnd type="none" w="med" len="med"/>
            <a:tailEnd type="none" w="med" len="med"/>
          </a:ln>
        </p:spPr>
      </p:sp>
      <p:sp>
        <p:nvSpPr>
          <p:cNvPr id="123920" name="直接连接符 123919"/>
          <p:cNvSpPr/>
          <p:nvPr/>
        </p:nvSpPr>
        <p:spPr>
          <a:xfrm>
            <a:off x="5364163" y="3213100"/>
            <a:ext cx="1944687" cy="1800225"/>
          </a:xfrm>
          <a:prstGeom prst="line">
            <a:avLst/>
          </a:prstGeom>
          <a:ln w="28575" cap="flat" cmpd="sng">
            <a:solidFill>
              <a:schemeClr val="tx1"/>
            </a:solidFill>
            <a:prstDash val="solid"/>
            <a:headEnd type="none" w="med" len="med"/>
            <a:tailEnd type="none" w="med" len="med"/>
          </a:ln>
        </p:spPr>
      </p:sp>
      <p:sp>
        <p:nvSpPr>
          <p:cNvPr id="123921" name="直接连接符 123920"/>
          <p:cNvSpPr/>
          <p:nvPr/>
        </p:nvSpPr>
        <p:spPr>
          <a:xfrm>
            <a:off x="6011863" y="2852738"/>
            <a:ext cx="1873250" cy="1655762"/>
          </a:xfrm>
          <a:prstGeom prst="line">
            <a:avLst/>
          </a:prstGeom>
          <a:ln w="28575" cap="flat" cmpd="sng">
            <a:solidFill>
              <a:schemeClr val="tx1"/>
            </a:solidFill>
            <a:prstDash val="solid"/>
            <a:headEnd type="none" w="med" len="med"/>
            <a:tailEnd type="none" w="med" len="med"/>
          </a:ln>
        </p:spPr>
      </p:sp>
      <p:sp>
        <p:nvSpPr>
          <p:cNvPr id="123922" name="直接连接符 123921"/>
          <p:cNvSpPr/>
          <p:nvPr/>
        </p:nvSpPr>
        <p:spPr>
          <a:xfrm flipH="1">
            <a:off x="1403350" y="5373688"/>
            <a:ext cx="1296988" cy="0"/>
          </a:xfrm>
          <a:prstGeom prst="line">
            <a:avLst/>
          </a:prstGeom>
          <a:ln w="9525" cap="flat" cmpd="sng">
            <a:solidFill>
              <a:schemeClr val="tx1"/>
            </a:solidFill>
            <a:prstDash val="sysDot"/>
            <a:headEnd type="none" w="med" len="med"/>
            <a:tailEnd type="none" w="med" len="med"/>
          </a:ln>
        </p:spPr>
      </p:sp>
      <p:sp>
        <p:nvSpPr>
          <p:cNvPr id="123923" name="直接连接符 123922"/>
          <p:cNvSpPr/>
          <p:nvPr/>
        </p:nvSpPr>
        <p:spPr>
          <a:xfrm flipH="1">
            <a:off x="1403350" y="4941888"/>
            <a:ext cx="1728788" cy="0"/>
          </a:xfrm>
          <a:prstGeom prst="line">
            <a:avLst/>
          </a:prstGeom>
          <a:ln w="9525" cap="flat" cmpd="sng">
            <a:solidFill>
              <a:schemeClr val="tx1"/>
            </a:solidFill>
            <a:prstDash val="sysDot"/>
            <a:headEnd type="none" w="med" len="med"/>
            <a:tailEnd type="none" w="med" len="med"/>
          </a:ln>
        </p:spPr>
      </p:sp>
      <p:sp>
        <p:nvSpPr>
          <p:cNvPr id="123924" name="直接连接符 123923"/>
          <p:cNvSpPr/>
          <p:nvPr/>
        </p:nvSpPr>
        <p:spPr>
          <a:xfrm>
            <a:off x="2700338" y="5300663"/>
            <a:ext cx="0" cy="720725"/>
          </a:xfrm>
          <a:prstGeom prst="line">
            <a:avLst/>
          </a:prstGeom>
          <a:ln w="9525" cap="flat" cmpd="sng">
            <a:solidFill>
              <a:schemeClr val="tx1"/>
            </a:solidFill>
            <a:prstDash val="sysDot"/>
            <a:headEnd type="none" w="med" len="med"/>
            <a:tailEnd type="none" w="med" len="med"/>
          </a:ln>
        </p:spPr>
      </p:sp>
      <p:sp>
        <p:nvSpPr>
          <p:cNvPr id="123925" name="直接连接符 123924"/>
          <p:cNvSpPr/>
          <p:nvPr/>
        </p:nvSpPr>
        <p:spPr>
          <a:xfrm>
            <a:off x="3132138" y="4941888"/>
            <a:ext cx="0" cy="1079500"/>
          </a:xfrm>
          <a:prstGeom prst="line">
            <a:avLst/>
          </a:prstGeom>
          <a:ln w="9525" cap="flat" cmpd="sng">
            <a:solidFill>
              <a:schemeClr val="tx1"/>
            </a:solidFill>
            <a:prstDash val="sysDot"/>
            <a:headEnd type="none" w="med" len="med"/>
            <a:tailEnd type="none" w="med" len="med"/>
          </a:ln>
        </p:spPr>
      </p:sp>
      <p:sp>
        <p:nvSpPr>
          <p:cNvPr id="123926" name="直接连接符 123925"/>
          <p:cNvSpPr/>
          <p:nvPr/>
        </p:nvSpPr>
        <p:spPr>
          <a:xfrm flipV="1">
            <a:off x="1547813" y="4941888"/>
            <a:ext cx="0" cy="431800"/>
          </a:xfrm>
          <a:prstGeom prst="line">
            <a:avLst/>
          </a:prstGeom>
          <a:ln w="38100" cap="flat" cmpd="sng">
            <a:solidFill>
              <a:schemeClr val="folHlink"/>
            </a:solidFill>
            <a:prstDash val="solid"/>
            <a:headEnd type="none" w="med" len="med"/>
            <a:tailEnd type="triangle" w="med" len="med"/>
          </a:ln>
        </p:spPr>
      </p:sp>
      <p:sp>
        <p:nvSpPr>
          <p:cNvPr id="123927" name="直接连接符 123926"/>
          <p:cNvSpPr/>
          <p:nvPr/>
        </p:nvSpPr>
        <p:spPr>
          <a:xfrm>
            <a:off x="2700338" y="5876925"/>
            <a:ext cx="431800" cy="0"/>
          </a:xfrm>
          <a:prstGeom prst="line">
            <a:avLst/>
          </a:prstGeom>
          <a:ln w="38100" cap="flat" cmpd="sng">
            <a:solidFill>
              <a:schemeClr val="folHlink"/>
            </a:solidFill>
            <a:prstDash val="solid"/>
            <a:headEnd type="none" w="med" len="med"/>
            <a:tailEnd type="triangle" w="med" len="med"/>
          </a:ln>
        </p:spPr>
      </p:sp>
      <p:sp>
        <p:nvSpPr>
          <p:cNvPr id="123928" name="直接连接符 123927"/>
          <p:cNvSpPr/>
          <p:nvPr/>
        </p:nvSpPr>
        <p:spPr>
          <a:xfrm flipH="1">
            <a:off x="6588125" y="4365625"/>
            <a:ext cx="0" cy="1655763"/>
          </a:xfrm>
          <a:prstGeom prst="line">
            <a:avLst/>
          </a:prstGeom>
          <a:ln w="9525" cap="flat" cmpd="sng">
            <a:solidFill>
              <a:schemeClr val="tx1"/>
            </a:solidFill>
            <a:prstDash val="sysDot"/>
            <a:headEnd type="none" w="med" len="med"/>
            <a:tailEnd type="none" w="med" len="med"/>
          </a:ln>
        </p:spPr>
      </p:sp>
      <p:sp>
        <p:nvSpPr>
          <p:cNvPr id="123929" name="直接连接符 123928"/>
          <p:cNvSpPr/>
          <p:nvPr/>
        </p:nvSpPr>
        <p:spPr>
          <a:xfrm flipH="1">
            <a:off x="4500563" y="3357563"/>
            <a:ext cx="2087562" cy="0"/>
          </a:xfrm>
          <a:prstGeom prst="line">
            <a:avLst/>
          </a:prstGeom>
          <a:ln w="9525" cap="flat" cmpd="sng">
            <a:solidFill>
              <a:schemeClr val="tx1"/>
            </a:solidFill>
            <a:prstDash val="sysDot"/>
            <a:headEnd type="none" w="med" len="med"/>
            <a:tailEnd type="none" w="med" len="med"/>
          </a:ln>
        </p:spPr>
      </p:sp>
      <p:sp>
        <p:nvSpPr>
          <p:cNvPr id="123930" name="直接连接符 123929"/>
          <p:cNvSpPr/>
          <p:nvPr/>
        </p:nvSpPr>
        <p:spPr>
          <a:xfrm flipH="1">
            <a:off x="4500563" y="4292600"/>
            <a:ext cx="2087562" cy="0"/>
          </a:xfrm>
          <a:prstGeom prst="line">
            <a:avLst/>
          </a:prstGeom>
          <a:ln w="9525" cap="flat" cmpd="sng">
            <a:solidFill>
              <a:schemeClr val="tx1"/>
            </a:solidFill>
            <a:prstDash val="sysDot"/>
            <a:headEnd type="none" w="med" len="med"/>
            <a:tailEnd type="none" w="med" len="med"/>
          </a:ln>
        </p:spPr>
      </p:sp>
      <p:sp>
        <p:nvSpPr>
          <p:cNvPr id="123931" name="直接连接符 123930"/>
          <p:cNvSpPr/>
          <p:nvPr/>
        </p:nvSpPr>
        <p:spPr>
          <a:xfrm flipV="1">
            <a:off x="4787900" y="3357563"/>
            <a:ext cx="0" cy="935037"/>
          </a:xfrm>
          <a:prstGeom prst="line">
            <a:avLst/>
          </a:prstGeom>
          <a:ln w="38100" cap="flat" cmpd="sng">
            <a:solidFill>
              <a:schemeClr val="folHlink"/>
            </a:solidFill>
            <a:prstDash val="solid"/>
            <a:headEnd type="none" w="med" len="med"/>
            <a:tailEnd type="triangle" w="med" len="med"/>
          </a:ln>
        </p:spPr>
      </p:sp>
      <p:sp>
        <p:nvSpPr>
          <p:cNvPr id="123932" name="文本框 123931"/>
          <p:cNvSpPr txBox="1"/>
          <p:nvPr/>
        </p:nvSpPr>
        <p:spPr>
          <a:xfrm>
            <a:off x="1295400" y="3124200"/>
            <a:ext cx="2117725" cy="366713"/>
          </a:xfrm>
          <a:prstGeom prst="rect">
            <a:avLst/>
          </a:prstGeom>
          <a:noFill/>
          <a:ln w="9525">
            <a:noFill/>
          </a:ln>
        </p:spPr>
        <p:txBody>
          <a:bodyPr>
            <a:spAutoFit/>
          </a:bodyPr>
          <a:p>
            <a:pPr>
              <a:lnSpc>
                <a:spcPct val="100000"/>
              </a:lnSpc>
              <a:spcBef>
                <a:spcPct val="50000"/>
              </a:spcBef>
            </a:pPr>
            <a:r>
              <a:rPr lang="zh-CN" altLang="en-US" sz="1800" b="0" dirty="0">
                <a:solidFill>
                  <a:srgbClr val="000000"/>
                </a:solidFill>
                <a:latin typeface="Arial" panose="020B0604020202020204" pitchFamily="34" charset="0"/>
              </a:rPr>
              <a:t>瓶颈式的通货膨胀</a:t>
            </a:r>
            <a:endParaRPr lang="zh-CN" altLang="en-US" sz="1800" b="0" dirty="0">
              <a:solidFill>
                <a:srgbClr val="000000"/>
              </a:solidFill>
              <a:latin typeface="Arial" panose="020B0604020202020204" pitchFamily="34" charset="0"/>
            </a:endParaRPr>
          </a:p>
        </p:txBody>
      </p:sp>
      <p:sp>
        <p:nvSpPr>
          <p:cNvPr id="123933" name="文本框 123932"/>
          <p:cNvSpPr txBox="1"/>
          <p:nvPr/>
        </p:nvSpPr>
        <p:spPr>
          <a:xfrm>
            <a:off x="4500563" y="4508500"/>
            <a:ext cx="1943100" cy="366713"/>
          </a:xfrm>
          <a:prstGeom prst="rect">
            <a:avLst/>
          </a:prstGeom>
          <a:noFill/>
          <a:ln w="9525">
            <a:noFill/>
          </a:ln>
        </p:spPr>
        <p:txBody>
          <a:bodyPr>
            <a:spAutoFit/>
          </a:bodyPr>
          <a:p>
            <a:pPr>
              <a:lnSpc>
                <a:spcPct val="100000"/>
              </a:lnSpc>
              <a:spcBef>
                <a:spcPct val="50000"/>
              </a:spcBef>
            </a:pPr>
            <a:r>
              <a:rPr lang="zh-CN" altLang="en-US" sz="1800" b="0" dirty="0">
                <a:solidFill>
                  <a:srgbClr val="000000"/>
                </a:solidFill>
                <a:latin typeface="Arial" panose="020B0604020202020204" pitchFamily="34" charset="0"/>
              </a:rPr>
              <a:t>真正的通货膨胀</a:t>
            </a:r>
            <a:endParaRPr lang="zh-CN" altLang="en-US" sz="1800" b="0" dirty="0">
              <a:solidFill>
                <a:srgbClr val="000000"/>
              </a:solidFill>
              <a:latin typeface="Arial" panose="020B0604020202020204" pitchFamily="34" charset="0"/>
            </a:endParaRPr>
          </a:p>
        </p:txBody>
      </p:sp>
      <p:sp>
        <p:nvSpPr>
          <p:cNvPr id="123934" name="文本框 123933"/>
          <p:cNvSpPr txBox="1"/>
          <p:nvPr/>
        </p:nvSpPr>
        <p:spPr>
          <a:xfrm>
            <a:off x="3779838" y="5734050"/>
            <a:ext cx="431800"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Y</a:t>
            </a:r>
            <a:endParaRPr lang="en-US" altLang="zh-CN" sz="1800" b="0">
              <a:latin typeface="Arial" panose="020B0604020202020204" pitchFamily="34" charset="0"/>
            </a:endParaRPr>
          </a:p>
        </p:txBody>
      </p:sp>
      <p:sp>
        <p:nvSpPr>
          <p:cNvPr id="123935" name="文本框 123934"/>
          <p:cNvSpPr txBox="1"/>
          <p:nvPr/>
        </p:nvSpPr>
        <p:spPr>
          <a:xfrm>
            <a:off x="7235825" y="5876925"/>
            <a:ext cx="72072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Y</a:t>
            </a:r>
            <a:endParaRPr lang="en-US" altLang="zh-CN" sz="1800" b="0">
              <a:latin typeface="Arial" panose="020B0604020202020204" pitchFamily="34" charset="0"/>
            </a:endParaRPr>
          </a:p>
        </p:txBody>
      </p:sp>
      <p:sp>
        <p:nvSpPr>
          <p:cNvPr id="123936" name="文本框 123935"/>
          <p:cNvSpPr txBox="1"/>
          <p:nvPr/>
        </p:nvSpPr>
        <p:spPr>
          <a:xfrm>
            <a:off x="4500563" y="2636838"/>
            <a:ext cx="431800"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P</a:t>
            </a:r>
            <a:endParaRPr lang="en-US" altLang="zh-CN" sz="1800" b="0">
              <a:latin typeface="Arial" panose="020B0604020202020204" pitchFamily="34" charset="0"/>
            </a:endParaRPr>
          </a:p>
        </p:txBody>
      </p:sp>
      <p:sp>
        <p:nvSpPr>
          <p:cNvPr id="123937" name="文本框 123936"/>
          <p:cNvSpPr txBox="1"/>
          <p:nvPr/>
        </p:nvSpPr>
        <p:spPr>
          <a:xfrm>
            <a:off x="1042988" y="3573463"/>
            <a:ext cx="649287"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P</a:t>
            </a:r>
            <a:endParaRPr lang="en-US" altLang="zh-CN" sz="1800" b="0">
              <a:latin typeface="Arial" panose="020B0604020202020204" pitchFamily="34" charset="0"/>
            </a:endParaRPr>
          </a:p>
        </p:txBody>
      </p:sp>
      <p:sp>
        <p:nvSpPr>
          <p:cNvPr id="123938" name="文本框 123937"/>
          <p:cNvSpPr txBox="1"/>
          <p:nvPr/>
        </p:nvSpPr>
        <p:spPr>
          <a:xfrm>
            <a:off x="3419475" y="3500438"/>
            <a:ext cx="792163"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AS</a:t>
            </a:r>
            <a:endParaRPr lang="en-US" altLang="zh-CN" sz="1800" b="0">
              <a:latin typeface="Arial" panose="020B0604020202020204" pitchFamily="34" charset="0"/>
            </a:endParaRPr>
          </a:p>
        </p:txBody>
      </p:sp>
      <p:sp>
        <p:nvSpPr>
          <p:cNvPr id="123939" name="文本框 123938"/>
          <p:cNvSpPr txBox="1"/>
          <p:nvPr/>
        </p:nvSpPr>
        <p:spPr>
          <a:xfrm>
            <a:off x="6588125" y="2924175"/>
            <a:ext cx="115252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AS</a:t>
            </a:r>
            <a:endParaRPr lang="en-US" altLang="zh-CN" sz="1800" b="0">
              <a:latin typeface="Arial" panose="020B0604020202020204" pitchFamily="34" charset="0"/>
            </a:endParaRPr>
          </a:p>
        </p:txBody>
      </p:sp>
      <p:sp>
        <p:nvSpPr>
          <p:cNvPr id="123940" name="文本框 123939"/>
          <p:cNvSpPr txBox="1"/>
          <p:nvPr/>
        </p:nvSpPr>
        <p:spPr>
          <a:xfrm>
            <a:off x="7380288" y="4797425"/>
            <a:ext cx="72072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AD</a:t>
            </a:r>
            <a:r>
              <a:rPr lang="en-US" altLang="zh-CN" sz="1800" b="0" baseline="-12000">
                <a:latin typeface="Arial" panose="020B0604020202020204" pitchFamily="34" charset="0"/>
              </a:rPr>
              <a:t>1</a:t>
            </a:r>
            <a:endParaRPr lang="en-US" altLang="zh-CN" sz="1800" b="0" baseline="-12000">
              <a:latin typeface="Arial" panose="020B0604020202020204" pitchFamily="34" charset="0"/>
            </a:endParaRPr>
          </a:p>
        </p:txBody>
      </p:sp>
      <p:sp>
        <p:nvSpPr>
          <p:cNvPr id="123941" name="文本框 123940"/>
          <p:cNvSpPr txBox="1"/>
          <p:nvPr/>
        </p:nvSpPr>
        <p:spPr>
          <a:xfrm>
            <a:off x="7667625" y="4149725"/>
            <a:ext cx="1225550"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AD</a:t>
            </a:r>
            <a:r>
              <a:rPr lang="en-US" altLang="zh-CN" sz="1800" b="0" baseline="-12000">
                <a:latin typeface="Arial" panose="020B0604020202020204" pitchFamily="34" charset="0"/>
              </a:rPr>
              <a:t>2</a:t>
            </a:r>
            <a:endParaRPr lang="en-US" altLang="zh-CN" sz="1800" b="0" baseline="-12000">
              <a:latin typeface="Arial" panose="020B0604020202020204" pitchFamily="34" charset="0"/>
            </a:endParaRPr>
          </a:p>
        </p:txBody>
      </p:sp>
      <p:sp>
        <p:nvSpPr>
          <p:cNvPr id="123942" name="文本框 123941"/>
          <p:cNvSpPr txBox="1"/>
          <p:nvPr/>
        </p:nvSpPr>
        <p:spPr>
          <a:xfrm>
            <a:off x="2987675" y="5445125"/>
            <a:ext cx="1296988"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AD</a:t>
            </a:r>
            <a:r>
              <a:rPr lang="en-US" altLang="zh-CN" sz="1800" b="0" baseline="-12000">
                <a:latin typeface="Arial" panose="020B0604020202020204" pitchFamily="34" charset="0"/>
              </a:rPr>
              <a:t>1</a:t>
            </a:r>
            <a:endParaRPr lang="en-US" altLang="zh-CN" sz="1800" b="0" baseline="-12000">
              <a:latin typeface="Arial" panose="020B0604020202020204" pitchFamily="34" charset="0"/>
            </a:endParaRPr>
          </a:p>
        </p:txBody>
      </p:sp>
      <p:sp>
        <p:nvSpPr>
          <p:cNvPr id="123943" name="文本框 123942"/>
          <p:cNvSpPr txBox="1"/>
          <p:nvPr/>
        </p:nvSpPr>
        <p:spPr>
          <a:xfrm>
            <a:off x="3419475" y="4868863"/>
            <a:ext cx="936625"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AD</a:t>
            </a:r>
            <a:r>
              <a:rPr lang="en-US" altLang="zh-CN" sz="1800" b="0" baseline="-12000">
                <a:latin typeface="Arial" panose="020B0604020202020204" pitchFamily="34" charset="0"/>
              </a:rPr>
              <a:t>2</a:t>
            </a:r>
            <a:endParaRPr lang="en-US" altLang="zh-CN" sz="1800" b="0" baseline="-12000">
              <a:latin typeface="Arial" panose="020B0604020202020204" pitchFamily="34" charset="0"/>
            </a:endParaRPr>
          </a:p>
        </p:txBody>
      </p:sp>
    </p:spTree>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标题 125953"/>
          <p:cNvSpPr>
            <a:spLocks noGrp="1"/>
          </p:cNvSpPr>
          <p:nvPr>
            <p:ph type="title"/>
          </p:nvPr>
        </p:nvSpPr>
        <p:spPr>
          <a:xfrm>
            <a:off x="179388" y="228600"/>
            <a:ext cx="8662987" cy="1400175"/>
          </a:xfrm>
          <a:ln/>
        </p:spPr>
        <p:txBody>
          <a:bodyPr anchor="ctr" anchorCtr="0"/>
          <a:p>
            <a:r>
              <a:rPr lang="zh-CN" altLang="en-US" sz="4000" b="1" dirty="0"/>
              <a:t>成本推动的通货膨胀</a:t>
            </a:r>
            <a:endParaRPr lang="zh-CN" altLang="en-US" sz="4000" b="1" dirty="0"/>
          </a:p>
        </p:txBody>
      </p:sp>
      <p:sp>
        <p:nvSpPr>
          <p:cNvPr id="125955" name="文本占位符 125954"/>
          <p:cNvSpPr>
            <a:spLocks noGrp="1"/>
          </p:cNvSpPr>
          <p:nvPr>
            <p:ph type="body" idx="1"/>
          </p:nvPr>
        </p:nvSpPr>
        <p:spPr>
          <a:xfrm>
            <a:off x="381000" y="1989138"/>
            <a:ext cx="7165975" cy="4243387"/>
          </a:xfrm>
          <a:ln/>
        </p:spPr>
        <p:txBody>
          <a:bodyPr/>
          <a:p>
            <a:pPr>
              <a:lnSpc>
                <a:spcPct val="125000"/>
              </a:lnSpc>
            </a:pPr>
            <a:r>
              <a:rPr lang="zh-CN" altLang="en-US" dirty="0"/>
              <a:t>又称成本通货膨胀或供给通货膨胀，是指在没有超额需求的情况下由于供给方面成本提高所引起的一般价格水平持续和显著的上涨。</a:t>
            </a:r>
            <a:endParaRPr lang="zh-CN" altLang="en-US" dirty="0"/>
          </a:p>
          <a:p>
            <a:pPr>
              <a:lnSpc>
                <a:spcPct val="125000"/>
              </a:lnSpc>
              <a:buNone/>
            </a:pPr>
            <a:endParaRPr lang="zh-CN" altLang="en-US" sz="2800" dirty="0"/>
          </a:p>
        </p:txBody>
      </p:sp>
    </p:spTree>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标题 126977"/>
          <p:cNvSpPr>
            <a:spLocks noGrp="1"/>
          </p:cNvSpPr>
          <p:nvPr>
            <p:ph type="title"/>
          </p:nvPr>
        </p:nvSpPr>
        <p:spPr>
          <a:xfrm>
            <a:off x="179388" y="228600"/>
            <a:ext cx="8583612" cy="838200"/>
          </a:xfrm>
          <a:ln/>
        </p:spPr>
        <p:txBody>
          <a:bodyPr anchor="ctr" anchorCtr="0"/>
          <a:p>
            <a:r>
              <a:rPr lang="zh-CN" altLang="en-US" sz="4000" dirty="0"/>
              <a:t>成本推动的通货膨胀</a:t>
            </a:r>
            <a:endParaRPr lang="zh-CN" altLang="en-US" sz="4000" dirty="0"/>
          </a:p>
        </p:txBody>
      </p:sp>
      <p:sp>
        <p:nvSpPr>
          <p:cNvPr id="126979" name="任意多边形 126978"/>
          <p:cNvSpPr/>
          <p:nvPr/>
        </p:nvSpPr>
        <p:spPr>
          <a:xfrm flipV="1">
            <a:off x="4800600" y="1295400"/>
            <a:ext cx="2395538" cy="2971800"/>
          </a:xfrm>
          <a:custGeom>
            <a:avLst/>
            <a:gdLst>
              <a:gd name="txL" fmla="*/ 0 w 21135"/>
              <a:gd name="txT" fmla="*/ 0 h 21231"/>
              <a:gd name="txR" fmla="*/ 21135 w 21135"/>
              <a:gd name="txB" fmla="*/ 21231 h 21231"/>
            </a:gdLst>
            <a:ahLst/>
            <a:cxnLst>
              <a:cxn ang="270">
                <a:pos x="3973" y="0"/>
              </a:cxn>
              <a:cxn ang="0">
                <a:pos x="21134" y="16771"/>
              </a:cxn>
              <a:cxn ang="180">
                <a:pos x="0" y="21231"/>
              </a:cxn>
            </a:cxnLst>
            <a:rect l="txL" t="txT" r="txR" b="txB"/>
            <a:pathLst>
              <a:path w="21135" h="21231" fill="none">
                <a:moveTo>
                  <a:pt x="3973" y="0"/>
                </a:moveTo>
                <a:arcTo wR="21600" hR="21600" stAng="-4764043" swAng="4049051"/>
              </a:path>
              <a:path w="21135" h="21231" stroke="0">
                <a:moveTo>
                  <a:pt x="3973" y="0"/>
                </a:moveTo>
                <a:arcTo wR="21600" hR="21600" stAng="-4764043" swAng="4049051"/>
                <a:lnTo>
                  <a:pt x="0" y="21231"/>
                </a:lnTo>
                <a:close/>
              </a:path>
            </a:pathLst>
          </a:custGeom>
          <a:noFill/>
          <a:ln w="28575" cap="flat" cmpd="sng">
            <a:solidFill>
              <a:srgbClr val="000000"/>
            </a:solidFill>
            <a:prstDash val="solid"/>
            <a:headEnd type="none" w="med" len="med"/>
            <a:tailEnd type="none" w="med" len="med"/>
          </a:ln>
        </p:spPr>
        <p:txBody>
          <a:bodyPr rot="10800000" wrap="none" anchor="ctr" anchorCtr="0"/>
          <a:p>
            <a:pPr algn="ctr">
              <a:lnSpc>
                <a:spcPct val="100000"/>
              </a:lnSpc>
              <a:spcBef>
                <a:spcPct val="0"/>
              </a:spcBef>
            </a:pPr>
            <a:endParaRPr sz="2400" b="0" dirty="0">
              <a:solidFill>
                <a:srgbClr val="000000"/>
              </a:solidFill>
              <a:latin typeface="Tahoma" panose="020B0604030504040204" pitchFamily="34" charset="0"/>
            </a:endParaRPr>
          </a:p>
        </p:txBody>
      </p:sp>
      <p:grpSp>
        <p:nvGrpSpPr>
          <p:cNvPr id="126980" name="组合 126979"/>
          <p:cNvGrpSpPr/>
          <p:nvPr/>
        </p:nvGrpSpPr>
        <p:grpSpPr>
          <a:xfrm>
            <a:off x="4932363" y="1773238"/>
            <a:ext cx="3671887" cy="3894137"/>
            <a:chOff x="3107" y="1117"/>
            <a:chExt cx="2313" cy="2453"/>
          </a:xfrm>
        </p:grpSpPr>
        <p:sp>
          <p:nvSpPr>
            <p:cNvPr id="126981" name="直接连接符 126980"/>
            <p:cNvSpPr/>
            <p:nvPr/>
          </p:nvSpPr>
          <p:spPr>
            <a:xfrm>
              <a:off x="3107" y="3475"/>
              <a:ext cx="2041" cy="0"/>
            </a:xfrm>
            <a:prstGeom prst="line">
              <a:avLst/>
            </a:prstGeom>
            <a:ln w="9525" cap="flat" cmpd="sng">
              <a:solidFill>
                <a:schemeClr val="tx1"/>
              </a:solidFill>
              <a:prstDash val="solid"/>
              <a:headEnd type="none" w="med" len="med"/>
              <a:tailEnd type="triangle" w="med" len="med"/>
            </a:ln>
          </p:spPr>
        </p:sp>
        <p:sp>
          <p:nvSpPr>
            <p:cNvPr id="126982" name="直接连接符 126981"/>
            <p:cNvSpPr/>
            <p:nvPr/>
          </p:nvSpPr>
          <p:spPr>
            <a:xfrm flipV="1">
              <a:off x="3107" y="1298"/>
              <a:ext cx="0" cy="2177"/>
            </a:xfrm>
            <a:prstGeom prst="line">
              <a:avLst/>
            </a:prstGeom>
            <a:ln w="9525" cap="flat" cmpd="sng">
              <a:solidFill>
                <a:schemeClr val="tx1"/>
              </a:solidFill>
              <a:prstDash val="solid"/>
              <a:headEnd type="none" w="med" len="med"/>
              <a:tailEnd type="triangle" w="med" len="med"/>
            </a:ln>
          </p:spPr>
        </p:sp>
        <p:sp>
          <p:nvSpPr>
            <p:cNvPr id="126983" name="任意多边形 126982"/>
            <p:cNvSpPr/>
            <p:nvPr/>
          </p:nvSpPr>
          <p:spPr>
            <a:xfrm>
              <a:off x="3371" y="1389"/>
              <a:ext cx="1686" cy="1633"/>
            </a:xfrm>
            <a:custGeom>
              <a:avLst/>
              <a:gdLst/>
              <a:ahLst/>
              <a:cxnLst/>
              <a:pathLst>
                <a:path w="1686" h="1633">
                  <a:moveTo>
                    <a:pt x="8" y="0"/>
                  </a:moveTo>
                  <a:cubicBezTo>
                    <a:pt x="4" y="139"/>
                    <a:pt x="0" y="279"/>
                    <a:pt x="53" y="453"/>
                  </a:cubicBezTo>
                  <a:cubicBezTo>
                    <a:pt x="106" y="627"/>
                    <a:pt x="219" y="892"/>
                    <a:pt x="325" y="1043"/>
                  </a:cubicBezTo>
                  <a:cubicBezTo>
                    <a:pt x="431" y="1194"/>
                    <a:pt x="522" y="1270"/>
                    <a:pt x="688" y="1361"/>
                  </a:cubicBezTo>
                  <a:cubicBezTo>
                    <a:pt x="854" y="1452"/>
                    <a:pt x="1157" y="1542"/>
                    <a:pt x="1323" y="1587"/>
                  </a:cubicBezTo>
                  <a:cubicBezTo>
                    <a:pt x="1489" y="1632"/>
                    <a:pt x="1587" y="1632"/>
                    <a:pt x="1686" y="1633"/>
                  </a:cubicBezTo>
                </a:path>
              </a:pathLst>
            </a:custGeom>
            <a:noFill/>
            <a:ln w="28575" cap="flat" cmpd="sng">
              <a:solidFill>
                <a:schemeClr val="tx1"/>
              </a:solidFill>
              <a:prstDash val="solid"/>
              <a:headEnd type="none" w="med" len="med"/>
              <a:tailEnd type="none" w="med" len="med"/>
            </a:ln>
          </p:spPr>
          <p:txBody>
            <a:bodyPr/>
            <a:p>
              <a:endParaRPr lang="zh-CN" altLang="en-US"/>
            </a:p>
          </p:txBody>
        </p:sp>
        <p:sp>
          <p:nvSpPr>
            <p:cNvPr id="126984" name="任意多边形 126983"/>
            <p:cNvSpPr/>
            <p:nvPr/>
          </p:nvSpPr>
          <p:spPr>
            <a:xfrm flipV="1">
              <a:off x="3379" y="1117"/>
              <a:ext cx="1633" cy="195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126985" name="直接连接符 126984"/>
            <p:cNvSpPr/>
            <p:nvPr/>
          </p:nvSpPr>
          <p:spPr>
            <a:xfrm flipH="1">
              <a:off x="3107" y="2795"/>
              <a:ext cx="1088" cy="0"/>
            </a:xfrm>
            <a:prstGeom prst="line">
              <a:avLst/>
            </a:prstGeom>
            <a:ln w="9525" cap="flat" cmpd="sng">
              <a:solidFill>
                <a:schemeClr val="tx1"/>
              </a:solidFill>
              <a:prstDash val="sysDot"/>
              <a:headEnd type="none" w="med" len="med"/>
              <a:tailEnd type="none" w="med" len="med"/>
            </a:ln>
          </p:spPr>
        </p:sp>
        <p:sp>
          <p:nvSpPr>
            <p:cNvPr id="126986" name="直接连接符 126985"/>
            <p:cNvSpPr/>
            <p:nvPr/>
          </p:nvSpPr>
          <p:spPr>
            <a:xfrm flipH="1">
              <a:off x="3107" y="2478"/>
              <a:ext cx="635" cy="0"/>
            </a:xfrm>
            <a:prstGeom prst="line">
              <a:avLst/>
            </a:prstGeom>
            <a:ln w="9525" cap="flat" cmpd="sng">
              <a:solidFill>
                <a:schemeClr val="folHlink"/>
              </a:solidFill>
              <a:prstDash val="sysDot"/>
              <a:headEnd type="none" w="med" len="med"/>
              <a:tailEnd type="none" w="med" len="med"/>
            </a:ln>
          </p:spPr>
        </p:sp>
        <p:sp>
          <p:nvSpPr>
            <p:cNvPr id="126987" name="直接连接符 126986"/>
            <p:cNvSpPr/>
            <p:nvPr/>
          </p:nvSpPr>
          <p:spPr>
            <a:xfrm>
              <a:off x="3742" y="2478"/>
              <a:ext cx="0" cy="997"/>
            </a:xfrm>
            <a:prstGeom prst="line">
              <a:avLst/>
            </a:prstGeom>
            <a:ln w="9525" cap="flat" cmpd="sng">
              <a:solidFill>
                <a:schemeClr val="folHlink"/>
              </a:solidFill>
              <a:prstDash val="sysDot"/>
              <a:headEnd type="none" w="med" len="med"/>
              <a:tailEnd type="none" w="med" len="med"/>
            </a:ln>
          </p:spPr>
        </p:sp>
        <p:sp>
          <p:nvSpPr>
            <p:cNvPr id="126988" name="直接连接符 126987"/>
            <p:cNvSpPr/>
            <p:nvPr/>
          </p:nvSpPr>
          <p:spPr>
            <a:xfrm>
              <a:off x="4195" y="2795"/>
              <a:ext cx="0" cy="680"/>
            </a:xfrm>
            <a:prstGeom prst="line">
              <a:avLst/>
            </a:prstGeom>
            <a:ln w="9525" cap="flat" cmpd="sng">
              <a:solidFill>
                <a:schemeClr val="tx1"/>
              </a:solidFill>
              <a:prstDash val="sysDot"/>
              <a:headEnd type="none" w="med" len="med"/>
              <a:tailEnd type="none" w="med" len="med"/>
            </a:ln>
          </p:spPr>
        </p:sp>
        <p:sp>
          <p:nvSpPr>
            <p:cNvPr id="126989" name="直接连接符 126988"/>
            <p:cNvSpPr/>
            <p:nvPr/>
          </p:nvSpPr>
          <p:spPr>
            <a:xfrm flipV="1">
              <a:off x="4377" y="1979"/>
              <a:ext cx="0" cy="635"/>
            </a:xfrm>
            <a:prstGeom prst="line">
              <a:avLst/>
            </a:prstGeom>
            <a:ln w="38100" cap="flat" cmpd="sng">
              <a:solidFill>
                <a:srgbClr val="000000"/>
              </a:solidFill>
              <a:prstDash val="solid"/>
              <a:headEnd type="none" w="med" len="med"/>
              <a:tailEnd type="triangle" w="med" len="med"/>
            </a:ln>
          </p:spPr>
        </p:sp>
        <p:sp>
          <p:nvSpPr>
            <p:cNvPr id="126990" name="文本框 126989"/>
            <p:cNvSpPr txBox="1"/>
            <p:nvPr/>
          </p:nvSpPr>
          <p:spPr>
            <a:xfrm>
              <a:off x="5103" y="3339"/>
              <a:ext cx="317" cy="231"/>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Y</a:t>
              </a:r>
              <a:endParaRPr lang="en-US" altLang="zh-CN" sz="1800" b="0">
                <a:latin typeface="Arial" panose="020B0604020202020204" pitchFamily="34" charset="0"/>
              </a:endParaRPr>
            </a:p>
          </p:txBody>
        </p:sp>
        <p:sp>
          <p:nvSpPr>
            <p:cNvPr id="126991" name="文本框 126990"/>
            <p:cNvSpPr txBox="1"/>
            <p:nvPr/>
          </p:nvSpPr>
          <p:spPr>
            <a:xfrm>
              <a:off x="3107" y="1162"/>
              <a:ext cx="635" cy="231"/>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P</a:t>
              </a:r>
              <a:endParaRPr lang="en-US" altLang="zh-CN" sz="1800" b="0">
                <a:latin typeface="Arial" panose="020B0604020202020204" pitchFamily="34" charset="0"/>
              </a:endParaRPr>
            </a:p>
          </p:txBody>
        </p:sp>
        <p:sp>
          <p:nvSpPr>
            <p:cNvPr id="126992" name="文本框 126991"/>
            <p:cNvSpPr txBox="1"/>
            <p:nvPr/>
          </p:nvSpPr>
          <p:spPr>
            <a:xfrm>
              <a:off x="4921" y="1706"/>
              <a:ext cx="453" cy="231"/>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AS</a:t>
              </a:r>
              <a:r>
                <a:rPr lang="en-US" altLang="zh-CN" sz="1800" b="0" baseline="-12000">
                  <a:latin typeface="Arial" panose="020B0604020202020204" pitchFamily="34" charset="0"/>
                </a:rPr>
                <a:t>1</a:t>
              </a:r>
              <a:endParaRPr lang="en-US" altLang="zh-CN" sz="1800" b="0" baseline="-12000">
                <a:latin typeface="Arial" panose="020B0604020202020204" pitchFamily="34" charset="0"/>
              </a:endParaRPr>
            </a:p>
          </p:txBody>
        </p:sp>
        <p:sp>
          <p:nvSpPr>
            <p:cNvPr id="126993" name="文本框 126992"/>
            <p:cNvSpPr txBox="1"/>
            <p:nvPr/>
          </p:nvSpPr>
          <p:spPr>
            <a:xfrm>
              <a:off x="4377" y="1525"/>
              <a:ext cx="453" cy="231"/>
            </a:xfrm>
            <a:prstGeom prst="rect">
              <a:avLst/>
            </a:prstGeom>
            <a:noFill/>
            <a:ln w="9525">
              <a:noFill/>
            </a:ln>
          </p:spPr>
          <p:txBody>
            <a:bodyPr>
              <a:spAutoFit/>
            </a:bodyPr>
            <a:p>
              <a:pPr>
                <a:lnSpc>
                  <a:spcPct val="100000"/>
                </a:lnSpc>
                <a:spcBef>
                  <a:spcPct val="50000"/>
                </a:spcBef>
              </a:pPr>
              <a:r>
                <a:rPr lang="en-US" altLang="zh-CN" sz="1800" b="0">
                  <a:solidFill>
                    <a:srgbClr val="000000"/>
                  </a:solidFill>
                  <a:latin typeface="Arial" panose="020B0604020202020204" pitchFamily="34" charset="0"/>
                </a:rPr>
                <a:t>AS</a:t>
              </a:r>
              <a:r>
                <a:rPr lang="en-US" altLang="zh-CN" sz="1800" b="0" baseline="-12000">
                  <a:solidFill>
                    <a:srgbClr val="000000"/>
                  </a:solidFill>
                  <a:latin typeface="Arial" panose="020B0604020202020204" pitchFamily="34" charset="0"/>
                </a:rPr>
                <a:t>2</a:t>
              </a:r>
              <a:endParaRPr lang="en-US" altLang="zh-CN" sz="1800" b="0" baseline="-12000">
                <a:solidFill>
                  <a:srgbClr val="000000"/>
                </a:solidFill>
                <a:latin typeface="Arial" panose="020B0604020202020204" pitchFamily="34" charset="0"/>
              </a:endParaRPr>
            </a:p>
          </p:txBody>
        </p:sp>
        <p:sp>
          <p:nvSpPr>
            <p:cNvPr id="126994" name="文本框 126993"/>
            <p:cNvSpPr txBox="1"/>
            <p:nvPr/>
          </p:nvSpPr>
          <p:spPr>
            <a:xfrm>
              <a:off x="4649" y="2795"/>
              <a:ext cx="453" cy="231"/>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AD</a:t>
              </a:r>
              <a:endParaRPr lang="en-US" altLang="zh-CN" sz="1800" b="0">
                <a:latin typeface="Arial" panose="020B0604020202020204" pitchFamily="34" charset="0"/>
              </a:endParaRPr>
            </a:p>
          </p:txBody>
        </p:sp>
        <p:sp>
          <p:nvSpPr>
            <p:cNvPr id="126995" name="直接连接符 126994"/>
            <p:cNvSpPr/>
            <p:nvPr/>
          </p:nvSpPr>
          <p:spPr>
            <a:xfrm flipV="1">
              <a:off x="3198" y="2478"/>
              <a:ext cx="0" cy="317"/>
            </a:xfrm>
            <a:prstGeom prst="line">
              <a:avLst/>
            </a:prstGeom>
            <a:ln w="38100" cap="flat" cmpd="sng">
              <a:solidFill>
                <a:schemeClr val="tx2"/>
              </a:solidFill>
              <a:prstDash val="solid"/>
              <a:headEnd type="none" w="med" len="med"/>
              <a:tailEnd type="triangle" w="med" len="med"/>
            </a:ln>
          </p:spPr>
        </p:sp>
        <p:sp>
          <p:nvSpPr>
            <p:cNvPr id="126996" name="直接连接符 126995"/>
            <p:cNvSpPr/>
            <p:nvPr/>
          </p:nvSpPr>
          <p:spPr>
            <a:xfrm flipH="1">
              <a:off x="3742" y="3385"/>
              <a:ext cx="453" cy="0"/>
            </a:xfrm>
            <a:prstGeom prst="line">
              <a:avLst/>
            </a:prstGeom>
            <a:ln w="38100" cap="flat" cmpd="sng">
              <a:solidFill>
                <a:schemeClr val="tx2"/>
              </a:solidFill>
              <a:prstDash val="solid"/>
              <a:headEnd type="none" w="med" len="med"/>
              <a:tailEnd type="triangle" w="med" len="med"/>
            </a:ln>
          </p:spPr>
        </p:sp>
      </p:grpSp>
    </p:spTree>
  </p:cSld>
  <p:clrMapOvr>
    <a:masterClrMapping/>
  </p:clrMapOvr>
  <p:transition spd="slow">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标题 128001"/>
          <p:cNvSpPr>
            <a:spLocks noGrp="1"/>
          </p:cNvSpPr>
          <p:nvPr>
            <p:ph type="title"/>
          </p:nvPr>
        </p:nvSpPr>
        <p:spPr>
          <a:xfrm>
            <a:off x="250825" y="228600"/>
            <a:ext cx="8512175" cy="1143000"/>
          </a:xfrm>
          <a:ln/>
        </p:spPr>
        <p:txBody>
          <a:bodyPr anchor="ctr" anchorCtr="0"/>
          <a:p>
            <a:r>
              <a:rPr lang="zh-CN" altLang="en-US" sz="4000" dirty="0"/>
              <a:t>工资推动和利润推动</a:t>
            </a:r>
            <a:endParaRPr lang="zh-CN" altLang="en-US" sz="4000" dirty="0"/>
          </a:p>
        </p:txBody>
      </p:sp>
      <p:sp>
        <p:nvSpPr>
          <p:cNvPr id="128003" name="文本占位符 128002"/>
          <p:cNvSpPr>
            <a:spLocks noGrp="1"/>
          </p:cNvSpPr>
          <p:nvPr>
            <p:ph type="body" idx="1"/>
          </p:nvPr>
        </p:nvSpPr>
        <p:spPr>
          <a:xfrm>
            <a:off x="685800" y="2270125"/>
            <a:ext cx="7772400" cy="3825875"/>
          </a:xfrm>
          <a:ln/>
        </p:spPr>
        <p:txBody>
          <a:bodyPr/>
          <a:p>
            <a:pPr marL="0" indent="0">
              <a:lnSpc>
                <a:spcPct val="125000"/>
              </a:lnSpc>
              <a:buNone/>
            </a:pPr>
            <a:r>
              <a:rPr lang="zh-CN" altLang="en-US" sz="2800" dirty="0">
                <a:solidFill>
                  <a:srgbClr val="000000"/>
                </a:solidFill>
              </a:rPr>
              <a:t>当工资率的提高，超过了劳动生产率的增长时，工资的提高就导致成本提高，就会发生工资推动型通货膨胀。</a:t>
            </a:r>
            <a:endParaRPr lang="zh-CN" altLang="en-US" sz="2800" dirty="0">
              <a:solidFill>
                <a:srgbClr val="000000"/>
              </a:solidFill>
            </a:endParaRPr>
          </a:p>
          <a:p>
            <a:pPr marL="0" indent="0">
              <a:lnSpc>
                <a:spcPct val="125000"/>
              </a:lnSpc>
              <a:buNone/>
            </a:pPr>
            <a:r>
              <a:rPr lang="zh-CN" altLang="en-US" sz="2800" dirty="0">
                <a:solidFill>
                  <a:srgbClr val="000000"/>
                </a:solidFill>
              </a:rPr>
              <a:t>当厂商为垄断和寡头时，以超过成本上升的幅度提高产品价格时，就会导致一般价格水平上涨，发生利润推动型通货膨胀。</a:t>
            </a:r>
            <a:endParaRPr lang="zh-CN" altLang="en-US" sz="2800" dirty="0">
              <a:solidFill>
                <a:srgbClr val="000000"/>
              </a:solidFill>
            </a:endParaRPr>
          </a:p>
        </p:txBody>
      </p:sp>
    </p:spTree>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标题 130049"/>
          <p:cNvSpPr>
            <a:spLocks noGrp="1"/>
          </p:cNvSpPr>
          <p:nvPr>
            <p:ph type="title"/>
          </p:nvPr>
        </p:nvSpPr>
        <p:spPr>
          <a:xfrm>
            <a:off x="685800" y="609600"/>
            <a:ext cx="7769225" cy="762000"/>
          </a:xfrm>
          <a:ln/>
        </p:spPr>
        <p:txBody>
          <a:bodyPr anchor="ctr" anchorCtr="0"/>
          <a:p>
            <a:r>
              <a:rPr lang="zh-CN" altLang="en-US" dirty="0"/>
              <a:t>混合通货膨胀</a:t>
            </a:r>
            <a:endParaRPr lang="zh-CN" altLang="en-US" dirty="0"/>
          </a:p>
        </p:txBody>
      </p:sp>
      <p:sp>
        <p:nvSpPr>
          <p:cNvPr id="130052" name="直接连接符 130051"/>
          <p:cNvSpPr/>
          <p:nvPr/>
        </p:nvSpPr>
        <p:spPr>
          <a:xfrm>
            <a:off x="2051050" y="5805488"/>
            <a:ext cx="3816350" cy="0"/>
          </a:xfrm>
          <a:prstGeom prst="line">
            <a:avLst/>
          </a:prstGeom>
          <a:ln w="9525" cap="flat" cmpd="sng">
            <a:solidFill>
              <a:schemeClr val="tx1"/>
            </a:solidFill>
            <a:prstDash val="solid"/>
            <a:headEnd type="none" w="med" len="med"/>
            <a:tailEnd type="triangle" w="med" len="med"/>
          </a:ln>
        </p:spPr>
      </p:sp>
      <p:sp>
        <p:nvSpPr>
          <p:cNvPr id="130053" name="直接连接符 130052"/>
          <p:cNvSpPr/>
          <p:nvPr/>
        </p:nvSpPr>
        <p:spPr>
          <a:xfrm flipV="1">
            <a:off x="2051050" y="1700213"/>
            <a:ext cx="0" cy="4105275"/>
          </a:xfrm>
          <a:prstGeom prst="line">
            <a:avLst/>
          </a:prstGeom>
          <a:ln w="9525" cap="flat" cmpd="sng">
            <a:solidFill>
              <a:schemeClr val="tx1"/>
            </a:solidFill>
            <a:prstDash val="solid"/>
            <a:headEnd type="none" w="med" len="med"/>
            <a:tailEnd type="triangle" w="med" len="med"/>
          </a:ln>
        </p:spPr>
      </p:sp>
      <p:sp>
        <p:nvSpPr>
          <p:cNvPr id="130054" name="直接连接符 130053"/>
          <p:cNvSpPr/>
          <p:nvPr/>
        </p:nvSpPr>
        <p:spPr>
          <a:xfrm flipV="1">
            <a:off x="2819400" y="1905000"/>
            <a:ext cx="2808288" cy="3168650"/>
          </a:xfrm>
          <a:prstGeom prst="line">
            <a:avLst/>
          </a:prstGeom>
          <a:ln w="28575" cap="flat" cmpd="sng">
            <a:solidFill>
              <a:srgbClr val="000000"/>
            </a:solidFill>
            <a:prstDash val="solid"/>
            <a:headEnd type="none" w="med" len="med"/>
            <a:tailEnd type="none" w="med" len="med"/>
          </a:ln>
        </p:spPr>
      </p:sp>
      <p:sp>
        <p:nvSpPr>
          <p:cNvPr id="130055" name="直接连接符 130054"/>
          <p:cNvSpPr/>
          <p:nvPr/>
        </p:nvSpPr>
        <p:spPr>
          <a:xfrm>
            <a:off x="2484438" y="2133600"/>
            <a:ext cx="3167062" cy="3024188"/>
          </a:xfrm>
          <a:prstGeom prst="line">
            <a:avLst/>
          </a:prstGeom>
          <a:ln w="28575" cap="flat" cmpd="sng">
            <a:solidFill>
              <a:schemeClr val="tx1"/>
            </a:solidFill>
            <a:prstDash val="solid"/>
            <a:headEnd type="none" w="med" len="med"/>
            <a:tailEnd type="none" w="med" len="med"/>
          </a:ln>
        </p:spPr>
      </p:sp>
      <p:sp>
        <p:nvSpPr>
          <p:cNvPr id="130056" name="直接连接符 130055"/>
          <p:cNvSpPr/>
          <p:nvPr/>
        </p:nvSpPr>
        <p:spPr>
          <a:xfrm>
            <a:off x="5508625" y="4868863"/>
            <a:ext cx="719138" cy="0"/>
          </a:xfrm>
          <a:prstGeom prst="line">
            <a:avLst/>
          </a:prstGeom>
          <a:ln w="38100" cap="flat" cmpd="sng">
            <a:solidFill>
              <a:srgbClr val="FF0000"/>
            </a:solidFill>
            <a:prstDash val="solid"/>
            <a:headEnd type="none" w="med" len="med"/>
            <a:tailEnd type="triangle" w="med" len="med"/>
          </a:ln>
        </p:spPr>
      </p:sp>
      <p:sp>
        <p:nvSpPr>
          <p:cNvPr id="130057" name="直接连接符 130056"/>
          <p:cNvSpPr/>
          <p:nvPr/>
        </p:nvSpPr>
        <p:spPr>
          <a:xfrm>
            <a:off x="3492500" y="1916113"/>
            <a:ext cx="3384550" cy="3168650"/>
          </a:xfrm>
          <a:prstGeom prst="line">
            <a:avLst/>
          </a:prstGeom>
          <a:ln w="28575" cap="flat" cmpd="sng">
            <a:solidFill>
              <a:srgbClr val="FF0000"/>
            </a:solidFill>
            <a:prstDash val="solid"/>
            <a:headEnd type="none" w="med" len="med"/>
            <a:tailEnd type="none" w="med" len="med"/>
          </a:ln>
        </p:spPr>
      </p:sp>
      <p:sp>
        <p:nvSpPr>
          <p:cNvPr id="130058" name="直接连接符 130057"/>
          <p:cNvSpPr/>
          <p:nvPr/>
        </p:nvSpPr>
        <p:spPr>
          <a:xfrm flipV="1">
            <a:off x="3059113" y="2276475"/>
            <a:ext cx="3025775" cy="3384550"/>
          </a:xfrm>
          <a:prstGeom prst="line">
            <a:avLst/>
          </a:prstGeom>
          <a:ln w="28575" cap="flat" cmpd="sng">
            <a:solidFill>
              <a:schemeClr val="tx1"/>
            </a:solidFill>
            <a:prstDash val="solid"/>
            <a:headEnd type="none" w="med" len="med"/>
            <a:tailEnd type="none" w="med" len="med"/>
          </a:ln>
        </p:spPr>
      </p:sp>
      <p:sp>
        <p:nvSpPr>
          <p:cNvPr id="130059" name="直接连接符 130058"/>
          <p:cNvSpPr/>
          <p:nvPr/>
        </p:nvSpPr>
        <p:spPr>
          <a:xfrm flipV="1">
            <a:off x="3059113" y="4797425"/>
            <a:ext cx="0" cy="792163"/>
          </a:xfrm>
          <a:prstGeom prst="line">
            <a:avLst/>
          </a:prstGeom>
          <a:ln w="38100" cap="flat" cmpd="sng">
            <a:solidFill>
              <a:schemeClr val="folHlink"/>
            </a:solidFill>
            <a:prstDash val="solid"/>
            <a:headEnd type="none" w="med" len="med"/>
            <a:tailEnd type="triangle" w="med" len="med"/>
          </a:ln>
        </p:spPr>
      </p:sp>
      <p:sp>
        <p:nvSpPr>
          <p:cNvPr id="130060" name="直接连接符 130059"/>
          <p:cNvSpPr/>
          <p:nvPr/>
        </p:nvSpPr>
        <p:spPr>
          <a:xfrm>
            <a:off x="4500563" y="4076700"/>
            <a:ext cx="0" cy="1728788"/>
          </a:xfrm>
          <a:prstGeom prst="line">
            <a:avLst/>
          </a:prstGeom>
          <a:ln w="9525" cap="flat" cmpd="sng">
            <a:solidFill>
              <a:schemeClr val="tx1"/>
            </a:solidFill>
            <a:prstDash val="dashDot"/>
            <a:headEnd type="none" w="med" len="med"/>
            <a:tailEnd type="none" w="med" len="med"/>
          </a:ln>
        </p:spPr>
      </p:sp>
      <p:sp>
        <p:nvSpPr>
          <p:cNvPr id="130061" name="直接连接符 130060"/>
          <p:cNvSpPr/>
          <p:nvPr/>
        </p:nvSpPr>
        <p:spPr>
          <a:xfrm flipH="1">
            <a:off x="2051050" y="4076700"/>
            <a:ext cx="2449513" cy="0"/>
          </a:xfrm>
          <a:prstGeom prst="line">
            <a:avLst/>
          </a:prstGeom>
          <a:ln w="9525" cap="flat" cmpd="sng">
            <a:solidFill>
              <a:schemeClr val="tx1"/>
            </a:solidFill>
            <a:prstDash val="dashDot"/>
            <a:headEnd type="none" w="med" len="med"/>
            <a:tailEnd type="none" w="med" len="med"/>
          </a:ln>
        </p:spPr>
      </p:sp>
      <p:sp>
        <p:nvSpPr>
          <p:cNvPr id="130062" name="直接连接符 130061"/>
          <p:cNvSpPr/>
          <p:nvPr/>
        </p:nvSpPr>
        <p:spPr>
          <a:xfrm>
            <a:off x="5076825" y="3357563"/>
            <a:ext cx="0" cy="2447925"/>
          </a:xfrm>
          <a:prstGeom prst="line">
            <a:avLst/>
          </a:prstGeom>
          <a:ln w="9525" cap="flat" cmpd="sng">
            <a:solidFill>
              <a:schemeClr val="hlink"/>
            </a:solidFill>
            <a:prstDash val="dashDot"/>
            <a:headEnd type="none" w="med" len="med"/>
            <a:tailEnd type="none" w="med" len="med"/>
          </a:ln>
        </p:spPr>
      </p:sp>
      <p:sp>
        <p:nvSpPr>
          <p:cNvPr id="130063" name="直接连接符 130062"/>
          <p:cNvSpPr/>
          <p:nvPr/>
        </p:nvSpPr>
        <p:spPr>
          <a:xfrm flipH="1">
            <a:off x="2051050" y="3357563"/>
            <a:ext cx="3025775" cy="0"/>
          </a:xfrm>
          <a:prstGeom prst="line">
            <a:avLst/>
          </a:prstGeom>
          <a:ln w="9525" cap="flat" cmpd="sng">
            <a:solidFill>
              <a:schemeClr val="hlink"/>
            </a:solidFill>
            <a:prstDash val="dashDot"/>
            <a:headEnd type="none" w="med" len="med"/>
            <a:tailEnd type="none" w="med" len="med"/>
          </a:ln>
        </p:spPr>
      </p:sp>
      <p:sp>
        <p:nvSpPr>
          <p:cNvPr id="130064" name="直接连接符 130063"/>
          <p:cNvSpPr/>
          <p:nvPr/>
        </p:nvSpPr>
        <p:spPr>
          <a:xfrm>
            <a:off x="4500563" y="5589588"/>
            <a:ext cx="576262" cy="0"/>
          </a:xfrm>
          <a:prstGeom prst="line">
            <a:avLst/>
          </a:prstGeom>
          <a:ln w="38100" cap="flat" cmpd="sng">
            <a:solidFill>
              <a:srgbClr val="FF0000"/>
            </a:solidFill>
            <a:prstDash val="solid"/>
            <a:headEnd type="none" w="med" len="med"/>
            <a:tailEnd type="triangle" w="med" len="med"/>
          </a:ln>
        </p:spPr>
      </p:sp>
      <p:sp>
        <p:nvSpPr>
          <p:cNvPr id="130065" name="直接连接符 130064"/>
          <p:cNvSpPr/>
          <p:nvPr/>
        </p:nvSpPr>
        <p:spPr>
          <a:xfrm flipV="1">
            <a:off x="2268538" y="3357563"/>
            <a:ext cx="0" cy="719137"/>
          </a:xfrm>
          <a:prstGeom prst="line">
            <a:avLst/>
          </a:prstGeom>
          <a:ln w="38100" cap="flat" cmpd="sng">
            <a:solidFill>
              <a:srgbClr val="FF0000"/>
            </a:solidFill>
            <a:prstDash val="solid"/>
            <a:headEnd type="none" w="med" len="med"/>
            <a:tailEnd type="triangle" w="med" len="med"/>
          </a:ln>
        </p:spPr>
      </p:sp>
      <p:sp>
        <p:nvSpPr>
          <p:cNvPr id="130066" name="直接连接符 130065"/>
          <p:cNvSpPr/>
          <p:nvPr/>
        </p:nvSpPr>
        <p:spPr>
          <a:xfrm>
            <a:off x="4643438" y="2997200"/>
            <a:ext cx="0" cy="2808288"/>
          </a:xfrm>
          <a:prstGeom prst="line">
            <a:avLst/>
          </a:prstGeom>
          <a:ln w="9525" cap="flat" cmpd="sng">
            <a:solidFill>
              <a:schemeClr val="folHlink"/>
            </a:solidFill>
            <a:prstDash val="dashDot"/>
            <a:headEnd type="none" w="med" len="med"/>
            <a:tailEnd type="none" w="med" len="med"/>
          </a:ln>
        </p:spPr>
      </p:sp>
      <p:sp>
        <p:nvSpPr>
          <p:cNvPr id="130067" name="直接连接符 130066"/>
          <p:cNvSpPr/>
          <p:nvPr/>
        </p:nvSpPr>
        <p:spPr>
          <a:xfrm flipH="1">
            <a:off x="2051050" y="2997200"/>
            <a:ext cx="2592388" cy="0"/>
          </a:xfrm>
          <a:prstGeom prst="line">
            <a:avLst/>
          </a:prstGeom>
          <a:ln w="9525" cap="flat" cmpd="sng">
            <a:solidFill>
              <a:schemeClr val="folHlink"/>
            </a:solidFill>
            <a:prstDash val="dashDot"/>
            <a:headEnd type="none" w="med" len="med"/>
            <a:tailEnd type="none" w="med" len="med"/>
          </a:ln>
        </p:spPr>
      </p:sp>
      <p:sp>
        <p:nvSpPr>
          <p:cNvPr id="130068" name="直接连接符 130067"/>
          <p:cNvSpPr/>
          <p:nvPr/>
        </p:nvSpPr>
        <p:spPr>
          <a:xfrm flipH="1">
            <a:off x="4643438" y="5373688"/>
            <a:ext cx="433387" cy="0"/>
          </a:xfrm>
          <a:prstGeom prst="line">
            <a:avLst/>
          </a:prstGeom>
          <a:ln w="38100" cap="flat" cmpd="sng">
            <a:solidFill>
              <a:schemeClr val="folHlink"/>
            </a:solidFill>
            <a:prstDash val="solid"/>
            <a:headEnd type="none" w="med" len="med"/>
            <a:tailEnd type="triangle" w="med" len="med"/>
          </a:ln>
        </p:spPr>
      </p:sp>
      <p:sp>
        <p:nvSpPr>
          <p:cNvPr id="130069" name="直接连接符 130068"/>
          <p:cNvSpPr/>
          <p:nvPr/>
        </p:nvSpPr>
        <p:spPr>
          <a:xfrm flipV="1">
            <a:off x="2268538" y="2997200"/>
            <a:ext cx="0" cy="360363"/>
          </a:xfrm>
          <a:prstGeom prst="line">
            <a:avLst/>
          </a:prstGeom>
          <a:ln w="38100" cap="flat" cmpd="sng">
            <a:solidFill>
              <a:schemeClr val="folHlink"/>
            </a:solidFill>
            <a:prstDash val="solid"/>
            <a:headEnd type="none" w="med" len="med"/>
            <a:tailEnd type="triangle" w="med" len="med"/>
          </a:ln>
        </p:spPr>
      </p:sp>
      <p:sp>
        <p:nvSpPr>
          <p:cNvPr id="130070" name="文本框 130069"/>
          <p:cNvSpPr txBox="1"/>
          <p:nvPr/>
        </p:nvSpPr>
        <p:spPr>
          <a:xfrm>
            <a:off x="5867400" y="5661025"/>
            <a:ext cx="1081088"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Y</a:t>
            </a:r>
            <a:endParaRPr lang="en-US" altLang="zh-CN" sz="1800" b="0">
              <a:latin typeface="Arial" panose="020B0604020202020204" pitchFamily="34" charset="0"/>
            </a:endParaRPr>
          </a:p>
        </p:txBody>
      </p:sp>
      <p:sp>
        <p:nvSpPr>
          <p:cNvPr id="130071" name="文本框 130070"/>
          <p:cNvSpPr txBox="1"/>
          <p:nvPr/>
        </p:nvSpPr>
        <p:spPr>
          <a:xfrm>
            <a:off x="1763713" y="1628775"/>
            <a:ext cx="647700"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P</a:t>
            </a:r>
            <a:endParaRPr lang="en-US" altLang="zh-CN" sz="1800" b="0">
              <a:latin typeface="Arial" panose="020B0604020202020204" pitchFamily="34" charset="0"/>
            </a:endParaRPr>
          </a:p>
        </p:txBody>
      </p:sp>
      <p:sp>
        <p:nvSpPr>
          <p:cNvPr id="130072" name="文本框 130071"/>
          <p:cNvSpPr txBox="1"/>
          <p:nvPr/>
        </p:nvSpPr>
        <p:spPr>
          <a:xfrm>
            <a:off x="5580063" y="5084763"/>
            <a:ext cx="647700"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AD</a:t>
            </a:r>
            <a:r>
              <a:rPr lang="en-US" altLang="zh-CN" sz="1800" b="0" baseline="-12000">
                <a:latin typeface="Arial" panose="020B0604020202020204" pitchFamily="34" charset="0"/>
              </a:rPr>
              <a:t>1</a:t>
            </a:r>
            <a:endParaRPr lang="en-US" altLang="zh-CN" sz="1800" b="0" baseline="-12000">
              <a:latin typeface="Arial" panose="020B0604020202020204" pitchFamily="34" charset="0"/>
            </a:endParaRPr>
          </a:p>
        </p:txBody>
      </p:sp>
      <p:sp>
        <p:nvSpPr>
          <p:cNvPr id="130073" name="文本框 130072"/>
          <p:cNvSpPr txBox="1"/>
          <p:nvPr/>
        </p:nvSpPr>
        <p:spPr>
          <a:xfrm>
            <a:off x="6732588" y="5013325"/>
            <a:ext cx="1223962" cy="366713"/>
          </a:xfrm>
          <a:prstGeom prst="rect">
            <a:avLst/>
          </a:prstGeom>
          <a:noFill/>
          <a:ln w="9525">
            <a:noFill/>
          </a:ln>
        </p:spPr>
        <p:txBody>
          <a:bodyPr>
            <a:spAutoFit/>
          </a:bodyPr>
          <a:p>
            <a:pPr>
              <a:lnSpc>
                <a:spcPct val="100000"/>
              </a:lnSpc>
              <a:spcBef>
                <a:spcPct val="50000"/>
              </a:spcBef>
            </a:pPr>
            <a:r>
              <a:rPr lang="en-US" altLang="zh-CN" sz="1800" b="0">
                <a:solidFill>
                  <a:srgbClr val="FF0000"/>
                </a:solidFill>
                <a:latin typeface="Arial" panose="020B0604020202020204" pitchFamily="34" charset="0"/>
              </a:rPr>
              <a:t>AD</a:t>
            </a:r>
            <a:r>
              <a:rPr lang="en-US" altLang="zh-CN" sz="1800" b="0" baseline="-12000">
                <a:solidFill>
                  <a:srgbClr val="FF0000"/>
                </a:solidFill>
                <a:latin typeface="Arial" panose="020B0604020202020204" pitchFamily="34" charset="0"/>
              </a:rPr>
              <a:t>2</a:t>
            </a:r>
            <a:endParaRPr lang="en-US" altLang="zh-CN" sz="1800" b="0" baseline="-12000">
              <a:solidFill>
                <a:srgbClr val="FF0000"/>
              </a:solidFill>
              <a:latin typeface="Arial" panose="020B0604020202020204" pitchFamily="34" charset="0"/>
            </a:endParaRPr>
          </a:p>
        </p:txBody>
      </p:sp>
      <p:sp>
        <p:nvSpPr>
          <p:cNvPr id="130074" name="文本框 130073"/>
          <p:cNvSpPr txBox="1"/>
          <p:nvPr/>
        </p:nvSpPr>
        <p:spPr>
          <a:xfrm>
            <a:off x="6011863" y="2205038"/>
            <a:ext cx="1008062"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AS</a:t>
            </a:r>
            <a:r>
              <a:rPr lang="en-US" altLang="zh-CN" sz="1800" b="0" baseline="-12000">
                <a:latin typeface="Arial" panose="020B0604020202020204" pitchFamily="34" charset="0"/>
              </a:rPr>
              <a:t>1</a:t>
            </a:r>
            <a:endParaRPr lang="en-US" altLang="zh-CN" sz="1800" b="0" baseline="-12000">
              <a:latin typeface="Arial" panose="020B0604020202020204" pitchFamily="34" charset="0"/>
            </a:endParaRPr>
          </a:p>
        </p:txBody>
      </p:sp>
      <p:sp>
        <p:nvSpPr>
          <p:cNvPr id="130075" name="文本框 130074"/>
          <p:cNvSpPr txBox="1"/>
          <p:nvPr/>
        </p:nvSpPr>
        <p:spPr>
          <a:xfrm>
            <a:off x="5435600" y="1628775"/>
            <a:ext cx="720725" cy="366713"/>
          </a:xfrm>
          <a:prstGeom prst="rect">
            <a:avLst/>
          </a:prstGeom>
          <a:noFill/>
          <a:ln w="9525">
            <a:noFill/>
          </a:ln>
        </p:spPr>
        <p:txBody>
          <a:bodyPr>
            <a:spAutoFit/>
          </a:bodyPr>
          <a:p>
            <a:pPr>
              <a:lnSpc>
                <a:spcPct val="100000"/>
              </a:lnSpc>
              <a:spcBef>
                <a:spcPct val="50000"/>
              </a:spcBef>
            </a:pPr>
            <a:r>
              <a:rPr lang="en-US" altLang="zh-CN" sz="1800" b="0">
                <a:solidFill>
                  <a:schemeClr val="folHlink"/>
                </a:solidFill>
                <a:latin typeface="Arial" panose="020B0604020202020204" pitchFamily="34" charset="0"/>
              </a:rPr>
              <a:t>AS</a:t>
            </a:r>
            <a:r>
              <a:rPr lang="en-US" altLang="zh-CN" sz="1800" b="0" baseline="-12000">
                <a:solidFill>
                  <a:schemeClr val="folHlink"/>
                </a:solidFill>
                <a:latin typeface="Arial" panose="020B0604020202020204" pitchFamily="34" charset="0"/>
              </a:rPr>
              <a:t>2</a:t>
            </a:r>
            <a:endParaRPr lang="en-US" altLang="zh-CN" sz="1800" b="0" baseline="-12000">
              <a:solidFill>
                <a:schemeClr val="folHlink"/>
              </a:solidFill>
              <a:latin typeface="Arial" panose="020B0604020202020204" pitchFamily="34"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0064"/>
                                        </p:tgtEl>
                                        <p:attrNameLst>
                                          <p:attrName>style.visibility</p:attrName>
                                        </p:attrNameLst>
                                      </p:cBhvr>
                                      <p:to>
                                        <p:strVal val="visible"/>
                                      </p:to>
                                    </p:set>
                                    <p:animEffect transition="in" filter="blinds(horizontal)">
                                      <p:cBhvr>
                                        <p:cTn id="7" dur="500"/>
                                        <p:tgtEl>
                                          <p:spTgt spid="13006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0062"/>
                                        </p:tgtEl>
                                        <p:attrNameLst>
                                          <p:attrName>style.visibility</p:attrName>
                                        </p:attrNameLst>
                                      </p:cBhvr>
                                      <p:to>
                                        <p:strVal val="visible"/>
                                      </p:to>
                                    </p:set>
                                    <p:animEffect transition="in" filter="blinds(horizontal)">
                                      <p:cBhvr>
                                        <p:cTn id="11" dur="500"/>
                                        <p:tgtEl>
                                          <p:spTgt spid="130062"/>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30056"/>
                                        </p:tgtEl>
                                        <p:attrNameLst>
                                          <p:attrName>style.visibility</p:attrName>
                                        </p:attrNameLst>
                                      </p:cBhvr>
                                      <p:to>
                                        <p:strVal val="visible"/>
                                      </p:to>
                                    </p:set>
                                    <p:animEffect transition="in" filter="blinds(horizontal)">
                                      <p:cBhvr>
                                        <p:cTn id="15" dur="500"/>
                                        <p:tgtEl>
                                          <p:spTgt spid="130056"/>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30057"/>
                                        </p:tgtEl>
                                        <p:attrNameLst>
                                          <p:attrName>style.visibility</p:attrName>
                                        </p:attrNameLst>
                                      </p:cBhvr>
                                      <p:to>
                                        <p:strVal val="visible"/>
                                      </p:to>
                                    </p:set>
                                    <p:animEffect transition="in" filter="blinds(horizontal)">
                                      <p:cBhvr>
                                        <p:cTn id="19" dur="500"/>
                                        <p:tgtEl>
                                          <p:spTgt spid="130057"/>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30063"/>
                                        </p:tgtEl>
                                        <p:attrNameLst>
                                          <p:attrName>style.visibility</p:attrName>
                                        </p:attrNameLst>
                                      </p:cBhvr>
                                      <p:to>
                                        <p:strVal val="visible"/>
                                      </p:to>
                                    </p:set>
                                    <p:animEffect transition="in" filter="blinds(horizontal)">
                                      <p:cBhvr>
                                        <p:cTn id="23" dur="500"/>
                                        <p:tgtEl>
                                          <p:spTgt spid="130063"/>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30065"/>
                                        </p:tgtEl>
                                        <p:attrNameLst>
                                          <p:attrName>style.visibility</p:attrName>
                                        </p:attrNameLst>
                                      </p:cBhvr>
                                      <p:to>
                                        <p:strVal val="visible"/>
                                      </p:to>
                                    </p:set>
                                    <p:animEffect transition="in" filter="blinds(horizontal)">
                                      <p:cBhvr>
                                        <p:cTn id="27" dur="500"/>
                                        <p:tgtEl>
                                          <p:spTgt spid="130065"/>
                                        </p:tgtEl>
                                      </p:cBhvr>
                                    </p:animEffect>
                                  </p:childTnLst>
                                </p:cTn>
                              </p:par>
                            </p:childTnLst>
                          </p:cTn>
                        </p:par>
                        <p:par>
                          <p:cTn id="28" fill="hold">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130073"/>
                                        </p:tgtEl>
                                        <p:attrNameLst>
                                          <p:attrName>style.visibility</p:attrName>
                                        </p:attrNameLst>
                                      </p:cBhvr>
                                      <p:to>
                                        <p:strVal val="visible"/>
                                      </p:to>
                                    </p:set>
                                    <p:animEffect transition="in" filter="blinds(horizontal)">
                                      <p:cBhvr>
                                        <p:cTn id="31" dur="500"/>
                                        <p:tgtEl>
                                          <p:spTgt spid="13007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30059"/>
                                        </p:tgtEl>
                                        <p:attrNameLst>
                                          <p:attrName>style.visibility</p:attrName>
                                        </p:attrNameLst>
                                      </p:cBhvr>
                                      <p:to>
                                        <p:strVal val="visible"/>
                                      </p:to>
                                    </p:set>
                                    <p:animEffect transition="in" filter="blinds(horizontal)">
                                      <p:cBhvr>
                                        <p:cTn id="36" dur="500"/>
                                        <p:tgtEl>
                                          <p:spTgt spid="130059"/>
                                        </p:tgtEl>
                                      </p:cBhvr>
                                    </p:animEffect>
                                  </p:childTnLst>
                                </p:cTn>
                              </p:par>
                            </p:childTnLst>
                          </p:cTn>
                        </p:par>
                        <p:par>
                          <p:cTn id="37" fill="hold">
                            <p:stCondLst>
                              <p:cond delay="500"/>
                            </p:stCondLst>
                            <p:childTnLst>
                              <p:par>
                                <p:cTn id="38" presetID="3" presetClass="entr" presetSubtype="10" fill="hold" nodeType="afterEffect">
                                  <p:stCondLst>
                                    <p:cond delay="0"/>
                                  </p:stCondLst>
                                  <p:childTnLst>
                                    <p:set>
                                      <p:cBhvr>
                                        <p:cTn id="39" dur="1" fill="hold">
                                          <p:stCondLst>
                                            <p:cond delay="0"/>
                                          </p:stCondLst>
                                        </p:cTn>
                                        <p:tgtEl>
                                          <p:spTgt spid="130054"/>
                                        </p:tgtEl>
                                        <p:attrNameLst>
                                          <p:attrName>style.visibility</p:attrName>
                                        </p:attrNameLst>
                                      </p:cBhvr>
                                      <p:to>
                                        <p:strVal val="visible"/>
                                      </p:to>
                                    </p:set>
                                    <p:animEffect transition="in" filter="blinds(horizontal)">
                                      <p:cBhvr>
                                        <p:cTn id="40" dur="500"/>
                                        <p:tgtEl>
                                          <p:spTgt spid="130054"/>
                                        </p:tgtEl>
                                      </p:cBhvr>
                                    </p:animEffect>
                                  </p:childTnLst>
                                </p:cTn>
                              </p:par>
                            </p:childTnLst>
                          </p:cTn>
                        </p:par>
                        <p:par>
                          <p:cTn id="41" fill="hold">
                            <p:stCondLst>
                              <p:cond delay="1000"/>
                            </p:stCondLst>
                            <p:childTnLst>
                              <p:par>
                                <p:cTn id="42" presetID="3" presetClass="entr" presetSubtype="10" fill="hold" nodeType="afterEffect">
                                  <p:stCondLst>
                                    <p:cond delay="0"/>
                                  </p:stCondLst>
                                  <p:childTnLst>
                                    <p:set>
                                      <p:cBhvr>
                                        <p:cTn id="43" dur="1" fill="hold">
                                          <p:stCondLst>
                                            <p:cond delay="0"/>
                                          </p:stCondLst>
                                        </p:cTn>
                                        <p:tgtEl>
                                          <p:spTgt spid="130067"/>
                                        </p:tgtEl>
                                        <p:attrNameLst>
                                          <p:attrName>style.visibility</p:attrName>
                                        </p:attrNameLst>
                                      </p:cBhvr>
                                      <p:to>
                                        <p:strVal val="visible"/>
                                      </p:to>
                                    </p:set>
                                    <p:animEffect transition="in" filter="blinds(horizontal)">
                                      <p:cBhvr>
                                        <p:cTn id="44" dur="500"/>
                                        <p:tgtEl>
                                          <p:spTgt spid="130067"/>
                                        </p:tgtEl>
                                      </p:cBhvr>
                                    </p:animEffect>
                                  </p:childTnLst>
                                </p:cTn>
                              </p:par>
                            </p:childTnLst>
                          </p:cTn>
                        </p:par>
                        <p:par>
                          <p:cTn id="45" fill="hold">
                            <p:stCondLst>
                              <p:cond delay="1500"/>
                            </p:stCondLst>
                            <p:childTnLst>
                              <p:par>
                                <p:cTn id="46" presetID="3" presetClass="entr" presetSubtype="10" fill="hold" nodeType="afterEffect">
                                  <p:stCondLst>
                                    <p:cond delay="0"/>
                                  </p:stCondLst>
                                  <p:childTnLst>
                                    <p:set>
                                      <p:cBhvr>
                                        <p:cTn id="47" dur="1" fill="hold">
                                          <p:stCondLst>
                                            <p:cond delay="0"/>
                                          </p:stCondLst>
                                        </p:cTn>
                                        <p:tgtEl>
                                          <p:spTgt spid="130069"/>
                                        </p:tgtEl>
                                        <p:attrNameLst>
                                          <p:attrName>style.visibility</p:attrName>
                                        </p:attrNameLst>
                                      </p:cBhvr>
                                      <p:to>
                                        <p:strVal val="visible"/>
                                      </p:to>
                                    </p:set>
                                    <p:animEffect transition="in" filter="blinds(horizontal)">
                                      <p:cBhvr>
                                        <p:cTn id="48" dur="500"/>
                                        <p:tgtEl>
                                          <p:spTgt spid="130069"/>
                                        </p:tgtEl>
                                      </p:cBhvr>
                                    </p:animEffect>
                                  </p:childTnLst>
                                </p:cTn>
                              </p:par>
                            </p:childTnLst>
                          </p:cTn>
                        </p:par>
                        <p:par>
                          <p:cTn id="49" fill="hold">
                            <p:stCondLst>
                              <p:cond delay="2000"/>
                            </p:stCondLst>
                            <p:childTnLst>
                              <p:par>
                                <p:cTn id="50" presetID="3" presetClass="entr" presetSubtype="10" fill="hold" nodeType="afterEffect">
                                  <p:stCondLst>
                                    <p:cond delay="0"/>
                                  </p:stCondLst>
                                  <p:childTnLst>
                                    <p:set>
                                      <p:cBhvr>
                                        <p:cTn id="51" dur="1" fill="hold">
                                          <p:stCondLst>
                                            <p:cond delay="0"/>
                                          </p:stCondLst>
                                        </p:cTn>
                                        <p:tgtEl>
                                          <p:spTgt spid="130066"/>
                                        </p:tgtEl>
                                        <p:attrNameLst>
                                          <p:attrName>style.visibility</p:attrName>
                                        </p:attrNameLst>
                                      </p:cBhvr>
                                      <p:to>
                                        <p:strVal val="visible"/>
                                      </p:to>
                                    </p:set>
                                    <p:animEffect transition="in" filter="blinds(horizontal)">
                                      <p:cBhvr>
                                        <p:cTn id="52" dur="500"/>
                                        <p:tgtEl>
                                          <p:spTgt spid="130066"/>
                                        </p:tgtEl>
                                      </p:cBhvr>
                                    </p:animEffect>
                                  </p:childTnLst>
                                </p:cTn>
                              </p:par>
                            </p:childTnLst>
                          </p:cTn>
                        </p:par>
                        <p:par>
                          <p:cTn id="53" fill="hold">
                            <p:stCondLst>
                              <p:cond delay="2500"/>
                            </p:stCondLst>
                            <p:childTnLst>
                              <p:par>
                                <p:cTn id="54" presetID="3" presetClass="entr" presetSubtype="10" fill="hold" nodeType="afterEffect">
                                  <p:stCondLst>
                                    <p:cond delay="0"/>
                                  </p:stCondLst>
                                  <p:childTnLst>
                                    <p:set>
                                      <p:cBhvr>
                                        <p:cTn id="55" dur="1" fill="hold">
                                          <p:stCondLst>
                                            <p:cond delay="0"/>
                                          </p:stCondLst>
                                        </p:cTn>
                                        <p:tgtEl>
                                          <p:spTgt spid="130068"/>
                                        </p:tgtEl>
                                        <p:attrNameLst>
                                          <p:attrName>style.visibility</p:attrName>
                                        </p:attrNameLst>
                                      </p:cBhvr>
                                      <p:to>
                                        <p:strVal val="visible"/>
                                      </p:to>
                                    </p:set>
                                    <p:animEffect transition="in" filter="blinds(horizontal)">
                                      <p:cBhvr>
                                        <p:cTn id="56" dur="500"/>
                                        <p:tgtEl>
                                          <p:spTgt spid="130068"/>
                                        </p:tgtEl>
                                      </p:cBhvr>
                                    </p:animEffect>
                                  </p:childTnLst>
                                </p:cTn>
                              </p:par>
                            </p:childTnLst>
                          </p:cTn>
                        </p:par>
                        <p:par>
                          <p:cTn id="57" fill="hold">
                            <p:stCondLst>
                              <p:cond delay="3000"/>
                            </p:stCondLst>
                            <p:childTnLst>
                              <p:par>
                                <p:cTn id="58" presetID="3" presetClass="entr" presetSubtype="10" fill="hold" grpId="0" nodeType="afterEffect">
                                  <p:stCondLst>
                                    <p:cond delay="0"/>
                                  </p:stCondLst>
                                  <p:childTnLst>
                                    <p:set>
                                      <p:cBhvr>
                                        <p:cTn id="59" dur="1" fill="hold">
                                          <p:stCondLst>
                                            <p:cond delay="0"/>
                                          </p:stCondLst>
                                        </p:cTn>
                                        <p:tgtEl>
                                          <p:spTgt spid="130075"/>
                                        </p:tgtEl>
                                        <p:attrNameLst>
                                          <p:attrName>style.visibility</p:attrName>
                                        </p:attrNameLst>
                                      </p:cBhvr>
                                      <p:to>
                                        <p:strVal val="visible"/>
                                      </p:to>
                                    </p:set>
                                    <p:animEffect transition="in" filter="blinds(horizontal)">
                                      <p:cBhvr>
                                        <p:cTn id="60" dur="500"/>
                                        <p:tgtEl>
                                          <p:spTgt spid="130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73" grpId="0"/>
      <p:bldP spid="13007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标题 132097"/>
          <p:cNvSpPr>
            <a:spLocks noGrp="1"/>
          </p:cNvSpPr>
          <p:nvPr>
            <p:ph type="title"/>
          </p:nvPr>
        </p:nvSpPr>
        <p:spPr>
          <a:xfrm>
            <a:off x="685800" y="609600"/>
            <a:ext cx="7699375" cy="838200"/>
          </a:xfrm>
          <a:ln/>
        </p:spPr>
        <p:txBody>
          <a:bodyPr anchor="ctr" anchorCtr="0"/>
          <a:p>
            <a:r>
              <a:rPr lang="zh-CN" altLang="en-US" sz="4000" dirty="0"/>
              <a:t>结构性通货膨胀</a:t>
            </a:r>
            <a:endParaRPr lang="zh-CN" altLang="en-US" sz="4000" dirty="0"/>
          </a:p>
        </p:txBody>
      </p:sp>
      <p:sp>
        <p:nvSpPr>
          <p:cNvPr id="132099" name="文本占位符 132098"/>
          <p:cNvSpPr>
            <a:spLocks noGrp="1"/>
          </p:cNvSpPr>
          <p:nvPr>
            <p:ph type="body" idx="1"/>
          </p:nvPr>
        </p:nvSpPr>
        <p:spPr>
          <a:xfrm>
            <a:off x="304800" y="1773238"/>
            <a:ext cx="8534400" cy="5084762"/>
          </a:xfrm>
          <a:ln/>
        </p:spPr>
        <p:txBody>
          <a:bodyPr/>
          <a:p>
            <a:pPr marL="0" indent="0">
              <a:lnSpc>
                <a:spcPct val="90000"/>
              </a:lnSpc>
              <a:buNone/>
            </a:pPr>
            <a:r>
              <a:rPr lang="zh-CN" altLang="en-US" dirty="0">
                <a:solidFill>
                  <a:srgbClr val="000000"/>
                </a:solidFill>
              </a:rPr>
              <a:t>结构性通货膨胀是在没有需求拉动和成本推动的情况下，只是由于经济结构因素的变动而出现的一般价格水平的持续上涨。</a:t>
            </a:r>
            <a:endParaRPr lang="zh-CN" altLang="en-US" dirty="0">
              <a:solidFill>
                <a:srgbClr val="000000"/>
              </a:solidFill>
            </a:endParaRPr>
          </a:p>
          <a:p>
            <a:pPr marL="0" indent="0">
              <a:lnSpc>
                <a:spcPct val="90000"/>
              </a:lnSpc>
              <a:buNone/>
            </a:pPr>
            <a:r>
              <a:rPr lang="zh-CN" altLang="en-US" dirty="0">
                <a:solidFill>
                  <a:srgbClr val="000000"/>
                </a:solidFill>
              </a:rPr>
              <a:t>社会经济结构的特点：</a:t>
            </a:r>
            <a:endParaRPr lang="zh-CN" altLang="en-US" dirty="0">
              <a:solidFill>
                <a:srgbClr val="000000"/>
              </a:solidFill>
            </a:endParaRPr>
          </a:p>
          <a:p>
            <a:pPr marL="0" indent="0">
              <a:lnSpc>
                <a:spcPct val="90000"/>
              </a:lnSpc>
              <a:buClr>
                <a:srgbClr val="FF0066"/>
              </a:buClr>
              <a:buFont typeface="Wingdings" panose="05000000000000000000" pitchFamily="2" charset="2"/>
              <a:buNone/>
            </a:pPr>
            <a:r>
              <a:rPr lang="zh-CN" altLang="en-US" sz="2800" dirty="0">
                <a:solidFill>
                  <a:srgbClr val="000000"/>
                </a:solidFill>
              </a:rPr>
              <a:t>从生产效率提高的速度看，一些部门生产率提高的速度快，另一些部门生产率提高的速度慢</a:t>
            </a:r>
            <a:endParaRPr lang="zh-CN" altLang="en-US" sz="2800" dirty="0">
              <a:solidFill>
                <a:srgbClr val="000000"/>
              </a:solidFill>
            </a:endParaRPr>
          </a:p>
          <a:p>
            <a:pPr marL="0" indent="0">
              <a:lnSpc>
                <a:spcPct val="90000"/>
              </a:lnSpc>
              <a:buClr>
                <a:srgbClr val="FF0066"/>
              </a:buClr>
              <a:buFont typeface="Wingdings" panose="05000000000000000000" pitchFamily="2" charset="2"/>
              <a:buNone/>
            </a:pPr>
            <a:r>
              <a:rPr lang="zh-CN" altLang="en-US" sz="2800" dirty="0">
                <a:solidFill>
                  <a:srgbClr val="000000"/>
                </a:solidFill>
              </a:rPr>
              <a:t>从经济发展的过程看，一些部门正在迅速发展，另一些部门渐趋衰落</a:t>
            </a:r>
            <a:endParaRPr lang="zh-CN" altLang="en-US" sz="2800" dirty="0">
              <a:solidFill>
                <a:srgbClr val="000000"/>
              </a:solidFill>
            </a:endParaRPr>
          </a:p>
          <a:p>
            <a:pPr marL="0" indent="0">
              <a:lnSpc>
                <a:spcPct val="90000"/>
              </a:lnSpc>
              <a:buClr>
                <a:srgbClr val="FF0066"/>
              </a:buClr>
              <a:buFont typeface="Wingdings" panose="05000000000000000000" pitchFamily="2" charset="2"/>
              <a:buNone/>
            </a:pPr>
            <a:r>
              <a:rPr lang="zh-CN" altLang="en-US" sz="2800" dirty="0">
                <a:solidFill>
                  <a:srgbClr val="000000"/>
                </a:solidFill>
              </a:rPr>
              <a:t>从同世界市场的关系看，一些部门同世界市场的联系十分密切，另一些部门同世界市场没有密切联系。</a:t>
            </a:r>
            <a:endParaRPr lang="zh-CN" altLang="en-US" sz="2800" dirty="0">
              <a:solidFill>
                <a:srgbClr val="000000"/>
              </a:solidFill>
            </a:endParaRPr>
          </a:p>
        </p:txBody>
      </p:sp>
    </p:spTree>
  </p:cSld>
  <p:clrMapOvr>
    <a:masterClrMapping/>
  </p:clrMapOvr>
  <p:transition spd="slow">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标题 133121"/>
          <p:cNvSpPr>
            <a:spLocks noGrp="1"/>
          </p:cNvSpPr>
          <p:nvPr>
            <p:ph type="title"/>
          </p:nvPr>
        </p:nvSpPr>
        <p:spPr>
          <a:xfrm>
            <a:off x="250825" y="228600"/>
            <a:ext cx="8512175" cy="228600"/>
          </a:xfrm>
          <a:ln/>
        </p:spPr>
        <p:txBody>
          <a:bodyPr anchor="ctr" anchorCtr="0"/>
          <a:p>
            <a:endParaRPr sz="4000" dirty="0"/>
          </a:p>
        </p:txBody>
      </p:sp>
      <p:sp>
        <p:nvSpPr>
          <p:cNvPr id="133123" name="文本占位符 133122"/>
          <p:cNvSpPr>
            <a:spLocks noGrp="1"/>
          </p:cNvSpPr>
          <p:nvPr>
            <p:ph type="body" idx="1"/>
          </p:nvPr>
        </p:nvSpPr>
        <p:spPr>
          <a:xfrm>
            <a:off x="0" y="304800"/>
            <a:ext cx="9144000" cy="5794375"/>
          </a:xfrm>
          <a:ln/>
        </p:spPr>
        <p:txBody>
          <a:bodyPr/>
          <a:p>
            <a:pPr marL="0" indent="0">
              <a:lnSpc>
                <a:spcPct val="125000"/>
              </a:lnSpc>
              <a:buNone/>
            </a:pPr>
            <a:r>
              <a:rPr lang="zh-CN" altLang="en-US" dirty="0">
                <a:solidFill>
                  <a:srgbClr val="000000"/>
                </a:solidFill>
              </a:rPr>
              <a:t>由于工资的刚性，只要有一部分行业由于劳动生产率提高工资上升，其它劳动生产率没有提高的行业工资会有相应提高时，就会导致结构性通货膨胀。</a:t>
            </a:r>
            <a:endParaRPr lang="zh-CN" altLang="en-US" dirty="0">
              <a:solidFill>
                <a:srgbClr val="000000"/>
              </a:solidFill>
            </a:endParaRPr>
          </a:p>
          <a:p>
            <a:pPr marL="0" indent="0">
              <a:lnSpc>
                <a:spcPct val="125000"/>
              </a:lnSpc>
              <a:buNone/>
            </a:pPr>
            <a:r>
              <a:rPr lang="zh-CN" altLang="en-US" dirty="0">
                <a:solidFill>
                  <a:srgbClr val="000000"/>
                </a:solidFill>
              </a:rPr>
              <a:t>如：一个社会中有</a:t>
            </a:r>
            <a:r>
              <a:rPr lang="en-US" altLang="zh-CN">
                <a:solidFill>
                  <a:srgbClr val="000000"/>
                </a:solidFill>
              </a:rPr>
              <a:t>A</a:t>
            </a:r>
            <a:r>
              <a:rPr lang="zh-CN" altLang="en-US" dirty="0">
                <a:solidFill>
                  <a:srgbClr val="000000"/>
                </a:solidFill>
              </a:rPr>
              <a:t>、</a:t>
            </a:r>
            <a:r>
              <a:rPr lang="en-US" altLang="zh-CN">
                <a:solidFill>
                  <a:srgbClr val="000000"/>
                </a:solidFill>
              </a:rPr>
              <a:t>B</a:t>
            </a:r>
            <a:r>
              <a:rPr lang="zh-CN" altLang="en-US" dirty="0">
                <a:solidFill>
                  <a:srgbClr val="000000"/>
                </a:solidFill>
              </a:rPr>
              <a:t>两部门，其中</a:t>
            </a:r>
            <a:r>
              <a:rPr lang="en-US" altLang="zh-CN">
                <a:solidFill>
                  <a:srgbClr val="000000"/>
                </a:solidFill>
              </a:rPr>
              <a:t>A</a:t>
            </a:r>
            <a:r>
              <a:rPr lang="zh-CN" altLang="en-US" dirty="0">
                <a:solidFill>
                  <a:srgbClr val="000000"/>
                </a:solidFill>
              </a:rPr>
              <a:t>部门生产增长率为</a:t>
            </a:r>
            <a:r>
              <a:rPr lang="en-US" altLang="zh-CN">
                <a:solidFill>
                  <a:srgbClr val="000000"/>
                </a:solidFill>
              </a:rPr>
              <a:t>3.5%</a:t>
            </a:r>
            <a:r>
              <a:rPr lang="zh-CN" altLang="en-US" dirty="0">
                <a:solidFill>
                  <a:srgbClr val="000000"/>
                </a:solidFill>
              </a:rPr>
              <a:t>，工资增长率也为</a:t>
            </a:r>
            <a:r>
              <a:rPr lang="en-US" altLang="zh-CN">
                <a:solidFill>
                  <a:srgbClr val="000000"/>
                </a:solidFill>
              </a:rPr>
              <a:t>3.5%</a:t>
            </a:r>
            <a:r>
              <a:rPr lang="zh-CN" altLang="en-US" dirty="0">
                <a:solidFill>
                  <a:srgbClr val="000000"/>
                </a:solidFill>
              </a:rPr>
              <a:t>；而</a:t>
            </a:r>
            <a:r>
              <a:rPr lang="en-US" altLang="zh-CN">
                <a:solidFill>
                  <a:srgbClr val="000000"/>
                </a:solidFill>
              </a:rPr>
              <a:t>B</a:t>
            </a:r>
            <a:r>
              <a:rPr lang="zh-CN" altLang="en-US" dirty="0">
                <a:solidFill>
                  <a:srgbClr val="000000"/>
                </a:solidFill>
              </a:rPr>
              <a:t>部门生产增长率为</a:t>
            </a:r>
            <a:r>
              <a:rPr lang="en-US" altLang="zh-CN">
                <a:solidFill>
                  <a:srgbClr val="000000"/>
                </a:solidFill>
              </a:rPr>
              <a:t>0.5%</a:t>
            </a:r>
            <a:r>
              <a:rPr lang="zh-CN" altLang="en-US" dirty="0">
                <a:solidFill>
                  <a:srgbClr val="000000"/>
                </a:solidFill>
              </a:rPr>
              <a:t>，但工资增长率也要达到</a:t>
            </a:r>
            <a:r>
              <a:rPr lang="en-US" altLang="zh-CN">
                <a:solidFill>
                  <a:srgbClr val="000000"/>
                </a:solidFill>
              </a:rPr>
              <a:t>3.5%</a:t>
            </a:r>
            <a:r>
              <a:rPr lang="zh-CN" altLang="en-US" dirty="0">
                <a:solidFill>
                  <a:srgbClr val="000000"/>
                </a:solidFill>
              </a:rPr>
              <a:t>，则全社会的生产增长率为</a:t>
            </a:r>
            <a:r>
              <a:rPr lang="en-US" altLang="zh-CN">
                <a:solidFill>
                  <a:srgbClr val="000000"/>
                </a:solidFill>
              </a:rPr>
              <a:t>2%</a:t>
            </a:r>
            <a:r>
              <a:rPr lang="zh-CN" altLang="en-US" dirty="0">
                <a:solidFill>
                  <a:srgbClr val="000000"/>
                </a:solidFill>
              </a:rPr>
              <a:t>，工资增长率为</a:t>
            </a:r>
            <a:r>
              <a:rPr lang="en-US" altLang="zh-CN">
                <a:solidFill>
                  <a:srgbClr val="000000"/>
                </a:solidFill>
              </a:rPr>
              <a:t>3.5%</a:t>
            </a:r>
            <a:r>
              <a:rPr lang="zh-CN" altLang="en-US" dirty="0">
                <a:solidFill>
                  <a:srgbClr val="000000"/>
                </a:solidFill>
              </a:rPr>
              <a:t>，通货膨胀率为</a:t>
            </a:r>
            <a:r>
              <a:rPr lang="en-US" altLang="zh-CN">
                <a:solidFill>
                  <a:srgbClr val="000000"/>
                </a:solidFill>
              </a:rPr>
              <a:t>1.5%</a:t>
            </a:r>
            <a:r>
              <a:rPr lang="zh-CN" altLang="en-US" dirty="0">
                <a:solidFill>
                  <a:srgbClr val="000000"/>
                </a:solidFill>
              </a:rPr>
              <a:t>。</a:t>
            </a:r>
            <a:endParaRPr lang="zh-CN" altLang="en-US" dirty="0">
              <a:solidFill>
                <a:srgbClr val="000000"/>
              </a:solidFill>
            </a:endParaRPr>
          </a:p>
        </p:txBody>
      </p:sp>
    </p:spTree>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标题 135169"/>
          <p:cNvSpPr>
            <a:spLocks noGrp="1"/>
          </p:cNvSpPr>
          <p:nvPr>
            <p:ph type="title"/>
          </p:nvPr>
        </p:nvSpPr>
        <p:spPr>
          <a:xfrm>
            <a:off x="250825" y="228600"/>
            <a:ext cx="8591550" cy="1400175"/>
          </a:xfrm>
          <a:ln/>
        </p:spPr>
        <p:txBody>
          <a:bodyPr anchor="ctr" anchorCtr="0"/>
          <a:p>
            <a:r>
              <a:rPr lang="zh-CN" altLang="en-US" sz="4000" dirty="0"/>
              <a:t>预期性通货膨胀</a:t>
            </a:r>
            <a:endParaRPr lang="zh-CN" altLang="en-US" sz="4000" dirty="0"/>
          </a:p>
        </p:txBody>
      </p:sp>
      <p:sp>
        <p:nvSpPr>
          <p:cNvPr id="135171" name="文本占位符 135170"/>
          <p:cNvSpPr>
            <a:spLocks noGrp="1"/>
          </p:cNvSpPr>
          <p:nvPr>
            <p:ph type="body" idx="1"/>
          </p:nvPr>
        </p:nvSpPr>
        <p:spPr>
          <a:xfrm>
            <a:off x="685800" y="2270125"/>
            <a:ext cx="3886200" cy="3613150"/>
          </a:xfrm>
          <a:ln/>
        </p:spPr>
        <p:txBody>
          <a:bodyPr/>
          <a:p>
            <a:pPr marL="457200" indent="-457200">
              <a:lnSpc>
                <a:spcPct val="125000"/>
              </a:lnSpc>
            </a:pPr>
            <a:r>
              <a:rPr lang="zh-CN" altLang="en-US" sz="2800" dirty="0"/>
              <a:t>当居民对通货膨胀已经形成预期，并采取自我保护时，由这类保护行为所引起的通货膨胀，称为预期的通货膨胀。</a:t>
            </a:r>
            <a:endParaRPr lang="zh-CN" altLang="en-US" sz="2800" dirty="0"/>
          </a:p>
        </p:txBody>
      </p:sp>
      <p:sp>
        <p:nvSpPr>
          <p:cNvPr id="135172" name="直接连接符 135171"/>
          <p:cNvSpPr/>
          <p:nvPr/>
        </p:nvSpPr>
        <p:spPr>
          <a:xfrm>
            <a:off x="5003800" y="5661025"/>
            <a:ext cx="3168650" cy="0"/>
          </a:xfrm>
          <a:prstGeom prst="line">
            <a:avLst/>
          </a:prstGeom>
          <a:ln w="9525" cap="flat" cmpd="sng">
            <a:solidFill>
              <a:schemeClr val="tx1"/>
            </a:solidFill>
            <a:prstDash val="solid"/>
            <a:headEnd type="none" w="med" len="med"/>
            <a:tailEnd type="triangle" w="med" len="med"/>
          </a:ln>
        </p:spPr>
      </p:sp>
      <p:sp>
        <p:nvSpPr>
          <p:cNvPr id="135173" name="直接连接符 135172"/>
          <p:cNvSpPr/>
          <p:nvPr/>
        </p:nvSpPr>
        <p:spPr>
          <a:xfrm flipV="1">
            <a:off x="5003800" y="1628775"/>
            <a:ext cx="0" cy="4032250"/>
          </a:xfrm>
          <a:prstGeom prst="line">
            <a:avLst/>
          </a:prstGeom>
          <a:ln w="9525" cap="flat" cmpd="sng">
            <a:solidFill>
              <a:schemeClr val="tx1"/>
            </a:solidFill>
            <a:prstDash val="solid"/>
            <a:headEnd type="none" w="med" len="med"/>
            <a:tailEnd type="triangle" w="med" len="med"/>
          </a:ln>
        </p:spPr>
      </p:sp>
      <p:sp>
        <p:nvSpPr>
          <p:cNvPr id="135174" name="任意多边形 135173"/>
          <p:cNvSpPr/>
          <p:nvPr/>
        </p:nvSpPr>
        <p:spPr>
          <a:xfrm flipV="1">
            <a:off x="5795963" y="2349500"/>
            <a:ext cx="2663825" cy="2951163"/>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135175" name="任意多边形 135174"/>
          <p:cNvSpPr/>
          <p:nvPr/>
        </p:nvSpPr>
        <p:spPr>
          <a:xfrm flipV="1">
            <a:off x="5508625" y="2205038"/>
            <a:ext cx="2447925" cy="2663825"/>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0000"/>
            </a:solidFill>
            <a:prstDash val="solid"/>
            <a:headEnd type="none" w="med" len="med"/>
            <a:tailEnd type="none" w="med" len="med"/>
          </a:ln>
        </p:spPr>
        <p:txBody>
          <a:bodyPr/>
          <a:p>
            <a:endParaRPr lang="zh-CN" altLang="en-US"/>
          </a:p>
        </p:txBody>
      </p:sp>
      <p:sp>
        <p:nvSpPr>
          <p:cNvPr id="135176" name="任意多边形 135175"/>
          <p:cNvSpPr/>
          <p:nvPr/>
        </p:nvSpPr>
        <p:spPr>
          <a:xfrm flipV="1">
            <a:off x="5219700" y="1989138"/>
            <a:ext cx="2232025" cy="237648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folHlink"/>
            </a:solidFill>
            <a:prstDash val="solid"/>
            <a:headEnd type="none" w="med" len="med"/>
            <a:tailEnd type="none" w="med" len="med"/>
          </a:ln>
        </p:spPr>
        <p:txBody>
          <a:bodyPr/>
          <a:p>
            <a:endParaRPr lang="zh-CN" altLang="en-US"/>
          </a:p>
        </p:txBody>
      </p:sp>
      <p:sp>
        <p:nvSpPr>
          <p:cNvPr id="135177" name="直接连接符 135176"/>
          <p:cNvSpPr/>
          <p:nvPr/>
        </p:nvSpPr>
        <p:spPr>
          <a:xfrm>
            <a:off x="5724525" y="2565400"/>
            <a:ext cx="2160588" cy="2951163"/>
          </a:xfrm>
          <a:prstGeom prst="line">
            <a:avLst/>
          </a:prstGeom>
          <a:ln w="28575" cap="flat" cmpd="sng">
            <a:solidFill>
              <a:schemeClr val="tx1"/>
            </a:solidFill>
            <a:prstDash val="solid"/>
            <a:headEnd type="none" w="med" len="med"/>
            <a:tailEnd type="none" w="med" len="med"/>
          </a:ln>
        </p:spPr>
      </p:sp>
      <p:sp>
        <p:nvSpPr>
          <p:cNvPr id="135178" name="直接连接符 135177"/>
          <p:cNvSpPr/>
          <p:nvPr/>
        </p:nvSpPr>
        <p:spPr>
          <a:xfrm>
            <a:off x="7308850" y="4724400"/>
            <a:ext cx="0" cy="936625"/>
          </a:xfrm>
          <a:prstGeom prst="line">
            <a:avLst/>
          </a:prstGeom>
          <a:ln w="9525" cap="flat" cmpd="sng">
            <a:solidFill>
              <a:schemeClr val="tx1"/>
            </a:solidFill>
            <a:prstDash val="dash"/>
            <a:headEnd type="none" w="med" len="med"/>
            <a:tailEnd type="none" w="med" len="med"/>
          </a:ln>
        </p:spPr>
      </p:sp>
      <p:sp>
        <p:nvSpPr>
          <p:cNvPr id="135179" name="直接连接符 135178"/>
          <p:cNvSpPr/>
          <p:nvPr/>
        </p:nvSpPr>
        <p:spPr>
          <a:xfrm flipV="1">
            <a:off x="7308850" y="4005263"/>
            <a:ext cx="0" cy="792162"/>
          </a:xfrm>
          <a:prstGeom prst="line">
            <a:avLst/>
          </a:prstGeom>
          <a:ln w="9525" cap="flat" cmpd="sng">
            <a:solidFill>
              <a:schemeClr val="hlink"/>
            </a:solidFill>
            <a:prstDash val="dash"/>
            <a:headEnd type="none" w="med" len="med"/>
            <a:tailEnd type="none" w="med" len="med"/>
          </a:ln>
        </p:spPr>
      </p:sp>
      <p:sp>
        <p:nvSpPr>
          <p:cNvPr id="135180" name="直接连接符 135179"/>
          <p:cNvSpPr/>
          <p:nvPr/>
        </p:nvSpPr>
        <p:spPr>
          <a:xfrm flipV="1">
            <a:off x="7308850" y="2781300"/>
            <a:ext cx="0" cy="1223963"/>
          </a:xfrm>
          <a:prstGeom prst="line">
            <a:avLst/>
          </a:prstGeom>
          <a:ln w="9525" cap="flat" cmpd="sng">
            <a:solidFill>
              <a:schemeClr val="folHlink"/>
            </a:solidFill>
            <a:prstDash val="dash"/>
            <a:headEnd type="none" w="med" len="med"/>
            <a:tailEnd type="none" w="med" len="med"/>
          </a:ln>
        </p:spPr>
      </p:sp>
      <p:sp>
        <p:nvSpPr>
          <p:cNvPr id="135181" name="直接连接符 135180"/>
          <p:cNvSpPr/>
          <p:nvPr/>
        </p:nvSpPr>
        <p:spPr>
          <a:xfrm>
            <a:off x="6084888" y="2349500"/>
            <a:ext cx="2087562" cy="2879725"/>
          </a:xfrm>
          <a:prstGeom prst="line">
            <a:avLst/>
          </a:prstGeom>
          <a:ln w="28575" cap="flat" cmpd="sng">
            <a:solidFill>
              <a:srgbClr val="FF0000"/>
            </a:solidFill>
            <a:prstDash val="solid"/>
            <a:headEnd type="none" w="med" len="med"/>
            <a:tailEnd type="none" w="med" len="med"/>
          </a:ln>
        </p:spPr>
      </p:sp>
      <p:sp>
        <p:nvSpPr>
          <p:cNvPr id="135182" name="直接连接符 135181"/>
          <p:cNvSpPr/>
          <p:nvPr/>
        </p:nvSpPr>
        <p:spPr>
          <a:xfrm>
            <a:off x="6659563" y="1989138"/>
            <a:ext cx="2016125" cy="2735262"/>
          </a:xfrm>
          <a:prstGeom prst="line">
            <a:avLst/>
          </a:prstGeom>
          <a:ln w="28575" cap="flat" cmpd="sng">
            <a:solidFill>
              <a:schemeClr val="folHlink"/>
            </a:solidFill>
            <a:prstDash val="solid"/>
            <a:headEnd type="none" w="med" len="med"/>
            <a:tailEnd type="none" w="med" len="med"/>
          </a:ln>
        </p:spPr>
      </p:sp>
      <p:sp>
        <p:nvSpPr>
          <p:cNvPr id="135183" name="直接连接符 135182"/>
          <p:cNvSpPr/>
          <p:nvPr/>
        </p:nvSpPr>
        <p:spPr>
          <a:xfrm>
            <a:off x="7524750" y="5013325"/>
            <a:ext cx="431800" cy="0"/>
          </a:xfrm>
          <a:prstGeom prst="line">
            <a:avLst/>
          </a:prstGeom>
          <a:ln w="38100" cap="flat" cmpd="sng">
            <a:solidFill>
              <a:srgbClr val="FF0000"/>
            </a:solidFill>
            <a:prstDash val="solid"/>
            <a:headEnd type="none" w="med" len="med"/>
            <a:tailEnd type="triangle" w="med" len="med"/>
          </a:ln>
        </p:spPr>
      </p:sp>
      <p:sp>
        <p:nvSpPr>
          <p:cNvPr id="135184" name="直接连接符 135183"/>
          <p:cNvSpPr/>
          <p:nvPr/>
        </p:nvSpPr>
        <p:spPr>
          <a:xfrm flipV="1">
            <a:off x="6156325" y="4797425"/>
            <a:ext cx="0" cy="503238"/>
          </a:xfrm>
          <a:prstGeom prst="line">
            <a:avLst/>
          </a:prstGeom>
          <a:ln w="38100" cap="flat" cmpd="sng">
            <a:solidFill>
              <a:srgbClr val="FF0000"/>
            </a:solidFill>
            <a:prstDash val="solid"/>
            <a:headEnd type="none" w="med" len="med"/>
            <a:tailEnd type="triangle" w="med" len="med"/>
          </a:ln>
        </p:spPr>
      </p:sp>
      <p:sp>
        <p:nvSpPr>
          <p:cNvPr id="135185" name="直接连接符 135184"/>
          <p:cNvSpPr/>
          <p:nvPr/>
        </p:nvSpPr>
        <p:spPr>
          <a:xfrm>
            <a:off x="7812088" y="4724400"/>
            <a:ext cx="792162" cy="0"/>
          </a:xfrm>
          <a:prstGeom prst="line">
            <a:avLst/>
          </a:prstGeom>
          <a:ln w="38100" cap="flat" cmpd="sng">
            <a:solidFill>
              <a:schemeClr val="folHlink"/>
            </a:solidFill>
            <a:prstDash val="solid"/>
            <a:headEnd type="none" w="med" len="med"/>
            <a:tailEnd type="triangle" w="med" len="med"/>
          </a:ln>
        </p:spPr>
      </p:sp>
      <p:sp>
        <p:nvSpPr>
          <p:cNvPr id="135186" name="直接连接符 135185"/>
          <p:cNvSpPr/>
          <p:nvPr/>
        </p:nvSpPr>
        <p:spPr>
          <a:xfrm flipV="1">
            <a:off x="6156325" y="4149725"/>
            <a:ext cx="0" cy="574675"/>
          </a:xfrm>
          <a:prstGeom prst="line">
            <a:avLst/>
          </a:prstGeom>
          <a:ln w="38100" cap="flat" cmpd="sng">
            <a:solidFill>
              <a:schemeClr val="folHlink"/>
            </a:solidFill>
            <a:prstDash val="solid"/>
            <a:headEnd type="none" w="med" len="med"/>
            <a:tailEnd type="triangle" w="med" len="med"/>
          </a:ln>
        </p:spPr>
      </p:sp>
      <p:sp>
        <p:nvSpPr>
          <p:cNvPr id="135187" name="文本框 135186"/>
          <p:cNvSpPr txBox="1"/>
          <p:nvPr/>
        </p:nvSpPr>
        <p:spPr>
          <a:xfrm>
            <a:off x="8172450" y="5445125"/>
            <a:ext cx="576263"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Y</a:t>
            </a:r>
            <a:endParaRPr lang="en-US" altLang="zh-CN" sz="1800" b="0">
              <a:latin typeface="Arial" panose="020B0604020202020204" pitchFamily="34" charset="0"/>
            </a:endParaRPr>
          </a:p>
        </p:txBody>
      </p:sp>
      <p:sp>
        <p:nvSpPr>
          <p:cNvPr id="135188" name="文本框 135187"/>
          <p:cNvSpPr txBox="1"/>
          <p:nvPr/>
        </p:nvSpPr>
        <p:spPr>
          <a:xfrm>
            <a:off x="4716463" y="1557338"/>
            <a:ext cx="576262"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P</a:t>
            </a:r>
            <a:endParaRPr lang="en-US" altLang="zh-CN" sz="1800" b="0">
              <a:latin typeface="Arial" panose="020B0604020202020204" pitchFamily="34" charset="0"/>
            </a:endParaRPr>
          </a:p>
        </p:txBody>
      </p:sp>
      <p:sp>
        <p:nvSpPr>
          <p:cNvPr id="135189" name="文本框 135188"/>
          <p:cNvSpPr txBox="1"/>
          <p:nvPr/>
        </p:nvSpPr>
        <p:spPr>
          <a:xfrm>
            <a:off x="5364163" y="2565400"/>
            <a:ext cx="720725" cy="366713"/>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AD</a:t>
            </a:r>
            <a:r>
              <a:rPr lang="en-US" altLang="zh-CN" sz="1800" b="0" baseline="-12000">
                <a:latin typeface="Arial" panose="020B0604020202020204" pitchFamily="34" charset="0"/>
              </a:rPr>
              <a:t>1</a:t>
            </a:r>
            <a:endParaRPr lang="en-US" altLang="zh-CN" sz="1800" b="0" baseline="-12000">
              <a:latin typeface="Arial" panose="020B0604020202020204" pitchFamily="34" charset="0"/>
            </a:endParaRPr>
          </a:p>
        </p:txBody>
      </p:sp>
      <p:sp>
        <p:nvSpPr>
          <p:cNvPr id="135190" name="文本框 135189"/>
          <p:cNvSpPr txBox="1"/>
          <p:nvPr/>
        </p:nvSpPr>
        <p:spPr>
          <a:xfrm>
            <a:off x="5724525" y="2349500"/>
            <a:ext cx="863600" cy="366713"/>
          </a:xfrm>
          <a:prstGeom prst="rect">
            <a:avLst/>
          </a:prstGeom>
          <a:noFill/>
          <a:ln w="9525">
            <a:noFill/>
          </a:ln>
        </p:spPr>
        <p:txBody>
          <a:bodyPr>
            <a:spAutoFit/>
          </a:bodyPr>
          <a:p>
            <a:pPr>
              <a:lnSpc>
                <a:spcPct val="100000"/>
              </a:lnSpc>
              <a:spcBef>
                <a:spcPct val="50000"/>
              </a:spcBef>
            </a:pPr>
            <a:r>
              <a:rPr lang="en-US" altLang="zh-CN" sz="1800" b="0">
                <a:solidFill>
                  <a:srgbClr val="FF0000"/>
                </a:solidFill>
                <a:latin typeface="Arial" panose="020B0604020202020204" pitchFamily="34" charset="0"/>
              </a:rPr>
              <a:t>AD</a:t>
            </a:r>
            <a:r>
              <a:rPr lang="en-US" altLang="zh-CN" sz="1800" b="0" baseline="-12000">
                <a:solidFill>
                  <a:srgbClr val="FF0000"/>
                </a:solidFill>
                <a:latin typeface="Arial" panose="020B0604020202020204" pitchFamily="34" charset="0"/>
              </a:rPr>
              <a:t>2</a:t>
            </a:r>
            <a:endParaRPr lang="en-US" altLang="zh-CN" sz="1800" b="0" baseline="-12000">
              <a:solidFill>
                <a:srgbClr val="FF0000"/>
              </a:solidFill>
              <a:latin typeface="Arial" panose="020B0604020202020204" pitchFamily="34" charset="0"/>
            </a:endParaRPr>
          </a:p>
        </p:txBody>
      </p:sp>
      <p:sp>
        <p:nvSpPr>
          <p:cNvPr id="135191" name="文本框 135190"/>
          <p:cNvSpPr txBox="1"/>
          <p:nvPr/>
        </p:nvSpPr>
        <p:spPr>
          <a:xfrm>
            <a:off x="6227763" y="1916113"/>
            <a:ext cx="1079500" cy="366712"/>
          </a:xfrm>
          <a:prstGeom prst="rect">
            <a:avLst/>
          </a:prstGeom>
          <a:noFill/>
          <a:ln w="9525">
            <a:noFill/>
          </a:ln>
        </p:spPr>
        <p:txBody>
          <a:bodyPr>
            <a:spAutoFit/>
          </a:bodyPr>
          <a:p>
            <a:pPr>
              <a:lnSpc>
                <a:spcPct val="100000"/>
              </a:lnSpc>
              <a:spcBef>
                <a:spcPct val="50000"/>
              </a:spcBef>
            </a:pPr>
            <a:r>
              <a:rPr lang="en-US" altLang="zh-CN" sz="1800" b="0">
                <a:solidFill>
                  <a:schemeClr val="folHlink"/>
                </a:solidFill>
                <a:latin typeface="Arial" panose="020B0604020202020204" pitchFamily="34" charset="0"/>
              </a:rPr>
              <a:t>AD</a:t>
            </a:r>
            <a:r>
              <a:rPr lang="en-US" altLang="zh-CN" sz="1800" b="0" baseline="-25000">
                <a:solidFill>
                  <a:schemeClr val="folHlink"/>
                </a:solidFill>
                <a:latin typeface="Arial" panose="020B0604020202020204" pitchFamily="34" charset="0"/>
              </a:rPr>
              <a:t>3</a:t>
            </a:r>
            <a:endParaRPr lang="en-US" altLang="zh-CN" sz="1800" b="0" baseline="-25000">
              <a:solidFill>
                <a:schemeClr val="folHlink"/>
              </a:solidFill>
              <a:latin typeface="Arial" panose="020B0604020202020204" pitchFamily="34" charset="0"/>
            </a:endParaRPr>
          </a:p>
        </p:txBody>
      </p:sp>
      <p:sp>
        <p:nvSpPr>
          <p:cNvPr id="135192" name="文本框 135191"/>
          <p:cNvSpPr txBox="1"/>
          <p:nvPr/>
        </p:nvSpPr>
        <p:spPr>
          <a:xfrm>
            <a:off x="8243888" y="3068638"/>
            <a:ext cx="684212" cy="366712"/>
          </a:xfrm>
          <a:prstGeom prst="rect">
            <a:avLst/>
          </a:prstGeom>
          <a:noFill/>
          <a:ln w="9525">
            <a:noFill/>
          </a:ln>
        </p:spPr>
        <p:txBody>
          <a:bodyPr>
            <a:spAutoFit/>
          </a:bodyPr>
          <a:p>
            <a:pPr>
              <a:lnSpc>
                <a:spcPct val="100000"/>
              </a:lnSpc>
              <a:spcBef>
                <a:spcPct val="50000"/>
              </a:spcBef>
            </a:pPr>
            <a:r>
              <a:rPr lang="en-US" altLang="zh-CN" sz="1800" b="0">
                <a:latin typeface="Arial" panose="020B0604020202020204" pitchFamily="34" charset="0"/>
              </a:rPr>
              <a:t>AS</a:t>
            </a:r>
            <a:r>
              <a:rPr lang="en-US" altLang="zh-CN" sz="1800" b="0" baseline="-25000">
                <a:latin typeface="Arial" panose="020B0604020202020204" pitchFamily="34" charset="0"/>
              </a:rPr>
              <a:t>1</a:t>
            </a:r>
            <a:endParaRPr lang="en-US" altLang="zh-CN" sz="1800" b="0" baseline="-25000">
              <a:latin typeface="Arial" panose="020B0604020202020204" pitchFamily="34" charset="0"/>
            </a:endParaRPr>
          </a:p>
        </p:txBody>
      </p:sp>
      <p:sp>
        <p:nvSpPr>
          <p:cNvPr id="135193" name="文本框 135192"/>
          <p:cNvSpPr txBox="1"/>
          <p:nvPr/>
        </p:nvSpPr>
        <p:spPr>
          <a:xfrm>
            <a:off x="7885113" y="2276475"/>
            <a:ext cx="647700" cy="366713"/>
          </a:xfrm>
          <a:prstGeom prst="rect">
            <a:avLst/>
          </a:prstGeom>
          <a:noFill/>
          <a:ln w="9525">
            <a:noFill/>
          </a:ln>
        </p:spPr>
        <p:txBody>
          <a:bodyPr>
            <a:spAutoFit/>
          </a:bodyPr>
          <a:p>
            <a:pPr>
              <a:lnSpc>
                <a:spcPct val="100000"/>
              </a:lnSpc>
              <a:spcBef>
                <a:spcPct val="50000"/>
              </a:spcBef>
            </a:pPr>
            <a:r>
              <a:rPr lang="en-US" altLang="zh-CN" sz="1800" b="0">
                <a:solidFill>
                  <a:srgbClr val="FF0000"/>
                </a:solidFill>
                <a:latin typeface="Arial" panose="020B0604020202020204" pitchFamily="34" charset="0"/>
              </a:rPr>
              <a:t>AS</a:t>
            </a:r>
            <a:r>
              <a:rPr lang="en-US" altLang="zh-CN" sz="1800" b="0" baseline="-12000">
                <a:solidFill>
                  <a:srgbClr val="FF0000"/>
                </a:solidFill>
                <a:latin typeface="Arial" panose="020B0604020202020204" pitchFamily="34" charset="0"/>
              </a:rPr>
              <a:t>2</a:t>
            </a:r>
            <a:endParaRPr lang="en-US" altLang="zh-CN" sz="1800" b="0" baseline="-12000">
              <a:solidFill>
                <a:srgbClr val="FF0000"/>
              </a:solidFill>
              <a:latin typeface="Arial" panose="020B0604020202020204" pitchFamily="34" charset="0"/>
            </a:endParaRPr>
          </a:p>
        </p:txBody>
      </p:sp>
      <p:sp>
        <p:nvSpPr>
          <p:cNvPr id="135194" name="文本框 135193"/>
          <p:cNvSpPr txBox="1"/>
          <p:nvPr/>
        </p:nvSpPr>
        <p:spPr>
          <a:xfrm>
            <a:off x="7380288" y="1844675"/>
            <a:ext cx="1008062" cy="366713"/>
          </a:xfrm>
          <a:prstGeom prst="rect">
            <a:avLst/>
          </a:prstGeom>
          <a:noFill/>
          <a:ln w="9525">
            <a:noFill/>
          </a:ln>
        </p:spPr>
        <p:txBody>
          <a:bodyPr>
            <a:spAutoFit/>
          </a:bodyPr>
          <a:p>
            <a:pPr>
              <a:lnSpc>
                <a:spcPct val="100000"/>
              </a:lnSpc>
              <a:spcBef>
                <a:spcPct val="50000"/>
              </a:spcBef>
            </a:pPr>
            <a:r>
              <a:rPr lang="en-US" altLang="zh-CN" sz="1800" b="0">
                <a:solidFill>
                  <a:schemeClr val="folHlink"/>
                </a:solidFill>
                <a:latin typeface="Arial" panose="020B0604020202020204" pitchFamily="34" charset="0"/>
              </a:rPr>
              <a:t>AS</a:t>
            </a:r>
            <a:r>
              <a:rPr lang="en-US" altLang="zh-CN" sz="1800" b="0" baseline="-12000">
                <a:solidFill>
                  <a:schemeClr val="folHlink"/>
                </a:solidFill>
                <a:latin typeface="Arial" panose="020B0604020202020204" pitchFamily="34" charset="0"/>
              </a:rPr>
              <a:t>3</a:t>
            </a:r>
            <a:endParaRPr lang="en-US" altLang="zh-CN" sz="1800" b="0" baseline="-12000">
              <a:solidFill>
                <a:schemeClr val="folHlink"/>
              </a:solidFill>
              <a:latin typeface="Arial" panose="020B0604020202020204" pitchFamily="34"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183"/>
                                        </p:tgtEl>
                                        <p:attrNameLst>
                                          <p:attrName>style.visibility</p:attrName>
                                        </p:attrNameLst>
                                      </p:cBhvr>
                                      <p:to>
                                        <p:strVal val="visible"/>
                                      </p:to>
                                    </p:set>
                                    <p:animEffect transition="in" filter="blinds(horizontal)">
                                      <p:cBhvr>
                                        <p:cTn id="7" dur="500"/>
                                        <p:tgtEl>
                                          <p:spTgt spid="13518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5181"/>
                                        </p:tgtEl>
                                        <p:attrNameLst>
                                          <p:attrName>style.visibility</p:attrName>
                                        </p:attrNameLst>
                                      </p:cBhvr>
                                      <p:to>
                                        <p:strVal val="visible"/>
                                      </p:to>
                                    </p:set>
                                    <p:animEffect transition="in" filter="blinds(horizontal)">
                                      <p:cBhvr>
                                        <p:cTn id="11" dur="500"/>
                                        <p:tgtEl>
                                          <p:spTgt spid="135181"/>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35190"/>
                                        </p:tgtEl>
                                        <p:attrNameLst>
                                          <p:attrName>style.visibility</p:attrName>
                                        </p:attrNameLst>
                                      </p:cBhvr>
                                      <p:to>
                                        <p:strVal val="visible"/>
                                      </p:to>
                                    </p:set>
                                    <p:animEffect transition="in" filter="blinds(horizontal)">
                                      <p:cBhvr>
                                        <p:cTn id="15" dur="500"/>
                                        <p:tgtEl>
                                          <p:spTgt spid="13519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35184"/>
                                        </p:tgtEl>
                                        <p:attrNameLst>
                                          <p:attrName>style.visibility</p:attrName>
                                        </p:attrNameLst>
                                      </p:cBhvr>
                                      <p:to>
                                        <p:strVal val="visible"/>
                                      </p:to>
                                    </p:set>
                                    <p:animEffect transition="in" filter="blinds(horizontal)">
                                      <p:cBhvr>
                                        <p:cTn id="20" dur="500"/>
                                        <p:tgtEl>
                                          <p:spTgt spid="135184"/>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35175"/>
                                        </p:tgtEl>
                                        <p:attrNameLst>
                                          <p:attrName>style.visibility</p:attrName>
                                        </p:attrNameLst>
                                      </p:cBhvr>
                                      <p:to>
                                        <p:strVal val="visible"/>
                                      </p:to>
                                    </p:set>
                                    <p:animEffect transition="in" filter="blinds(horizontal)">
                                      <p:cBhvr>
                                        <p:cTn id="24" dur="500"/>
                                        <p:tgtEl>
                                          <p:spTgt spid="135175"/>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35179"/>
                                        </p:tgtEl>
                                        <p:attrNameLst>
                                          <p:attrName>style.visibility</p:attrName>
                                        </p:attrNameLst>
                                      </p:cBhvr>
                                      <p:to>
                                        <p:strVal val="visible"/>
                                      </p:to>
                                    </p:set>
                                    <p:animEffect transition="in" filter="blinds(horizontal)">
                                      <p:cBhvr>
                                        <p:cTn id="28" dur="500"/>
                                        <p:tgtEl>
                                          <p:spTgt spid="135179"/>
                                        </p:tgtEl>
                                      </p:cBhvr>
                                    </p:animEffect>
                                  </p:childTnLst>
                                </p:cTn>
                              </p:par>
                            </p:childTnLst>
                          </p:cTn>
                        </p:par>
                        <p:par>
                          <p:cTn id="29" fill="hold">
                            <p:stCondLst>
                              <p:cond delay="1500"/>
                            </p:stCondLst>
                            <p:childTnLst>
                              <p:par>
                                <p:cTn id="30" presetID="3" presetClass="entr" presetSubtype="10" fill="hold" grpId="0" nodeType="afterEffect">
                                  <p:stCondLst>
                                    <p:cond delay="0"/>
                                  </p:stCondLst>
                                  <p:childTnLst>
                                    <p:set>
                                      <p:cBhvr>
                                        <p:cTn id="31" dur="1" fill="hold">
                                          <p:stCondLst>
                                            <p:cond delay="0"/>
                                          </p:stCondLst>
                                        </p:cTn>
                                        <p:tgtEl>
                                          <p:spTgt spid="135193"/>
                                        </p:tgtEl>
                                        <p:attrNameLst>
                                          <p:attrName>style.visibility</p:attrName>
                                        </p:attrNameLst>
                                      </p:cBhvr>
                                      <p:to>
                                        <p:strVal val="visible"/>
                                      </p:to>
                                    </p:set>
                                    <p:animEffect transition="in" filter="blinds(horizontal)">
                                      <p:cBhvr>
                                        <p:cTn id="32" dur="500"/>
                                        <p:tgtEl>
                                          <p:spTgt spid="13519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35185"/>
                                        </p:tgtEl>
                                        <p:attrNameLst>
                                          <p:attrName>style.visibility</p:attrName>
                                        </p:attrNameLst>
                                      </p:cBhvr>
                                      <p:to>
                                        <p:strVal val="visible"/>
                                      </p:to>
                                    </p:set>
                                    <p:animEffect transition="in" filter="blinds(horizontal)">
                                      <p:cBhvr>
                                        <p:cTn id="37" dur="500"/>
                                        <p:tgtEl>
                                          <p:spTgt spid="135185"/>
                                        </p:tgtEl>
                                      </p:cBhvr>
                                    </p:animEffect>
                                  </p:childTnLst>
                                </p:cTn>
                              </p:par>
                            </p:childTnLst>
                          </p:cTn>
                        </p:par>
                        <p:par>
                          <p:cTn id="38" fill="hold">
                            <p:stCondLst>
                              <p:cond delay="500"/>
                            </p:stCondLst>
                            <p:childTnLst>
                              <p:par>
                                <p:cTn id="39" presetID="3" presetClass="entr" presetSubtype="10" fill="hold" nodeType="afterEffect">
                                  <p:stCondLst>
                                    <p:cond delay="0"/>
                                  </p:stCondLst>
                                  <p:childTnLst>
                                    <p:set>
                                      <p:cBhvr>
                                        <p:cTn id="40" dur="1" fill="hold">
                                          <p:stCondLst>
                                            <p:cond delay="0"/>
                                          </p:stCondLst>
                                        </p:cTn>
                                        <p:tgtEl>
                                          <p:spTgt spid="135182"/>
                                        </p:tgtEl>
                                        <p:attrNameLst>
                                          <p:attrName>style.visibility</p:attrName>
                                        </p:attrNameLst>
                                      </p:cBhvr>
                                      <p:to>
                                        <p:strVal val="visible"/>
                                      </p:to>
                                    </p:set>
                                    <p:animEffect transition="in" filter="blinds(horizontal)">
                                      <p:cBhvr>
                                        <p:cTn id="41" dur="500"/>
                                        <p:tgtEl>
                                          <p:spTgt spid="135182"/>
                                        </p:tgtEl>
                                      </p:cBhvr>
                                    </p:animEffect>
                                  </p:childTnLst>
                                </p:cTn>
                              </p:par>
                            </p:childTnLst>
                          </p:cTn>
                        </p:par>
                        <p:par>
                          <p:cTn id="42" fill="hold">
                            <p:stCondLst>
                              <p:cond delay="1000"/>
                            </p:stCondLst>
                            <p:childTnLst>
                              <p:par>
                                <p:cTn id="43" presetID="3" presetClass="entr" presetSubtype="10" fill="hold" grpId="0" nodeType="afterEffect">
                                  <p:stCondLst>
                                    <p:cond delay="0"/>
                                  </p:stCondLst>
                                  <p:childTnLst>
                                    <p:set>
                                      <p:cBhvr>
                                        <p:cTn id="44" dur="1" fill="hold">
                                          <p:stCondLst>
                                            <p:cond delay="0"/>
                                          </p:stCondLst>
                                        </p:cTn>
                                        <p:tgtEl>
                                          <p:spTgt spid="135191"/>
                                        </p:tgtEl>
                                        <p:attrNameLst>
                                          <p:attrName>style.visibility</p:attrName>
                                        </p:attrNameLst>
                                      </p:cBhvr>
                                      <p:to>
                                        <p:strVal val="visible"/>
                                      </p:to>
                                    </p:set>
                                    <p:animEffect transition="in" filter="blinds(horizontal)">
                                      <p:cBhvr>
                                        <p:cTn id="45" dur="500"/>
                                        <p:tgtEl>
                                          <p:spTgt spid="135191"/>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35186"/>
                                        </p:tgtEl>
                                        <p:attrNameLst>
                                          <p:attrName>style.visibility</p:attrName>
                                        </p:attrNameLst>
                                      </p:cBhvr>
                                      <p:to>
                                        <p:strVal val="visible"/>
                                      </p:to>
                                    </p:set>
                                    <p:animEffect transition="in" filter="blinds(horizontal)">
                                      <p:cBhvr>
                                        <p:cTn id="50" dur="500"/>
                                        <p:tgtEl>
                                          <p:spTgt spid="135186"/>
                                        </p:tgtEl>
                                      </p:cBhvr>
                                    </p:animEffect>
                                  </p:childTnLst>
                                </p:cTn>
                              </p:par>
                            </p:childTnLst>
                          </p:cTn>
                        </p:par>
                        <p:par>
                          <p:cTn id="51" fill="hold">
                            <p:stCondLst>
                              <p:cond delay="500"/>
                            </p:stCondLst>
                            <p:childTnLst>
                              <p:par>
                                <p:cTn id="52" presetID="3" presetClass="entr" presetSubtype="10" fill="hold" nodeType="afterEffect">
                                  <p:stCondLst>
                                    <p:cond delay="0"/>
                                  </p:stCondLst>
                                  <p:childTnLst>
                                    <p:set>
                                      <p:cBhvr>
                                        <p:cTn id="53" dur="1" fill="hold">
                                          <p:stCondLst>
                                            <p:cond delay="0"/>
                                          </p:stCondLst>
                                        </p:cTn>
                                        <p:tgtEl>
                                          <p:spTgt spid="135176"/>
                                        </p:tgtEl>
                                        <p:attrNameLst>
                                          <p:attrName>style.visibility</p:attrName>
                                        </p:attrNameLst>
                                      </p:cBhvr>
                                      <p:to>
                                        <p:strVal val="visible"/>
                                      </p:to>
                                    </p:set>
                                    <p:animEffect transition="in" filter="blinds(horizontal)">
                                      <p:cBhvr>
                                        <p:cTn id="54" dur="500"/>
                                        <p:tgtEl>
                                          <p:spTgt spid="135176"/>
                                        </p:tgtEl>
                                      </p:cBhvr>
                                    </p:animEffect>
                                  </p:childTnLst>
                                </p:cTn>
                              </p:par>
                            </p:childTnLst>
                          </p:cTn>
                        </p:par>
                        <p:par>
                          <p:cTn id="55" fill="hold">
                            <p:stCondLst>
                              <p:cond delay="1000"/>
                            </p:stCondLst>
                            <p:childTnLst>
                              <p:par>
                                <p:cTn id="56" presetID="3" presetClass="entr" presetSubtype="10" fill="hold" nodeType="afterEffect">
                                  <p:stCondLst>
                                    <p:cond delay="0"/>
                                  </p:stCondLst>
                                  <p:childTnLst>
                                    <p:set>
                                      <p:cBhvr>
                                        <p:cTn id="57" dur="1" fill="hold">
                                          <p:stCondLst>
                                            <p:cond delay="0"/>
                                          </p:stCondLst>
                                        </p:cTn>
                                        <p:tgtEl>
                                          <p:spTgt spid="135180"/>
                                        </p:tgtEl>
                                        <p:attrNameLst>
                                          <p:attrName>style.visibility</p:attrName>
                                        </p:attrNameLst>
                                      </p:cBhvr>
                                      <p:to>
                                        <p:strVal val="visible"/>
                                      </p:to>
                                    </p:set>
                                    <p:animEffect transition="in" filter="blinds(horizontal)">
                                      <p:cBhvr>
                                        <p:cTn id="58" dur="500"/>
                                        <p:tgtEl>
                                          <p:spTgt spid="135180"/>
                                        </p:tgtEl>
                                      </p:cBhvr>
                                    </p:animEffect>
                                  </p:childTnLst>
                                </p:cTn>
                              </p:par>
                            </p:childTnLst>
                          </p:cTn>
                        </p:par>
                        <p:par>
                          <p:cTn id="59" fill="hold">
                            <p:stCondLst>
                              <p:cond delay="1500"/>
                            </p:stCondLst>
                            <p:childTnLst>
                              <p:par>
                                <p:cTn id="60" presetID="3" presetClass="entr" presetSubtype="10" fill="hold" grpId="0" nodeType="afterEffect">
                                  <p:stCondLst>
                                    <p:cond delay="0"/>
                                  </p:stCondLst>
                                  <p:childTnLst>
                                    <p:set>
                                      <p:cBhvr>
                                        <p:cTn id="61" dur="1" fill="hold">
                                          <p:stCondLst>
                                            <p:cond delay="0"/>
                                          </p:stCondLst>
                                        </p:cTn>
                                        <p:tgtEl>
                                          <p:spTgt spid="135194"/>
                                        </p:tgtEl>
                                        <p:attrNameLst>
                                          <p:attrName>style.visibility</p:attrName>
                                        </p:attrNameLst>
                                      </p:cBhvr>
                                      <p:to>
                                        <p:strVal val="visible"/>
                                      </p:to>
                                    </p:set>
                                    <p:animEffect transition="in" filter="blinds(horizontal)">
                                      <p:cBhvr>
                                        <p:cTn id="62" dur="500"/>
                                        <p:tgtEl>
                                          <p:spTgt spid="135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90" grpId="0"/>
      <p:bldP spid="135191" grpId="0"/>
      <p:bldP spid="135193" grpId="0"/>
      <p:bldP spid="13519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标题 137217"/>
          <p:cNvSpPr>
            <a:spLocks noGrp="1"/>
          </p:cNvSpPr>
          <p:nvPr>
            <p:ph type="title"/>
          </p:nvPr>
        </p:nvSpPr>
        <p:spPr>
          <a:xfrm>
            <a:off x="1066800" y="914400"/>
            <a:ext cx="7848600" cy="533400"/>
          </a:xfrm>
          <a:ln/>
        </p:spPr>
        <p:txBody>
          <a:bodyPr anchor="ctr" anchorCtr="0"/>
          <a:p>
            <a:r>
              <a:rPr lang="zh-CN" altLang="en-US" dirty="0"/>
              <a:t>通货膨胀对经济的影响</a:t>
            </a:r>
            <a:endParaRPr lang="zh-CN" altLang="en-US" dirty="0"/>
          </a:p>
        </p:txBody>
      </p:sp>
      <p:sp>
        <p:nvSpPr>
          <p:cNvPr id="137219" name="文本占位符 137218"/>
          <p:cNvSpPr>
            <a:spLocks noGrp="1"/>
          </p:cNvSpPr>
          <p:nvPr>
            <p:ph type="body" idx="1"/>
          </p:nvPr>
        </p:nvSpPr>
        <p:spPr>
          <a:xfrm>
            <a:off x="301625" y="1600200"/>
            <a:ext cx="8537575" cy="4876800"/>
          </a:xfrm>
          <a:ln/>
        </p:spPr>
        <p:txBody>
          <a:bodyPr/>
          <a:p>
            <a:pPr marL="0" indent="0">
              <a:lnSpc>
                <a:spcPct val="90000"/>
              </a:lnSpc>
              <a:buNone/>
            </a:pPr>
            <a:r>
              <a:rPr lang="zh-CN" altLang="en-US" dirty="0">
                <a:latin typeface="宋体" panose="02010600030101010101" pitchFamily="2" charset="-122"/>
              </a:rPr>
              <a:t>通货膨胀的再分配效应：</a:t>
            </a:r>
            <a:endParaRPr lang="zh-CN" altLang="en-US" dirty="0">
              <a:latin typeface="宋体" panose="02010600030101010101" pitchFamily="2" charset="-122"/>
            </a:endParaRPr>
          </a:p>
          <a:p>
            <a:pPr marL="0" indent="0">
              <a:lnSpc>
                <a:spcPct val="90000"/>
              </a:lnSpc>
              <a:buClr>
                <a:schemeClr val="tx2"/>
              </a:buClr>
              <a:buFont typeface="Wingdings" panose="05000000000000000000" pitchFamily="2" charset="2"/>
              <a:buNone/>
            </a:pPr>
            <a:r>
              <a:rPr lang="zh-CN" altLang="en-US" dirty="0">
                <a:latin typeface="宋体" panose="02010600030101010101" pitchFamily="2" charset="-122"/>
              </a:rPr>
              <a:t>通货膨胀不利于靠固定的货币收入维持生活的人。</a:t>
            </a:r>
            <a:endParaRPr lang="zh-CN" altLang="en-US" dirty="0">
              <a:latin typeface="宋体" panose="02010600030101010101" pitchFamily="2" charset="-122"/>
            </a:endParaRPr>
          </a:p>
          <a:p>
            <a:pPr marL="0" indent="0">
              <a:lnSpc>
                <a:spcPct val="90000"/>
              </a:lnSpc>
              <a:buClr>
                <a:schemeClr val="tx2"/>
              </a:buClr>
              <a:buFont typeface="Wingdings" panose="05000000000000000000" pitchFamily="2" charset="2"/>
              <a:buNone/>
            </a:pPr>
            <a:r>
              <a:rPr lang="zh-CN" altLang="en-US" dirty="0">
                <a:latin typeface="宋体" panose="02010600030101010101" pitchFamily="2" charset="-122"/>
              </a:rPr>
              <a:t>通货膨胀对储蓄者不利</a:t>
            </a:r>
            <a:endParaRPr lang="zh-CN" altLang="en-US" dirty="0">
              <a:latin typeface="宋体" panose="02010600030101010101" pitchFamily="2" charset="-122"/>
            </a:endParaRPr>
          </a:p>
          <a:p>
            <a:pPr marL="0" indent="0">
              <a:lnSpc>
                <a:spcPct val="90000"/>
              </a:lnSpc>
              <a:buClr>
                <a:schemeClr val="tx2"/>
              </a:buClr>
              <a:buFont typeface="Wingdings" panose="05000000000000000000" pitchFamily="2" charset="2"/>
              <a:buNone/>
            </a:pPr>
            <a:r>
              <a:rPr lang="zh-CN" altLang="en-US" dirty="0">
                <a:latin typeface="宋体" panose="02010600030101010101" pitchFamily="2" charset="-122"/>
              </a:rPr>
              <a:t>通货膨胀还可以在债务人和债权人之间发生收入再分配的作用</a:t>
            </a:r>
            <a:endParaRPr lang="zh-CN" altLang="en-US" dirty="0">
              <a:latin typeface="宋体" panose="02010600030101010101" pitchFamily="2" charset="-122"/>
            </a:endParaRPr>
          </a:p>
          <a:p>
            <a:pPr marL="0" indent="0">
              <a:lnSpc>
                <a:spcPct val="90000"/>
              </a:lnSpc>
              <a:buClr>
                <a:schemeClr val="tx2"/>
              </a:buClr>
              <a:buFont typeface="Wingdings" panose="05000000000000000000" pitchFamily="2" charset="2"/>
              <a:buNone/>
            </a:pPr>
            <a:r>
              <a:rPr lang="zh-CN" altLang="en-US" dirty="0">
                <a:latin typeface="宋体" panose="02010600030101010101" pitchFamily="2" charset="-122"/>
              </a:rPr>
              <a:t>说明：</a:t>
            </a:r>
            <a:r>
              <a:rPr lang="en-US" altLang="zh-CN">
                <a:latin typeface="宋体" panose="02010600030101010101" pitchFamily="2" charset="-122"/>
              </a:rPr>
              <a:t>1</a:t>
            </a:r>
            <a:r>
              <a:rPr lang="zh-CN" altLang="en-US" dirty="0">
                <a:latin typeface="宋体" panose="02010600030101010101" pitchFamily="2" charset="-122"/>
              </a:rPr>
              <a:t>、许多居民因通货膨胀的得益和损失会互相抵消；</a:t>
            </a:r>
            <a:r>
              <a:rPr lang="en-US" altLang="zh-CN">
                <a:latin typeface="宋体" panose="02010600030101010101" pitchFamily="2" charset="-122"/>
              </a:rPr>
              <a:t>2</a:t>
            </a:r>
            <a:r>
              <a:rPr lang="zh-CN" altLang="en-US" dirty="0">
                <a:latin typeface="宋体" panose="02010600030101010101" pitchFamily="2" charset="-122"/>
              </a:rPr>
              <a:t>、通货膨胀的再分配效应是自发的，它本身并未存心从谁手中拿点收入给其他人。</a:t>
            </a:r>
            <a:endParaRPr lang="zh-CN" altLang="en-US" dirty="0">
              <a:latin typeface="宋体" panose="02010600030101010101" pitchFamily="2" charset="-122"/>
            </a:endParaRPr>
          </a:p>
        </p:txBody>
      </p:sp>
    </p:spTree>
  </p:cSld>
  <p:clrMapOvr>
    <a:masterClrMapping/>
  </p:clrMapOvr>
  <p:transition spd="slow">
    <p:randomBa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3" name="文本占位符 138242"/>
          <p:cNvSpPr>
            <a:spLocks noGrp="1"/>
          </p:cNvSpPr>
          <p:nvPr>
            <p:ph type="body" idx="1"/>
          </p:nvPr>
        </p:nvSpPr>
        <p:spPr>
          <a:xfrm>
            <a:off x="457200" y="1520825"/>
            <a:ext cx="8458200" cy="4270375"/>
          </a:xfrm>
          <a:ln/>
        </p:spPr>
        <p:txBody>
          <a:bodyPr/>
          <a:p>
            <a:pPr marL="0" indent="0">
              <a:buNone/>
            </a:pPr>
            <a:r>
              <a:rPr lang="zh-CN" altLang="en-US" b="1" dirty="0"/>
              <a:t>通货膨胀的产出效应：</a:t>
            </a:r>
            <a:endParaRPr lang="zh-CN" altLang="en-US" b="1" dirty="0"/>
          </a:p>
          <a:p>
            <a:pPr marL="0" indent="0">
              <a:buClr>
                <a:schemeClr val="tx2"/>
              </a:buClr>
              <a:buFont typeface="Wingdings" panose="05000000000000000000" pitchFamily="2" charset="2"/>
              <a:buNone/>
            </a:pPr>
            <a:r>
              <a:rPr lang="zh-CN" altLang="en-US" dirty="0"/>
              <a:t>随着通货膨胀的出现，产出增加</a:t>
            </a:r>
            <a:endParaRPr lang="zh-CN" altLang="en-US" dirty="0"/>
          </a:p>
          <a:p>
            <a:pPr marL="0" indent="0">
              <a:buClr>
                <a:schemeClr val="tx2"/>
              </a:buClr>
              <a:buFont typeface="Wingdings" panose="05000000000000000000" pitchFamily="2" charset="2"/>
              <a:buNone/>
            </a:pPr>
            <a:r>
              <a:rPr lang="zh-CN" altLang="en-US" dirty="0"/>
              <a:t>成本推动通货膨胀引致失业</a:t>
            </a:r>
            <a:endParaRPr lang="zh-CN" altLang="en-US" dirty="0"/>
          </a:p>
          <a:p>
            <a:pPr marL="0" indent="0">
              <a:buClr>
                <a:schemeClr val="tx2"/>
              </a:buClr>
              <a:buFont typeface="Wingdings" panose="05000000000000000000" pitchFamily="2" charset="2"/>
              <a:buNone/>
            </a:pPr>
            <a:r>
              <a:rPr lang="zh-CN" altLang="en-US" dirty="0"/>
              <a:t>超级通货膨胀导致经济崩溃</a:t>
            </a:r>
            <a:endParaRPr lang="zh-CN" altLang="en-US" dirty="0"/>
          </a:p>
        </p:txBody>
      </p:sp>
    </p:spTree>
  </p:cSld>
  <p:clrMapOvr>
    <a:masterClrMapping/>
  </p:clrMapOvr>
  <p:transition spd="slow">
    <p:randomBar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标题 139265"/>
          <p:cNvSpPr>
            <a:spLocks noGrp="1"/>
          </p:cNvSpPr>
          <p:nvPr>
            <p:ph type="title"/>
          </p:nvPr>
        </p:nvSpPr>
        <p:spPr>
          <a:xfrm>
            <a:off x="685800" y="609600"/>
            <a:ext cx="7772400" cy="609600"/>
          </a:xfrm>
          <a:ln/>
        </p:spPr>
        <p:txBody>
          <a:bodyPr anchor="ctr" anchorCtr="0"/>
          <a:p>
            <a:r>
              <a:rPr lang="zh-CN" altLang="en-US" sz="3600" dirty="0"/>
              <a:t>反通货膨胀的经济政策</a:t>
            </a:r>
            <a:endParaRPr lang="zh-CN" altLang="en-US" sz="3600" dirty="0"/>
          </a:p>
        </p:txBody>
      </p:sp>
      <p:sp>
        <p:nvSpPr>
          <p:cNvPr id="139267" name="文本占位符 139266"/>
          <p:cNvSpPr>
            <a:spLocks noGrp="1"/>
          </p:cNvSpPr>
          <p:nvPr>
            <p:ph type="body" idx="1"/>
          </p:nvPr>
        </p:nvSpPr>
        <p:spPr>
          <a:xfrm>
            <a:off x="539750" y="1700213"/>
            <a:ext cx="7772400" cy="4114800"/>
          </a:xfrm>
          <a:ln/>
        </p:spPr>
        <p:txBody>
          <a:bodyPr/>
          <a:p>
            <a:pPr>
              <a:lnSpc>
                <a:spcPct val="125000"/>
              </a:lnSpc>
              <a:buNone/>
            </a:pPr>
            <a:r>
              <a:rPr lang="zh-CN" altLang="en-US" dirty="0">
                <a:solidFill>
                  <a:srgbClr val="000000"/>
                </a:solidFill>
              </a:rPr>
              <a:t>紧缩政策（解决需求拉动的通货膨胀）</a:t>
            </a:r>
            <a:endParaRPr lang="zh-CN" altLang="en-US" dirty="0">
              <a:solidFill>
                <a:srgbClr val="000000"/>
              </a:solidFill>
            </a:endParaRPr>
          </a:p>
          <a:p>
            <a:pPr lvl="1">
              <a:lnSpc>
                <a:spcPct val="125000"/>
              </a:lnSpc>
              <a:buNone/>
            </a:pPr>
            <a:r>
              <a:rPr lang="zh-CN" altLang="en-US" dirty="0">
                <a:solidFill>
                  <a:srgbClr val="000000"/>
                </a:solidFill>
              </a:rPr>
              <a:t>财政的紧缩政策</a:t>
            </a:r>
            <a:endParaRPr lang="zh-CN" altLang="en-US" dirty="0">
              <a:solidFill>
                <a:srgbClr val="000000"/>
              </a:solidFill>
            </a:endParaRPr>
          </a:p>
          <a:p>
            <a:pPr lvl="1">
              <a:lnSpc>
                <a:spcPct val="125000"/>
              </a:lnSpc>
              <a:buNone/>
            </a:pPr>
            <a:r>
              <a:rPr lang="zh-CN" altLang="en-US" dirty="0">
                <a:solidFill>
                  <a:srgbClr val="000000"/>
                </a:solidFill>
              </a:rPr>
              <a:t>紧缩通货</a:t>
            </a:r>
            <a:endParaRPr lang="zh-CN" altLang="en-US" dirty="0">
              <a:solidFill>
                <a:srgbClr val="000000"/>
              </a:solidFill>
            </a:endParaRPr>
          </a:p>
          <a:p>
            <a:pPr>
              <a:lnSpc>
                <a:spcPct val="125000"/>
              </a:lnSpc>
              <a:buNone/>
            </a:pPr>
            <a:r>
              <a:rPr lang="zh-CN" altLang="en-US" dirty="0">
                <a:solidFill>
                  <a:srgbClr val="000000"/>
                </a:solidFill>
              </a:rPr>
              <a:t>收入政策（解决成本推进的通货膨胀）</a:t>
            </a:r>
            <a:endParaRPr lang="zh-CN" altLang="en-US" dirty="0">
              <a:solidFill>
                <a:srgbClr val="000000"/>
              </a:solidFill>
            </a:endParaRPr>
          </a:p>
          <a:p>
            <a:pPr>
              <a:lnSpc>
                <a:spcPct val="125000"/>
              </a:lnSpc>
              <a:buNone/>
            </a:pPr>
            <a:r>
              <a:rPr lang="zh-CN" altLang="en-US" dirty="0">
                <a:solidFill>
                  <a:srgbClr val="000000"/>
                </a:solidFill>
              </a:rPr>
              <a:t>结构政策（解决结构性通货膨胀）</a:t>
            </a:r>
            <a:endParaRPr lang="zh-CN" altLang="en-US" dirty="0">
              <a:solidFill>
                <a:srgbClr val="000000"/>
              </a:solidFill>
            </a:endParaRPr>
          </a:p>
          <a:p>
            <a:pPr>
              <a:lnSpc>
                <a:spcPct val="125000"/>
              </a:lnSpc>
              <a:buNone/>
            </a:pPr>
            <a:r>
              <a:rPr lang="zh-CN" altLang="en-US" dirty="0">
                <a:solidFill>
                  <a:srgbClr val="000000"/>
                </a:solidFill>
              </a:rPr>
              <a:t>促进竞争政策</a:t>
            </a:r>
            <a:endParaRPr lang="zh-CN" altLang="en-US" dirty="0">
              <a:solidFill>
                <a:srgbClr val="000000"/>
              </a:solidFill>
            </a:endParaRPr>
          </a:p>
        </p:txBody>
      </p:sp>
    </p:spTree>
  </p:cSld>
  <p:clrMapOvr>
    <a:masterClrMapping/>
  </p:clrMapOvr>
  <p:transition spd="slow">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标题 141313"/>
          <p:cNvSpPr>
            <a:spLocks noGrp="1"/>
          </p:cNvSpPr>
          <p:nvPr>
            <p:ph type="title"/>
          </p:nvPr>
        </p:nvSpPr>
        <p:spPr>
          <a:xfrm>
            <a:off x="250825" y="228600"/>
            <a:ext cx="8893175" cy="1600200"/>
          </a:xfrm>
          <a:ln/>
        </p:spPr>
        <p:txBody>
          <a:bodyPr anchor="ctr" anchorCtr="0"/>
          <a:p>
            <a:r>
              <a:rPr lang="zh-CN" altLang="en-US" sz="4000" dirty="0"/>
              <a:t>菲利浦斯曲线</a:t>
            </a:r>
            <a:endParaRPr lang="zh-CN" altLang="en-US" sz="4000" dirty="0"/>
          </a:p>
        </p:txBody>
      </p:sp>
      <p:sp>
        <p:nvSpPr>
          <p:cNvPr id="141315" name="文本占位符 141314"/>
          <p:cNvSpPr>
            <a:spLocks noGrp="1"/>
          </p:cNvSpPr>
          <p:nvPr>
            <p:ph type="body" idx="1"/>
          </p:nvPr>
        </p:nvSpPr>
        <p:spPr>
          <a:xfrm>
            <a:off x="685800" y="2276475"/>
            <a:ext cx="7772400" cy="3819525"/>
          </a:xfrm>
          <a:ln/>
        </p:spPr>
        <p:txBody>
          <a:bodyPr/>
          <a:p>
            <a:pPr algn="ctr"/>
            <a:r>
              <a:rPr lang="zh-CN" altLang="en-US" sz="3600" dirty="0"/>
              <a:t>讨论失业与通货膨胀之间的关系</a:t>
            </a:r>
            <a:endParaRPr lang="zh-CN" altLang="en-US" sz="3600" dirty="0"/>
          </a:p>
        </p:txBody>
      </p:sp>
    </p:spTree>
  </p:cSld>
  <p:clrMapOvr>
    <a:masterClrMapping/>
  </p:clrMapOvr>
  <p:transition spd="slow">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标题 142337"/>
          <p:cNvSpPr>
            <a:spLocks noGrp="1"/>
          </p:cNvSpPr>
          <p:nvPr>
            <p:ph type="title"/>
          </p:nvPr>
        </p:nvSpPr>
        <p:spPr>
          <a:xfrm>
            <a:off x="685800" y="609600"/>
            <a:ext cx="7620000" cy="685800"/>
          </a:xfrm>
          <a:ln/>
        </p:spPr>
        <p:txBody>
          <a:bodyPr anchor="ctr" anchorCtr="0"/>
          <a:p>
            <a:r>
              <a:rPr lang="zh-CN" altLang="en-US" sz="3200" dirty="0"/>
              <a:t>菲利浦斯曲线</a:t>
            </a:r>
            <a:endParaRPr lang="zh-CN" altLang="en-US" sz="3200" dirty="0"/>
          </a:p>
        </p:txBody>
      </p:sp>
      <p:sp>
        <p:nvSpPr>
          <p:cNvPr id="142339" name="文本占位符 142338"/>
          <p:cNvSpPr>
            <a:spLocks noGrp="1"/>
          </p:cNvSpPr>
          <p:nvPr>
            <p:ph type="body" idx="1"/>
          </p:nvPr>
        </p:nvSpPr>
        <p:spPr>
          <a:xfrm>
            <a:off x="457200" y="1524000"/>
            <a:ext cx="3886200" cy="5181600"/>
          </a:xfrm>
          <a:ln/>
        </p:spPr>
        <p:txBody>
          <a:bodyPr/>
          <a:p>
            <a:pPr marL="0" indent="0">
              <a:buNone/>
            </a:pPr>
            <a:endParaRPr lang="en-US" altLang="zh-CN"/>
          </a:p>
          <a:p>
            <a:pPr marL="365125" lvl="1" indent="92075">
              <a:buNone/>
            </a:pPr>
            <a:r>
              <a:rPr lang="zh-CN" altLang="en-US" sz="2400" b="1" dirty="0">
                <a:solidFill>
                  <a:srgbClr val="000000"/>
                </a:solidFill>
                <a:latin typeface="宋体" panose="02010600030101010101" pitchFamily="2" charset="-122"/>
              </a:rPr>
              <a:t>从货币工资变动率与物价水平的内在联系，进一步拓展为物价变动率和失业率变动之间关系的研究。</a:t>
            </a:r>
            <a:endParaRPr lang="zh-CN" altLang="en-US" sz="2400" b="1" dirty="0">
              <a:solidFill>
                <a:srgbClr val="000000"/>
              </a:solidFill>
              <a:latin typeface="宋体" panose="02010600030101010101" pitchFamily="2" charset="-122"/>
            </a:endParaRPr>
          </a:p>
          <a:p>
            <a:pPr marL="365125" lvl="1" indent="92075">
              <a:buNone/>
            </a:pPr>
            <a:r>
              <a:rPr lang="zh-CN" altLang="en-US" sz="2400" b="1" dirty="0">
                <a:solidFill>
                  <a:srgbClr val="FF0000"/>
                </a:solidFill>
                <a:latin typeface="宋体" panose="02010600030101010101" pitchFamily="2" charset="-122"/>
              </a:rPr>
              <a:t>菲利浦斯曲线的斜率为负</a:t>
            </a:r>
            <a:r>
              <a:rPr lang="zh-CN" altLang="en-US" sz="2400" b="1" dirty="0">
                <a:solidFill>
                  <a:srgbClr val="000000"/>
                </a:solidFill>
                <a:latin typeface="宋体" panose="02010600030101010101" pitchFamily="2" charset="-122"/>
              </a:rPr>
              <a:t>，当通货膨胀水平提高时，失业率减少。</a:t>
            </a:r>
            <a:endParaRPr lang="zh-CN" altLang="en-US" sz="2400" b="1" dirty="0">
              <a:solidFill>
                <a:srgbClr val="000000"/>
              </a:solidFill>
              <a:latin typeface="宋体" panose="02010600030101010101" pitchFamily="2" charset="-122"/>
            </a:endParaRPr>
          </a:p>
          <a:p>
            <a:pPr marL="365125" lvl="1" indent="92075">
              <a:buNone/>
            </a:pPr>
            <a:r>
              <a:rPr lang="zh-CN" altLang="en-US" sz="2400" b="1" dirty="0">
                <a:solidFill>
                  <a:srgbClr val="FF0000"/>
                </a:solidFill>
                <a:latin typeface="宋体" panose="02010600030101010101" pitchFamily="2" charset="-122"/>
              </a:rPr>
              <a:t>滞胀</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经济出现衰退，失业率和通货膨胀率同时高企不下，即所谓的停滞性膨胀。</a:t>
            </a:r>
            <a:endParaRPr lang="zh-CN" altLang="en-US" sz="2400" b="1" dirty="0">
              <a:solidFill>
                <a:srgbClr val="000000"/>
              </a:solidFill>
              <a:latin typeface="宋体" panose="02010600030101010101" pitchFamily="2" charset="-122"/>
            </a:endParaRPr>
          </a:p>
        </p:txBody>
      </p:sp>
      <p:sp>
        <p:nvSpPr>
          <p:cNvPr id="142340" name="直接连接符 142339"/>
          <p:cNvSpPr/>
          <p:nvPr/>
        </p:nvSpPr>
        <p:spPr>
          <a:xfrm>
            <a:off x="5148263" y="6021388"/>
            <a:ext cx="3024187" cy="0"/>
          </a:xfrm>
          <a:prstGeom prst="line">
            <a:avLst/>
          </a:prstGeom>
          <a:ln w="9525" cap="flat" cmpd="sng">
            <a:solidFill>
              <a:schemeClr val="tx1"/>
            </a:solidFill>
            <a:prstDash val="solid"/>
            <a:headEnd type="none" w="med" len="med"/>
            <a:tailEnd type="triangle" w="med" len="med"/>
          </a:ln>
        </p:spPr>
      </p:sp>
      <p:sp>
        <p:nvSpPr>
          <p:cNvPr id="142341" name="直接连接符 142340"/>
          <p:cNvSpPr/>
          <p:nvPr/>
        </p:nvSpPr>
        <p:spPr>
          <a:xfrm flipV="1">
            <a:off x="5148263" y="2852738"/>
            <a:ext cx="0" cy="3168650"/>
          </a:xfrm>
          <a:prstGeom prst="line">
            <a:avLst/>
          </a:prstGeom>
          <a:ln w="9525" cap="flat" cmpd="sng">
            <a:solidFill>
              <a:schemeClr val="tx1"/>
            </a:solidFill>
            <a:prstDash val="solid"/>
            <a:headEnd type="none" w="med" len="med"/>
            <a:tailEnd type="triangle" w="med" len="med"/>
          </a:ln>
        </p:spPr>
      </p:sp>
      <p:sp>
        <p:nvSpPr>
          <p:cNvPr id="142342" name="任意多边形 142341"/>
          <p:cNvSpPr/>
          <p:nvPr/>
        </p:nvSpPr>
        <p:spPr>
          <a:xfrm>
            <a:off x="5724525" y="2924175"/>
            <a:ext cx="1655763" cy="3457575"/>
          </a:xfrm>
          <a:custGeom>
            <a:avLst/>
            <a:gdLst/>
            <a:ahLst/>
            <a:cxnLst/>
            <a:pathLst>
              <a:path w="1043" h="2178">
                <a:moveTo>
                  <a:pt x="0" y="0"/>
                </a:moveTo>
                <a:cubicBezTo>
                  <a:pt x="3" y="151"/>
                  <a:pt x="7" y="302"/>
                  <a:pt x="45" y="499"/>
                </a:cubicBezTo>
                <a:cubicBezTo>
                  <a:pt x="83" y="696"/>
                  <a:pt x="151" y="983"/>
                  <a:pt x="227" y="1180"/>
                </a:cubicBezTo>
                <a:cubicBezTo>
                  <a:pt x="303" y="1377"/>
                  <a:pt x="386" y="1528"/>
                  <a:pt x="499" y="1679"/>
                </a:cubicBezTo>
                <a:cubicBezTo>
                  <a:pt x="612" y="1830"/>
                  <a:pt x="816" y="2004"/>
                  <a:pt x="907" y="2087"/>
                </a:cubicBezTo>
                <a:cubicBezTo>
                  <a:pt x="998" y="2170"/>
                  <a:pt x="1020" y="2174"/>
                  <a:pt x="1043" y="2178"/>
                </a:cubicBezTo>
              </a:path>
            </a:pathLst>
          </a:custGeom>
          <a:noFill/>
          <a:ln w="28575" cap="flat" cmpd="sng">
            <a:solidFill>
              <a:schemeClr val="tx1"/>
            </a:solidFill>
            <a:prstDash val="solid"/>
            <a:headEnd type="none" w="med" len="med"/>
            <a:tailEnd type="none" w="med" len="med"/>
          </a:ln>
        </p:spPr>
        <p:txBody>
          <a:bodyPr/>
          <a:p>
            <a:endParaRPr lang="zh-CN" altLang="en-US"/>
          </a:p>
        </p:txBody>
      </p:sp>
      <p:sp>
        <p:nvSpPr>
          <p:cNvPr id="142343" name="直接连接符 142342"/>
          <p:cNvSpPr/>
          <p:nvPr/>
        </p:nvSpPr>
        <p:spPr>
          <a:xfrm flipH="1" flipV="1">
            <a:off x="5651500" y="2708275"/>
            <a:ext cx="73025" cy="3313113"/>
          </a:xfrm>
          <a:prstGeom prst="line">
            <a:avLst/>
          </a:prstGeom>
          <a:ln w="9525" cap="flat" cmpd="sng">
            <a:solidFill>
              <a:schemeClr val="tx1"/>
            </a:solidFill>
            <a:prstDash val="lgDashDotDot"/>
            <a:headEnd type="none" w="med" len="med"/>
            <a:tailEnd type="none" w="med" len="med"/>
          </a:ln>
        </p:spPr>
      </p:sp>
      <p:sp>
        <p:nvSpPr>
          <p:cNvPr id="142344" name="文本框 142343"/>
          <p:cNvSpPr txBox="1"/>
          <p:nvPr/>
        </p:nvSpPr>
        <p:spPr>
          <a:xfrm>
            <a:off x="7524750" y="5589588"/>
            <a:ext cx="1223963" cy="366712"/>
          </a:xfrm>
          <a:prstGeom prst="rect">
            <a:avLst/>
          </a:prstGeom>
          <a:noFill/>
          <a:ln w="9525">
            <a:noFill/>
          </a:ln>
        </p:spPr>
        <p:txBody>
          <a:bodyPr>
            <a:spAutoFit/>
          </a:bodyPr>
          <a:p>
            <a:pPr>
              <a:lnSpc>
                <a:spcPct val="100000"/>
              </a:lnSpc>
              <a:spcBef>
                <a:spcPct val="50000"/>
              </a:spcBef>
            </a:pPr>
            <a:r>
              <a:rPr lang="zh-CN" altLang="en-US" sz="1800" b="0" dirty="0">
                <a:latin typeface="Arial" panose="020B0604020202020204" pitchFamily="34" charset="0"/>
              </a:rPr>
              <a:t>失业率</a:t>
            </a:r>
            <a:endParaRPr lang="zh-CN" altLang="en-US" sz="1800" b="0" dirty="0">
              <a:latin typeface="Arial" panose="020B0604020202020204" pitchFamily="34" charset="0"/>
            </a:endParaRPr>
          </a:p>
        </p:txBody>
      </p:sp>
      <p:sp>
        <p:nvSpPr>
          <p:cNvPr id="142345" name="文本框 142344"/>
          <p:cNvSpPr txBox="1"/>
          <p:nvPr/>
        </p:nvSpPr>
        <p:spPr>
          <a:xfrm>
            <a:off x="4689475" y="2852738"/>
            <a:ext cx="458788" cy="1655762"/>
          </a:xfrm>
          <a:prstGeom prst="rect">
            <a:avLst/>
          </a:prstGeom>
          <a:noFill/>
          <a:ln w="9525">
            <a:noFill/>
          </a:ln>
        </p:spPr>
        <p:txBody>
          <a:bodyPr vert="eaVert">
            <a:spAutoFit/>
          </a:bodyPr>
          <a:p>
            <a:pPr>
              <a:lnSpc>
                <a:spcPct val="100000"/>
              </a:lnSpc>
              <a:spcBef>
                <a:spcPct val="50000"/>
              </a:spcBef>
            </a:pPr>
            <a:r>
              <a:rPr lang="zh-CN" altLang="en-US" sz="1800" b="0" dirty="0">
                <a:latin typeface="Arial" panose="020B0604020202020204" pitchFamily="34" charset="0"/>
              </a:rPr>
              <a:t>通货膨胀率</a:t>
            </a:r>
            <a:endParaRPr lang="zh-CN" altLang="en-US" sz="1800" b="0" dirty="0">
              <a:latin typeface="Arial" panose="020B0604020202020204" pitchFamily="34" charset="0"/>
            </a:endParaRPr>
          </a:p>
        </p:txBody>
      </p:sp>
    </p:spTree>
  </p:cSld>
  <p:clrMapOvr>
    <a:masterClrMapping/>
  </p:clrMapOvr>
  <p:transition spd="slow">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标题 144385"/>
          <p:cNvSpPr>
            <a:spLocks noGrp="1"/>
          </p:cNvSpPr>
          <p:nvPr>
            <p:ph type="title"/>
          </p:nvPr>
        </p:nvSpPr>
        <p:spPr>
          <a:xfrm>
            <a:off x="762000" y="533400"/>
            <a:ext cx="7772400" cy="1143000"/>
          </a:xfrm>
          <a:ln/>
        </p:spPr>
        <p:txBody>
          <a:bodyPr anchor="ctr" anchorCtr="0"/>
          <a:p>
            <a:r>
              <a:rPr lang="zh-CN" altLang="en-US" dirty="0"/>
              <a:t>菲利浦斯曲线作用</a:t>
            </a:r>
            <a:endParaRPr lang="zh-CN" altLang="en-US" dirty="0"/>
          </a:p>
        </p:txBody>
      </p:sp>
      <p:sp>
        <p:nvSpPr>
          <p:cNvPr id="144387" name="文本占位符 144386"/>
          <p:cNvSpPr>
            <a:spLocks noGrp="1"/>
          </p:cNvSpPr>
          <p:nvPr>
            <p:ph type="body" idx="1"/>
          </p:nvPr>
        </p:nvSpPr>
        <p:spPr>
          <a:xfrm>
            <a:off x="685800" y="1981200"/>
            <a:ext cx="7239000" cy="3841750"/>
          </a:xfrm>
          <a:ln/>
        </p:spPr>
        <p:txBody>
          <a:bodyPr/>
          <a:p>
            <a:pPr marL="0" indent="0">
              <a:lnSpc>
                <a:spcPct val="125000"/>
              </a:lnSpc>
              <a:buNone/>
            </a:pPr>
            <a:r>
              <a:rPr lang="zh-CN" altLang="en-US" dirty="0">
                <a:solidFill>
                  <a:srgbClr val="000000"/>
                </a:solidFill>
              </a:rPr>
              <a:t>提供了一份“政策选择的菜单”</a:t>
            </a:r>
            <a:endParaRPr lang="zh-CN" altLang="en-US" dirty="0">
              <a:solidFill>
                <a:srgbClr val="000000"/>
              </a:solidFill>
            </a:endParaRPr>
          </a:p>
          <a:p>
            <a:pPr marL="0" indent="0">
              <a:lnSpc>
                <a:spcPct val="125000"/>
              </a:lnSpc>
              <a:buNone/>
            </a:pPr>
            <a:r>
              <a:rPr lang="zh-CN" altLang="en-US" dirty="0">
                <a:solidFill>
                  <a:srgbClr val="000000"/>
                </a:solidFill>
              </a:rPr>
              <a:t>含义：</a:t>
            </a:r>
            <a:r>
              <a:rPr lang="zh-CN" altLang="en-US" sz="2800" dirty="0">
                <a:solidFill>
                  <a:srgbClr val="000000"/>
                </a:solidFill>
              </a:rPr>
              <a:t>反映了失业率上升是治理通货膨胀的代价，而通货膨胀上升则是降低失业率的代价。</a:t>
            </a:r>
            <a:endParaRPr lang="zh-CN" altLang="en-US" dirty="0">
              <a:solidFill>
                <a:srgbClr val="000000"/>
              </a:solidFill>
            </a:endParaRPr>
          </a:p>
        </p:txBody>
      </p:sp>
    </p:spTree>
  </p:cSld>
  <p:clrMapOvr>
    <a:masterClrMapping/>
  </p:clrMapOvr>
  <p:transition spd="slow">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标题 146433"/>
          <p:cNvSpPr>
            <a:spLocks noGrp="1"/>
          </p:cNvSpPr>
          <p:nvPr>
            <p:ph type="title"/>
          </p:nvPr>
        </p:nvSpPr>
        <p:spPr>
          <a:ln/>
        </p:spPr>
        <p:txBody>
          <a:bodyPr anchor="ctr" anchorCtr="0"/>
          <a:p>
            <a:endParaRPr dirty="0"/>
          </a:p>
        </p:txBody>
      </p:sp>
      <p:sp>
        <p:nvSpPr>
          <p:cNvPr id="146435" name="文本占位符 146434"/>
          <p:cNvSpPr>
            <a:spLocks noGrp="1"/>
          </p:cNvSpPr>
          <p:nvPr>
            <p:ph type="body" idx="1"/>
          </p:nvPr>
        </p:nvSpPr>
        <p:spPr>
          <a:xfrm>
            <a:off x="228600" y="228600"/>
            <a:ext cx="8686800" cy="6248400"/>
          </a:xfrm>
          <a:ln/>
        </p:spPr>
        <p:txBody>
          <a:bodyPr/>
          <a:p>
            <a:pPr>
              <a:buNone/>
            </a:pPr>
            <a:r>
              <a:rPr lang="zh-CN" altLang="en-US" sz="2000" b="1" dirty="0">
                <a:solidFill>
                  <a:srgbClr val="000000"/>
                </a:solidFill>
                <a:latin typeface="宋体" panose="02010600030101010101" pitchFamily="2" charset="-122"/>
              </a:rPr>
              <a:t>思考题</a:t>
            </a:r>
            <a:r>
              <a:rPr lang="en-US" altLang="zh-CN" sz="2000" b="1">
                <a:solidFill>
                  <a:srgbClr val="000000"/>
                </a:solidFill>
                <a:latin typeface="宋体" panose="02010600030101010101" pitchFamily="2" charset="-122"/>
              </a:rPr>
              <a:t>: </a:t>
            </a:r>
            <a:r>
              <a:rPr lang="zh-CN" altLang="en-US" sz="2000" b="1" dirty="0">
                <a:solidFill>
                  <a:srgbClr val="000000"/>
                </a:solidFill>
                <a:latin typeface="宋体" panose="02010600030101010101" pitchFamily="2" charset="-122"/>
              </a:rPr>
              <a:t>下图所示为某一经济体系的菲利普曲线，预期通货膨胀率为</a:t>
            </a:r>
            <a:r>
              <a:rPr lang="en-US" altLang="zh-CN" sz="2000" b="1">
                <a:solidFill>
                  <a:srgbClr val="000000"/>
                </a:solidFill>
                <a:latin typeface="宋体" panose="02010600030101010101" pitchFamily="2" charset="-122"/>
              </a:rPr>
              <a:t>0%</a:t>
            </a:r>
            <a:r>
              <a:rPr lang="zh-CN" altLang="en-US" sz="2000" b="1" dirty="0">
                <a:solidFill>
                  <a:srgbClr val="000000"/>
                </a:solidFill>
                <a:latin typeface="宋体" panose="02010600030101010101" pitchFamily="2" charset="-122"/>
              </a:rPr>
              <a:t>，自然失业率</a:t>
            </a:r>
            <a:r>
              <a:rPr lang="en-US" altLang="zh-CN" sz="2000" b="1">
                <a:solidFill>
                  <a:srgbClr val="000000"/>
                </a:solidFill>
                <a:latin typeface="宋体" panose="02010600030101010101" pitchFamily="2" charset="-122"/>
              </a:rPr>
              <a:t>5%,</a:t>
            </a:r>
            <a:r>
              <a:rPr lang="zh-CN" altLang="en-US" sz="2000" b="1" dirty="0">
                <a:solidFill>
                  <a:srgbClr val="000000"/>
                </a:solidFill>
                <a:latin typeface="宋体" panose="02010600030101010101" pitchFamily="2" charset="-122"/>
              </a:rPr>
              <a:t>试回答下列问题。</a:t>
            </a:r>
            <a:endParaRPr lang="zh-CN" altLang="en-US" sz="2000" b="1" dirty="0">
              <a:solidFill>
                <a:srgbClr val="000000"/>
              </a:solidFill>
              <a:latin typeface="宋体" panose="02010600030101010101" pitchFamily="2" charset="-122"/>
            </a:endParaRPr>
          </a:p>
          <a:p>
            <a:pPr>
              <a:buNone/>
            </a:pPr>
            <a:r>
              <a:rPr lang="en-US" altLang="zh-CN" sz="2000" b="1">
                <a:solidFill>
                  <a:srgbClr val="000000"/>
                </a:solidFill>
                <a:latin typeface="宋体" panose="02010600030101010101" pitchFamily="2" charset="-122"/>
              </a:rPr>
              <a:t>i.</a:t>
            </a:r>
            <a:r>
              <a:rPr lang="zh-CN" altLang="en-US" sz="2000" b="1" dirty="0">
                <a:solidFill>
                  <a:srgbClr val="000000"/>
                </a:solidFill>
                <a:latin typeface="宋体" panose="02010600030101010101" pitchFamily="2" charset="-122"/>
              </a:rPr>
              <a:t>为了减低失业率</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即从</a:t>
            </a:r>
            <a:r>
              <a:rPr lang="en-US" altLang="zh-CN" sz="2000" b="1">
                <a:solidFill>
                  <a:srgbClr val="000000"/>
                </a:solidFill>
                <a:latin typeface="宋体" panose="02010600030101010101" pitchFamily="2" charset="-122"/>
              </a:rPr>
              <a:t>A</a:t>
            </a:r>
            <a:r>
              <a:rPr lang="zh-CN" altLang="en-US" sz="2000" b="1" dirty="0">
                <a:solidFill>
                  <a:srgbClr val="000000"/>
                </a:solidFill>
                <a:latin typeface="宋体" panose="02010600030101010101" pitchFamily="2" charset="-122"/>
              </a:rPr>
              <a:t>点移向</a:t>
            </a:r>
            <a:r>
              <a:rPr lang="en-US" altLang="zh-CN" sz="2000" b="1">
                <a:solidFill>
                  <a:srgbClr val="000000"/>
                </a:solidFill>
                <a:latin typeface="宋体" panose="02010600030101010101" pitchFamily="2" charset="-122"/>
              </a:rPr>
              <a:t>B</a:t>
            </a:r>
            <a:r>
              <a:rPr lang="zh-CN" altLang="en-US" sz="2000" b="1" dirty="0">
                <a:solidFill>
                  <a:srgbClr val="000000"/>
                </a:solidFill>
                <a:latin typeface="宋体" panose="02010600030101010101" pitchFamily="2" charset="-122"/>
              </a:rPr>
              <a:t>点</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政府应采用怎样的宏观经济政策</a:t>
            </a:r>
            <a:r>
              <a:rPr lang="en-US" altLang="zh-CN" sz="2000" b="1">
                <a:solidFill>
                  <a:srgbClr val="000000"/>
                </a:solidFill>
                <a:latin typeface="宋体" panose="02010600030101010101" pitchFamily="2" charset="-122"/>
              </a:rPr>
              <a:t>?</a:t>
            </a: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endParaRPr lang="en-US" altLang="zh-CN" sz="2000" b="1">
              <a:solidFill>
                <a:srgbClr val="000000"/>
              </a:solidFill>
              <a:latin typeface="宋体" panose="02010600030101010101" pitchFamily="2" charset="-122"/>
            </a:endParaRPr>
          </a:p>
          <a:p>
            <a:pPr>
              <a:buNone/>
            </a:pPr>
            <a:r>
              <a:rPr lang="en-US" altLang="zh-CN" sz="2000" b="1">
                <a:solidFill>
                  <a:srgbClr val="000000"/>
                </a:solidFill>
                <a:latin typeface="宋体" panose="02010600030101010101" pitchFamily="2" charset="-122"/>
              </a:rPr>
              <a:t>ii.</a:t>
            </a:r>
            <a:r>
              <a:rPr lang="zh-CN" altLang="en-US" sz="2000" b="1" dirty="0">
                <a:solidFill>
                  <a:srgbClr val="000000"/>
                </a:solidFill>
                <a:latin typeface="宋体" panose="02010600030101010101" pitchFamily="2" charset="-122"/>
              </a:rPr>
              <a:t>假设该地区发生自然灾害，农业受到严重影响，物价水平和失业率将有何变化</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原来的位置为Ｂ点</a:t>
            </a:r>
            <a:r>
              <a:rPr lang="en-US" altLang="zh-CN" sz="2000" b="1">
                <a:solidFill>
                  <a:srgbClr val="000000"/>
                </a:solidFill>
                <a:latin typeface="宋体" panose="02010600030101010101" pitchFamily="2" charset="-122"/>
              </a:rPr>
              <a:t>)</a:t>
            </a:r>
            <a:endParaRPr lang="en-US" altLang="zh-CN" sz="2000" b="1">
              <a:solidFill>
                <a:srgbClr val="000000"/>
              </a:solidFill>
              <a:latin typeface="宋体" panose="02010600030101010101" pitchFamily="2" charset="-122"/>
            </a:endParaRPr>
          </a:p>
          <a:p>
            <a:pPr>
              <a:buNone/>
            </a:pPr>
            <a:r>
              <a:rPr lang="en-US" altLang="zh-CN" sz="2000" b="1">
                <a:solidFill>
                  <a:srgbClr val="000000"/>
                </a:solidFill>
                <a:latin typeface="宋体" panose="02010600030101010101" pitchFamily="2" charset="-122"/>
              </a:rPr>
              <a:t>iii.</a:t>
            </a:r>
            <a:r>
              <a:rPr lang="zh-CN" altLang="en-US" sz="2000" b="1" dirty="0">
                <a:solidFill>
                  <a:srgbClr val="000000"/>
                </a:solidFill>
                <a:latin typeface="宋体" panose="02010600030101010101" pitchFamily="2" charset="-122"/>
              </a:rPr>
              <a:t>如果政府增加开支，物价水平和失业率将有何变化</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原来的位置为Ｂ点</a:t>
            </a:r>
            <a:r>
              <a:rPr lang="en-US" altLang="zh-CN" sz="2000" b="1">
                <a:solidFill>
                  <a:srgbClr val="000000"/>
                </a:solidFill>
                <a:latin typeface="宋体" panose="02010600030101010101" pitchFamily="2" charset="-122"/>
              </a:rPr>
              <a:t>)</a:t>
            </a:r>
            <a:endParaRPr lang="en-US" altLang="zh-CN" sz="2000" b="1">
              <a:solidFill>
                <a:srgbClr val="000000"/>
              </a:solidFill>
              <a:latin typeface="宋体" panose="02010600030101010101" pitchFamily="2" charset="-122"/>
            </a:endParaRPr>
          </a:p>
          <a:p>
            <a:pPr>
              <a:buNone/>
            </a:pPr>
            <a:endParaRPr lang="en-US" altLang="zh-CN" sz="2000" b="1" dirty="0">
              <a:solidFill>
                <a:srgbClr val="000000"/>
              </a:solidFill>
              <a:latin typeface="宋体" panose="02010600030101010101" pitchFamily="2" charset="-122"/>
            </a:endParaRPr>
          </a:p>
        </p:txBody>
      </p:sp>
      <p:sp>
        <p:nvSpPr>
          <p:cNvPr id="146436" name="直接连接符 146435"/>
          <p:cNvSpPr/>
          <p:nvPr/>
        </p:nvSpPr>
        <p:spPr>
          <a:xfrm flipV="1">
            <a:off x="2057400" y="1600200"/>
            <a:ext cx="0" cy="2819400"/>
          </a:xfrm>
          <a:prstGeom prst="line">
            <a:avLst/>
          </a:prstGeom>
          <a:ln w="28575" cap="flat" cmpd="sng">
            <a:solidFill>
              <a:schemeClr val="tx1"/>
            </a:solidFill>
            <a:prstDash val="solid"/>
            <a:miter/>
            <a:headEnd type="none" w="med" len="med"/>
            <a:tailEnd type="triangle" w="med" len="med"/>
          </a:ln>
        </p:spPr>
      </p:sp>
      <p:sp>
        <p:nvSpPr>
          <p:cNvPr id="146437" name="直接连接符 146436"/>
          <p:cNvSpPr/>
          <p:nvPr/>
        </p:nvSpPr>
        <p:spPr>
          <a:xfrm>
            <a:off x="2057400" y="4419600"/>
            <a:ext cx="5562600" cy="0"/>
          </a:xfrm>
          <a:prstGeom prst="line">
            <a:avLst/>
          </a:prstGeom>
          <a:ln w="28575" cap="flat" cmpd="sng">
            <a:solidFill>
              <a:schemeClr val="tx1"/>
            </a:solidFill>
            <a:prstDash val="solid"/>
            <a:miter/>
            <a:headEnd type="none" w="med" len="med"/>
            <a:tailEnd type="triangle" w="med" len="med"/>
          </a:ln>
        </p:spPr>
      </p:sp>
      <p:sp>
        <p:nvSpPr>
          <p:cNvPr id="146438" name="任意多边形 146437"/>
          <p:cNvSpPr/>
          <p:nvPr/>
        </p:nvSpPr>
        <p:spPr>
          <a:xfrm>
            <a:off x="2895600" y="2133600"/>
            <a:ext cx="2509838" cy="3081338"/>
          </a:xfrm>
          <a:custGeom>
            <a:avLst/>
            <a:gdLst/>
            <a:ahLst/>
            <a:cxnLst/>
            <a:pathLst>
              <a:path w="1581" h="1941">
                <a:moveTo>
                  <a:pt x="0" y="0"/>
                </a:moveTo>
                <a:cubicBezTo>
                  <a:pt x="76" y="184"/>
                  <a:pt x="187" y="784"/>
                  <a:pt x="450" y="1107"/>
                </a:cubicBezTo>
                <a:cubicBezTo>
                  <a:pt x="682" y="1419"/>
                  <a:pt x="1345" y="1767"/>
                  <a:pt x="1581" y="1941"/>
                </a:cubicBezTo>
              </a:path>
            </a:pathLst>
          </a:custGeom>
          <a:no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46439" name="文本框 146438"/>
          <p:cNvSpPr txBox="1"/>
          <p:nvPr/>
        </p:nvSpPr>
        <p:spPr>
          <a:xfrm>
            <a:off x="1447800" y="1524000"/>
            <a:ext cx="457200" cy="2978150"/>
          </a:xfrm>
          <a:prstGeom prst="rect">
            <a:avLst/>
          </a:prstGeom>
          <a:noFill/>
          <a:ln w="9525">
            <a:noFill/>
          </a:ln>
        </p:spPr>
        <p:txBody>
          <a:bodyPr>
            <a:spAutoFit/>
          </a:bodyPr>
          <a:p>
            <a:pPr>
              <a:lnSpc>
                <a:spcPct val="100000"/>
              </a:lnSpc>
              <a:spcBef>
                <a:spcPct val="50000"/>
              </a:spcBef>
            </a:pPr>
            <a:r>
              <a:rPr lang="en-US" altLang="zh-CN" sz="1800">
                <a:solidFill>
                  <a:srgbClr val="000000"/>
                </a:solidFill>
                <a:latin typeface="Tahoma" panose="020B0604030504040204" pitchFamily="34" charset="0"/>
              </a:rPr>
              <a:t>%</a:t>
            </a:r>
            <a:endParaRPr lang="en-US" altLang="zh-CN" sz="1800">
              <a:solidFill>
                <a:srgbClr val="000000"/>
              </a:solidFill>
              <a:latin typeface="Tahoma" panose="020B0604030504040204" pitchFamily="34" charset="0"/>
            </a:endParaRPr>
          </a:p>
          <a:p>
            <a:pPr>
              <a:lnSpc>
                <a:spcPct val="100000"/>
              </a:lnSpc>
              <a:spcBef>
                <a:spcPct val="50000"/>
              </a:spcBef>
            </a:pPr>
            <a:r>
              <a:rPr lang="zh-CN" altLang="en-US" sz="1800" dirty="0">
                <a:solidFill>
                  <a:srgbClr val="000000"/>
                </a:solidFill>
                <a:latin typeface="Tahoma" panose="020B0604030504040204" pitchFamily="34" charset="0"/>
              </a:rPr>
              <a:t>通货膨胀率</a:t>
            </a:r>
            <a:r>
              <a:rPr lang="en-US" altLang="zh-CN" sz="1800">
                <a:solidFill>
                  <a:srgbClr val="000000"/>
                </a:solidFill>
                <a:latin typeface="Tahoma" panose="020B0604030504040204" pitchFamily="34" charset="0"/>
              </a:rPr>
              <a:t>4</a:t>
            </a:r>
            <a:endParaRPr lang="en-US" altLang="zh-CN" sz="1800">
              <a:solidFill>
                <a:srgbClr val="000000"/>
              </a:solidFill>
              <a:latin typeface="Tahoma" panose="020B0604030504040204" pitchFamily="34" charset="0"/>
            </a:endParaRPr>
          </a:p>
          <a:p>
            <a:pPr>
              <a:lnSpc>
                <a:spcPct val="100000"/>
              </a:lnSpc>
              <a:spcBef>
                <a:spcPct val="50000"/>
              </a:spcBef>
            </a:pPr>
            <a:endParaRPr lang="en-US" altLang="zh-CN" sz="1800">
              <a:solidFill>
                <a:srgbClr val="000000"/>
              </a:solidFill>
              <a:latin typeface="Tahoma" panose="020B0604030504040204" pitchFamily="34" charset="0"/>
            </a:endParaRPr>
          </a:p>
          <a:p>
            <a:pPr>
              <a:lnSpc>
                <a:spcPct val="100000"/>
              </a:lnSpc>
              <a:spcBef>
                <a:spcPct val="50000"/>
              </a:spcBef>
            </a:pPr>
            <a:endParaRPr lang="en-US" altLang="zh-CN" sz="1800" dirty="0">
              <a:solidFill>
                <a:srgbClr val="000000"/>
              </a:solidFill>
              <a:latin typeface="Tahoma" panose="020B0604030504040204" pitchFamily="34" charset="0"/>
            </a:endParaRPr>
          </a:p>
        </p:txBody>
      </p:sp>
      <p:sp>
        <p:nvSpPr>
          <p:cNvPr id="146440" name="文本框 146439"/>
          <p:cNvSpPr txBox="1"/>
          <p:nvPr/>
        </p:nvSpPr>
        <p:spPr>
          <a:xfrm>
            <a:off x="6705600" y="4495800"/>
            <a:ext cx="1752600" cy="396875"/>
          </a:xfrm>
          <a:prstGeom prst="rect">
            <a:avLst/>
          </a:prstGeom>
          <a:noFill/>
          <a:ln w="9525">
            <a:noFill/>
          </a:ln>
        </p:spPr>
        <p:txBody>
          <a:bodyPr>
            <a:spAutoFit/>
          </a:bodyPr>
          <a:p>
            <a:pPr>
              <a:lnSpc>
                <a:spcPct val="100000"/>
              </a:lnSpc>
              <a:spcBef>
                <a:spcPct val="50000"/>
              </a:spcBef>
            </a:pPr>
            <a:r>
              <a:rPr lang="zh-CN" altLang="en-US" dirty="0">
                <a:solidFill>
                  <a:srgbClr val="000000"/>
                </a:solidFill>
                <a:latin typeface="Tahoma" panose="020B0604030504040204" pitchFamily="34" charset="0"/>
              </a:rPr>
              <a:t>失业率</a:t>
            </a:r>
            <a:r>
              <a:rPr lang="en-US" altLang="zh-CN">
                <a:solidFill>
                  <a:srgbClr val="000000"/>
                </a:solidFill>
                <a:latin typeface="Tahoma" panose="020B0604030504040204" pitchFamily="34" charset="0"/>
              </a:rPr>
              <a:t>%</a:t>
            </a:r>
            <a:endParaRPr lang="en-US" altLang="zh-CN">
              <a:solidFill>
                <a:srgbClr val="000000"/>
              </a:solidFill>
              <a:latin typeface="Tahoma" panose="020B0604030504040204" pitchFamily="34" charset="0"/>
            </a:endParaRPr>
          </a:p>
        </p:txBody>
      </p:sp>
      <p:sp>
        <p:nvSpPr>
          <p:cNvPr id="146441" name="任意多边形 146440"/>
          <p:cNvSpPr/>
          <p:nvPr/>
        </p:nvSpPr>
        <p:spPr>
          <a:xfrm>
            <a:off x="2971800" y="2438400"/>
            <a:ext cx="76200" cy="76200"/>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146442" name="任意多边形 146441"/>
          <p:cNvSpPr/>
          <p:nvPr/>
        </p:nvSpPr>
        <p:spPr>
          <a:xfrm>
            <a:off x="3276600" y="3352800"/>
            <a:ext cx="76200" cy="76200"/>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146443" name="任意多边形 146442"/>
          <p:cNvSpPr/>
          <p:nvPr/>
        </p:nvSpPr>
        <p:spPr>
          <a:xfrm>
            <a:off x="4114800" y="4343400"/>
            <a:ext cx="76200" cy="76200"/>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146444" name="直接连接符 146443"/>
          <p:cNvSpPr/>
          <p:nvPr/>
        </p:nvSpPr>
        <p:spPr>
          <a:xfrm>
            <a:off x="2057400" y="3352800"/>
            <a:ext cx="1219200" cy="0"/>
          </a:xfrm>
          <a:prstGeom prst="line">
            <a:avLst/>
          </a:prstGeom>
          <a:ln w="9525" cap="flat" cmpd="sng">
            <a:solidFill>
              <a:schemeClr val="tx1"/>
            </a:solidFill>
            <a:prstDash val="sysDot"/>
            <a:miter/>
            <a:headEnd type="none" w="med" len="med"/>
            <a:tailEnd type="none" w="med" len="med"/>
          </a:ln>
        </p:spPr>
      </p:sp>
      <p:sp>
        <p:nvSpPr>
          <p:cNvPr id="146445" name="直接连接符 146444"/>
          <p:cNvSpPr/>
          <p:nvPr/>
        </p:nvSpPr>
        <p:spPr>
          <a:xfrm>
            <a:off x="3276600" y="3352800"/>
            <a:ext cx="0" cy="1066800"/>
          </a:xfrm>
          <a:prstGeom prst="line">
            <a:avLst/>
          </a:prstGeom>
          <a:ln w="9525" cap="flat" cmpd="sng">
            <a:solidFill>
              <a:schemeClr val="tx1"/>
            </a:solidFill>
            <a:prstDash val="sysDot"/>
            <a:miter/>
            <a:headEnd type="none" w="med" len="med"/>
            <a:tailEnd type="none" w="med" len="med"/>
          </a:ln>
        </p:spPr>
      </p:sp>
      <p:sp>
        <p:nvSpPr>
          <p:cNvPr id="146446" name="文本框 146445"/>
          <p:cNvSpPr txBox="1"/>
          <p:nvPr/>
        </p:nvSpPr>
        <p:spPr>
          <a:xfrm>
            <a:off x="3124200" y="4495800"/>
            <a:ext cx="1828800" cy="396875"/>
          </a:xfrm>
          <a:prstGeom prst="rect">
            <a:avLst/>
          </a:prstGeom>
          <a:noFill/>
          <a:ln w="9525">
            <a:noFill/>
          </a:ln>
        </p:spPr>
        <p:txBody>
          <a:bodyPr>
            <a:spAutoFit/>
          </a:bodyPr>
          <a:p>
            <a:pPr>
              <a:lnSpc>
                <a:spcPct val="100000"/>
              </a:lnSpc>
              <a:spcBef>
                <a:spcPct val="50000"/>
              </a:spcBef>
            </a:pPr>
            <a:r>
              <a:rPr lang="en-US" altLang="zh-CN" b="0">
                <a:latin typeface="Tahoma" panose="020B0604030504040204" pitchFamily="34" charset="0"/>
              </a:rPr>
              <a:t>3          5</a:t>
            </a:r>
            <a:endParaRPr lang="en-US" altLang="zh-CN" b="0">
              <a:latin typeface="Tahoma" panose="020B0604030504040204" pitchFamily="34" charset="0"/>
            </a:endParaRPr>
          </a:p>
        </p:txBody>
      </p:sp>
      <p:sp>
        <p:nvSpPr>
          <p:cNvPr id="146447" name="文本框 146446"/>
          <p:cNvSpPr txBox="1"/>
          <p:nvPr/>
        </p:nvSpPr>
        <p:spPr>
          <a:xfrm>
            <a:off x="2971800" y="2286000"/>
            <a:ext cx="457200" cy="396875"/>
          </a:xfrm>
          <a:prstGeom prst="rect">
            <a:avLst/>
          </a:prstGeom>
          <a:noFill/>
          <a:ln w="9525">
            <a:noFill/>
          </a:ln>
        </p:spPr>
        <p:txBody>
          <a:bodyPr>
            <a:spAutoFit/>
          </a:bodyPr>
          <a:p>
            <a:pPr>
              <a:lnSpc>
                <a:spcPct val="100000"/>
              </a:lnSpc>
              <a:spcBef>
                <a:spcPct val="50000"/>
              </a:spcBef>
            </a:pPr>
            <a:r>
              <a:rPr lang="en-US" altLang="zh-CN" b="0">
                <a:latin typeface="Tahoma" panose="020B0604030504040204" pitchFamily="34" charset="0"/>
              </a:rPr>
              <a:t>D</a:t>
            </a:r>
            <a:endParaRPr lang="en-US" altLang="zh-CN" b="0">
              <a:latin typeface="Tahoma" panose="020B0604030504040204" pitchFamily="34" charset="0"/>
            </a:endParaRPr>
          </a:p>
        </p:txBody>
      </p:sp>
      <p:sp>
        <p:nvSpPr>
          <p:cNvPr id="146448" name="文本框 146447"/>
          <p:cNvSpPr txBox="1"/>
          <p:nvPr/>
        </p:nvSpPr>
        <p:spPr>
          <a:xfrm>
            <a:off x="3276600" y="3124200"/>
            <a:ext cx="533400" cy="396875"/>
          </a:xfrm>
          <a:prstGeom prst="rect">
            <a:avLst/>
          </a:prstGeom>
          <a:noFill/>
          <a:ln w="9525">
            <a:noFill/>
          </a:ln>
        </p:spPr>
        <p:txBody>
          <a:bodyPr>
            <a:spAutoFit/>
          </a:bodyPr>
          <a:p>
            <a:pPr>
              <a:lnSpc>
                <a:spcPct val="100000"/>
              </a:lnSpc>
              <a:spcBef>
                <a:spcPct val="50000"/>
              </a:spcBef>
            </a:pPr>
            <a:r>
              <a:rPr lang="en-US" altLang="zh-CN">
                <a:solidFill>
                  <a:srgbClr val="000000"/>
                </a:solidFill>
                <a:latin typeface="Tahoma" panose="020B0604030504040204" pitchFamily="34" charset="0"/>
              </a:rPr>
              <a:t>B</a:t>
            </a:r>
            <a:endParaRPr lang="en-US" altLang="zh-CN">
              <a:solidFill>
                <a:srgbClr val="000000"/>
              </a:solidFill>
              <a:latin typeface="Tahoma" panose="020B0604030504040204" pitchFamily="34" charset="0"/>
            </a:endParaRPr>
          </a:p>
        </p:txBody>
      </p:sp>
      <p:sp>
        <p:nvSpPr>
          <p:cNvPr id="146449" name="文本框 146448"/>
          <p:cNvSpPr txBox="1"/>
          <p:nvPr/>
        </p:nvSpPr>
        <p:spPr>
          <a:xfrm>
            <a:off x="4038600" y="4038600"/>
            <a:ext cx="609600" cy="457200"/>
          </a:xfrm>
          <a:prstGeom prst="rect">
            <a:avLst/>
          </a:prstGeom>
          <a:noFill/>
          <a:ln w="9525">
            <a:noFill/>
          </a:ln>
        </p:spPr>
        <p:txBody>
          <a:bodyPr>
            <a:spAutoFit/>
          </a:bodyPr>
          <a:p>
            <a:pPr>
              <a:lnSpc>
                <a:spcPct val="100000"/>
              </a:lnSpc>
              <a:spcBef>
                <a:spcPct val="50000"/>
              </a:spcBef>
            </a:pPr>
            <a:r>
              <a:rPr lang="en-US" altLang="zh-CN" sz="2400" b="0" dirty="0">
                <a:latin typeface="Tahoma" panose="020B0604030504040204" pitchFamily="34" charset="0"/>
              </a:rPr>
              <a:t> </a:t>
            </a:r>
            <a:r>
              <a:rPr lang="en-US" altLang="zh-CN" b="0">
                <a:latin typeface="Tahoma" panose="020B0604030504040204" pitchFamily="34" charset="0"/>
              </a:rPr>
              <a:t>A</a:t>
            </a:r>
            <a:endParaRPr lang="en-US" altLang="zh-CN" b="0">
              <a:latin typeface="Tahoma" panose="020B0604030504040204" pitchFamily="34" charset="0"/>
            </a:endParaRPr>
          </a:p>
        </p:txBody>
      </p:sp>
      <p:sp>
        <p:nvSpPr>
          <p:cNvPr id="146450" name="任意多边形 146449"/>
          <p:cNvSpPr/>
          <p:nvPr/>
        </p:nvSpPr>
        <p:spPr>
          <a:xfrm>
            <a:off x="4191000" y="2590800"/>
            <a:ext cx="76200" cy="76200"/>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146451" name="文本框 146450"/>
          <p:cNvSpPr txBox="1"/>
          <p:nvPr/>
        </p:nvSpPr>
        <p:spPr>
          <a:xfrm>
            <a:off x="4191000" y="2590800"/>
            <a:ext cx="457200" cy="396875"/>
          </a:xfrm>
          <a:prstGeom prst="rect">
            <a:avLst/>
          </a:prstGeom>
          <a:noFill/>
          <a:ln w="9525">
            <a:noFill/>
          </a:ln>
        </p:spPr>
        <p:txBody>
          <a:bodyPr>
            <a:spAutoFit/>
          </a:bodyPr>
          <a:p>
            <a:pPr>
              <a:lnSpc>
                <a:spcPct val="100000"/>
              </a:lnSpc>
              <a:spcBef>
                <a:spcPct val="50000"/>
              </a:spcBef>
            </a:pPr>
            <a:r>
              <a:rPr lang="en-US" altLang="zh-CN" b="0">
                <a:latin typeface="Tahoma" panose="020B0604030504040204" pitchFamily="34" charset="0"/>
              </a:rPr>
              <a:t>C</a:t>
            </a:r>
            <a:endParaRPr lang="en-US" altLang="zh-CN" b="0">
              <a:latin typeface="Tahom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标题 147457"/>
          <p:cNvSpPr>
            <a:spLocks noGrp="1"/>
          </p:cNvSpPr>
          <p:nvPr>
            <p:ph type="title"/>
          </p:nvPr>
        </p:nvSpPr>
        <p:spPr>
          <a:ln/>
        </p:spPr>
        <p:txBody>
          <a:bodyPr anchor="ctr" anchorCtr="0"/>
          <a:p>
            <a:endParaRPr dirty="0"/>
          </a:p>
        </p:txBody>
      </p:sp>
      <p:sp>
        <p:nvSpPr>
          <p:cNvPr id="147459" name="文本占位符 147458"/>
          <p:cNvSpPr>
            <a:spLocks noGrp="1"/>
          </p:cNvSpPr>
          <p:nvPr>
            <p:ph type="body" idx="1"/>
          </p:nvPr>
        </p:nvSpPr>
        <p:spPr>
          <a:xfrm>
            <a:off x="304800" y="304800"/>
            <a:ext cx="8610600" cy="6324600"/>
          </a:xfrm>
          <a:ln/>
        </p:spPr>
        <p:txBody>
          <a:bodyPr/>
          <a:p>
            <a:pPr>
              <a:lnSpc>
                <a:spcPct val="90000"/>
              </a:lnSpc>
              <a:buNone/>
            </a:pPr>
            <a:r>
              <a:rPr lang="en-US" altLang="zh-CN" sz="2400" b="1">
                <a:solidFill>
                  <a:srgbClr val="000000"/>
                </a:solidFill>
                <a:latin typeface="宋体" panose="02010600030101010101" pitchFamily="2" charset="-122"/>
              </a:rPr>
              <a:t>i.</a:t>
            </a:r>
            <a:r>
              <a:rPr lang="zh-CN" altLang="en-US" sz="2400" b="1" dirty="0">
                <a:solidFill>
                  <a:srgbClr val="000000"/>
                </a:solidFill>
                <a:latin typeface="宋体" panose="02010600030101010101" pitchFamily="2" charset="-122"/>
              </a:rPr>
              <a:t>政府可透过扩充式的财政政策或货币政策来增加社会总需求，制造就业机会，以减低失业率。此外，也可透过需求拉动，提高物价水平，使通膨率上升。</a:t>
            </a:r>
            <a:endParaRPr lang="zh-CN" altLang="en-US" sz="2400" b="1" dirty="0">
              <a:solidFill>
                <a:srgbClr val="000000"/>
              </a:solidFill>
              <a:latin typeface="宋体" panose="02010600030101010101" pitchFamily="2" charset="-122"/>
            </a:endParaRPr>
          </a:p>
          <a:p>
            <a:pPr>
              <a:lnSpc>
                <a:spcPct val="90000"/>
              </a:lnSpc>
              <a:buNone/>
            </a:pPr>
            <a:r>
              <a:rPr lang="en-US" altLang="zh-CN" sz="2400" b="1">
                <a:solidFill>
                  <a:srgbClr val="000000"/>
                </a:solidFill>
                <a:latin typeface="宋体" panose="02010600030101010101" pitchFamily="2" charset="-122"/>
              </a:rPr>
              <a:t>ii.</a:t>
            </a:r>
            <a:r>
              <a:rPr lang="zh-CN" altLang="en-US" sz="2400" b="1" dirty="0">
                <a:solidFill>
                  <a:srgbClr val="000000"/>
                </a:solidFill>
                <a:latin typeface="宋体" panose="02010600030101010101" pitchFamily="2" charset="-122"/>
              </a:rPr>
              <a:t>由于总供给向左移动，物价水平会上升，产出会减少，失业率会上升</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结果从</a:t>
            </a:r>
            <a:r>
              <a:rPr lang="en-US" altLang="zh-CN" sz="2400" b="1">
                <a:solidFill>
                  <a:srgbClr val="000000"/>
                </a:solidFill>
                <a:latin typeface="宋体" panose="02010600030101010101" pitchFamily="2" charset="-122"/>
              </a:rPr>
              <a:t>B</a:t>
            </a:r>
            <a:r>
              <a:rPr lang="zh-CN" altLang="en-US" sz="2400" b="1" dirty="0">
                <a:solidFill>
                  <a:srgbClr val="000000"/>
                </a:solidFill>
                <a:latin typeface="宋体" panose="02010600030101010101" pitchFamily="2" charset="-122"/>
              </a:rPr>
              <a:t>点移向</a:t>
            </a:r>
            <a:r>
              <a:rPr lang="en-US" altLang="zh-CN" sz="2400" b="1">
                <a:solidFill>
                  <a:srgbClr val="000000"/>
                </a:solidFill>
                <a:latin typeface="宋体" panose="02010600030101010101" pitchFamily="2" charset="-122"/>
              </a:rPr>
              <a:t>C</a:t>
            </a:r>
            <a:r>
              <a:rPr lang="zh-CN" altLang="en-US" sz="2400" b="1" dirty="0">
                <a:solidFill>
                  <a:srgbClr val="000000"/>
                </a:solidFill>
                <a:latin typeface="宋体" panose="02010600030101010101" pitchFamily="2" charset="-122"/>
              </a:rPr>
              <a:t>点。此时的变动并不是如菲利普曲线所描述的负相关变动，因为失业率和通货膨胀同时都上升了。</a:t>
            </a:r>
            <a:endParaRPr lang="zh-CN" altLang="en-US" sz="2400" b="1" dirty="0">
              <a:solidFill>
                <a:srgbClr val="000000"/>
              </a:solidFill>
              <a:latin typeface="宋体" panose="02010600030101010101" pitchFamily="2" charset="-122"/>
            </a:endParaRPr>
          </a:p>
          <a:p>
            <a:pPr>
              <a:lnSpc>
                <a:spcPct val="90000"/>
              </a:lnSpc>
              <a:buNone/>
            </a:pPr>
            <a:r>
              <a:rPr lang="zh-CN" altLang="en-US" sz="2400" b="1" dirty="0">
                <a:solidFill>
                  <a:srgbClr val="000000"/>
                </a:solidFill>
                <a:latin typeface="宋体" panose="02010600030101010101" pitchFamily="2" charset="-122"/>
              </a:rPr>
              <a:t>农产品供应减少，导致物价水平因农产品价格上涨而上升，社会总供给下跌引致失业率上升。物价和失业率同时上升，显示经济出现滞胀。</a:t>
            </a:r>
            <a:endParaRPr lang="zh-CN" altLang="en-US" sz="2400" b="1" dirty="0">
              <a:solidFill>
                <a:srgbClr val="000000"/>
              </a:solidFill>
              <a:latin typeface="宋体" panose="02010600030101010101" pitchFamily="2" charset="-122"/>
            </a:endParaRPr>
          </a:p>
          <a:p>
            <a:pPr>
              <a:lnSpc>
                <a:spcPct val="90000"/>
              </a:lnSpc>
              <a:buNone/>
            </a:pPr>
            <a:r>
              <a:rPr lang="en-US" altLang="zh-CN" sz="2400" b="1">
                <a:solidFill>
                  <a:srgbClr val="000000"/>
                </a:solidFill>
                <a:latin typeface="宋体" panose="02010600030101010101" pitchFamily="2" charset="-122"/>
              </a:rPr>
              <a:t>iii.</a:t>
            </a:r>
            <a:r>
              <a:rPr lang="zh-CN" altLang="en-US" sz="2400" b="1" dirty="0">
                <a:solidFill>
                  <a:srgbClr val="000000"/>
                </a:solidFill>
                <a:latin typeface="宋体" panose="02010600030101010101" pitchFamily="2" charset="-122"/>
              </a:rPr>
              <a:t>由于总需求增加，物价水平会上升，产出会增加，而失业率将减少。这时的变动为</a:t>
            </a:r>
            <a:r>
              <a:rPr lang="en-US" altLang="zh-CN" sz="2400" b="1">
                <a:solidFill>
                  <a:srgbClr val="000000"/>
                </a:solidFill>
                <a:latin typeface="宋体" panose="02010600030101010101" pitchFamily="2" charset="-122"/>
              </a:rPr>
              <a:t>B     D</a:t>
            </a:r>
            <a:r>
              <a:rPr lang="zh-CN" altLang="en-US" sz="2400" b="1" dirty="0">
                <a:solidFill>
                  <a:srgbClr val="000000"/>
                </a:solidFill>
                <a:latin typeface="宋体" panose="02010600030101010101" pitchFamily="2" charset="-122"/>
              </a:rPr>
              <a:t>，即沿菲利普曲线移动，与菲利普曲线所描述的负相关变动一致。</a:t>
            </a:r>
            <a:endParaRPr lang="zh-CN" altLang="en-US" sz="2400" b="1" dirty="0">
              <a:solidFill>
                <a:srgbClr val="000000"/>
              </a:solidFill>
              <a:latin typeface="宋体" panose="02010600030101010101" pitchFamily="2" charset="-122"/>
            </a:endParaRPr>
          </a:p>
          <a:p>
            <a:pPr>
              <a:lnSpc>
                <a:spcPct val="90000"/>
              </a:lnSpc>
              <a:buNone/>
            </a:pPr>
            <a:r>
              <a:rPr lang="zh-CN" altLang="en-US" sz="2400" b="1" dirty="0">
                <a:solidFill>
                  <a:srgbClr val="000000"/>
                </a:solidFill>
                <a:latin typeface="宋体" panose="02010600030101010101" pitchFamily="2" charset="-122"/>
              </a:rPr>
              <a:t>政府增加开支，社会的总需求便增加，当求大于供时，物价水平便上升，就业机会增加从而提高产出水平，失业率亦随之而下降。物价水平与失业率的负关系，正符合菲利普曲线的说明。</a:t>
            </a:r>
            <a:endParaRPr lang="zh-CN" altLang="en-US" sz="2400" b="1" dirty="0">
              <a:solidFill>
                <a:srgbClr val="000000"/>
              </a:solidFill>
              <a:latin typeface="宋体" panose="02010600030101010101" pitchFamily="2" charset="-122"/>
            </a:endParaRPr>
          </a:p>
        </p:txBody>
      </p:sp>
      <p:sp>
        <p:nvSpPr>
          <p:cNvPr id="147460" name="直接连接符 147459"/>
          <p:cNvSpPr/>
          <p:nvPr/>
        </p:nvSpPr>
        <p:spPr>
          <a:xfrm>
            <a:off x="2286000" y="3429000"/>
            <a:ext cx="685800" cy="0"/>
          </a:xfrm>
          <a:prstGeom prst="line">
            <a:avLst/>
          </a:prstGeom>
          <a:ln w="9525" cap="flat" cmpd="sng">
            <a:solidFill>
              <a:schemeClr val="tx1"/>
            </a:solidFill>
            <a:prstDash val="solid"/>
            <a:miter/>
            <a:headEnd type="none" w="med" len="med"/>
            <a:tailEnd type="triangle" w="med" len="med"/>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标题 148481"/>
          <p:cNvSpPr>
            <a:spLocks noGrp="1"/>
          </p:cNvSpPr>
          <p:nvPr>
            <p:ph type="title"/>
          </p:nvPr>
        </p:nvSpPr>
        <p:spPr>
          <a:ln/>
        </p:spPr>
        <p:txBody>
          <a:bodyPr anchor="ctr" anchorCtr="0"/>
          <a:p>
            <a:endParaRPr dirty="0"/>
          </a:p>
        </p:txBody>
      </p:sp>
      <p:sp>
        <p:nvSpPr>
          <p:cNvPr id="148483" name="文本占位符 148482"/>
          <p:cNvSpPr>
            <a:spLocks noGrp="1"/>
          </p:cNvSpPr>
          <p:nvPr>
            <p:ph type="body" idx="1"/>
          </p:nvPr>
        </p:nvSpPr>
        <p:spPr>
          <a:xfrm>
            <a:off x="381000" y="304800"/>
            <a:ext cx="8229600" cy="6248400"/>
          </a:xfrm>
          <a:ln/>
        </p:spPr>
        <p:txBody>
          <a:bodyPr/>
          <a:p>
            <a:pPr>
              <a:buNone/>
            </a:pPr>
            <a:r>
              <a:rPr lang="zh-CN" altLang="en-US" b="1" dirty="0">
                <a:solidFill>
                  <a:srgbClr val="000000"/>
                </a:solidFill>
              </a:rPr>
              <a:t>宏观经济理论的发展与比较</a:t>
            </a:r>
            <a:endParaRPr lang="zh-CN" altLang="en-US" b="1" dirty="0">
              <a:solidFill>
                <a:srgbClr val="000000"/>
              </a:solidFill>
            </a:endParaRPr>
          </a:p>
          <a:p>
            <a:pPr>
              <a:buNone/>
            </a:pPr>
            <a:r>
              <a:rPr lang="zh-CN" altLang="en-US" sz="2400" b="1" dirty="0">
                <a:solidFill>
                  <a:srgbClr val="000000"/>
                </a:solidFill>
              </a:rPr>
              <a:t>生产力与经济发展</a:t>
            </a:r>
            <a:endParaRPr lang="zh-CN" altLang="en-US" sz="2400" b="1" dirty="0">
              <a:solidFill>
                <a:srgbClr val="000000"/>
              </a:solidFill>
            </a:endParaRPr>
          </a:p>
          <a:p>
            <a:pPr>
              <a:buNone/>
            </a:pPr>
            <a:r>
              <a:rPr lang="zh-CN" altLang="en-US" sz="2400" b="1" dirty="0">
                <a:solidFill>
                  <a:srgbClr val="000000"/>
                </a:solidFill>
              </a:rPr>
              <a:t>经济增长的意义与衡量</a:t>
            </a:r>
            <a:endParaRPr lang="zh-CN" altLang="en-US" sz="2400" b="1" dirty="0">
              <a:solidFill>
                <a:srgbClr val="000000"/>
              </a:solidFill>
            </a:endParaRPr>
          </a:p>
          <a:p>
            <a:pPr>
              <a:buNone/>
            </a:pPr>
            <a:r>
              <a:rPr lang="zh-CN" altLang="en-US" sz="2400" b="1" dirty="0">
                <a:solidFill>
                  <a:srgbClr val="FF0000"/>
                </a:solidFill>
              </a:rPr>
              <a:t>经济增长</a:t>
            </a:r>
            <a:r>
              <a:rPr lang="en-US" altLang="zh-CN" sz="2400" b="1">
                <a:solidFill>
                  <a:srgbClr val="000000"/>
                </a:solidFill>
              </a:rPr>
              <a:t>:</a:t>
            </a:r>
            <a:r>
              <a:rPr lang="zh-CN" altLang="en-US" sz="2400" b="1" dirty="0">
                <a:solidFill>
                  <a:srgbClr val="000000"/>
                </a:solidFill>
              </a:rPr>
              <a:t>是</a:t>
            </a:r>
            <a:r>
              <a:rPr lang="en-US" altLang="zh-CN" sz="2400" b="1">
                <a:solidFill>
                  <a:srgbClr val="000000"/>
                </a:solidFill>
                <a:latin typeface="Times New Roman" panose="02020603050405020304" pitchFamily="18" charset="0"/>
              </a:rPr>
              <a:t>—</a:t>
            </a:r>
            <a:r>
              <a:rPr lang="zh-CN" altLang="en-US" sz="2400" b="1" dirty="0">
                <a:solidFill>
                  <a:srgbClr val="000000"/>
                </a:solidFill>
              </a:rPr>
              <a:t>个国家在生产产品和服务能力的增长，以及本地居民收入的增长</a:t>
            </a:r>
            <a:r>
              <a:rPr lang="en-US" altLang="zh-CN" sz="2400" b="1">
                <a:solidFill>
                  <a:srgbClr val="000000"/>
                </a:solidFill>
              </a:rPr>
              <a:t>;</a:t>
            </a:r>
            <a:endParaRPr lang="en-US" altLang="zh-CN" sz="2400" b="1">
              <a:solidFill>
                <a:srgbClr val="000000"/>
              </a:solidFill>
            </a:endParaRPr>
          </a:p>
          <a:p>
            <a:pPr>
              <a:buNone/>
            </a:pPr>
            <a:r>
              <a:rPr lang="zh-CN" altLang="en-US" sz="2400" b="1" dirty="0">
                <a:solidFill>
                  <a:srgbClr val="FF0000"/>
                </a:solidFill>
              </a:rPr>
              <a:t>经济发展</a:t>
            </a:r>
            <a:r>
              <a:rPr lang="en-US" altLang="zh-CN" sz="2400" b="1">
                <a:solidFill>
                  <a:srgbClr val="000000"/>
                </a:solidFill>
              </a:rPr>
              <a:t>:</a:t>
            </a:r>
            <a:r>
              <a:rPr lang="zh-CN" altLang="en-US" sz="2400" b="1" dirty="0">
                <a:solidFill>
                  <a:srgbClr val="000000"/>
                </a:solidFill>
              </a:rPr>
              <a:t>是指在经济增长基础上的经济结构，产业结构和经济制度等方面的发展。</a:t>
            </a:r>
            <a:endParaRPr lang="zh-CN" altLang="en-US" sz="2400" b="1" dirty="0">
              <a:solidFill>
                <a:srgbClr val="000000"/>
              </a:solidFill>
            </a:endParaRPr>
          </a:p>
          <a:p>
            <a:pPr>
              <a:buNone/>
            </a:pPr>
            <a:r>
              <a:rPr lang="zh-CN" altLang="en-US" sz="2400" b="1" dirty="0">
                <a:solidFill>
                  <a:srgbClr val="000000"/>
                </a:solidFill>
              </a:rPr>
              <a:t>研究发达国家生产能力提高的理论称为</a:t>
            </a:r>
            <a:r>
              <a:rPr lang="zh-CN" altLang="en-US" sz="2400" b="1" dirty="0">
                <a:solidFill>
                  <a:srgbClr val="FF0000"/>
                </a:solidFill>
              </a:rPr>
              <a:t>经济增长理论</a:t>
            </a:r>
            <a:r>
              <a:rPr lang="zh-CN" altLang="en-US" sz="2400" b="1" dirty="0">
                <a:solidFill>
                  <a:srgbClr val="000000"/>
                </a:solidFill>
              </a:rPr>
              <a:t>。</a:t>
            </a:r>
            <a:endParaRPr lang="zh-CN" altLang="en-US" sz="2400" b="1" dirty="0">
              <a:solidFill>
                <a:srgbClr val="000000"/>
              </a:solidFill>
            </a:endParaRPr>
          </a:p>
          <a:p>
            <a:pPr>
              <a:buNone/>
            </a:pPr>
            <a:r>
              <a:rPr lang="zh-CN" altLang="en-US" sz="2400" b="1" dirty="0">
                <a:solidFill>
                  <a:srgbClr val="000000"/>
                </a:solidFill>
              </a:rPr>
              <a:t>研究发展中国家的经济发展理论，称为</a:t>
            </a:r>
            <a:r>
              <a:rPr lang="zh-CN" altLang="en-US" sz="2400" b="1" dirty="0">
                <a:solidFill>
                  <a:srgbClr val="FF0000"/>
                </a:solidFill>
              </a:rPr>
              <a:t>发展经济学</a:t>
            </a:r>
            <a:r>
              <a:rPr lang="zh-CN" altLang="en-US" sz="2400" b="1" dirty="0">
                <a:solidFill>
                  <a:srgbClr val="000000"/>
                </a:solidFill>
              </a:rPr>
              <a:t>。</a:t>
            </a:r>
            <a:endParaRPr lang="zh-CN" altLang="en-US" sz="2400" b="1" dirty="0">
              <a:solidFill>
                <a:srgbClr val="000000"/>
              </a:solidFill>
            </a:endParaRPr>
          </a:p>
          <a:p>
            <a:pPr>
              <a:buNone/>
            </a:pPr>
            <a:r>
              <a:rPr lang="zh-CN" altLang="en-US" sz="2400" b="1" dirty="0">
                <a:solidFill>
                  <a:srgbClr val="000000"/>
                </a:solidFill>
              </a:rPr>
              <a:t>经济增长</a:t>
            </a:r>
            <a:r>
              <a:rPr lang="en-US" altLang="zh-CN" sz="2400" b="1">
                <a:solidFill>
                  <a:srgbClr val="000000"/>
                </a:solidFill>
              </a:rPr>
              <a:t>:g=(</a:t>
            </a:r>
            <a:r>
              <a:rPr lang="en-US" altLang="zh-CN" sz="2400" b="1" dirty="0" err="1">
                <a:solidFill>
                  <a:srgbClr val="000000"/>
                </a:solidFill>
              </a:rPr>
              <a:t>Y</a:t>
            </a:r>
            <a:r>
              <a:rPr lang="en-US" altLang="zh-CN" sz="2400" b="1" baseline="-25000" dirty="0" err="1">
                <a:solidFill>
                  <a:srgbClr val="000000"/>
                </a:solidFill>
              </a:rPr>
              <a:t>t</a:t>
            </a:r>
            <a:r>
              <a:rPr lang="en-US" altLang="zh-CN" sz="2400" b="1" baseline="-25000">
                <a:solidFill>
                  <a:srgbClr val="000000"/>
                </a:solidFill>
              </a:rPr>
              <a:t> </a:t>
            </a:r>
            <a:r>
              <a:rPr lang="en-US" altLang="zh-CN" sz="2400" b="1">
                <a:solidFill>
                  <a:srgbClr val="000000"/>
                </a:solidFill>
              </a:rPr>
              <a:t>–</a:t>
            </a:r>
            <a:r>
              <a:rPr lang="en-US" altLang="zh-CN" sz="2400" b="1">
                <a:solidFill>
                  <a:srgbClr val="000000"/>
                </a:solidFill>
              </a:rPr>
              <a:t>Y</a:t>
            </a:r>
            <a:r>
              <a:rPr lang="en-US" altLang="zh-CN" sz="2400" b="1" baseline="-25000">
                <a:solidFill>
                  <a:srgbClr val="000000"/>
                </a:solidFill>
              </a:rPr>
              <a:t>t-1</a:t>
            </a:r>
            <a:r>
              <a:rPr lang="en-US" altLang="zh-CN" sz="2400" b="1">
                <a:solidFill>
                  <a:srgbClr val="000000"/>
                </a:solidFill>
              </a:rPr>
              <a:t>)/ </a:t>
            </a:r>
            <a:r>
              <a:rPr lang="en-US" altLang="zh-CN" sz="2400" b="1">
                <a:solidFill>
                  <a:srgbClr val="000000"/>
                </a:solidFill>
              </a:rPr>
              <a:t>Y</a:t>
            </a:r>
            <a:r>
              <a:rPr lang="en-US" altLang="zh-CN" sz="2400" b="1" baseline="-25000">
                <a:solidFill>
                  <a:srgbClr val="000000"/>
                </a:solidFill>
              </a:rPr>
              <a:t>t-1</a:t>
            </a:r>
            <a:r>
              <a:rPr lang="en-US" altLang="zh-CN" sz="2400" b="1">
                <a:solidFill>
                  <a:srgbClr val="000000"/>
                </a:solidFill>
              </a:rPr>
              <a:t>X100%</a:t>
            </a:r>
            <a:endParaRPr lang="en-US" altLang="zh-CN" sz="2400" b="1">
              <a:solidFill>
                <a:srgbClr val="000000"/>
              </a:solidFill>
            </a:endParaRPr>
          </a:p>
          <a:p>
            <a:pPr>
              <a:buNone/>
            </a:pPr>
            <a:r>
              <a:rPr lang="en-US" altLang="zh-CN" sz="2400" b="1" dirty="0" err="1">
                <a:solidFill>
                  <a:srgbClr val="000000"/>
                </a:solidFill>
              </a:rPr>
              <a:t>Y</a:t>
            </a:r>
            <a:r>
              <a:rPr lang="en-US" altLang="zh-CN" sz="2400" b="1" baseline="-25000" dirty="0" err="1">
                <a:solidFill>
                  <a:srgbClr val="000000"/>
                </a:solidFill>
              </a:rPr>
              <a:t>t</a:t>
            </a:r>
            <a:r>
              <a:rPr lang="zh-CN" altLang="en-US" sz="2400" b="1" dirty="0">
                <a:solidFill>
                  <a:srgbClr val="000000"/>
                </a:solidFill>
              </a:rPr>
              <a:t>表示第</a:t>
            </a:r>
            <a:r>
              <a:rPr lang="en-US" altLang="zh-CN" sz="2400" b="1">
                <a:solidFill>
                  <a:srgbClr val="000000"/>
                </a:solidFill>
              </a:rPr>
              <a:t>t</a:t>
            </a:r>
            <a:r>
              <a:rPr lang="zh-CN" altLang="en-US" sz="2400" b="1" dirty="0">
                <a:solidFill>
                  <a:srgbClr val="000000"/>
                </a:solidFill>
              </a:rPr>
              <a:t>年的实质本地居民生产总值， </a:t>
            </a:r>
            <a:r>
              <a:rPr lang="en-US" altLang="zh-CN" sz="2400" b="1">
                <a:solidFill>
                  <a:srgbClr val="000000"/>
                </a:solidFill>
              </a:rPr>
              <a:t>Y</a:t>
            </a:r>
            <a:r>
              <a:rPr lang="en-US" altLang="zh-CN" sz="2400" b="1" baseline="-25000">
                <a:solidFill>
                  <a:srgbClr val="000000"/>
                </a:solidFill>
              </a:rPr>
              <a:t>t-1</a:t>
            </a:r>
            <a:r>
              <a:rPr lang="zh-CN" altLang="en-US" sz="2400" b="1" dirty="0">
                <a:solidFill>
                  <a:srgbClr val="000000"/>
                </a:solidFill>
              </a:rPr>
              <a:t>则为去年的相对总值</a:t>
            </a:r>
            <a:r>
              <a:rPr lang="en-US" altLang="zh-CN" sz="2400" b="1">
                <a:solidFill>
                  <a:srgbClr val="000000"/>
                </a:solidFill>
              </a:rPr>
              <a:t>;</a:t>
            </a:r>
            <a:endParaRPr lang="en-US" altLang="zh-CN" sz="2400" b="1">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标题 149505"/>
          <p:cNvSpPr>
            <a:spLocks noGrp="1"/>
          </p:cNvSpPr>
          <p:nvPr>
            <p:ph type="title"/>
          </p:nvPr>
        </p:nvSpPr>
        <p:spPr>
          <a:ln/>
        </p:spPr>
        <p:txBody>
          <a:bodyPr anchor="ctr" anchorCtr="0"/>
          <a:p>
            <a:endParaRPr dirty="0"/>
          </a:p>
        </p:txBody>
      </p:sp>
      <p:sp>
        <p:nvSpPr>
          <p:cNvPr id="149507" name="文本占位符 149506"/>
          <p:cNvSpPr>
            <a:spLocks noGrp="1"/>
          </p:cNvSpPr>
          <p:nvPr>
            <p:ph type="body" idx="1"/>
          </p:nvPr>
        </p:nvSpPr>
        <p:spPr>
          <a:xfrm>
            <a:off x="228600" y="228600"/>
            <a:ext cx="8382000" cy="5791200"/>
          </a:xfrm>
          <a:ln/>
        </p:spPr>
        <p:txBody>
          <a:bodyPr/>
          <a:p>
            <a:pPr marL="0" indent="0">
              <a:lnSpc>
                <a:spcPct val="90000"/>
              </a:lnSpc>
              <a:buNone/>
            </a:pPr>
            <a:r>
              <a:rPr lang="zh-CN" altLang="en-US" dirty="0">
                <a:solidFill>
                  <a:srgbClr val="000000"/>
                </a:solidFill>
              </a:rPr>
              <a:t>经济增长也需付出代价</a:t>
            </a:r>
            <a:endParaRPr lang="zh-CN" altLang="en-US" dirty="0">
              <a:solidFill>
                <a:srgbClr val="000000"/>
              </a:solidFill>
            </a:endParaRPr>
          </a:p>
          <a:p>
            <a:pPr marL="0" indent="0">
              <a:lnSpc>
                <a:spcPct val="90000"/>
              </a:lnSpc>
              <a:buNone/>
            </a:pPr>
            <a:r>
              <a:rPr lang="en-US" altLang="zh-CN">
                <a:solidFill>
                  <a:srgbClr val="000000"/>
                </a:solidFill>
              </a:rPr>
              <a:t>1</a:t>
            </a:r>
            <a:r>
              <a:rPr lang="zh-CN" altLang="en-US" dirty="0">
                <a:solidFill>
                  <a:srgbClr val="000000"/>
                </a:solidFill>
              </a:rPr>
              <a:t>、经济稳定性。</a:t>
            </a:r>
            <a:endParaRPr lang="zh-CN" altLang="en-US" dirty="0">
              <a:solidFill>
                <a:srgbClr val="000000"/>
              </a:solidFill>
            </a:endParaRPr>
          </a:p>
          <a:p>
            <a:pPr marL="0" indent="0">
              <a:lnSpc>
                <a:spcPct val="90000"/>
              </a:lnSpc>
              <a:buNone/>
            </a:pPr>
            <a:r>
              <a:rPr lang="en-US" altLang="zh-CN">
                <a:solidFill>
                  <a:srgbClr val="000000"/>
                </a:solidFill>
              </a:rPr>
              <a:t>2</a:t>
            </a:r>
            <a:r>
              <a:rPr lang="zh-CN" altLang="en-US" dirty="0">
                <a:solidFill>
                  <a:srgbClr val="000000"/>
                </a:solidFill>
              </a:rPr>
              <a:t>、收入分配。</a:t>
            </a:r>
            <a:endParaRPr lang="zh-CN" altLang="en-US" dirty="0">
              <a:solidFill>
                <a:srgbClr val="000000"/>
              </a:solidFill>
            </a:endParaRPr>
          </a:p>
          <a:p>
            <a:pPr marL="0" indent="0">
              <a:lnSpc>
                <a:spcPct val="90000"/>
              </a:lnSpc>
              <a:buNone/>
            </a:pPr>
            <a:r>
              <a:rPr lang="en-US" altLang="zh-CN">
                <a:solidFill>
                  <a:srgbClr val="000000"/>
                </a:solidFill>
              </a:rPr>
              <a:t>3</a:t>
            </a:r>
            <a:r>
              <a:rPr lang="zh-CN" altLang="en-US" dirty="0">
                <a:solidFill>
                  <a:srgbClr val="000000"/>
                </a:solidFill>
              </a:rPr>
              <a:t>、社会成本。</a:t>
            </a:r>
            <a:endParaRPr lang="zh-CN" altLang="en-US" dirty="0">
              <a:solidFill>
                <a:srgbClr val="000000"/>
              </a:solidFill>
            </a:endParaRPr>
          </a:p>
          <a:p>
            <a:pPr marL="0" indent="0">
              <a:lnSpc>
                <a:spcPct val="90000"/>
              </a:lnSpc>
              <a:buNone/>
            </a:pPr>
            <a:r>
              <a:rPr lang="en-US" altLang="zh-CN">
                <a:solidFill>
                  <a:srgbClr val="000000"/>
                </a:solidFill>
              </a:rPr>
              <a:t>4</a:t>
            </a:r>
            <a:r>
              <a:rPr lang="zh-CN" altLang="en-US" dirty="0">
                <a:solidFill>
                  <a:srgbClr val="000000"/>
                </a:solidFill>
              </a:rPr>
              <a:t>、机会成本。</a:t>
            </a:r>
            <a:endParaRPr lang="zh-CN" altLang="en-US" dirty="0">
              <a:solidFill>
                <a:srgbClr val="000000"/>
              </a:solidFill>
            </a:endParaRPr>
          </a:p>
          <a:p>
            <a:pPr marL="0" indent="0">
              <a:lnSpc>
                <a:spcPct val="90000"/>
              </a:lnSpc>
              <a:buNone/>
            </a:pPr>
            <a:r>
              <a:rPr lang="zh-CN" altLang="en-US" dirty="0">
                <a:solidFill>
                  <a:srgbClr val="000000"/>
                </a:solidFill>
              </a:rPr>
              <a:t>生产力与经济增长理论</a:t>
            </a:r>
            <a:endParaRPr lang="zh-CN" altLang="en-US" dirty="0">
              <a:solidFill>
                <a:srgbClr val="000000"/>
              </a:solidFill>
            </a:endParaRPr>
          </a:p>
          <a:p>
            <a:pPr marL="0" indent="0">
              <a:lnSpc>
                <a:spcPct val="90000"/>
              </a:lnSpc>
              <a:buNone/>
            </a:pPr>
            <a:r>
              <a:rPr lang="zh-CN" altLang="en-US" dirty="0">
                <a:solidFill>
                  <a:srgbClr val="000000"/>
                </a:solidFill>
              </a:rPr>
              <a:t>经济增长的来源可以是生产要素投入的增加，例如劳动、资本</a:t>
            </a:r>
            <a:r>
              <a:rPr lang="en-US" altLang="zh-CN">
                <a:solidFill>
                  <a:srgbClr val="000000"/>
                </a:solidFill>
              </a:rPr>
              <a:t>(</a:t>
            </a:r>
            <a:r>
              <a:rPr lang="zh-CN" altLang="en-US" dirty="0">
                <a:solidFill>
                  <a:srgbClr val="000000"/>
                </a:solidFill>
              </a:rPr>
              <a:t>包括人力资源的投资</a:t>
            </a:r>
            <a:r>
              <a:rPr lang="en-US" altLang="zh-CN">
                <a:solidFill>
                  <a:srgbClr val="000000"/>
                </a:solidFill>
              </a:rPr>
              <a:t>)</a:t>
            </a:r>
            <a:r>
              <a:rPr lang="zh-CN" altLang="en-US" dirty="0">
                <a:solidFill>
                  <a:srgbClr val="000000"/>
                </a:solidFill>
              </a:rPr>
              <a:t>的增加</a:t>
            </a:r>
            <a:r>
              <a:rPr lang="en-US" altLang="zh-CN">
                <a:solidFill>
                  <a:srgbClr val="000000"/>
                </a:solidFill>
              </a:rPr>
              <a:t>;</a:t>
            </a:r>
            <a:r>
              <a:rPr lang="zh-CN" altLang="en-US" dirty="0">
                <a:solidFill>
                  <a:srgbClr val="000000"/>
                </a:solidFill>
              </a:rPr>
              <a:t>在生产要素投入固定的情况下，经济增长的来源可以是生产技术的提高、知识的积累和规模经济。</a:t>
            </a:r>
            <a:endParaRPr lang="zh-CN" altLang="en-US" dirty="0">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标题 150529"/>
          <p:cNvSpPr>
            <a:spLocks noGrp="1"/>
          </p:cNvSpPr>
          <p:nvPr>
            <p:ph type="title"/>
          </p:nvPr>
        </p:nvSpPr>
        <p:spPr>
          <a:ln/>
        </p:spPr>
        <p:txBody>
          <a:bodyPr anchor="ctr" anchorCtr="0"/>
          <a:p>
            <a:endParaRPr dirty="0"/>
          </a:p>
        </p:txBody>
      </p:sp>
      <p:sp>
        <p:nvSpPr>
          <p:cNvPr id="150531" name="文本占位符 150530"/>
          <p:cNvSpPr>
            <a:spLocks noGrp="1"/>
          </p:cNvSpPr>
          <p:nvPr>
            <p:ph type="body" idx="1"/>
          </p:nvPr>
        </p:nvSpPr>
        <p:spPr>
          <a:xfrm>
            <a:off x="457200" y="762000"/>
            <a:ext cx="8153400" cy="5257800"/>
          </a:xfrm>
          <a:ln/>
        </p:spPr>
        <p:txBody>
          <a:bodyPr/>
          <a:p>
            <a:pPr marL="0" indent="0">
              <a:buNone/>
            </a:pPr>
            <a:r>
              <a:rPr lang="zh-CN" altLang="en-US" b="1">
                <a:solidFill>
                  <a:srgbClr val="000000"/>
                </a:solidFill>
              </a:rPr>
              <a:t>索洛</a:t>
            </a:r>
            <a:r>
              <a:rPr lang="zh-CN" altLang="en-US" b="1" dirty="0">
                <a:solidFill>
                  <a:srgbClr val="000000"/>
                </a:solidFill>
              </a:rPr>
              <a:t>增长核算方程</a:t>
            </a:r>
            <a:r>
              <a:rPr lang="en-US" altLang="zh-CN">
                <a:solidFill>
                  <a:srgbClr val="000000"/>
                </a:solidFill>
              </a:rPr>
              <a:t>:</a:t>
            </a:r>
            <a:endParaRPr lang="en-US" altLang="zh-CN">
              <a:solidFill>
                <a:srgbClr val="000000"/>
              </a:solidFill>
            </a:endParaRPr>
          </a:p>
          <a:p>
            <a:pPr marL="0" indent="0">
              <a:buNone/>
            </a:pPr>
            <a:r>
              <a:rPr lang="zh-CN" altLang="en-US" sz="2400" b="1" dirty="0">
                <a:solidFill>
                  <a:srgbClr val="000000"/>
                </a:solidFill>
              </a:rPr>
              <a:t>产出增长</a:t>
            </a:r>
            <a:r>
              <a:rPr lang="en-US" altLang="zh-CN" sz="2400" b="1">
                <a:solidFill>
                  <a:srgbClr val="000000"/>
                </a:solidFill>
              </a:rPr>
              <a:t>=(</a:t>
            </a:r>
            <a:r>
              <a:rPr lang="zh-CN" altLang="en-US" sz="2400" b="1" dirty="0">
                <a:solidFill>
                  <a:srgbClr val="000000"/>
                </a:solidFill>
              </a:rPr>
              <a:t>劳动份额</a:t>
            </a:r>
            <a:r>
              <a:rPr lang="en-US" altLang="zh-CN" sz="2400" b="1">
                <a:solidFill>
                  <a:srgbClr val="000000"/>
                </a:solidFill>
              </a:rPr>
              <a:t>X</a:t>
            </a:r>
            <a:r>
              <a:rPr lang="zh-CN" altLang="en-US" sz="2400" b="1" dirty="0">
                <a:solidFill>
                  <a:srgbClr val="000000"/>
                </a:solidFill>
              </a:rPr>
              <a:t>劳动增长</a:t>
            </a:r>
            <a:r>
              <a:rPr lang="en-US" altLang="zh-CN" sz="2400" b="1">
                <a:solidFill>
                  <a:srgbClr val="000000"/>
                </a:solidFill>
              </a:rPr>
              <a:t>)+(</a:t>
            </a:r>
            <a:r>
              <a:rPr lang="zh-CN" altLang="en-US" sz="2400" b="1" dirty="0">
                <a:solidFill>
                  <a:srgbClr val="000000"/>
                </a:solidFill>
              </a:rPr>
              <a:t>资本份额</a:t>
            </a:r>
            <a:r>
              <a:rPr lang="en-US" altLang="zh-CN" sz="2400" b="1">
                <a:solidFill>
                  <a:srgbClr val="000000"/>
                </a:solidFill>
              </a:rPr>
              <a:t>X</a:t>
            </a:r>
            <a:r>
              <a:rPr lang="zh-CN" altLang="en-US" sz="2400" b="1" dirty="0">
                <a:solidFill>
                  <a:srgbClr val="000000"/>
                </a:solidFill>
              </a:rPr>
              <a:t>资本增长</a:t>
            </a:r>
            <a:r>
              <a:rPr lang="en-US" altLang="zh-CN" sz="2400" b="1">
                <a:solidFill>
                  <a:srgbClr val="000000"/>
                </a:solidFill>
              </a:rPr>
              <a:t>)+</a:t>
            </a:r>
            <a:r>
              <a:rPr lang="zh-CN" altLang="en-US" sz="2400" b="1" dirty="0">
                <a:solidFill>
                  <a:srgbClr val="000000"/>
                </a:solidFill>
              </a:rPr>
              <a:t>技术进步</a:t>
            </a:r>
            <a:endParaRPr lang="zh-CN" altLang="en-US" sz="2400" b="1" dirty="0">
              <a:solidFill>
                <a:srgbClr val="000000"/>
              </a:solidFill>
            </a:endParaRPr>
          </a:p>
          <a:p>
            <a:pPr marL="0" indent="0">
              <a:buNone/>
            </a:pPr>
            <a:endParaRPr lang="zh-CN" altLang="en-US" sz="2400" b="1" dirty="0">
              <a:solidFill>
                <a:srgbClr val="000000"/>
              </a:solidFill>
            </a:endParaRPr>
          </a:p>
          <a:p>
            <a:pPr marL="0" indent="0">
              <a:buNone/>
            </a:pPr>
            <a:r>
              <a:rPr lang="zh-CN" altLang="en-US" sz="2400" b="1" dirty="0">
                <a:solidFill>
                  <a:srgbClr val="000000"/>
                </a:solidFill>
              </a:rPr>
              <a:t>丹尼森把影响经济增长的因素</a:t>
            </a:r>
            <a:r>
              <a:rPr lang="en-US" altLang="zh-CN" sz="2400" b="1">
                <a:solidFill>
                  <a:srgbClr val="000000"/>
                </a:solidFill>
                <a:sym typeface="Wingdings" panose="05000000000000000000" pitchFamily="2" charset="2"/>
              </a:rPr>
              <a:t>: (1)</a:t>
            </a:r>
            <a:r>
              <a:rPr lang="zh-CN" altLang="en-US" sz="2400" b="1" dirty="0">
                <a:solidFill>
                  <a:srgbClr val="000000"/>
                </a:solidFill>
                <a:sym typeface="Wingdings" panose="05000000000000000000" pitchFamily="2" charset="2"/>
              </a:rPr>
              <a:t>劳动</a:t>
            </a:r>
            <a:r>
              <a:rPr lang="en-US" altLang="zh-CN" sz="2400" b="1">
                <a:solidFill>
                  <a:srgbClr val="000000"/>
                </a:solidFill>
                <a:sym typeface="Wingdings" panose="05000000000000000000" pitchFamily="2" charset="2"/>
              </a:rPr>
              <a:t>;(2)</a:t>
            </a:r>
            <a:r>
              <a:rPr lang="zh-CN" altLang="en-US" sz="2400" b="1" dirty="0">
                <a:solidFill>
                  <a:srgbClr val="000000"/>
                </a:solidFill>
                <a:sym typeface="Wingdings" panose="05000000000000000000" pitchFamily="2" charset="2"/>
              </a:rPr>
              <a:t>资本存量的规模</a:t>
            </a:r>
            <a:r>
              <a:rPr lang="en-US" altLang="zh-CN" sz="2400" b="1">
                <a:solidFill>
                  <a:srgbClr val="000000"/>
                </a:solidFill>
                <a:sym typeface="Wingdings" panose="05000000000000000000" pitchFamily="2" charset="2"/>
              </a:rPr>
              <a:t>;(3)</a:t>
            </a:r>
            <a:r>
              <a:rPr lang="zh-CN" altLang="en-US" sz="2400" b="1" dirty="0">
                <a:solidFill>
                  <a:srgbClr val="000000"/>
                </a:solidFill>
                <a:sym typeface="Wingdings" panose="05000000000000000000" pitchFamily="2" charset="2"/>
              </a:rPr>
              <a:t>资源配置状况</a:t>
            </a:r>
            <a:r>
              <a:rPr lang="en-US" altLang="zh-CN" sz="2400" b="1">
                <a:solidFill>
                  <a:srgbClr val="000000"/>
                </a:solidFill>
                <a:sym typeface="Wingdings" panose="05000000000000000000" pitchFamily="2" charset="2"/>
              </a:rPr>
              <a:t>;(4)</a:t>
            </a:r>
            <a:r>
              <a:rPr lang="zh-CN" altLang="en-US" sz="2400" b="1" dirty="0">
                <a:solidFill>
                  <a:srgbClr val="000000"/>
                </a:solidFill>
                <a:sym typeface="Wingdings" panose="05000000000000000000" pitchFamily="2" charset="2"/>
              </a:rPr>
              <a:t>规模经济</a:t>
            </a:r>
            <a:r>
              <a:rPr lang="en-US" altLang="zh-CN" sz="2400" b="1">
                <a:solidFill>
                  <a:srgbClr val="000000"/>
                </a:solidFill>
                <a:sym typeface="Wingdings" panose="05000000000000000000" pitchFamily="2" charset="2"/>
              </a:rPr>
              <a:t>;(5)</a:t>
            </a:r>
            <a:r>
              <a:rPr lang="zh-CN" altLang="en-US" sz="2400" b="1" dirty="0">
                <a:solidFill>
                  <a:srgbClr val="000000"/>
                </a:solidFill>
                <a:sym typeface="Wingdings" panose="05000000000000000000" pitchFamily="2" charset="2"/>
              </a:rPr>
              <a:t>知识进展</a:t>
            </a:r>
            <a:r>
              <a:rPr lang="en-US" altLang="zh-CN" sz="2400" b="1">
                <a:solidFill>
                  <a:srgbClr val="000000"/>
                </a:solidFill>
                <a:sym typeface="Wingdings" panose="05000000000000000000" pitchFamily="2" charset="2"/>
              </a:rPr>
              <a:t>;(6)</a:t>
            </a:r>
            <a:r>
              <a:rPr lang="zh-CN" altLang="en-US" sz="2400" b="1" dirty="0">
                <a:solidFill>
                  <a:srgbClr val="000000"/>
                </a:solidFill>
                <a:sym typeface="Wingdings" panose="05000000000000000000" pitchFamily="2" charset="2"/>
              </a:rPr>
              <a:t>其他。</a:t>
            </a:r>
            <a:endParaRPr lang="zh-CN" altLang="en-US" sz="2400" b="1" dirty="0">
              <a:solidFill>
                <a:srgbClr val="000000"/>
              </a:solidFill>
              <a:sym typeface="Wingdings" panose="05000000000000000000" pitchFamily="2" charset="2"/>
            </a:endParaRPr>
          </a:p>
          <a:p>
            <a:pPr marL="0" indent="0">
              <a:buNone/>
            </a:pPr>
            <a:r>
              <a:rPr lang="zh-CN" altLang="en-US" sz="2400" b="1" dirty="0">
                <a:solidFill>
                  <a:srgbClr val="000000"/>
                </a:solidFill>
              </a:rPr>
              <a:t>丹尼森的计算</a:t>
            </a:r>
            <a:r>
              <a:rPr lang="en-US" altLang="zh-CN" sz="2400" b="1">
                <a:solidFill>
                  <a:srgbClr val="000000"/>
                </a:solidFill>
              </a:rPr>
              <a:t>:</a:t>
            </a:r>
            <a:r>
              <a:rPr lang="zh-CN" altLang="en-US" sz="2400" b="1" dirty="0">
                <a:solidFill>
                  <a:srgbClr val="000000"/>
                </a:solidFill>
              </a:rPr>
              <a:t>知识进展解释了技术进步对经济增长的约</a:t>
            </a:r>
            <a:r>
              <a:rPr lang="en-US" altLang="zh-CN" sz="2400" b="1">
                <a:solidFill>
                  <a:srgbClr val="000000"/>
                </a:solidFill>
              </a:rPr>
              <a:t>2/3</a:t>
            </a:r>
            <a:r>
              <a:rPr lang="zh-CN" altLang="en-US" sz="2400" b="1" dirty="0">
                <a:solidFill>
                  <a:srgbClr val="000000"/>
                </a:solidFill>
              </a:rPr>
              <a:t>的贡献。</a:t>
            </a:r>
            <a:endParaRPr lang="zh-CN" altLang="en-US" sz="2400" b="1" dirty="0">
              <a:solidFill>
                <a:srgbClr val="000000"/>
              </a:solidFill>
            </a:endParaRPr>
          </a:p>
          <a:p>
            <a:pPr marL="0" indent="0">
              <a:buNone/>
            </a:pPr>
            <a:r>
              <a:rPr lang="zh-CN" altLang="en-US" sz="2400" b="1" dirty="0">
                <a:solidFill>
                  <a:srgbClr val="000000"/>
                </a:solidFill>
              </a:rPr>
              <a:t>丹尼森的结论</a:t>
            </a:r>
            <a:r>
              <a:rPr lang="en-US" altLang="zh-CN" sz="2400" b="1">
                <a:solidFill>
                  <a:srgbClr val="000000"/>
                </a:solidFill>
              </a:rPr>
              <a:t>:</a:t>
            </a:r>
            <a:r>
              <a:rPr lang="zh-CN" altLang="en-US" sz="2400" b="1" dirty="0">
                <a:solidFill>
                  <a:srgbClr val="000000"/>
                </a:solidFill>
              </a:rPr>
              <a:t>知识进展是发达资本主义国家最重要的增长因素。</a:t>
            </a:r>
            <a:endParaRPr lang="zh-CN" altLang="en-US" sz="2400" b="1" dirty="0">
              <a:solidFill>
                <a:srgbClr val="000000"/>
              </a:solidFill>
            </a:endParaRPr>
          </a:p>
          <a:p>
            <a:pPr marL="0" indent="0">
              <a:buNone/>
            </a:pPr>
            <a:r>
              <a:rPr lang="zh-CN" altLang="en-US" sz="2400" b="1" dirty="0">
                <a:solidFill>
                  <a:srgbClr val="000000"/>
                </a:solidFill>
              </a:rPr>
              <a:t>促进经济增长的政策</a:t>
            </a:r>
            <a:r>
              <a:rPr lang="en-US" altLang="zh-CN" sz="2400" b="1">
                <a:solidFill>
                  <a:srgbClr val="000000"/>
                </a:solidFill>
              </a:rPr>
              <a:t>:1</a:t>
            </a:r>
            <a:r>
              <a:rPr lang="zh-CN" altLang="en-US" sz="2400" b="1" dirty="0">
                <a:solidFill>
                  <a:srgbClr val="000000"/>
                </a:solidFill>
              </a:rPr>
              <a:t>、鼓励技术进步</a:t>
            </a:r>
            <a:r>
              <a:rPr lang="en-US" altLang="zh-CN" sz="2400" b="1">
                <a:solidFill>
                  <a:srgbClr val="000000"/>
                </a:solidFill>
              </a:rPr>
              <a:t>;2</a:t>
            </a:r>
            <a:r>
              <a:rPr lang="zh-CN" altLang="en-US" sz="2400" b="1" dirty="0">
                <a:solidFill>
                  <a:srgbClr val="000000"/>
                </a:solidFill>
              </a:rPr>
              <a:t>、鼓励资本形成</a:t>
            </a:r>
            <a:r>
              <a:rPr lang="en-US" altLang="zh-CN" sz="2400" b="1">
                <a:solidFill>
                  <a:srgbClr val="000000"/>
                </a:solidFill>
              </a:rPr>
              <a:t>;3</a:t>
            </a:r>
            <a:r>
              <a:rPr lang="zh-CN" altLang="en-US" sz="2400" b="1" dirty="0">
                <a:solidFill>
                  <a:srgbClr val="000000"/>
                </a:solidFill>
              </a:rPr>
              <a:t>、增加劳动供给。</a:t>
            </a:r>
            <a:endParaRPr lang="zh-CN" altLang="en-US" sz="2400" b="1" dirty="0">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标题 153601"/>
          <p:cNvSpPr>
            <a:spLocks noGrp="1"/>
          </p:cNvSpPr>
          <p:nvPr>
            <p:ph type="title"/>
          </p:nvPr>
        </p:nvSpPr>
        <p:spPr>
          <a:ln/>
        </p:spPr>
        <p:txBody>
          <a:bodyPr anchor="ctr" anchorCtr="0"/>
          <a:p>
            <a:r>
              <a:rPr lang="zh-CN" altLang="en-US" dirty="0">
                <a:ea typeface="黑体" panose="02010609060101010101" pitchFamily="2" charset="-122"/>
              </a:rPr>
              <a:t>复习</a:t>
            </a:r>
            <a:endParaRPr lang="zh-CN" altLang="en-US" dirty="0">
              <a:ea typeface="黑体" panose="02010609060101010101" pitchFamily="2" charset="-122"/>
            </a:endParaRPr>
          </a:p>
        </p:txBody>
      </p:sp>
      <p:sp>
        <p:nvSpPr>
          <p:cNvPr id="153603" name="文本占位符 153602"/>
          <p:cNvSpPr>
            <a:spLocks noGrp="1"/>
          </p:cNvSpPr>
          <p:nvPr>
            <p:ph type="body" idx="1"/>
          </p:nvPr>
        </p:nvSpPr>
        <p:spPr>
          <a:ln/>
        </p:spPr>
        <p:txBody>
          <a:bodyPr/>
          <a:p>
            <a:r>
              <a:rPr lang="zh-CN" altLang="en-US" sz="4000" dirty="0">
                <a:latin typeface="黑体" panose="02010609060101010101" pitchFamily="2" charset="-122"/>
                <a:ea typeface="黑体" panose="02010609060101010101" pitchFamily="2" charset="-122"/>
              </a:rPr>
              <a:t>考试形式</a:t>
            </a:r>
            <a:endParaRPr lang="zh-CN" altLang="en-US" sz="4000" dirty="0">
              <a:latin typeface="黑体" panose="02010609060101010101" pitchFamily="2" charset="-122"/>
              <a:ea typeface="黑体" panose="02010609060101010101" pitchFamily="2" charset="-122"/>
            </a:endParaRPr>
          </a:p>
          <a:p>
            <a:r>
              <a:rPr lang="zh-CN" altLang="en-US" sz="4000" dirty="0">
                <a:latin typeface="黑体" panose="02010609060101010101" pitchFamily="2" charset="-122"/>
                <a:ea typeface="黑体" panose="02010609060101010101" pitchFamily="2" charset="-122"/>
              </a:rPr>
              <a:t>一、名词解释</a:t>
            </a:r>
            <a:endParaRPr lang="zh-CN" altLang="en-US" sz="4000" dirty="0">
              <a:latin typeface="黑体" panose="02010609060101010101" pitchFamily="2" charset="-122"/>
              <a:ea typeface="黑体" panose="02010609060101010101" pitchFamily="2" charset="-122"/>
            </a:endParaRPr>
          </a:p>
          <a:p>
            <a:r>
              <a:rPr lang="zh-CN" altLang="en-US" sz="4000" dirty="0">
                <a:latin typeface="黑体" panose="02010609060101010101" pitchFamily="2" charset="-122"/>
                <a:ea typeface="黑体" panose="02010609060101010101" pitchFamily="2" charset="-122"/>
              </a:rPr>
              <a:t>二、</a:t>
            </a:r>
            <a:r>
              <a:rPr lang="zh-CN" altLang="en-US" sz="4000" b="1" dirty="0">
                <a:latin typeface="黑体" panose="02010609060101010101" pitchFamily="2" charset="-122"/>
                <a:ea typeface="黑体" panose="02010609060101010101" pitchFamily="2" charset="-122"/>
              </a:rPr>
              <a:t>判断正误</a:t>
            </a:r>
            <a:r>
              <a:rPr lang="zh-CN" altLang="en-US" sz="4000" dirty="0">
                <a:latin typeface="黑体" panose="02010609060101010101" pitchFamily="2" charset="-122"/>
                <a:ea typeface="黑体" panose="02010609060101010101" pitchFamily="2" charset="-122"/>
              </a:rPr>
              <a:t> </a:t>
            </a:r>
            <a:endParaRPr lang="zh-CN" altLang="en-US" sz="4000" dirty="0">
              <a:latin typeface="黑体" panose="02010609060101010101" pitchFamily="2" charset="-122"/>
              <a:ea typeface="黑体" panose="02010609060101010101" pitchFamily="2" charset="-122"/>
            </a:endParaRPr>
          </a:p>
          <a:p>
            <a:r>
              <a:rPr lang="zh-CN" altLang="en-US" sz="4000" dirty="0">
                <a:latin typeface="黑体" panose="02010609060101010101" pitchFamily="2" charset="-122"/>
                <a:ea typeface="黑体" panose="02010609060101010101" pitchFamily="2" charset="-122"/>
              </a:rPr>
              <a:t>三、简答题</a:t>
            </a:r>
            <a:endParaRPr lang="zh-CN" altLang="en-US" sz="4000" dirty="0">
              <a:latin typeface="黑体" panose="02010609060101010101" pitchFamily="2" charset="-122"/>
              <a:ea typeface="黑体" panose="02010609060101010101" pitchFamily="2" charset="-122"/>
            </a:endParaRPr>
          </a:p>
          <a:p>
            <a:r>
              <a:rPr lang="zh-CN" altLang="en-US" sz="4000" dirty="0">
                <a:latin typeface="黑体" panose="02010609060101010101" pitchFamily="2" charset="-122"/>
                <a:ea typeface="黑体" panose="02010609060101010101" pitchFamily="2" charset="-122"/>
              </a:rPr>
              <a:t>四、问答题</a:t>
            </a:r>
            <a:r>
              <a:rPr lang="en-US" altLang="zh-CN" sz="4000">
                <a:latin typeface="黑体" panose="02010609060101010101" pitchFamily="2" charset="-122"/>
                <a:ea typeface="黑体" panose="02010609060101010101" pitchFamily="2" charset="-122"/>
              </a:rPr>
              <a:t>(</a:t>
            </a:r>
            <a:r>
              <a:rPr lang="zh-CN" altLang="en-US" sz="4000" dirty="0">
                <a:latin typeface="黑体" panose="02010609060101010101" pitchFamily="2" charset="-122"/>
                <a:ea typeface="黑体" panose="02010609060101010101" pitchFamily="2" charset="-122"/>
              </a:rPr>
              <a:t>包括计算题</a:t>
            </a:r>
            <a:r>
              <a:rPr lang="en-US" altLang="zh-CN" sz="4000">
                <a:latin typeface="黑体" panose="02010609060101010101" pitchFamily="2" charset="-122"/>
                <a:ea typeface="黑体" panose="02010609060101010101" pitchFamily="2" charset="-122"/>
              </a:rPr>
              <a:t>)</a:t>
            </a:r>
            <a:endParaRPr lang="en-US" altLang="zh-CN" sz="4000">
              <a:latin typeface="黑体" panose="02010609060101010101" pitchFamily="2" charset="-122"/>
              <a:ea typeface="黑体" panose="02010609060101010101" pitchFamily="2" charset="-122"/>
            </a:endParaRPr>
          </a:p>
        </p:txBody>
      </p:sp>
    </p:spTree>
  </p:cSld>
  <p:clrMapOvr>
    <a:masterClrMapping/>
  </p:clrMapOvr>
</p:sld>
</file>

<file path=ppt/theme/theme1.xml><?xml version="1.0" encoding="utf-8"?>
<a:theme xmlns:a="http://schemas.openxmlformats.org/drawingml/2006/main" name="彩带型模板">
  <a:themeElements>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CC"/>
        </a:dk1>
        <a:lt1>
          <a:srgbClr val="660033"/>
        </a:lt1>
        <a:dk2>
          <a:srgbClr val="FFCC00"/>
        </a:dk2>
        <a:lt2>
          <a:srgbClr val="220011"/>
        </a:lt2>
        <a:accent1>
          <a:srgbClr val="CC0099"/>
        </a:accent1>
        <a:accent2>
          <a:srgbClr val="56002B"/>
        </a:accent2>
        <a:accent3>
          <a:srgbClr val="B9AAAD"/>
        </a:accent3>
        <a:accent4>
          <a:srgbClr val="DCDCAF"/>
        </a:accent4>
        <a:accent5>
          <a:srgbClr val="E2AACA"/>
        </a:accent5>
        <a:accent6>
          <a:srgbClr val="4C0026"/>
        </a:accent6>
        <a:hlink>
          <a:srgbClr val="9C004E"/>
        </a:hlink>
        <a:folHlink>
          <a:srgbClr val="FF6600"/>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33CCCC"/>
        </a:dk2>
        <a:lt2>
          <a:srgbClr val="000F1E"/>
        </a:lt2>
        <a:accent1>
          <a:srgbClr val="006699"/>
        </a:accent1>
        <a:accent2>
          <a:srgbClr val="003366"/>
        </a:accent2>
        <a:accent3>
          <a:srgbClr val="AAADB9"/>
        </a:accent3>
        <a:accent4>
          <a:srgbClr val="DCDCDC"/>
        </a:accent4>
        <a:accent5>
          <a:srgbClr val="AAB9CA"/>
        </a:accent5>
        <a:accent6>
          <a:srgbClr val="002D5B"/>
        </a:accent6>
        <a:hlink>
          <a:srgbClr val="0099CC"/>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66FFCC"/>
        </a:dk2>
        <a:lt2>
          <a:srgbClr val="002F2E"/>
        </a:lt2>
        <a:accent1>
          <a:srgbClr val="0099CC"/>
        </a:accent1>
        <a:accent2>
          <a:srgbClr val="005250"/>
        </a:accent2>
        <a:accent3>
          <a:srgbClr val="AAC1C1"/>
        </a:accent3>
        <a:accent4>
          <a:srgbClr val="DCDCDC"/>
        </a:accent4>
        <a:accent5>
          <a:srgbClr val="AACAE2"/>
        </a:accent5>
        <a:accent6>
          <a:srgbClr val="004947"/>
        </a:accent6>
        <a:hlink>
          <a:srgbClr val="00CC99"/>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CC00"/>
        </a:dk2>
        <a:lt2>
          <a:srgbClr val="000022"/>
        </a:lt2>
        <a:accent1>
          <a:srgbClr val="666699"/>
        </a:accent1>
        <a:accent2>
          <a:srgbClr val="000048"/>
        </a:accent2>
        <a:accent3>
          <a:srgbClr val="AAAAB9"/>
        </a:accent3>
        <a:accent4>
          <a:srgbClr val="DCDCDC"/>
        </a:accent4>
        <a:accent5>
          <a:srgbClr val="B9B9CA"/>
        </a:accent5>
        <a:accent6>
          <a:srgbClr val="000040"/>
        </a:accent6>
        <a:hlink>
          <a:srgbClr val="9999FF"/>
        </a:hlink>
        <a:folHlink>
          <a:srgbClr val="000099"/>
        </a:folHlink>
      </a:clrScheme>
      <a:clrMap bg1="lt1" tx1="dk1" bg2="lt2" tx2="dk2" accent1="accent1" accent2="accent2" accent3="accent3" accent4="accent4" accent5="accent5" accent6="accent6" hlink="hlink" folHlink="folHlink"/>
    </a:extraClrScheme>
    <a:extraClrScheme>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0C0C0"/>
        </a:lt2>
        <a:accent1>
          <a:srgbClr val="CBCBCB"/>
        </a:accent1>
        <a:accent2>
          <a:srgbClr val="EAEAEA"/>
        </a:accent2>
        <a:accent3>
          <a:srgbClr val="FFFFFF"/>
        </a:accent3>
        <a:accent4>
          <a:srgbClr val="000000"/>
        </a:accent4>
        <a:accent5>
          <a:srgbClr val="E1E1E1"/>
        </a:accent5>
        <a:accent6>
          <a:srgbClr val="D2D2D2"/>
        </a:accent6>
        <a:hlink>
          <a:srgbClr val="4D4D4D"/>
        </a:hlink>
        <a:folHlink>
          <a:srgbClr val="86868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Office\Templates\演示文稿设计\彩带型模板.pot</Template>
  <TotalTime>0</TotalTime>
  <Words>5638</Words>
  <Application>WPS 演示</Application>
  <PresentationFormat/>
  <Paragraphs>427</Paragraphs>
  <Slides>49</Slides>
  <Notes>17</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7</vt:i4>
      </vt:variant>
      <vt:variant>
        <vt:lpstr>幻灯片标题</vt:lpstr>
      </vt:variant>
      <vt:variant>
        <vt:i4>49</vt:i4>
      </vt:variant>
    </vt:vector>
  </HeadingPairs>
  <TitlesOfParts>
    <vt:vector size="66" baseType="lpstr">
      <vt:lpstr>Arial</vt:lpstr>
      <vt:lpstr>宋体</vt:lpstr>
      <vt:lpstr>Wingdings</vt:lpstr>
      <vt:lpstr>Times New Roman</vt:lpstr>
      <vt:lpstr>黑体</vt:lpstr>
      <vt:lpstr>Tahoma</vt:lpstr>
      <vt:lpstr>隶书</vt:lpstr>
      <vt:lpstr>微软雅黑</vt:lpstr>
      <vt:lpstr>Arial Unicode MS</vt:lpstr>
      <vt:lpstr>彩带型模板</vt:lpstr>
      <vt:lpstr>Equation.3</vt:lpstr>
      <vt:lpstr>Equation.3</vt:lpstr>
      <vt:lpstr>Equation.3</vt:lpstr>
      <vt:lpstr>Word.Document.8</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第一章微观经济学导论     1.基本经济问题  .三个重要概念  ）稀缺（scarcity）：社会资源的有限性，是指社会提供的东西少于人们想拥有的。 基本假设：  ①人类的欲望是无穷的   ②资源是有限的</dc:title>
  <dc:creator>aopen</dc:creator>
  <cp:lastModifiedBy>王瑞</cp:lastModifiedBy>
  <cp:revision>25</cp:revision>
  <dcterms:created xsi:type="dcterms:W3CDTF">2003-01-22T06:12:13Z</dcterms:created>
  <dcterms:modified xsi:type="dcterms:W3CDTF">2024-11-07T10:14:49Z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7471982606894EEB8EB072C6992AB5F6_13</vt:lpwstr>
  </property>
  <property fmtid="{D5CDD505-2E9C-101B-9397-08002B2CF9AE}" pid="3" name="KSOProductBuildVer">
    <vt:lpwstr>2052-12.1.0.18276</vt:lpwstr>
  </property>
</Properties>
</file>