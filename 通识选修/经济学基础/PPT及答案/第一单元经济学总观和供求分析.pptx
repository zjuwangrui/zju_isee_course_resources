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2"/>
  </p:notesMasterIdLst>
  <p:handoutMasterIdLst>
    <p:handoutMasterId r:id="rId73"/>
  </p:handoutMasterIdLst>
  <p:sldIdLst>
    <p:sldId id="285" r:id="rId3"/>
    <p:sldId id="345" r:id="rId4"/>
    <p:sldId id="256" r:id="rId5"/>
    <p:sldId id="272" r:id="rId6"/>
    <p:sldId id="257" r:id="rId7"/>
    <p:sldId id="274" r:id="rId8"/>
    <p:sldId id="275" r:id="rId9"/>
    <p:sldId id="276" r:id="rId10"/>
    <p:sldId id="277" r:id="rId11"/>
    <p:sldId id="263" r:id="rId12"/>
    <p:sldId id="278" r:id="rId13"/>
    <p:sldId id="279" r:id="rId14"/>
    <p:sldId id="280" r:id="rId15"/>
    <p:sldId id="282" r:id="rId16"/>
    <p:sldId id="283" r:id="rId17"/>
    <p:sldId id="270" r:id="rId18"/>
    <p:sldId id="286" r:id="rId19"/>
    <p:sldId id="287" r:id="rId20"/>
    <p:sldId id="288" r:id="rId21"/>
    <p:sldId id="289" r:id="rId22"/>
    <p:sldId id="290" r:id="rId23"/>
    <p:sldId id="291" r:id="rId24"/>
    <p:sldId id="292" r:id="rId25"/>
    <p:sldId id="293" r:id="rId26"/>
    <p:sldId id="294" r:id="rId27"/>
    <p:sldId id="295" r:id="rId28"/>
    <p:sldId id="296" r:id="rId29"/>
    <p:sldId id="297" r:id="rId30"/>
    <p:sldId id="298" r:id="rId31"/>
    <p:sldId id="299" r:id="rId32"/>
    <p:sldId id="301" r:id="rId33"/>
    <p:sldId id="302" r:id="rId34"/>
    <p:sldId id="303" r:id="rId35"/>
    <p:sldId id="304" r:id="rId36"/>
    <p:sldId id="305" r:id="rId37"/>
    <p:sldId id="306" r:id="rId38"/>
    <p:sldId id="307" r:id="rId39"/>
    <p:sldId id="308" r:id="rId40"/>
    <p:sldId id="309" r:id="rId41"/>
    <p:sldId id="310" r:id="rId42"/>
    <p:sldId id="313" r:id="rId43"/>
    <p:sldId id="315" r:id="rId44"/>
    <p:sldId id="316" r:id="rId45"/>
    <p:sldId id="317" r:id="rId46"/>
    <p:sldId id="318" r:id="rId47"/>
    <p:sldId id="319" r:id="rId48"/>
    <p:sldId id="320" r:id="rId49"/>
    <p:sldId id="321" r:id="rId50"/>
    <p:sldId id="323" r:id="rId51"/>
    <p:sldId id="324" r:id="rId52"/>
    <p:sldId id="325" r:id="rId53"/>
    <p:sldId id="326" r:id="rId54"/>
    <p:sldId id="327" r:id="rId55"/>
    <p:sldId id="328" r:id="rId56"/>
    <p:sldId id="329" r:id="rId57"/>
    <p:sldId id="330" r:id="rId58"/>
    <p:sldId id="332" r:id="rId59"/>
    <p:sldId id="333" r:id="rId60"/>
    <p:sldId id="334" r:id="rId61"/>
    <p:sldId id="335" r:id="rId62"/>
    <p:sldId id="336" r:id="rId63"/>
    <p:sldId id="337" r:id="rId64"/>
    <p:sldId id="338" r:id="rId65"/>
    <p:sldId id="339" r:id="rId66"/>
    <p:sldId id="340" r:id="rId67"/>
    <p:sldId id="341" r:id="rId68"/>
    <p:sldId id="342" r:id="rId69"/>
    <p:sldId id="343" r:id="rId70"/>
    <p:sldId id="344" r:id="rId71"/>
  </p:sldIdLst>
  <p:sldSz cx="9144000" cy="6858000" type="screen4x3"/>
  <p:notesSz cx="6858000" cy="9144000"/>
  <p:defaultTextStyle>
    <a:defPPr>
      <a:defRPr lang="zh-CN"/>
    </a:defPPr>
    <a:lvl1pPr marL="0" lvl="0" indent="0" algn="l" defTabSz="914400" rtl="0" eaLnBrk="1" fontAlgn="base" latinLnBrk="0" hangingPunct="1">
      <a:lnSpc>
        <a:spcPct val="90000"/>
      </a:lnSpc>
      <a:spcBef>
        <a:spcPct val="20000"/>
      </a:spcBef>
      <a:spcAft>
        <a:spcPct val="0"/>
      </a:spcAft>
      <a:buChar char="•"/>
      <a:defRPr sz="2000" b="1" i="0" u="none" kern="1200" baseline="0">
        <a:solidFill>
          <a:schemeClr val="tx1"/>
        </a:solidFill>
        <a:latin typeface="宋体" panose="02010600030101010101" pitchFamily="2" charset="-122"/>
        <a:ea typeface="宋体" panose="02010600030101010101" pitchFamily="2" charset="-122"/>
        <a:cs typeface="+mn-cs"/>
      </a:defRPr>
    </a:lvl1pPr>
    <a:lvl2pPr marL="457200" lvl="1" indent="0" algn="l" defTabSz="914400" rtl="0" eaLnBrk="1" fontAlgn="base" latinLnBrk="0" hangingPunct="1">
      <a:lnSpc>
        <a:spcPct val="90000"/>
      </a:lnSpc>
      <a:spcBef>
        <a:spcPct val="20000"/>
      </a:spcBef>
      <a:spcAft>
        <a:spcPct val="0"/>
      </a:spcAft>
      <a:buChar char="•"/>
      <a:defRPr sz="2000" b="1"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1" fontAlgn="base" latinLnBrk="0" hangingPunct="1">
      <a:lnSpc>
        <a:spcPct val="90000"/>
      </a:lnSpc>
      <a:spcBef>
        <a:spcPct val="20000"/>
      </a:spcBef>
      <a:spcAft>
        <a:spcPct val="0"/>
      </a:spcAft>
      <a:buChar char="•"/>
      <a:defRPr sz="2000" b="1"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1" fontAlgn="base" latinLnBrk="0" hangingPunct="1">
      <a:lnSpc>
        <a:spcPct val="90000"/>
      </a:lnSpc>
      <a:spcBef>
        <a:spcPct val="20000"/>
      </a:spcBef>
      <a:spcAft>
        <a:spcPct val="0"/>
      </a:spcAft>
      <a:buChar char="•"/>
      <a:defRPr sz="2000" b="1"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1" fontAlgn="base" latinLnBrk="0" hangingPunct="1">
      <a:lnSpc>
        <a:spcPct val="90000"/>
      </a:lnSpc>
      <a:spcBef>
        <a:spcPct val="20000"/>
      </a:spcBef>
      <a:spcAft>
        <a:spcPct val="0"/>
      </a:spcAft>
      <a:buChar char="•"/>
      <a:defRPr sz="2000" b="1"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1" fontAlgn="base" latinLnBrk="0" hangingPunct="1">
      <a:lnSpc>
        <a:spcPct val="90000"/>
      </a:lnSpc>
      <a:spcBef>
        <a:spcPct val="20000"/>
      </a:spcBef>
      <a:spcAft>
        <a:spcPct val="0"/>
      </a:spcAft>
      <a:buChar char="•"/>
      <a:defRPr sz="2000" b="1"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1" fontAlgn="base" latinLnBrk="0" hangingPunct="1">
      <a:lnSpc>
        <a:spcPct val="90000"/>
      </a:lnSpc>
      <a:spcBef>
        <a:spcPct val="20000"/>
      </a:spcBef>
      <a:spcAft>
        <a:spcPct val="0"/>
      </a:spcAft>
      <a:buChar char="•"/>
      <a:defRPr sz="2000" b="1"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1" fontAlgn="base" latinLnBrk="0" hangingPunct="1">
      <a:lnSpc>
        <a:spcPct val="90000"/>
      </a:lnSpc>
      <a:spcBef>
        <a:spcPct val="20000"/>
      </a:spcBef>
      <a:spcAft>
        <a:spcPct val="0"/>
      </a:spcAft>
      <a:buChar char="•"/>
      <a:defRPr sz="2000" b="1"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1" fontAlgn="base" latinLnBrk="0" hangingPunct="1">
      <a:lnSpc>
        <a:spcPct val="90000"/>
      </a:lnSpc>
      <a:spcBef>
        <a:spcPct val="20000"/>
      </a:spcBef>
      <a:spcAft>
        <a:spcPct val="0"/>
      </a:spcAft>
      <a:buChar char="•"/>
      <a:defRPr sz="2000" b="1" i="0" u="none" kern="1200" baseline="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886"/>
    <p:restoredTop sz="94660"/>
  </p:normalViewPr>
  <p:slideViewPr>
    <p:cSldViewPr showGuides="1">
      <p:cViewPr varScale="1">
        <p:scale>
          <a:sx n="67" d="100"/>
          <a:sy n="67" d="100"/>
        </p:scale>
        <p:origin x="-1164" y="-108"/>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handoutMaster" Target="handoutMasters/handoutMaster1.xml"/><Relationship Id="rId72" Type="http://schemas.openxmlformats.org/officeDocument/2006/relationships/notesMaster" Target="notesMasters/notesMaster1.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nSpc>
                <a:spcPct val="100000"/>
              </a:lnSpc>
              <a:spcBef>
                <a:spcPct val="0"/>
              </a:spcBef>
              <a:buFontTx/>
              <a:buNone/>
              <a:defRPr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r">
              <a:lnSpc>
                <a:spcPct val="100000"/>
              </a:lnSpc>
              <a:spcBef>
                <a:spcPct val="0"/>
              </a:spcBef>
              <a:buFontTx/>
              <a:buNone/>
              <a:defRPr sz="1200" b="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lstStyle>
            <a:lvl1pPr>
              <a:lnSpc>
                <a:spcPct val="100000"/>
              </a:lnSpc>
              <a:spcBef>
                <a:spcPct val="0"/>
              </a:spcBef>
              <a:buFontTx/>
              <a:buNone/>
              <a:defRPr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
            <a:pPr lvl="0" algn="r" eaLnBrk="1" hangingPunct="1">
              <a:lnSpc>
                <a:spcPct val="100000"/>
              </a:lnSpc>
              <a:spcBef>
                <a:spcPct val="0"/>
              </a:spcBef>
              <a:buNone/>
            </a:pPr>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nSpc>
                <a:spcPct val="100000"/>
              </a:lnSpc>
              <a:spcBef>
                <a:spcPct val="0"/>
              </a:spcBef>
              <a:buFontTx/>
              <a:buNone/>
              <a:defRPr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r">
              <a:lnSpc>
                <a:spcPct val="100000"/>
              </a:lnSpc>
              <a:spcBef>
                <a:spcPct val="0"/>
              </a:spcBef>
              <a:buFontTx/>
              <a:buNone/>
              <a:defRPr sz="1200" b="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3732" name="Rectangle 4"/>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单击以编辑母版文本样式</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1" fontAlgn="base" latinLnBrk="0" hangingPunct="1">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1" fontAlgn="base" latinLnBrk="0" hangingPunct="1">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1" fontAlgn="base" latinLnBrk="0" hangingPunct="1">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1" fontAlgn="base" latinLnBrk="0" hangingPunct="1">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lstStyle>
            <a:lvl1pPr>
              <a:lnSpc>
                <a:spcPct val="100000"/>
              </a:lnSpc>
              <a:spcBef>
                <a:spcPct val="0"/>
              </a:spcBef>
              <a:buFontTx/>
              <a:buNone/>
              <a:defRPr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
            <a:pPr lvl="0" algn="r" eaLnBrk="1" hangingPunct="1">
              <a:lnSpc>
                <a:spcPct val="100000"/>
              </a:lnSpc>
              <a:spcBef>
                <a:spcPct val="0"/>
              </a:spcBef>
              <a:buNone/>
            </a:pPr>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5" name="Rectangle 2"/>
          <p:cNvSpPr>
            <a:spLocks noChangeArrowheads="1"/>
          </p:cNvSpPr>
          <p:nvPr/>
        </p:nvSpPr>
        <p:spPr bwMode="auto">
          <a:xfrm>
            <a:off x="8783638" y="444500"/>
            <a:ext cx="360363" cy="3152775"/>
          </a:xfrm>
          <a:prstGeom prst="rect">
            <a:avLst/>
          </a:prstGeom>
          <a:gradFill rotWithShape="0">
            <a:gsLst>
              <a:gs pos="0">
                <a:schemeClr val="bg2"/>
              </a:gs>
              <a:gs pos="50000">
                <a:schemeClr val="hlink"/>
              </a:gs>
              <a:gs pos="100000">
                <a:schemeClr val="bg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Freeform 3"/>
          <p:cNvSpPr/>
          <p:nvPr/>
        </p:nvSpPr>
        <p:spPr bwMode="white">
          <a:xfrm>
            <a:off x="0" y="0"/>
            <a:ext cx="9144000" cy="2133600"/>
          </a:xfrm>
          <a:custGeom>
            <a:avLst/>
            <a:gdLst>
              <a:gd name="T0" fmla="*/ 0 w 5760"/>
              <a:gd name="T1" fmla="*/ 0 h 1104"/>
              <a:gd name="T2" fmla="*/ 5760 w 5760"/>
              <a:gd name="T3" fmla="*/ 0 h 1104"/>
              <a:gd name="T4" fmla="*/ 5760 w 5760"/>
              <a:gd name="T5" fmla="*/ 720 h 1104"/>
              <a:gd name="T6" fmla="*/ 3600 w 5760"/>
              <a:gd name="T7" fmla="*/ 624 h 1104"/>
              <a:gd name="T8" fmla="*/ 0 w 5760"/>
              <a:gd name="T9" fmla="*/ 1000 h 1104"/>
              <a:gd name="T10" fmla="*/ 0 w 5760"/>
              <a:gd name="T11" fmla="*/ 0 h 1104"/>
            </a:gdLst>
            <a:ahLst/>
            <a:cxnLst>
              <a:cxn ang="0">
                <a:pos x="T0" y="T1"/>
              </a:cxn>
              <a:cxn ang="0">
                <a:pos x="T2" y="T3"/>
              </a:cxn>
              <a:cxn ang="0">
                <a:pos x="T4" y="T5"/>
              </a:cxn>
              <a:cxn ang="0">
                <a:pos x="T6" y="T7"/>
              </a:cxn>
              <a:cxn ang="0">
                <a:pos x="T8" y="T9"/>
              </a:cxn>
              <a:cxn ang="0">
                <a:pos x="T10" y="T11"/>
              </a:cxn>
            </a:cxnLst>
            <a:rect l="0" t="0" r="r" b="b"/>
            <a:pathLst>
              <a:path w="5760" h="1104">
                <a:moveTo>
                  <a:pt x="0" y="0"/>
                </a:moveTo>
                <a:lnTo>
                  <a:pt x="5760" y="0"/>
                </a:lnTo>
                <a:lnTo>
                  <a:pt x="5760" y="720"/>
                </a:lnTo>
                <a:cubicBezTo>
                  <a:pt x="5400" y="824"/>
                  <a:pt x="4560" y="577"/>
                  <a:pt x="3600" y="624"/>
                </a:cubicBezTo>
                <a:cubicBezTo>
                  <a:pt x="2640" y="671"/>
                  <a:pt x="600" y="1104"/>
                  <a:pt x="0" y="1000"/>
                </a:cubicBezTo>
                <a:lnTo>
                  <a:pt x="0" y="0"/>
                </a:lnTo>
                <a:close/>
              </a:path>
            </a:pathLst>
          </a:custGeom>
          <a:gradFill rotWithShape="0">
            <a:gsLst>
              <a:gs pos="0">
                <a:schemeClr val="bg2"/>
              </a:gs>
              <a:gs pos="50000">
                <a:schemeClr val="bg1"/>
              </a:gs>
              <a:gs pos="100000">
                <a:schemeClr val="bg2"/>
              </a:gs>
            </a:gsLst>
            <a:lin ang="0" scaled="1"/>
          </a:gradFill>
          <a:ln>
            <a:noFill/>
          </a:ln>
          <a:extLst>
            <a:ext uri="{91240B29-F687-4F45-9708-019B960494DF}">
              <a14:hiddenLine xmlns:a14="http://schemas.microsoft.com/office/drawing/2010/main" w="9525">
                <a:solidFill>
                  <a:schemeClr val="tx1"/>
                </a:solidFill>
                <a:round/>
              </a14:hiddenLine>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17" name="Freeform 4"/>
          <p:cNvSpPr/>
          <p:nvPr/>
        </p:nvSpPr>
        <p:spPr bwMode="white">
          <a:xfrm>
            <a:off x="0" y="1163638"/>
            <a:ext cx="9144000" cy="5694363"/>
          </a:xfrm>
          <a:custGeom>
            <a:avLst/>
            <a:gdLst>
              <a:gd name="T0" fmla="*/ 0 w 5760"/>
              <a:gd name="T1" fmla="*/ 582 h 3587"/>
              <a:gd name="T2" fmla="*/ 2640 w 5760"/>
              <a:gd name="T3" fmla="*/ 267 h 3587"/>
              <a:gd name="T4" fmla="*/ 3373 w 5760"/>
              <a:gd name="T5" fmla="*/ 160 h 3587"/>
              <a:gd name="T6" fmla="*/ 5760 w 5760"/>
              <a:gd name="T7" fmla="*/ 358 h 3587"/>
              <a:gd name="T8" fmla="*/ 5760 w 5760"/>
              <a:gd name="T9" fmla="*/ 3587 h 3587"/>
              <a:gd name="T10" fmla="*/ 0 w 5760"/>
              <a:gd name="T11" fmla="*/ 3587 h 3587"/>
              <a:gd name="T12" fmla="*/ 0 w 5760"/>
              <a:gd name="T13" fmla="*/ 582 h 3587"/>
            </a:gdLst>
            <a:ahLst/>
            <a:cxnLst>
              <a:cxn ang="0">
                <a:pos x="T0" y="T1"/>
              </a:cxn>
              <a:cxn ang="0">
                <a:pos x="T2" y="T3"/>
              </a:cxn>
              <a:cxn ang="0">
                <a:pos x="T4" y="T5"/>
              </a:cxn>
              <a:cxn ang="0">
                <a:pos x="T6" y="T7"/>
              </a:cxn>
              <a:cxn ang="0">
                <a:pos x="T8" y="T9"/>
              </a:cxn>
              <a:cxn ang="0">
                <a:pos x="T10" y="T11"/>
              </a:cxn>
              <a:cxn ang="0">
                <a:pos x="T12" y="T13"/>
              </a:cxn>
            </a:cxnLst>
            <a:rect l="0" t="0" r="r" b="b"/>
            <a:pathLst>
              <a:path w="5760" h="3587">
                <a:moveTo>
                  <a:pt x="0" y="582"/>
                </a:moveTo>
                <a:cubicBezTo>
                  <a:pt x="1027" y="680"/>
                  <a:pt x="1960" y="387"/>
                  <a:pt x="2640" y="267"/>
                </a:cubicBezTo>
                <a:cubicBezTo>
                  <a:pt x="2640" y="267"/>
                  <a:pt x="3268" y="180"/>
                  <a:pt x="3373" y="160"/>
                </a:cubicBezTo>
                <a:cubicBezTo>
                  <a:pt x="4120" y="0"/>
                  <a:pt x="5280" y="358"/>
                  <a:pt x="5760" y="358"/>
                </a:cubicBezTo>
                <a:lnTo>
                  <a:pt x="5760" y="3587"/>
                </a:lnTo>
                <a:lnTo>
                  <a:pt x="0" y="3587"/>
                </a:lnTo>
                <a:cubicBezTo>
                  <a:pt x="0" y="3587"/>
                  <a:pt x="0" y="582"/>
                  <a:pt x="0" y="582"/>
                </a:cubicBezTo>
                <a:close/>
              </a:path>
            </a:pathLst>
          </a:custGeom>
          <a:gradFill rotWithShape="0">
            <a:gsLst>
              <a:gs pos="0">
                <a:schemeClr val="bg2"/>
              </a:gs>
              <a:gs pos="5000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18" name="Freeform 5"/>
          <p:cNvSpPr/>
          <p:nvPr/>
        </p:nvSpPr>
        <p:spPr bwMode="ltGray">
          <a:xfrm>
            <a:off x="0" y="292100"/>
            <a:ext cx="9144000" cy="854075"/>
          </a:xfrm>
          <a:custGeom>
            <a:avLst/>
            <a:gdLst>
              <a:gd name="T0" fmla="*/ 0 w 5760"/>
              <a:gd name="T1" fmla="*/ 163 h 538"/>
              <a:gd name="T2" fmla="*/ 0 w 5760"/>
              <a:gd name="T3" fmla="*/ 403 h 538"/>
              <a:gd name="T4" fmla="*/ 1773 w 5760"/>
              <a:gd name="T5" fmla="*/ 443 h 538"/>
              <a:gd name="T6" fmla="*/ 4573 w 5760"/>
              <a:gd name="T7" fmla="*/ 176 h 538"/>
              <a:gd name="T8" fmla="*/ 5760 w 5760"/>
              <a:gd name="T9" fmla="*/ 536 h 538"/>
              <a:gd name="T10" fmla="*/ 5760 w 5760"/>
              <a:gd name="T11" fmla="*/ 163 h 538"/>
              <a:gd name="T12" fmla="*/ 4560 w 5760"/>
              <a:gd name="T13" fmla="*/ 29 h 538"/>
              <a:gd name="T14" fmla="*/ 1987 w 5760"/>
              <a:gd name="T15" fmla="*/ 336 h 538"/>
              <a:gd name="T16" fmla="*/ 0 w 5760"/>
              <a:gd name="T17" fmla="*/ 163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60" h="538">
                <a:moveTo>
                  <a:pt x="0" y="163"/>
                </a:moveTo>
                <a:lnTo>
                  <a:pt x="0" y="403"/>
                </a:lnTo>
                <a:cubicBezTo>
                  <a:pt x="295" y="450"/>
                  <a:pt x="1011" y="481"/>
                  <a:pt x="1773" y="443"/>
                </a:cubicBezTo>
                <a:cubicBezTo>
                  <a:pt x="2535" y="405"/>
                  <a:pt x="3909" y="161"/>
                  <a:pt x="4573" y="176"/>
                </a:cubicBezTo>
                <a:cubicBezTo>
                  <a:pt x="5237" y="191"/>
                  <a:pt x="5562" y="538"/>
                  <a:pt x="5760" y="536"/>
                </a:cubicBezTo>
                <a:lnTo>
                  <a:pt x="5760" y="163"/>
                </a:lnTo>
                <a:cubicBezTo>
                  <a:pt x="5560" y="79"/>
                  <a:pt x="5189" y="0"/>
                  <a:pt x="4560" y="29"/>
                </a:cubicBezTo>
                <a:cubicBezTo>
                  <a:pt x="3931" y="58"/>
                  <a:pt x="2747" y="314"/>
                  <a:pt x="1987" y="336"/>
                </a:cubicBezTo>
                <a:cubicBezTo>
                  <a:pt x="1227" y="358"/>
                  <a:pt x="414" y="199"/>
                  <a:pt x="0" y="163"/>
                </a:cubicBezTo>
                <a:close/>
              </a:path>
            </a:pathLst>
          </a:custGeom>
          <a:gradFill rotWithShape="0">
            <a:gsLst>
              <a:gs pos="0">
                <a:schemeClr val="bg1"/>
              </a:gs>
              <a:gs pos="50000">
                <a:schemeClr val="bg2"/>
              </a:gs>
              <a:gs pos="100000">
                <a:schemeClr val="bg1"/>
              </a:gs>
            </a:gsLst>
            <a:lin ang="0" scaled="1"/>
          </a:gradFill>
          <a:ln>
            <a:noFill/>
          </a:ln>
          <a:extLst>
            <a:ext uri="{91240B29-F687-4F45-9708-019B960494DF}">
              <a14:hiddenLine xmlns:a14="http://schemas.microsoft.com/office/drawing/2010/main" w="9525">
                <a:solidFill>
                  <a:schemeClr val="tx1"/>
                </a:solidFill>
                <a:round/>
              </a14:hiddenLine>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19" name="Freeform 6"/>
          <p:cNvSpPr/>
          <p:nvPr/>
        </p:nvSpPr>
        <p:spPr bwMode="hidden">
          <a:xfrm>
            <a:off x="0" y="2405063"/>
            <a:ext cx="9144000" cy="1069975"/>
          </a:xfrm>
          <a:custGeom>
            <a:avLst/>
            <a:gdLst>
              <a:gd name="T0" fmla="*/ 0 w 5760"/>
              <a:gd name="T1" fmla="*/ 246 h 674"/>
              <a:gd name="T2" fmla="*/ 0 w 5760"/>
              <a:gd name="T3" fmla="*/ 406 h 674"/>
              <a:gd name="T4" fmla="*/ 1280 w 5760"/>
              <a:gd name="T5" fmla="*/ 645 h 674"/>
              <a:gd name="T6" fmla="*/ 1627 w 5760"/>
              <a:gd name="T7" fmla="*/ 580 h 674"/>
              <a:gd name="T8" fmla="*/ 4493 w 5760"/>
              <a:gd name="T9" fmla="*/ 113 h 674"/>
              <a:gd name="T10" fmla="*/ 5760 w 5760"/>
              <a:gd name="T11" fmla="*/ 606 h 674"/>
              <a:gd name="T12" fmla="*/ 5760 w 5760"/>
              <a:gd name="T13" fmla="*/ 233 h 674"/>
              <a:gd name="T14" fmla="*/ 4040 w 5760"/>
              <a:gd name="T15" fmla="*/ 33 h 674"/>
              <a:gd name="T16" fmla="*/ 1093 w 5760"/>
              <a:gd name="T17" fmla="*/ 433 h 674"/>
              <a:gd name="T18" fmla="*/ 0 w 5760"/>
              <a:gd name="T19" fmla="*/ 246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60" h="674">
                <a:moveTo>
                  <a:pt x="0" y="246"/>
                </a:moveTo>
                <a:lnTo>
                  <a:pt x="0" y="406"/>
                </a:lnTo>
                <a:cubicBezTo>
                  <a:pt x="213" y="463"/>
                  <a:pt x="1009" y="616"/>
                  <a:pt x="1280" y="645"/>
                </a:cubicBezTo>
                <a:cubicBezTo>
                  <a:pt x="1551" y="674"/>
                  <a:pt x="1092" y="669"/>
                  <a:pt x="1627" y="580"/>
                </a:cubicBezTo>
                <a:cubicBezTo>
                  <a:pt x="2162" y="491"/>
                  <a:pt x="3804" y="109"/>
                  <a:pt x="4493" y="113"/>
                </a:cubicBezTo>
                <a:cubicBezTo>
                  <a:pt x="5182" y="117"/>
                  <a:pt x="5549" y="586"/>
                  <a:pt x="5760" y="606"/>
                </a:cubicBezTo>
                <a:lnTo>
                  <a:pt x="5760" y="233"/>
                </a:lnTo>
                <a:cubicBezTo>
                  <a:pt x="5471" y="158"/>
                  <a:pt x="4818" y="0"/>
                  <a:pt x="4040" y="33"/>
                </a:cubicBezTo>
                <a:cubicBezTo>
                  <a:pt x="3262" y="66"/>
                  <a:pt x="1766" y="398"/>
                  <a:pt x="1093" y="433"/>
                </a:cubicBezTo>
                <a:cubicBezTo>
                  <a:pt x="420" y="468"/>
                  <a:pt x="228" y="285"/>
                  <a:pt x="0" y="246"/>
                </a:cubicBezTo>
                <a:close/>
              </a:path>
            </a:pathLst>
          </a:custGeom>
          <a:gradFill rotWithShape="0">
            <a:gsLst>
              <a:gs pos="0">
                <a:schemeClr val="bg1"/>
              </a:gs>
              <a:gs pos="5000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20" name="Freeform 7"/>
          <p:cNvSpPr/>
          <p:nvPr/>
        </p:nvSpPr>
        <p:spPr bwMode="white">
          <a:xfrm>
            <a:off x="2476500" y="1522413"/>
            <a:ext cx="6667500" cy="5335588"/>
          </a:xfrm>
          <a:custGeom>
            <a:avLst/>
            <a:gdLst>
              <a:gd name="T0" fmla="*/ 0 w 4200"/>
              <a:gd name="T1" fmla="*/ 3361 h 3361"/>
              <a:gd name="T2" fmla="*/ 1054 w 4200"/>
              <a:gd name="T3" fmla="*/ 295 h 3361"/>
              <a:gd name="T4" fmla="*/ 4200 w 4200"/>
              <a:gd name="T5" fmla="*/ 1588 h 3361"/>
              <a:gd name="T6" fmla="*/ 4200 w 4200"/>
              <a:gd name="T7" fmla="*/ 2028 h 3361"/>
              <a:gd name="T8" fmla="*/ 1200 w 4200"/>
              <a:gd name="T9" fmla="*/ 442 h 3361"/>
              <a:gd name="T10" fmla="*/ 347 w 4200"/>
              <a:gd name="T11" fmla="*/ 3361 h 3361"/>
              <a:gd name="T12" fmla="*/ 0 w 4200"/>
              <a:gd name="T13" fmla="*/ 3361 h 3361"/>
            </a:gdLst>
            <a:ahLst/>
            <a:cxnLst>
              <a:cxn ang="0">
                <a:pos x="T0" y="T1"/>
              </a:cxn>
              <a:cxn ang="0">
                <a:pos x="T2" y="T3"/>
              </a:cxn>
              <a:cxn ang="0">
                <a:pos x="T4" y="T5"/>
              </a:cxn>
              <a:cxn ang="0">
                <a:pos x="T6" y="T7"/>
              </a:cxn>
              <a:cxn ang="0">
                <a:pos x="T8" y="T9"/>
              </a:cxn>
              <a:cxn ang="0">
                <a:pos x="T10" y="T11"/>
              </a:cxn>
              <a:cxn ang="0">
                <a:pos x="T12" y="T13"/>
              </a:cxn>
            </a:cxnLst>
            <a:rect l="0" t="0" r="r" b="b"/>
            <a:pathLst>
              <a:path w="4200" h="3361">
                <a:moveTo>
                  <a:pt x="0" y="3361"/>
                </a:moveTo>
                <a:cubicBezTo>
                  <a:pt x="118" y="2850"/>
                  <a:pt x="354" y="590"/>
                  <a:pt x="1054" y="295"/>
                </a:cubicBezTo>
                <a:cubicBezTo>
                  <a:pt x="1754" y="0"/>
                  <a:pt x="3676" y="1299"/>
                  <a:pt x="4200" y="1588"/>
                </a:cubicBezTo>
                <a:lnTo>
                  <a:pt x="4200" y="2028"/>
                </a:lnTo>
                <a:cubicBezTo>
                  <a:pt x="3700" y="1837"/>
                  <a:pt x="1842" y="220"/>
                  <a:pt x="1200" y="442"/>
                </a:cubicBezTo>
                <a:cubicBezTo>
                  <a:pt x="558" y="664"/>
                  <a:pt x="547" y="2875"/>
                  <a:pt x="347" y="3361"/>
                </a:cubicBezTo>
                <a:lnTo>
                  <a:pt x="0" y="3361"/>
                </a:lnTo>
                <a:close/>
              </a:path>
            </a:pathLst>
          </a:custGeom>
          <a:gradFill rotWithShape="0">
            <a:gsLst>
              <a:gs pos="0">
                <a:schemeClr val="accent2"/>
              </a:gs>
              <a:gs pos="50000">
                <a:schemeClr val="bg1"/>
              </a:gs>
              <a:gs pos="100000">
                <a:schemeClr val="accent2"/>
              </a:gs>
            </a:gsLst>
            <a:lin ang="5400000" scaled="1"/>
          </a:gradFill>
          <a:ln>
            <a:noFill/>
          </a:ln>
          <a:extLst>
            <a:ext uri="{91240B29-F687-4F45-9708-019B960494DF}">
              <a14:hiddenLine xmlns:a14="http://schemas.microsoft.com/office/drawing/2010/main" w="9525">
                <a:solidFill>
                  <a:schemeClr val="tx1"/>
                </a:solidFill>
                <a:round/>
              </a14:hiddenLine>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21" name="Freeform 8"/>
          <p:cNvSpPr/>
          <p:nvPr/>
        </p:nvSpPr>
        <p:spPr bwMode="white">
          <a:xfrm>
            <a:off x="0" y="3443288"/>
            <a:ext cx="9144000" cy="3055938"/>
          </a:xfrm>
          <a:custGeom>
            <a:avLst/>
            <a:gdLst>
              <a:gd name="T0" fmla="*/ 0 w 5760"/>
              <a:gd name="T1" fmla="*/ 804 h 1925"/>
              <a:gd name="T2" fmla="*/ 0 w 5760"/>
              <a:gd name="T3" fmla="*/ 991 h 1925"/>
              <a:gd name="T4" fmla="*/ 1547 w 5760"/>
              <a:gd name="T5" fmla="*/ 1818 h 1925"/>
              <a:gd name="T6" fmla="*/ 3253 w 5760"/>
              <a:gd name="T7" fmla="*/ 351 h 1925"/>
              <a:gd name="T8" fmla="*/ 5760 w 5760"/>
              <a:gd name="T9" fmla="*/ 1537 h 1925"/>
              <a:gd name="T10" fmla="*/ 5760 w 5760"/>
              <a:gd name="T11" fmla="*/ 1151 h 1925"/>
              <a:gd name="T12" fmla="*/ 3240 w 5760"/>
              <a:gd name="T13" fmla="*/ 84 h 1925"/>
              <a:gd name="T14" fmla="*/ 1573 w 5760"/>
              <a:gd name="T15" fmla="*/ 1671 h 1925"/>
              <a:gd name="T16" fmla="*/ 0 w 5760"/>
              <a:gd name="T17" fmla="*/ 804 h 1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60" h="1925">
                <a:moveTo>
                  <a:pt x="0" y="804"/>
                </a:moveTo>
                <a:lnTo>
                  <a:pt x="0" y="991"/>
                </a:lnTo>
                <a:cubicBezTo>
                  <a:pt x="258" y="1160"/>
                  <a:pt x="1005" y="1925"/>
                  <a:pt x="1547" y="1818"/>
                </a:cubicBezTo>
                <a:cubicBezTo>
                  <a:pt x="2089" y="1711"/>
                  <a:pt x="2551" y="398"/>
                  <a:pt x="3253" y="351"/>
                </a:cubicBezTo>
                <a:cubicBezTo>
                  <a:pt x="3955" y="304"/>
                  <a:pt x="5342" y="1404"/>
                  <a:pt x="5760" y="1537"/>
                </a:cubicBezTo>
                <a:lnTo>
                  <a:pt x="5760" y="1151"/>
                </a:lnTo>
                <a:cubicBezTo>
                  <a:pt x="5405" y="1124"/>
                  <a:pt x="3982" y="0"/>
                  <a:pt x="3240" y="84"/>
                </a:cubicBezTo>
                <a:cubicBezTo>
                  <a:pt x="2542" y="171"/>
                  <a:pt x="2113" y="1551"/>
                  <a:pt x="1573" y="1671"/>
                </a:cubicBezTo>
                <a:cubicBezTo>
                  <a:pt x="1033" y="1791"/>
                  <a:pt x="262" y="826"/>
                  <a:pt x="0" y="804"/>
                </a:cubicBezTo>
                <a:close/>
              </a:path>
            </a:pathLst>
          </a:custGeom>
          <a:gradFill rotWithShape="0">
            <a:gsLst>
              <a:gs pos="0">
                <a:schemeClr val="bg1"/>
              </a:gs>
              <a:gs pos="5000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22" name="Freeform 9"/>
          <p:cNvSpPr/>
          <p:nvPr/>
        </p:nvSpPr>
        <p:spPr bwMode="white">
          <a:xfrm>
            <a:off x="0" y="3552825"/>
            <a:ext cx="6237288" cy="3365500"/>
          </a:xfrm>
          <a:custGeom>
            <a:avLst/>
            <a:gdLst>
              <a:gd name="T0" fmla="*/ 0 w 4196"/>
              <a:gd name="T1" fmla="*/ 415 h 2120"/>
              <a:gd name="T2" fmla="*/ 0 w 4196"/>
              <a:gd name="T3" fmla="*/ 508 h 2120"/>
              <a:gd name="T4" fmla="*/ 1933 w 4196"/>
              <a:gd name="T5" fmla="*/ 229 h 2120"/>
              <a:gd name="T6" fmla="*/ 3920 w 4196"/>
              <a:gd name="T7" fmla="*/ 1055 h 2120"/>
              <a:gd name="T8" fmla="*/ 3587 w 4196"/>
              <a:gd name="T9" fmla="*/ 2082 h 2120"/>
              <a:gd name="T10" fmla="*/ 3947 w 4196"/>
              <a:gd name="T11" fmla="*/ 829 h 2120"/>
              <a:gd name="T12" fmla="*/ 2253 w 4196"/>
              <a:gd name="T13" fmla="*/ 69 h 2120"/>
              <a:gd name="T14" fmla="*/ 0 w 4196"/>
              <a:gd name="T15" fmla="*/ 415 h 2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96" h="2120">
                <a:moveTo>
                  <a:pt x="0" y="415"/>
                </a:moveTo>
                <a:lnTo>
                  <a:pt x="0" y="508"/>
                </a:lnTo>
                <a:cubicBezTo>
                  <a:pt x="160" y="577"/>
                  <a:pt x="1280" y="138"/>
                  <a:pt x="1933" y="229"/>
                </a:cubicBezTo>
                <a:cubicBezTo>
                  <a:pt x="2586" y="320"/>
                  <a:pt x="3644" y="746"/>
                  <a:pt x="3920" y="1055"/>
                </a:cubicBezTo>
                <a:cubicBezTo>
                  <a:pt x="4196" y="1364"/>
                  <a:pt x="3583" y="2120"/>
                  <a:pt x="3587" y="2082"/>
                </a:cubicBezTo>
                <a:lnTo>
                  <a:pt x="3947" y="829"/>
                </a:lnTo>
                <a:cubicBezTo>
                  <a:pt x="3725" y="494"/>
                  <a:pt x="2911" y="138"/>
                  <a:pt x="2253" y="69"/>
                </a:cubicBezTo>
                <a:cubicBezTo>
                  <a:pt x="1595" y="0"/>
                  <a:pt x="469" y="343"/>
                  <a:pt x="0" y="415"/>
                </a:cubicBezTo>
                <a:close/>
              </a:path>
            </a:pathLst>
          </a:custGeom>
          <a:gradFill rotWithShape="0">
            <a:gsLst>
              <a:gs pos="0">
                <a:schemeClr val="accent2"/>
              </a:gs>
              <a:gs pos="50000">
                <a:schemeClr val="bg1"/>
              </a:gs>
              <a:gs pos="100000">
                <a:schemeClr val="accent2"/>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9226" name="Rectangle 10"/>
          <p:cNvSpPr>
            <a:spLocks noGrp="1" noChangeArrowheads="1"/>
          </p:cNvSpPr>
          <p:nvPr>
            <p:ph type="ctrTitle"/>
          </p:nvPr>
        </p:nvSpPr>
        <p:spPr>
          <a:xfrm>
            <a:off x="685800" y="2286000"/>
            <a:ext cx="7772400" cy="1143000"/>
          </a:xfrm>
        </p:spPr>
        <p:txBody>
          <a:bodyPr/>
          <a:lstStyle>
            <a:lvl1pPr>
              <a:defRPr/>
            </a:lvl1pPr>
          </a:lstStyle>
          <a:p>
            <a:pPr lvl="0"/>
            <a:r>
              <a:rPr lang="zh-CN" altLang="en-US" noProof="0" smtClean="0"/>
              <a:t>单击此处编辑母版标题样式</a:t>
            </a:r>
            <a:endParaRPr lang="zh-CN" altLang="zh-CN" noProof="0" smtClean="0"/>
          </a:p>
        </p:txBody>
      </p:sp>
      <p:sp>
        <p:nvSpPr>
          <p:cNvPr id="9227" name="Rectangle 11"/>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zh-CN" altLang="en-US" noProof="0" smtClean="0"/>
              <a:t>单击此处编辑母版副标题样式</a:t>
            </a:r>
            <a:endParaRPr lang="zh-CN" altLang="en-US" noProof="0" smtClean="0"/>
          </a:p>
        </p:txBody>
      </p:sp>
      <p:sp>
        <p:nvSpPr>
          <p:cNvPr id="23" name="Rectangle 12"/>
          <p:cNvSpPr>
            <a:spLocks noGrp="1" noChangeArrowheads="1"/>
          </p:cNvSpPr>
          <p:nvPr>
            <p:ph type="dt" sz="half" idx="2"/>
          </p:nvPr>
        </p:nvSpPr>
        <p:spPr bwMode="auto">
          <a:xfrm>
            <a:off x="685800" y="624840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defRPr>
                <a:solidFill>
                  <a:srgbClr val="FFFFCC"/>
                </a:solidFill>
              </a:defRPr>
            </a:lvl1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rgbClr val="FFFFCC"/>
              </a:solidFill>
              <a:effectLst/>
              <a:uLnTx/>
              <a:uFillTx/>
              <a:latin typeface="+mn-lt"/>
              <a:ea typeface="宋体" panose="02010600030101010101" pitchFamily="2" charset="-122"/>
              <a:cs typeface="+mn-cs"/>
            </a:endParaRPr>
          </a:p>
        </p:txBody>
      </p:sp>
      <p:sp>
        <p:nvSpPr>
          <p:cNvPr id="24" name="Rectangle 13"/>
          <p:cNvSpPr>
            <a:spLocks noGrp="1" noChangeArrowheads="1"/>
          </p:cNvSpPr>
          <p:nvPr>
            <p:ph type="ftr" sz="quarter" idx="3"/>
          </p:nvPr>
        </p:nvSpPr>
        <p:spPr bwMode="auto">
          <a:xfrm>
            <a:off x="3124200" y="6248400"/>
            <a:ext cx="2895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defRPr>
                <a:solidFill>
                  <a:srgbClr val="FFFFCC"/>
                </a:solidFill>
              </a:defRPr>
            </a:lvl1p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rgbClr val="FFFFCC"/>
              </a:solidFill>
              <a:effectLst/>
              <a:uLnTx/>
              <a:uFillTx/>
              <a:latin typeface="+mn-lt"/>
              <a:ea typeface="宋体" panose="02010600030101010101" pitchFamily="2" charset="-122"/>
              <a:cs typeface="+mn-cs"/>
            </a:endParaRPr>
          </a:p>
        </p:txBody>
      </p:sp>
      <p:sp>
        <p:nvSpPr>
          <p:cNvPr id="25" name="Rectangle 14"/>
          <p:cNvSpPr>
            <a:spLocks noGrp="1" noChangeArrowheads="1"/>
          </p:cNvSpPr>
          <p:nvPr>
            <p:ph type="sldNum" sz="quarter" idx="4"/>
          </p:nvPr>
        </p:nvSpPr>
        <p:spPr bwMode="auto">
          <a:xfrm>
            <a:off x="6553200" y="624840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
            <a:pPr algn="r">
              <a:lnSpc>
                <a:spcPct val="100000"/>
              </a:lnSpc>
              <a:spcBef>
                <a:spcPct val="50000"/>
              </a:spcBef>
              <a:buNone/>
            </a:pPr>
            <a:fld id="{9A0DB2DC-4C9A-4742-B13C-FB6460FD3503}" type="slidenum">
              <a:rPr lang="en-US" altLang="zh-CN" dirty="0">
                <a:solidFill>
                  <a:srgbClr val="FFFFCC"/>
                </a:solidFill>
                <a:latin typeface="Times New Roman" panose="02020603050405020304" pitchFamily="18" charset="0"/>
              </a:rPr>
            </a:fld>
            <a:endParaRPr lang="en-US" altLang="zh-CN" dirty="0">
              <a:solidFill>
                <a:srgbClr val="FFFFCC"/>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8" fill="hold" grpId="0" nodeType="afterEffect">
                                  <p:stCondLst>
                                    <p:cond delay="100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0" fill="hold"/>
                                        <p:tgtEl>
                                          <p:spTgt spid="15"/>
                                        </p:tgtEl>
                                        <p:attrNameLst>
                                          <p:attrName>ppt_x</p:attrName>
                                        </p:attrNameLst>
                                      </p:cBhvr>
                                      <p:tavLst>
                                        <p:tav tm="0">
                                          <p:val>
                                            <p:strVal val="0-#ppt_w/2"/>
                                          </p:val>
                                        </p:tav>
                                        <p:tav tm="100000">
                                          <p:val>
                                            <p:strVal val="#ppt_x"/>
                                          </p:val>
                                        </p:tav>
                                      </p:tavLst>
                                    </p:anim>
                                    <p:anim calcmode="lin" valueType="num">
                                      <p:cBhvr additive="base">
                                        <p:cTn id="8" dur="50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lnSpc>
                <a:spcPct val="100000"/>
              </a:lnSpc>
              <a:spcBef>
                <a:spcPct val="50000"/>
              </a:spcBef>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lnSpc>
                <a:spcPct val="100000"/>
              </a:lnSpc>
              <a:spcBef>
                <a:spcPct val="50000"/>
              </a:spcBef>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lnSpc>
                <a:spcPct val="100000"/>
              </a:lnSpc>
              <a:spcBef>
                <a:spcPct val="50000"/>
              </a:spcBef>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lnSpc>
                <a:spcPct val="100000"/>
              </a:lnSpc>
              <a:spcBef>
                <a:spcPct val="50000"/>
              </a:spcBef>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lnSpc>
                <a:spcPct val="100000"/>
              </a:lnSpc>
              <a:spcBef>
                <a:spcPct val="50000"/>
              </a:spcBef>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lnSpc>
                <a:spcPct val="100000"/>
              </a:lnSpc>
              <a:spcBef>
                <a:spcPct val="50000"/>
              </a:spcBef>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lnSpc>
                <a:spcPct val="100000"/>
              </a:lnSpc>
              <a:spcBef>
                <a:spcPct val="50000"/>
              </a:spcBef>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lnSpc>
                <a:spcPct val="100000"/>
              </a:lnSpc>
              <a:spcBef>
                <a:spcPct val="50000"/>
              </a:spcBef>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lnSpc>
                <a:spcPct val="100000"/>
              </a:lnSpc>
              <a:spcBef>
                <a:spcPct val="50000"/>
              </a:spcBef>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lnSpc>
                <a:spcPct val="100000"/>
              </a:lnSpc>
              <a:spcBef>
                <a:spcPct val="50000"/>
              </a:spcBef>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685800" y="1981200"/>
            <a:ext cx="7772400" cy="4114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lnSpc>
                <a:spcPct val="100000"/>
              </a:lnSpc>
              <a:spcBef>
                <a:spcPct val="50000"/>
              </a:spcBef>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98120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lnSpc>
                <a:spcPct val="100000"/>
              </a:lnSpc>
              <a:spcBef>
                <a:spcPct val="50000"/>
              </a:spcBef>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98120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198120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48200" y="411480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lvl="0" eaLnBrk="1" hangingPunct="1">
              <a:lnSpc>
                <a:spcPct val="100000"/>
              </a:lnSpc>
              <a:spcBef>
                <a:spcPct val="50000"/>
              </a:spcBef>
              <a:buNone/>
            </a:pPr>
            <a:fld id="{9A0DB2DC-4C9A-4742-B13C-FB6460FD3503}" type="slidenum">
              <a:rPr lang="en-US" altLang="zh-CN" dirty="0"/>
            </a:fld>
            <a:endParaRPr lang="en-US" altLang="zh-CN" dirty="0">
              <a:latin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0" scaled="1"/>
        </a:gradFill>
        <a:effectLst>
          <a:outerShdw dist="107763" dir="2700000" algn="ctr" rotWithShape="0">
            <a:srgbClr val="000000"/>
          </a:outerShdw>
        </a:effectLst>
      </p:bgPr>
    </p:bg>
    <p:spTree>
      <p:nvGrpSpPr>
        <p:cNvPr id="1" name=""/>
        <p:cNvGrpSpPr/>
        <p:nvPr/>
      </p:nvGrpSpPr>
      <p:grpSpPr/>
      <p:sp>
        <p:nvSpPr>
          <p:cNvPr id="8194" name="Rectangle 4098"/>
          <p:cNvSpPr>
            <a:spLocks noChangeArrowheads="1"/>
          </p:cNvSpPr>
          <p:nvPr/>
        </p:nvSpPr>
        <p:spPr bwMode="auto">
          <a:xfrm>
            <a:off x="8783638" y="444500"/>
            <a:ext cx="360363" cy="3152775"/>
          </a:xfrm>
          <a:prstGeom prst="rect">
            <a:avLst/>
          </a:prstGeom>
          <a:gradFill rotWithShape="0">
            <a:gsLst>
              <a:gs pos="0">
                <a:schemeClr val="bg2"/>
              </a:gs>
              <a:gs pos="50000">
                <a:schemeClr val="hlink"/>
              </a:gs>
              <a:gs pos="100000">
                <a:schemeClr val="bg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195" name="Freeform 4099"/>
          <p:cNvSpPr/>
          <p:nvPr/>
        </p:nvSpPr>
        <p:spPr bwMode="white">
          <a:xfrm>
            <a:off x="0" y="0"/>
            <a:ext cx="9144000" cy="2133600"/>
          </a:xfrm>
          <a:custGeom>
            <a:avLst/>
            <a:gdLst>
              <a:gd name="T0" fmla="*/ 0 w 5760"/>
              <a:gd name="T1" fmla="*/ 0 h 1104"/>
              <a:gd name="T2" fmla="*/ 5760 w 5760"/>
              <a:gd name="T3" fmla="*/ 0 h 1104"/>
              <a:gd name="T4" fmla="*/ 5760 w 5760"/>
              <a:gd name="T5" fmla="*/ 720 h 1104"/>
              <a:gd name="T6" fmla="*/ 3600 w 5760"/>
              <a:gd name="T7" fmla="*/ 624 h 1104"/>
              <a:gd name="T8" fmla="*/ 0 w 5760"/>
              <a:gd name="T9" fmla="*/ 1000 h 1104"/>
              <a:gd name="T10" fmla="*/ 0 w 5760"/>
              <a:gd name="T11" fmla="*/ 0 h 1104"/>
            </a:gdLst>
            <a:ahLst/>
            <a:cxnLst>
              <a:cxn ang="0">
                <a:pos x="T0" y="T1"/>
              </a:cxn>
              <a:cxn ang="0">
                <a:pos x="T2" y="T3"/>
              </a:cxn>
              <a:cxn ang="0">
                <a:pos x="T4" y="T5"/>
              </a:cxn>
              <a:cxn ang="0">
                <a:pos x="T6" y="T7"/>
              </a:cxn>
              <a:cxn ang="0">
                <a:pos x="T8" y="T9"/>
              </a:cxn>
              <a:cxn ang="0">
                <a:pos x="T10" y="T11"/>
              </a:cxn>
            </a:cxnLst>
            <a:rect l="0" t="0" r="r" b="b"/>
            <a:pathLst>
              <a:path w="5760" h="1104">
                <a:moveTo>
                  <a:pt x="0" y="0"/>
                </a:moveTo>
                <a:lnTo>
                  <a:pt x="5760" y="0"/>
                </a:lnTo>
                <a:lnTo>
                  <a:pt x="5760" y="720"/>
                </a:lnTo>
                <a:cubicBezTo>
                  <a:pt x="5400" y="824"/>
                  <a:pt x="4560" y="577"/>
                  <a:pt x="3600" y="624"/>
                </a:cubicBezTo>
                <a:cubicBezTo>
                  <a:pt x="2640" y="671"/>
                  <a:pt x="600" y="1104"/>
                  <a:pt x="0" y="1000"/>
                </a:cubicBezTo>
                <a:lnTo>
                  <a:pt x="0" y="0"/>
                </a:lnTo>
                <a:close/>
              </a:path>
            </a:pathLst>
          </a:custGeom>
          <a:gradFill rotWithShape="0">
            <a:gsLst>
              <a:gs pos="0">
                <a:schemeClr val="bg2"/>
              </a:gs>
              <a:gs pos="50000">
                <a:schemeClr val="bg1"/>
              </a:gs>
              <a:gs pos="100000">
                <a:schemeClr val="bg2"/>
              </a:gs>
            </a:gsLst>
            <a:lin ang="0" scaled="1"/>
          </a:gradFill>
          <a:ln>
            <a:noFill/>
          </a:ln>
          <a:extLst>
            <a:ext uri="{91240B29-F687-4F45-9708-019B960494DF}">
              <a14:hiddenLine xmlns:a14="http://schemas.microsoft.com/office/drawing/2010/main" w="9525">
                <a:solidFill>
                  <a:schemeClr val="tx1"/>
                </a:solidFill>
                <a:round/>
              </a14:hiddenLine>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8196" name="Freeform 4100"/>
          <p:cNvSpPr/>
          <p:nvPr/>
        </p:nvSpPr>
        <p:spPr bwMode="white">
          <a:xfrm>
            <a:off x="0" y="1163638"/>
            <a:ext cx="9144000" cy="5694363"/>
          </a:xfrm>
          <a:custGeom>
            <a:avLst/>
            <a:gdLst>
              <a:gd name="T0" fmla="*/ 0 w 5760"/>
              <a:gd name="T1" fmla="*/ 582 h 3587"/>
              <a:gd name="T2" fmla="*/ 2640 w 5760"/>
              <a:gd name="T3" fmla="*/ 267 h 3587"/>
              <a:gd name="T4" fmla="*/ 3373 w 5760"/>
              <a:gd name="T5" fmla="*/ 160 h 3587"/>
              <a:gd name="T6" fmla="*/ 5760 w 5760"/>
              <a:gd name="T7" fmla="*/ 358 h 3587"/>
              <a:gd name="T8" fmla="*/ 5760 w 5760"/>
              <a:gd name="T9" fmla="*/ 3587 h 3587"/>
              <a:gd name="T10" fmla="*/ 0 w 5760"/>
              <a:gd name="T11" fmla="*/ 3587 h 3587"/>
              <a:gd name="T12" fmla="*/ 0 w 5760"/>
              <a:gd name="T13" fmla="*/ 582 h 3587"/>
            </a:gdLst>
            <a:ahLst/>
            <a:cxnLst>
              <a:cxn ang="0">
                <a:pos x="T0" y="T1"/>
              </a:cxn>
              <a:cxn ang="0">
                <a:pos x="T2" y="T3"/>
              </a:cxn>
              <a:cxn ang="0">
                <a:pos x="T4" y="T5"/>
              </a:cxn>
              <a:cxn ang="0">
                <a:pos x="T6" y="T7"/>
              </a:cxn>
              <a:cxn ang="0">
                <a:pos x="T8" y="T9"/>
              </a:cxn>
              <a:cxn ang="0">
                <a:pos x="T10" y="T11"/>
              </a:cxn>
              <a:cxn ang="0">
                <a:pos x="T12" y="T13"/>
              </a:cxn>
            </a:cxnLst>
            <a:rect l="0" t="0" r="r" b="b"/>
            <a:pathLst>
              <a:path w="5760" h="3587">
                <a:moveTo>
                  <a:pt x="0" y="582"/>
                </a:moveTo>
                <a:cubicBezTo>
                  <a:pt x="1027" y="680"/>
                  <a:pt x="1960" y="387"/>
                  <a:pt x="2640" y="267"/>
                </a:cubicBezTo>
                <a:cubicBezTo>
                  <a:pt x="2640" y="267"/>
                  <a:pt x="3268" y="180"/>
                  <a:pt x="3373" y="160"/>
                </a:cubicBezTo>
                <a:cubicBezTo>
                  <a:pt x="4120" y="0"/>
                  <a:pt x="5280" y="358"/>
                  <a:pt x="5760" y="358"/>
                </a:cubicBezTo>
                <a:lnTo>
                  <a:pt x="5760" y="3587"/>
                </a:lnTo>
                <a:lnTo>
                  <a:pt x="0" y="3587"/>
                </a:lnTo>
                <a:cubicBezTo>
                  <a:pt x="0" y="3587"/>
                  <a:pt x="0" y="582"/>
                  <a:pt x="0" y="582"/>
                </a:cubicBezTo>
                <a:close/>
              </a:path>
            </a:pathLst>
          </a:custGeom>
          <a:gradFill rotWithShape="0">
            <a:gsLst>
              <a:gs pos="0">
                <a:schemeClr val="bg2"/>
              </a:gs>
              <a:gs pos="5000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8197" name="Freeform 4101"/>
          <p:cNvSpPr/>
          <p:nvPr/>
        </p:nvSpPr>
        <p:spPr bwMode="ltGray">
          <a:xfrm>
            <a:off x="0" y="292100"/>
            <a:ext cx="9144000" cy="854075"/>
          </a:xfrm>
          <a:custGeom>
            <a:avLst/>
            <a:gdLst>
              <a:gd name="T0" fmla="*/ 0 w 5760"/>
              <a:gd name="T1" fmla="*/ 163 h 538"/>
              <a:gd name="T2" fmla="*/ 0 w 5760"/>
              <a:gd name="T3" fmla="*/ 403 h 538"/>
              <a:gd name="T4" fmla="*/ 1773 w 5760"/>
              <a:gd name="T5" fmla="*/ 443 h 538"/>
              <a:gd name="T6" fmla="*/ 4573 w 5760"/>
              <a:gd name="T7" fmla="*/ 176 h 538"/>
              <a:gd name="T8" fmla="*/ 5760 w 5760"/>
              <a:gd name="T9" fmla="*/ 536 h 538"/>
              <a:gd name="T10" fmla="*/ 5760 w 5760"/>
              <a:gd name="T11" fmla="*/ 163 h 538"/>
              <a:gd name="T12" fmla="*/ 4560 w 5760"/>
              <a:gd name="T13" fmla="*/ 29 h 538"/>
              <a:gd name="T14" fmla="*/ 1987 w 5760"/>
              <a:gd name="T15" fmla="*/ 336 h 538"/>
              <a:gd name="T16" fmla="*/ 0 w 5760"/>
              <a:gd name="T17" fmla="*/ 163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60" h="538">
                <a:moveTo>
                  <a:pt x="0" y="163"/>
                </a:moveTo>
                <a:lnTo>
                  <a:pt x="0" y="403"/>
                </a:lnTo>
                <a:cubicBezTo>
                  <a:pt x="295" y="450"/>
                  <a:pt x="1011" y="481"/>
                  <a:pt x="1773" y="443"/>
                </a:cubicBezTo>
                <a:cubicBezTo>
                  <a:pt x="2535" y="405"/>
                  <a:pt x="3909" y="161"/>
                  <a:pt x="4573" y="176"/>
                </a:cubicBezTo>
                <a:cubicBezTo>
                  <a:pt x="5237" y="191"/>
                  <a:pt x="5562" y="538"/>
                  <a:pt x="5760" y="536"/>
                </a:cubicBezTo>
                <a:lnTo>
                  <a:pt x="5760" y="163"/>
                </a:lnTo>
                <a:cubicBezTo>
                  <a:pt x="5560" y="79"/>
                  <a:pt x="5189" y="0"/>
                  <a:pt x="4560" y="29"/>
                </a:cubicBezTo>
                <a:cubicBezTo>
                  <a:pt x="3931" y="58"/>
                  <a:pt x="2747" y="314"/>
                  <a:pt x="1987" y="336"/>
                </a:cubicBezTo>
                <a:cubicBezTo>
                  <a:pt x="1227" y="358"/>
                  <a:pt x="414" y="199"/>
                  <a:pt x="0" y="163"/>
                </a:cubicBezTo>
                <a:close/>
              </a:path>
            </a:pathLst>
          </a:custGeom>
          <a:gradFill rotWithShape="0">
            <a:gsLst>
              <a:gs pos="0">
                <a:schemeClr val="bg1"/>
              </a:gs>
              <a:gs pos="50000">
                <a:schemeClr val="bg2"/>
              </a:gs>
              <a:gs pos="100000">
                <a:schemeClr val="bg1"/>
              </a:gs>
            </a:gsLst>
            <a:lin ang="0" scaled="1"/>
          </a:gradFill>
          <a:ln>
            <a:noFill/>
          </a:ln>
          <a:extLst>
            <a:ext uri="{91240B29-F687-4F45-9708-019B960494DF}">
              <a14:hiddenLine xmlns:a14="http://schemas.microsoft.com/office/drawing/2010/main" w="9525">
                <a:solidFill>
                  <a:schemeClr val="tx1"/>
                </a:solidFill>
                <a:round/>
              </a14:hiddenLine>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8198" name="Freeform 4102"/>
          <p:cNvSpPr/>
          <p:nvPr/>
        </p:nvSpPr>
        <p:spPr bwMode="hidden">
          <a:xfrm>
            <a:off x="0" y="2405063"/>
            <a:ext cx="9144000" cy="1069975"/>
          </a:xfrm>
          <a:custGeom>
            <a:avLst/>
            <a:gdLst>
              <a:gd name="T0" fmla="*/ 0 w 5760"/>
              <a:gd name="T1" fmla="*/ 246 h 674"/>
              <a:gd name="T2" fmla="*/ 0 w 5760"/>
              <a:gd name="T3" fmla="*/ 406 h 674"/>
              <a:gd name="T4" fmla="*/ 1280 w 5760"/>
              <a:gd name="T5" fmla="*/ 645 h 674"/>
              <a:gd name="T6" fmla="*/ 1627 w 5760"/>
              <a:gd name="T7" fmla="*/ 580 h 674"/>
              <a:gd name="T8" fmla="*/ 4493 w 5760"/>
              <a:gd name="T9" fmla="*/ 113 h 674"/>
              <a:gd name="T10" fmla="*/ 5760 w 5760"/>
              <a:gd name="T11" fmla="*/ 606 h 674"/>
              <a:gd name="T12" fmla="*/ 5760 w 5760"/>
              <a:gd name="T13" fmla="*/ 233 h 674"/>
              <a:gd name="T14" fmla="*/ 4040 w 5760"/>
              <a:gd name="T15" fmla="*/ 33 h 674"/>
              <a:gd name="T16" fmla="*/ 1093 w 5760"/>
              <a:gd name="T17" fmla="*/ 433 h 674"/>
              <a:gd name="T18" fmla="*/ 0 w 5760"/>
              <a:gd name="T19" fmla="*/ 246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60" h="674">
                <a:moveTo>
                  <a:pt x="0" y="246"/>
                </a:moveTo>
                <a:lnTo>
                  <a:pt x="0" y="406"/>
                </a:lnTo>
                <a:cubicBezTo>
                  <a:pt x="213" y="463"/>
                  <a:pt x="1009" y="616"/>
                  <a:pt x="1280" y="645"/>
                </a:cubicBezTo>
                <a:cubicBezTo>
                  <a:pt x="1551" y="674"/>
                  <a:pt x="1092" y="669"/>
                  <a:pt x="1627" y="580"/>
                </a:cubicBezTo>
                <a:cubicBezTo>
                  <a:pt x="2162" y="491"/>
                  <a:pt x="3804" y="109"/>
                  <a:pt x="4493" y="113"/>
                </a:cubicBezTo>
                <a:cubicBezTo>
                  <a:pt x="5182" y="117"/>
                  <a:pt x="5549" y="586"/>
                  <a:pt x="5760" y="606"/>
                </a:cubicBezTo>
                <a:lnTo>
                  <a:pt x="5760" y="233"/>
                </a:lnTo>
                <a:cubicBezTo>
                  <a:pt x="5471" y="158"/>
                  <a:pt x="4818" y="0"/>
                  <a:pt x="4040" y="33"/>
                </a:cubicBezTo>
                <a:cubicBezTo>
                  <a:pt x="3262" y="66"/>
                  <a:pt x="1766" y="398"/>
                  <a:pt x="1093" y="433"/>
                </a:cubicBezTo>
                <a:cubicBezTo>
                  <a:pt x="420" y="468"/>
                  <a:pt x="228" y="285"/>
                  <a:pt x="0" y="246"/>
                </a:cubicBezTo>
                <a:close/>
              </a:path>
            </a:pathLst>
          </a:custGeom>
          <a:gradFill rotWithShape="0">
            <a:gsLst>
              <a:gs pos="0">
                <a:schemeClr val="bg1"/>
              </a:gs>
              <a:gs pos="5000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8199" name="Freeform 4103"/>
          <p:cNvSpPr/>
          <p:nvPr/>
        </p:nvSpPr>
        <p:spPr bwMode="white">
          <a:xfrm>
            <a:off x="2476500" y="1522413"/>
            <a:ext cx="6667500" cy="5335588"/>
          </a:xfrm>
          <a:custGeom>
            <a:avLst/>
            <a:gdLst>
              <a:gd name="T0" fmla="*/ 0 w 4200"/>
              <a:gd name="T1" fmla="*/ 3361 h 3361"/>
              <a:gd name="T2" fmla="*/ 1054 w 4200"/>
              <a:gd name="T3" fmla="*/ 295 h 3361"/>
              <a:gd name="T4" fmla="*/ 4200 w 4200"/>
              <a:gd name="T5" fmla="*/ 1588 h 3361"/>
              <a:gd name="T6" fmla="*/ 4200 w 4200"/>
              <a:gd name="T7" fmla="*/ 2028 h 3361"/>
              <a:gd name="T8" fmla="*/ 1200 w 4200"/>
              <a:gd name="T9" fmla="*/ 442 h 3361"/>
              <a:gd name="T10" fmla="*/ 347 w 4200"/>
              <a:gd name="T11" fmla="*/ 3361 h 3361"/>
              <a:gd name="T12" fmla="*/ 0 w 4200"/>
              <a:gd name="T13" fmla="*/ 3361 h 3361"/>
            </a:gdLst>
            <a:ahLst/>
            <a:cxnLst>
              <a:cxn ang="0">
                <a:pos x="T0" y="T1"/>
              </a:cxn>
              <a:cxn ang="0">
                <a:pos x="T2" y="T3"/>
              </a:cxn>
              <a:cxn ang="0">
                <a:pos x="T4" y="T5"/>
              </a:cxn>
              <a:cxn ang="0">
                <a:pos x="T6" y="T7"/>
              </a:cxn>
              <a:cxn ang="0">
                <a:pos x="T8" y="T9"/>
              </a:cxn>
              <a:cxn ang="0">
                <a:pos x="T10" y="T11"/>
              </a:cxn>
              <a:cxn ang="0">
                <a:pos x="T12" y="T13"/>
              </a:cxn>
            </a:cxnLst>
            <a:rect l="0" t="0" r="r" b="b"/>
            <a:pathLst>
              <a:path w="4200" h="3361">
                <a:moveTo>
                  <a:pt x="0" y="3361"/>
                </a:moveTo>
                <a:cubicBezTo>
                  <a:pt x="118" y="2850"/>
                  <a:pt x="354" y="590"/>
                  <a:pt x="1054" y="295"/>
                </a:cubicBezTo>
                <a:cubicBezTo>
                  <a:pt x="1754" y="0"/>
                  <a:pt x="3676" y="1299"/>
                  <a:pt x="4200" y="1588"/>
                </a:cubicBezTo>
                <a:lnTo>
                  <a:pt x="4200" y="2028"/>
                </a:lnTo>
                <a:cubicBezTo>
                  <a:pt x="3700" y="1837"/>
                  <a:pt x="1842" y="220"/>
                  <a:pt x="1200" y="442"/>
                </a:cubicBezTo>
                <a:cubicBezTo>
                  <a:pt x="558" y="664"/>
                  <a:pt x="547" y="2875"/>
                  <a:pt x="347" y="3361"/>
                </a:cubicBezTo>
                <a:lnTo>
                  <a:pt x="0" y="3361"/>
                </a:lnTo>
                <a:close/>
              </a:path>
            </a:pathLst>
          </a:custGeom>
          <a:gradFill rotWithShape="0">
            <a:gsLst>
              <a:gs pos="0">
                <a:schemeClr val="accent2"/>
              </a:gs>
              <a:gs pos="50000">
                <a:schemeClr val="bg1"/>
              </a:gs>
              <a:gs pos="100000">
                <a:schemeClr val="accent2"/>
              </a:gs>
            </a:gsLst>
            <a:lin ang="5400000" scaled="1"/>
          </a:gradFill>
          <a:ln>
            <a:noFill/>
          </a:ln>
          <a:extLst>
            <a:ext uri="{91240B29-F687-4F45-9708-019B960494DF}">
              <a14:hiddenLine xmlns:a14="http://schemas.microsoft.com/office/drawing/2010/main" w="9525">
                <a:solidFill>
                  <a:schemeClr val="tx1"/>
                </a:solidFill>
                <a:round/>
              </a14:hiddenLine>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8200" name="Freeform 4104"/>
          <p:cNvSpPr/>
          <p:nvPr/>
        </p:nvSpPr>
        <p:spPr bwMode="white">
          <a:xfrm>
            <a:off x="0" y="3443288"/>
            <a:ext cx="9144000" cy="3055938"/>
          </a:xfrm>
          <a:custGeom>
            <a:avLst/>
            <a:gdLst>
              <a:gd name="T0" fmla="*/ 0 w 5760"/>
              <a:gd name="T1" fmla="*/ 804 h 1925"/>
              <a:gd name="T2" fmla="*/ 0 w 5760"/>
              <a:gd name="T3" fmla="*/ 991 h 1925"/>
              <a:gd name="T4" fmla="*/ 1547 w 5760"/>
              <a:gd name="T5" fmla="*/ 1818 h 1925"/>
              <a:gd name="T6" fmla="*/ 3253 w 5760"/>
              <a:gd name="T7" fmla="*/ 351 h 1925"/>
              <a:gd name="T8" fmla="*/ 5760 w 5760"/>
              <a:gd name="T9" fmla="*/ 1537 h 1925"/>
              <a:gd name="T10" fmla="*/ 5760 w 5760"/>
              <a:gd name="T11" fmla="*/ 1151 h 1925"/>
              <a:gd name="T12" fmla="*/ 3240 w 5760"/>
              <a:gd name="T13" fmla="*/ 84 h 1925"/>
              <a:gd name="T14" fmla="*/ 1573 w 5760"/>
              <a:gd name="T15" fmla="*/ 1671 h 1925"/>
              <a:gd name="T16" fmla="*/ 0 w 5760"/>
              <a:gd name="T17" fmla="*/ 804 h 1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60" h="1925">
                <a:moveTo>
                  <a:pt x="0" y="804"/>
                </a:moveTo>
                <a:lnTo>
                  <a:pt x="0" y="991"/>
                </a:lnTo>
                <a:cubicBezTo>
                  <a:pt x="258" y="1160"/>
                  <a:pt x="1005" y="1925"/>
                  <a:pt x="1547" y="1818"/>
                </a:cubicBezTo>
                <a:cubicBezTo>
                  <a:pt x="2089" y="1711"/>
                  <a:pt x="2551" y="398"/>
                  <a:pt x="3253" y="351"/>
                </a:cubicBezTo>
                <a:cubicBezTo>
                  <a:pt x="3955" y="304"/>
                  <a:pt x="5342" y="1404"/>
                  <a:pt x="5760" y="1537"/>
                </a:cubicBezTo>
                <a:lnTo>
                  <a:pt x="5760" y="1151"/>
                </a:lnTo>
                <a:cubicBezTo>
                  <a:pt x="5405" y="1124"/>
                  <a:pt x="3982" y="0"/>
                  <a:pt x="3240" y="84"/>
                </a:cubicBezTo>
                <a:cubicBezTo>
                  <a:pt x="2542" y="171"/>
                  <a:pt x="2113" y="1551"/>
                  <a:pt x="1573" y="1671"/>
                </a:cubicBezTo>
                <a:cubicBezTo>
                  <a:pt x="1033" y="1791"/>
                  <a:pt x="262" y="826"/>
                  <a:pt x="0" y="804"/>
                </a:cubicBezTo>
                <a:close/>
              </a:path>
            </a:pathLst>
          </a:custGeom>
          <a:gradFill rotWithShape="0">
            <a:gsLst>
              <a:gs pos="0">
                <a:schemeClr val="bg1"/>
              </a:gs>
              <a:gs pos="5000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8201" name="Freeform 4105"/>
          <p:cNvSpPr/>
          <p:nvPr/>
        </p:nvSpPr>
        <p:spPr bwMode="white">
          <a:xfrm>
            <a:off x="0" y="3552825"/>
            <a:ext cx="6237288" cy="3365500"/>
          </a:xfrm>
          <a:custGeom>
            <a:avLst/>
            <a:gdLst>
              <a:gd name="T0" fmla="*/ 0 w 4196"/>
              <a:gd name="T1" fmla="*/ 415 h 2120"/>
              <a:gd name="T2" fmla="*/ 0 w 4196"/>
              <a:gd name="T3" fmla="*/ 508 h 2120"/>
              <a:gd name="T4" fmla="*/ 1933 w 4196"/>
              <a:gd name="T5" fmla="*/ 229 h 2120"/>
              <a:gd name="T6" fmla="*/ 3920 w 4196"/>
              <a:gd name="T7" fmla="*/ 1055 h 2120"/>
              <a:gd name="T8" fmla="*/ 3587 w 4196"/>
              <a:gd name="T9" fmla="*/ 2082 h 2120"/>
              <a:gd name="T10" fmla="*/ 3947 w 4196"/>
              <a:gd name="T11" fmla="*/ 829 h 2120"/>
              <a:gd name="T12" fmla="*/ 2253 w 4196"/>
              <a:gd name="T13" fmla="*/ 69 h 2120"/>
              <a:gd name="T14" fmla="*/ 0 w 4196"/>
              <a:gd name="T15" fmla="*/ 415 h 2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96" h="2120">
                <a:moveTo>
                  <a:pt x="0" y="415"/>
                </a:moveTo>
                <a:lnTo>
                  <a:pt x="0" y="508"/>
                </a:lnTo>
                <a:cubicBezTo>
                  <a:pt x="160" y="577"/>
                  <a:pt x="1280" y="138"/>
                  <a:pt x="1933" y="229"/>
                </a:cubicBezTo>
                <a:cubicBezTo>
                  <a:pt x="2586" y="320"/>
                  <a:pt x="3644" y="746"/>
                  <a:pt x="3920" y="1055"/>
                </a:cubicBezTo>
                <a:cubicBezTo>
                  <a:pt x="4196" y="1364"/>
                  <a:pt x="3583" y="2120"/>
                  <a:pt x="3587" y="2082"/>
                </a:cubicBezTo>
                <a:lnTo>
                  <a:pt x="3947" y="829"/>
                </a:lnTo>
                <a:cubicBezTo>
                  <a:pt x="3725" y="494"/>
                  <a:pt x="2911" y="138"/>
                  <a:pt x="2253" y="69"/>
                </a:cubicBezTo>
                <a:cubicBezTo>
                  <a:pt x="1595" y="0"/>
                  <a:pt x="469" y="343"/>
                  <a:pt x="0" y="415"/>
                </a:cubicBezTo>
                <a:close/>
              </a:path>
            </a:pathLst>
          </a:custGeom>
          <a:gradFill rotWithShape="0">
            <a:gsLst>
              <a:gs pos="0">
                <a:schemeClr val="accent2"/>
              </a:gs>
              <a:gs pos="50000">
                <a:schemeClr val="bg1"/>
              </a:gs>
              <a:gs pos="100000">
                <a:schemeClr val="accent2"/>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1034" name="Rectangle 4106"/>
          <p:cNvSpPr>
            <a:spLocks noGrp="1"/>
          </p:cNvSpPr>
          <p:nvPr>
            <p:ph type="title"/>
          </p:nvPr>
        </p:nvSpPr>
        <p:spPr>
          <a:xfrm>
            <a:off x="685800" y="609600"/>
            <a:ext cx="77724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35" name="Rectangle 4107"/>
          <p:cNvSpPr>
            <a:spLocks noGrp="1"/>
          </p:cNvSpPr>
          <p:nvPr>
            <p:ph type="body" idx="1"/>
          </p:nvPr>
        </p:nvSpPr>
        <p:spPr>
          <a:xfrm>
            <a:off x="685800" y="1981200"/>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204" name="Rectangle 4108"/>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nSpc>
                <a:spcPct val="100000"/>
              </a:lnSpc>
              <a:spcBef>
                <a:spcPct val="50000"/>
              </a:spcBef>
              <a:buFontTx/>
              <a:buNone/>
              <a:defRPr sz="1400" b="0">
                <a:latin typeface="+mn-lt"/>
              </a:defRPr>
            </a:lvl1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8205" name="Rectangle 4109"/>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ctr">
              <a:lnSpc>
                <a:spcPct val="100000"/>
              </a:lnSpc>
              <a:spcBef>
                <a:spcPct val="50000"/>
              </a:spcBef>
              <a:buFontTx/>
              <a:buNone/>
              <a:defRPr sz="1400" b="0">
                <a:latin typeface="+mn-lt"/>
              </a:defRPr>
            </a:lvl1p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endParaRPr>
          </a:p>
        </p:txBody>
      </p:sp>
      <p:sp>
        <p:nvSpPr>
          <p:cNvPr id="8206" name="Rectangle 4110"/>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r">
              <a:defRPr sz="1400" b="0">
                <a:latin typeface="Times New Roman" panose="02020603050405020304" pitchFamily="18" charset="0"/>
              </a:defRPr>
            </a:lvl1pPr>
          </a:lstStyle>
          <a:p>
            <a:pPr lvl="0" eaLnBrk="1" hangingPunct="1">
              <a:lnSpc>
                <a:spcPct val="100000"/>
              </a:lnSpc>
              <a:spcBef>
                <a:spcPct val="50000"/>
              </a:spcBef>
              <a:buNone/>
            </a:pPr>
            <a:fld id="{9A0DB2DC-4C9A-4742-B13C-FB6460FD3503}" type="slidenum">
              <a:rPr lang="en-US" altLang="zh-CN" dirty="0"/>
            </a:fld>
            <a:endParaRPr lang="en-US" altLang="zh-CN" dirty="0">
              <a:latin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8" fill="hold" grpId="0" nodeType="afterEffect">
                                  <p:stCondLst>
                                    <p:cond delay="1000"/>
                                  </p:stCondLst>
                                  <p:childTnLst>
                                    <p:set>
                                      <p:cBhvr>
                                        <p:cTn id="6" dur="1" fill="hold">
                                          <p:stCondLst>
                                            <p:cond delay="0"/>
                                          </p:stCondLst>
                                        </p:cTn>
                                        <p:tgtEl>
                                          <p:spTgt spid="8194"/>
                                        </p:tgtEl>
                                        <p:attrNameLst>
                                          <p:attrName>style.visibility</p:attrName>
                                        </p:attrNameLst>
                                      </p:cBhvr>
                                      <p:to>
                                        <p:strVal val="visible"/>
                                      </p:to>
                                    </p:set>
                                    <p:anim calcmode="lin" valueType="num">
                                      <p:cBhvr additive="base">
                                        <p:cTn id="7" dur="5000" fill="hold"/>
                                        <p:tgtEl>
                                          <p:spTgt spid="8194"/>
                                        </p:tgtEl>
                                        <p:attrNameLst>
                                          <p:attrName>ppt_x</p:attrName>
                                        </p:attrNameLst>
                                      </p:cBhvr>
                                      <p:tavLst>
                                        <p:tav tm="0">
                                          <p:val>
                                            <p:strVal val="0-#ppt_w/2"/>
                                          </p:val>
                                        </p:tav>
                                        <p:tav tm="100000">
                                          <p:val>
                                            <p:strVal val="#ppt_x"/>
                                          </p:val>
                                        </p:tav>
                                      </p:tavLst>
                                    </p:anim>
                                    <p:anim calcmode="lin" valueType="num">
                                      <p:cBhvr additive="base">
                                        <p:cTn id="8" dur="5000" fill="hold"/>
                                        <p:tgtEl>
                                          <p:spTgt spid="81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nimBg="1" autoUpdateAnimBg="0"/>
    </p:bldLst>
  </p:timing>
  <p:hf sldNum="0" hdr="0" ftr="0" dt="0"/>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4.xml"/><Relationship Id="rId2" Type="http://schemas.openxmlformats.org/officeDocument/2006/relationships/image" Target="../media/image1.e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0.xml"/><Relationship Id="rId2" Type="http://schemas.openxmlformats.org/officeDocument/2006/relationships/image" Target="../media/image2.wmf"/><Relationship Id="rId1" Type="http://schemas.openxmlformats.org/officeDocument/2006/relationships/oleObject" Target="../embeddings/oleObject2.bin"/></Relationships>
</file>

<file path=ppt/slides/_rels/slide43.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4.xml"/><Relationship Id="rId4" Type="http://schemas.openxmlformats.org/officeDocument/2006/relationships/image" Target="../media/image4.wmf"/><Relationship Id="rId3" Type="http://schemas.openxmlformats.org/officeDocument/2006/relationships/oleObject" Target="../embeddings/oleObject4.bin"/><Relationship Id="rId2" Type="http://schemas.openxmlformats.org/officeDocument/2006/relationships/image" Target="../media/image3.wmf"/><Relationship Id="rId1" Type="http://schemas.openxmlformats.org/officeDocument/2006/relationships/oleObject" Target="../embeddings/oleObject3.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3.xml"/><Relationship Id="rId2" Type="http://schemas.openxmlformats.org/officeDocument/2006/relationships/image" Target="../media/image5.wmf"/><Relationship Id="rId1" Type="http://schemas.openxmlformats.org/officeDocument/2006/relationships/oleObject" Target="../embeddings/oleObject5.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14.xml"/><Relationship Id="rId4" Type="http://schemas.openxmlformats.org/officeDocument/2006/relationships/image" Target="../media/image7.wmf"/><Relationship Id="rId3" Type="http://schemas.openxmlformats.org/officeDocument/2006/relationships/oleObject" Target="../embeddings/oleObject7.bin"/><Relationship Id="rId2" Type="http://schemas.openxmlformats.org/officeDocument/2006/relationships/image" Target="../media/image6.wmf"/><Relationship Id="rId1" Type="http://schemas.openxmlformats.org/officeDocument/2006/relationships/oleObject" Target="../embeddings/oleObject6.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14.xml"/><Relationship Id="rId4" Type="http://schemas.openxmlformats.org/officeDocument/2006/relationships/image" Target="../media/image9.wmf"/><Relationship Id="rId3" Type="http://schemas.openxmlformats.org/officeDocument/2006/relationships/oleObject" Target="../embeddings/oleObject9.bin"/><Relationship Id="rId2" Type="http://schemas.openxmlformats.org/officeDocument/2006/relationships/image" Target="../media/image8.wmf"/><Relationship Id="rId1" Type="http://schemas.openxmlformats.org/officeDocument/2006/relationships/oleObject" Target="../embeddings/oleObject8.bin"/></Relationships>
</file>

<file path=ppt/slides/_rels/slide59.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4.xml"/><Relationship Id="rId3" Type="http://schemas.openxmlformats.org/officeDocument/2006/relationships/oleObject" Target="../embeddings/oleObject11.bin"/><Relationship Id="rId2" Type="http://schemas.openxmlformats.org/officeDocument/2006/relationships/image" Target="../media/image10.wmf"/><Relationship Id="rId1" Type="http://schemas.openxmlformats.org/officeDocument/2006/relationships/oleObject" Target="../embeddings/oleObject10.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2"/>
          <p:cNvSpPr>
            <a:spLocks noGrp="1"/>
          </p:cNvSpPr>
          <p:nvPr>
            <p:ph type="title"/>
          </p:nvPr>
        </p:nvSpPr>
        <p:spPr>
          <a:ln/>
        </p:spPr>
        <p:txBody>
          <a:bodyPr vert="horz" wrap="square" lIns="91440" tIns="45720" rIns="91440" bIns="45720" anchor="ctr" anchorCtr="0"/>
          <a:p>
            <a:pPr eaLnBrk="1" hangingPunct="1"/>
            <a:r>
              <a:rPr lang="zh-CN" altLang="en-US" sz="4000" b="1" dirty="0">
                <a:solidFill>
                  <a:srgbClr val="FF0000"/>
                </a:solidFill>
                <a:latin typeface="黑体" panose="02010609060101010101" pitchFamily="49" charset="-122"/>
                <a:ea typeface="黑体" panose="02010609060101010101" pitchFamily="49" charset="-122"/>
              </a:rPr>
              <a:t>单元一 经济学总观及供求分析</a:t>
            </a:r>
            <a:endParaRPr lang="zh-CN" altLang="en-US" sz="4000" b="1" dirty="0">
              <a:solidFill>
                <a:srgbClr val="FF0000"/>
              </a:solidFill>
              <a:latin typeface="黑体" panose="02010609060101010101" pitchFamily="49" charset="-122"/>
              <a:ea typeface="黑体" panose="02010609060101010101" pitchFamily="49" charset="-122"/>
            </a:endParaRPr>
          </a:p>
        </p:txBody>
      </p:sp>
      <p:sp>
        <p:nvSpPr>
          <p:cNvPr id="3075" name="Rectangle 3"/>
          <p:cNvSpPr>
            <a:spLocks noGrp="1"/>
          </p:cNvSpPr>
          <p:nvPr>
            <p:ph idx="1"/>
          </p:nvPr>
        </p:nvSpPr>
        <p:spPr>
          <a:ln/>
        </p:spPr>
        <p:txBody>
          <a:bodyPr vert="horz" wrap="square" lIns="91440" tIns="45720" rIns="91440" bIns="45720" anchor="t" anchorCtr="0"/>
          <a:p>
            <a:pPr marL="0" indent="0" eaLnBrk="1" hangingPunct="1">
              <a:buNone/>
            </a:pPr>
            <a:r>
              <a:rPr lang="zh-CN" altLang="en-US" sz="3600" b="1" dirty="0">
                <a:solidFill>
                  <a:srgbClr val="FF0000"/>
                </a:solidFill>
                <a:latin typeface="华文楷体" panose="02010600040101010101" pitchFamily="2" charset="-122"/>
                <a:ea typeface="华文楷体" panose="02010600040101010101" pitchFamily="2" charset="-122"/>
              </a:rPr>
              <a:t>经济学</a:t>
            </a:r>
            <a:r>
              <a:rPr lang="en-US" altLang="zh-CN" sz="3600" b="1" dirty="0">
                <a:solidFill>
                  <a:srgbClr val="FF0000"/>
                </a:solidFill>
                <a:latin typeface="华文楷体" panose="02010600040101010101" pitchFamily="2" charset="-122"/>
                <a:ea typeface="华文楷体" panose="02010600040101010101" pitchFamily="2" charset="-122"/>
              </a:rPr>
              <a:t>(</a:t>
            </a:r>
            <a:r>
              <a:rPr lang="zh-CN" altLang="en-US" sz="3600" b="1" dirty="0">
                <a:solidFill>
                  <a:srgbClr val="FF3300"/>
                </a:solidFill>
                <a:latin typeface="华文楷体" panose="02010600040101010101" pitchFamily="2" charset="-122"/>
                <a:ea typeface="华文楷体" panose="02010600040101010101" pitchFamily="2" charset="-122"/>
              </a:rPr>
              <a:t>微观经济学、宏观经济学</a:t>
            </a:r>
            <a:r>
              <a:rPr lang="en-US" altLang="zh-CN" sz="3600" b="1" dirty="0">
                <a:solidFill>
                  <a:srgbClr val="FF3300"/>
                </a:solidFill>
                <a:latin typeface="华文楷体" panose="02010600040101010101" pitchFamily="2" charset="-122"/>
                <a:ea typeface="华文楷体" panose="02010600040101010101" pitchFamily="2" charset="-122"/>
              </a:rPr>
              <a:t>)</a:t>
            </a:r>
            <a:br>
              <a:rPr lang="en-US" altLang="zh-CN" sz="3600" b="1" dirty="0">
                <a:solidFill>
                  <a:srgbClr val="FF0000"/>
                </a:solidFill>
                <a:latin typeface="华文楷体" panose="02010600040101010101" pitchFamily="2" charset="-122"/>
                <a:ea typeface="华文楷体" panose="02010600040101010101" pitchFamily="2" charset="-122"/>
              </a:rPr>
            </a:br>
            <a:endParaRPr lang="en-US" altLang="zh-CN" sz="3600" b="1" dirty="0">
              <a:solidFill>
                <a:srgbClr val="FF0000"/>
              </a:solidFill>
              <a:latin typeface="华文楷体" panose="02010600040101010101" pitchFamily="2" charset="-122"/>
              <a:ea typeface="华文楷体" panose="02010600040101010101" pitchFamily="2" charset="-122"/>
            </a:endParaRPr>
          </a:p>
          <a:p>
            <a:pPr marL="0" indent="0" eaLnBrk="1" hangingPunct="1">
              <a:buNone/>
            </a:pPr>
            <a:r>
              <a:rPr lang="zh-CN" altLang="en-US" sz="3600" b="1" dirty="0">
                <a:solidFill>
                  <a:srgbClr val="FF0000"/>
                </a:solidFill>
                <a:latin typeface="华文楷体" panose="02010600040101010101" pitchFamily="2" charset="-122"/>
                <a:ea typeface="华文楷体" panose="02010600040101010101" pitchFamily="2" charset="-122"/>
              </a:rPr>
              <a:t>学经济学三个原因</a:t>
            </a:r>
            <a:r>
              <a:rPr lang="en-US" altLang="zh-CN" sz="3600" b="1" dirty="0">
                <a:solidFill>
                  <a:srgbClr val="FF0000"/>
                </a:solidFill>
                <a:latin typeface="华文楷体" panose="02010600040101010101" pitchFamily="2" charset="-122"/>
                <a:ea typeface="华文楷体" panose="02010600040101010101" pitchFamily="2" charset="-122"/>
              </a:rPr>
              <a:t>:</a:t>
            </a:r>
            <a:endParaRPr lang="en-US" altLang="zh-CN" sz="3600" b="1" dirty="0">
              <a:solidFill>
                <a:srgbClr val="FF0000"/>
              </a:solidFill>
              <a:latin typeface="华文楷体" panose="02010600040101010101" pitchFamily="2" charset="-122"/>
              <a:ea typeface="华文楷体" panose="02010600040101010101" pitchFamily="2" charset="-122"/>
            </a:endParaRPr>
          </a:p>
          <a:p>
            <a:pPr marL="0" indent="0" eaLnBrk="1" hangingPunct="1">
              <a:buNone/>
            </a:pPr>
            <a:r>
              <a:rPr lang="en-US" altLang="zh-CN" sz="3600" b="1" dirty="0">
                <a:solidFill>
                  <a:srgbClr val="FF0000"/>
                </a:solidFill>
                <a:latin typeface="华文楷体" panose="02010600040101010101" pitchFamily="2" charset="-122"/>
                <a:ea typeface="华文楷体" panose="02010600040101010101" pitchFamily="2" charset="-122"/>
              </a:rPr>
              <a:t>1</a:t>
            </a:r>
            <a:r>
              <a:rPr lang="zh-CN" altLang="en-US" sz="3600" b="1" dirty="0">
                <a:solidFill>
                  <a:srgbClr val="FF0000"/>
                </a:solidFill>
                <a:latin typeface="华文楷体" panose="02010600040101010101" pitchFamily="2" charset="-122"/>
                <a:ea typeface="华文楷体" panose="02010600040101010101" pitchFamily="2" charset="-122"/>
              </a:rPr>
              <a:t>、有助于了解你生活的世界</a:t>
            </a:r>
            <a:r>
              <a:rPr lang="en-US" altLang="zh-CN" sz="3600" b="1" dirty="0">
                <a:solidFill>
                  <a:srgbClr val="FF0000"/>
                </a:solidFill>
                <a:latin typeface="华文楷体" panose="02010600040101010101" pitchFamily="2" charset="-122"/>
                <a:ea typeface="华文楷体" panose="02010600040101010101" pitchFamily="2" charset="-122"/>
              </a:rPr>
              <a:t>;</a:t>
            </a:r>
            <a:endParaRPr lang="en-US" altLang="zh-CN" sz="3600" b="1" dirty="0">
              <a:solidFill>
                <a:srgbClr val="FF0000"/>
              </a:solidFill>
              <a:latin typeface="华文楷体" panose="02010600040101010101" pitchFamily="2" charset="-122"/>
              <a:ea typeface="华文楷体" panose="02010600040101010101" pitchFamily="2" charset="-122"/>
            </a:endParaRPr>
          </a:p>
          <a:p>
            <a:pPr marL="0" indent="0" eaLnBrk="1" hangingPunct="1">
              <a:buNone/>
            </a:pPr>
            <a:r>
              <a:rPr lang="en-US" altLang="zh-CN" sz="3600" b="1" dirty="0">
                <a:solidFill>
                  <a:srgbClr val="FF0000"/>
                </a:solidFill>
                <a:latin typeface="华文楷体" panose="02010600040101010101" pitchFamily="2" charset="-122"/>
                <a:ea typeface="华文楷体" panose="02010600040101010101" pitchFamily="2" charset="-122"/>
              </a:rPr>
              <a:t>2</a:t>
            </a:r>
            <a:r>
              <a:rPr lang="zh-CN" altLang="en-US" sz="3600" b="1" dirty="0">
                <a:solidFill>
                  <a:srgbClr val="FF0000"/>
                </a:solidFill>
                <a:latin typeface="华文楷体" panose="02010600040101010101" pitchFamily="2" charset="-122"/>
                <a:ea typeface="华文楷体" panose="02010600040101010101" pitchFamily="2" charset="-122"/>
              </a:rPr>
              <a:t>、使你更精明地参与经济</a:t>
            </a:r>
            <a:r>
              <a:rPr lang="en-US" altLang="zh-CN" sz="3600" b="1" dirty="0">
                <a:solidFill>
                  <a:srgbClr val="FF0000"/>
                </a:solidFill>
                <a:latin typeface="华文楷体" panose="02010600040101010101" pitchFamily="2" charset="-122"/>
                <a:ea typeface="华文楷体" panose="02010600040101010101" pitchFamily="2" charset="-122"/>
              </a:rPr>
              <a:t>;</a:t>
            </a:r>
            <a:endParaRPr lang="en-US" altLang="zh-CN" sz="3600" b="1" dirty="0">
              <a:solidFill>
                <a:srgbClr val="FF0000"/>
              </a:solidFill>
              <a:latin typeface="华文楷体" panose="02010600040101010101" pitchFamily="2" charset="-122"/>
              <a:ea typeface="华文楷体" panose="02010600040101010101" pitchFamily="2" charset="-122"/>
            </a:endParaRPr>
          </a:p>
          <a:p>
            <a:pPr marL="0" indent="0" eaLnBrk="1" hangingPunct="1">
              <a:buNone/>
            </a:pPr>
            <a:r>
              <a:rPr lang="en-US" altLang="zh-CN" sz="3600" b="1" dirty="0">
                <a:solidFill>
                  <a:srgbClr val="FF0000"/>
                </a:solidFill>
                <a:latin typeface="华文楷体" panose="02010600040101010101" pitchFamily="2" charset="-122"/>
                <a:ea typeface="华文楷体" panose="02010600040101010101" pitchFamily="2" charset="-122"/>
              </a:rPr>
              <a:t>3</a:t>
            </a:r>
            <a:r>
              <a:rPr lang="zh-CN" altLang="en-US" sz="3600" b="1" dirty="0">
                <a:solidFill>
                  <a:srgbClr val="FF0000"/>
                </a:solidFill>
                <a:latin typeface="华文楷体" panose="02010600040101010101" pitchFamily="2" charset="-122"/>
                <a:ea typeface="华文楷体" panose="02010600040101010101" pitchFamily="2" charset="-122"/>
              </a:rPr>
              <a:t>、使你更好地理解经济政策的潜力与局限性。</a:t>
            </a:r>
            <a:endParaRPr lang="zh-CN" altLang="en-US" sz="3600" b="1" dirty="0">
              <a:latin typeface="华文楷体" panose="02010600040101010101" pitchFamily="2" charset="-122"/>
              <a:ea typeface="华文楷体" panose="0201060004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3"/>
          <p:cNvSpPr>
            <a:spLocks noGrp="1"/>
          </p:cNvSpPr>
          <p:nvPr>
            <p:ph idx="1"/>
          </p:nvPr>
        </p:nvSpPr>
        <p:spPr>
          <a:xfrm>
            <a:off x="684213" y="1052513"/>
            <a:ext cx="7772400" cy="4114800"/>
          </a:xfrm>
          <a:ln/>
        </p:spPr>
        <p:txBody>
          <a:bodyPr vert="horz" wrap="square" lIns="91440" tIns="45720" rIns="91440" bIns="45720" anchor="t" anchorCtr="0"/>
          <a:p>
            <a:pPr marL="609600" indent="-609600" eaLnBrk="1" hangingPunct="1">
              <a:lnSpc>
                <a:spcPct val="80000"/>
              </a:lnSpc>
            </a:pPr>
            <a:r>
              <a:rPr lang="en-US" altLang="zh-CN" sz="1800" b="1" dirty="0">
                <a:solidFill>
                  <a:srgbClr val="FF0000"/>
                </a:solidFill>
                <a:latin typeface="宋体" panose="02010600030101010101" pitchFamily="2" charset="-122"/>
              </a:rPr>
              <a:t>.</a:t>
            </a:r>
            <a:r>
              <a:rPr lang="zh-CN" altLang="en-US" sz="2800" b="1" dirty="0">
                <a:solidFill>
                  <a:srgbClr val="FF0000"/>
                </a:solidFill>
                <a:latin typeface="华文楷体" panose="02010600040101010101" pitchFamily="2" charset="-122"/>
                <a:ea typeface="华文楷体" panose="02010600040101010101" pitchFamily="2" charset="-122"/>
              </a:rPr>
              <a:t>定义：</a:t>
            </a:r>
            <a:br>
              <a:rPr lang="zh-CN" altLang="en-US" sz="2800" b="1" dirty="0">
                <a:latin typeface="华文楷体" panose="02010600040101010101" pitchFamily="2" charset="-122"/>
                <a:ea typeface="华文楷体" panose="02010600040101010101" pitchFamily="2" charset="-122"/>
              </a:rPr>
            </a:br>
            <a:r>
              <a:rPr lang="zh-CN" altLang="en-US" sz="2800" b="1" dirty="0">
                <a:latin typeface="华文楷体" panose="02010600040101010101" pitchFamily="2" charset="-122"/>
                <a:ea typeface="华文楷体" panose="02010600040101010101" pitchFamily="2" charset="-122"/>
              </a:rPr>
              <a:t>“</a:t>
            </a:r>
            <a:r>
              <a:rPr lang="zh-CN" altLang="en-US" sz="2800" b="1" dirty="0">
                <a:solidFill>
                  <a:srgbClr val="FF0000"/>
                </a:solidFill>
                <a:latin typeface="华文楷体" panose="02010600040101010101" pitchFamily="2" charset="-122"/>
                <a:ea typeface="华文楷体" panose="02010600040101010101" pitchFamily="2" charset="-122"/>
              </a:rPr>
              <a:t>经济学</a:t>
            </a:r>
            <a:r>
              <a:rPr lang="zh-CN" altLang="en-US" sz="2800" b="1" dirty="0">
                <a:latin typeface="华文楷体" panose="02010600040101010101" pitchFamily="2" charset="-122"/>
                <a:ea typeface="华文楷体" panose="02010600040101010101" pitchFamily="2" charset="-122"/>
              </a:rPr>
              <a:t>是一门研究人类一般生活事务的学问”</a:t>
            </a:r>
            <a:br>
              <a:rPr lang="zh-CN" altLang="en-US" sz="2800" b="1" dirty="0">
                <a:latin typeface="华文楷体" panose="02010600040101010101" pitchFamily="2" charset="-122"/>
                <a:ea typeface="华文楷体" panose="02010600040101010101" pitchFamily="2" charset="-122"/>
              </a:rPr>
            </a:br>
            <a:r>
              <a:rPr lang="zh-CN" altLang="en-US" sz="2800" b="1" dirty="0">
                <a:latin typeface="华文楷体" panose="02010600040101010101" pitchFamily="2" charset="-122"/>
                <a:ea typeface="华文楷体" panose="02010600040101010101" pitchFamily="2" charset="-122"/>
              </a:rPr>
              <a:t>“</a:t>
            </a:r>
            <a:r>
              <a:rPr lang="zh-CN" altLang="en-US" sz="2800" b="1" dirty="0">
                <a:solidFill>
                  <a:srgbClr val="FF0000"/>
                </a:solidFill>
                <a:latin typeface="华文楷体" panose="02010600040101010101" pitchFamily="2" charset="-122"/>
                <a:ea typeface="华文楷体" panose="02010600040101010101" pitchFamily="2" charset="-122"/>
              </a:rPr>
              <a:t>经济学</a:t>
            </a:r>
            <a:r>
              <a:rPr lang="en-US" altLang="zh-CN" sz="2800" b="1" dirty="0">
                <a:solidFill>
                  <a:srgbClr val="FF0000"/>
                </a:solidFill>
                <a:latin typeface="华文楷体" panose="02010600040101010101" pitchFamily="2" charset="-122"/>
                <a:ea typeface="华文楷体" panose="02010600040101010101" pitchFamily="2" charset="-122"/>
              </a:rPr>
              <a:t>:</a:t>
            </a:r>
            <a:r>
              <a:rPr lang="zh-CN" altLang="en-US" sz="2800" b="1" dirty="0">
                <a:solidFill>
                  <a:srgbClr val="FF0000"/>
                </a:solidFill>
                <a:latin typeface="华文楷体" panose="02010600040101010101" pitchFamily="2" charset="-122"/>
                <a:ea typeface="华文楷体" panose="02010600040101010101" pitchFamily="2" charset="-122"/>
              </a:rPr>
              <a:t>研究的是人们怎样利用有限的资源作出生产与消费的决策，得到最大限度的满足。</a:t>
            </a:r>
            <a:r>
              <a:rPr lang="zh-CN" altLang="en-US" sz="2800" b="1" dirty="0">
                <a:latin typeface="华文楷体" panose="02010600040101010101" pitchFamily="2" charset="-122"/>
                <a:ea typeface="华文楷体" panose="02010600040101010101" pitchFamily="2" charset="-122"/>
              </a:rPr>
              <a:t>”</a:t>
            </a:r>
            <a:br>
              <a:rPr lang="zh-CN" altLang="en-US" sz="2800" b="1" dirty="0">
                <a:latin typeface="华文楷体" panose="02010600040101010101" pitchFamily="2" charset="-122"/>
                <a:ea typeface="华文楷体" panose="02010600040101010101" pitchFamily="2" charset="-122"/>
              </a:rPr>
            </a:br>
            <a:r>
              <a:rPr lang="zh-CN" altLang="en-US" sz="2800" b="1" dirty="0">
                <a:solidFill>
                  <a:srgbClr val="FF3300"/>
                </a:solidFill>
                <a:latin typeface="华文楷体" panose="02010600040101010101" pitchFamily="2" charset="-122"/>
                <a:ea typeface="华文楷体" panose="02010600040101010101" pitchFamily="2" charset="-122"/>
              </a:rPr>
              <a:t>微观经济学</a:t>
            </a:r>
            <a:r>
              <a:rPr lang="en-US" altLang="zh-CN" sz="2800" b="1" dirty="0">
                <a:latin typeface="华文楷体" panose="02010600040101010101" pitchFamily="2" charset="-122"/>
                <a:ea typeface="华文楷体" panose="02010600040101010101" pitchFamily="2" charset="-122"/>
              </a:rPr>
              <a:t>:</a:t>
            </a:r>
            <a:r>
              <a:rPr lang="zh-CN" altLang="en-US" sz="2800" b="1" dirty="0">
                <a:latin typeface="华文楷体" panose="02010600040101010101" pitchFamily="2" charset="-122"/>
                <a:ea typeface="华文楷体" panose="02010600040101010101" pitchFamily="2" charset="-122"/>
              </a:rPr>
              <a:t>研究个别经济决策者的行为，包括消费者与厂商的决策及其相互作用。</a:t>
            </a:r>
            <a:br>
              <a:rPr lang="zh-CN" altLang="en-US" sz="2800" b="1" dirty="0">
                <a:latin typeface="华文楷体" panose="02010600040101010101" pitchFamily="2" charset="-122"/>
                <a:ea typeface="华文楷体" panose="02010600040101010101" pitchFamily="2" charset="-122"/>
              </a:rPr>
            </a:br>
            <a:r>
              <a:rPr lang="zh-CN" altLang="en-US" sz="2800" b="1" dirty="0">
                <a:solidFill>
                  <a:srgbClr val="FF3300"/>
                </a:solidFill>
                <a:latin typeface="华文楷体" panose="02010600040101010101" pitchFamily="2" charset="-122"/>
                <a:ea typeface="华文楷体" panose="02010600040101010101" pitchFamily="2" charset="-122"/>
              </a:rPr>
              <a:t>宏观经济学</a:t>
            </a:r>
            <a:r>
              <a:rPr lang="en-US" altLang="zh-CN" sz="2800" b="1" dirty="0">
                <a:latin typeface="华文楷体" panose="02010600040101010101" pitchFamily="2" charset="-122"/>
                <a:ea typeface="华文楷体" panose="02010600040101010101" pitchFamily="2" charset="-122"/>
              </a:rPr>
              <a:t>:</a:t>
            </a:r>
            <a:r>
              <a:rPr lang="zh-CN" altLang="en-US" sz="2800" b="1" dirty="0">
                <a:latin typeface="华文楷体" panose="02010600040101010101" pitchFamily="2" charset="-122"/>
                <a:ea typeface="华文楷体" panose="02010600040101010101" pitchFamily="2" charset="-122"/>
              </a:rPr>
              <a:t>研究与宏观经济有关的变量间的关系与政府政策、国有所得与经济增长、货币与财政政策，以及金融机构的功能等。</a:t>
            </a:r>
            <a:endParaRPr lang="zh-CN" altLang="en-US" sz="2800" b="1" dirty="0">
              <a:latin typeface="华文楷体" panose="02010600040101010101" pitchFamily="2" charset="-122"/>
              <a:ea typeface="华文楷体" panose="020106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8"/>
          <p:cNvSpPr>
            <a:spLocks noGrp="1"/>
          </p:cNvSpPr>
          <p:nvPr>
            <p:ph type="body" orient="vert" idx="1"/>
          </p:nvPr>
        </p:nvSpPr>
        <p:spPr>
          <a:xfrm>
            <a:off x="685800" y="1052513"/>
            <a:ext cx="7772400" cy="5043487"/>
          </a:xfrm>
          <a:ln/>
        </p:spPr>
        <p:txBody>
          <a:bodyPr vert="horz" wrap="square" lIns="91440" tIns="45720" rIns="91440" bIns="45720" anchor="t" anchorCtr="0"/>
          <a:p>
            <a:pPr marL="0" indent="0" eaLnBrk="1" hangingPunct="1">
              <a:lnSpc>
                <a:spcPct val="90000"/>
              </a:lnSpc>
              <a:buNone/>
            </a:pPr>
            <a:r>
              <a:rPr lang="zh-CN" altLang="en-US" sz="2800" b="1" dirty="0">
                <a:solidFill>
                  <a:srgbClr val="FF0000"/>
                </a:solidFill>
              </a:rPr>
              <a:t>微观经济学的研究对象</a:t>
            </a:r>
            <a:r>
              <a:rPr lang="zh-CN" altLang="en-US" sz="2400" dirty="0"/>
              <a:t> </a:t>
            </a:r>
            <a:endParaRPr lang="zh-CN" altLang="en-US" sz="2400" dirty="0"/>
          </a:p>
          <a:p>
            <a:pPr marL="0" indent="0" eaLnBrk="1" hangingPunct="1">
              <a:lnSpc>
                <a:spcPct val="90000"/>
              </a:lnSpc>
              <a:buNone/>
            </a:pPr>
            <a:r>
              <a:rPr lang="zh-CN" altLang="en-US" sz="2800" b="1" dirty="0">
                <a:solidFill>
                  <a:srgbClr val="000000"/>
                </a:solidFill>
              </a:rPr>
              <a:t>对象</a:t>
            </a:r>
            <a:r>
              <a:rPr lang="zh-CN" altLang="en-US" sz="2400" dirty="0">
                <a:solidFill>
                  <a:srgbClr val="000000"/>
                </a:solidFill>
              </a:rPr>
              <a:t>            </a:t>
            </a:r>
            <a:r>
              <a:rPr lang="zh-CN" altLang="en-US" sz="2800" b="1" dirty="0">
                <a:solidFill>
                  <a:srgbClr val="000000"/>
                </a:solidFill>
              </a:rPr>
              <a:t>单个经济单位</a:t>
            </a:r>
            <a:endParaRPr lang="zh-CN" altLang="en-US" sz="2800" b="1" dirty="0">
              <a:solidFill>
                <a:srgbClr val="000000"/>
              </a:solidFill>
            </a:endParaRPr>
          </a:p>
          <a:p>
            <a:pPr marL="0" indent="0" eaLnBrk="1" hangingPunct="1">
              <a:lnSpc>
                <a:spcPct val="90000"/>
              </a:lnSpc>
              <a:buNone/>
            </a:pPr>
            <a:r>
              <a:rPr lang="zh-CN" altLang="en-US" sz="2400" b="1" dirty="0">
                <a:solidFill>
                  <a:srgbClr val="FF0000"/>
                </a:solidFill>
              </a:rPr>
              <a:t>经济学基本假定</a:t>
            </a:r>
            <a:endParaRPr lang="zh-CN" altLang="en-US" sz="2400" dirty="0">
              <a:solidFill>
                <a:srgbClr val="FF0000"/>
              </a:solidFill>
            </a:endParaRPr>
          </a:p>
          <a:p>
            <a:pPr marL="0" indent="0" eaLnBrk="1" hangingPunct="1">
              <a:lnSpc>
                <a:spcPct val="90000"/>
              </a:lnSpc>
              <a:buNone/>
            </a:pPr>
            <a:r>
              <a:rPr lang="zh-CN" altLang="en-US" sz="2400" b="1" dirty="0">
                <a:solidFill>
                  <a:srgbClr val="000000"/>
                </a:solidFill>
              </a:rPr>
              <a:t>经济人           人总是想以最小的付出得到最大的回报</a:t>
            </a:r>
            <a:endParaRPr lang="zh-CN" altLang="en-US" sz="2400" b="1" dirty="0">
              <a:solidFill>
                <a:srgbClr val="000000"/>
              </a:solidFill>
            </a:endParaRPr>
          </a:p>
          <a:p>
            <a:pPr marL="0" indent="0" eaLnBrk="1" hangingPunct="1">
              <a:lnSpc>
                <a:spcPct val="90000"/>
              </a:lnSpc>
              <a:buNone/>
            </a:pPr>
            <a:r>
              <a:rPr lang="zh-CN" altLang="en-US" sz="2400" b="1" dirty="0">
                <a:solidFill>
                  <a:srgbClr val="FF0000"/>
                </a:solidFill>
              </a:rPr>
              <a:t>管理学基本假定</a:t>
            </a:r>
            <a:r>
              <a:rPr lang="zh-CN" altLang="en-US" sz="2400" dirty="0"/>
              <a:t>        </a:t>
            </a:r>
            <a:endParaRPr lang="zh-CN" altLang="en-US" sz="2400" dirty="0"/>
          </a:p>
          <a:p>
            <a:pPr marL="0" indent="0" eaLnBrk="1" hangingPunct="1">
              <a:lnSpc>
                <a:spcPct val="90000"/>
              </a:lnSpc>
              <a:buNone/>
            </a:pPr>
            <a:r>
              <a:rPr lang="zh-CN" altLang="en-US" sz="2400" b="1" dirty="0">
                <a:solidFill>
                  <a:srgbClr val="000000"/>
                </a:solidFill>
              </a:rPr>
              <a:t>社会人</a:t>
            </a:r>
            <a:endParaRPr lang="zh-CN" altLang="en-US" sz="2400" b="1" dirty="0">
              <a:solidFill>
                <a:srgbClr val="000000"/>
              </a:solidFill>
            </a:endParaRPr>
          </a:p>
          <a:p>
            <a:pPr marL="0" indent="0" eaLnBrk="1" hangingPunct="1">
              <a:lnSpc>
                <a:spcPct val="90000"/>
              </a:lnSpc>
              <a:buNone/>
            </a:pPr>
            <a:r>
              <a:rPr lang="zh-CN" altLang="en-US" sz="2400" b="1" dirty="0">
                <a:solidFill>
                  <a:srgbClr val="000000"/>
                </a:solidFill>
              </a:rPr>
              <a:t>                      生产要素                产品</a:t>
            </a:r>
            <a:endParaRPr lang="zh-CN" altLang="en-US" sz="2400" b="1" dirty="0">
              <a:solidFill>
                <a:srgbClr val="000000"/>
              </a:solidFill>
            </a:endParaRPr>
          </a:p>
          <a:p>
            <a:pPr marL="0" indent="0" eaLnBrk="1" hangingPunct="1">
              <a:lnSpc>
                <a:spcPct val="90000"/>
              </a:lnSpc>
              <a:buNone/>
            </a:pPr>
            <a:r>
              <a:rPr lang="zh-CN" altLang="en-US" sz="2400" b="1" dirty="0">
                <a:solidFill>
                  <a:srgbClr val="000000"/>
                </a:solidFill>
              </a:rPr>
              <a:t>     </a:t>
            </a:r>
            <a:endParaRPr lang="zh-CN" altLang="en-US" sz="2400" b="1" dirty="0">
              <a:solidFill>
                <a:srgbClr val="000000"/>
              </a:solidFill>
            </a:endParaRPr>
          </a:p>
          <a:p>
            <a:pPr marL="0" indent="0" eaLnBrk="1" hangingPunct="1">
              <a:lnSpc>
                <a:spcPct val="90000"/>
              </a:lnSpc>
              <a:buNone/>
            </a:pPr>
            <a:r>
              <a:rPr lang="zh-CN" altLang="en-US" sz="2400" b="1" dirty="0">
                <a:solidFill>
                  <a:srgbClr val="000000"/>
                </a:solidFill>
              </a:rPr>
              <a:t>投入                                                                        产出</a:t>
            </a:r>
            <a:endParaRPr lang="zh-CN" altLang="en-US" sz="2400" b="1" dirty="0">
              <a:solidFill>
                <a:srgbClr val="000000"/>
              </a:solidFill>
            </a:endParaRPr>
          </a:p>
          <a:p>
            <a:pPr marL="0" indent="0" eaLnBrk="1" hangingPunct="1">
              <a:lnSpc>
                <a:spcPct val="90000"/>
              </a:lnSpc>
              <a:buNone/>
            </a:pPr>
            <a:r>
              <a:rPr lang="zh-CN" altLang="en-US" sz="2400" b="1" dirty="0">
                <a:solidFill>
                  <a:srgbClr val="000000"/>
                </a:solidFill>
              </a:rPr>
              <a:t>                                          </a:t>
            </a:r>
            <a:r>
              <a:rPr lang="zh-CN" altLang="en-US" sz="2000" b="1" dirty="0">
                <a:solidFill>
                  <a:srgbClr val="000000"/>
                </a:solidFill>
              </a:rPr>
              <a:t>转换体</a:t>
            </a:r>
            <a:r>
              <a:rPr lang="zh-CN" altLang="en-US" sz="2400" b="1" dirty="0">
                <a:solidFill>
                  <a:srgbClr val="000000"/>
                </a:solidFill>
              </a:rPr>
              <a:t>                            </a:t>
            </a:r>
            <a:r>
              <a:rPr lang="zh-CN" altLang="en-US" sz="2000" b="1" dirty="0">
                <a:solidFill>
                  <a:srgbClr val="000000"/>
                </a:solidFill>
              </a:rPr>
              <a:t>消费者  </a:t>
            </a:r>
            <a:endParaRPr lang="zh-CN" altLang="en-US" sz="2000" b="1" dirty="0">
              <a:solidFill>
                <a:srgbClr val="000000"/>
              </a:solidFill>
            </a:endParaRPr>
          </a:p>
          <a:p>
            <a:pPr marL="0" indent="0" eaLnBrk="1" hangingPunct="1">
              <a:lnSpc>
                <a:spcPct val="90000"/>
              </a:lnSpc>
              <a:buNone/>
            </a:pPr>
            <a:r>
              <a:rPr lang="zh-CN" altLang="en-US" sz="2400" b="1" dirty="0">
                <a:solidFill>
                  <a:srgbClr val="000000"/>
                </a:solidFill>
              </a:rPr>
              <a:t>                                                          </a:t>
            </a:r>
            <a:r>
              <a:rPr lang="zh-CN" altLang="en-US" sz="2000" b="1" dirty="0">
                <a:solidFill>
                  <a:srgbClr val="000000"/>
                </a:solidFill>
              </a:rPr>
              <a:t>两个经济人</a:t>
            </a:r>
            <a:endParaRPr lang="zh-CN" altLang="en-US" sz="2000" b="1" dirty="0">
              <a:solidFill>
                <a:srgbClr val="000000"/>
              </a:solidFill>
            </a:endParaRPr>
          </a:p>
        </p:txBody>
      </p:sp>
      <p:sp>
        <p:nvSpPr>
          <p:cNvPr id="5123" name="Rectangle 9"/>
          <p:cNvSpPr>
            <a:spLocks noGrp="1"/>
          </p:cNvSpPr>
          <p:nvPr>
            <p:ph type="title"/>
          </p:nvPr>
        </p:nvSpPr>
        <p:spPr>
          <a:xfrm>
            <a:off x="684213" y="0"/>
            <a:ext cx="7772400" cy="1143000"/>
          </a:xfrm>
          <a:ln/>
        </p:spPr>
        <p:txBody>
          <a:bodyPr vert="horz" wrap="square" lIns="91440" tIns="45720" rIns="91440" bIns="45720" anchor="ctr" anchorCtr="0"/>
          <a:p>
            <a:pPr eaLnBrk="1" hangingPunct="1"/>
            <a:r>
              <a:rPr lang="zh-CN" altLang="en-US" b="1" dirty="0">
                <a:solidFill>
                  <a:srgbClr val="FF0000"/>
                </a:solidFill>
                <a:ea typeface="黑体" panose="02010609060101010101" pitchFamily="49" charset="-122"/>
              </a:rPr>
              <a:t>第一章微观经济学导论</a:t>
            </a:r>
            <a:endParaRPr lang="zh-CN" altLang="en-US" b="1" dirty="0">
              <a:solidFill>
                <a:srgbClr val="FF0000"/>
              </a:solidFill>
              <a:ea typeface="黑体" panose="02010609060101010101" pitchFamily="49" charset="-122"/>
            </a:endParaRPr>
          </a:p>
        </p:txBody>
      </p:sp>
      <p:sp>
        <p:nvSpPr>
          <p:cNvPr id="7178" name="AutoShape 10"/>
          <p:cNvSpPr>
            <a:spLocks noChangeArrowheads="1"/>
          </p:cNvSpPr>
          <p:nvPr/>
        </p:nvSpPr>
        <p:spPr bwMode="auto">
          <a:xfrm>
            <a:off x="1547813" y="1628775"/>
            <a:ext cx="865188" cy="288925"/>
          </a:xfrm>
          <a:prstGeom prst="notchedRightArrow">
            <a:avLst>
              <a:gd name="adj1" fmla="val 50000"/>
              <a:gd name="adj2" fmla="val 74863"/>
            </a:avLst>
          </a:prstGeom>
          <a:gradFill rotWithShape="1">
            <a:gsLst>
              <a:gs pos="0">
                <a:schemeClr val="accent1"/>
              </a:gs>
              <a:gs pos="100000">
                <a:schemeClr val="accent1">
                  <a:gamma/>
                  <a:tint val="54118"/>
                  <a:invGamma/>
                </a:schemeClr>
              </a:gs>
            </a:gsLst>
            <a:lin ang="189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7180" name="AutoShape 12"/>
          <p:cNvSpPr>
            <a:spLocks noChangeArrowheads="1"/>
          </p:cNvSpPr>
          <p:nvPr/>
        </p:nvSpPr>
        <p:spPr bwMode="auto">
          <a:xfrm>
            <a:off x="1619250" y="2420938"/>
            <a:ext cx="936625" cy="288925"/>
          </a:xfrm>
          <a:prstGeom prst="notchedRightArrow">
            <a:avLst>
              <a:gd name="adj1" fmla="val 50000"/>
              <a:gd name="adj2" fmla="val 81044"/>
            </a:avLst>
          </a:prstGeom>
          <a:gradFill rotWithShape="1">
            <a:gsLst>
              <a:gs pos="0">
                <a:schemeClr val="accent1"/>
              </a:gs>
              <a:gs pos="100000">
                <a:schemeClr val="accent1">
                  <a:gamma/>
                  <a:tint val="54118"/>
                  <a:invGamma/>
                </a:schemeClr>
              </a:gs>
            </a:gsLst>
            <a:lin ang="189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7181" name="AutoShape 13"/>
          <p:cNvSpPr>
            <a:spLocks noChangeArrowheads="1"/>
          </p:cNvSpPr>
          <p:nvPr/>
        </p:nvSpPr>
        <p:spPr bwMode="auto">
          <a:xfrm>
            <a:off x="3419475" y="4221163"/>
            <a:ext cx="1728788" cy="649288"/>
          </a:xfrm>
          <a:prstGeom prst="roundRect">
            <a:avLst>
              <a:gd name="adj" fmla="val 16667"/>
            </a:avLst>
          </a:prstGeom>
          <a:gradFill rotWithShape="1">
            <a:gsLst>
              <a:gs pos="0">
                <a:schemeClr val="accent1">
                  <a:gamma/>
                  <a:tint val="60392"/>
                  <a:invGamma/>
                </a:schemeClr>
              </a:gs>
              <a:gs pos="100000">
                <a:schemeClr val="accent1"/>
              </a:gs>
            </a:gsLst>
            <a:lin ang="18900000" scaled="1"/>
          </a:gra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企业</a:t>
            </a:r>
            <a:endParaRPr kumimoji="1"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82" name="AutoShape 14"/>
          <p:cNvSpPr>
            <a:spLocks noChangeArrowheads="1"/>
          </p:cNvSpPr>
          <p:nvPr/>
        </p:nvSpPr>
        <p:spPr bwMode="auto">
          <a:xfrm>
            <a:off x="5508625" y="4437063"/>
            <a:ext cx="865188" cy="288925"/>
          </a:xfrm>
          <a:prstGeom prst="notchedRightArrow">
            <a:avLst>
              <a:gd name="adj1" fmla="val 50000"/>
              <a:gd name="adj2" fmla="val 74863"/>
            </a:avLst>
          </a:prstGeom>
          <a:gradFill rotWithShape="1">
            <a:gsLst>
              <a:gs pos="0">
                <a:schemeClr val="accent1"/>
              </a:gs>
              <a:gs pos="100000">
                <a:schemeClr val="accent1">
                  <a:gamma/>
                  <a:tint val="54118"/>
                  <a:invGamma/>
                </a:schemeClr>
              </a:gs>
            </a:gsLst>
            <a:lin ang="189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7183" name="AutoShape 15"/>
          <p:cNvSpPr>
            <a:spLocks noChangeArrowheads="1"/>
          </p:cNvSpPr>
          <p:nvPr/>
        </p:nvSpPr>
        <p:spPr bwMode="auto">
          <a:xfrm>
            <a:off x="1908175" y="4437063"/>
            <a:ext cx="865188" cy="288925"/>
          </a:xfrm>
          <a:prstGeom prst="notchedRightArrow">
            <a:avLst>
              <a:gd name="adj1" fmla="val 50000"/>
              <a:gd name="adj2" fmla="val 74863"/>
            </a:avLst>
          </a:prstGeom>
          <a:gradFill rotWithShape="1">
            <a:gsLst>
              <a:gs pos="0">
                <a:schemeClr val="accent1"/>
              </a:gs>
              <a:gs pos="100000">
                <a:schemeClr val="accent1">
                  <a:gamma/>
                  <a:tint val="54118"/>
                  <a:invGamma/>
                </a:schemeClr>
              </a:gs>
            </a:gsLst>
            <a:lin ang="189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5129" name="Line 16"/>
          <p:cNvSpPr/>
          <p:nvPr/>
        </p:nvSpPr>
        <p:spPr>
          <a:xfrm flipH="1" flipV="1">
            <a:off x="4859338" y="5157788"/>
            <a:ext cx="215900" cy="215900"/>
          </a:xfrm>
          <a:prstGeom prst="line">
            <a:avLst/>
          </a:prstGeom>
          <a:ln w="38100" cap="flat" cmpd="sng">
            <a:solidFill>
              <a:srgbClr val="FF9900"/>
            </a:solidFill>
            <a:prstDash val="solid"/>
            <a:headEnd type="none" w="med" len="med"/>
            <a:tailEnd type="arrow" w="med" len="med"/>
          </a:ln>
        </p:spPr>
      </p:sp>
      <p:sp>
        <p:nvSpPr>
          <p:cNvPr id="5130" name="Line 18"/>
          <p:cNvSpPr/>
          <p:nvPr/>
        </p:nvSpPr>
        <p:spPr>
          <a:xfrm flipV="1">
            <a:off x="6659563" y="5157788"/>
            <a:ext cx="215900" cy="215900"/>
          </a:xfrm>
          <a:prstGeom prst="line">
            <a:avLst/>
          </a:prstGeom>
          <a:ln w="38100" cap="flat" cmpd="sng">
            <a:solidFill>
              <a:srgbClr val="FF9900"/>
            </a:solidFill>
            <a:prstDash val="solid"/>
            <a:headEnd type="none" w="med" len="med"/>
            <a:tailEnd type="arrow" w="med" len="med"/>
          </a:ln>
        </p:spPr>
      </p:sp>
      <p:sp>
        <p:nvSpPr>
          <p:cNvPr id="5131" name="AutoShape 19"/>
          <p:cNvSpPr/>
          <p:nvPr/>
        </p:nvSpPr>
        <p:spPr>
          <a:xfrm rot="10800000">
            <a:off x="3779838" y="3644900"/>
            <a:ext cx="936625" cy="288925"/>
          </a:xfrm>
          <a:custGeom>
            <a:avLst/>
            <a:gdLst>
              <a:gd name="txL" fmla="*/ 3375 w 21600"/>
              <a:gd name="txT" fmla="*/ 5400 h 21600"/>
              <a:gd name="txR" fmla="*/ 18900 w 21600"/>
              <a:gd name="txB" fmla="*/ 16200 h 21600"/>
            </a:gdLst>
            <a:ahLst/>
            <a:cxnLst>
              <a:cxn ang="17694720">
                <a:pos x="702469" y="0"/>
              </a:cxn>
              <a:cxn ang="11796480">
                <a:pos x="0" y="144463"/>
              </a:cxn>
              <a:cxn ang="5898240">
                <a:pos x="702469" y="288925"/>
              </a:cxn>
              <a:cxn ang="0">
                <a:pos x="936625" y="144463"/>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alpha val="100000"/>
            </a:scheme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3"/>
          <p:cNvSpPr>
            <a:spLocks noGrp="1"/>
          </p:cNvSpPr>
          <p:nvPr>
            <p:ph type="body" orient="vert" idx="1"/>
          </p:nvPr>
        </p:nvSpPr>
        <p:spPr>
          <a:xfrm>
            <a:off x="685800" y="1052513"/>
            <a:ext cx="7772400" cy="5043487"/>
          </a:xfrm>
          <a:ln/>
        </p:spPr>
        <p:txBody>
          <a:bodyPr vert="horz" wrap="square" lIns="91440" tIns="45720" rIns="91440" bIns="45720" anchor="t" anchorCtr="0"/>
          <a:p>
            <a:pPr marL="0" indent="0" eaLnBrk="1" hangingPunct="1">
              <a:lnSpc>
                <a:spcPct val="90000"/>
              </a:lnSpc>
              <a:buNone/>
            </a:pPr>
            <a:r>
              <a:rPr lang="en-US" altLang="zh-CN" sz="2800" b="1" dirty="0">
                <a:solidFill>
                  <a:srgbClr val="FF0000"/>
                </a:solidFill>
                <a:latin typeface="宋体" panose="02010600030101010101" pitchFamily="2" charset="-122"/>
              </a:rPr>
              <a:t>A</a:t>
            </a:r>
            <a:r>
              <a:rPr lang="zh-CN" altLang="en-US" sz="2800" b="1" dirty="0">
                <a:solidFill>
                  <a:srgbClr val="FF0000"/>
                </a:solidFill>
                <a:latin typeface="宋体" panose="02010600030101010101" pitchFamily="2" charset="-122"/>
              </a:rPr>
              <a:t>、三个重要概念</a:t>
            </a:r>
            <a:endParaRPr lang="zh-CN" altLang="en-US" sz="2400" b="1" dirty="0">
              <a:solidFill>
                <a:srgbClr val="FF0000"/>
              </a:solidFill>
              <a:latin typeface="宋体" panose="02010600030101010101" pitchFamily="2" charset="-122"/>
            </a:endParaRPr>
          </a:p>
          <a:p>
            <a:pPr marL="0" indent="0" eaLnBrk="1" hangingPunct="1">
              <a:lnSpc>
                <a:spcPct val="90000"/>
              </a:lnSpc>
              <a:buNone/>
            </a:pPr>
            <a:endParaRPr lang="zh-CN" altLang="en-US" sz="2000" b="1" dirty="0">
              <a:solidFill>
                <a:srgbClr val="FF0000"/>
              </a:solidFill>
              <a:latin typeface="宋体" panose="02010600030101010101" pitchFamily="2" charset="-122"/>
            </a:endParaRPr>
          </a:p>
          <a:p>
            <a:pPr marL="0" indent="0" eaLnBrk="1" hangingPunct="1">
              <a:lnSpc>
                <a:spcPct val="90000"/>
              </a:lnSpc>
              <a:buNone/>
            </a:pPr>
            <a:r>
              <a:rPr lang="zh-CN" altLang="en-US" sz="2400" b="1" dirty="0">
                <a:solidFill>
                  <a:srgbClr val="FF0000"/>
                </a:solidFill>
                <a:latin typeface="宋体" panose="02010600030101010101" pitchFamily="2" charset="-122"/>
              </a:rPr>
              <a:t>（</a:t>
            </a:r>
            <a:r>
              <a:rPr lang="en-US" altLang="zh-CN" sz="2400" b="1" dirty="0">
                <a:solidFill>
                  <a:srgbClr val="FF0000"/>
                </a:solidFill>
                <a:latin typeface="宋体" panose="02010600030101010101" pitchFamily="2" charset="-122"/>
              </a:rPr>
              <a:t>1</a:t>
            </a:r>
            <a:r>
              <a:rPr lang="zh-CN" altLang="en-US" sz="2400" b="1" dirty="0">
                <a:solidFill>
                  <a:srgbClr val="FF0000"/>
                </a:solidFill>
                <a:latin typeface="宋体" panose="02010600030101010101" pitchFamily="2" charset="-122"/>
              </a:rPr>
              <a:t>）稀缺（</a:t>
            </a:r>
            <a:r>
              <a:rPr lang="en-US" altLang="zh-CN" sz="2400" b="1" dirty="0">
                <a:solidFill>
                  <a:srgbClr val="FF0000"/>
                </a:solidFill>
                <a:latin typeface="宋体" panose="02010600030101010101" pitchFamily="2" charset="-122"/>
              </a:rPr>
              <a:t>scarcity</a:t>
            </a:r>
            <a:r>
              <a:rPr lang="zh-CN" altLang="en-US" sz="2400" b="1" dirty="0">
                <a:solidFill>
                  <a:srgbClr val="FF0000"/>
                </a:solidFill>
                <a:latin typeface="宋体" panose="02010600030101010101" pitchFamily="2" charset="-122"/>
              </a:rPr>
              <a:t>）：</a:t>
            </a:r>
            <a:endParaRPr lang="zh-CN" altLang="en-US" sz="2400" b="1" dirty="0">
              <a:solidFill>
                <a:srgbClr val="FF0000"/>
              </a:solidFill>
              <a:latin typeface="宋体" panose="02010600030101010101" pitchFamily="2" charset="-122"/>
            </a:endParaRPr>
          </a:p>
          <a:p>
            <a:pPr marL="0" indent="0" eaLnBrk="1" hangingPunct="1">
              <a:lnSpc>
                <a:spcPct val="90000"/>
              </a:lnSpc>
              <a:buNone/>
            </a:pPr>
            <a:r>
              <a:rPr lang="zh-CN" altLang="en-US" sz="2000" b="1" dirty="0">
                <a:solidFill>
                  <a:srgbClr val="000000"/>
                </a:solidFill>
                <a:latin typeface="宋体" panose="02010600030101010101" pitchFamily="2" charset="-122"/>
              </a:rPr>
              <a:t>社会资源的有限性，是指社会提供的东西少于人们想拥有的。</a:t>
            </a:r>
            <a:br>
              <a:rPr lang="zh-CN" altLang="en-US" sz="2000" b="1" dirty="0">
                <a:solidFill>
                  <a:srgbClr val="000000"/>
                </a:solidFill>
                <a:latin typeface="宋体" panose="02010600030101010101" pitchFamily="2" charset="-122"/>
              </a:rPr>
            </a:br>
            <a:endParaRPr lang="zh-CN" altLang="en-US" sz="2000" b="1" dirty="0">
              <a:solidFill>
                <a:srgbClr val="000000"/>
              </a:solidFill>
              <a:latin typeface="宋体" panose="02010600030101010101" pitchFamily="2" charset="-122"/>
            </a:endParaRPr>
          </a:p>
          <a:p>
            <a:pPr marL="0" indent="0" eaLnBrk="1" hangingPunct="1">
              <a:lnSpc>
                <a:spcPct val="90000"/>
              </a:lnSpc>
              <a:buNone/>
            </a:pPr>
            <a:r>
              <a:rPr lang="zh-CN" altLang="en-US" sz="2000" b="1" dirty="0">
                <a:solidFill>
                  <a:srgbClr val="000000"/>
                </a:solidFill>
                <a:latin typeface="宋体" panose="02010600030101010101" pitchFamily="2" charset="-122"/>
              </a:rPr>
              <a:t>基本假设： </a:t>
            </a:r>
            <a:endParaRPr lang="zh-CN" altLang="en-US" sz="2000" b="1" dirty="0">
              <a:solidFill>
                <a:srgbClr val="000000"/>
              </a:solidFill>
              <a:latin typeface="宋体" panose="02010600030101010101" pitchFamily="2" charset="-122"/>
            </a:endParaRPr>
          </a:p>
          <a:p>
            <a:pPr marL="0" indent="0" eaLnBrk="1" hangingPunct="1">
              <a:lnSpc>
                <a:spcPct val="90000"/>
              </a:lnSpc>
              <a:buFontTx/>
              <a:buAutoNum type="arabicPeriod"/>
            </a:pPr>
            <a:r>
              <a:rPr lang="zh-CN" altLang="en-US" sz="2000" b="1" dirty="0">
                <a:solidFill>
                  <a:srgbClr val="000000"/>
                </a:solidFill>
                <a:latin typeface="宋体" panose="02010600030101010101" pitchFamily="2" charset="-122"/>
              </a:rPr>
              <a:t>人类的欲望是无穷的</a:t>
            </a:r>
            <a:endParaRPr lang="zh-CN" altLang="en-US" sz="2000" b="1" dirty="0">
              <a:solidFill>
                <a:srgbClr val="000000"/>
              </a:solidFill>
              <a:latin typeface="宋体" panose="02010600030101010101" pitchFamily="2" charset="-122"/>
            </a:endParaRPr>
          </a:p>
          <a:p>
            <a:pPr marL="0" indent="0" eaLnBrk="1" hangingPunct="1">
              <a:lnSpc>
                <a:spcPct val="90000"/>
              </a:lnSpc>
              <a:buFontTx/>
              <a:buAutoNum type="arabicPeriod"/>
            </a:pPr>
            <a:r>
              <a:rPr lang="zh-CN" altLang="en-US" sz="2000" b="1" dirty="0">
                <a:solidFill>
                  <a:srgbClr val="000000"/>
                </a:solidFill>
                <a:latin typeface="宋体" panose="02010600030101010101" pitchFamily="2" charset="-122"/>
              </a:rPr>
              <a:t>资源是有限的</a:t>
            </a:r>
            <a:br>
              <a:rPr lang="zh-CN" altLang="en-US" sz="2000" b="1" dirty="0">
                <a:solidFill>
                  <a:srgbClr val="000000"/>
                </a:solidFill>
                <a:latin typeface="宋体" panose="02010600030101010101" pitchFamily="2" charset="-122"/>
              </a:rPr>
            </a:br>
            <a:endParaRPr lang="zh-CN" altLang="en-US" sz="2000" b="1" dirty="0">
              <a:solidFill>
                <a:srgbClr val="000000"/>
              </a:solidFill>
              <a:latin typeface="宋体" panose="02010600030101010101" pitchFamily="2" charset="-122"/>
            </a:endParaRPr>
          </a:p>
          <a:p>
            <a:pPr marL="0" indent="0" eaLnBrk="1" hangingPunct="1">
              <a:lnSpc>
                <a:spcPct val="90000"/>
              </a:lnSpc>
              <a:buNone/>
            </a:pPr>
            <a:r>
              <a:rPr lang="zh-CN" altLang="en-US" sz="2000" b="1" dirty="0">
                <a:solidFill>
                  <a:srgbClr val="000000"/>
                </a:solidFill>
                <a:latin typeface="宋体" panose="02010600030101010101" pitchFamily="2" charset="-122"/>
              </a:rPr>
              <a:t>生产要素：  </a:t>
            </a:r>
            <a:endParaRPr lang="zh-CN" altLang="en-US" sz="2000" b="1" dirty="0">
              <a:solidFill>
                <a:srgbClr val="000000"/>
              </a:solidFill>
              <a:latin typeface="宋体" panose="02010600030101010101" pitchFamily="2" charset="-122"/>
            </a:endParaRPr>
          </a:p>
          <a:p>
            <a:pPr marL="0" indent="0" eaLnBrk="1" hangingPunct="1">
              <a:lnSpc>
                <a:spcPct val="90000"/>
              </a:lnSpc>
              <a:buFontTx/>
              <a:buAutoNum type="arabicPeriod"/>
            </a:pPr>
            <a:r>
              <a:rPr lang="zh-CN" altLang="en-US" sz="2000" b="1" dirty="0">
                <a:solidFill>
                  <a:srgbClr val="000000"/>
                </a:solidFill>
                <a:latin typeface="宋体" panose="02010600030101010101" pitchFamily="2" charset="-122"/>
              </a:rPr>
              <a:t>劳动  体力</a:t>
            </a:r>
            <a:r>
              <a:rPr lang="en-US" altLang="zh-CN" sz="2000" b="1" dirty="0">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脑力</a:t>
            </a:r>
            <a:endParaRPr lang="zh-CN" altLang="en-US" sz="2000" b="1" dirty="0">
              <a:solidFill>
                <a:srgbClr val="000000"/>
              </a:solidFill>
              <a:latin typeface="宋体" panose="02010600030101010101" pitchFamily="2" charset="-122"/>
            </a:endParaRPr>
          </a:p>
          <a:p>
            <a:pPr marL="0" indent="0" eaLnBrk="1" hangingPunct="1">
              <a:lnSpc>
                <a:spcPct val="90000"/>
              </a:lnSpc>
              <a:buFontTx/>
              <a:buAutoNum type="arabicPeriod"/>
            </a:pPr>
            <a:r>
              <a:rPr lang="zh-CN" altLang="en-US" sz="2000" b="1" dirty="0">
                <a:solidFill>
                  <a:srgbClr val="000000"/>
                </a:solidFill>
                <a:latin typeface="宋体" panose="02010600030101010101" pitchFamily="2" charset="-122"/>
              </a:rPr>
              <a:t>土地（自然资源）</a:t>
            </a:r>
            <a:endParaRPr lang="zh-CN" altLang="en-US" sz="2000" b="1" dirty="0">
              <a:solidFill>
                <a:srgbClr val="000000"/>
              </a:solidFill>
              <a:latin typeface="宋体" panose="02010600030101010101" pitchFamily="2" charset="-122"/>
            </a:endParaRPr>
          </a:p>
          <a:p>
            <a:pPr marL="0" indent="0" eaLnBrk="1" hangingPunct="1">
              <a:lnSpc>
                <a:spcPct val="90000"/>
              </a:lnSpc>
              <a:buFontTx/>
              <a:buAutoNum type="arabicPeriod"/>
            </a:pPr>
            <a:r>
              <a:rPr lang="zh-CN" altLang="en-US" sz="2000" b="1" dirty="0">
                <a:solidFill>
                  <a:srgbClr val="000000"/>
                </a:solidFill>
                <a:latin typeface="宋体" panose="02010600030101010101" pitchFamily="2" charset="-122"/>
              </a:rPr>
              <a:t>资本</a:t>
            </a:r>
            <a:endParaRPr lang="zh-CN" altLang="en-US" sz="2000" b="1" dirty="0">
              <a:solidFill>
                <a:srgbClr val="000000"/>
              </a:solidFill>
              <a:latin typeface="宋体" panose="02010600030101010101" pitchFamily="2" charset="-122"/>
            </a:endParaRPr>
          </a:p>
          <a:p>
            <a:pPr marL="0" indent="0" eaLnBrk="1" hangingPunct="1">
              <a:lnSpc>
                <a:spcPct val="90000"/>
              </a:lnSpc>
              <a:buFontTx/>
              <a:buAutoNum type="arabicPeriod"/>
            </a:pPr>
            <a:r>
              <a:rPr lang="zh-CN" altLang="en-US" sz="2000" b="1" dirty="0">
                <a:solidFill>
                  <a:srgbClr val="000000"/>
                </a:solidFill>
                <a:latin typeface="宋体" panose="02010600030101010101" pitchFamily="2" charset="-122"/>
              </a:rPr>
              <a:t>企业家精神和才能</a:t>
            </a:r>
            <a:endParaRPr lang="zh-CN" altLang="en-US" sz="2000" b="1" dirty="0">
              <a:solidFill>
                <a:srgbClr val="000000"/>
              </a:solidFill>
              <a:latin typeface="宋体" panose="02010600030101010101" pitchFamily="2" charset="-122"/>
            </a:endParaRPr>
          </a:p>
        </p:txBody>
      </p:sp>
      <p:sp>
        <p:nvSpPr>
          <p:cNvPr id="6147" name="Rectangle 4"/>
          <p:cNvSpPr>
            <a:spLocks noGrp="1"/>
          </p:cNvSpPr>
          <p:nvPr>
            <p:ph type="title"/>
          </p:nvPr>
        </p:nvSpPr>
        <p:spPr>
          <a:xfrm>
            <a:off x="684213" y="0"/>
            <a:ext cx="7772400" cy="1143000"/>
          </a:xfrm>
          <a:ln/>
        </p:spPr>
        <p:txBody>
          <a:bodyPr vert="horz" wrap="square" lIns="91440" tIns="45720" rIns="91440" bIns="45720" anchor="ctr" anchorCtr="0"/>
          <a:p>
            <a:pPr eaLnBrk="1" hangingPunct="1"/>
            <a:br>
              <a:rPr lang="en-US" altLang="zh-CN" sz="3600" b="1" dirty="0">
                <a:solidFill>
                  <a:srgbClr val="FF0000"/>
                </a:solidFill>
                <a:latin typeface="楷体_GB2312" pitchFamily="49" charset="-122"/>
                <a:ea typeface="楷体_GB2312" pitchFamily="49" charset="-122"/>
              </a:rPr>
            </a:br>
            <a:r>
              <a:rPr lang="zh-CN" altLang="en-US" sz="3600" b="1" dirty="0">
                <a:solidFill>
                  <a:srgbClr val="FF0000"/>
                </a:solidFill>
                <a:latin typeface="宋体" panose="02010600030101010101" pitchFamily="2" charset="-122"/>
              </a:rPr>
              <a:t>一</a:t>
            </a:r>
            <a:r>
              <a:rPr lang="en-US" altLang="zh-CN" sz="3600" b="1" dirty="0">
                <a:solidFill>
                  <a:srgbClr val="FF0000"/>
                </a:solidFill>
                <a:latin typeface="宋体" panose="02010600030101010101" pitchFamily="2" charset="-122"/>
              </a:rPr>
              <a:t>.</a:t>
            </a:r>
            <a:r>
              <a:rPr lang="zh-CN" altLang="en-US" sz="3600" b="1" dirty="0">
                <a:solidFill>
                  <a:srgbClr val="FF0000"/>
                </a:solidFill>
                <a:latin typeface="宋体" panose="02010600030101010101" pitchFamily="2" charset="-122"/>
              </a:rPr>
              <a:t>基本经济问题</a:t>
            </a:r>
            <a:br>
              <a:rPr lang="zh-CN" altLang="en-US" dirty="0">
                <a:solidFill>
                  <a:schemeClr val="tx1"/>
                </a:solidFill>
                <a:latin typeface="宋体" panose="02010600030101010101" pitchFamily="2" charset="-122"/>
              </a:rPr>
            </a:br>
            <a:endParaRPr lang="zh-CN" altLang="en-US" dirty="0">
              <a:solidFill>
                <a:schemeClr val="tx1"/>
              </a:solidFill>
              <a:latin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a:xfrm>
            <a:off x="684213" y="981075"/>
            <a:ext cx="7773987" cy="5256213"/>
          </a:xfrm>
          <a:ln/>
        </p:spPr>
        <p:txBody>
          <a:bodyPr vert="horz" wrap="square" lIns="91440" tIns="45720" rIns="91440" bIns="45720" anchor="ctr" anchorCtr="0"/>
          <a:p>
            <a:pPr algn="l" eaLnBrk="1" hangingPunct="1"/>
            <a:r>
              <a:rPr lang="en-US" altLang="zh-CN" sz="2800" b="1" dirty="0">
                <a:solidFill>
                  <a:srgbClr val="FF0000"/>
                </a:solidFill>
                <a:latin typeface="宋体" panose="02010600030101010101" pitchFamily="2" charset="-122"/>
              </a:rPr>
              <a:t>A</a:t>
            </a:r>
            <a:r>
              <a:rPr lang="zh-CN" altLang="en-US" sz="2800" b="1" dirty="0">
                <a:solidFill>
                  <a:srgbClr val="FF0000"/>
                </a:solidFill>
                <a:latin typeface="宋体" panose="02010600030101010101" pitchFamily="2" charset="-122"/>
              </a:rPr>
              <a:t>、三个重要概念</a:t>
            </a:r>
            <a:br>
              <a:rPr lang="zh-CN" altLang="en-US" sz="2800" b="1" dirty="0">
                <a:solidFill>
                  <a:srgbClr val="FF0000"/>
                </a:solidFill>
                <a:latin typeface="宋体" panose="02010600030101010101" pitchFamily="2" charset="-122"/>
              </a:rPr>
            </a:br>
            <a:br>
              <a:rPr lang="zh-CN" altLang="en-US" sz="2000" b="1" dirty="0">
                <a:solidFill>
                  <a:srgbClr val="FF0000"/>
                </a:solidFill>
                <a:latin typeface="宋体" panose="02010600030101010101" pitchFamily="2" charset="-122"/>
              </a:rPr>
            </a:br>
            <a:r>
              <a:rPr lang="zh-CN" altLang="en-US" sz="2400" b="1" dirty="0">
                <a:solidFill>
                  <a:srgbClr val="FF0000"/>
                </a:solidFill>
                <a:latin typeface="宋体" panose="02010600030101010101" pitchFamily="2" charset="-122"/>
              </a:rPr>
              <a:t>（</a:t>
            </a:r>
            <a:r>
              <a:rPr lang="en-US" altLang="zh-CN" sz="2400" b="1" dirty="0">
                <a:solidFill>
                  <a:srgbClr val="FF0000"/>
                </a:solidFill>
                <a:latin typeface="宋体" panose="02010600030101010101" pitchFamily="2" charset="-122"/>
              </a:rPr>
              <a:t>2</a:t>
            </a:r>
            <a:r>
              <a:rPr lang="zh-CN" altLang="en-US" sz="2400" b="1" dirty="0">
                <a:solidFill>
                  <a:srgbClr val="FF0000"/>
                </a:solidFill>
                <a:latin typeface="宋体" panose="02010600030101010101" pitchFamily="2" charset="-122"/>
              </a:rPr>
              <a:t>）选择</a:t>
            </a:r>
            <a:r>
              <a:rPr lang="en-US" altLang="zh-CN" sz="2400" b="1" dirty="0">
                <a:solidFill>
                  <a:srgbClr val="FF0000"/>
                </a:solidFill>
                <a:latin typeface="宋体" panose="02010600030101010101" pitchFamily="2" charset="-122"/>
              </a:rPr>
              <a:t>(Choice):</a:t>
            </a:r>
            <a:br>
              <a:rPr lang="en-US" altLang="zh-CN" sz="2400" b="1" dirty="0">
                <a:solidFill>
                  <a:srgbClr val="FF0000"/>
                </a:solidFill>
                <a:latin typeface="宋体" panose="02010600030101010101" pitchFamily="2" charset="-122"/>
              </a:rPr>
            </a:br>
            <a:r>
              <a:rPr lang="zh-CN" altLang="en-US" sz="2400" b="1" dirty="0">
                <a:solidFill>
                  <a:srgbClr val="000000"/>
                </a:solidFill>
                <a:latin typeface="宋体" panose="02010600030101010101" pitchFamily="2" charset="-122"/>
              </a:rPr>
              <a:t>因为稀缺，人们不能得到所有想要的东西，不得不在有限的资源下作出选择。这是稀缺的结果。</a:t>
            </a:r>
            <a:br>
              <a:rPr lang="zh-CN" altLang="en-US" sz="2400" b="1" dirty="0">
                <a:solidFill>
                  <a:srgbClr val="000000"/>
                </a:solidFill>
                <a:latin typeface="宋体" panose="02010600030101010101" pitchFamily="2" charset="-122"/>
              </a:rPr>
            </a:br>
            <a:br>
              <a:rPr lang="zh-CN" altLang="en-US" sz="3600" b="1" dirty="0">
                <a:solidFill>
                  <a:srgbClr val="000000"/>
                </a:solidFill>
                <a:latin typeface="宋体" panose="02010600030101010101" pitchFamily="2" charset="-122"/>
              </a:rPr>
            </a:br>
            <a:br>
              <a:rPr lang="zh-CN" altLang="en-US" sz="3600" b="1" dirty="0">
                <a:latin typeface="宋体" panose="02010600030101010101" pitchFamily="2" charset="-122"/>
              </a:rPr>
            </a:br>
            <a:br>
              <a:rPr lang="zh-CN" altLang="en-US" sz="3600" b="1" dirty="0">
                <a:latin typeface="宋体" panose="02010600030101010101" pitchFamily="2" charset="-122"/>
              </a:rPr>
            </a:br>
            <a:endParaRPr lang="zh-CN" altLang="en-US" sz="3600" b="1" dirty="0">
              <a:latin typeface="宋体" panose="02010600030101010101" pitchFamily="2" charset="-122"/>
            </a:endParaRPr>
          </a:p>
        </p:txBody>
      </p:sp>
      <p:sp>
        <p:nvSpPr>
          <p:cNvPr id="7171" name="Rectangle 4"/>
          <p:cNvSpPr/>
          <p:nvPr/>
        </p:nvSpPr>
        <p:spPr>
          <a:xfrm>
            <a:off x="684213" y="0"/>
            <a:ext cx="7772400" cy="1143000"/>
          </a:xfrm>
          <a:prstGeom prst="rect">
            <a:avLst/>
          </a:prstGeom>
          <a:noFill/>
          <a:ln w="9525">
            <a:noFill/>
          </a:ln>
        </p:spPr>
        <p:txBody>
          <a:bodyPr anchor="ctr" anchorCtr="0"/>
          <a:p>
            <a:pPr algn="ctr">
              <a:lnSpc>
                <a:spcPct val="100000"/>
              </a:lnSpc>
              <a:spcBef>
                <a:spcPct val="0"/>
              </a:spcBef>
              <a:buNone/>
            </a:pPr>
            <a:br>
              <a:rPr lang="en-US" altLang="zh-CN" sz="3600" dirty="0">
                <a:solidFill>
                  <a:srgbClr val="FF0000"/>
                </a:solidFill>
                <a:latin typeface="楷体_GB2312" pitchFamily="49" charset="-122"/>
                <a:ea typeface="楷体_GB2312" pitchFamily="49" charset="-122"/>
              </a:rPr>
            </a:br>
            <a:r>
              <a:rPr lang="zh-CN" altLang="en-US" sz="3600" dirty="0">
                <a:solidFill>
                  <a:srgbClr val="FF0000"/>
                </a:solidFill>
                <a:latin typeface="宋体" panose="02010600030101010101" pitchFamily="2" charset="-122"/>
              </a:rPr>
              <a:t>一</a:t>
            </a:r>
            <a:r>
              <a:rPr lang="en-US" altLang="zh-CN" sz="3600" dirty="0">
                <a:solidFill>
                  <a:srgbClr val="FF0000"/>
                </a:solidFill>
                <a:latin typeface="宋体" panose="02010600030101010101" pitchFamily="2" charset="-122"/>
              </a:rPr>
              <a:t>.</a:t>
            </a:r>
            <a:r>
              <a:rPr lang="zh-CN" altLang="en-US" sz="3600" dirty="0">
                <a:solidFill>
                  <a:srgbClr val="FF0000"/>
                </a:solidFill>
                <a:latin typeface="宋体" panose="02010600030101010101" pitchFamily="2" charset="-122"/>
              </a:rPr>
              <a:t>基本经济问题</a:t>
            </a:r>
            <a:br>
              <a:rPr lang="zh-CN" altLang="en-US" sz="4400" b="0" dirty="0">
                <a:latin typeface="宋体" panose="02010600030101010101" pitchFamily="2" charset="-122"/>
              </a:rPr>
            </a:br>
            <a:endParaRPr lang="zh-CN" altLang="en-US" sz="4400" b="0" dirty="0">
              <a:latin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a:xfrm>
            <a:off x="684213" y="981075"/>
            <a:ext cx="7773987" cy="5616575"/>
          </a:xfrm>
          <a:ln/>
        </p:spPr>
        <p:txBody>
          <a:bodyPr vert="horz" wrap="square" lIns="91440" tIns="45720" rIns="91440" bIns="45720" anchor="ctr" anchorCtr="0"/>
          <a:p>
            <a:pPr algn="l" eaLnBrk="1" hangingPunct="1"/>
            <a:r>
              <a:rPr lang="en-US" altLang="zh-CN" sz="2800" b="1" dirty="0">
                <a:solidFill>
                  <a:srgbClr val="FF0000"/>
                </a:solidFill>
                <a:latin typeface="宋体" panose="02010600030101010101" pitchFamily="2" charset="-122"/>
              </a:rPr>
              <a:t>A</a:t>
            </a:r>
            <a:r>
              <a:rPr lang="zh-CN" altLang="en-US" sz="2800" b="1" dirty="0">
                <a:solidFill>
                  <a:srgbClr val="FF0000"/>
                </a:solidFill>
                <a:latin typeface="宋体" panose="02010600030101010101" pitchFamily="2" charset="-122"/>
              </a:rPr>
              <a:t>、三个重要概念</a:t>
            </a:r>
            <a:br>
              <a:rPr lang="zh-CN" altLang="en-US" sz="2800" b="1" dirty="0">
                <a:solidFill>
                  <a:srgbClr val="FF0000"/>
                </a:solidFill>
                <a:latin typeface="宋体" panose="02010600030101010101" pitchFamily="2" charset="-122"/>
              </a:rPr>
            </a:br>
            <a:br>
              <a:rPr lang="zh-CN" altLang="en-US" sz="2000" b="1" dirty="0">
                <a:solidFill>
                  <a:srgbClr val="FF0000"/>
                </a:solidFill>
                <a:latin typeface="宋体" panose="02010600030101010101" pitchFamily="2" charset="-122"/>
              </a:rPr>
            </a:br>
            <a:r>
              <a:rPr lang="zh-CN" altLang="en-US" sz="2400" b="1" dirty="0">
                <a:solidFill>
                  <a:srgbClr val="FF0000"/>
                </a:solidFill>
                <a:latin typeface="宋体" panose="02010600030101010101" pitchFamily="2" charset="-122"/>
              </a:rPr>
              <a:t>（</a:t>
            </a:r>
            <a:r>
              <a:rPr lang="en-US" altLang="zh-CN" sz="2400" b="1" dirty="0">
                <a:solidFill>
                  <a:srgbClr val="FF0000"/>
                </a:solidFill>
                <a:latin typeface="宋体" panose="02010600030101010101" pitchFamily="2" charset="-122"/>
              </a:rPr>
              <a:t>3</a:t>
            </a:r>
            <a:r>
              <a:rPr lang="zh-CN" altLang="en-US" sz="2400" b="1" dirty="0">
                <a:solidFill>
                  <a:srgbClr val="FF0000"/>
                </a:solidFill>
                <a:latin typeface="宋体" panose="02010600030101010101" pitchFamily="2" charset="-122"/>
              </a:rPr>
              <a:t>）机会成本</a:t>
            </a:r>
            <a:r>
              <a:rPr lang="en-US" altLang="zh-CN" sz="2400" b="1" dirty="0">
                <a:solidFill>
                  <a:srgbClr val="FF0000"/>
                </a:solidFill>
                <a:latin typeface="宋体" panose="02010600030101010101" pitchFamily="2" charset="-122"/>
              </a:rPr>
              <a:t>(Opportunity Cost):</a:t>
            </a:r>
            <a:br>
              <a:rPr lang="en-US" altLang="zh-CN" sz="2400" b="1" dirty="0">
                <a:solidFill>
                  <a:srgbClr val="FF0000"/>
                </a:solidFill>
                <a:latin typeface="宋体" panose="02010600030101010101" pitchFamily="2" charset="-122"/>
              </a:rPr>
            </a:br>
            <a:r>
              <a:rPr lang="zh-CN" altLang="en-US" sz="2400" b="1" dirty="0">
                <a:latin typeface="宋体" panose="02010600030101010101" pitchFamily="2" charset="-122"/>
              </a:rPr>
              <a:t>为了得到某种东西所必须放弃的东西。</a:t>
            </a:r>
            <a:br>
              <a:rPr lang="zh-CN" altLang="en-US" sz="2400" b="1" dirty="0">
                <a:latin typeface="宋体" panose="02010600030101010101" pitchFamily="2" charset="-122"/>
              </a:rPr>
            </a:br>
            <a:r>
              <a:rPr lang="zh-CN" altLang="en-US" sz="2400" b="1" dirty="0">
                <a:solidFill>
                  <a:srgbClr val="FF0000"/>
                </a:solidFill>
              </a:rPr>
              <a:t>机会成本：</a:t>
            </a:r>
            <a:r>
              <a:rPr lang="zh-CN" altLang="en-US" sz="2400" b="1" dirty="0"/>
              <a:t>作出一项决策时，所放弃其它可供选择的最好用途</a:t>
            </a:r>
            <a:r>
              <a:rPr lang="zh-CN" altLang="en-US" sz="2400" b="1" dirty="0">
                <a:latin typeface="宋体" panose="02010600030101010101" pitchFamily="2" charset="-122"/>
              </a:rPr>
              <a:t>。</a:t>
            </a:r>
            <a:r>
              <a:rPr lang="zh-CN" altLang="en-US" sz="2800" b="1" dirty="0">
                <a:solidFill>
                  <a:srgbClr val="FF0000"/>
                </a:solidFill>
                <a:latin typeface="宋体" panose="02010600030101010101" pitchFamily="2" charset="-122"/>
              </a:rPr>
              <a:t> </a:t>
            </a:r>
            <a:br>
              <a:rPr lang="zh-CN" altLang="en-US" sz="4000" b="1" dirty="0">
                <a:latin typeface="宋体" panose="02010600030101010101" pitchFamily="2" charset="-122"/>
              </a:rPr>
            </a:br>
            <a:br>
              <a:rPr lang="zh-CN" altLang="en-US" sz="4000" b="1" dirty="0">
                <a:latin typeface="宋体" panose="02010600030101010101" pitchFamily="2" charset="-122"/>
              </a:rPr>
            </a:br>
            <a:br>
              <a:rPr lang="zh-CN" altLang="en-US" sz="4000" b="1" dirty="0">
                <a:latin typeface="宋体" panose="02010600030101010101" pitchFamily="2" charset="-122"/>
              </a:rPr>
            </a:br>
            <a:br>
              <a:rPr lang="zh-CN" altLang="en-US" sz="4000" b="1" dirty="0">
                <a:latin typeface="宋体" panose="02010600030101010101" pitchFamily="2" charset="-122"/>
              </a:rPr>
            </a:br>
            <a:br>
              <a:rPr lang="zh-CN" altLang="en-US" sz="4000" b="1" dirty="0">
                <a:latin typeface="宋体" panose="02010600030101010101" pitchFamily="2" charset="-122"/>
              </a:rPr>
            </a:br>
            <a:endParaRPr lang="zh-CN" altLang="en-US" sz="4000" b="1" dirty="0">
              <a:latin typeface="宋体" panose="02010600030101010101" pitchFamily="2" charset="-122"/>
            </a:endParaRPr>
          </a:p>
        </p:txBody>
      </p:sp>
      <p:sp>
        <p:nvSpPr>
          <p:cNvPr id="8195" name="Rectangle 3"/>
          <p:cNvSpPr/>
          <p:nvPr/>
        </p:nvSpPr>
        <p:spPr>
          <a:xfrm>
            <a:off x="684213" y="0"/>
            <a:ext cx="7772400" cy="1143000"/>
          </a:xfrm>
          <a:prstGeom prst="rect">
            <a:avLst/>
          </a:prstGeom>
          <a:noFill/>
          <a:ln w="9525">
            <a:noFill/>
          </a:ln>
        </p:spPr>
        <p:txBody>
          <a:bodyPr anchor="ctr" anchorCtr="0"/>
          <a:p>
            <a:pPr algn="ctr">
              <a:lnSpc>
                <a:spcPct val="100000"/>
              </a:lnSpc>
              <a:spcBef>
                <a:spcPct val="0"/>
              </a:spcBef>
              <a:buNone/>
            </a:pPr>
            <a:br>
              <a:rPr lang="en-US" altLang="zh-CN" sz="3600" dirty="0">
                <a:solidFill>
                  <a:srgbClr val="FF0000"/>
                </a:solidFill>
                <a:latin typeface="楷体_GB2312" pitchFamily="49" charset="-122"/>
                <a:ea typeface="楷体_GB2312" pitchFamily="49" charset="-122"/>
              </a:rPr>
            </a:br>
            <a:r>
              <a:rPr lang="zh-CN" altLang="en-US" sz="3600" dirty="0">
                <a:solidFill>
                  <a:srgbClr val="FF0000"/>
                </a:solidFill>
                <a:latin typeface="宋体" panose="02010600030101010101" pitchFamily="2" charset="-122"/>
              </a:rPr>
              <a:t>一</a:t>
            </a:r>
            <a:r>
              <a:rPr lang="en-US" altLang="zh-CN" sz="3600" dirty="0">
                <a:solidFill>
                  <a:srgbClr val="FF0000"/>
                </a:solidFill>
                <a:latin typeface="宋体" panose="02010600030101010101" pitchFamily="2" charset="-122"/>
              </a:rPr>
              <a:t>.</a:t>
            </a:r>
            <a:r>
              <a:rPr lang="zh-CN" altLang="en-US" sz="3600" dirty="0">
                <a:solidFill>
                  <a:srgbClr val="FF0000"/>
                </a:solidFill>
                <a:latin typeface="宋体" panose="02010600030101010101" pitchFamily="2" charset="-122"/>
              </a:rPr>
              <a:t>基本经济问题</a:t>
            </a:r>
            <a:br>
              <a:rPr lang="zh-CN" altLang="en-US" sz="4400" b="0" dirty="0">
                <a:latin typeface="宋体" panose="02010600030101010101" pitchFamily="2" charset="-122"/>
              </a:rPr>
            </a:br>
            <a:endParaRPr lang="zh-CN" altLang="en-US" sz="4400" b="0" dirty="0">
              <a:latin typeface="宋体" panose="02010600030101010101" pitchFamily="2" charset="-122"/>
            </a:endParaRPr>
          </a:p>
        </p:txBody>
      </p:sp>
      <p:sp>
        <p:nvSpPr>
          <p:cNvPr id="8196" name="AutoShape 5"/>
          <p:cNvSpPr/>
          <p:nvPr/>
        </p:nvSpPr>
        <p:spPr>
          <a:xfrm>
            <a:off x="7596188" y="188913"/>
            <a:ext cx="1296987" cy="647700"/>
          </a:xfrm>
          <a:prstGeom prst="roundRect">
            <a:avLst>
              <a:gd name="adj" fmla="val 16667"/>
            </a:avLst>
          </a:prstGeom>
          <a:noFill/>
          <a:ln w="9525">
            <a:noFill/>
          </a:ln>
        </p:spPr>
        <p:txBody>
          <a:bodyPr wrap="none" anchor="ctr" anchorCtr="0"/>
          <a:p>
            <a:endParaRPr lang="zh-CN" altLang="en-US" dirty="0">
              <a:latin typeface="宋体" panose="02010600030101010101" pitchFamily="2" charset="-122"/>
            </a:endParaRPr>
          </a:p>
        </p:txBody>
      </p:sp>
      <p:sp>
        <p:nvSpPr>
          <p:cNvPr id="27654" name="AutoShape 6"/>
          <p:cNvSpPr>
            <a:spLocks noChangeArrowheads="1"/>
          </p:cNvSpPr>
          <p:nvPr/>
        </p:nvSpPr>
        <p:spPr bwMode="auto">
          <a:xfrm>
            <a:off x="4140200" y="3141663"/>
            <a:ext cx="1655763" cy="576263"/>
          </a:xfrm>
          <a:prstGeom prst="roundRect">
            <a:avLst>
              <a:gd name="adj" fmla="val 16667"/>
            </a:avLst>
          </a:prstGeom>
          <a:gradFill rotWithShape="1">
            <a:gsLst>
              <a:gs pos="0">
                <a:schemeClr val="accent1">
                  <a:gamma/>
                  <a:tint val="73725"/>
                  <a:invGamma/>
                </a:schemeClr>
              </a:gs>
              <a:gs pos="100000">
                <a:schemeClr val="accent1"/>
              </a:gs>
            </a:gsLst>
            <a:lin ang="18900000" scaled="1"/>
          </a:gradFill>
          <a:ln w="9525" algn="ctr">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609600" marR="0" lvl="0" indent="-609600" algn="ctr" defTabSz="914400" rtl="0" eaLnBrk="1" fontAlgn="base" latinLnBrk="0" hangingPunct="1">
              <a:lnSpc>
                <a:spcPct val="90000"/>
              </a:lnSpc>
              <a:spcBef>
                <a:spcPct val="20000"/>
              </a:spcBef>
              <a:spcAft>
                <a:spcPct val="0"/>
              </a:spcAft>
              <a:buClrTx/>
              <a:buSzTx/>
              <a:buFontTx/>
              <a:buNone/>
              <a:defRPr/>
            </a:pPr>
            <a:r>
              <a:rPr kumimoji="1" lang="zh-CN" altLang="en-US" sz="2000" b="0"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rPr>
              <a:t>稀缺</a:t>
            </a:r>
            <a:endParaRPr kumimoji="1" lang="zh-CN" altLang="en-US" sz="2000" b="0"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27655" name="AutoShape 7"/>
          <p:cNvSpPr>
            <a:spLocks noChangeArrowheads="1"/>
          </p:cNvSpPr>
          <p:nvPr/>
        </p:nvSpPr>
        <p:spPr bwMode="auto">
          <a:xfrm>
            <a:off x="4140200" y="4508500"/>
            <a:ext cx="1655763" cy="576263"/>
          </a:xfrm>
          <a:prstGeom prst="roundRect">
            <a:avLst>
              <a:gd name="adj" fmla="val 16667"/>
            </a:avLst>
          </a:prstGeom>
          <a:gradFill rotWithShape="1">
            <a:gsLst>
              <a:gs pos="0">
                <a:schemeClr val="accent1">
                  <a:gamma/>
                  <a:tint val="73725"/>
                  <a:invGamma/>
                </a:schemeClr>
              </a:gs>
              <a:gs pos="100000">
                <a:schemeClr val="accent1"/>
              </a:gs>
            </a:gsLst>
            <a:lin ang="18900000" scaled="1"/>
          </a:gradFill>
          <a:ln w="9525" algn="ctr">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609600" marR="0" lvl="0" indent="-609600" algn="ctr" defTabSz="914400" rtl="0" eaLnBrk="1" fontAlgn="base" latinLnBrk="0" hangingPunct="1">
              <a:lnSpc>
                <a:spcPct val="90000"/>
              </a:lnSpc>
              <a:spcBef>
                <a:spcPct val="20000"/>
              </a:spcBef>
              <a:spcAft>
                <a:spcPct val="0"/>
              </a:spcAft>
              <a:buClrTx/>
              <a:buSzTx/>
              <a:buFontTx/>
              <a:buNone/>
              <a:defRPr/>
            </a:pPr>
            <a:r>
              <a:rPr kumimoji="1" lang="zh-CN" altLang="en-US" sz="2000" b="0"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rPr>
              <a:t>选择</a:t>
            </a:r>
            <a:endParaRPr kumimoji="1" lang="zh-CN" altLang="en-US" sz="2000" b="0" i="0" u="none" strike="noStrike" kern="1200" cap="none" spc="0" normalizeH="0" baseline="0" noProof="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27656" name="AutoShape 8"/>
          <p:cNvSpPr>
            <a:spLocks noChangeArrowheads="1"/>
          </p:cNvSpPr>
          <p:nvPr/>
        </p:nvSpPr>
        <p:spPr bwMode="auto">
          <a:xfrm>
            <a:off x="4140200" y="5876925"/>
            <a:ext cx="1655763" cy="576263"/>
          </a:xfrm>
          <a:prstGeom prst="roundRect">
            <a:avLst>
              <a:gd name="adj" fmla="val 16667"/>
            </a:avLst>
          </a:prstGeom>
          <a:gradFill rotWithShape="1">
            <a:gsLst>
              <a:gs pos="0">
                <a:schemeClr val="accent1">
                  <a:gamma/>
                  <a:tint val="73725"/>
                  <a:invGamma/>
                </a:schemeClr>
              </a:gs>
              <a:gs pos="100000">
                <a:schemeClr val="accent1"/>
              </a:gs>
            </a:gsLst>
            <a:lin ang="18900000" scaled="1"/>
          </a:gradFill>
          <a:ln w="9525" algn="ctr">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609600" marR="0" lvl="0" indent="-609600" algn="ctr" defTabSz="914400" rtl="0" eaLnBrk="1" fontAlgn="base" latinLnBrk="0" hangingPunct="1">
              <a:lnSpc>
                <a:spcPct val="90000"/>
              </a:lnSpc>
              <a:spcBef>
                <a:spcPct val="20000"/>
              </a:spcBef>
              <a:spcAft>
                <a:spcPct val="0"/>
              </a:spcAft>
              <a:buClrTx/>
              <a:buSzTx/>
              <a:buFontTx/>
              <a:buNone/>
              <a:defRPr/>
            </a:pPr>
            <a:r>
              <a:rPr kumimoji="1" lang="zh-CN" altLang="en-US" sz="2000" b="0"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机会成本</a:t>
            </a:r>
            <a:endParaRPr kumimoji="1" lang="zh-CN" altLang="en-US" sz="2000" b="0"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8200" name="AutoShape 9"/>
          <p:cNvSpPr/>
          <p:nvPr/>
        </p:nvSpPr>
        <p:spPr>
          <a:xfrm>
            <a:off x="4643438" y="3789363"/>
            <a:ext cx="649287" cy="647700"/>
          </a:xfrm>
          <a:prstGeom prst="down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宋体" panose="02010600030101010101" pitchFamily="2" charset="-122"/>
            </a:endParaRPr>
          </a:p>
        </p:txBody>
      </p:sp>
      <p:sp>
        <p:nvSpPr>
          <p:cNvPr id="8201" name="AutoShape 10"/>
          <p:cNvSpPr/>
          <p:nvPr/>
        </p:nvSpPr>
        <p:spPr>
          <a:xfrm>
            <a:off x="4643438" y="5157788"/>
            <a:ext cx="649287" cy="647700"/>
          </a:xfrm>
          <a:prstGeom prst="down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p:nvPr>
        </p:nvSpPr>
        <p:spPr>
          <a:xfrm>
            <a:off x="684213" y="1268413"/>
            <a:ext cx="7772400" cy="1143000"/>
          </a:xfrm>
          <a:ln/>
        </p:spPr>
        <p:txBody>
          <a:bodyPr vert="horz" wrap="square" lIns="91440" tIns="45720" rIns="91440" bIns="45720" anchor="ctr" anchorCtr="0"/>
          <a:p>
            <a:pPr algn="l" eaLnBrk="1" hangingPunct="1"/>
            <a:r>
              <a:rPr lang="en-US" altLang="zh-CN" sz="2400" b="1" dirty="0">
                <a:solidFill>
                  <a:srgbClr val="FF0000"/>
                </a:solidFill>
                <a:latin typeface="宋体" panose="02010600030101010101" pitchFamily="2" charset="-122"/>
              </a:rPr>
              <a:t>B</a:t>
            </a:r>
            <a:r>
              <a:rPr lang="zh-CN" altLang="en-US" sz="2400" b="1" dirty="0">
                <a:solidFill>
                  <a:srgbClr val="FF0000"/>
                </a:solidFill>
                <a:latin typeface="宋体" panose="02010600030101010101" pitchFamily="2" charset="-122"/>
              </a:rPr>
              <a:t>、生产可能性曲线（</a:t>
            </a:r>
            <a:r>
              <a:rPr lang="en-US" altLang="zh-CN" sz="2400" b="1" dirty="0">
                <a:solidFill>
                  <a:srgbClr val="FF0000"/>
                </a:solidFill>
                <a:latin typeface="宋体" panose="02010600030101010101" pitchFamily="2" charset="-122"/>
              </a:rPr>
              <a:t>Production Possibility Curve</a:t>
            </a:r>
            <a:r>
              <a:rPr lang="zh-CN" altLang="en-US" sz="2400" b="1" dirty="0">
                <a:solidFill>
                  <a:srgbClr val="FF0000"/>
                </a:solidFill>
                <a:latin typeface="宋体" panose="02010600030101010101" pitchFamily="2" charset="-122"/>
              </a:rPr>
              <a:t>，</a:t>
            </a:r>
            <a:r>
              <a:rPr lang="en-US" altLang="zh-CN" sz="2400" b="1" dirty="0">
                <a:solidFill>
                  <a:srgbClr val="FF0000"/>
                </a:solidFill>
                <a:latin typeface="宋体" panose="02010600030101010101" pitchFamily="2" charset="-122"/>
              </a:rPr>
              <a:t>PPC</a:t>
            </a:r>
            <a:r>
              <a:rPr lang="zh-CN" altLang="en-US" sz="2400" b="1" dirty="0">
                <a:solidFill>
                  <a:srgbClr val="FF0000"/>
                </a:solidFill>
                <a:latin typeface="宋体" panose="02010600030101010101" pitchFamily="2" charset="-122"/>
              </a:rPr>
              <a:t>）</a:t>
            </a:r>
            <a:br>
              <a:rPr lang="zh-CN" altLang="en-US" sz="2400" b="1" dirty="0">
                <a:solidFill>
                  <a:srgbClr val="FF0000"/>
                </a:solidFill>
                <a:latin typeface="宋体" panose="02010600030101010101" pitchFamily="2" charset="-122"/>
              </a:rPr>
            </a:br>
            <a:br>
              <a:rPr lang="zh-CN" altLang="en-US" sz="2000" b="1" dirty="0">
                <a:solidFill>
                  <a:srgbClr val="FF0000"/>
                </a:solidFill>
                <a:latin typeface="宋体" panose="02010600030101010101" pitchFamily="2" charset="-122"/>
              </a:rPr>
            </a:br>
            <a:r>
              <a:rPr lang="zh-CN" altLang="en-US" sz="2000" b="1" dirty="0">
                <a:latin typeface="宋体" panose="02010600030101010101" pitchFamily="2" charset="-122"/>
              </a:rPr>
              <a:t>定义：表示一个经济在可得到的生产要素与生产技术既定时所能生产的产量的各种组合的图形。</a:t>
            </a:r>
            <a:br>
              <a:rPr lang="zh-CN" altLang="en-US" sz="2000" b="1" dirty="0">
                <a:latin typeface="宋体" panose="02010600030101010101" pitchFamily="2" charset="-122"/>
              </a:rPr>
            </a:br>
            <a:endParaRPr lang="zh-CN" altLang="en-US" sz="2000" b="1" dirty="0">
              <a:latin typeface="宋体" panose="02010600030101010101" pitchFamily="2" charset="-122"/>
            </a:endParaRPr>
          </a:p>
        </p:txBody>
      </p:sp>
      <p:graphicFrame>
        <p:nvGraphicFramePr>
          <p:cNvPr id="28728" name="Group 56"/>
          <p:cNvGraphicFramePr>
            <a:graphicFrameLocks noGrp="1"/>
          </p:cNvGraphicFramePr>
          <p:nvPr>
            <p:ph sz="half" idx="1"/>
          </p:nvPr>
        </p:nvGraphicFramePr>
        <p:xfrm>
          <a:off x="684213" y="3068638"/>
          <a:ext cx="2584450" cy="3487738"/>
        </p:xfrm>
        <a:graphic>
          <a:graphicData uri="http://schemas.openxmlformats.org/drawingml/2006/table">
            <a:tbl>
              <a:tblPr/>
              <a:tblGrid>
                <a:gridCol w="860425"/>
                <a:gridCol w="863600"/>
                <a:gridCol w="860425"/>
              </a:tblGrid>
              <a:tr h="4016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生产组合</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苹果</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桃子</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99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99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7.5</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83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99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2.5</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991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E</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249" name="Rectangle 3"/>
          <p:cNvSpPr/>
          <p:nvPr/>
        </p:nvSpPr>
        <p:spPr>
          <a:xfrm>
            <a:off x="684213" y="0"/>
            <a:ext cx="7772400" cy="1143000"/>
          </a:xfrm>
          <a:prstGeom prst="rect">
            <a:avLst/>
          </a:prstGeom>
          <a:noFill/>
          <a:ln w="9525">
            <a:noFill/>
          </a:ln>
        </p:spPr>
        <p:txBody>
          <a:bodyPr anchor="ctr" anchorCtr="0"/>
          <a:p>
            <a:pPr algn="ctr">
              <a:lnSpc>
                <a:spcPct val="100000"/>
              </a:lnSpc>
              <a:spcBef>
                <a:spcPct val="0"/>
              </a:spcBef>
              <a:buNone/>
            </a:pPr>
            <a:br>
              <a:rPr lang="en-US" altLang="zh-CN" sz="3600" dirty="0">
                <a:solidFill>
                  <a:srgbClr val="FF0000"/>
                </a:solidFill>
                <a:latin typeface="楷体_GB2312" pitchFamily="49" charset="-122"/>
                <a:ea typeface="楷体_GB2312" pitchFamily="49" charset="-122"/>
              </a:rPr>
            </a:br>
            <a:r>
              <a:rPr lang="zh-CN" altLang="en-US" sz="3600" dirty="0">
                <a:solidFill>
                  <a:srgbClr val="FF0000"/>
                </a:solidFill>
                <a:latin typeface="宋体" panose="02010600030101010101" pitchFamily="2" charset="-122"/>
              </a:rPr>
              <a:t>一</a:t>
            </a:r>
            <a:r>
              <a:rPr lang="en-US" altLang="zh-CN" sz="3600" dirty="0">
                <a:solidFill>
                  <a:srgbClr val="FF0000"/>
                </a:solidFill>
                <a:latin typeface="宋体" panose="02010600030101010101" pitchFamily="2" charset="-122"/>
              </a:rPr>
              <a:t>.</a:t>
            </a:r>
            <a:r>
              <a:rPr lang="zh-CN" altLang="en-US" sz="3600" dirty="0">
                <a:solidFill>
                  <a:srgbClr val="FF0000"/>
                </a:solidFill>
                <a:latin typeface="宋体" panose="02010600030101010101" pitchFamily="2" charset="-122"/>
              </a:rPr>
              <a:t>基本经济问题</a:t>
            </a:r>
            <a:br>
              <a:rPr lang="zh-CN" altLang="en-US" sz="4400" b="0" dirty="0">
                <a:latin typeface="宋体" panose="02010600030101010101" pitchFamily="2" charset="-122"/>
              </a:rPr>
            </a:br>
            <a:endParaRPr lang="zh-CN" altLang="en-US" sz="4400" b="0" dirty="0">
              <a:latin typeface="宋体" panose="02010600030101010101" pitchFamily="2" charset="-122"/>
            </a:endParaRPr>
          </a:p>
        </p:txBody>
      </p:sp>
      <p:sp>
        <p:nvSpPr>
          <p:cNvPr id="9250" name="AutoShape 4"/>
          <p:cNvSpPr/>
          <p:nvPr/>
        </p:nvSpPr>
        <p:spPr>
          <a:xfrm>
            <a:off x="7596188" y="188913"/>
            <a:ext cx="1296987" cy="647700"/>
          </a:xfrm>
          <a:prstGeom prst="roundRect">
            <a:avLst>
              <a:gd name="adj" fmla="val 16667"/>
            </a:avLst>
          </a:prstGeom>
          <a:noFill/>
          <a:ln w="9525">
            <a:noFill/>
          </a:ln>
        </p:spPr>
        <p:txBody>
          <a:bodyPr wrap="none" anchor="ctr" anchorCtr="0"/>
          <a:p>
            <a:endParaRPr lang="zh-CN" altLang="en-US" dirty="0">
              <a:latin typeface="宋体" panose="02010600030101010101" pitchFamily="2" charset="-122"/>
            </a:endParaRPr>
          </a:p>
        </p:txBody>
      </p:sp>
      <p:graphicFrame>
        <p:nvGraphicFramePr>
          <p:cNvPr id="9251" name="Object 54"/>
          <p:cNvGraphicFramePr>
            <a:graphicFrameLocks noChangeAspect="1"/>
          </p:cNvGraphicFramePr>
          <p:nvPr>
            <p:ph sz="half" idx="2"/>
          </p:nvPr>
        </p:nvGraphicFramePr>
        <p:xfrm>
          <a:off x="3635375" y="2852738"/>
          <a:ext cx="4695825" cy="4005262"/>
        </p:xfrm>
        <a:graphic>
          <a:graphicData uri="http://schemas.openxmlformats.org/presentationml/2006/ole">
            <mc:AlternateContent xmlns:mc="http://schemas.openxmlformats.org/markup-compatibility/2006">
              <mc:Choice xmlns:v="urn:schemas-microsoft-com:vml" Requires="v">
                <p:oleObj spid="_x0000_s3076" name="" r:id="rId1" imgW="8827770" imgH="7913370" progId="MSGraph.Chart.8">
                  <p:embed/>
                </p:oleObj>
              </mc:Choice>
              <mc:Fallback>
                <p:oleObj name="" r:id="rId1" imgW="8827770" imgH="7913370" progId="MSGraph.Chart.8">
                  <p:embed/>
                  <p:pic>
                    <p:nvPicPr>
                      <p:cNvPr id="0" name="图片 3075"/>
                      <p:cNvPicPr/>
                      <p:nvPr/>
                    </p:nvPicPr>
                    <p:blipFill>
                      <a:blip r:embed="rId2"/>
                      <a:srcRect/>
                      <a:stretch>
                        <a:fillRect/>
                      </a:stretch>
                    </p:blipFill>
                    <p:spPr>
                      <a:xfrm>
                        <a:off x="3635375" y="2852738"/>
                        <a:ext cx="4695825" cy="4005262"/>
                      </a:xfrm>
                      <a:prstGeom prst="rect">
                        <a:avLst/>
                      </a:prstGeom>
                      <a:noFill/>
                      <a:ln w="38100">
                        <a:miter/>
                      </a:ln>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a:xfrm>
            <a:off x="684213" y="981075"/>
            <a:ext cx="7773987" cy="5256213"/>
          </a:xfrm>
          <a:ln/>
        </p:spPr>
        <p:txBody>
          <a:bodyPr vert="horz" wrap="square" lIns="91440" tIns="45720" rIns="91440" bIns="45720" anchor="ctr" anchorCtr="0"/>
          <a:p>
            <a:pPr algn="l" eaLnBrk="1" hangingPunct="1"/>
            <a:br>
              <a:rPr lang="en-US" altLang="zh-CN" sz="2800" b="1" dirty="0">
                <a:solidFill>
                  <a:srgbClr val="FF0000"/>
                </a:solidFill>
                <a:latin typeface="宋体" panose="02010600030101010101" pitchFamily="2" charset="-122"/>
              </a:rPr>
            </a:br>
            <a:r>
              <a:rPr lang="en-US" altLang="zh-CN" sz="2800" b="1" dirty="0">
                <a:solidFill>
                  <a:srgbClr val="FF0000"/>
                </a:solidFill>
                <a:latin typeface="宋体" panose="02010600030101010101" pitchFamily="2" charset="-122"/>
              </a:rPr>
              <a:t>A.</a:t>
            </a:r>
            <a:r>
              <a:rPr lang="zh-CN" altLang="en-US" sz="2800" b="1" dirty="0">
                <a:solidFill>
                  <a:srgbClr val="FF0000"/>
                </a:solidFill>
                <a:latin typeface="宋体" panose="02010600030101010101" pitchFamily="2" charset="-122"/>
              </a:rPr>
              <a:t>共同的问题</a:t>
            </a:r>
            <a:br>
              <a:rPr lang="zh-CN" altLang="en-US" sz="2800" b="1" dirty="0">
                <a:solidFill>
                  <a:srgbClr val="FF0000"/>
                </a:solidFill>
                <a:latin typeface="宋体" panose="02010600030101010101" pitchFamily="2" charset="-122"/>
              </a:rPr>
            </a:br>
            <a:br>
              <a:rPr lang="zh-CN" altLang="en-US" sz="2800" b="1" dirty="0">
                <a:solidFill>
                  <a:srgbClr val="FF0000"/>
                </a:solidFill>
                <a:latin typeface="宋体" panose="02010600030101010101" pitchFamily="2" charset="-122"/>
              </a:rPr>
            </a:br>
            <a:r>
              <a:rPr lang="zh-CN" altLang="en-US" sz="3600" b="1" dirty="0">
                <a:latin typeface="宋体" panose="02010600030101010101" pitchFamily="2" charset="-122"/>
              </a:rPr>
              <a:t>生产什么    怎样生产    为谁生产</a:t>
            </a:r>
            <a:br>
              <a:rPr lang="zh-CN" altLang="en-US" sz="4000" b="1" dirty="0">
                <a:latin typeface="楷体_GB2312" pitchFamily="49" charset="-122"/>
                <a:ea typeface="楷体_GB2312" pitchFamily="49" charset="-122"/>
              </a:rPr>
            </a:br>
            <a:br>
              <a:rPr lang="zh-CN" altLang="en-US" sz="4000" b="1" dirty="0">
                <a:latin typeface="宋体" panose="02010600030101010101" pitchFamily="2" charset="-122"/>
              </a:rPr>
            </a:br>
            <a:br>
              <a:rPr lang="zh-CN" altLang="en-US" sz="4000" b="1" dirty="0">
                <a:latin typeface="宋体" panose="02010600030101010101" pitchFamily="2" charset="-122"/>
              </a:rPr>
            </a:br>
            <a:endParaRPr lang="zh-CN" altLang="en-US" sz="4000" b="1" dirty="0">
              <a:latin typeface="宋体" panose="02010600030101010101" pitchFamily="2" charset="-122"/>
            </a:endParaRPr>
          </a:p>
        </p:txBody>
      </p:sp>
      <p:sp>
        <p:nvSpPr>
          <p:cNvPr id="10243" name="Rectangle 3"/>
          <p:cNvSpPr/>
          <p:nvPr/>
        </p:nvSpPr>
        <p:spPr>
          <a:xfrm>
            <a:off x="684213" y="0"/>
            <a:ext cx="7772400" cy="1143000"/>
          </a:xfrm>
          <a:prstGeom prst="rect">
            <a:avLst/>
          </a:prstGeom>
          <a:noFill/>
          <a:ln w="9525">
            <a:noFill/>
          </a:ln>
        </p:spPr>
        <p:txBody>
          <a:bodyPr anchor="ctr" anchorCtr="0"/>
          <a:p>
            <a:pPr marL="838200" indent="-838200" algn="ctr">
              <a:lnSpc>
                <a:spcPct val="100000"/>
              </a:lnSpc>
              <a:spcBef>
                <a:spcPct val="0"/>
              </a:spcBef>
              <a:buNone/>
            </a:pPr>
            <a:r>
              <a:rPr lang="zh-CN" altLang="en-US" sz="3600" dirty="0">
                <a:solidFill>
                  <a:srgbClr val="FF0000"/>
                </a:solidFill>
                <a:latin typeface="宋体" panose="02010600030101010101" pitchFamily="2" charset="-122"/>
              </a:rPr>
              <a:t>二、解决经济问题的制度选择</a:t>
            </a:r>
            <a:endParaRPr lang="zh-CN" altLang="en-US" sz="3600" dirty="0">
              <a:solidFill>
                <a:srgbClr val="FF0000"/>
              </a:solidFill>
              <a:latin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a:xfrm>
            <a:off x="684213" y="1196975"/>
            <a:ext cx="7772400" cy="1143000"/>
          </a:xfrm>
          <a:ln/>
        </p:spPr>
        <p:txBody>
          <a:bodyPr vert="horz" wrap="square" lIns="91440" tIns="45720" rIns="91440" bIns="45720" anchor="ctr" anchorCtr="0"/>
          <a:p>
            <a:pPr algn="l" eaLnBrk="1" hangingPunct="1"/>
            <a:br>
              <a:rPr lang="en-US" altLang="zh-CN" sz="3200" b="1" dirty="0">
                <a:solidFill>
                  <a:srgbClr val="FF0000"/>
                </a:solidFill>
                <a:latin typeface="宋体" panose="02010600030101010101" pitchFamily="2" charset="-122"/>
              </a:rPr>
            </a:br>
            <a:r>
              <a:rPr lang="en-US" altLang="zh-CN" sz="3200" b="1" dirty="0">
                <a:solidFill>
                  <a:srgbClr val="FF0000"/>
                </a:solidFill>
                <a:latin typeface="宋体" panose="02010600030101010101" pitchFamily="2" charset="-122"/>
              </a:rPr>
              <a:t>B</a:t>
            </a:r>
            <a:r>
              <a:rPr lang="zh-CN" altLang="en-US" sz="3200" b="1" dirty="0">
                <a:solidFill>
                  <a:srgbClr val="FF0000"/>
                </a:solidFill>
                <a:latin typeface="宋体" panose="02010600030101010101" pitchFamily="2" charset="-122"/>
              </a:rPr>
              <a:t>、不同的制度选择</a:t>
            </a:r>
            <a:br>
              <a:rPr lang="zh-CN" altLang="en-US" sz="3200" b="1" dirty="0">
                <a:solidFill>
                  <a:srgbClr val="FF0000"/>
                </a:solidFill>
                <a:latin typeface="宋体" panose="02010600030101010101" pitchFamily="2" charset="-122"/>
              </a:rPr>
            </a:br>
            <a:endParaRPr lang="zh-CN" altLang="en-US" b="1" dirty="0">
              <a:latin typeface="宋体" panose="02010600030101010101" pitchFamily="2" charset="-122"/>
            </a:endParaRPr>
          </a:p>
        </p:txBody>
      </p:sp>
      <p:sp>
        <p:nvSpPr>
          <p:cNvPr id="11267" name="Rectangle 3"/>
          <p:cNvSpPr/>
          <p:nvPr/>
        </p:nvSpPr>
        <p:spPr>
          <a:xfrm>
            <a:off x="684213" y="0"/>
            <a:ext cx="7772400" cy="1143000"/>
          </a:xfrm>
          <a:prstGeom prst="rect">
            <a:avLst/>
          </a:prstGeom>
          <a:noFill/>
          <a:ln w="9525">
            <a:noFill/>
          </a:ln>
        </p:spPr>
        <p:txBody>
          <a:bodyPr anchor="ctr" anchorCtr="0"/>
          <a:p>
            <a:pPr marL="838200" indent="-838200" algn="ctr">
              <a:lnSpc>
                <a:spcPct val="100000"/>
              </a:lnSpc>
              <a:spcBef>
                <a:spcPct val="0"/>
              </a:spcBef>
              <a:buNone/>
            </a:pPr>
            <a:r>
              <a:rPr lang="zh-CN" altLang="en-US" sz="3600" dirty="0">
                <a:solidFill>
                  <a:srgbClr val="FF0000"/>
                </a:solidFill>
                <a:latin typeface="宋体" panose="02010600030101010101" pitchFamily="2" charset="-122"/>
              </a:rPr>
              <a:t>二、解决经济问题的制度选择</a:t>
            </a:r>
            <a:endParaRPr lang="zh-CN" altLang="en-US" sz="3600" dirty="0">
              <a:solidFill>
                <a:srgbClr val="FF0000"/>
              </a:solidFill>
              <a:latin typeface="宋体" panose="02010600030101010101" pitchFamily="2" charset="-122"/>
            </a:endParaRPr>
          </a:p>
        </p:txBody>
      </p:sp>
      <p:graphicFrame>
        <p:nvGraphicFramePr>
          <p:cNvPr id="32804" name="Group 36"/>
          <p:cNvGraphicFramePr>
            <a:graphicFrameLocks noGrp="1"/>
          </p:cNvGraphicFramePr>
          <p:nvPr>
            <p:ph idx="1"/>
          </p:nvPr>
        </p:nvGraphicFramePr>
        <p:xfrm>
          <a:off x="323850" y="2636838"/>
          <a:ext cx="8062913" cy="3475038"/>
        </p:xfrm>
        <a:graphic>
          <a:graphicData uri="http://schemas.openxmlformats.org/drawingml/2006/table">
            <a:tbl>
              <a:tblPr/>
              <a:tblGrid>
                <a:gridCol w="2687638"/>
                <a:gridCol w="2687637"/>
                <a:gridCol w="2687638"/>
              </a:tblGrid>
              <a:tr h="6477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经济制度</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社会主义”</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资本主义”</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64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产权所有</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公有</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私有</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64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决策层次</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中央</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分散</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80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配置机制</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计划</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市场</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64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分配方式</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按劳分配</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按所有要素分配</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a:xfrm>
            <a:off x="539750" y="620713"/>
            <a:ext cx="7766050" cy="5761037"/>
          </a:xfrm>
          <a:ln/>
        </p:spPr>
        <p:txBody>
          <a:bodyPr vert="horz" wrap="square" lIns="91440" tIns="45720" rIns="91440" bIns="45720" anchor="ctr" anchorCtr="0"/>
          <a:p>
            <a:pPr algn="l" eaLnBrk="1" hangingPunct="1"/>
            <a:br>
              <a:rPr lang="en-US" altLang="zh-CN" sz="2800" b="1" dirty="0">
                <a:solidFill>
                  <a:srgbClr val="FF0000"/>
                </a:solidFill>
                <a:latin typeface="宋体" panose="02010600030101010101" pitchFamily="2" charset="-122"/>
              </a:rPr>
            </a:br>
            <a:r>
              <a:rPr lang="zh-CN" altLang="en-US" sz="2800" b="1" dirty="0">
                <a:solidFill>
                  <a:srgbClr val="FF0000"/>
                </a:solidFill>
                <a:latin typeface="宋体" panose="02010600030101010101" pitchFamily="2" charset="-122"/>
              </a:rPr>
              <a:t>公平与效率的权衡（</a:t>
            </a:r>
            <a:r>
              <a:rPr lang="en-US" altLang="zh-CN" sz="2800" b="1" dirty="0">
                <a:solidFill>
                  <a:srgbClr val="FF0000"/>
                </a:solidFill>
                <a:latin typeface="宋体" panose="02010600030101010101" pitchFamily="2" charset="-122"/>
              </a:rPr>
              <a:t>trade-off</a:t>
            </a:r>
            <a:r>
              <a:rPr lang="zh-CN" altLang="en-US" sz="2800" b="1" dirty="0">
                <a:solidFill>
                  <a:srgbClr val="FF0000"/>
                </a:solidFill>
                <a:latin typeface="宋体" panose="02010600030101010101" pitchFamily="2" charset="-122"/>
              </a:rPr>
              <a:t>）：</a:t>
            </a:r>
            <a:r>
              <a:rPr lang="zh-CN" altLang="en-US" sz="2800" b="1" dirty="0">
                <a:latin typeface="宋体" panose="02010600030101010101" pitchFamily="2" charset="-122"/>
              </a:rPr>
              <a:t>社会面临的一种权衡关系是效率与平等之间的权衡。</a:t>
            </a:r>
            <a:br>
              <a:rPr lang="zh-CN" altLang="en-US" sz="2800" b="1" dirty="0">
                <a:latin typeface="宋体" panose="02010600030101010101" pitchFamily="2" charset="-122"/>
              </a:rPr>
            </a:br>
            <a:br>
              <a:rPr lang="zh-CN" altLang="en-US" sz="2800" b="1" dirty="0">
                <a:latin typeface="宋体" panose="02010600030101010101" pitchFamily="2" charset="-122"/>
              </a:rPr>
            </a:br>
            <a:r>
              <a:rPr lang="zh-CN" altLang="en-US" sz="2800" b="1" dirty="0">
                <a:solidFill>
                  <a:srgbClr val="FF0000"/>
                </a:solidFill>
                <a:latin typeface="宋体" panose="02010600030101010101" pitchFamily="2" charset="-122"/>
              </a:rPr>
              <a:t>效率</a:t>
            </a:r>
            <a:r>
              <a:rPr lang="zh-CN" altLang="en-US" sz="2800" b="1" dirty="0">
                <a:latin typeface="宋体" panose="02010600030101010101" pitchFamily="2" charset="-122"/>
              </a:rPr>
              <a:t>是指社会能从其稀缺资源中得到最多东西。</a:t>
            </a:r>
            <a:br>
              <a:rPr lang="zh-CN" altLang="en-US" sz="2800" b="1" dirty="0">
                <a:latin typeface="宋体" panose="02010600030101010101" pitchFamily="2" charset="-122"/>
              </a:rPr>
            </a:br>
            <a:br>
              <a:rPr lang="zh-CN" altLang="en-US" sz="2800" b="1" dirty="0">
                <a:latin typeface="宋体" panose="02010600030101010101" pitchFamily="2" charset="-122"/>
              </a:rPr>
            </a:br>
            <a:r>
              <a:rPr lang="zh-CN" altLang="en-US" sz="2800" b="1" dirty="0">
                <a:solidFill>
                  <a:srgbClr val="FF0000"/>
                </a:solidFill>
                <a:latin typeface="宋体" panose="02010600030101010101" pitchFamily="2" charset="-122"/>
              </a:rPr>
              <a:t>平等</a:t>
            </a:r>
            <a:r>
              <a:rPr lang="zh-CN" altLang="en-US" sz="2800" b="1" dirty="0">
                <a:latin typeface="宋体" panose="02010600030101010101" pitchFamily="2" charset="-122"/>
              </a:rPr>
              <a:t>是指这些资源的成果公平地分配给社会成员。</a:t>
            </a:r>
            <a:br>
              <a:rPr lang="zh-CN" altLang="en-US" sz="2800" b="1" dirty="0">
                <a:latin typeface="宋体" panose="02010600030101010101" pitchFamily="2" charset="-122"/>
              </a:rPr>
            </a:br>
            <a:br>
              <a:rPr lang="zh-CN" altLang="en-US" sz="2800" b="1" dirty="0">
                <a:latin typeface="宋体" panose="02010600030101010101" pitchFamily="2" charset="-122"/>
              </a:rPr>
            </a:br>
            <a:r>
              <a:rPr lang="zh-CN" altLang="en-US" sz="2800" b="1" dirty="0">
                <a:latin typeface="宋体" panose="02010600030101010101" pitchFamily="2" charset="-122"/>
              </a:rPr>
              <a:t>换句话说，</a:t>
            </a:r>
            <a:r>
              <a:rPr lang="zh-CN" altLang="en-US" sz="2800" b="1" dirty="0">
                <a:solidFill>
                  <a:srgbClr val="FF0000"/>
                </a:solidFill>
                <a:latin typeface="宋体" panose="02010600030101010101" pitchFamily="2" charset="-122"/>
              </a:rPr>
              <a:t>效率</a:t>
            </a:r>
            <a:r>
              <a:rPr lang="zh-CN" altLang="en-US" sz="2800" b="1" dirty="0">
                <a:latin typeface="宋体" panose="02010600030101010101" pitchFamily="2" charset="-122"/>
              </a:rPr>
              <a:t>是指经济蛋糕的大小，而</a:t>
            </a:r>
            <a:r>
              <a:rPr lang="zh-CN" altLang="en-US" sz="2800" b="1" dirty="0">
                <a:solidFill>
                  <a:srgbClr val="FF0000"/>
                </a:solidFill>
                <a:latin typeface="宋体" panose="02010600030101010101" pitchFamily="2" charset="-122"/>
              </a:rPr>
              <a:t>平等</a:t>
            </a:r>
            <a:r>
              <a:rPr lang="zh-CN" altLang="en-US" sz="2800" b="1" dirty="0">
                <a:latin typeface="宋体" panose="02010600030101010101" pitchFamily="2" charset="-122"/>
              </a:rPr>
              <a:t>是指如何分割这块蛋糕。在设计政府政策的时候，这两个目标往往是不一致的。</a:t>
            </a:r>
            <a:br>
              <a:rPr lang="zh-CN" altLang="en-US" sz="2800" b="1" dirty="0">
                <a:latin typeface="楷体_GB2312" pitchFamily="49" charset="-122"/>
                <a:ea typeface="楷体_GB2312" pitchFamily="49" charset="-122"/>
              </a:rPr>
            </a:br>
            <a:endParaRPr lang="zh-CN" altLang="en-US" sz="2800" b="1" dirty="0">
              <a:latin typeface="楷体_GB2312" pitchFamily="49" charset="-122"/>
              <a:ea typeface="楷体_GB2312" pitchFamily="49" charset="-122"/>
            </a:endParaRPr>
          </a:p>
        </p:txBody>
      </p:sp>
      <p:sp>
        <p:nvSpPr>
          <p:cNvPr id="12291" name="Rectangle 4"/>
          <p:cNvSpPr/>
          <p:nvPr/>
        </p:nvSpPr>
        <p:spPr>
          <a:xfrm>
            <a:off x="684213" y="0"/>
            <a:ext cx="7772400" cy="1143000"/>
          </a:xfrm>
          <a:prstGeom prst="rect">
            <a:avLst/>
          </a:prstGeom>
          <a:noFill/>
          <a:ln w="9525">
            <a:noFill/>
          </a:ln>
        </p:spPr>
        <p:txBody>
          <a:bodyPr anchor="ctr" anchorCtr="0"/>
          <a:p>
            <a:pPr marL="838200" indent="-838200" algn="ctr">
              <a:lnSpc>
                <a:spcPct val="100000"/>
              </a:lnSpc>
              <a:spcBef>
                <a:spcPct val="0"/>
              </a:spcBef>
              <a:buNone/>
            </a:pPr>
            <a:r>
              <a:rPr lang="zh-CN" altLang="en-US" sz="3600" dirty="0">
                <a:solidFill>
                  <a:srgbClr val="FF0000"/>
                </a:solidFill>
                <a:latin typeface="宋体" panose="02010600030101010101" pitchFamily="2" charset="-122"/>
              </a:rPr>
              <a:t>二、解决经济问题的制度选择</a:t>
            </a:r>
            <a:endParaRPr lang="zh-CN" altLang="en-US" sz="3600" dirty="0">
              <a:solidFill>
                <a:srgbClr val="FF0000"/>
              </a:solidFill>
              <a:latin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4"/>
          <p:cNvSpPr/>
          <p:nvPr/>
        </p:nvSpPr>
        <p:spPr>
          <a:xfrm>
            <a:off x="684213" y="0"/>
            <a:ext cx="7772400" cy="1143000"/>
          </a:xfrm>
          <a:prstGeom prst="rect">
            <a:avLst/>
          </a:prstGeom>
          <a:noFill/>
          <a:ln w="9525">
            <a:noFill/>
          </a:ln>
        </p:spPr>
        <p:txBody>
          <a:bodyPr anchor="ctr" anchorCtr="0"/>
          <a:p>
            <a:pPr marL="838200" indent="-838200" algn="ctr">
              <a:lnSpc>
                <a:spcPct val="100000"/>
              </a:lnSpc>
              <a:spcBef>
                <a:spcPct val="0"/>
              </a:spcBef>
              <a:buNone/>
            </a:pPr>
            <a:r>
              <a:rPr lang="zh-CN" altLang="en-US" sz="3600" dirty="0">
                <a:solidFill>
                  <a:srgbClr val="FF0000"/>
                </a:solidFill>
                <a:latin typeface="宋体" panose="02010600030101010101" pitchFamily="2" charset="-122"/>
              </a:rPr>
              <a:t>二、解决经济问题的制度选择</a:t>
            </a:r>
            <a:endParaRPr lang="zh-CN" altLang="en-US" sz="3600" dirty="0">
              <a:solidFill>
                <a:srgbClr val="FF0000"/>
              </a:solidFill>
              <a:latin typeface="宋体" panose="02010600030101010101" pitchFamily="2" charset="-122"/>
            </a:endParaRPr>
          </a:p>
        </p:txBody>
      </p:sp>
      <p:sp>
        <p:nvSpPr>
          <p:cNvPr id="13315" name="Rectangle 5"/>
          <p:cNvSpPr>
            <a:spLocks noGrp="1"/>
          </p:cNvSpPr>
          <p:nvPr>
            <p:ph type="title"/>
          </p:nvPr>
        </p:nvSpPr>
        <p:spPr>
          <a:xfrm>
            <a:off x="468313" y="981075"/>
            <a:ext cx="8135937" cy="5256213"/>
          </a:xfrm>
          <a:ln/>
        </p:spPr>
        <p:txBody>
          <a:bodyPr vert="horz" wrap="square" lIns="91440" tIns="45720" rIns="91440" bIns="45720" anchor="ctr" anchorCtr="0"/>
          <a:p>
            <a:pPr algn="l" eaLnBrk="1" hangingPunct="1"/>
            <a:r>
              <a:rPr lang="en-US" altLang="zh-CN" sz="3200" b="1" dirty="0">
                <a:solidFill>
                  <a:srgbClr val="FF0000"/>
                </a:solidFill>
                <a:latin typeface="宋体" panose="02010600030101010101" pitchFamily="2" charset="-122"/>
              </a:rPr>
              <a:t>C</a:t>
            </a:r>
            <a:r>
              <a:rPr lang="zh-CN" altLang="en-US" sz="3200" b="1" dirty="0">
                <a:solidFill>
                  <a:srgbClr val="FF0000"/>
                </a:solidFill>
                <a:latin typeface="宋体" panose="02010600030101010101" pitchFamily="2" charset="-122"/>
              </a:rPr>
              <a:t>、转型经济</a:t>
            </a: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r>
              <a:rPr lang="zh-CN" altLang="en-US" sz="2400" b="1" dirty="0">
                <a:latin typeface="宋体" panose="02010600030101010101" pitchFamily="2" charset="-122"/>
              </a:rPr>
              <a:t>中央集权的计划经济	 	决策分散的市场经济</a:t>
            </a:r>
            <a:br>
              <a:rPr lang="zh-CN" altLang="en-US" sz="2400" b="1" dirty="0">
                <a:latin typeface="宋体" panose="02010600030101010101" pitchFamily="2" charset="-122"/>
              </a:rPr>
            </a:br>
            <a:r>
              <a:rPr lang="zh-CN" altLang="en-US" sz="2400" b="1" dirty="0">
                <a:latin typeface="宋体" panose="02010600030101010101" pitchFamily="2" charset="-122"/>
              </a:rPr>
              <a:t>		</a:t>
            </a:r>
            <a:br>
              <a:rPr lang="zh-CN" altLang="en-US" sz="2400" b="1" dirty="0">
                <a:latin typeface="宋体" panose="02010600030101010101" pitchFamily="2" charset="-122"/>
              </a:rPr>
            </a:br>
            <a:r>
              <a:rPr lang="zh-CN" altLang="en-US" sz="2400" b="1" dirty="0">
                <a:latin typeface="宋体" panose="02010600030101010101" pitchFamily="2" charset="-122"/>
              </a:rPr>
              <a:t>    封闭经济			   开放经济</a:t>
            </a:r>
            <a:br>
              <a:rPr lang="zh-CN" altLang="en-US" sz="2400" b="1" dirty="0">
                <a:latin typeface="宋体" panose="02010600030101010101" pitchFamily="2" charset="-122"/>
              </a:rPr>
            </a:br>
            <a:br>
              <a:rPr lang="zh-CN" altLang="en-US" b="1" dirty="0"/>
            </a:br>
            <a:endParaRPr lang="zh-CN" altLang="en-US" b="1" dirty="0"/>
          </a:p>
        </p:txBody>
      </p:sp>
      <p:sp>
        <p:nvSpPr>
          <p:cNvPr id="34822" name="AutoShape 6"/>
          <p:cNvSpPr>
            <a:spLocks noChangeArrowheads="1"/>
          </p:cNvSpPr>
          <p:nvPr/>
        </p:nvSpPr>
        <p:spPr bwMode="auto">
          <a:xfrm>
            <a:off x="3635375" y="2924175"/>
            <a:ext cx="1296988" cy="360363"/>
          </a:xfrm>
          <a:prstGeom prst="notchedRightArrow">
            <a:avLst>
              <a:gd name="adj1" fmla="val 50000"/>
              <a:gd name="adj2" fmla="val 89978"/>
            </a:avLst>
          </a:prstGeom>
          <a:gradFill rotWithShape="1">
            <a:gsLst>
              <a:gs pos="0">
                <a:schemeClr val="accent1">
                  <a:gamma/>
                  <a:tint val="73725"/>
                  <a:invGamma/>
                </a:schemeClr>
              </a:gs>
              <a:gs pos="100000">
                <a:schemeClr val="accent1"/>
              </a:gs>
            </a:gsLst>
            <a:lin ang="18900000" scaled="1"/>
          </a:gra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34823" name="AutoShape 7"/>
          <p:cNvSpPr>
            <a:spLocks noChangeArrowheads="1"/>
          </p:cNvSpPr>
          <p:nvPr/>
        </p:nvSpPr>
        <p:spPr bwMode="auto">
          <a:xfrm>
            <a:off x="3635375" y="3644900"/>
            <a:ext cx="1296988" cy="360363"/>
          </a:xfrm>
          <a:prstGeom prst="notchedRightArrow">
            <a:avLst>
              <a:gd name="adj1" fmla="val 50000"/>
              <a:gd name="adj2" fmla="val 89978"/>
            </a:avLst>
          </a:prstGeom>
          <a:gradFill rotWithShape="1">
            <a:gsLst>
              <a:gs pos="0">
                <a:schemeClr val="accent1">
                  <a:gamma/>
                  <a:tint val="73725"/>
                  <a:invGamma/>
                </a:schemeClr>
              </a:gs>
              <a:gs pos="100000">
                <a:schemeClr val="accent1"/>
              </a:gs>
            </a:gsLst>
            <a:lin ang="18900000" scaled="1"/>
          </a:gra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Char char="•"/>
              <a:defRPr/>
            </a:pP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4"/>
          <p:cNvSpPr/>
          <p:nvPr/>
        </p:nvSpPr>
        <p:spPr>
          <a:xfrm>
            <a:off x="684213" y="0"/>
            <a:ext cx="7772400" cy="1143000"/>
          </a:xfrm>
          <a:prstGeom prst="rect">
            <a:avLst/>
          </a:prstGeom>
          <a:noFill/>
          <a:ln w="9525">
            <a:noFill/>
          </a:ln>
        </p:spPr>
        <p:txBody>
          <a:bodyPr anchor="ctr" anchorCtr="0"/>
          <a:p>
            <a:pPr marL="838200" indent="-838200" algn="ctr">
              <a:lnSpc>
                <a:spcPct val="100000"/>
              </a:lnSpc>
              <a:spcBef>
                <a:spcPct val="0"/>
              </a:spcBef>
              <a:buNone/>
            </a:pPr>
            <a:r>
              <a:rPr lang="zh-CN" altLang="en-US" sz="3600" dirty="0">
                <a:solidFill>
                  <a:srgbClr val="FF0000"/>
                </a:solidFill>
                <a:latin typeface="宋体" panose="02010600030101010101" pitchFamily="2" charset="-122"/>
              </a:rPr>
              <a:t>三、市场经济简介</a:t>
            </a:r>
            <a:endParaRPr lang="zh-CN" altLang="en-US" sz="3600" dirty="0">
              <a:solidFill>
                <a:srgbClr val="FF0000"/>
              </a:solidFill>
              <a:latin typeface="宋体" panose="02010600030101010101" pitchFamily="2" charset="-122"/>
            </a:endParaRPr>
          </a:p>
        </p:txBody>
      </p:sp>
      <p:sp>
        <p:nvSpPr>
          <p:cNvPr id="14339" name="Rectangle 5"/>
          <p:cNvSpPr>
            <a:spLocks noGrp="1"/>
          </p:cNvSpPr>
          <p:nvPr>
            <p:ph type="title"/>
          </p:nvPr>
        </p:nvSpPr>
        <p:spPr>
          <a:xfrm>
            <a:off x="468313" y="981075"/>
            <a:ext cx="8135937" cy="5688013"/>
          </a:xfrm>
          <a:ln/>
        </p:spPr>
        <p:txBody>
          <a:bodyPr vert="horz" wrap="square" lIns="91440" tIns="45720" rIns="91440" bIns="45720" anchor="ctr" anchorCtr="0"/>
          <a:p>
            <a:pPr algn="l" eaLnBrk="1" hangingPunct="1"/>
            <a:r>
              <a:rPr lang="en-US" altLang="zh-CN" sz="3200" b="1" dirty="0">
                <a:solidFill>
                  <a:srgbClr val="FF0000"/>
                </a:solidFill>
                <a:latin typeface="宋体" panose="02010600030101010101" pitchFamily="2" charset="-122"/>
              </a:rPr>
              <a:t>A</a:t>
            </a:r>
            <a:r>
              <a:rPr lang="zh-CN" altLang="en-US" sz="3200" b="1" dirty="0">
                <a:solidFill>
                  <a:srgbClr val="FF0000"/>
                </a:solidFill>
                <a:latin typeface="宋体" panose="02010600030101010101" pitchFamily="2" charset="-122"/>
              </a:rPr>
              <a:t>、传统市场</a:t>
            </a: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r>
              <a:rPr lang="zh-CN" altLang="en-US" sz="1800" b="1" dirty="0">
                <a:latin typeface="楷体" panose="02010609060101010101" pitchFamily="49" charset="-122"/>
              </a:rPr>
              <a:t>说明：	</a:t>
            </a:r>
            <a:r>
              <a:rPr lang="en-US" altLang="zh-CN" sz="1800" b="1" dirty="0">
                <a:latin typeface="楷体" panose="02010609060101010101" pitchFamily="49" charset="-122"/>
              </a:rPr>
              <a:t>1</a:t>
            </a:r>
            <a:r>
              <a:rPr lang="zh-CN" altLang="en-US" sz="1800" b="1" dirty="0">
                <a:latin typeface="楷体" panose="02010609060101010101" pitchFamily="49" charset="-122"/>
              </a:rPr>
              <a:t>：支出；</a:t>
            </a:r>
            <a:r>
              <a:rPr lang="en-US" altLang="zh-CN" sz="1800" b="1" dirty="0">
                <a:latin typeface="楷体" panose="02010609060101010101" pitchFamily="49" charset="-122"/>
              </a:rPr>
              <a:t>2</a:t>
            </a:r>
            <a:r>
              <a:rPr lang="zh-CN" altLang="en-US" sz="1800" b="1" dirty="0">
                <a:latin typeface="楷体" panose="02010609060101010101" pitchFamily="49" charset="-122"/>
              </a:rPr>
              <a:t>：购买商品与服务；</a:t>
            </a:r>
            <a:r>
              <a:rPr lang="en-US" altLang="zh-CN" sz="1800" b="1" dirty="0">
                <a:latin typeface="楷体" panose="02010609060101010101" pitchFamily="49" charset="-122"/>
              </a:rPr>
              <a:t>3</a:t>
            </a:r>
            <a:r>
              <a:rPr lang="zh-CN" altLang="en-US" sz="1800" b="1" dirty="0">
                <a:latin typeface="楷体" panose="02010609060101010101" pitchFamily="49" charset="-122"/>
              </a:rPr>
              <a:t>：出售商品与服务；</a:t>
            </a:r>
            <a:r>
              <a:rPr lang="en-US" altLang="zh-CN" sz="1800" b="1" dirty="0">
                <a:latin typeface="楷体" panose="02010609060101010101" pitchFamily="49" charset="-122"/>
              </a:rPr>
              <a:t>4</a:t>
            </a:r>
            <a:r>
              <a:rPr lang="zh-CN" altLang="en-US" sz="1800" b="1" dirty="0">
                <a:latin typeface="楷体" panose="02010609060101010101" pitchFamily="49" charset="-122"/>
              </a:rPr>
              <a:t>：收益； </a:t>
            </a:r>
            <a:br>
              <a:rPr lang="zh-CN" altLang="en-US" sz="1800" b="1" dirty="0">
                <a:latin typeface="楷体" panose="02010609060101010101" pitchFamily="49" charset="-122"/>
              </a:rPr>
            </a:br>
            <a:r>
              <a:rPr lang="en-US" altLang="zh-CN" sz="1800" b="1" dirty="0">
                <a:latin typeface="楷体" panose="02010609060101010101" pitchFamily="49" charset="-122"/>
              </a:rPr>
              <a:t>5</a:t>
            </a:r>
            <a:r>
              <a:rPr lang="zh-CN" altLang="en-US" sz="1800" b="1" dirty="0">
                <a:latin typeface="楷体" panose="02010609060101010101" pitchFamily="49" charset="-122"/>
              </a:rPr>
              <a:t>：收入；</a:t>
            </a:r>
            <a:r>
              <a:rPr lang="en-US" altLang="zh-CN" sz="1800" b="1" dirty="0">
                <a:latin typeface="楷体" panose="02010609060101010101" pitchFamily="49" charset="-122"/>
              </a:rPr>
              <a:t>6</a:t>
            </a:r>
            <a:r>
              <a:rPr lang="zh-CN" altLang="en-US" sz="1800" b="1" dirty="0">
                <a:latin typeface="楷体" panose="02010609060101010101" pitchFamily="49" charset="-122"/>
              </a:rPr>
              <a:t>：要素供给；</a:t>
            </a:r>
            <a:r>
              <a:rPr lang="en-US" altLang="zh-CN" sz="1800" b="1" dirty="0">
                <a:latin typeface="楷体" panose="02010609060101010101" pitchFamily="49" charset="-122"/>
              </a:rPr>
              <a:t>7</a:t>
            </a:r>
            <a:r>
              <a:rPr lang="zh-CN" altLang="en-US" sz="1800" b="1" dirty="0">
                <a:latin typeface="楷体" panose="02010609060101010101" pitchFamily="49" charset="-122"/>
              </a:rPr>
              <a:t>：购买要素 </a:t>
            </a:r>
            <a:r>
              <a:rPr lang="en-US" altLang="zh-CN" sz="1800" b="1" dirty="0">
                <a:latin typeface="楷体" panose="02010609060101010101" pitchFamily="49" charset="-122"/>
              </a:rPr>
              <a:t>8</a:t>
            </a:r>
            <a:r>
              <a:rPr lang="zh-CN" altLang="en-US" sz="1800" b="1" dirty="0">
                <a:latin typeface="楷体" panose="02010609060101010101" pitchFamily="49" charset="-122"/>
              </a:rPr>
              <a:t>：成本（工资、租金、利息）</a:t>
            </a:r>
            <a:endParaRPr lang="zh-CN" altLang="en-US" sz="1800" b="1" dirty="0">
              <a:latin typeface="楷体" panose="02010609060101010101" pitchFamily="49" charset="-122"/>
            </a:endParaRPr>
          </a:p>
        </p:txBody>
      </p:sp>
      <p:sp>
        <p:nvSpPr>
          <p:cNvPr id="35846" name="Oval 6"/>
          <p:cNvSpPr>
            <a:spLocks noChangeArrowheads="1"/>
          </p:cNvSpPr>
          <p:nvPr/>
        </p:nvSpPr>
        <p:spPr bwMode="auto">
          <a:xfrm>
            <a:off x="3563938" y="1700213"/>
            <a:ext cx="2160588" cy="792163"/>
          </a:xfrm>
          <a:prstGeom prst="ellipse">
            <a:avLst/>
          </a:prstGeom>
          <a:gradFill rotWithShape="1">
            <a:gsLst>
              <a:gs pos="0">
                <a:schemeClr val="accent1"/>
              </a:gs>
              <a:gs pos="50000">
                <a:schemeClr val="accent1">
                  <a:gamma/>
                  <a:tint val="73725"/>
                  <a:invGamma/>
                </a:schemeClr>
              </a:gs>
              <a:gs pos="100000">
                <a:schemeClr val="accent1"/>
              </a:gs>
            </a:gsLst>
            <a:lin ang="18900000" scaled="1"/>
          </a:gradFill>
          <a:ln w="9525" algn="ctr">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609600" marR="0" lvl="0" indent="-609600" algn="ctr" defTabSz="914400" rtl="0" eaLnBrk="1" fontAlgn="base" latinLnBrk="0" hangingPunct="1">
              <a:lnSpc>
                <a:spcPct val="90000"/>
              </a:lnSpc>
              <a:spcBef>
                <a:spcPct val="20000"/>
              </a:spcBef>
              <a:spcAft>
                <a:spcPct val="0"/>
              </a:spcAft>
              <a:buClrTx/>
              <a:buSzTx/>
              <a:buFontTx/>
              <a:buNone/>
              <a:defRPr/>
            </a:pPr>
            <a:r>
              <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商品市场</a:t>
            </a: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35847" name="AutoShape 7"/>
          <p:cNvSpPr>
            <a:spLocks noChangeArrowheads="1"/>
          </p:cNvSpPr>
          <p:nvPr/>
        </p:nvSpPr>
        <p:spPr bwMode="auto">
          <a:xfrm>
            <a:off x="611188" y="3213100"/>
            <a:ext cx="1871663" cy="865188"/>
          </a:xfrm>
          <a:prstGeom prst="roundRect">
            <a:avLst>
              <a:gd name="adj" fmla="val 16667"/>
            </a:avLst>
          </a:prstGeom>
          <a:gradFill rotWithShape="1">
            <a:gsLst>
              <a:gs pos="0">
                <a:schemeClr val="accent1">
                  <a:gamma/>
                  <a:tint val="73725"/>
                  <a:invGamma/>
                </a:schemeClr>
              </a:gs>
              <a:gs pos="100000">
                <a:schemeClr val="accent1"/>
              </a:gs>
            </a:gsLst>
            <a:lin ang="18900000" scaled="1"/>
          </a:gradFill>
          <a:ln w="9525" algn="ctr">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609600" marR="0" lvl="0" indent="-609600" algn="ctr" defTabSz="914400" rtl="0" eaLnBrk="1" fontAlgn="base" latinLnBrk="0" hangingPunct="1">
              <a:lnSpc>
                <a:spcPct val="90000"/>
              </a:lnSpc>
              <a:spcBef>
                <a:spcPct val="20000"/>
              </a:spcBef>
              <a:spcAft>
                <a:spcPct val="0"/>
              </a:spcAft>
              <a:buClrTx/>
              <a:buSzTx/>
              <a:buFontTx/>
              <a:buNone/>
              <a:defRPr/>
            </a:pPr>
            <a:r>
              <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家庭</a:t>
            </a: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35848" name="AutoShape 8"/>
          <p:cNvSpPr>
            <a:spLocks noChangeArrowheads="1"/>
          </p:cNvSpPr>
          <p:nvPr/>
        </p:nvSpPr>
        <p:spPr bwMode="auto">
          <a:xfrm>
            <a:off x="6877050" y="3213100"/>
            <a:ext cx="1871663" cy="865188"/>
          </a:xfrm>
          <a:prstGeom prst="roundRect">
            <a:avLst>
              <a:gd name="adj" fmla="val 16667"/>
            </a:avLst>
          </a:prstGeom>
          <a:gradFill rotWithShape="1">
            <a:gsLst>
              <a:gs pos="0">
                <a:schemeClr val="accent1">
                  <a:gamma/>
                  <a:tint val="73725"/>
                  <a:invGamma/>
                </a:schemeClr>
              </a:gs>
              <a:gs pos="100000">
                <a:schemeClr val="accent1"/>
              </a:gs>
            </a:gsLst>
            <a:lin ang="18900000" scaled="1"/>
          </a:gradFill>
          <a:ln w="9525" algn="ctr">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609600" marR="0" lvl="0" indent="-609600" algn="ctr" defTabSz="914400" rtl="0" eaLnBrk="1" fontAlgn="base" latinLnBrk="0" hangingPunct="1">
              <a:lnSpc>
                <a:spcPct val="90000"/>
              </a:lnSpc>
              <a:spcBef>
                <a:spcPct val="20000"/>
              </a:spcBef>
              <a:spcAft>
                <a:spcPct val="0"/>
              </a:spcAft>
              <a:buClrTx/>
              <a:buSzTx/>
              <a:buFontTx/>
              <a:buNone/>
              <a:defRPr/>
            </a:pPr>
            <a:r>
              <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厂商</a:t>
            </a: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35849" name="Oval 9"/>
          <p:cNvSpPr>
            <a:spLocks noChangeArrowheads="1"/>
          </p:cNvSpPr>
          <p:nvPr/>
        </p:nvSpPr>
        <p:spPr bwMode="auto">
          <a:xfrm>
            <a:off x="3563938" y="4797425"/>
            <a:ext cx="2160588" cy="792163"/>
          </a:xfrm>
          <a:prstGeom prst="ellipse">
            <a:avLst/>
          </a:prstGeom>
          <a:gradFill rotWithShape="1">
            <a:gsLst>
              <a:gs pos="0">
                <a:schemeClr val="accent1"/>
              </a:gs>
              <a:gs pos="50000">
                <a:schemeClr val="accent1">
                  <a:gamma/>
                  <a:tint val="73725"/>
                  <a:invGamma/>
                </a:schemeClr>
              </a:gs>
              <a:gs pos="100000">
                <a:schemeClr val="accent1"/>
              </a:gs>
            </a:gsLst>
            <a:lin ang="18900000" scaled="1"/>
          </a:gradFill>
          <a:ln w="9525" algn="ctr">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609600" marR="0" lvl="0" indent="-609600" algn="ctr" defTabSz="914400" rtl="0" eaLnBrk="1" fontAlgn="base" latinLnBrk="0" hangingPunct="1">
              <a:lnSpc>
                <a:spcPct val="90000"/>
              </a:lnSpc>
              <a:spcBef>
                <a:spcPct val="20000"/>
              </a:spcBef>
              <a:spcAft>
                <a:spcPct val="0"/>
              </a:spcAft>
              <a:buClrTx/>
              <a:buSzTx/>
              <a:buFontTx/>
              <a:buNone/>
              <a:defRPr/>
            </a:pPr>
            <a:r>
              <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要素市场</a:t>
            </a: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14344" name="AutoShape 10"/>
          <p:cNvSpPr/>
          <p:nvPr/>
        </p:nvSpPr>
        <p:spPr>
          <a:xfrm>
            <a:off x="5867400" y="4221163"/>
            <a:ext cx="2881313" cy="1223962"/>
          </a:xfrm>
          <a:custGeom>
            <a:avLst/>
            <a:gdLst>
              <a:gd name="txL" fmla="*/ 0 w 21600"/>
              <a:gd name="txT" fmla="*/ 19372 h 21600"/>
              <a:gd name="txR" fmla="*/ 20089 w 21600"/>
              <a:gd name="txB" fmla="*/ 21600 h 21600"/>
            </a:gdLst>
            <a:ahLst/>
            <a:cxnLst>
              <a:cxn ang="17694720">
                <a:pos x="2541558" y="0"/>
              </a:cxn>
              <a:cxn ang="11796480">
                <a:pos x="2201803" y="523867"/>
              </a:cxn>
              <a:cxn ang="11796480">
                <a:pos x="0" y="1160837"/>
              </a:cxn>
              <a:cxn ang="5898240">
                <a:pos x="1339944" y="1223962"/>
              </a:cxn>
              <a:cxn ang="0">
                <a:pos x="2679754" y="893606"/>
              </a:cxn>
              <a:cxn ang="0">
                <a:pos x="2881313" y="523867"/>
              </a:cxn>
            </a:cxnLst>
            <a:rect l="txL" t="txT" r="txR" b="txB"/>
            <a:pathLst>
              <a:path w="21600" h="21600">
                <a:moveTo>
                  <a:pt x="19053" y="0"/>
                </a:moveTo>
                <a:lnTo>
                  <a:pt x="16506" y="9245"/>
                </a:lnTo>
                <a:lnTo>
                  <a:pt x="18017" y="9245"/>
                </a:lnTo>
                <a:lnTo>
                  <a:pt x="18017" y="19372"/>
                </a:lnTo>
                <a:lnTo>
                  <a:pt x="0" y="19372"/>
                </a:lnTo>
                <a:lnTo>
                  <a:pt x="0" y="21600"/>
                </a:lnTo>
                <a:lnTo>
                  <a:pt x="20089" y="21600"/>
                </a:lnTo>
                <a:lnTo>
                  <a:pt x="20089" y="9245"/>
                </a:lnTo>
                <a:lnTo>
                  <a:pt x="21600" y="9245"/>
                </a:lnTo>
                <a:lnTo>
                  <a:pt x="19053" y="0"/>
                </a:lnTo>
                <a:close/>
              </a:path>
            </a:pathLst>
          </a:custGeom>
          <a:solidFill>
            <a:schemeClr val="accent1"/>
          </a:solidFill>
          <a:ln w="9525" cap="flat" cmpd="sng">
            <a:solidFill>
              <a:schemeClr val="tx1"/>
            </a:solidFill>
            <a:prstDash val="solid"/>
            <a:miter/>
            <a:headEnd type="none" w="med" len="med"/>
            <a:tailEnd type="none" w="med" len="med"/>
          </a:ln>
        </p:spPr>
        <p:txBody>
          <a:bodyPr wrap="none" anchor="ctr" anchorCtr="0"/>
          <a:p>
            <a:pPr marL="609600" indent="-609600" algn="ctr">
              <a:buNone/>
            </a:pPr>
            <a:r>
              <a:rPr lang="en-US" altLang="zh-CN" dirty="0">
                <a:latin typeface="宋体" panose="02010600030101010101" pitchFamily="2" charset="-122"/>
              </a:rPr>
              <a:t>                  7</a:t>
            </a:r>
            <a:endParaRPr lang="en-US" altLang="zh-CN" dirty="0">
              <a:latin typeface="宋体" panose="02010600030101010101" pitchFamily="2" charset="-122"/>
            </a:endParaRPr>
          </a:p>
        </p:txBody>
      </p:sp>
      <p:sp>
        <p:nvSpPr>
          <p:cNvPr id="14345" name="AutoShape 11"/>
          <p:cNvSpPr/>
          <p:nvPr/>
        </p:nvSpPr>
        <p:spPr>
          <a:xfrm rot="10800000">
            <a:off x="611188" y="1989138"/>
            <a:ext cx="2808287" cy="1079500"/>
          </a:xfrm>
          <a:custGeom>
            <a:avLst/>
            <a:gdLst>
              <a:gd name="txL" fmla="*/ 0 w 21600"/>
              <a:gd name="txT" fmla="*/ 19528 h 21600"/>
              <a:gd name="txR" fmla="*/ 20623 w 21600"/>
              <a:gd name="txB" fmla="*/ 21600 h 21600"/>
            </a:gdLst>
            <a:ahLst/>
            <a:cxnLst>
              <a:cxn ang="17694720">
                <a:pos x="2552681" y="0"/>
              </a:cxn>
              <a:cxn ang="11796480">
                <a:pos x="2297075" y="457188"/>
              </a:cxn>
              <a:cxn ang="11796480">
                <a:pos x="0" y="1027724"/>
              </a:cxn>
              <a:cxn ang="5898240">
                <a:pos x="1340697" y="1079500"/>
              </a:cxn>
              <a:cxn ang="0">
                <a:pos x="2681264" y="779189"/>
              </a:cxn>
              <a:cxn ang="0">
                <a:pos x="2808287" y="457188"/>
              </a:cxn>
            </a:cxnLst>
            <a:rect l="txL" t="txT" r="txR" b="txB"/>
            <a:pathLst>
              <a:path w="21600" h="21600">
                <a:moveTo>
                  <a:pt x="19634" y="0"/>
                </a:moveTo>
                <a:lnTo>
                  <a:pt x="17668" y="9148"/>
                </a:lnTo>
                <a:lnTo>
                  <a:pt x="18645" y="9148"/>
                </a:lnTo>
                <a:lnTo>
                  <a:pt x="18645" y="19528"/>
                </a:lnTo>
                <a:lnTo>
                  <a:pt x="0" y="19528"/>
                </a:lnTo>
                <a:lnTo>
                  <a:pt x="0" y="21600"/>
                </a:lnTo>
                <a:lnTo>
                  <a:pt x="20623" y="21600"/>
                </a:lnTo>
                <a:lnTo>
                  <a:pt x="20623" y="9148"/>
                </a:lnTo>
                <a:lnTo>
                  <a:pt x="21600" y="9148"/>
                </a:lnTo>
                <a:lnTo>
                  <a:pt x="19634" y="0"/>
                </a:lnTo>
                <a:close/>
              </a:path>
            </a:pathLst>
          </a:custGeom>
          <a:solidFill>
            <a:schemeClr val="accent1"/>
          </a:solidFill>
          <a:ln w="9525" cap="flat" cmpd="sng">
            <a:solidFill>
              <a:schemeClr val="tx1"/>
            </a:solidFill>
            <a:prstDash val="solid"/>
            <a:miter/>
            <a:headEnd type="none" w="med" len="med"/>
            <a:tailEnd type="none" w="med" len="med"/>
          </a:ln>
        </p:spPr>
        <p:txBody>
          <a:bodyPr rot="10800000" wrap="none" anchor="ctr" anchorCtr="0"/>
          <a:p>
            <a:pPr marL="609600" indent="-609600" algn="ctr">
              <a:buNone/>
            </a:pPr>
            <a:r>
              <a:rPr lang="en-US" altLang="zh-CN" dirty="0">
                <a:latin typeface="宋体" panose="02010600030101010101" pitchFamily="2" charset="-122"/>
              </a:rPr>
              <a:t>2</a:t>
            </a:r>
            <a:endParaRPr lang="en-US" altLang="zh-CN" dirty="0">
              <a:latin typeface="宋体" panose="02010600030101010101" pitchFamily="2" charset="-122"/>
            </a:endParaRPr>
          </a:p>
        </p:txBody>
      </p:sp>
      <p:sp>
        <p:nvSpPr>
          <p:cNvPr id="14346" name="AutoShape 12"/>
          <p:cNvSpPr/>
          <p:nvPr/>
        </p:nvSpPr>
        <p:spPr>
          <a:xfrm rot="5400000">
            <a:off x="1439863" y="3608388"/>
            <a:ext cx="1150937" cy="2663825"/>
          </a:xfrm>
          <a:custGeom>
            <a:avLst/>
            <a:gdLst>
              <a:gd name="txL" fmla="*/ 16744 w 21600"/>
              <a:gd name="txT" fmla="*/ 1497 h 21600"/>
              <a:gd name="txR" fmla="*/ 19007 w 21600"/>
              <a:gd name="txB" fmla="*/ 21600 h 21600"/>
            </a:gdLst>
            <a:ahLst/>
            <a:cxnLst>
              <a:cxn ang="17694720">
                <a:pos x="952508" y="0"/>
              </a:cxn>
              <a:cxn ang="11796480">
                <a:pos x="754024" y="607623"/>
              </a:cxn>
              <a:cxn ang="11796480">
                <a:pos x="0" y="2505352"/>
              </a:cxn>
              <a:cxn ang="5898240">
                <a:pos x="506413" y="2663825"/>
              </a:cxn>
              <a:cxn ang="0">
                <a:pos x="1012772" y="1677223"/>
              </a:cxn>
              <a:cxn ang="0">
                <a:pos x="1150938" y="607623"/>
              </a:cxn>
            </a:cxnLst>
            <a:rect l="txL" t="txT" r="txR" b="txB"/>
            <a:pathLst>
              <a:path w="21600" h="21600">
                <a:moveTo>
                  <a:pt x="17876" y="0"/>
                </a:moveTo>
                <a:lnTo>
                  <a:pt x="14151" y="4927"/>
                </a:lnTo>
                <a:lnTo>
                  <a:pt x="16744" y="4927"/>
                </a:lnTo>
                <a:lnTo>
                  <a:pt x="16744" y="19028"/>
                </a:lnTo>
                <a:lnTo>
                  <a:pt x="0" y="19028"/>
                </a:lnTo>
                <a:lnTo>
                  <a:pt x="0" y="21600"/>
                </a:lnTo>
                <a:lnTo>
                  <a:pt x="19007" y="21600"/>
                </a:lnTo>
                <a:lnTo>
                  <a:pt x="19007" y="4927"/>
                </a:lnTo>
                <a:lnTo>
                  <a:pt x="21600" y="4927"/>
                </a:lnTo>
                <a:lnTo>
                  <a:pt x="17876" y="0"/>
                </a:lnTo>
                <a:close/>
              </a:path>
            </a:pathLst>
          </a:custGeom>
          <a:solidFill>
            <a:schemeClr val="accent1"/>
          </a:solidFill>
          <a:ln w="9525" cap="flat" cmpd="sng">
            <a:solidFill>
              <a:schemeClr val="tx1"/>
            </a:solidFill>
            <a:prstDash val="solid"/>
            <a:miter/>
            <a:headEnd type="none" w="med" len="med"/>
            <a:tailEnd type="none" w="med" len="med"/>
          </a:ln>
        </p:spPr>
        <p:txBody>
          <a:bodyPr wrap="none" anchor="ctr" anchorCtr="0"/>
          <a:p>
            <a:pPr marL="609600" indent="-609600" algn="ctr">
              <a:buNone/>
            </a:pPr>
            <a:r>
              <a:rPr lang="en-US" altLang="zh-CN" dirty="0">
                <a:latin typeface="宋体" panose="02010600030101010101" pitchFamily="2" charset="-122"/>
              </a:rPr>
              <a:t>6</a:t>
            </a:r>
            <a:endParaRPr lang="en-US" altLang="zh-CN" dirty="0">
              <a:latin typeface="宋体" panose="02010600030101010101" pitchFamily="2" charset="-122"/>
            </a:endParaRPr>
          </a:p>
        </p:txBody>
      </p:sp>
      <p:sp>
        <p:nvSpPr>
          <p:cNvPr id="14347" name="AutoShape 14"/>
          <p:cNvSpPr/>
          <p:nvPr/>
        </p:nvSpPr>
        <p:spPr>
          <a:xfrm>
            <a:off x="1331913" y="2205038"/>
            <a:ext cx="2160587" cy="863600"/>
          </a:xfrm>
          <a:custGeom>
            <a:avLst/>
            <a:gdLst>
              <a:gd name="txL" fmla="*/ 12427 w 21600"/>
              <a:gd name="txT" fmla="*/ 4050 h 21600"/>
              <a:gd name="txR" fmla="*/ 19947 w 21600"/>
              <a:gd name="txB" fmla="*/ 8108 h 21600"/>
            </a:gdLst>
            <a:ahLst/>
            <a:cxnLst>
              <a:cxn ang="17694720">
                <a:pos x="1665252" y="0"/>
              </a:cxn>
              <a:cxn ang="5898240">
                <a:pos x="1665252" y="486095"/>
              </a:cxn>
              <a:cxn ang="5898240">
                <a:pos x="207456" y="863600"/>
              </a:cxn>
              <a:cxn ang="0">
                <a:pos x="2160587" y="243047"/>
              </a:cxn>
            </a:cxnLst>
            <a:rect l="txL" t="txT" r="txR" b="txB"/>
            <a:pathLst>
              <a:path w="21600" h="21600">
                <a:moveTo>
                  <a:pt x="21600" y="6079"/>
                </a:moveTo>
                <a:lnTo>
                  <a:pt x="16648" y="0"/>
                </a:lnTo>
                <a:lnTo>
                  <a:pt x="16648" y="4050"/>
                </a:lnTo>
                <a:lnTo>
                  <a:pt x="12427" y="4050"/>
                </a:lnTo>
                <a:cubicBezTo>
                  <a:pt x="5564" y="4050"/>
                  <a:pt x="0" y="7680"/>
                  <a:pt x="0" y="12158"/>
                </a:cubicBezTo>
                <a:lnTo>
                  <a:pt x="0" y="21600"/>
                </a:lnTo>
                <a:lnTo>
                  <a:pt x="4148" y="21600"/>
                </a:lnTo>
                <a:lnTo>
                  <a:pt x="4148" y="12158"/>
                </a:lnTo>
                <a:cubicBezTo>
                  <a:pt x="4148" y="9921"/>
                  <a:pt x="7855" y="8108"/>
                  <a:pt x="12427" y="8108"/>
                </a:cubicBezTo>
                <a:lnTo>
                  <a:pt x="16648" y="8108"/>
                </a:lnTo>
                <a:lnTo>
                  <a:pt x="16648" y="12158"/>
                </a:lnTo>
                <a:lnTo>
                  <a:pt x="21600" y="6079"/>
                </a:lnTo>
                <a:close/>
              </a:path>
            </a:pathLst>
          </a:custGeom>
          <a:solidFill>
            <a:schemeClr val="accent1"/>
          </a:solidFill>
          <a:ln w="9525" cap="flat" cmpd="sng">
            <a:solidFill>
              <a:schemeClr val="tx1"/>
            </a:solidFill>
            <a:prstDash val="solid"/>
            <a:miter/>
            <a:headEnd type="none" w="med" len="med"/>
            <a:tailEnd type="none" w="med" len="med"/>
          </a:ln>
        </p:spPr>
        <p:txBody>
          <a:bodyPr wrap="none" anchor="ctr" anchorCtr="0"/>
          <a:p>
            <a:pPr marL="609600" indent="-609600" algn="ctr">
              <a:buNone/>
            </a:pPr>
            <a:r>
              <a:rPr lang="en-US" altLang="zh-CN" dirty="0">
                <a:latin typeface="宋体" panose="02010600030101010101" pitchFamily="2" charset="-122"/>
              </a:rPr>
              <a:t>    1</a:t>
            </a:r>
            <a:endParaRPr lang="en-US" altLang="zh-CN" dirty="0">
              <a:latin typeface="宋体" panose="02010600030101010101" pitchFamily="2" charset="-122"/>
            </a:endParaRPr>
          </a:p>
        </p:txBody>
      </p:sp>
      <p:sp>
        <p:nvSpPr>
          <p:cNvPr id="14348" name="AutoShape 16"/>
          <p:cNvSpPr/>
          <p:nvPr/>
        </p:nvSpPr>
        <p:spPr>
          <a:xfrm rot="-5400000">
            <a:off x="1870075" y="3608388"/>
            <a:ext cx="792163" cy="2016125"/>
          </a:xfrm>
          <a:custGeom>
            <a:avLst/>
            <a:gdLst>
              <a:gd name="txL" fmla="*/ 12427 w 21600"/>
              <a:gd name="txT" fmla="*/ 4168 h 21600"/>
              <a:gd name="txR" fmla="*/ 19763 w 21600"/>
              <a:gd name="txB" fmla="*/ 7990 h 21600"/>
            </a:gdLst>
            <a:ahLst/>
            <a:cxnLst>
              <a:cxn ang="17694720">
                <a:pos x="577838" y="0"/>
              </a:cxn>
              <a:cxn ang="5898240">
                <a:pos x="577838" y="1134817"/>
              </a:cxn>
              <a:cxn ang="5898240">
                <a:pos x="71661" y="2016125"/>
              </a:cxn>
              <a:cxn ang="0">
                <a:pos x="792162" y="567409"/>
              </a:cxn>
            </a:cxnLst>
            <a:rect l="txL" t="txT" r="txR" b="txB"/>
            <a:pathLst>
              <a:path w="21600" h="21600">
                <a:moveTo>
                  <a:pt x="21600" y="6079"/>
                </a:moveTo>
                <a:lnTo>
                  <a:pt x="15756" y="0"/>
                </a:lnTo>
                <a:lnTo>
                  <a:pt x="15756" y="4168"/>
                </a:lnTo>
                <a:lnTo>
                  <a:pt x="12427" y="4168"/>
                </a:lnTo>
                <a:cubicBezTo>
                  <a:pt x="5564" y="4168"/>
                  <a:pt x="0" y="7745"/>
                  <a:pt x="0" y="12158"/>
                </a:cubicBezTo>
                <a:lnTo>
                  <a:pt x="0" y="21600"/>
                </a:lnTo>
                <a:lnTo>
                  <a:pt x="3907" y="21600"/>
                </a:lnTo>
                <a:lnTo>
                  <a:pt x="3907" y="12158"/>
                </a:lnTo>
                <a:cubicBezTo>
                  <a:pt x="3907" y="9856"/>
                  <a:pt x="7722" y="7990"/>
                  <a:pt x="12427" y="7990"/>
                </a:cubicBezTo>
                <a:lnTo>
                  <a:pt x="15756" y="7990"/>
                </a:lnTo>
                <a:lnTo>
                  <a:pt x="15756" y="12158"/>
                </a:lnTo>
                <a:lnTo>
                  <a:pt x="21600" y="6079"/>
                </a:lnTo>
                <a:close/>
              </a:path>
            </a:pathLst>
          </a:custGeom>
          <a:solidFill>
            <a:schemeClr val="accent1"/>
          </a:solidFill>
          <a:ln w="9525" cap="flat" cmpd="sng">
            <a:solidFill>
              <a:schemeClr val="tx1"/>
            </a:solidFill>
            <a:prstDash val="solid"/>
            <a:miter/>
            <a:headEnd type="none" w="med" len="med"/>
            <a:tailEnd type="none" w="med" len="med"/>
          </a:ln>
        </p:spPr>
        <p:txBody>
          <a:bodyPr vert="eaVert" wrap="none" anchor="ctr" anchorCtr="0"/>
          <a:p>
            <a:pPr marL="609600" indent="-609600" algn="ctr">
              <a:buNone/>
            </a:pPr>
            <a:r>
              <a:rPr lang="en-US" altLang="zh-CN" dirty="0">
                <a:latin typeface="宋体" panose="02010600030101010101" pitchFamily="2" charset="-122"/>
              </a:rPr>
              <a:t>5</a:t>
            </a:r>
            <a:endParaRPr lang="en-US" altLang="zh-CN" dirty="0">
              <a:latin typeface="宋体" panose="02010600030101010101" pitchFamily="2" charset="-122"/>
            </a:endParaRPr>
          </a:p>
        </p:txBody>
      </p:sp>
      <p:sp>
        <p:nvSpPr>
          <p:cNvPr id="14349" name="AutoShape 17"/>
          <p:cNvSpPr/>
          <p:nvPr/>
        </p:nvSpPr>
        <p:spPr>
          <a:xfrm rot="10800000">
            <a:off x="5795963" y="4221163"/>
            <a:ext cx="2305050" cy="863600"/>
          </a:xfrm>
          <a:custGeom>
            <a:avLst/>
            <a:gdLst>
              <a:gd name="txL" fmla="*/ 12427 w 21600"/>
              <a:gd name="txT" fmla="*/ 4050 h 21600"/>
              <a:gd name="txR" fmla="*/ 19947 w 21600"/>
              <a:gd name="txB" fmla="*/ 8108 h 21600"/>
            </a:gdLst>
            <a:ahLst/>
            <a:cxnLst>
              <a:cxn ang="17694720">
                <a:pos x="1776596" y="0"/>
              </a:cxn>
              <a:cxn ang="5898240">
                <a:pos x="1776596" y="486095"/>
              </a:cxn>
              <a:cxn ang="5898240">
                <a:pos x="221327" y="863600"/>
              </a:cxn>
              <a:cxn ang="0">
                <a:pos x="2305050" y="243047"/>
              </a:cxn>
            </a:cxnLst>
            <a:rect l="txL" t="txT" r="txR" b="txB"/>
            <a:pathLst>
              <a:path w="21600" h="21600">
                <a:moveTo>
                  <a:pt x="21600" y="6079"/>
                </a:moveTo>
                <a:lnTo>
                  <a:pt x="16648" y="0"/>
                </a:lnTo>
                <a:lnTo>
                  <a:pt x="16648" y="4050"/>
                </a:lnTo>
                <a:lnTo>
                  <a:pt x="12427" y="4050"/>
                </a:lnTo>
                <a:cubicBezTo>
                  <a:pt x="5564" y="4050"/>
                  <a:pt x="0" y="7680"/>
                  <a:pt x="0" y="12158"/>
                </a:cubicBezTo>
                <a:lnTo>
                  <a:pt x="0" y="21600"/>
                </a:lnTo>
                <a:lnTo>
                  <a:pt x="4148" y="21600"/>
                </a:lnTo>
                <a:lnTo>
                  <a:pt x="4148" y="12158"/>
                </a:lnTo>
                <a:cubicBezTo>
                  <a:pt x="4148" y="9921"/>
                  <a:pt x="7855" y="8108"/>
                  <a:pt x="12427" y="8108"/>
                </a:cubicBezTo>
                <a:lnTo>
                  <a:pt x="16648" y="8108"/>
                </a:lnTo>
                <a:lnTo>
                  <a:pt x="16648" y="12158"/>
                </a:lnTo>
                <a:lnTo>
                  <a:pt x="21600" y="6079"/>
                </a:lnTo>
                <a:close/>
              </a:path>
            </a:pathLst>
          </a:custGeom>
          <a:solidFill>
            <a:schemeClr val="accent1"/>
          </a:solidFill>
          <a:ln w="9525" cap="flat" cmpd="sng">
            <a:solidFill>
              <a:schemeClr val="tx1"/>
            </a:solidFill>
            <a:prstDash val="solid"/>
            <a:miter/>
            <a:headEnd type="none" w="med" len="med"/>
            <a:tailEnd type="none" w="med" len="med"/>
          </a:ln>
        </p:spPr>
        <p:txBody>
          <a:bodyPr rot="10800000" wrap="none" anchor="ctr" anchorCtr="0"/>
          <a:p>
            <a:pPr marL="609600" indent="-609600" algn="ctr">
              <a:buNone/>
            </a:pPr>
            <a:r>
              <a:rPr lang="en-US" altLang="zh-CN" dirty="0">
                <a:latin typeface="宋体" panose="02010600030101010101" pitchFamily="2" charset="-122"/>
              </a:rPr>
              <a:t>8</a:t>
            </a:r>
            <a:endParaRPr lang="en-US" altLang="zh-CN" dirty="0">
              <a:latin typeface="宋体" panose="02010600030101010101" pitchFamily="2" charset="-122"/>
            </a:endParaRPr>
          </a:p>
        </p:txBody>
      </p:sp>
      <p:sp>
        <p:nvSpPr>
          <p:cNvPr id="14350" name="AutoShape 18"/>
          <p:cNvSpPr/>
          <p:nvPr/>
        </p:nvSpPr>
        <p:spPr>
          <a:xfrm rot="5400000">
            <a:off x="6696075" y="1663700"/>
            <a:ext cx="792163" cy="2016125"/>
          </a:xfrm>
          <a:custGeom>
            <a:avLst/>
            <a:gdLst>
              <a:gd name="txL" fmla="*/ 12427 w 21600"/>
              <a:gd name="txT" fmla="*/ 4168 h 21600"/>
              <a:gd name="txR" fmla="*/ 19763 w 21600"/>
              <a:gd name="txB" fmla="*/ 7990 h 21600"/>
            </a:gdLst>
            <a:ahLst/>
            <a:cxnLst>
              <a:cxn ang="17694720">
                <a:pos x="577839" y="0"/>
              </a:cxn>
              <a:cxn ang="5898240">
                <a:pos x="577839" y="1134817"/>
              </a:cxn>
              <a:cxn ang="5898240">
                <a:pos x="71661" y="2016125"/>
              </a:cxn>
              <a:cxn ang="0">
                <a:pos x="792163" y="567409"/>
              </a:cxn>
            </a:cxnLst>
            <a:rect l="txL" t="txT" r="txR" b="txB"/>
            <a:pathLst>
              <a:path w="21600" h="21600">
                <a:moveTo>
                  <a:pt x="21600" y="6079"/>
                </a:moveTo>
                <a:lnTo>
                  <a:pt x="15756" y="0"/>
                </a:lnTo>
                <a:lnTo>
                  <a:pt x="15756" y="4168"/>
                </a:lnTo>
                <a:lnTo>
                  <a:pt x="12427" y="4168"/>
                </a:lnTo>
                <a:cubicBezTo>
                  <a:pt x="5564" y="4168"/>
                  <a:pt x="0" y="7745"/>
                  <a:pt x="0" y="12158"/>
                </a:cubicBezTo>
                <a:lnTo>
                  <a:pt x="0" y="21600"/>
                </a:lnTo>
                <a:lnTo>
                  <a:pt x="3907" y="21600"/>
                </a:lnTo>
                <a:lnTo>
                  <a:pt x="3907" y="12158"/>
                </a:lnTo>
                <a:cubicBezTo>
                  <a:pt x="3907" y="9856"/>
                  <a:pt x="7722" y="7990"/>
                  <a:pt x="12427" y="7990"/>
                </a:cubicBezTo>
                <a:lnTo>
                  <a:pt x="15756" y="7990"/>
                </a:lnTo>
                <a:lnTo>
                  <a:pt x="15756" y="12158"/>
                </a:lnTo>
                <a:lnTo>
                  <a:pt x="21600" y="6079"/>
                </a:lnTo>
                <a:close/>
              </a:path>
            </a:pathLst>
          </a:custGeom>
          <a:solidFill>
            <a:schemeClr val="accent1"/>
          </a:solidFill>
          <a:ln w="9525" cap="flat" cmpd="sng">
            <a:solidFill>
              <a:schemeClr val="tx1"/>
            </a:solidFill>
            <a:prstDash val="solid"/>
            <a:miter/>
            <a:headEnd type="none" w="med" len="med"/>
            <a:tailEnd type="none" w="med" len="med"/>
          </a:ln>
        </p:spPr>
        <p:txBody>
          <a:bodyPr rot="10800000" vert="eaVert" wrap="none" anchor="ctr" anchorCtr="0"/>
          <a:p>
            <a:pPr marL="609600" indent="-609600" algn="ctr">
              <a:buNone/>
            </a:pPr>
            <a:r>
              <a:rPr lang="en-US" altLang="zh-CN" dirty="0">
                <a:latin typeface="宋体" panose="02010600030101010101" pitchFamily="2" charset="-122"/>
              </a:rPr>
              <a:t>4</a:t>
            </a:r>
            <a:endParaRPr lang="en-US" altLang="zh-CN" dirty="0">
              <a:latin typeface="宋体" panose="02010600030101010101" pitchFamily="2" charset="-122"/>
            </a:endParaRPr>
          </a:p>
        </p:txBody>
      </p:sp>
      <p:sp>
        <p:nvSpPr>
          <p:cNvPr id="14351" name="AutoShape 19"/>
          <p:cNvSpPr/>
          <p:nvPr/>
        </p:nvSpPr>
        <p:spPr>
          <a:xfrm rot="-5400000">
            <a:off x="6659563" y="1123950"/>
            <a:ext cx="1150937" cy="2447925"/>
          </a:xfrm>
          <a:custGeom>
            <a:avLst/>
            <a:gdLst>
              <a:gd name="txL" fmla="*/ 16744 w 21600"/>
              <a:gd name="txT" fmla="*/ 1497 h 21600"/>
              <a:gd name="txR" fmla="*/ 19007 w 21600"/>
              <a:gd name="txB" fmla="*/ 21600 h 21600"/>
            </a:gdLst>
            <a:ahLst/>
            <a:cxnLst>
              <a:cxn ang="17694720">
                <a:pos x="952507" y="0"/>
              </a:cxn>
              <a:cxn ang="11796480">
                <a:pos x="754024" y="558376"/>
              </a:cxn>
              <a:cxn ang="11796480">
                <a:pos x="0" y="2302296"/>
              </a:cxn>
              <a:cxn ang="5898240">
                <a:pos x="506412" y="2447925"/>
              </a:cxn>
              <a:cxn ang="0">
                <a:pos x="1012771" y="1541286"/>
              </a:cxn>
              <a:cxn ang="0">
                <a:pos x="1150937" y="558376"/>
              </a:cxn>
            </a:cxnLst>
            <a:rect l="txL" t="txT" r="txR" b="txB"/>
            <a:pathLst>
              <a:path w="21600" h="21600">
                <a:moveTo>
                  <a:pt x="17876" y="0"/>
                </a:moveTo>
                <a:lnTo>
                  <a:pt x="14151" y="4927"/>
                </a:lnTo>
                <a:lnTo>
                  <a:pt x="16744" y="4927"/>
                </a:lnTo>
                <a:lnTo>
                  <a:pt x="16744" y="19028"/>
                </a:lnTo>
                <a:lnTo>
                  <a:pt x="0" y="19028"/>
                </a:lnTo>
                <a:lnTo>
                  <a:pt x="0" y="21600"/>
                </a:lnTo>
                <a:lnTo>
                  <a:pt x="19007" y="21600"/>
                </a:lnTo>
                <a:lnTo>
                  <a:pt x="19007" y="4927"/>
                </a:lnTo>
                <a:lnTo>
                  <a:pt x="21600" y="4927"/>
                </a:lnTo>
                <a:lnTo>
                  <a:pt x="17876" y="0"/>
                </a:lnTo>
                <a:close/>
              </a:path>
            </a:pathLst>
          </a:custGeom>
          <a:solidFill>
            <a:schemeClr val="accent1"/>
          </a:solidFill>
          <a:ln w="9525" cap="flat" cmpd="sng">
            <a:solidFill>
              <a:schemeClr val="tx1"/>
            </a:solidFill>
            <a:prstDash val="solid"/>
            <a:miter/>
            <a:headEnd type="none" w="med" len="med"/>
            <a:tailEnd type="none" w="med" len="med"/>
          </a:ln>
        </p:spPr>
        <p:txBody>
          <a:bodyPr rot="10800000" wrap="none" anchor="ctr" anchorCtr="0"/>
          <a:p>
            <a:pPr marL="609600" indent="-609600" algn="ctr">
              <a:buNone/>
            </a:pPr>
            <a:r>
              <a:rPr lang="en-US" altLang="zh-CN" dirty="0">
                <a:latin typeface="宋体" panose="02010600030101010101" pitchFamily="2" charset="-122"/>
              </a:rPr>
              <a:t>3</a:t>
            </a:r>
            <a:endParaRPr lang="en-US" altLang="zh-CN" dirty="0">
              <a:latin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xfrm>
            <a:off x="0" y="260350"/>
            <a:ext cx="9144000" cy="6597650"/>
          </a:xfrm>
          <a:ln/>
        </p:spPr>
        <p:txBody>
          <a:bodyPr vert="horz" wrap="square" lIns="91440" tIns="45720" rIns="91440" bIns="45720" anchor="ctr" anchorCtr="0"/>
          <a:p>
            <a:pPr algn="l" eaLnBrk="1" hangingPunct="1"/>
            <a:r>
              <a:rPr lang="en-US" altLang="zh-CN" sz="3200" b="1" dirty="0">
                <a:solidFill>
                  <a:srgbClr val="FF0000"/>
                </a:solidFill>
                <a:latin typeface="宋体" panose="02010600030101010101" pitchFamily="2" charset="-122"/>
              </a:rPr>
              <a:t>B</a:t>
            </a:r>
            <a:r>
              <a:rPr lang="zh-CN" altLang="en-US" sz="3200" b="1" dirty="0">
                <a:solidFill>
                  <a:srgbClr val="FF0000"/>
                </a:solidFill>
                <a:latin typeface="宋体" panose="02010600030101010101" pitchFamily="2" charset="-122"/>
              </a:rPr>
              <a:t>、现代市场</a:t>
            </a: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br>
              <a:rPr lang="zh-CN" altLang="en-US" sz="3200" b="1" dirty="0">
                <a:solidFill>
                  <a:srgbClr val="FF0000"/>
                </a:solidFill>
                <a:latin typeface="宋体" panose="02010600030101010101" pitchFamily="2" charset="-122"/>
              </a:rPr>
            </a:br>
            <a:r>
              <a:rPr lang="zh-CN" altLang="en-US" sz="1800" b="1" dirty="0">
                <a:latin typeface="楷体" panose="02010609060101010101" pitchFamily="49" charset="-122"/>
              </a:rPr>
              <a:t>说明：	</a:t>
            </a:r>
            <a:r>
              <a:rPr lang="en-US" altLang="zh-CN" sz="1800" b="1" dirty="0">
                <a:latin typeface="楷体" panose="02010609060101010101" pitchFamily="49" charset="-122"/>
              </a:rPr>
              <a:t>1</a:t>
            </a:r>
            <a:r>
              <a:rPr lang="zh-CN" altLang="en-US" sz="1800" b="1" dirty="0">
                <a:latin typeface="楷体" panose="02010609060101010101" pitchFamily="49" charset="-122"/>
              </a:rPr>
              <a:t>：支出；</a:t>
            </a:r>
            <a:r>
              <a:rPr lang="en-US" altLang="zh-CN" sz="1800" b="1" dirty="0">
                <a:latin typeface="楷体" panose="02010609060101010101" pitchFamily="49" charset="-122"/>
              </a:rPr>
              <a:t>2</a:t>
            </a:r>
            <a:r>
              <a:rPr lang="zh-CN" altLang="en-US" sz="1800" b="1" dirty="0">
                <a:latin typeface="楷体" panose="02010609060101010101" pitchFamily="49" charset="-122"/>
              </a:rPr>
              <a:t>：购买商品与服务；</a:t>
            </a:r>
            <a:r>
              <a:rPr lang="en-US" altLang="zh-CN" sz="1800" b="1" dirty="0">
                <a:latin typeface="楷体" panose="02010609060101010101" pitchFamily="49" charset="-122"/>
              </a:rPr>
              <a:t>3</a:t>
            </a:r>
            <a:r>
              <a:rPr lang="zh-CN" altLang="en-US" sz="1800" b="1" dirty="0">
                <a:latin typeface="楷体" panose="02010609060101010101" pitchFamily="49" charset="-122"/>
              </a:rPr>
              <a:t>：出售商品与服务；</a:t>
            </a:r>
            <a:r>
              <a:rPr lang="en-US" altLang="zh-CN" sz="1800" b="1" dirty="0">
                <a:latin typeface="楷体" panose="02010609060101010101" pitchFamily="49" charset="-122"/>
              </a:rPr>
              <a:t>4</a:t>
            </a:r>
            <a:r>
              <a:rPr lang="zh-CN" altLang="en-US" sz="1800" b="1" dirty="0">
                <a:latin typeface="楷体" panose="02010609060101010101" pitchFamily="49" charset="-122"/>
              </a:rPr>
              <a:t>：收益； </a:t>
            </a:r>
            <a:br>
              <a:rPr lang="zh-CN" altLang="en-US" sz="1800" b="1" dirty="0">
                <a:latin typeface="楷体" panose="02010609060101010101" pitchFamily="49" charset="-122"/>
              </a:rPr>
            </a:br>
            <a:r>
              <a:rPr lang="en-US" altLang="zh-CN" sz="1800" b="1" dirty="0">
                <a:latin typeface="楷体" panose="02010609060101010101" pitchFamily="49" charset="-122"/>
              </a:rPr>
              <a:t>5</a:t>
            </a:r>
            <a:r>
              <a:rPr lang="zh-CN" altLang="en-US" sz="1800" b="1" dirty="0">
                <a:latin typeface="楷体" panose="02010609060101010101" pitchFamily="49" charset="-122"/>
              </a:rPr>
              <a:t>：收入；</a:t>
            </a:r>
            <a:r>
              <a:rPr lang="en-US" altLang="zh-CN" sz="1800" b="1" dirty="0">
                <a:latin typeface="楷体" panose="02010609060101010101" pitchFamily="49" charset="-122"/>
              </a:rPr>
              <a:t>6</a:t>
            </a:r>
            <a:r>
              <a:rPr lang="zh-CN" altLang="en-US" sz="1800" b="1" dirty="0">
                <a:latin typeface="楷体" panose="02010609060101010101" pitchFamily="49" charset="-122"/>
              </a:rPr>
              <a:t>：要素供给；</a:t>
            </a:r>
            <a:r>
              <a:rPr lang="en-US" altLang="zh-CN" sz="1800" b="1" dirty="0">
                <a:latin typeface="楷体" panose="02010609060101010101" pitchFamily="49" charset="-122"/>
              </a:rPr>
              <a:t>7</a:t>
            </a:r>
            <a:r>
              <a:rPr lang="zh-CN" altLang="en-US" sz="1800" b="1" dirty="0">
                <a:latin typeface="楷体" panose="02010609060101010101" pitchFamily="49" charset="-122"/>
              </a:rPr>
              <a:t>：购买要素 </a:t>
            </a:r>
            <a:r>
              <a:rPr lang="en-US" altLang="zh-CN" sz="1800" b="1" dirty="0">
                <a:latin typeface="楷体" panose="02010609060101010101" pitchFamily="49" charset="-122"/>
              </a:rPr>
              <a:t>8</a:t>
            </a:r>
            <a:r>
              <a:rPr lang="zh-CN" altLang="en-US" sz="1800" b="1" dirty="0">
                <a:latin typeface="楷体" panose="02010609060101010101" pitchFamily="49" charset="-122"/>
              </a:rPr>
              <a:t>：成本（工资、租金、利息）</a:t>
            </a:r>
            <a:r>
              <a:rPr lang="en-US" altLang="zh-CN" sz="1800" b="1" dirty="0">
                <a:latin typeface="楷体" panose="02010609060101010101" pitchFamily="49" charset="-122"/>
              </a:rPr>
              <a:t>13</a:t>
            </a:r>
            <a:r>
              <a:rPr lang="zh-CN" altLang="en-US" sz="1800" b="1" dirty="0">
                <a:latin typeface="楷体" panose="02010609060101010101" pitchFamily="49" charset="-122"/>
              </a:rPr>
              <a:t>：转移支付；</a:t>
            </a:r>
            <a:r>
              <a:rPr lang="en-US" altLang="zh-CN" sz="1800" b="1" dirty="0">
                <a:latin typeface="楷体" panose="02010609060101010101" pitchFamily="49" charset="-122"/>
              </a:rPr>
              <a:t>14</a:t>
            </a:r>
            <a:r>
              <a:rPr lang="zh-CN" altLang="en-US" sz="1800" b="1" dirty="0">
                <a:latin typeface="楷体" panose="02010609060101010101" pitchFamily="49" charset="-122"/>
              </a:rPr>
              <a:t>：个人所得税</a:t>
            </a:r>
            <a:r>
              <a:rPr lang="en-US" altLang="zh-CN" sz="1800" b="1" dirty="0">
                <a:latin typeface="楷体" panose="02010609060101010101" pitchFamily="49" charset="-122"/>
              </a:rPr>
              <a:t>15</a:t>
            </a:r>
            <a:r>
              <a:rPr lang="zh-CN" altLang="en-US" sz="1800" b="1" dirty="0">
                <a:latin typeface="楷体" panose="02010609060101010101" pitchFamily="49" charset="-122"/>
              </a:rPr>
              <a:t>：补贴  </a:t>
            </a:r>
            <a:r>
              <a:rPr lang="en-US" altLang="zh-CN" sz="1800" b="1" dirty="0">
                <a:latin typeface="楷体" panose="02010609060101010101" pitchFamily="49" charset="-122"/>
              </a:rPr>
              <a:t>16</a:t>
            </a:r>
            <a:r>
              <a:rPr lang="zh-CN" altLang="en-US" sz="1800" b="1" dirty="0">
                <a:latin typeface="楷体" panose="02010609060101010101" pitchFamily="49" charset="-122"/>
              </a:rPr>
              <a:t>：税收 </a:t>
            </a:r>
            <a:r>
              <a:rPr lang="en-US" altLang="zh-CN" sz="1800" b="1" dirty="0">
                <a:latin typeface="楷体" panose="02010609060101010101" pitchFamily="49" charset="-122"/>
              </a:rPr>
              <a:t>17</a:t>
            </a:r>
            <a:r>
              <a:rPr lang="zh-CN" altLang="en-US" sz="1800" b="1" dirty="0">
                <a:latin typeface="楷体" panose="02010609060101010101" pitchFamily="49" charset="-122"/>
              </a:rPr>
              <a:t>、</a:t>
            </a:r>
            <a:r>
              <a:rPr lang="en-US" altLang="zh-CN" sz="1800" b="1" dirty="0">
                <a:latin typeface="楷体" panose="02010609060101010101" pitchFamily="49" charset="-122"/>
              </a:rPr>
              <a:t>18</a:t>
            </a:r>
            <a:r>
              <a:rPr lang="zh-CN" altLang="en-US" sz="1800" b="1" dirty="0">
                <a:latin typeface="楷体" panose="02010609060101010101" pitchFamily="49" charset="-122"/>
              </a:rPr>
              <a:t>：进出口 </a:t>
            </a:r>
            <a:r>
              <a:rPr lang="en-US" altLang="zh-CN" sz="1800" b="1" dirty="0">
                <a:latin typeface="楷体" panose="02010609060101010101" pitchFamily="49" charset="-122"/>
              </a:rPr>
              <a:t>19</a:t>
            </a:r>
            <a:r>
              <a:rPr lang="zh-CN" altLang="en-US" sz="1800" b="1" dirty="0">
                <a:latin typeface="楷体" panose="02010609060101010101" pitchFamily="49" charset="-122"/>
              </a:rPr>
              <a:t>、</a:t>
            </a:r>
            <a:r>
              <a:rPr lang="en-US" altLang="zh-CN" sz="1800" b="1" dirty="0">
                <a:latin typeface="楷体" panose="02010609060101010101" pitchFamily="49" charset="-122"/>
              </a:rPr>
              <a:t>20</a:t>
            </a:r>
            <a:r>
              <a:rPr lang="zh-CN" altLang="en-US" sz="1800" b="1" dirty="0">
                <a:latin typeface="楷体" panose="02010609060101010101" pitchFamily="49" charset="-122"/>
              </a:rPr>
              <a:t>：要素的国际流动</a:t>
            </a:r>
            <a:br>
              <a:rPr lang="zh-CN" altLang="en-US" sz="1800" b="1" dirty="0">
                <a:latin typeface="楷体" panose="02010609060101010101" pitchFamily="49" charset="-122"/>
              </a:rPr>
            </a:br>
            <a:endParaRPr lang="zh-CN" altLang="en-US" sz="1800" b="1" dirty="0">
              <a:latin typeface="楷体" panose="02010609060101010101" pitchFamily="49" charset="-122"/>
            </a:endParaRPr>
          </a:p>
        </p:txBody>
      </p:sp>
      <p:sp>
        <p:nvSpPr>
          <p:cNvPr id="36870" name="Oval 6"/>
          <p:cNvSpPr>
            <a:spLocks noChangeArrowheads="1"/>
          </p:cNvSpPr>
          <p:nvPr/>
        </p:nvSpPr>
        <p:spPr bwMode="auto">
          <a:xfrm>
            <a:off x="1835150" y="1773238"/>
            <a:ext cx="2160588" cy="792163"/>
          </a:xfrm>
          <a:prstGeom prst="ellipse">
            <a:avLst/>
          </a:prstGeom>
          <a:gradFill rotWithShape="1">
            <a:gsLst>
              <a:gs pos="0">
                <a:schemeClr val="accent1"/>
              </a:gs>
              <a:gs pos="50000">
                <a:schemeClr val="accent1">
                  <a:gamma/>
                  <a:tint val="73725"/>
                  <a:invGamma/>
                </a:schemeClr>
              </a:gs>
              <a:gs pos="100000">
                <a:schemeClr val="accent1"/>
              </a:gs>
            </a:gsLst>
            <a:lin ang="18900000" scaled="1"/>
          </a:gradFill>
          <a:ln w="9525" algn="ctr">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609600" marR="0" lvl="0" indent="-609600" algn="ctr" defTabSz="914400" rtl="0" eaLnBrk="1" fontAlgn="base" latinLnBrk="0" hangingPunct="1">
              <a:lnSpc>
                <a:spcPct val="90000"/>
              </a:lnSpc>
              <a:spcBef>
                <a:spcPct val="20000"/>
              </a:spcBef>
              <a:spcAft>
                <a:spcPct val="0"/>
              </a:spcAft>
              <a:buClrTx/>
              <a:buSzTx/>
              <a:buFontTx/>
              <a:buNone/>
              <a:defRPr/>
            </a:pPr>
            <a:r>
              <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商品市场</a:t>
            </a: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36871" name="AutoShape 7"/>
          <p:cNvSpPr>
            <a:spLocks noChangeArrowheads="1"/>
          </p:cNvSpPr>
          <p:nvPr/>
        </p:nvSpPr>
        <p:spPr bwMode="auto">
          <a:xfrm>
            <a:off x="179388" y="3213100"/>
            <a:ext cx="865188" cy="865188"/>
          </a:xfrm>
          <a:prstGeom prst="roundRect">
            <a:avLst>
              <a:gd name="adj" fmla="val 16667"/>
            </a:avLst>
          </a:prstGeom>
          <a:gradFill rotWithShape="1">
            <a:gsLst>
              <a:gs pos="0">
                <a:schemeClr val="accent1">
                  <a:gamma/>
                  <a:tint val="73725"/>
                  <a:invGamma/>
                </a:schemeClr>
              </a:gs>
              <a:gs pos="100000">
                <a:schemeClr val="accent1"/>
              </a:gs>
            </a:gsLst>
            <a:lin ang="18900000" scaled="1"/>
          </a:gradFill>
          <a:ln w="9525" algn="ctr">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609600" marR="0" lvl="0" indent="-609600" algn="ctr" defTabSz="914400" rtl="0" eaLnBrk="1" fontAlgn="base" latinLnBrk="0" hangingPunct="1">
              <a:lnSpc>
                <a:spcPct val="90000"/>
              </a:lnSpc>
              <a:spcBef>
                <a:spcPct val="20000"/>
              </a:spcBef>
              <a:spcAft>
                <a:spcPct val="0"/>
              </a:spcAft>
              <a:buClrTx/>
              <a:buSzTx/>
              <a:buFontTx/>
              <a:buNone/>
              <a:defRPr/>
            </a:pPr>
            <a:r>
              <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家庭</a:t>
            </a: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36872" name="AutoShape 8"/>
          <p:cNvSpPr>
            <a:spLocks noChangeArrowheads="1"/>
          </p:cNvSpPr>
          <p:nvPr/>
        </p:nvSpPr>
        <p:spPr bwMode="auto">
          <a:xfrm>
            <a:off x="4643438" y="3213100"/>
            <a:ext cx="1008063" cy="865188"/>
          </a:xfrm>
          <a:prstGeom prst="roundRect">
            <a:avLst>
              <a:gd name="adj" fmla="val 16667"/>
            </a:avLst>
          </a:prstGeom>
          <a:gradFill rotWithShape="1">
            <a:gsLst>
              <a:gs pos="0">
                <a:schemeClr val="accent1">
                  <a:gamma/>
                  <a:tint val="73725"/>
                  <a:invGamma/>
                </a:schemeClr>
              </a:gs>
              <a:gs pos="100000">
                <a:schemeClr val="accent1"/>
              </a:gs>
            </a:gsLst>
            <a:lin ang="18900000" scaled="1"/>
          </a:gradFill>
          <a:ln w="9525" algn="ctr">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609600" marR="0" lvl="0" indent="-609600" algn="ctr" defTabSz="914400" rtl="0" eaLnBrk="1" fontAlgn="base" latinLnBrk="0" hangingPunct="1">
              <a:lnSpc>
                <a:spcPct val="90000"/>
              </a:lnSpc>
              <a:spcBef>
                <a:spcPct val="20000"/>
              </a:spcBef>
              <a:spcAft>
                <a:spcPct val="0"/>
              </a:spcAft>
              <a:buClrTx/>
              <a:buSzTx/>
              <a:buFontTx/>
              <a:buNone/>
              <a:defRPr/>
            </a:pPr>
            <a:r>
              <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厂商</a:t>
            </a: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36873" name="Oval 9"/>
          <p:cNvSpPr>
            <a:spLocks noChangeArrowheads="1"/>
          </p:cNvSpPr>
          <p:nvPr/>
        </p:nvSpPr>
        <p:spPr bwMode="auto">
          <a:xfrm>
            <a:off x="1763713" y="4724400"/>
            <a:ext cx="2160588" cy="792163"/>
          </a:xfrm>
          <a:prstGeom prst="ellipse">
            <a:avLst/>
          </a:prstGeom>
          <a:gradFill rotWithShape="1">
            <a:gsLst>
              <a:gs pos="0">
                <a:schemeClr val="accent1"/>
              </a:gs>
              <a:gs pos="50000">
                <a:schemeClr val="accent1">
                  <a:gamma/>
                  <a:tint val="73725"/>
                  <a:invGamma/>
                </a:schemeClr>
              </a:gs>
              <a:gs pos="100000">
                <a:schemeClr val="accent1"/>
              </a:gs>
            </a:gsLst>
            <a:lin ang="18900000" scaled="1"/>
          </a:gradFill>
          <a:ln w="9525" algn="ctr">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609600" marR="0" lvl="0" indent="-609600" algn="ctr" defTabSz="914400" rtl="0" eaLnBrk="1" fontAlgn="base" latinLnBrk="0" hangingPunct="1">
              <a:lnSpc>
                <a:spcPct val="90000"/>
              </a:lnSpc>
              <a:spcBef>
                <a:spcPct val="20000"/>
              </a:spcBef>
              <a:spcAft>
                <a:spcPct val="0"/>
              </a:spcAft>
              <a:buClrTx/>
              <a:buSzTx/>
              <a:buFontTx/>
              <a:buNone/>
              <a:defRPr/>
            </a:pPr>
            <a:r>
              <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要素市场</a:t>
            </a: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15367" name="AutoShape 10"/>
          <p:cNvSpPr/>
          <p:nvPr/>
        </p:nvSpPr>
        <p:spPr>
          <a:xfrm>
            <a:off x="3851275" y="4221163"/>
            <a:ext cx="1800225" cy="720725"/>
          </a:xfrm>
          <a:custGeom>
            <a:avLst/>
            <a:gdLst>
              <a:gd name="txL" fmla="*/ 0 w 21600"/>
              <a:gd name="txT" fmla="*/ 19372 h 21600"/>
              <a:gd name="txR" fmla="*/ 20089 w 21600"/>
              <a:gd name="txB" fmla="*/ 21600 h 21600"/>
            </a:gdLst>
            <a:ahLst/>
            <a:cxnLst>
              <a:cxn ang="17694720">
                <a:pos x="1587948" y="0"/>
              </a:cxn>
              <a:cxn ang="11796480">
                <a:pos x="1375672" y="308477"/>
              </a:cxn>
              <a:cxn ang="11796480">
                <a:pos x="0" y="683554"/>
              </a:cxn>
              <a:cxn ang="5898240">
                <a:pos x="837188" y="720725"/>
              </a:cxn>
              <a:cxn ang="0">
                <a:pos x="1674293" y="526196"/>
              </a:cxn>
              <a:cxn ang="0">
                <a:pos x="1800225" y="308477"/>
              </a:cxn>
            </a:cxnLst>
            <a:rect l="txL" t="txT" r="txR" b="txB"/>
            <a:pathLst>
              <a:path w="21600" h="21600">
                <a:moveTo>
                  <a:pt x="19053" y="0"/>
                </a:moveTo>
                <a:lnTo>
                  <a:pt x="16506" y="9245"/>
                </a:lnTo>
                <a:lnTo>
                  <a:pt x="18017" y="9245"/>
                </a:lnTo>
                <a:lnTo>
                  <a:pt x="18017" y="19372"/>
                </a:lnTo>
                <a:lnTo>
                  <a:pt x="0" y="19372"/>
                </a:lnTo>
                <a:lnTo>
                  <a:pt x="0" y="21600"/>
                </a:lnTo>
                <a:lnTo>
                  <a:pt x="20089" y="21600"/>
                </a:lnTo>
                <a:lnTo>
                  <a:pt x="20089" y="9245"/>
                </a:lnTo>
                <a:lnTo>
                  <a:pt x="21600" y="9245"/>
                </a:lnTo>
                <a:lnTo>
                  <a:pt x="19053" y="0"/>
                </a:lnTo>
                <a:close/>
              </a:path>
            </a:pathLst>
          </a:custGeom>
          <a:solidFill>
            <a:schemeClr val="accent1"/>
          </a:solidFill>
          <a:ln w="9525" cap="flat" cmpd="sng">
            <a:solidFill>
              <a:schemeClr val="tx1"/>
            </a:solidFill>
            <a:prstDash val="solid"/>
            <a:miter/>
            <a:headEnd type="none" w="med" len="med"/>
            <a:tailEnd type="none" w="med" len="med"/>
          </a:ln>
        </p:spPr>
        <p:txBody>
          <a:bodyPr wrap="none" anchor="ctr" anchorCtr="0"/>
          <a:p>
            <a:pPr marL="609600" indent="-609600" algn="ctr">
              <a:buNone/>
            </a:pPr>
            <a:r>
              <a:rPr lang="en-US" altLang="zh-CN" dirty="0">
                <a:latin typeface="宋体" panose="02010600030101010101" pitchFamily="2" charset="-122"/>
              </a:rPr>
              <a:t>                  7</a:t>
            </a:r>
            <a:endParaRPr lang="en-US" altLang="zh-CN" dirty="0">
              <a:latin typeface="宋体" panose="02010600030101010101" pitchFamily="2" charset="-122"/>
            </a:endParaRPr>
          </a:p>
        </p:txBody>
      </p:sp>
      <p:sp>
        <p:nvSpPr>
          <p:cNvPr id="15368" name="AutoShape 11"/>
          <p:cNvSpPr/>
          <p:nvPr/>
        </p:nvSpPr>
        <p:spPr>
          <a:xfrm rot="10800000">
            <a:off x="250825" y="1989138"/>
            <a:ext cx="1441450" cy="1079500"/>
          </a:xfrm>
          <a:custGeom>
            <a:avLst/>
            <a:gdLst>
              <a:gd name="txL" fmla="*/ 0 w 21600"/>
              <a:gd name="txT" fmla="*/ 19528 h 21600"/>
              <a:gd name="txR" fmla="*/ 20623 w 21600"/>
              <a:gd name="txB" fmla="*/ 21600 h 21600"/>
            </a:gdLst>
            <a:ahLst/>
            <a:cxnLst>
              <a:cxn ang="17694720">
                <a:pos x="1310251" y="0"/>
              </a:cxn>
              <a:cxn ang="11796480">
                <a:pos x="1179053" y="457188"/>
              </a:cxn>
              <a:cxn ang="11796480">
                <a:pos x="0" y="1027724"/>
              </a:cxn>
              <a:cxn ang="5898240">
                <a:pos x="688159" y="1079500"/>
              </a:cxn>
              <a:cxn ang="0">
                <a:pos x="1376251" y="779189"/>
              </a:cxn>
              <a:cxn ang="0">
                <a:pos x="1441450" y="457188"/>
              </a:cxn>
            </a:cxnLst>
            <a:rect l="txL" t="txT" r="txR" b="txB"/>
            <a:pathLst>
              <a:path w="21600" h="21600">
                <a:moveTo>
                  <a:pt x="19634" y="0"/>
                </a:moveTo>
                <a:lnTo>
                  <a:pt x="17668" y="9148"/>
                </a:lnTo>
                <a:lnTo>
                  <a:pt x="18645" y="9148"/>
                </a:lnTo>
                <a:lnTo>
                  <a:pt x="18645" y="19528"/>
                </a:lnTo>
                <a:lnTo>
                  <a:pt x="0" y="19528"/>
                </a:lnTo>
                <a:lnTo>
                  <a:pt x="0" y="21600"/>
                </a:lnTo>
                <a:lnTo>
                  <a:pt x="20623" y="21600"/>
                </a:lnTo>
                <a:lnTo>
                  <a:pt x="20623" y="9148"/>
                </a:lnTo>
                <a:lnTo>
                  <a:pt x="21600" y="9148"/>
                </a:lnTo>
                <a:lnTo>
                  <a:pt x="19634" y="0"/>
                </a:lnTo>
                <a:close/>
              </a:path>
            </a:pathLst>
          </a:custGeom>
          <a:solidFill>
            <a:schemeClr val="accent1"/>
          </a:solidFill>
          <a:ln w="9525" cap="flat" cmpd="sng">
            <a:solidFill>
              <a:schemeClr val="tx1"/>
            </a:solidFill>
            <a:prstDash val="solid"/>
            <a:miter/>
            <a:headEnd type="none" w="med" len="med"/>
            <a:tailEnd type="none" w="med" len="med"/>
          </a:ln>
        </p:spPr>
        <p:txBody>
          <a:bodyPr rot="10800000" wrap="none" anchor="ctr" anchorCtr="0"/>
          <a:p>
            <a:pPr marL="609600" indent="-609600" algn="ctr">
              <a:buNone/>
            </a:pPr>
            <a:r>
              <a:rPr lang="en-US" altLang="zh-CN" dirty="0">
                <a:latin typeface="宋体" panose="02010600030101010101" pitchFamily="2" charset="-122"/>
              </a:rPr>
              <a:t>2</a:t>
            </a:r>
            <a:endParaRPr lang="en-US" altLang="zh-CN" dirty="0">
              <a:latin typeface="宋体" panose="02010600030101010101" pitchFamily="2" charset="-122"/>
            </a:endParaRPr>
          </a:p>
        </p:txBody>
      </p:sp>
      <p:sp>
        <p:nvSpPr>
          <p:cNvPr id="15369" name="AutoShape 12"/>
          <p:cNvSpPr/>
          <p:nvPr/>
        </p:nvSpPr>
        <p:spPr>
          <a:xfrm rot="5400000">
            <a:off x="323850" y="4292600"/>
            <a:ext cx="1150938" cy="1296988"/>
          </a:xfrm>
          <a:custGeom>
            <a:avLst/>
            <a:gdLst>
              <a:gd name="txL" fmla="*/ 16744 w 21600"/>
              <a:gd name="txT" fmla="*/ 1497 h 21600"/>
              <a:gd name="txR" fmla="*/ 19007 w 21600"/>
              <a:gd name="txB" fmla="*/ 21600 h 21600"/>
            </a:gdLst>
            <a:ahLst/>
            <a:cxnLst>
              <a:cxn ang="17694720">
                <a:pos x="952508" y="0"/>
              </a:cxn>
              <a:cxn ang="11796480">
                <a:pos x="754024" y="295845"/>
              </a:cxn>
              <a:cxn ang="11796480">
                <a:pos x="0" y="1219829"/>
              </a:cxn>
              <a:cxn ang="5898240">
                <a:pos x="506413" y="1296988"/>
              </a:cxn>
              <a:cxn ang="0">
                <a:pos x="1012772" y="816622"/>
              </a:cxn>
              <a:cxn ang="0">
                <a:pos x="1150938" y="295845"/>
              </a:cxn>
            </a:cxnLst>
            <a:rect l="txL" t="txT" r="txR" b="txB"/>
            <a:pathLst>
              <a:path w="21600" h="21600">
                <a:moveTo>
                  <a:pt x="17876" y="0"/>
                </a:moveTo>
                <a:lnTo>
                  <a:pt x="14151" y="4927"/>
                </a:lnTo>
                <a:lnTo>
                  <a:pt x="16744" y="4927"/>
                </a:lnTo>
                <a:lnTo>
                  <a:pt x="16744" y="19028"/>
                </a:lnTo>
                <a:lnTo>
                  <a:pt x="0" y="19028"/>
                </a:lnTo>
                <a:lnTo>
                  <a:pt x="0" y="21600"/>
                </a:lnTo>
                <a:lnTo>
                  <a:pt x="19007" y="21600"/>
                </a:lnTo>
                <a:lnTo>
                  <a:pt x="19007" y="4927"/>
                </a:lnTo>
                <a:lnTo>
                  <a:pt x="21600" y="4927"/>
                </a:lnTo>
                <a:lnTo>
                  <a:pt x="17876" y="0"/>
                </a:lnTo>
                <a:close/>
              </a:path>
            </a:pathLst>
          </a:custGeom>
          <a:solidFill>
            <a:schemeClr val="accent1"/>
          </a:solidFill>
          <a:ln w="9525" cap="flat" cmpd="sng">
            <a:solidFill>
              <a:schemeClr val="tx1"/>
            </a:solidFill>
            <a:prstDash val="solid"/>
            <a:miter/>
            <a:headEnd type="none" w="med" len="med"/>
            <a:tailEnd type="none" w="med" len="med"/>
          </a:ln>
        </p:spPr>
        <p:txBody>
          <a:bodyPr wrap="none" anchor="ctr" anchorCtr="0"/>
          <a:p>
            <a:pPr marL="609600" indent="-609600" algn="ctr">
              <a:buNone/>
            </a:pPr>
            <a:r>
              <a:rPr lang="en-US" altLang="zh-CN" dirty="0">
                <a:latin typeface="宋体" panose="02010600030101010101" pitchFamily="2" charset="-122"/>
              </a:rPr>
              <a:t>6</a:t>
            </a:r>
            <a:endParaRPr lang="en-US" altLang="zh-CN" dirty="0">
              <a:latin typeface="宋体" panose="02010600030101010101" pitchFamily="2" charset="-122"/>
            </a:endParaRPr>
          </a:p>
        </p:txBody>
      </p:sp>
      <p:sp>
        <p:nvSpPr>
          <p:cNvPr id="15370" name="AutoShape 13"/>
          <p:cNvSpPr/>
          <p:nvPr/>
        </p:nvSpPr>
        <p:spPr>
          <a:xfrm>
            <a:off x="539750" y="2205038"/>
            <a:ext cx="1223963" cy="863600"/>
          </a:xfrm>
          <a:custGeom>
            <a:avLst/>
            <a:gdLst>
              <a:gd name="txL" fmla="*/ 12427 w 21600"/>
              <a:gd name="txT" fmla="*/ 4050 h 21600"/>
              <a:gd name="txR" fmla="*/ 19947 w 21600"/>
              <a:gd name="txB" fmla="*/ 8108 h 21600"/>
            </a:gdLst>
            <a:ahLst/>
            <a:cxnLst>
              <a:cxn ang="17694720">
                <a:pos x="943358" y="0"/>
              </a:cxn>
              <a:cxn ang="5898240">
                <a:pos x="943358" y="486095"/>
              </a:cxn>
              <a:cxn ang="5898240">
                <a:pos x="117523" y="863600"/>
              </a:cxn>
              <a:cxn ang="0">
                <a:pos x="1223963" y="243047"/>
              </a:cxn>
            </a:cxnLst>
            <a:rect l="txL" t="txT" r="txR" b="txB"/>
            <a:pathLst>
              <a:path w="21600" h="21600">
                <a:moveTo>
                  <a:pt x="21600" y="6079"/>
                </a:moveTo>
                <a:lnTo>
                  <a:pt x="16648" y="0"/>
                </a:lnTo>
                <a:lnTo>
                  <a:pt x="16648" y="4050"/>
                </a:lnTo>
                <a:lnTo>
                  <a:pt x="12427" y="4050"/>
                </a:lnTo>
                <a:cubicBezTo>
                  <a:pt x="5564" y="4050"/>
                  <a:pt x="0" y="7680"/>
                  <a:pt x="0" y="12158"/>
                </a:cubicBezTo>
                <a:lnTo>
                  <a:pt x="0" y="21600"/>
                </a:lnTo>
                <a:lnTo>
                  <a:pt x="4148" y="21600"/>
                </a:lnTo>
                <a:lnTo>
                  <a:pt x="4148" y="12158"/>
                </a:lnTo>
                <a:cubicBezTo>
                  <a:pt x="4148" y="9921"/>
                  <a:pt x="7855" y="8108"/>
                  <a:pt x="12427" y="8108"/>
                </a:cubicBezTo>
                <a:lnTo>
                  <a:pt x="16648" y="8108"/>
                </a:lnTo>
                <a:lnTo>
                  <a:pt x="16648" y="12158"/>
                </a:lnTo>
                <a:lnTo>
                  <a:pt x="21600" y="6079"/>
                </a:lnTo>
                <a:close/>
              </a:path>
            </a:pathLst>
          </a:custGeom>
          <a:solidFill>
            <a:schemeClr val="accent1"/>
          </a:solidFill>
          <a:ln w="9525" cap="flat" cmpd="sng">
            <a:solidFill>
              <a:schemeClr val="tx1"/>
            </a:solidFill>
            <a:prstDash val="solid"/>
            <a:miter/>
            <a:headEnd type="none" w="med" len="med"/>
            <a:tailEnd type="none" w="med" len="med"/>
          </a:ln>
        </p:spPr>
        <p:txBody>
          <a:bodyPr wrap="none" anchor="ctr" anchorCtr="0"/>
          <a:p>
            <a:pPr marL="609600" indent="-609600" algn="ctr">
              <a:buNone/>
            </a:pPr>
            <a:r>
              <a:rPr lang="en-US" altLang="zh-CN" dirty="0">
                <a:latin typeface="宋体" panose="02010600030101010101" pitchFamily="2" charset="-122"/>
              </a:rPr>
              <a:t>    1</a:t>
            </a:r>
            <a:endParaRPr lang="en-US" altLang="zh-CN" dirty="0">
              <a:latin typeface="宋体" panose="02010600030101010101" pitchFamily="2" charset="-122"/>
            </a:endParaRPr>
          </a:p>
        </p:txBody>
      </p:sp>
      <p:sp>
        <p:nvSpPr>
          <p:cNvPr id="15371" name="AutoShape 14"/>
          <p:cNvSpPr/>
          <p:nvPr/>
        </p:nvSpPr>
        <p:spPr>
          <a:xfrm rot="-5400000">
            <a:off x="611188" y="4076700"/>
            <a:ext cx="792162" cy="1079500"/>
          </a:xfrm>
          <a:custGeom>
            <a:avLst/>
            <a:gdLst>
              <a:gd name="txL" fmla="*/ 12427 w 21600"/>
              <a:gd name="txT" fmla="*/ 4168 h 21600"/>
              <a:gd name="txR" fmla="*/ 19763 w 21600"/>
              <a:gd name="txB" fmla="*/ 7990 h 21600"/>
            </a:gdLst>
            <a:ahLst/>
            <a:cxnLst>
              <a:cxn ang="17694720">
                <a:pos x="577838" y="0"/>
              </a:cxn>
              <a:cxn ang="5898240">
                <a:pos x="577838" y="607619"/>
              </a:cxn>
              <a:cxn ang="5898240">
                <a:pos x="71661" y="1079500"/>
              </a:cxn>
              <a:cxn ang="0">
                <a:pos x="792162" y="303809"/>
              </a:cxn>
            </a:cxnLst>
            <a:rect l="txL" t="txT" r="txR" b="txB"/>
            <a:pathLst>
              <a:path w="21600" h="21600">
                <a:moveTo>
                  <a:pt x="21600" y="6079"/>
                </a:moveTo>
                <a:lnTo>
                  <a:pt x="15756" y="0"/>
                </a:lnTo>
                <a:lnTo>
                  <a:pt x="15756" y="4168"/>
                </a:lnTo>
                <a:lnTo>
                  <a:pt x="12427" y="4168"/>
                </a:lnTo>
                <a:cubicBezTo>
                  <a:pt x="5564" y="4168"/>
                  <a:pt x="0" y="7745"/>
                  <a:pt x="0" y="12158"/>
                </a:cubicBezTo>
                <a:lnTo>
                  <a:pt x="0" y="21600"/>
                </a:lnTo>
                <a:lnTo>
                  <a:pt x="3907" y="21600"/>
                </a:lnTo>
                <a:lnTo>
                  <a:pt x="3907" y="12158"/>
                </a:lnTo>
                <a:cubicBezTo>
                  <a:pt x="3907" y="9856"/>
                  <a:pt x="7722" y="7990"/>
                  <a:pt x="12427" y="7990"/>
                </a:cubicBezTo>
                <a:lnTo>
                  <a:pt x="15756" y="7990"/>
                </a:lnTo>
                <a:lnTo>
                  <a:pt x="15756" y="12158"/>
                </a:lnTo>
                <a:lnTo>
                  <a:pt x="21600" y="6079"/>
                </a:lnTo>
                <a:close/>
              </a:path>
            </a:pathLst>
          </a:custGeom>
          <a:solidFill>
            <a:schemeClr val="accent1"/>
          </a:solidFill>
          <a:ln w="9525" cap="flat" cmpd="sng">
            <a:solidFill>
              <a:schemeClr val="tx1"/>
            </a:solidFill>
            <a:prstDash val="solid"/>
            <a:miter/>
            <a:headEnd type="none" w="med" len="med"/>
            <a:tailEnd type="none" w="med" len="med"/>
          </a:ln>
        </p:spPr>
        <p:txBody>
          <a:bodyPr vert="eaVert" wrap="none" anchor="ctr" anchorCtr="0"/>
          <a:p>
            <a:pPr marL="609600" indent="-609600" algn="ctr">
              <a:buNone/>
            </a:pPr>
            <a:r>
              <a:rPr lang="en-US" altLang="zh-CN" dirty="0">
                <a:latin typeface="宋体" panose="02010600030101010101" pitchFamily="2" charset="-122"/>
              </a:rPr>
              <a:t>5</a:t>
            </a:r>
            <a:endParaRPr lang="en-US" altLang="zh-CN" dirty="0">
              <a:latin typeface="宋体" panose="02010600030101010101" pitchFamily="2" charset="-122"/>
            </a:endParaRPr>
          </a:p>
        </p:txBody>
      </p:sp>
      <p:sp>
        <p:nvSpPr>
          <p:cNvPr id="15372" name="AutoShape 15"/>
          <p:cNvSpPr/>
          <p:nvPr/>
        </p:nvSpPr>
        <p:spPr>
          <a:xfrm rot="10800000">
            <a:off x="3924300" y="4292600"/>
            <a:ext cx="1079500" cy="576263"/>
          </a:xfrm>
          <a:custGeom>
            <a:avLst/>
            <a:gdLst>
              <a:gd name="txL" fmla="*/ 12427 w 21600"/>
              <a:gd name="txT" fmla="*/ 4050 h 21600"/>
              <a:gd name="txR" fmla="*/ 19947 w 21600"/>
              <a:gd name="txB" fmla="*/ 8108 h 21600"/>
            </a:gdLst>
            <a:ahLst/>
            <a:cxnLst>
              <a:cxn ang="17694720">
                <a:pos x="832015" y="0"/>
              </a:cxn>
              <a:cxn ang="5898240">
                <a:pos x="832015" y="324361"/>
              </a:cxn>
              <a:cxn ang="5898240">
                <a:pos x="103652" y="576263"/>
              </a:cxn>
              <a:cxn ang="0">
                <a:pos x="1079500" y="162181"/>
              </a:cxn>
            </a:cxnLst>
            <a:rect l="txL" t="txT" r="txR" b="txB"/>
            <a:pathLst>
              <a:path w="21600" h="21600">
                <a:moveTo>
                  <a:pt x="21600" y="6079"/>
                </a:moveTo>
                <a:lnTo>
                  <a:pt x="16648" y="0"/>
                </a:lnTo>
                <a:lnTo>
                  <a:pt x="16648" y="4050"/>
                </a:lnTo>
                <a:lnTo>
                  <a:pt x="12427" y="4050"/>
                </a:lnTo>
                <a:cubicBezTo>
                  <a:pt x="5564" y="4050"/>
                  <a:pt x="0" y="7680"/>
                  <a:pt x="0" y="12158"/>
                </a:cubicBezTo>
                <a:lnTo>
                  <a:pt x="0" y="21600"/>
                </a:lnTo>
                <a:lnTo>
                  <a:pt x="4148" y="21600"/>
                </a:lnTo>
                <a:lnTo>
                  <a:pt x="4148" y="12158"/>
                </a:lnTo>
                <a:cubicBezTo>
                  <a:pt x="4148" y="9921"/>
                  <a:pt x="7855" y="8108"/>
                  <a:pt x="12427" y="8108"/>
                </a:cubicBezTo>
                <a:lnTo>
                  <a:pt x="16648" y="8108"/>
                </a:lnTo>
                <a:lnTo>
                  <a:pt x="16648" y="12158"/>
                </a:lnTo>
                <a:lnTo>
                  <a:pt x="21600" y="6079"/>
                </a:lnTo>
                <a:close/>
              </a:path>
            </a:pathLst>
          </a:custGeom>
          <a:solidFill>
            <a:schemeClr val="accent1"/>
          </a:solidFill>
          <a:ln w="9525" cap="flat" cmpd="sng">
            <a:solidFill>
              <a:schemeClr val="tx1"/>
            </a:solidFill>
            <a:prstDash val="solid"/>
            <a:miter/>
            <a:headEnd type="none" w="med" len="med"/>
            <a:tailEnd type="none" w="med" len="med"/>
          </a:ln>
        </p:spPr>
        <p:txBody>
          <a:bodyPr rot="10800000" wrap="none" anchor="ctr" anchorCtr="0"/>
          <a:p>
            <a:pPr marL="609600" indent="-609600" algn="ctr">
              <a:buNone/>
            </a:pPr>
            <a:r>
              <a:rPr lang="en-US" altLang="zh-CN" dirty="0">
                <a:latin typeface="宋体" panose="02010600030101010101" pitchFamily="2" charset="-122"/>
              </a:rPr>
              <a:t>8</a:t>
            </a:r>
            <a:endParaRPr lang="en-US" altLang="zh-CN" dirty="0">
              <a:latin typeface="宋体" panose="02010600030101010101" pitchFamily="2" charset="-122"/>
            </a:endParaRPr>
          </a:p>
        </p:txBody>
      </p:sp>
      <p:sp>
        <p:nvSpPr>
          <p:cNvPr id="15373" name="AutoShape 16"/>
          <p:cNvSpPr/>
          <p:nvPr/>
        </p:nvSpPr>
        <p:spPr>
          <a:xfrm rot="5400000">
            <a:off x="4356100" y="2347913"/>
            <a:ext cx="503238" cy="936625"/>
          </a:xfrm>
          <a:custGeom>
            <a:avLst/>
            <a:gdLst>
              <a:gd name="txL" fmla="*/ 12427 w 21600"/>
              <a:gd name="txT" fmla="*/ 4168 h 21600"/>
              <a:gd name="txR" fmla="*/ 19763 w 21600"/>
              <a:gd name="txB" fmla="*/ 7990 h 21600"/>
            </a:gdLst>
            <a:ahLst/>
            <a:cxnLst>
              <a:cxn ang="17694720">
                <a:pos x="367084" y="0"/>
              </a:cxn>
              <a:cxn ang="5898240">
                <a:pos x="367084" y="527198"/>
              </a:cxn>
              <a:cxn ang="5898240">
                <a:pos x="45524" y="936625"/>
              </a:cxn>
              <a:cxn ang="0">
                <a:pos x="503238" y="263599"/>
              </a:cxn>
            </a:cxnLst>
            <a:rect l="txL" t="txT" r="txR" b="txB"/>
            <a:pathLst>
              <a:path w="21600" h="21600">
                <a:moveTo>
                  <a:pt x="21600" y="6079"/>
                </a:moveTo>
                <a:lnTo>
                  <a:pt x="15756" y="0"/>
                </a:lnTo>
                <a:lnTo>
                  <a:pt x="15756" y="4168"/>
                </a:lnTo>
                <a:lnTo>
                  <a:pt x="12427" y="4168"/>
                </a:lnTo>
                <a:cubicBezTo>
                  <a:pt x="5564" y="4168"/>
                  <a:pt x="0" y="7745"/>
                  <a:pt x="0" y="12158"/>
                </a:cubicBezTo>
                <a:lnTo>
                  <a:pt x="0" y="21600"/>
                </a:lnTo>
                <a:lnTo>
                  <a:pt x="3907" y="21600"/>
                </a:lnTo>
                <a:lnTo>
                  <a:pt x="3907" y="12158"/>
                </a:lnTo>
                <a:cubicBezTo>
                  <a:pt x="3907" y="9856"/>
                  <a:pt x="7722" y="7990"/>
                  <a:pt x="12427" y="7990"/>
                </a:cubicBezTo>
                <a:lnTo>
                  <a:pt x="15756" y="7990"/>
                </a:lnTo>
                <a:lnTo>
                  <a:pt x="15756" y="12158"/>
                </a:lnTo>
                <a:lnTo>
                  <a:pt x="21600" y="6079"/>
                </a:lnTo>
                <a:close/>
              </a:path>
            </a:pathLst>
          </a:custGeom>
          <a:solidFill>
            <a:schemeClr val="accent1"/>
          </a:solidFill>
          <a:ln w="9525" cap="flat" cmpd="sng">
            <a:solidFill>
              <a:schemeClr val="tx1"/>
            </a:solidFill>
            <a:prstDash val="solid"/>
            <a:miter/>
            <a:headEnd type="none" w="med" len="med"/>
            <a:tailEnd type="none" w="med" len="med"/>
          </a:ln>
        </p:spPr>
        <p:txBody>
          <a:bodyPr rot="10800000" vert="eaVert" wrap="none" anchor="ctr" anchorCtr="0"/>
          <a:p>
            <a:pPr marL="609600" indent="-609600" algn="ctr">
              <a:buNone/>
            </a:pPr>
            <a:r>
              <a:rPr lang="en-US" altLang="zh-CN" dirty="0">
                <a:latin typeface="宋体" panose="02010600030101010101" pitchFamily="2" charset="-122"/>
              </a:rPr>
              <a:t>4</a:t>
            </a:r>
            <a:endParaRPr lang="en-US" altLang="zh-CN" dirty="0">
              <a:latin typeface="宋体" panose="02010600030101010101" pitchFamily="2" charset="-122"/>
            </a:endParaRPr>
          </a:p>
        </p:txBody>
      </p:sp>
      <p:sp>
        <p:nvSpPr>
          <p:cNvPr id="15374" name="AutoShape 17"/>
          <p:cNvSpPr/>
          <p:nvPr/>
        </p:nvSpPr>
        <p:spPr>
          <a:xfrm rot="-5400000">
            <a:off x="4429125" y="1916113"/>
            <a:ext cx="862013" cy="1296987"/>
          </a:xfrm>
          <a:custGeom>
            <a:avLst/>
            <a:gdLst>
              <a:gd name="txL" fmla="*/ 16744 w 21600"/>
              <a:gd name="txT" fmla="*/ 1497 h 21600"/>
              <a:gd name="txR" fmla="*/ 19007 w 21600"/>
              <a:gd name="txB" fmla="*/ 21600 h 21600"/>
            </a:gdLst>
            <a:ahLst/>
            <a:cxnLst>
              <a:cxn ang="17694720">
                <a:pos x="713396" y="0"/>
              </a:cxn>
              <a:cxn ang="11796480">
                <a:pos x="564738" y="295845"/>
              </a:cxn>
              <a:cxn ang="11796480">
                <a:pos x="0" y="1219828"/>
              </a:cxn>
              <a:cxn ang="5898240">
                <a:pos x="379286" y="1296987"/>
              </a:cxn>
              <a:cxn ang="0">
                <a:pos x="758532" y="816621"/>
              </a:cxn>
              <a:cxn ang="0">
                <a:pos x="862013" y="295845"/>
              </a:cxn>
            </a:cxnLst>
            <a:rect l="txL" t="txT" r="txR" b="txB"/>
            <a:pathLst>
              <a:path w="21600" h="21600">
                <a:moveTo>
                  <a:pt x="17876" y="0"/>
                </a:moveTo>
                <a:lnTo>
                  <a:pt x="14151" y="4927"/>
                </a:lnTo>
                <a:lnTo>
                  <a:pt x="16744" y="4927"/>
                </a:lnTo>
                <a:lnTo>
                  <a:pt x="16744" y="19028"/>
                </a:lnTo>
                <a:lnTo>
                  <a:pt x="0" y="19028"/>
                </a:lnTo>
                <a:lnTo>
                  <a:pt x="0" y="21600"/>
                </a:lnTo>
                <a:lnTo>
                  <a:pt x="19007" y="21600"/>
                </a:lnTo>
                <a:lnTo>
                  <a:pt x="19007" y="4927"/>
                </a:lnTo>
                <a:lnTo>
                  <a:pt x="21600" y="4927"/>
                </a:lnTo>
                <a:lnTo>
                  <a:pt x="17876" y="0"/>
                </a:lnTo>
                <a:close/>
              </a:path>
            </a:pathLst>
          </a:custGeom>
          <a:solidFill>
            <a:schemeClr val="accent1"/>
          </a:solidFill>
          <a:ln w="9525" cap="flat" cmpd="sng">
            <a:solidFill>
              <a:schemeClr val="tx1"/>
            </a:solidFill>
            <a:prstDash val="solid"/>
            <a:miter/>
            <a:headEnd type="none" w="med" len="med"/>
            <a:tailEnd type="none" w="med" len="med"/>
          </a:ln>
        </p:spPr>
        <p:txBody>
          <a:bodyPr rot="10800000" wrap="none" anchor="ctr" anchorCtr="0"/>
          <a:p>
            <a:pPr marL="609600" indent="-609600" algn="ctr">
              <a:buNone/>
            </a:pPr>
            <a:r>
              <a:rPr lang="en-US" altLang="zh-CN" dirty="0">
                <a:latin typeface="宋体" panose="02010600030101010101" pitchFamily="2" charset="-122"/>
              </a:rPr>
              <a:t>3</a:t>
            </a:r>
            <a:endParaRPr lang="en-US" altLang="zh-CN" dirty="0">
              <a:latin typeface="宋体" panose="02010600030101010101" pitchFamily="2" charset="-122"/>
            </a:endParaRPr>
          </a:p>
        </p:txBody>
      </p:sp>
      <p:sp>
        <p:nvSpPr>
          <p:cNvPr id="36882" name="AutoShape 18"/>
          <p:cNvSpPr>
            <a:spLocks noChangeArrowheads="1"/>
          </p:cNvSpPr>
          <p:nvPr/>
        </p:nvSpPr>
        <p:spPr bwMode="auto">
          <a:xfrm>
            <a:off x="7380288" y="3284538"/>
            <a:ext cx="1008063" cy="865188"/>
          </a:xfrm>
          <a:prstGeom prst="roundRect">
            <a:avLst>
              <a:gd name="adj" fmla="val 16667"/>
            </a:avLst>
          </a:prstGeom>
          <a:gradFill rotWithShape="1">
            <a:gsLst>
              <a:gs pos="0">
                <a:schemeClr val="accent1">
                  <a:gamma/>
                  <a:tint val="73725"/>
                  <a:invGamma/>
                </a:schemeClr>
              </a:gs>
              <a:gs pos="100000">
                <a:schemeClr val="accent1"/>
              </a:gs>
            </a:gsLst>
            <a:lin ang="18900000" scaled="1"/>
          </a:gradFill>
          <a:ln w="9525" algn="ctr">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609600" marR="0" lvl="0" indent="-609600" algn="ctr" defTabSz="914400" rtl="0" eaLnBrk="1" fontAlgn="base" latinLnBrk="0" hangingPunct="1">
              <a:lnSpc>
                <a:spcPct val="90000"/>
              </a:lnSpc>
              <a:spcBef>
                <a:spcPct val="20000"/>
              </a:spcBef>
              <a:spcAft>
                <a:spcPct val="0"/>
              </a:spcAft>
              <a:buClrTx/>
              <a:buSzTx/>
              <a:buFontTx/>
              <a:buNone/>
              <a:defRPr/>
            </a:pPr>
            <a:r>
              <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外国</a:t>
            </a: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15376" name="AutoShape 19"/>
          <p:cNvSpPr/>
          <p:nvPr/>
        </p:nvSpPr>
        <p:spPr>
          <a:xfrm>
            <a:off x="4284663" y="4149725"/>
            <a:ext cx="4464050" cy="1511300"/>
          </a:xfrm>
          <a:custGeom>
            <a:avLst/>
            <a:gdLst>
              <a:gd name="txL" fmla="*/ 0 w 21600"/>
              <a:gd name="txT" fmla="*/ 20506 h 21600"/>
              <a:gd name="txR" fmla="*/ 20455 w 21600"/>
              <a:gd name="txB" fmla="*/ 21600 h 21600"/>
            </a:gdLst>
            <a:ahLst/>
            <a:cxnLst>
              <a:cxn ang="17694720">
                <a:pos x="4120359" y="0"/>
              </a:cxn>
              <a:cxn ang="11796480">
                <a:pos x="3776669" y="631807"/>
              </a:cxn>
              <a:cxn ang="11796480">
                <a:pos x="0" y="1473028"/>
              </a:cxn>
              <a:cxn ang="5898240">
                <a:pos x="2113810" y="1511300"/>
              </a:cxn>
              <a:cxn ang="0">
                <a:pos x="4227414" y="1089255"/>
              </a:cxn>
              <a:cxn ang="0">
                <a:pos x="4464050" y="631807"/>
              </a:cxn>
            </a:cxnLst>
            <a:rect l="txL" t="txT" r="txR" b="txB"/>
            <a:pathLst>
              <a:path w="21600" h="21600">
                <a:moveTo>
                  <a:pt x="19937" y="0"/>
                </a:moveTo>
                <a:lnTo>
                  <a:pt x="18274" y="9030"/>
                </a:lnTo>
                <a:lnTo>
                  <a:pt x="19419" y="9030"/>
                </a:lnTo>
                <a:lnTo>
                  <a:pt x="19419" y="20506"/>
                </a:lnTo>
                <a:lnTo>
                  <a:pt x="0" y="20506"/>
                </a:lnTo>
                <a:lnTo>
                  <a:pt x="0" y="21600"/>
                </a:lnTo>
                <a:lnTo>
                  <a:pt x="20455" y="21600"/>
                </a:lnTo>
                <a:lnTo>
                  <a:pt x="20455" y="9030"/>
                </a:lnTo>
                <a:lnTo>
                  <a:pt x="21600" y="9030"/>
                </a:lnTo>
                <a:lnTo>
                  <a:pt x="19937" y="0"/>
                </a:lnTo>
                <a:close/>
              </a:path>
            </a:pathLst>
          </a:custGeom>
          <a:solidFill>
            <a:schemeClr val="accent1"/>
          </a:solidFill>
          <a:ln w="9525" cap="flat" cmpd="sng">
            <a:solidFill>
              <a:schemeClr val="tx1"/>
            </a:solidFill>
            <a:prstDash val="solid"/>
            <a:miter/>
            <a:headEnd type="none" w="med" len="med"/>
            <a:tailEnd type="none" w="med" len="med"/>
          </a:ln>
        </p:spPr>
        <p:txBody>
          <a:bodyPr wrap="none" anchor="ctr" anchorCtr="0"/>
          <a:p>
            <a:pPr marL="609600" indent="-609600" algn="ctr">
              <a:buNone/>
            </a:pPr>
            <a:r>
              <a:rPr lang="en-US" altLang="zh-CN" dirty="0">
                <a:latin typeface="宋体" panose="02010600030101010101" pitchFamily="2" charset="-122"/>
              </a:rPr>
              <a:t>                  19</a:t>
            </a:r>
            <a:endParaRPr lang="en-US" altLang="zh-CN" dirty="0">
              <a:latin typeface="宋体" panose="02010600030101010101" pitchFamily="2" charset="-122"/>
            </a:endParaRPr>
          </a:p>
        </p:txBody>
      </p:sp>
      <p:sp>
        <p:nvSpPr>
          <p:cNvPr id="15377" name="AutoShape 20"/>
          <p:cNvSpPr/>
          <p:nvPr/>
        </p:nvSpPr>
        <p:spPr>
          <a:xfrm rot="10800000">
            <a:off x="4284663" y="4581525"/>
            <a:ext cx="3887787" cy="935038"/>
          </a:xfrm>
          <a:custGeom>
            <a:avLst/>
            <a:gdLst>
              <a:gd name="txL" fmla="*/ 12427 w 21600"/>
              <a:gd name="txT" fmla="*/ 4447 h 21600"/>
              <a:gd name="txR" fmla="*/ 19691 w 21600"/>
              <a:gd name="txB" fmla="*/ 7711 h 21600"/>
            </a:gdLst>
            <a:ahLst/>
            <a:cxnLst>
              <a:cxn ang="17694720">
                <a:pos x="2608237" y="0"/>
              </a:cxn>
              <a:cxn ang="5898240">
                <a:pos x="2608237" y="526305"/>
              </a:cxn>
              <a:cxn ang="5898240">
                <a:pos x="300224" y="935038"/>
              </a:cxn>
              <a:cxn ang="0">
                <a:pos x="3887787" y="263153"/>
              </a:cxn>
            </a:cxnLst>
            <a:rect l="txL" t="txT" r="txR" b="txB"/>
            <a:pathLst>
              <a:path w="21600" h="21600">
                <a:moveTo>
                  <a:pt x="21600" y="6079"/>
                </a:moveTo>
                <a:lnTo>
                  <a:pt x="14491" y="0"/>
                </a:lnTo>
                <a:lnTo>
                  <a:pt x="14491" y="4447"/>
                </a:lnTo>
                <a:lnTo>
                  <a:pt x="12427" y="4447"/>
                </a:lnTo>
                <a:cubicBezTo>
                  <a:pt x="5564" y="4447"/>
                  <a:pt x="0" y="7899"/>
                  <a:pt x="0" y="12158"/>
                </a:cubicBezTo>
                <a:lnTo>
                  <a:pt x="0" y="21600"/>
                </a:lnTo>
                <a:lnTo>
                  <a:pt x="3336" y="21600"/>
                </a:lnTo>
                <a:lnTo>
                  <a:pt x="3336" y="12158"/>
                </a:lnTo>
                <a:cubicBezTo>
                  <a:pt x="3336" y="9702"/>
                  <a:pt x="7406" y="7711"/>
                  <a:pt x="12427" y="7711"/>
                </a:cubicBezTo>
                <a:lnTo>
                  <a:pt x="14491" y="7711"/>
                </a:lnTo>
                <a:lnTo>
                  <a:pt x="14491" y="12158"/>
                </a:lnTo>
                <a:lnTo>
                  <a:pt x="21600" y="6079"/>
                </a:lnTo>
                <a:close/>
              </a:path>
            </a:pathLst>
          </a:custGeom>
          <a:solidFill>
            <a:schemeClr val="accent1"/>
          </a:solidFill>
          <a:ln w="9525" cap="flat" cmpd="sng">
            <a:solidFill>
              <a:schemeClr val="tx1"/>
            </a:solidFill>
            <a:prstDash val="solid"/>
            <a:miter/>
            <a:headEnd type="none" w="med" len="med"/>
            <a:tailEnd type="none" w="med" len="med"/>
          </a:ln>
        </p:spPr>
        <p:txBody>
          <a:bodyPr rot="10800000" wrap="none" anchor="ctr" anchorCtr="0"/>
          <a:p>
            <a:pPr marL="609600" indent="-609600" algn="ctr">
              <a:buNone/>
            </a:pPr>
            <a:r>
              <a:rPr lang="en-US" altLang="zh-CN" dirty="0">
                <a:latin typeface="宋体" panose="02010600030101010101" pitchFamily="2" charset="-122"/>
              </a:rPr>
              <a:t>20</a:t>
            </a:r>
            <a:endParaRPr lang="en-US" altLang="zh-CN" dirty="0">
              <a:latin typeface="宋体" panose="02010600030101010101" pitchFamily="2" charset="-122"/>
            </a:endParaRPr>
          </a:p>
        </p:txBody>
      </p:sp>
      <p:sp>
        <p:nvSpPr>
          <p:cNvPr id="15378" name="AutoShape 21"/>
          <p:cNvSpPr/>
          <p:nvPr/>
        </p:nvSpPr>
        <p:spPr>
          <a:xfrm rot="-5400000">
            <a:off x="5616575" y="79375"/>
            <a:ext cx="1439863" cy="4538663"/>
          </a:xfrm>
          <a:custGeom>
            <a:avLst/>
            <a:gdLst>
              <a:gd name="txL" fmla="*/ 18337 w 21600"/>
              <a:gd name="txT" fmla="*/ 1602 h 21600"/>
              <a:gd name="txR" fmla="*/ 20052 w 21600"/>
              <a:gd name="txB" fmla="*/ 21600 h 21600"/>
            </a:gdLst>
            <a:ahLst/>
            <a:cxnLst>
              <a:cxn ang="17694720">
                <a:pos x="1279545" y="0"/>
              </a:cxn>
              <a:cxn ang="11796480">
                <a:pos x="1119160" y="944504"/>
              </a:cxn>
              <a:cxn ang="11796480">
                <a:pos x="0" y="4344719"/>
              </a:cxn>
              <a:cxn ang="5898240">
                <a:pos x="668336" y="4538663"/>
              </a:cxn>
              <a:cxn ang="0">
                <a:pos x="1336673" y="2778250"/>
              </a:cxn>
              <a:cxn ang="0">
                <a:pos x="1439863" y="944504"/>
              </a:cxn>
            </a:cxnLst>
            <a:rect l="txL" t="txT" r="txR" b="txB"/>
            <a:pathLst>
              <a:path w="21600" h="21600">
                <a:moveTo>
                  <a:pt x="19195" y="0"/>
                </a:moveTo>
                <a:lnTo>
                  <a:pt x="16789" y="4495"/>
                </a:lnTo>
                <a:lnTo>
                  <a:pt x="18337" y="4495"/>
                </a:lnTo>
                <a:lnTo>
                  <a:pt x="18337" y="19753"/>
                </a:lnTo>
                <a:lnTo>
                  <a:pt x="0" y="19753"/>
                </a:lnTo>
                <a:lnTo>
                  <a:pt x="0" y="21600"/>
                </a:lnTo>
                <a:lnTo>
                  <a:pt x="20052" y="21600"/>
                </a:lnTo>
                <a:lnTo>
                  <a:pt x="20052" y="4495"/>
                </a:lnTo>
                <a:lnTo>
                  <a:pt x="21600" y="4495"/>
                </a:lnTo>
                <a:lnTo>
                  <a:pt x="19195" y="0"/>
                </a:lnTo>
                <a:close/>
              </a:path>
            </a:pathLst>
          </a:custGeom>
          <a:solidFill>
            <a:schemeClr val="accent1"/>
          </a:solidFill>
          <a:ln w="9525" cap="flat" cmpd="sng">
            <a:solidFill>
              <a:schemeClr val="tx1"/>
            </a:solidFill>
            <a:prstDash val="solid"/>
            <a:miter/>
            <a:headEnd type="none" w="med" len="med"/>
            <a:tailEnd type="none" w="med" len="med"/>
          </a:ln>
        </p:spPr>
        <p:txBody>
          <a:bodyPr rot="10800000" wrap="none" anchor="ctr" anchorCtr="0"/>
          <a:p>
            <a:pPr marL="609600" indent="-609600" algn="ctr">
              <a:buNone/>
            </a:pPr>
            <a:r>
              <a:rPr lang="en-US" altLang="zh-CN" dirty="0">
                <a:latin typeface="宋体" panose="02010600030101010101" pitchFamily="2" charset="-122"/>
              </a:rPr>
              <a:t>17</a:t>
            </a:r>
            <a:endParaRPr lang="en-US" altLang="zh-CN" dirty="0">
              <a:latin typeface="宋体" panose="02010600030101010101" pitchFamily="2" charset="-122"/>
            </a:endParaRPr>
          </a:p>
        </p:txBody>
      </p:sp>
      <p:sp>
        <p:nvSpPr>
          <p:cNvPr id="15379" name="AutoShape 22"/>
          <p:cNvSpPr/>
          <p:nvPr/>
        </p:nvSpPr>
        <p:spPr>
          <a:xfrm rot="5400000">
            <a:off x="5868988" y="620713"/>
            <a:ext cx="935037" cy="3671887"/>
          </a:xfrm>
          <a:custGeom>
            <a:avLst/>
            <a:gdLst>
              <a:gd name="txL" fmla="*/ 12427 w 21600"/>
              <a:gd name="txT" fmla="*/ 4547 h 21600"/>
              <a:gd name="txR" fmla="*/ 19770 w 21600"/>
              <a:gd name="txB" fmla="*/ 7611 h 21600"/>
            </a:gdLst>
            <a:ahLst/>
            <a:cxnLst>
              <a:cxn ang="17694720">
                <a:pos x="620674" y="0"/>
              </a:cxn>
              <a:cxn ang="5898240">
                <a:pos x="620674" y="2066796"/>
              </a:cxn>
              <a:cxn ang="5898240">
                <a:pos x="67790" y="3671887"/>
              </a:cxn>
              <a:cxn ang="0">
                <a:pos x="935037" y="1033398"/>
              </a:cxn>
            </a:cxnLst>
            <a:rect l="txL" t="txT" r="txR" b="txB"/>
            <a:pathLst>
              <a:path w="21600" h="21600">
                <a:moveTo>
                  <a:pt x="21600" y="6079"/>
                </a:moveTo>
                <a:lnTo>
                  <a:pt x="14338" y="0"/>
                </a:lnTo>
                <a:lnTo>
                  <a:pt x="14338" y="4547"/>
                </a:lnTo>
                <a:lnTo>
                  <a:pt x="12427" y="4547"/>
                </a:lnTo>
                <a:cubicBezTo>
                  <a:pt x="5564" y="4547"/>
                  <a:pt x="0" y="7955"/>
                  <a:pt x="0" y="12158"/>
                </a:cubicBezTo>
                <a:lnTo>
                  <a:pt x="0" y="21600"/>
                </a:lnTo>
                <a:lnTo>
                  <a:pt x="3132" y="21600"/>
                </a:lnTo>
                <a:lnTo>
                  <a:pt x="3132" y="12158"/>
                </a:lnTo>
                <a:cubicBezTo>
                  <a:pt x="3132" y="9647"/>
                  <a:pt x="7294" y="7611"/>
                  <a:pt x="12427" y="7611"/>
                </a:cubicBezTo>
                <a:lnTo>
                  <a:pt x="14338" y="7611"/>
                </a:lnTo>
                <a:lnTo>
                  <a:pt x="14338" y="12158"/>
                </a:lnTo>
                <a:lnTo>
                  <a:pt x="21600" y="6079"/>
                </a:lnTo>
                <a:close/>
              </a:path>
            </a:pathLst>
          </a:custGeom>
          <a:solidFill>
            <a:schemeClr val="accent1"/>
          </a:solidFill>
          <a:ln w="9525" cap="flat" cmpd="sng">
            <a:solidFill>
              <a:schemeClr val="tx1"/>
            </a:solidFill>
            <a:prstDash val="solid"/>
            <a:miter/>
            <a:headEnd type="none" w="med" len="med"/>
            <a:tailEnd type="none" w="med" len="med"/>
          </a:ln>
        </p:spPr>
        <p:txBody>
          <a:bodyPr rot="10800000" vert="eaVert" wrap="none" anchor="ctr" anchorCtr="0"/>
          <a:p>
            <a:pPr marL="609600" indent="-609600" algn="ctr">
              <a:buNone/>
            </a:pPr>
            <a:r>
              <a:rPr lang="en-US" altLang="zh-CN" dirty="0">
                <a:latin typeface="宋体" panose="02010600030101010101" pitchFamily="2" charset="-122"/>
              </a:rPr>
              <a:t>18</a:t>
            </a:r>
            <a:endParaRPr lang="en-US" altLang="zh-CN" dirty="0">
              <a:latin typeface="宋体" panose="02010600030101010101" pitchFamily="2" charset="-122"/>
            </a:endParaRPr>
          </a:p>
        </p:txBody>
      </p:sp>
      <p:sp>
        <p:nvSpPr>
          <p:cNvPr id="36887" name="AutoShape 23"/>
          <p:cNvSpPr>
            <a:spLocks noChangeArrowheads="1"/>
          </p:cNvSpPr>
          <p:nvPr/>
        </p:nvSpPr>
        <p:spPr bwMode="auto">
          <a:xfrm>
            <a:off x="2484438" y="3284538"/>
            <a:ext cx="719138" cy="720725"/>
          </a:xfrm>
          <a:prstGeom prst="roundRect">
            <a:avLst>
              <a:gd name="adj" fmla="val 16667"/>
            </a:avLst>
          </a:prstGeom>
          <a:gradFill rotWithShape="1">
            <a:gsLst>
              <a:gs pos="0">
                <a:schemeClr val="accent1">
                  <a:gamma/>
                  <a:tint val="73725"/>
                  <a:invGamma/>
                </a:schemeClr>
              </a:gs>
              <a:gs pos="100000">
                <a:schemeClr val="accent1"/>
              </a:gs>
            </a:gsLst>
            <a:lin ang="18900000" scaled="1"/>
          </a:gradFill>
          <a:ln w="9525" algn="ctr">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609600" marR="0" lvl="0" indent="-609600" algn="ctr" defTabSz="914400" rtl="0" eaLnBrk="1" fontAlgn="base" latinLnBrk="0" hangingPunct="1">
              <a:lnSpc>
                <a:spcPct val="90000"/>
              </a:lnSpc>
              <a:spcBef>
                <a:spcPct val="20000"/>
              </a:spcBef>
              <a:spcAft>
                <a:spcPct val="0"/>
              </a:spcAft>
              <a:buClrTx/>
              <a:buSzTx/>
              <a:buFontTx/>
              <a:buNone/>
              <a:defRPr/>
            </a:pPr>
            <a:r>
              <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rPr>
              <a:t>政府</a:t>
            </a:r>
            <a:endParaRPr kumimoji="1" lang="zh-CN" altLang="en-US" sz="2000" b="1" i="0" u="none" strike="noStrike" kern="1200" cap="none" spc="0" normalizeH="0" baseline="0" noProof="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15381" name="AutoShape 24"/>
          <p:cNvSpPr/>
          <p:nvPr/>
        </p:nvSpPr>
        <p:spPr>
          <a:xfrm>
            <a:off x="1116013" y="3213100"/>
            <a:ext cx="1223962" cy="287338"/>
          </a:xfrm>
          <a:prstGeom prst="rightArrow">
            <a:avLst>
              <a:gd name="adj1" fmla="val 50000"/>
              <a:gd name="adj2" fmla="val 106491"/>
            </a:avLst>
          </a:prstGeom>
          <a:solidFill>
            <a:schemeClr val="accent1"/>
          </a:solidFill>
          <a:ln w="9525" cap="flat" cmpd="sng">
            <a:solidFill>
              <a:schemeClr val="tx1"/>
            </a:solidFill>
            <a:prstDash val="solid"/>
            <a:miter/>
            <a:headEnd type="none" w="med" len="med"/>
            <a:tailEnd type="none" w="med" len="med"/>
          </a:ln>
        </p:spPr>
        <p:txBody>
          <a:bodyPr wrap="none" anchor="ctr" anchorCtr="0"/>
          <a:p>
            <a:pPr marL="609600" indent="-609600" algn="ctr">
              <a:buNone/>
            </a:pPr>
            <a:r>
              <a:rPr lang="en-US" altLang="zh-CN" dirty="0">
                <a:latin typeface="宋体" panose="02010600030101010101" pitchFamily="2" charset="-122"/>
              </a:rPr>
              <a:t>13</a:t>
            </a:r>
            <a:endParaRPr lang="en-US" altLang="zh-CN" dirty="0">
              <a:latin typeface="宋体" panose="02010600030101010101" pitchFamily="2" charset="-122"/>
            </a:endParaRPr>
          </a:p>
        </p:txBody>
      </p:sp>
      <p:sp>
        <p:nvSpPr>
          <p:cNvPr id="15382" name="AutoShape 25"/>
          <p:cNvSpPr/>
          <p:nvPr/>
        </p:nvSpPr>
        <p:spPr>
          <a:xfrm rot="10800000">
            <a:off x="3276600" y="3716338"/>
            <a:ext cx="1223963" cy="287337"/>
          </a:xfrm>
          <a:prstGeom prst="rightArrow">
            <a:avLst>
              <a:gd name="adj1" fmla="val 50000"/>
              <a:gd name="adj2" fmla="val 106491"/>
            </a:avLst>
          </a:prstGeom>
          <a:solidFill>
            <a:schemeClr val="accent1"/>
          </a:solidFill>
          <a:ln w="9525" cap="flat" cmpd="sng">
            <a:solidFill>
              <a:schemeClr val="tx1"/>
            </a:solidFill>
            <a:prstDash val="solid"/>
            <a:miter/>
            <a:headEnd type="none" w="med" len="med"/>
            <a:tailEnd type="none" w="med" len="med"/>
          </a:ln>
        </p:spPr>
        <p:txBody>
          <a:bodyPr rot="10800000" wrap="none" anchor="ctr" anchorCtr="0"/>
          <a:p>
            <a:pPr marL="609600" indent="-609600" algn="ctr">
              <a:buNone/>
            </a:pPr>
            <a:r>
              <a:rPr lang="en-US" altLang="zh-CN" dirty="0">
                <a:latin typeface="宋体" panose="02010600030101010101" pitchFamily="2" charset="-122"/>
              </a:rPr>
              <a:t>16</a:t>
            </a:r>
            <a:endParaRPr lang="en-US" altLang="zh-CN" dirty="0">
              <a:latin typeface="宋体" panose="02010600030101010101" pitchFamily="2" charset="-122"/>
            </a:endParaRPr>
          </a:p>
        </p:txBody>
      </p:sp>
      <p:sp>
        <p:nvSpPr>
          <p:cNvPr id="15383" name="AutoShape 26"/>
          <p:cNvSpPr/>
          <p:nvPr/>
        </p:nvSpPr>
        <p:spPr>
          <a:xfrm>
            <a:off x="3276600" y="3284538"/>
            <a:ext cx="1223963" cy="287337"/>
          </a:xfrm>
          <a:prstGeom prst="rightArrow">
            <a:avLst>
              <a:gd name="adj1" fmla="val 50000"/>
              <a:gd name="adj2" fmla="val 106491"/>
            </a:avLst>
          </a:prstGeom>
          <a:solidFill>
            <a:schemeClr val="accent1"/>
          </a:solidFill>
          <a:ln w="9525" cap="flat" cmpd="sng">
            <a:solidFill>
              <a:schemeClr val="tx1"/>
            </a:solidFill>
            <a:prstDash val="solid"/>
            <a:miter/>
            <a:headEnd type="none" w="med" len="med"/>
            <a:tailEnd type="none" w="med" len="med"/>
          </a:ln>
        </p:spPr>
        <p:txBody>
          <a:bodyPr wrap="none" anchor="ctr" anchorCtr="0"/>
          <a:p>
            <a:pPr marL="609600" indent="-609600" algn="ctr">
              <a:buNone/>
            </a:pPr>
            <a:r>
              <a:rPr lang="en-US" altLang="zh-CN" dirty="0">
                <a:latin typeface="宋体" panose="02010600030101010101" pitchFamily="2" charset="-122"/>
              </a:rPr>
              <a:t>15</a:t>
            </a:r>
            <a:endParaRPr lang="en-US" altLang="zh-CN" dirty="0">
              <a:latin typeface="宋体" panose="02010600030101010101" pitchFamily="2" charset="-122"/>
            </a:endParaRPr>
          </a:p>
        </p:txBody>
      </p:sp>
      <p:sp>
        <p:nvSpPr>
          <p:cNvPr id="15384" name="AutoShape 27"/>
          <p:cNvSpPr/>
          <p:nvPr/>
        </p:nvSpPr>
        <p:spPr>
          <a:xfrm rot="10800000">
            <a:off x="1116013" y="3716338"/>
            <a:ext cx="1223962" cy="287337"/>
          </a:xfrm>
          <a:prstGeom prst="rightArrow">
            <a:avLst>
              <a:gd name="adj1" fmla="val 50000"/>
              <a:gd name="adj2" fmla="val 106491"/>
            </a:avLst>
          </a:prstGeom>
          <a:solidFill>
            <a:schemeClr val="accent1"/>
          </a:solidFill>
          <a:ln w="9525" cap="flat" cmpd="sng">
            <a:solidFill>
              <a:schemeClr val="tx1"/>
            </a:solidFill>
            <a:prstDash val="solid"/>
            <a:miter/>
            <a:headEnd type="none" w="med" len="med"/>
            <a:tailEnd type="none" w="med" len="med"/>
          </a:ln>
        </p:spPr>
        <p:txBody>
          <a:bodyPr rot="10800000" wrap="none" anchor="ctr" anchorCtr="0"/>
          <a:p>
            <a:pPr marL="609600" indent="-609600" algn="ctr">
              <a:buNone/>
            </a:pPr>
            <a:r>
              <a:rPr lang="en-US" altLang="zh-CN" dirty="0">
                <a:latin typeface="宋体" panose="02010600030101010101" pitchFamily="2" charset="-122"/>
              </a:rPr>
              <a:t>14</a:t>
            </a:r>
            <a:endParaRPr lang="en-US" altLang="zh-CN" dirty="0">
              <a:latin typeface="宋体" panose="02010600030101010101" pitchFamily="2" charset="-122"/>
            </a:endParaRPr>
          </a:p>
        </p:txBody>
      </p:sp>
      <p:sp>
        <p:nvSpPr>
          <p:cNvPr id="15385" name="AutoShape 28"/>
          <p:cNvSpPr/>
          <p:nvPr/>
        </p:nvSpPr>
        <p:spPr>
          <a:xfrm>
            <a:off x="2411413" y="2708275"/>
            <a:ext cx="360362" cy="504825"/>
          </a:xfrm>
          <a:prstGeom prst="upArrow">
            <a:avLst>
              <a:gd name="adj1" fmla="val 50000"/>
              <a:gd name="adj2" fmla="val 35022"/>
            </a:avLst>
          </a:prstGeom>
          <a:solidFill>
            <a:schemeClr val="accent1"/>
          </a:solidFill>
          <a:ln w="9525" cap="flat" cmpd="sng">
            <a:solidFill>
              <a:schemeClr val="tx1"/>
            </a:solidFill>
            <a:prstDash val="solid"/>
            <a:miter/>
            <a:headEnd type="none" w="med" len="med"/>
            <a:tailEnd type="none" w="med" len="med"/>
          </a:ln>
        </p:spPr>
        <p:txBody>
          <a:bodyPr wrap="none" anchor="ctr" anchorCtr="0"/>
          <a:p>
            <a:pPr marL="609600" indent="-609600" algn="ctr">
              <a:buNone/>
            </a:pPr>
            <a:r>
              <a:rPr lang="en-US" altLang="zh-CN" dirty="0">
                <a:latin typeface="宋体" panose="02010600030101010101" pitchFamily="2" charset="-122"/>
              </a:rPr>
              <a:t>10</a:t>
            </a:r>
            <a:endParaRPr lang="en-US" altLang="zh-CN" dirty="0">
              <a:latin typeface="宋体" panose="02010600030101010101" pitchFamily="2" charset="-122"/>
            </a:endParaRPr>
          </a:p>
        </p:txBody>
      </p:sp>
      <p:sp>
        <p:nvSpPr>
          <p:cNvPr id="15386" name="AutoShape 29"/>
          <p:cNvSpPr/>
          <p:nvPr/>
        </p:nvSpPr>
        <p:spPr>
          <a:xfrm rot="10800000">
            <a:off x="2843213" y="2708275"/>
            <a:ext cx="360362" cy="504825"/>
          </a:xfrm>
          <a:prstGeom prst="upArrow">
            <a:avLst>
              <a:gd name="adj1" fmla="val 50000"/>
              <a:gd name="adj2" fmla="val 35022"/>
            </a:avLst>
          </a:prstGeom>
          <a:solidFill>
            <a:schemeClr val="accent1"/>
          </a:solidFill>
          <a:ln w="9525" cap="flat" cmpd="sng">
            <a:solidFill>
              <a:schemeClr val="tx1"/>
            </a:solidFill>
            <a:prstDash val="solid"/>
            <a:miter/>
            <a:headEnd type="none" w="med" len="med"/>
            <a:tailEnd type="none" w="med" len="med"/>
          </a:ln>
        </p:spPr>
        <p:txBody>
          <a:bodyPr rot="10800000" wrap="none" anchor="ctr" anchorCtr="0"/>
          <a:p>
            <a:pPr marL="609600" indent="-609600" algn="ctr">
              <a:buNone/>
            </a:pPr>
            <a:r>
              <a:rPr lang="en-US" altLang="zh-CN" dirty="0">
                <a:latin typeface="宋体" panose="02010600030101010101" pitchFamily="2" charset="-122"/>
              </a:rPr>
              <a:t>9</a:t>
            </a:r>
            <a:endParaRPr lang="en-US" altLang="zh-CN" dirty="0">
              <a:latin typeface="宋体" panose="02010600030101010101" pitchFamily="2" charset="-122"/>
            </a:endParaRPr>
          </a:p>
        </p:txBody>
      </p:sp>
      <p:sp>
        <p:nvSpPr>
          <p:cNvPr id="15387" name="AutoShape 30"/>
          <p:cNvSpPr/>
          <p:nvPr/>
        </p:nvSpPr>
        <p:spPr>
          <a:xfrm rot="10800000">
            <a:off x="2411413" y="4076700"/>
            <a:ext cx="360362" cy="504825"/>
          </a:xfrm>
          <a:prstGeom prst="upArrow">
            <a:avLst>
              <a:gd name="adj1" fmla="val 50000"/>
              <a:gd name="adj2" fmla="val 35022"/>
            </a:avLst>
          </a:prstGeom>
          <a:solidFill>
            <a:schemeClr val="accent1"/>
          </a:solidFill>
          <a:ln w="9525" cap="flat" cmpd="sng">
            <a:solidFill>
              <a:schemeClr val="tx1"/>
            </a:solidFill>
            <a:prstDash val="solid"/>
            <a:miter/>
            <a:headEnd type="none" w="med" len="med"/>
            <a:tailEnd type="none" w="med" len="med"/>
          </a:ln>
        </p:spPr>
        <p:txBody>
          <a:bodyPr rot="10800000" wrap="none" anchor="ctr" anchorCtr="0"/>
          <a:p>
            <a:pPr marL="609600" indent="-609600" algn="ctr">
              <a:buNone/>
            </a:pPr>
            <a:r>
              <a:rPr lang="en-US" altLang="zh-CN" dirty="0">
                <a:latin typeface="宋体" panose="02010600030101010101" pitchFamily="2" charset="-122"/>
              </a:rPr>
              <a:t>12</a:t>
            </a:r>
            <a:endParaRPr lang="en-US" altLang="zh-CN" dirty="0">
              <a:latin typeface="宋体" panose="02010600030101010101" pitchFamily="2" charset="-122"/>
            </a:endParaRPr>
          </a:p>
        </p:txBody>
      </p:sp>
      <p:sp>
        <p:nvSpPr>
          <p:cNvPr id="15388" name="AutoShape 31"/>
          <p:cNvSpPr/>
          <p:nvPr/>
        </p:nvSpPr>
        <p:spPr>
          <a:xfrm>
            <a:off x="2843213" y="4076700"/>
            <a:ext cx="360362" cy="504825"/>
          </a:xfrm>
          <a:prstGeom prst="upArrow">
            <a:avLst>
              <a:gd name="adj1" fmla="val 50000"/>
              <a:gd name="adj2" fmla="val 35022"/>
            </a:avLst>
          </a:prstGeom>
          <a:solidFill>
            <a:schemeClr val="accent1"/>
          </a:solidFill>
          <a:ln w="9525" cap="flat" cmpd="sng">
            <a:solidFill>
              <a:schemeClr val="tx1"/>
            </a:solidFill>
            <a:prstDash val="solid"/>
            <a:miter/>
            <a:headEnd type="none" w="med" len="med"/>
            <a:tailEnd type="none" w="med" len="med"/>
          </a:ln>
        </p:spPr>
        <p:txBody>
          <a:bodyPr wrap="none" anchor="ctr" anchorCtr="0"/>
          <a:p>
            <a:pPr marL="609600" indent="-609600" algn="ctr">
              <a:buNone/>
            </a:pPr>
            <a:r>
              <a:rPr lang="en-US" altLang="zh-CN" dirty="0">
                <a:latin typeface="宋体" panose="02010600030101010101" pitchFamily="2" charset="-122"/>
              </a:rPr>
              <a:t>11</a:t>
            </a:r>
            <a:endParaRPr lang="en-US" altLang="zh-CN" dirty="0">
              <a:latin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p:nvPr/>
        </p:nvSpPr>
        <p:spPr>
          <a:xfrm>
            <a:off x="684213" y="0"/>
            <a:ext cx="7772400" cy="1143000"/>
          </a:xfrm>
          <a:prstGeom prst="rect">
            <a:avLst/>
          </a:prstGeom>
          <a:noFill/>
          <a:ln w="9525">
            <a:noFill/>
          </a:ln>
        </p:spPr>
        <p:txBody>
          <a:bodyPr anchor="ctr" anchorCtr="0"/>
          <a:p>
            <a:pPr marL="838200" indent="-838200" algn="ctr">
              <a:lnSpc>
                <a:spcPct val="100000"/>
              </a:lnSpc>
              <a:spcBef>
                <a:spcPct val="0"/>
              </a:spcBef>
              <a:buNone/>
            </a:pPr>
            <a:r>
              <a:rPr lang="zh-CN" altLang="en-US" sz="3600" dirty="0">
                <a:solidFill>
                  <a:srgbClr val="FF0000"/>
                </a:solidFill>
                <a:latin typeface="宋体" panose="02010600030101010101" pitchFamily="2" charset="-122"/>
              </a:rPr>
              <a:t>四、解决的基本问题</a:t>
            </a:r>
            <a:endParaRPr lang="zh-CN" altLang="en-US" sz="3600" dirty="0">
              <a:solidFill>
                <a:srgbClr val="FF0000"/>
              </a:solidFill>
              <a:latin typeface="宋体" panose="02010600030101010101" pitchFamily="2" charset="-122"/>
            </a:endParaRPr>
          </a:p>
        </p:txBody>
      </p:sp>
      <p:sp>
        <p:nvSpPr>
          <p:cNvPr id="16387" name="Rectangle 3"/>
          <p:cNvSpPr>
            <a:spLocks noGrp="1"/>
          </p:cNvSpPr>
          <p:nvPr>
            <p:ph type="title"/>
          </p:nvPr>
        </p:nvSpPr>
        <p:spPr>
          <a:xfrm>
            <a:off x="468313" y="981075"/>
            <a:ext cx="8135937" cy="5256213"/>
          </a:xfrm>
          <a:ln/>
        </p:spPr>
        <p:txBody>
          <a:bodyPr vert="horz" wrap="square" lIns="91440" tIns="45720" rIns="91440" bIns="45720" anchor="ctr" anchorCtr="0"/>
          <a:p>
            <a:pPr algn="l" eaLnBrk="1" hangingPunct="1"/>
            <a:r>
              <a:rPr lang="" altLang="en-US" sz="4000" b="1" dirty="0">
                <a:latin typeface="宋体" panose="02010600030101010101" pitchFamily="2" charset="-122"/>
              </a:rPr>
              <a:t>(1)</a:t>
            </a:r>
            <a:r>
              <a:rPr lang="zh-CN" altLang="en-US" sz="4000" b="1" dirty="0">
                <a:latin typeface="宋体" panose="02010600030101010101" pitchFamily="2" charset="-122"/>
              </a:rPr>
              <a:t>资源配置 </a:t>
            </a:r>
            <a:br>
              <a:rPr lang="zh-CN" altLang="en-US" sz="4000" b="1" dirty="0">
                <a:latin typeface="宋体" panose="02010600030101010101" pitchFamily="2" charset="-122"/>
              </a:rPr>
            </a:br>
            <a:br>
              <a:rPr lang="zh-CN" altLang="en-US" sz="4000" b="1" dirty="0">
                <a:latin typeface="宋体" panose="02010600030101010101" pitchFamily="2" charset="-122"/>
              </a:rPr>
            </a:br>
            <a:br>
              <a:rPr lang="zh-CN" altLang="en-US" sz="4000" b="1" dirty="0">
                <a:latin typeface="宋体" panose="02010600030101010101" pitchFamily="2" charset="-122"/>
              </a:rPr>
            </a:br>
            <a:r>
              <a:rPr lang="en-US" altLang="zh-CN" sz="4000" b="1" dirty="0">
                <a:latin typeface="宋体" panose="02010600030101010101" pitchFamily="2" charset="-122"/>
              </a:rPr>
              <a:t>(2)</a:t>
            </a:r>
            <a:r>
              <a:rPr lang="zh-CN" altLang="en-US" sz="4000" b="1" dirty="0">
                <a:latin typeface="宋体" panose="02010600030101010101" pitchFamily="2" charset="-122"/>
              </a:rPr>
              <a:t>价格形成</a:t>
            </a:r>
            <a:br>
              <a:rPr lang="zh-CN" altLang="en-US" sz="4000" b="1" dirty="0">
                <a:latin typeface="宋体" panose="02010600030101010101" pitchFamily="2" charset="-122"/>
              </a:rPr>
            </a:br>
            <a:br>
              <a:rPr lang="zh-CN" altLang="en-US" sz="4000" b="1" dirty="0">
                <a:latin typeface="宋体" panose="02010600030101010101" pitchFamily="2" charset="-122"/>
              </a:rPr>
            </a:br>
            <a:endParaRPr lang="zh-CN" altLang="en-US" sz="4000" b="1" dirty="0">
              <a:latin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p:nvPr/>
        </p:nvSpPr>
        <p:spPr>
          <a:xfrm>
            <a:off x="684213" y="0"/>
            <a:ext cx="7772400" cy="1143000"/>
          </a:xfrm>
          <a:prstGeom prst="rect">
            <a:avLst/>
          </a:prstGeom>
          <a:noFill/>
          <a:ln w="9525">
            <a:noFill/>
          </a:ln>
        </p:spPr>
        <p:txBody>
          <a:bodyPr anchor="ctr" anchorCtr="0"/>
          <a:p>
            <a:pPr marL="838200" indent="-838200" algn="ctr">
              <a:lnSpc>
                <a:spcPct val="100000"/>
              </a:lnSpc>
              <a:spcBef>
                <a:spcPct val="0"/>
              </a:spcBef>
              <a:buNone/>
            </a:pPr>
            <a:r>
              <a:rPr lang="zh-CN" altLang="en-US" sz="3600" dirty="0">
                <a:solidFill>
                  <a:srgbClr val="FF0000"/>
                </a:solidFill>
                <a:latin typeface="宋体" panose="02010600030101010101" pitchFamily="2" charset="-122"/>
              </a:rPr>
              <a:t>五、微观经济学的研究方法</a:t>
            </a:r>
            <a:endParaRPr lang="zh-CN" altLang="en-US" sz="3600" dirty="0">
              <a:solidFill>
                <a:srgbClr val="FF0000"/>
              </a:solidFill>
              <a:latin typeface="宋体" panose="02010600030101010101" pitchFamily="2" charset="-122"/>
            </a:endParaRPr>
          </a:p>
        </p:txBody>
      </p:sp>
      <p:sp>
        <p:nvSpPr>
          <p:cNvPr id="17411" name="Rectangle 3"/>
          <p:cNvSpPr>
            <a:spLocks noGrp="1"/>
          </p:cNvSpPr>
          <p:nvPr>
            <p:ph type="title"/>
          </p:nvPr>
        </p:nvSpPr>
        <p:spPr>
          <a:xfrm>
            <a:off x="468313" y="981075"/>
            <a:ext cx="8135937" cy="5256213"/>
          </a:xfrm>
          <a:ln/>
        </p:spPr>
        <p:txBody>
          <a:bodyPr vert="horz" wrap="square" lIns="91440" tIns="45720" rIns="91440" bIns="45720" anchor="ctr" anchorCtr="0"/>
          <a:p>
            <a:pPr algn="l" eaLnBrk="1" hangingPunct="1"/>
            <a:r>
              <a:rPr lang="zh-CN" altLang="en-US" sz="3200" b="1" dirty="0">
                <a:latin typeface="宋体" panose="02010600030101010101" pitchFamily="2" charset="-122"/>
              </a:rPr>
              <a:t>（</a:t>
            </a:r>
            <a:r>
              <a:rPr lang="en-US" altLang="zh-CN" sz="3200" b="1" dirty="0">
                <a:latin typeface="宋体" panose="02010600030101010101" pitchFamily="2" charset="-122"/>
              </a:rPr>
              <a:t>1</a:t>
            </a:r>
            <a:r>
              <a:rPr lang="zh-CN" altLang="en-US" sz="3200" b="1" dirty="0">
                <a:latin typeface="宋体" panose="02010600030101010101" pitchFamily="2" charset="-122"/>
              </a:rPr>
              <a:t>）个量分析法：侧重数学分析</a:t>
            </a:r>
            <a:br>
              <a:rPr lang="zh-CN" altLang="en-US" sz="3200" b="1" dirty="0">
                <a:latin typeface="宋体" panose="02010600030101010101" pitchFamily="2" charset="-122"/>
              </a:rPr>
            </a:br>
            <a:r>
              <a:rPr lang="zh-CN" altLang="en-US" sz="3200" b="1" dirty="0">
                <a:latin typeface="宋体" panose="02010600030101010101" pitchFamily="2" charset="-122"/>
              </a:rPr>
              <a:t>（</a:t>
            </a:r>
            <a:r>
              <a:rPr lang="en-US" altLang="zh-CN" sz="3200" b="1" dirty="0">
                <a:latin typeface="宋体" panose="02010600030101010101" pitchFamily="2" charset="-122"/>
              </a:rPr>
              <a:t>2</a:t>
            </a:r>
            <a:r>
              <a:rPr lang="zh-CN" altLang="en-US" sz="3200" b="1" dirty="0">
                <a:latin typeface="宋体" panose="02010600030101010101" pitchFamily="2" charset="-122"/>
              </a:rPr>
              <a:t>）边际分析法：是一种普遍的分析</a:t>
            </a:r>
            <a:br>
              <a:rPr lang="zh-CN" altLang="en-US" sz="3200" b="1" dirty="0">
                <a:latin typeface="宋体" panose="02010600030101010101" pitchFamily="2" charset="-122"/>
              </a:rPr>
            </a:br>
            <a:r>
              <a:rPr lang="zh-CN" altLang="en-US" sz="3200" b="1" dirty="0">
                <a:latin typeface="宋体" panose="02010600030101010101" pitchFamily="2" charset="-122"/>
              </a:rPr>
              <a:t>（</a:t>
            </a:r>
            <a:r>
              <a:rPr lang="en-US" altLang="zh-CN" sz="3200" b="1" dirty="0">
                <a:latin typeface="宋体" panose="02010600030101010101" pitchFamily="2" charset="-122"/>
              </a:rPr>
              <a:t>3</a:t>
            </a:r>
            <a:r>
              <a:rPr lang="zh-CN" altLang="en-US" sz="3200" b="1" dirty="0">
                <a:latin typeface="宋体" panose="02010600030101010101" pitchFamily="2" charset="-122"/>
              </a:rPr>
              <a:t>）局部均衡与一段均衡分析</a:t>
            </a:r>
            <a:br>
              <a:rPr lang="zh-CN" altLang="en-US" sz="3200" b="1" dirty="0">
                <a:latin typeface="宋体" panose="02010600030101010101" pitchFamily="2" charset="-122"/>
              </a:rPr>
            </a:br>
            <a:r>
              <a:rPr lang="zh-CN" altLang="en-US" sz="3200" b="1" dirty="0">
                <a:latin typeface="宋体" panose="02010600030101010101" pitchFamily="2" charset="-122"/>
              </a:rPr>
              <a:t>（</a:t>
            </a:r>
            <a:r>
              <a:rPr lang="en-US" altLang="zh-CN" sz="3200" b="1" dirty="0">
                <a:latin typeface="宋体" panose="02010600030101010101" pitchFamily="2" charset="-122"/>
              </a:rPr>
              <a:t>4</a:t>
            </a:r>
            <a:r>
              <a:rPr lang="zh-CN" altLang="en-US" sz="3200" b="1" dirty="0">
                <a:latin typeface="宋体" panose="02010600030101010101" pitchFamily="2" charset="-122"/>
              </a:rPr>
              <a:t>）经济模型分析</a:t>
            </a:r>
            <a:br>
              <a:rPr lang="zh-CN" altLang="en-US" sz="3200" b="1" dirty="0">
                <a:latin typeface="宋体" panose="02010600030101010101" pitchFamily="2" charset="-122"/>
              </a:rPr>
            </a:br>
            <a:r>
              <a:rPr lang="zh-CN" altLang="en-US" sz="3200" b="1" dirty="0">
                <a:latin typeface="宋体" panose="02010600030101010101" pitchFamily="2" charset="-122"/>
              </a:rPr>
              <a:t>（</a:t>
            </a:r>
            <a:r>
              <a:rPr lang="en-US" altLang="zh-CN" sz="3200" b="1" dirty="0">
                <a:latin typeface="宋体" panose="02010600030101010101" pitchFamily="2" charset="-122"/>
              </a:rPr>
              <a:t>5</a:t>
            </a:r>
            <a:r>
              <a:rPr lang="zh-CN" altLang="en-US" sz="3200" b="1" dirty="0">
                <a:latin typeface="宋体" panose="02010600030101010101" pitchFamily="2" charset="-122"/>
              </a:rPr>
              <a:t>）实证</a:t>
            </a:r>
            <a:r>
              <a:rPr lang="zh-CN" altLang="en-US" sz="3200" b="1" dirty="0">
                <a:solidFill>
                  <a:srgbClr val="000000"/>
                </a:solidFill>
                <a:latin typeface="宋体" panose="02010600030101010101" pitchFamily="2" charset="-122"/>
              </a:rPr>
              <a:t>研究</a:t>
            </a:r>
            <a:r>
              <a:rPr lang="zh-CN" altLang="en-US" sz="3200" b="1" dirty="0">
                <a:latin typeface="宋体" panose="02010600030101010101" pitchFamily="2" charset="-122"/>
              </a:rPr>
              <a:t>和规范</a:t>
            </a:r>
            <a:r>
              <a:rPr lang="zh-CN" altLang="en-US" sz="3200" b="1" dirty="0">
                <a:solidFill>
                  <a:srgbClr val="000000"/>
                </a:solidFill>
                <a:latin typeface="宋体" panose="02010600030101010101" pitchFamily="2" charset="-122"/>
              </a:rPr>
              <a:t>研究</a:t>
            </a:r>
            <a:br>
              <a:rPr lang="zh-CN" altLang="en-US" sz="3200" b="1" dirty="0">
                <a:latin typeface="宋体" panose="02010600030101010101" pitchFamily="2" charset="-122"/>
              </a:rPr>
            </a:br>
            <a:br>
              <a:rPr lang="zh-CN" altLang="en-US" sz="3200" b="1" dirty="0">
                <a:latin typeface="宋体" panose="02010600030101010101" pitchFamily="2" charset="-122"/>
              </a:rPr>
            </a:br>
            <a:r>
              <a:rPr lang="zh-CN" altLang="en-US" sz="2800" b="1" dirty="0">
                <a:solidFill>
                  <a:srgbClr val="FF0000"/>
                </a:solidFill>
                <a:latin typeface="宋体" panose="02010600030101010101" pitchFamily="2" charset="-122"/>
              </a:rPr>
              <a:t>实证</a:t>
            </a:r>
            <a:r>
              <a:rPr lang="en-US" altLang="zh-CN" sz="2800" b="1" dirty="0">
                <a:solidFill>
                  <a:srgbClr val="FF0000"/>
                </a:solidFill>
                <a:latin typeface="宋体" panose="02010600030101010101" pitchFamily="2" charset="-122"/>
              </a:rPr>
              <a:t>(Positive)</a:t>
            </a:r>
            <a:r>
              <a:rPr lang="zh-CN" altLang="en-US" sz="2800" b="1" dirty="0">
                <a:solidFill>
                  <a:srgbClr val="FF0000"/>
                </a:solidFill>
                <a:latin typeface="宋体" panose="02010600030101010101" pitchFamily="2" charset="-122"/>
              </a:rPr>
              <a:t>研究：</a:t>
            </a:r>
            <a:r>
              <a:rPr lang="zh-CN" altLang="en-US" sz="2800" b="1" dirty="0">
                <a:solidFill>
                  <a:srgbClr val="000000"/>
                </a:solidFill>
                <a:latin typeface="宋体" panose="02010600030101010101" pitchFamily="2" charset="-122"/>
              </a:rPr>
              <a:t>研究世界是怎样运行的。</a:t>
            </a:r>
            <a:br>
              <a:rPr lang="zh-CN" altLang="en-US" sz="2800" b="1" dirty="0">
                <a:solidFill>
                  <a:srgbClr val="000000"/>
                </a:solidFill>
                <a:latin typeface="宋体" panose="02010600030101010101" pitchFamily="2" charset="-122"/>
              </a:rPr>
            </a:br>
            <a:r>
              <a:rPr lang="zh-CN" altLang="en-US" sz="2800" b="1" dirty="0">
                <a:solidFill>
                  <a:srgbClr val="FF0000"/>
                </a:solidFill>
                <a:latin typeface="宋体" panose="02010600030101010101" pitchFamily="2" charset="-122"/>
              </a:rPr>
              <a:t>规范</a:t>
            </a:r>
            <a:r>
              <a:rPr lang="en-US" altLang="zh-CN" sz="2800" b="1" dirty="0">
                <a:solidFill>
                  <a:srgbClr val="FF0000"/>
                </a:solidFill>
                <a:latin typeface="宋体" panose="02010600030101010101" pitchFamily="2" charset="-122"/>
              </a:rPr>
              <a:t>(Normative)</a:t>
            </a:r>
            <a:r>
              <a:rPr lang="zh-CN" altLang="en-US" sz="2800" b="1" dirty="0">
                <a:solidFill>
                  <a:srgbClr val="FF0000"/>
                </a:solidFill>
                <a:latin typeface="宋体" panose="02010600030101010101" pitchFamily="2" charset="-122"/>
              </a:rPr>
              <a:t>研究：</a:t>
            </a:r>
            <a:r>
              <a:rPr lang="zh-CN" altLang="en-US" sz="2800" b="1" dirty="0">
                <a:solidFill>
                  <a:srgbClr val="000000"/>
                </a:solidFill>
                <a:latin typeface="宋体" panose="02010600030101010101" pitchFamily="2" charset="-122"/>
              </a:rPr>
              <a:t>研究世界应该如何运行</a:t>
            </a:r>
            <a:br>
              <a:rPr lang="zh-CN" altLang="en-US" b="1" dirty="0">
                <a:latin typeface="宋体" panose="02010600030101010101" pitchFamily="2" charset="-122"/>
              </a:rPr>
            </a:br>
            <a:endParaRPr lang="zh-CN" altLang="en-US" b="1" dirty="0">
              <a:latin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a:xfrm>
            <a:off x="609600" y="620713"/>
            <a:ext cx="7772400" cy="5903912"/>
          </a:xfrm>
          <a:ln/>
        </p:spPr>
        <p:txBody>
          <a:bodyPr vert="horz" wrap="square" lIns="91440" tIns="45720" rIns="91440" bIns="45720" anchor="ctr" anchorCtr="0"/>
          <a:p>
            <a:pPr algn="l" eaLnBrk="1" hangingPunct="1"/>
            <a:r>
              <a:rPr lang="zh-CN" altLang="en-US" sz="4000" b="1" dirty="0">
                <a:solidFill>
                  <a:srgbClr val="FF0000"/>
                </a:solidFill>
                <a:latin typeface="宋体" panose="02010600030101010101" pitchFamily="2" charset="-122"/>
              </a:rPr>
              <a:t>思考题：机会成本</a:t>
            </a:r>
            <a:br>
              <a:rPr lang="zh-CN" altLang="en-US" sz="4000" b="1" dirty="0">
                <a:solidFill>
                  <a:srgbClr val="FF0000"/>
                </a:solidFill>
                <a:latin typeface="宋体" panose="02010600030101010101" pitchFamily="2" charset="-122"/>
              </a:rPr>
            </a:br>
            <a:r>
              <a:rPr lang="zh-CN" altLang="en-US" sz="4000" b="1" dirty="0">
                <a:solidFill>
                  <a:srgbClr val="000000"/>
                </a:solidFill>
                <a:latin typeface="宋体" panose="02010600030101010101" pitchFamily="2" charset="-122"/>
              </a:rPr>
              <a:t>从波士顿到纽约坐飞机</a:t>
            </a:r>
            <a:r>
              <a:rPr lang="en-US" altLang="zh-CN" sz="4000" b="1" dirty="0">
                <a:solidFill>
                  <a:srgbClr val="000000"/>
                </a:solidFill>
                <a:latin typeface="宋体" panose="02010600030101010101" pitchFamily="2" charset="-122"/>
              </a:rPr>
              <a:t>1</a:t>
            </a:r>
            <a:r>
              <a:rPr lang="zh-CN" altLang="en-US" sz="4000" b="1" dirty="0">
                <a:solidFill>
                  <a:srgbClr val="000000"/>
                </a:solidFill>
                <a:latin typeface="宋体" panose="02010600030101010101" pitchFamily="2" charset="-122"/>
              </a:rPr>
              <a:t>小时，坐火车</a:t>
            </a:r>
            <a:r>
              <a:rPr lang="en-US" altLang="zh-CN" sz="4000" b="1" dirty="0">
                <a:solidFill>
                  <a:srgbClr val="000000"/>
                </a:solidFill>
                <a:latin typeface="宋体" panose="02010600030101010101" pitchFamily="2" charset="-122"/>
              </a:rPr>
              <a:t>5</a:t>
            </a:r>
            <a:r>
              <a:rPr lang="zh-CN" altLang="en-US" sz="4000" b="1" dirty="0">
                <a:solidFill>
                  <a:srgbClr val="000000"/>
                </a:solidFill>
                <a:latin typeface="宋体" panose="02010600030101010101" pitchFamily="2" charset="-122"/>
              </a:rPr>
              <a:t>小时，假定飞机票为</a:t>
            </a:r>
            <a:r>
              <a:rPr lang="en-US" altLang="zh-CN" sz="4000" b="1" dirty="0">
                <a:solidFill>
                  <a:srgbClr val="000000"/>
                </a:solidFill>
                <a:latin typeface="宋体" panose="02010600030101010101" pitchFamily="2" charset="-122"/>
              </a:rPr>
              <a:t>100</a:t>
            </a:r>
            <a:r>
              <a:rPr lang="zh-CN" altLang="en-US" sz="4000" b="1" dirty="0">
                <a:solidFill>
                  <a:srgbClr val="000000"/>
                </a:solidFill>
                <a:latin typeface="宋体" panose="02010600030101010101" pitchFamily="2" charset="-122"/>
              </a:rPr>
              <a:t>美元，火车票为</a:t>
            </a:r>
            <a:r>
              <a:rPr lang="en-US" altLang="zh-CN" sz="4000" b="1" dirty="0">
                <a:solidFill>
                  <a:srgbClr val="000000"/>
                </a:solidFill>
                <a:latin typeface="宋体" panose="02010600030101010101" pitchFamily="2" charset="-122"/>
              </a:rPr>
              <a:t>60</a:t>
            </a:r>
            <a:r>
              <a:rPr lang="zh-CN" altLang="en-US" sz="4000" b="1" dirty="0">
                <a:solidFill>
                  <a:srgbClr val="000000"/>
                </a:solidFill>
                <a:latin typeface="宋体" panose="02010600030101010101" pitchFamily="2" charset="-122"/>
              </a:rPr>
              <a:t>美元，如果某人不进行这种旅行时，每小时收入为</a:t>
            </a:r>
            <a:r>
              <a:rPr lang="en-US" altLang="zh-CN" sz="4000" b="1" dirty="0">
                <a:solidFill>
                  <a:srgbClr val="000000"/>
                </a:solidFill>
                <a:latin typeface="宋体" panose="02010600030101010101" pitchFamily="2" charset="-122"/>
              </a:rPr>
              <a:t>5</a:t>
            </a:r>
            <a:r>
              <a:rPr lang="zh-CN" altLang="en-US" sz="4000" b="1" dirty="0">
                <a:solidFill>
                  <a:srgbClr val="000000"/>
                </a:solidFill>
                <a:latin typeface="宋体" panose="02010600030101010101" pitchFamily="2" charset="-122"/>
              </a:rPr>
              <a:t>美元，坐火车与乘飞机哪种旅行方式机会成本低？如果每小时收入</a:t>
            </a:r>
            <a:r>
              <a:rPr lang="en-US" altLang="zh-CN" sz="4000" b="1" dirty="0">
                <a:solidFill>
                  <a:srgbClr val="000000"/>
                </a:solidFill>
                <a:latin typeface="宋体" panose="02010600030101010101" pitchFamily="2" charset="-122"/>
              </a:rPr>
              <a:t>10</a:t>
            </a:r>
            <a:r>
              <a:rPr lang="zh-CN" altLang="en-US" sz="4000" b="1" dirty="0">
                <a:solidFill>
                  <a:srgbClr val="000000"/>
                </a:solidFill>
                <a:latin typeface="宋体" panose="02010600030101010101" pitchFamily="2" charset="-122"/>
              </a:rPr>
              <a:t>美元，</a:t>
            </a:r>
            <a:r>
              <a:rPr lang="en-US" altLang="zh-CN" sz="4000" b="1" dirty="0">
                <a:solidFill>
                  <a:srgbClr val="000000"/>
                </a:solidFill>
                <a:latin typeface="宋体" panose="02010600030101010101" pitchFamily="2" charset="-122"/>
              </a:rPr>
              <a:t>12</a:t>
            </a:r>
            <a:r>
              <a:rPr lang="zh-CN" altLang="en-US" sz="4000" b="1" dirty="0">
                <a:solidFill>
                  <a:srgbClr val="000000"/>
                </a:solidFill>
                <a:latin typeface="宋体" panose="02010600030101010101" pitchFamily="2" charset="-122"/>
              </a:rPr>
              <a:t>美元时，又是哪种方式机会成本低？</a:t>
            </a:r>
            <a:br>
              <a:rPr lang="zh-CN" altLang="en-US" sz="4000" b="1" dirty="0">
                <a:solidFill>
                  <a:schemeClr val="tx1"/>
                </a:solidFill>
                <a:latin typeface="宋体" panose="02010600030101010101" pitchFamily="2" charset="-122"/>
              </a:rPr>
            </a:br>
            <a:endParaRPr lang="zh-CN" altLang="en-US" sz="4000" b="1" dirty="0">
              <a:solidFill>
                <a:schemeClr val="tx1"/>
              </a:solidFill>
              <a:latin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xfrm>
            <a:off x="684213" y="0"/>
            <a:ext cx="7772400" cy="692150"/>
          </a:xfrm>
          <a:ln/>
        </p:spPr>
        <p:txBody>
          <a:bodyPr vert="horz" wrap="square" lIns="91440" tIns="45720" rIns="91440" bIns="45720" anchor="ctr" anchorCtr="0"/>
          <a:p>
            <a:pPr eaLnBrk="1" hangingPunct="1"/>
            <a:r>
              <a:rPr lang="zh-CN" altLang="en-US" sz="4000" b="1" dirty="0">
                <a:solidFill>
                  <a:srgbClr val="FF0000"/>
                </a:solidFill>
                <a:latin typeface="黑体" panose="02010609060101010101" pitchFamily="49" charset="-122"/>
                <a:ea typeface="黑体" panose="02010609060101010101" pitchFamily="49" charset="-122"/>
              </a:rPr>
              <a:t>第二章	均衡价格理论</a:t>
            </a:r>
            <a:endParaRPr lang="zh-CN" altLang="en-US" sz="4000" b="1" dirty="0">
              <a:solidFill>
                <a:srgbClr val="FF0000"/>
              </a:solidFill>
              <a:latin typeface="黑体" panose="02010609060101010101" pitchFamily="49" charset="-122"/>
              <a:ea typeface="黑体" panose="02010609060101010101" pitchFamily="49" charset="-122"/>
            </a:endParaRPr>
          </a:p>
        </p:txBody>
      </p:sp>
      <p:sp>
        <p:nvSpPr>
          <p:cNvPr id="19459" name="Rectangle 3"/>
          <p:cNvSpPr>
            <a:spLocks noGrp="1"/>
          </p:cNvSpPr>
          <p:nvPr>
            <p:ph idx="1"/>
          </p:nvPr>
        </p:nvSpPr>
        <p:spPr>
          <a:xfrm>
            <a:off x="685800" y="836613"/>
            <a:ext cx="7772400" cy="5259387"/>
          </a:xfrm>
          <a:ln/>
        </p:spPr>
        <p:txBody>
          <a:bodyPr vert="horz" wrap="square" lIns="91440" tIns="45720" rIns="91440" bIns="45720" anchor="t" anchorCtr="0"/>
          <a:p>
            <a:pPr eaLnBrk="1" hangingPunct="1"/>
            <a:endParaRPr lang="en-US" altLang="zh-CN" sz="2400" b="1" dirty="0">
              <a:solidFill>
                <a:srgbClr val="FF0000"/>
              </a:solidFill>
              <a:latin typeface="宋体" panose="02010600030101010101" pitchFamily="2" charset="-122"/>
            </a:endParaRPr>
          </a:p>
          <a:p>
            <a:pPr eaLnBrk="1" hangingPunct="1"/>
            <a:r>
              <a:rPr lang="zh-CN" altLang="en-US" sz="2400" b="1" dirty="0">
                <a:solidFill>
                  <a:srgbClr val="FF0000"/>
                </a:solidFill>
                <a:latin typeface="宋体" panose="02010600030101010101" pitchFamily="2" charset="-122"/>
              </a:rPr>
              <a:t>市场：</a:t>
            </a:r>
            <a:r>
              <a:rPr lang="zh-CN" altLang="en-US" sz="2400" b="1" dirty="0">
                <a:solidFill>
                  <a:srgbClr val="000000"/>
                </a:solidFill>
                <a:latin typeface="宋体" panose="02010600030101010101" pitchFamily="2" charset="-122"/>
              </a:rPr>
              <a:t>指某种物品或劳务的一群买者与卖者。</a:t>
            </a:r>
            <a:br>
              <a:rPr lang="zh-CN" altLang="en-US" sz="2400" b="1" dirty="0">
                <a:latin typeface="宋体" panose="02010600030101010101" pitchFamily="2" charset="-122"/>
              </a:rPr>
            </a:br>
            <a:endParaRPr lang="zh-CN" altLang="en-US" sz="2400" b="1" dirty="0">
              <a:latin typeface="宋体" panose="02010600030101010101" pitchFamily="2" charset="-122"/>
            </a:endParaRPr>
          </a:p>
          <a:p>
            <a:pPr eaLnBrk="1" hangingPunct="1"/>
            <a:r>
              <a:rPr lang="zh-CN" altLang="en-US" sz="2400" b="1" dirty="0">
                <a:solidFill>
                  <a:srgbClr val="FF0000"/>
                </a:solidFill>
                <a:latin typeface="宋体" panose="02010600030101010101" pitchFamily="2" charset="-122"/>
              </a:rPr>
              <a:t>参与者：</a:t>
            </a:r>
            <a:r>
              <a:rPr lang="zh-CN" altLang="en-US" sz="2400" b="1" dirty="0">
                <a:latin typeface="宋体" panose="02010600030101010101" pitchFamily="2" charset="-122"/>
              </a:rPr>
              <a:t>		</a:t>
            </a:r>
            <a:r>
              <a:rPr lang="zh-CN" altLang="en-US" sz="2400" b="1" dirty="0">
                <a:solidFill>
                  <a:srgbClr val="000000"/>
                </a:solidFill>
                <a:latin typeface="宋体" panose="02010600030101010101" pitchFamily="2" charset="-122"/>
              </a:rPr>
              <a:t>买者，卖者</a:t>
            </a:r>
            <a:br>
              <a:rPr lang="zh-CN" altLang="en-US" sz="2400" b="1" dirty="0">
                <a:solidFill>
                  <a:srgbClr val="000000"/>
                </a:solidFill>
                <a:latin typeface="宋体" panose="02010600030101010101" pitchFamily="2" charset="-122"/>
              </a:rPr>
            </a:br>
            <a:endParaRPr lang="zh-CN" altLang="en-US" sz="2400" b="1" dirty="0">
              <a:solidFill>
                <a:srgbClr val="000000"/>
              </a:solidFill>
              <a:latin typeface="宋体" panose="02010600030101010101" pitchFamily="2" charset="-122"/>
            </a:endParaRPr>
          </a:p>
          <a:p>
            <a:pPr eaLnBrk="1" hangingPunct="1"/>
            <a:r>
              <a:rPr lang="zh-CN" altLang="en-US" sz="2400" b="1" dirty="0">
                <a:solidFill>
                  <a:srgbClr val="FF0000"/>
                </a:solidFill>
                <a:latin typeface="宋体" panose="02010600030101010101" pitchFamily="2" charset="-122"/>
              </a:rPr>
              <a:t>价格与数量</a:t>
            </a:r>
            <a:r>
              <a:rPr lang="en-US" altLang="zh-CN" sz="2400" b="1" dirty="0">
                <a:solidFill>
                  <a:srgbClr val="FF0000"/>
                </a:solidFill>
                <a:latin typeface="宋体" panose="02010600030101010101" pitchFamily="2" charset="-122"/>
              </a:rPr>
              <a:t>:	</a:t>
            </a:r>
            <a:r>
              <a:rPr lang="zh-CN" altLang="en-US" sz="2400" b="1" dirty="0">
                <a:solidFill>
                  <a:srgbClr val="000000"/>
                </a:solidFill>
                <a:latin typeface="宋体" panose="02010600030101010101" pitchFamily="2" charset="-122"/>
              </a:rPr>
              <a:t>价格是自变量，数量是应变量</a:t>
            </a:r>
            <a:br>
              <a:rPr lang="zh-CN" altLang="en-US" sz="2400" b="1" dirty="0">
                <a:solidFill>
                  <a:srgbClr val="000000"/>
                </a:solidFill>
                <a:latin typeface="宋体" panose="02010600030101010101" pitchFamily="2" charset="-122"/>
              </a:rPr>
            </a:br>
            <a:endParaRPr lang="zh-CN" altLang="en-US" sz="2400" b="1" dirty="0">
              <a:solidFill>
                <a:srgbClr val="000000"/>
              </a:solidFill>
              <a:latin typeface="宋体" panose="02010600030101010101" pitchFamily="2" charset="-122"/>
            </a:endParaRPr>
          </a:p>
          <a:p>
            <a:pPr eaLnBrk="1" hangingPunct="1"/>
            <a:r>
              <a:rPr lang="zh-CN" altLang="en-US" sz="2400" b="1" dirty="0">
                <a:solidFill>
                  <a:srgbClr val="FF0000"/>
                </a:solidFill>
                <a:latin typeface="宋体" panose="02010600030101010101" pitchFamily="2" charset="-122"/>
              </a:rPr>
              <a:t>竞争市场：</a:t>
            </a:r>
            <a:r>
              <a:rPr lang="zh-CN" altLang="en-US" sz="2400" b="1" dirty="0">
                <a:solidFill>
                  <a:srgbClr val="000000"/>
                </a:solidFill>
                <a:latin typeface="宋体" panose="02010600030101010101" pitchFamily="2" charset="-122"/>
              </a:rPr>
              <a:t>有许多买者与卖者，以至于每个人对市场价格的影响都微乎其微的市场。</a:t>
            </a:r>
            <a:br>
              <a:rPr lang="zh-CN" altLang="en-US" sz="2400" b="1" dirty="0">
                <a:solidFill>
                  <a:srgbClr val="000000"/>
                </a:solidFill>
                <a:latin typeface="宋体" panose="02010600030101010101" pitchFamily="2" charset="-122"/>
              </a:rPr>
            </a:br>
            <a:endParaRPr lang="zh-CN" altLang="en-US" sz="2400" b="1" dirty="0">
              <a:solidFill>
                <a:srgbClr val="000000"/>
              </a:solidFill>
              <a:latin typeface="宋体" panose="02010600030101010101" pitchFamily="2" charset="-122"/>
            </a:endParaRPr>
          </a:p>
          <a:p>
            <a:pPr eaLnBrk="1" hangingPunct="1"/>
            <a:r>
              <a:rPr lang="zh-CN" altLang="en-US" sz="2800" b="1" dirty="0">
                <a:solidFill>
                  <a:srgbClr val="000000"/>
                </a:solidFill>
              </a:rPr>
              <a:t>均衡价格理论：是微观经济学的核心内容</a:t>
            </a:r>
            <a:br>
              <a:rPr lang="zh-CN" altLang="en-US" sz="2800" b="1" dirty="0">
                <a:solidFill>
                  <a:srgbClr val="000000"/>
                </a:solidFill>
              </a:rPr>
            </a:br>
            <a:endParaRPr lang="zh-CN" altLang="en-US" sz="2800" b="1" dirty="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a:xfrm>
            <a:off x="684213" y="0"/>
            <a:ext cx="7772400" cy="836613"/>
          </a:xfrm>
          <a:ln/>
        </p:spPr>
        <p:txBody>
          <a:bodyPr vert="horz" wrap="square" lIns="91440" tIns="45720" rIns="91440" bIns="45720" anchor="ctr" anchorCtr="0"/>
          <a:p>
            <a:pPr eaLnBrk="1" hangingPunct="1"/>
            <a:r>
              <a:rPr lang="zh-CN" altLang="en-US" sz="3600" b="1" dirty="0">
                <a:solidFill>
                  <a:srgbClr val="FF0000"/>
                </a:solidFill>
              </a:rPr>
              <a:t>第一节</a:t>
            </a:r>
            <a:r>
              <a:rPr lang="zh-CN" altLang="en-US" sz="4000" b="1" dirty="0">
                <a:solidFill>
                  <a:srgbClr val="FF0000"/>
                </a:solidFill>
              </a:rPr>
              <a:t>、</a:t>
            </a:r>
            <a:r>
              <a:rPr lang="zh-CN" altLang="en-US" sz="3600" b="1" dirty="0">
                <a:solidFill>
                  <a:srgbClr val="FF0000"/>
                </a:solidFill>
              </a:rPr>
              <a:t>需求曲线</a:t>
            </a:r>
            <a:endParaRPr lang="zh-CN" altLang="en-US" sz="3600" b="1" dirty="0">
              <a:solidFill>
                <a:srgbClr val="FF0000"/>
              </a:solidFill>
            </a:endParaRPr>
          </a:p>
        </p:txBody>
      </p:sp>
      <p:sp>
        <p:nvSpPr>
          <p:cNvPr id="20483" name="Rectangle 3"/>
          <p:cNvSpPr>
            <a:spLocks noGrp="1"/>
          </p:cNvSpPr>
          <p:nvPr>
            <p:ph idx="1"/>
          </p:nvPr>
        </p:nvSpPr>
        <p:spPr>
          <a:xfrm>
            <a:off x="685800" y="981075"/>
            <a:ext cx="7772400" cy="5114925"/>
          </a:xfrm>
          <a:ln/>
        </p:spPr>
        <p:txBody>
          <a:bodyPr vert="horz" wrap="square" lIns="91440" tIns="45720" rIns="91440" bIns="45720" anchor="t" anchorCtr="0"/>
          <a:p>
            <a:pPr marL="0" indent="0" eaLnBrk="1" hangingPunct="1">
              <a:buNone/>
            </a:pPr>
            <a:r>
              <a:rPr lang="zh-CN" altLang="en-US" sz="2800" b="1" dirty="0">
                <a:solidFill>
                  <a:srgbClr val="FF0000"/>
                </a:solidFill>
              </a:rPr>
              <a:t>一、概念：</a:t>
            </a:r>
            <a:br>
              <a:rPr lang="zh-CN" altLang="en-US" sz="1800" b="1" dirty="0">
                <a:solidFill>
                  <a:srgbClr val="FF0000"/>
                </a:solidFill>
              </a:rPr>
            </a:br>
            <a:endParaRPr lang="zh-CN" altLang="en-US" sz="1800" b="1" dirty="0">
              <a:solidFill>
                <a:srgbClr val="FF0000"/>
              </a:solidFill>
            </a:endParaRPr>
          </a:p>
          <a:p>
            <a:pPr marL="0" indent="0" eaLnBrk="1" hangingPunct="1">
              <a:buNone/>
            </a:pPr>
            <a:r>
              <a:rPr lang="zh-CN" altLang="en-US" sz="2400" b="1" dirty="0">
                <a:solidFill>
                  <a:srgbClr val="FF0000"/>
                </a:solidFill>
              </a:rPr>
              <a:t>需求：</a:t>
            </a:r>
            <a:r>
              <a:rPr lang="zh-CN" altLang="en-US" sz="2400" b="1" dirty="0">
                <a:solidFill>
                  <a:srgbClr val="000000"/>
                </a:solidFill>
              </a:rPr>
              <a:t>消费者对于商品的价格，愿意并能够购买的数量</a:t>
            </a:r>
            <a:br>
              <a:rPr lang="zh-CN" altLang="en-US" sz="2400" b="1" dirty="0">
                <a:solidFill>
                  <a:srgbClr val="000000"/>
                </a:solidFill>
              </a:rPr>
            </a:br>
            <a:endParaRPr lang="zh-CN" altLang="en-US" sz="2400" b="1" dirty="0">
              <a:solidFill>
                <a:srgbClr val="000000"/>
              </a:solidFill>
            </a:endParaRPr>
          </a:p>
          <a:p>
            <a:pPr marL="0" indent="0" eaLnBrk="1" hangingPunct="1">
              <a:buNone/>
            </a:pPr>
            <a:r>
              <a:rPr lang="zh-CN" altLang="en-US" sz="2400" b="1" dirty="0">
                <a:solidFill>
                  <a:srgbClr val="000000"/>
                </a:solidFill>
              </a:rPr>
              <a:t>              个人需求                                             价格</a:t>
            </a:r>
            <a:br>
              <a:rPr lang="zh-CN" altLang="en-US" sz="2400" b="1" dirty="0">
                <a:solidFill>
                  <a:srgbClr val="000000"/>
                </a:solidFill>
              </a:rPr>
            </a:br>
            <a:r>
              <a:rPr lang="zh-CN" altLang="en-US" sz="2400" b="1" dirty="0">
                <a:solidFill>
                  <a:srgbClr val="000000"/>
                </a:solidFill>
              </a:rPr>
              <a:t>需求                             需求涉及两个变量</a:t>
            </a:r>
            <a:br>
              <a:rPr lang="zh-CN" altLang="en-US" sz="2400" b="1" dirty="0">
                <a:solidFill>
                  <a:srgbClr val="000000"/>
                </a:solidFill>
              </a:rPr>
            </a:br>
            <a:r>
              <a:rPr lang="zh-CN" altLang="en-US" sz="2400" b="1" dirty="0">
                <a:solidFill>
                  <a:srgbClr val="000000"/>
                </a:solidFill>
              </a:rPr>
              <a:t>              市场需求                                             数量</a:t>
            </a:r>
            <a:br>
              <a:rPr lang="zh-CN" altLang="en-US" sz="2400" b="1" dirty="0">
                <a:solidFill>
                  <a:srgbClr val="000000"/>
                </a:solidFill>
              </a:rPr>
            </a:br>
            <a:endParaRPr lang="zh-CN" altLang="en-US" sz="2400" b="1" dirty="0">
              <a:solidFill>
                <a:srgbClr val="000000"/>
              </a:solidFill>
            </a:endParaRPr>
          </a:p>
          <a:p>
            <a:pPr marL="0" indent="0" eaLnBrk="1" hangingPunct="1">
              <a:buNone/>
            </a:pPr>
            <a:r>
              <a:rPr lang="zh-CN" altLang="en-US" sz="2400" b="1" dirty="0">
                <a:solidFill>
                  <a:srgbClr val="FF0000"/>
                </a:solidFill>
              </a:rPr>
              <a:t>思考题：</a:t>
            </a:r>
            <a:r>
              <a:rPr lang="zh-CN" altLang="en-US" sz="2400" b="1" dirty="0">
                <a:solidFill>
                  <a:srgbClr val="000000"/>
                </a:solidFill>
              </a:rPr>
              <a:t>需求与欲望的区别？</a:t>
            </a:r>
            <a:br>
              <a:rPr lang="zh-CN" altLang="en-US" sz="2400" b="1" dirty="0">
                <a:solidFill>
                  <a:srgbClr val="000000"/>
                </a:solidFill>
              </a:rPr>
            </a:br>
            <a:endParaRPr lang="zh-CN" altLang="en-US" sz="2400" b="1" dirty="0">
              <a:solidFill>
                <a:srgbClr val="000000"/>
              </a:solidFill>
            </a:endParaRPr>
          </a:p>
          <a:p>
            <a:pPr marL="0" indent="0" eaLnBrk="1" hangingPunct="1">
              <a:buNone/>
            </a:pPr>
            <a:r>
              <a:rPr lang="zh-CN" altLang="en-US" sz="2400" b="1" dirty="0">
                <a:solidFill>
                  <a:srgbClr val="FF0000"/>
                </a:solidFill>
              </a:rPr>
              <a:t>需求价格：</a:t>
            </a:r>
            <a:r>
              <a:rPr lang="zh-CN" altLang="en-US" sz="2400" b="1" dirty="0">
                <a:solidFill>
                  <a:srgbClr val="000000"/>
                </a:solidFill>
              </a:rPr>
              <a:t>是消费者对一定量的商品，所愿意支付的价格</a:t>
            </a:r>
            <a:r>
              <a:rPr lang="en-US" altLang="zh-CN" sz="2400" b="1" dirty="0">
                <a:solidFill>
                  <a:srgbClr val="000000"/>
                </a:solidFill>
              </a:rPr>
              <a:t>.</a:t>
            </a:r>
            <a:br>
              <a:rPr lang="en-US" altLang="zh-CN" sz="2400" b="1" dirty="0">
                <a:solidFill>
                  <a:srgbClr val="000000"/>
                </a:solidFill>
              </a:rPr>
            </a:br>
            <a:endParaRPr lang="en-US" altLang="zh-CN" sz="2400" b="1" dirty="0">
              <a:solidFill>
                <a:srgbClr val="000000"/>
              </a:solidFill>
            </a:endParaRPr>
          </a:p>
        </p:txBody>
      </p:sp>
      <p:sp>
        <p:nvSpPr>
          <p:cNvPr id="20484" name="AutoShape 4"/>
          <p:cNvSpPr/>
          <p:nvPr/>
        </p:nvSpPr>
        <p:spPr>
          <a:xfrm>
            <a:off x="1403350" y="2636838"/>
            <a:ext cx="433388" cy="1008062"/>
          </a:xfrm>
          <a:prstGeom prst="leftBrace">
            <a:avLst>
              <a:gd name="adj1" fmla="val 19383"/>
              <a:gd name="adj2" fmla="val 50000"/>
            </a:avLst>
          </a:prstGeom>
          <a:noFill/>
          <a:ln w="38100" cap="flat" cmpd="sng">
            <a:solidFill>
              <a:srgbClr val="000000"/>
            </a:solidFill>
            <a:prstDash val="solid"/>
            <a:headEnd type="none" w="med" len="med"/>
            <a:tailEnd type="none" w="med" len="med"/>
          </a:ln>
        </p:spPr>
        <p:txBody>
          <a:bodyPr wrap="none" anchor="ctr" anchorCtr="0"/>
          <a:p>
            <a:endParaRPr lang="zh-CN" altLang="en-US" dirty="0">
              <a:latin typeface="宋体" panose="02010600030101010101" pitchFamily="2" charset="-122"/>
            </a:endParaRPr>
          </a:p>
        </p:txBody>
      </p:sp>
      <p:sp>
        <p:nvSpPr>
          <p:cNvPr id="20485" name="AutoShape 5"/>
          <p:cNvSpPr/>
          <p:nvPr/>
        </p:nvSpPr>
        <p:spPr>
          <a:xfrm>
            <a:off x="6084888" y="2636838"/>
            <a:ext cx="433387" cy="1008062"/>
          </a:xfrm>
          <a:prstGeom prst="leftBrace">
            <a:avLst>
              <a:gd name="adj1" fmla="val 19383"/>
              <a:gd name="adj2" fmla="val 50000"/>
            </a:avLst>
          </a:prstGeom>
          <a:noFill/>
          <a:ln w="38100" cap="flat" cmpd="sng">
            <a:solidFill>
              <a:srgbClr val="000000"/>
            </a:solidFill>
            <a:prstDash val="solid"/>
            <a:headEnd type="none" w="med" len="med"/>
            <a:tailEnd type="none" w="med" len="med"/>
          </a:ln>
        </p:spPr>
        <p:txBody>
          <a:bodyPr wrap="none" anchor="ctr" anchorCtr="0"/>
          <a:p>
            <a:endParaRPr lang="zh-CN" altLang="en-US" dirty="0">
              <a:latin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xfrm>
            <a:off x="684213" y="0"/>
            <a:ext cx="7772400" cy="836613"/>
          </a:xfrm>
          <a:ln/>
        </p:spPr>
        <p:txBody>
          <a:bodyPr vert="horz" wrap="square" lIns="91440" tIns="45720" rIns="91440" bIns="45720" anchor="ctr" anchorCtr="0"/>
          <a:p>
            <a:pPr eaLnBrk="1" hangingPunct="1"/>
            <a:r>
              <a:rPr lang="zh-CN" altLang="en-US" sz="4000" b="1" dirty="0">
                <a:solidFill>
                  <a:srgbClr val="FF0000"/>
                </a:solidFill>
              </a:rPr>
              <a:t>二、</a:t>
            </a:r>
            <a:r>
              <a:rPr lang="zh-CN" altLang="en-US" sz="3600" b="1" dirty="0">
                <a:solidFill>
                  <a:srgbClr val="FF0000"/>
                </a:solidFill>
              </a:rPr>
              <a:t>需求表与</a:t>
            </a:r>
            <a:r>
              <a:rPr lang="zh-CN" altLang="en-US" sz="3600" b="1" dirty="0">
                <a:solidFill>
                  <a:srgbClr val="FF0000"/>
                </a:solidFill>
                <a:latin typeface="宋体" panose="02010600030101010101" pitchFamily="2" charset="-122"/>
              </a:rPr>
              <a:t>需求曲线</a:t>
            </a:r>
            <a:endParaRPr lang="zh-CN" altLang="en-US" sz="3600" b="1" dirty="0">
              <a:solidFill>
                <a:srgbClr val="FF0000"/>
              </a:solidFill>
              <a:latin typeface="宋体" panose="02010600030101010101" pitchFamily="2" charset="-122"/>
            </a:endParaRPr>
          </a:p>
        </p:txBody>
      </p:sp>
      <p:sp>
        <p:nvSpPr>
          <p:cNvPr id="21507" name="Rectangle 3"/>
          <p:cNvSpPr>
            <a:spLocks noGrp="1"/>
          </p:cNvSpPr>
          <p:nvPr>
            <p:ph type="body" sz="half" idx="1"/>
          </p:nvPr>
        </p:nvSpPr>
        <p:spPr>
          <a:xfrm>
            <a:off x="685800" y="1052513"/>
            <a:ext cx="7773988" cy="5043487"/>
          </a:xfrm>
          <a:ln/>
        </p:spPr>
        <p:txBody>
          <a:bodyPr vert="horz" wrap="square" lIns="91440" tIns="45720" rIns="91440" bIns="45720" anchor="t" anchorCtr="0"/>
          <a:p>
            <a:pPr marL="0" indent="0" eaLnBrk="1" hangingPunct="1">
              <a:buClrTx/>
              <a:buSzTx/>
              <a:buFontTx/>
              <a:buNone/>
            </a:pPr>
            <a:r>
              <a:rPr lang="zh-CN" altLang="en-US" sz="2400" b="1" dirty="0">
                <a:solidFill>
                  <a:srgbClr val="FF0000"/>
                </a:solidFill>
                <a:latin typeface="宋体" panose="02010600030101010101" pitchFamily="2" charset="-122"/>
              </a:rPr>
              <a:t>需求表：</a:t>
            </a:r>
            <a:r>
              <a:rPr lang="zh-CN" altLang="en-US" sz="2400" b="1" dirty="0">
                <a:solidFill>
                  <a:srgbClr val="000000"/>
                </a:solidFill>
                <a:latin typeface="宋体" panose="02010600030101010101" pitchFamily="2" charset="-122"/>
              </a:rPr>
              <a:t>表示一种商品价格与需求量之间关系的表</a:t>
            </a:r>
            <a:br>
              <a:rPr lang="zh-CN" altLang="en-US" sz="2400" b="1" dirty="0">
                <a:solidFill>
                  <a:srgbClr val="000000"/>
                </a:solidFill>
                <a:latin typeface="宋体" panose="02010600030101010101" pitchFamily="2" charset="-122"/>
              </a:rPr>
            </a:br>
            <a:endParaRPr lang="zh-CN" altLang="en-US" sz="2400" b="1" dirty="0">
              <a:solidFill>
                <a:srgbClr val="000000"/>
              </a:solidFill>
              <a:latin typeface="宋体" panose="02010600030101010101" pitchFamily="2" charset="-122"/>
            </a:endParaRPr>
          </a:p>
          <a:p>
            <a:pPr marL="0" indent="0" eaLnBrk="1" hangingPunct="1">
              <a:buClrTx/>
              <a:buSzTx/>
              <a:buFontTx/>
              <a:buNone/>
            </a:pPr>
            <a:r>
              <a:rPr lang="zh-CN" altLang="en-US" sz="2400" b="1" dirty="0">
                <a:solidFill>
                  <a:srgbClr val="FF0000"/>
                </a:solidFill>
                <a:latin typeface="宋体" panose="02010600030101010101" pitchFamily="2" charset="-122"/>
              </a:rPr>
              <a:t>需求曲线：</a:t>
            </a:r>
            <a:r>
              <a:rPr lang="zh-CN" altLang="en-US" sz="2400" b="1" dirty="0">
                <a:solidFill>
                  <a:srgbClr val="000000"/>
                </a:solidFill>
                <a:latin typeface="宋体" panose="02010600030101010101" pitchFamily="2" charset="-122"/>
              </a:rPr>
              <a:t>一种商品价格与需求量之间关系的图形</a:t>
            </a:r>
            <a:br>
              <a:rPr lang="zh-CN" altLang="en-US" sz="2400" b="1" dirty="0">
                <a:solidFill>
                  <a:srgbClr val="000000"/>
                </a:solidFill>
                <a:latin typeface="宋体" panose="02010600030101010101" pitchFamily="2" charset="-122"/>
              </a:rPr>
            </a:br>
            <a:endParaRPr lang="zh-CN" altLang="en-US" sz="2400" b="1" dirty="0">
              <a:solidFill>
                <a:srgbClr val="000000"/>
              </a:solidFill>
              <a:latin typeface="宋体" panose="02010600030101010101" pitchFamily="2" charset="-122"/>
            </a:endParaRPr>
          </a:p>
          <a:p>
            <a:pPr marL="0" indent="0" eaLnBrk="1" hangingPunct="1">
              <a:buClrTx/>
              <a:buSzTx/>
              <a:buFontTx/>
              <a:buNone/>
            </a:pPr>
            <a:r>
              <a:rPr lang="zh-CN" altLang="en-US" sz="2400" b="1" dirty="0">
                <a:solidFill>
                  <a:srgbClr val="FF0000"/>
                </a:solidFill>
                <a:latin typeface="宋体" panose="02010600030101010101" pitchFamily="2" charset="-122"/>
              </a:rPr>
              <a:t>需求规律：</a:t>
            </a:r>
            <a:r>
              <a:rPr lang="zh-CN" altLang="en-US" sz="2400" b="1" dirty="0">
                <a:solidFill>
                  <a:srgbClr val="000000"/>
                </a:solidFill>
                <a:latin typeface="宋体" panose="02010600030101010101" pitchFamily="2" charset="-122"/>
              </a:rPr>
              <a:t>其他条件相同时，一种物品价格上升时需求量减少，价格下降时需求量增加</a:t>
            </a:r>
            <a:br>
              <a:rPr lang="zh-CN" altLang="en-US" sz="2400" b="1" dirty="0">
                <a:solidFill>
                  <a:srgbClr val="000000"/>
                </a:solidFill>
                <a:latin typeface="宋体" panose="02010600030101010101" pitchFamily="2" charset="-122"/>
              </a:rPr>
            </a:br>
            <a:endParaRPr lang="zh-CN" altLang="en-US" sz="2400" b="1" dirty="0">
              <a:solidFill>
                <a:srgbClr val="000000"/>
              </a:solidFill>
              <a:latin typeface="宋体" panose="02010600030101010101" pitchFamily="2" charset="-122"/>
            </a:endParaRPr>
          </a:p>
          <a:p>
            <a:pPr marL="0" indent="0" eaLnBrk="1" hangingPunct="1">
              <a:buClrTx/>
              <a:buSzTx/>
              <a:buFontTx/>
              <a:buNone/>
            </a:pPr>
            <a:endParaRPr lang="en-US" altLang="zh-CN" sz="2400" b="1" dirty="0">
              <a:latin typeface="宋体" panose="02010600030101010101" pitchFamily="2" charset="-122"/>
            </a:endParaRPr>
          </a:p>
        </p:txBody>
      </p:sp>
      <p:graphicFrame>
        <p:nvGraphicFramePr>
          <p:cNvPr id="45060" name="Group 4"/>
          <p:cNvGraphicFramePr>
            <a:graphicFrameLocks noGrp="1"/>
          </p:cNvGraphicFramePr>
          <p:nvPr>
            <p:ph sz="half" idx="1"/>
          </p:nvPr>
        </p:nvGraphicFramePr>
        <p:xfrm>
          <a:off x="755650" y="3573463"/>
          <a:ext cx="7345363" cy="3108325"/>
        </p:xfrm>
        <a:graphic>
          <a:graphicData uri="http://schemas.openxmlformats.org/drawingml/2006/table">
            <a:tbl>
              <a:tblPr/>
              <a:tblGrid>
                <a:gridCol w="1050925"/>
                <a:gridCol w="1047750"/>
                <a:gridCol w="1049338"/>
                <a:gridCol w="1049337"/>
                <a:gridCol w="1049338"/>
                <a:gridCol w="1047750"/>
                <a:gridCol w="1050925"/>
              </a:tblGrid>
              <a:tr h="43180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个人需求</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市场需求</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18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价格</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甲</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乙</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丙</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丁</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c vMerge="1">
                  <a:tcPr/>
                </a:tc>
              </a:tr>
              <a:tr h="4333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6</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2</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4</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6</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40</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35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5</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2</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3</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6</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8</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60</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18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4</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3</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4</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8</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10</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80</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18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3</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4</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6</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12</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12</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100</a:t>
                      </a:r>
                      <a:endParaRPr kumimoji="1" lang="en-US" altLang="zh-CN" sz="28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p:nvPr>
        </p:nvSpPr>
        <p:spPr>
          <a:xfrm>
            <a:off x="684213" y="5715000"/>
            <a:ext cx="7772400" cy="1143000"/>
          </a:xfrm>
          <a:ln/>
        </p:spPr>
        <p:txBody>
          <a:bodyPr vert="horz" wrap="square" lIns="91440" tIns="45720" rIns="91440" bIns="45720" anchor="ctr" anchorCtr="0"/>
          <a:p>
            <a:pPr eaLnBrk="1" hangingPunct="1"/>
            <a:r>
              <a:rPr lang="zh-CN" altLang="en-US" sz="3600" b="1" dirty="0"/>
              <a:t>思考题：需求规律例外？</a:t>
            </a:r>
            <a:endParaRPr lang="zh-CN" altLang="en-US" sz="3600" b="1" dirty="0"/>
          </a:p>
        </p:txBody>
      </p:sp>
      <p:sp>
        <p:nvSpPr>
          <p:cNvPr id="22531" name="Line 3"/>
          <p:cNvSpPr/>
          <p:nvPr/>
        </p:nvSpPr>
        <p:spPr>
          <a:xfrm flipV="1">
            <a:off x="2195513" y="765175"/>
            <a:ext cx="0" cy="3743325"/>
          </a:xfrm>
          <a:prstGeom prst="line">
            <a:avLst/>
          </a:prstGeom>
          <a:ln w="57150" cap="flat" cmpd="sng">
            <a:solidFill>
              <a:schemeClr val="tx2"/>
            </a:solidFill>
            <a:prstDash val="solid"/>
            <a:headEnd type="none" w="med" len="med"/>
            <a:tailEnd type="arrow" w="lg" len="lg"/>
          </a:ln>
        </p:spPr>
      </p:sp>
      <p:sp>
        <p:nvSpPr>
          <p:cNvPr id="22532" name="Line 4"/>
          <p:cNvSpPr/>
          <p:nvPr/>
        </p:nvSpPr>
        <p:spPr>
          <a:xfrm>
            <a:off x="2195513" y="4508500"/>
            <a:ext cx="4968875" cy="0"/>
          </a:xfrm>
          <a:prstGeom prst="line">
            <a:avLst/>
          </a:prstGeom>
          <a:ln w="38100" cap="flat" cmpd="sng">
            <a:solidFill>
              <a:schemeClr val="tx2"/>
            </a:solidFill>
            <a:prstDash val="solid"/>
            <a:headEnd type="none" w="med" len="med"/>
            <a:tailEnd type="arrow" w="lg" len="med"/>
          </a:ln>
        </p:spPr>
      </p:sp>
      <p:sp>
        <p:nvSpPr>
          <p:cNvPr id="22533" name="Freeform 5"/>
          <p:cNvSpPr/>
          <p:nvPr/>
        </p:nvSpPr>
        <p:spPr>
          <a:xfrm>
            <a:off x="2843213" y="1484313"/>
            <a:ext cx="4105275" cy="2736850"/>
          </a:xfrm>
          <a:custGeom>
            <a:avLst/>
            <a:gdLst/>
            <a:ahLst/>
            <a:cxnLst>
              <a:cxn ang="0">
                <a:pos x="0" y="0"/>
              </a:cxn>
              <a:cxn ang="0">
                <a:pos x="1657350" y="2232025"/>
              </a:cxn>
              <a:cxn ang="0">
                <a:pos x="4105275" y="2736850"/>
              </a:cxn>
            </a:cxnLst>
            <a:pathLst>
              <a:path w="2586" h="1724">
                <a:moveTo>
                  <a:pt x="0" y="0"/>
                </a:moveTo>
                <a:cubicBezTo>
                  <a:pt x="306" y="559"/>
                  <a:pt x="613" y="1119"/>
                  <a:pt x="1044" y="1406"/>
                </a:cubicBezTo>
                <a:cubicBezTo>
                  <a:pt x="1475" y="1693"/>
                  <a:pt x="2329" y="1671"/>
                  <a:pt x="2586" y="1724"/>
                </a:cubicBezTo>
              </a:path>
            </a:pathLst>
          </a:custGeom>
          <a:noFill/>
          <a:ln w="38100" cap="flat" cmpd="sng">
            <a:solidFill>
              <a:schemeClr val="tx2">
                <a:alpha val="100000"/>
              </a:schemeClr>
            </a:solidFill>
            <a:prstDash val="solid"/>
            <a:round/>
            <a:headEnd type="none" w="med" len="med"/>
            <a:tailEnd type="none" w="med" len="med"/>
          </a:ln>
        </p:spPr>
        <p:txBody>
          <a:bodyPr/>
          <a:p>
            <a:endParaRPr lang="zh-CN" altLang="en-US"/>
          </a:p>
        </p:txBody>
      </p:sp>
      <p:sp>
        <p:nvSpPr>
          <p:cNvPr id="22534" name="Line 6"/>
          <p:cNvSpPr/>
          <p:nvPr/>
        </p:nvSpPr>
        <p:spPr>
          <a:xfrm flipV="1">
            <a:off x="3419475" y="2492375"/>
            <a:ext cx="0" cy="2016125"/>
          </a:xfrm>
          <a:prstGeom prst="line">
            <a:avLst/>
          </a:prstGeom>
          <a:ln w="19050" cap="flat" cmpd="sng">
            <a:solidFill>
              <a:schemeClr val="tx2"/>
            </a:solidFill>
            <a:prstDash val="solid"/>
            <a:headEnd type="none" w="med" len="med"/>
            <a:tailEnd type="none" w="med" len="med"/>
          </a:ln>
        </p:spPr>
      </p:sp>
      <p:sp>
        <p:nvSpPr>
          <p:cNvPr id="22535" name="Line 7"/>
          <p:cNvSpPr/>
          <p:nvPr/>
        </p:nvSpPr>
        <p:spPr>
          <a:xfrm flipH="1">
            <a:off x="2195513" y="2492375"/>
            <a:ext cx="1223962" cy="0"/>
          </a:xfrm>
          <a:prstGeom prst="line">
            <a:avLst/>
          </a:prstGeom>
          <a:ln w="19050" cap="flat" cmpd="sng">
            <a:solidFill>
              <a:schemeClr val="tx2"/>
            </a:solidFill>
            <a:prstDash val="solid"/>
            <a:headEnd type="none" w="med" len="med"/>
            <a:tailEnd type="none" w="med" len="med"/>
          </a:ln>
        </p:spPr>
      </p:sp>
      <p:sp>
        <p:nvSpPr>
          <p:cNvPr id="22536" name="Line 8"/>
          <p:cNvSpPr/>
          <p:nvPr/>
        </p:nvSpPr>
        <p:spPr>
          <a:xfrm>
            <a:off x="3851275" y="3141663"/>
            <a:ext cx="0" cy="1366837"/>
          </a:xfrm>
          <a:prstGeom prst="line">
            <a:avLst/>
          </a:prstGeom>
          <a:ln w="19050" cap="flat" cmpd="sng">
            <a:solidFill>
              <a:schemeClr val="tx2"/>
            </a:solidFill>
            <a:prstDash val="solid"/>
            <a:headEnd type="none" w="med" len="med"/>
            <a:tailEnd type="none" w="med" len="med"/>
          </a:ln>
        </p:spPr>
      </p:sp>
      <p:sp>
        <p:nvSpPr>
          <p:cNvPr id="22537" name="Line 9"/>
          <p:cNvSpPr/>
          <p:nvPr/>
        </p:nvSpPr>
        <p:spPr>
          <a:xfrm flipH="1">
            <a:off x="2195513" y="3141663"/>
            <a:ext cx="1655762" cy="0"/>
          </a:xfrm>
          <a:prstGeom prst="line">
            <a:avLst/>
          </a:prstGeom>
          <a:ln w="19050" cap="flat" cmpd="sng">
            <a:solidFill>
              <a:schemeClr val="tx2"/>
            </a:solidFill>
            <a:prstDash val="solid"/>
            <a:headEnd type="none" w="med" len="med"/>
            <a:tailEnd type="none" w="med" len="med"/>
          </a:ln>
        </p:spPr>
      </p:sp>
      <p:sp>
        <p:nvSpPr>
          <p:cNvPr id="22538" name="Text Box 10"/>
          <p:cNvSpPr txBox="1"/>
          <p:nvPr/>
        </p:nvSpPr>
        <p:spPr>
          <a:xfrm>
            <a:off x="3059113" y="4724400"/>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Q1</a:t>
            </a:r>
            <a:endParaRPr lang="en-US" altLang="zh-CN" sz="2400" b="0" dirty="0">
              <a:latin typeface="Times New Roman" panose="02020603050405020304" pitchFamily="18" charset="0"/>
            </a:endParaRPr>
          </a:p>
        </p:txBody>
      </p:sp>
      <p:sp>
        <p:nvSpPr>
          <p:cNvPr id="22539" name="Text Box 11"/>
          <p:cNvSpPr txBox="1"/>
          <p:nvPr/>
        </p:nvSpPr>
        <p:spPr>
          <a:xfrm>
            <a:off x="3635375" y="4724400"/>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Q2</a:t>
            </a:r>
            <a:endParaRPr lang="en-US" altLang="zh-CN" sz="2400" b="0" dirty="0">
              <a:latin typeface="Times New Roman" panose="02020603050405020304" pitchFamily="18" charset="0"/>
            </a:endParaRPr>
          </a:p>
        </p:txBody>
      </p:sp>
      <p:sp>
        <p:nvSpPr>
          <p:cNvPr id="22540" name="Text Box 12"/>
          <p:cNvSpPr txBox="1"/>
          <p:nvPr/>
        </p:nvSpPr>
        <p:spPr>
          <a:xfrm>
            <a:off x="1476375" y="2276475"/>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P1</a:t>
            </a:r>
            <a:endParaRPr lang="en-US" altLang="zh-CN" sz="2400" b="0" dirty="0">
              <a:latin typeface="Times New Roman" panose="02020603050405020304" pitchFamily="18" charset="0"/>
            </a:endParaRPr>
          </a:p>
        </p:txBody>
      </p:sp>
      <p:sp>
        <p:nvSpPr>
          <p:cNvPr id="22541" name="Text Box 13"/>
          <p:cNvSpPr txBox="1"/>
          <p:nvPr/>
        </p:nvSpPr>
        <p:spPr>
          <a:xfrm>
            <a:off x="1476375" y="2852738"/>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P2</a:t>
            </a:r>
            <a:endParaRPr lang="en-US" altLang="zh-CN" sz="2400" b="0" dirty="0">
              <a:latin typeface="Times New Roman" panose="02020603050405020304" pitchFamily="18" charset="0"/>
            </a:endParaRPr>
          </a:p>
        </p:txBody>
      </p:sp>
      <p:sp>
        <p:nvSpPr>
          <p:cNvPr id="22542" name="Text Box 14"/>
          <p:cNvSpPr txBox="1"/>
          <p:nvPr/>
        </p:nvSpPr>
        <p:spPr>
          <a:xfrm>
            <a:off x="3924300" y="2708275"/>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E2</a:t>
            </a:r>
            <a:endParaRPr lang="en-US" altLang="zh-CN" sz="2400" b="0" dirty="0">
              <a:latin typeface="Times New Roman" panose="02020603050405020304" pitchFamily="18" charset="0"/>
            </a:endParaRPr>
          </a:p>
        </p:txBody>
      </p:sp>
      <p:sp>
        <p:nvSpPr>
          <p:cNvPr id="22543" name="Text Box 15"/>
          <p:cNvSpPr txBox="1"/>
          <p:nvPr/>
        </p:nvSpPr>
        <p:spPr>
          <a:xfrm>
            <a:off x="3492500" y="1989138"/>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E1</a:t>
            </a:r>
            <a:endParaRPr lang="en-US" altLang="zh-CN" sz="2400" b="0" dirty="0">
              <a:latin typeface="Times New Roman" panose="02020603050405020304" pitchFamily="18" charset="0"/>
            </a:endParaRPr>
          </a:p>
        </p:txBody>
      </p:sp>
      <p:sp>
        <p:nvSpPr>
          <p:cNvPr id="22544" name="Text Box 16"/>
          <p:cNvSpPr txBox="1"/>
          <p:nvPr/>
        </p:nvSpPr>
        <p:spPr>
          <a:xfrm>
            <a:off x="6948488" y="3716338"/>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D</a:t>
            </a:r>
            <a:endParaRPr lang="en-US" altLang="zh-CN" sz="2400" b="0" dirty="0">
              <a:latin typeface="Times New Roman" panose="02020603050405020304" pitchFamily="18" charset="0"/>
            </a:endParaRPr>
          </a:p>
        </p:txBody>
      </p:sp>
      <p:sp>
        <p:nvSpPr>
          <p:cNvPr id="22545" name="Text Box 17"/>
          <p:cNvSpPr txBox="1"/>
          <p:nvPr/>
        </p:nvSpPr>
        <p:spPr>
          <a:xfrm>
            <a:off x="7308850" y="4508500"/>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a:t>
            </a:r>
            <a:endParaRPr lang="en-US" altLang="zh-CN" sz="2400" b="0" dirty="0">
              <a:latin typeface="Times New Roman" panose="02020603050405020304" pitchFamily="18" charset="0"/>
            </a:endParaRPr>
          </a:p>
        </p:txBody>
      </p:sp>
      <p:sp>
        <p:nvSpPr>
          <p:cNvPr id="22546" name="Text Box 18"/>
          <p:cNvSpPr txBox="1"/>
          <p:nvPr/>
        </p:nvSpPr>
        <p:spPr>
          <a:xfrm>
            <a:off x="1547813" y="333375"/>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xfrm>
            <a:off x="684213" y="0"/>
            <a:ext cx="7772400" cy="692150"/>
          </a:xfrm>
          <a:ln/>
        </p:spPr>
        <p:txBody>
          <a:bodyPr vert="horz" wrap="square" lIns="91440" tIns="45720" rIns="91440" bIns="45720" anchor="ctr" anchorCtr="0"/>
          <a:p>
            <a:pPr eaLnBrk="1" hangingPunct="1"/>
            <a:r>
              <a:rPr lang="zh-CN" altLang="en-US" sz="3600" b="1" dirty="0">
                <a:solidFill>
                  <a:srgbClr val="FF0000"/>
                </a:solidFill>
                <a:latin typeface="宋体" panose="02010600030101010101" pitchFamily="2" charset="-122"/>
              </a:rPr>
              <a:t>三、影响需求的因素</a:t>
            </a:r>
            <a:endParaRPr lang="zh-CN" altLang="en-US" sz="3600" b="1" dirty="0">
              <a:solidFill>
                <a:srgbClr val="FF0000"/>
              </a:solidFill>
              <a:latin typeface="宋体" panose="02010600030101010101" pitchFamily="2" charset="-122"/>
            </a:endParaRPr>
          </a:p>
        </p:txBody>
      </p:sp>
      <p:sp>
        <p:nvSpPr>
          <p:cNvPr id="23555" name="Rectangle 3"/>
          <p:cNvSpPr>
            <a:spLocks noGrp="1"/>
          </p:cNvSpPr>
          <p:nvPr>
            <p:ph idx="1"/>
          </p:nvPr>
        </p:nvSpPr>
        <p:spPr>
          <a:xfrm>
            <a:off x="685800" y="908050"/>
            <a:ext cx="7772400" cy="5187950"/>
          </a:xfrm>
          <a:ln/>
        </p:spPr>
        <p:txBody>
          <a:bodyPr vert="horz" wrap="square" lIns="91440" tIns="45720" rIns="91440" bIns="45720" anchor="t" anchorCtr="0"/>
          <a:p>
            <a:pPr marL="0" indent="0" eaLnBrk="1" hangingPunct="1">
              <a:lnSpc>
                <a:spcPct val="90000"/>
              </a:lnSpc>
              <a:buNone/>
            </a:pPr>
            <a:r>
              <a:rPr lang="en-US" altLang="zh-CN" sz="2800" b="1" dirty="0">
                <a:solidFill>
                  <a:srgbClr val="000000"/>
                </a:solidFill>
                <a:latin typeface="宋体" panose="02010600030101010101" pitchFamily="2" charset="-122"/>
              </a:rPr>
              <a:t>1</a:t>
            </a:r>
            <a:r>
              <a:rPr lang="zh-CN" altLang="en-US" sz="2800" b="1" dirty="0">
                <a:solidFill>
                  <a:srgbClr val="000000"/>
                </a:solidFill>
                <a:latin typeface="宋体" panose="02010600030101010101" pitchFamily="2" charset="-122"/>
              </a:rPr>
              <a:t>、	消费者的偏好</a:t>
            </a:r>
            <a:br>
              <a:rPr lang="zh-CN" altLang="en-US" sz="2800" b="1" dirty="0">
                <a:solidFill>
                  <a:srgbClr val="000000"/>
                </a:solidFill>
                <a:latin typeface="宋体" panose="02010600030101010101" pitchFamily="2" charset="-122"/>
              </a:rPr>
            </a:br>
            <a:endParaRPr lang="zh-CN" altLang="en-US" sz="2800" b="1" dirty="0">
              <a:solidFill>
                <a:srgbClr val="000000"/>
              </a:solidFill>
              <a:latin typeface="宋体" panose="02010600030101010101" pitchFamily="2" charset="-122"/>
            </a:endParaRPr>
          </a:p>
          <a:p>
            <a:pPr marL="0" indent="0" eaLnBrk="1" hangingPunct="1">
              <a:lnSpc>
                <a:spcPct val="90000"/>
              </a:lnSpc>
              <a:buNone/>
            </a:pPr>
            <a:r>
              <a:rPr lang="en-US" altLang="zh-CN" sz="2800" b="1" dirty="0">
                <a:solidFill>
                  <a:srgbClr val="000000"/>
                </a:solidFill>
                <a:latin typeface="宋体" panose="02010600030101010101" pitchFamily="2" charset="-122"/>
              </a:rPr>
              <a:t>2</a:t>
            </a:r>
            <a:r>
              <a:rPr lang="zh-CN" altLang="en-US" sz="2800" b="1" dirty="0">
                <a:solidFill>
                  <a:srgbClr val="000000"/>
                </a:solidFill>
                <a:latin typeface="宋体" panose="02010600030101010101" pitchFamily="2" charset="-122"/>
              </a:rPr>
              <a:t>、	消费者的货币收入</a:t>
            </a:r>
            <a:br>
              <a:rPr lang="zh-CN" altLang="en-US" sz="2800" b="1" dirty="0">
                <a:solidFill>
                  <a:srgbClr val="000000"/>
                </a:solidFill>
                <a:latin typeface="宋体" panose="02010600030101010101" pitchFamily="2" charset="-122"/>
              </a:rPr>
            </a:br>
            <a:endParaRPr lang="zh-CN" altLang="en-US" sz="2800" b="1" dirty="0">
              <a:solidFill>
                <a:srgbClr val="000000"/>
              </a:solidFill>
              <a:latin typeface="宋体" panose="02010600030101010101" pitchFamily="2" charset="-122"/>
            </a:endParaRPr>
          </a:p>
          <a:p>
            <a:pPr marL="0" indent="0" eaLnBrk="1" hangingPunct="1">
              <a:lnSpc>
                <a:spcPct val="90000"/>
              </a:lnSpc>
              <a:buNone/>
            </a:pPr>
            <a:r>
              <a:rPr lang="en-US" altLang="zh-CN" sz="2800" b="1" dirty="0">
                <a:solidFill>
                  <a:srgbClr val="000000"/>
                </a:solidFill>
                <a:latin typeface="宋体" panose="02010600030101010101" pitchFamily="2" charset="-122"/>
              </a:rPr>
              <a:t>3</a:t>
            </a:r>
            <a:r>
              <a:rPr lang="zh-CN" altLang="en-US" sz="2800" b="1" dirty="0">
                <a:solidFill>
                  <a:srgbClr val="000000"/>
                </a:solidFill>
                <a:latin typeface="宋体" panose="02010600030101010101" pitchFamily="2" charset="-122"/>
              </a:rPr>
              <a:t>、	商品本身的价格</a:t>
            </a:r>
            <a:br>
              <a:rPr lang="zh-CN" altLang="en-US" sz="2800" b="1" dirty="0">
                <a:solidFill>
                  <a:srgbClr val="000000"/>
                </a:solidFill>
                <a:latin typeface="宋体" panose="02010600030101010101" pitchFamily="2" charset="-122"/>
              </a:rPr>
            </a:br>
            <a:endParaRPr lang="zh-CN" altLang="en-US" sz="2800" b="1" dirty="0">
              <a:solidFill>
                <a:srgbClr val="000000"/>
              </a:solidFill>
              <a:latin typeface="宋体" panose="02010600030101010101" pitchFamily="2" charset="-122"/>
            </a:endParaRPr>
          </a:p>
          <a:p>
            <a:pPr marL="0" indent="0" eaLnBrk="1" hangingPunct="1">
              <a:lnSpc>
                <a:spcPct val="90000"/>
              </a:lnSpc>
              <a:buNone/>
            </a:pPr>
            <a:r>
              <a:rPr lang="en-US" altLang="zh-CN" sz="2800" b="1" dirty="0">
                <a:solidFill>
                  <a:srgbClr val="000000"/>
                </a:solidFill>
                <a:latin typeface="宋体" panose="02010600030101010101" pitchFamily="2" charset="-122"/>
              </a:rPr>
              <a:t>4</a:t>
            </a:r>
            <a:r>
              <a:rPr lang="zh-CN" altLang="en-US" sz="2800" b="1" dirty="0">
                <a:solidFill>
                  <a:srgbClr val="000000"/>
                </a:solidFill>
                <a:latin typeface="宋体" panose="02010600030101010101" pitchFamily="2" charset="-122"/>
              </a:rPr>
              <a:t>、	其它商品的价格：替代品，互补品</a:t>
            </a:r>
            <a:br>
              <a:rPr lang="zh-CN" altLang="en-US" sz="2800" b="1" dirty="0">
                <a:solidFill>
                  <a:srgbClr val="000000"/>
                </a:solidFill>
                <a:latin typeface="宋体" panose="02010600030101010101" pitchFamily="2" charset="-122"/>
              </a:rPr>
            </a:br>
            <a:endParaRPr lang="zh-CN" altLang="en-US" sz="2800" b="1" dirty="0">
              <a:solidFill>
                <a:srgbClr val="000000"/>
              </a:solidFill>
              <a:latin typeface="宋体" panose="02010600030101010101" pitchFamily="2" charset="-122"/>
            </a:endParaRPr>
          </a:p>
          <a:p>
            <a:pPr marL="0" indent="0" eaLnBrk="1" hangingPunct="1">
              <a:lnSpc>
                <a:spcPct val="90000"/>
              </a:lnSpc>
              <a:buNone/>
            </a:pPr>
            <a:r>
              <a:rPr lang="en-US" altLang="zh-CN" sz="2800" b="1" dirty="0">
                <a:solidFill>
                  <a:srgbClr val="000000"/>
                </a:solidFill>
                <a:latin typeface="宋体" panose="02010600030101010101" pitchFamily="2" charset="-122"/>
              </a:rPr>
              <a:t>5</a:t>
            </a:r>
            <a:r>
              <a:rPr lang="zh-CN" altLang="en-US" sz="2800" b="1" dirty="0">
                <a:solidFill>
                  <a:srgbClr val="000000"/>
                </a:solidFill>
                <a:latin typeface="宋体" panose="02010600030101010101" pitchFamily="2" charset="-122"/>
              </a:rPr>
              <a:t>、	人们对未来价格的预期</a:t>
            </a:r>
            <a:br>
              <a:rPr lang="zh-CN" altLang="en-US" sz="2800" b="1" dirty="0">
                <a:solidFill>
                  <a:srgbClr val="000000"/>
                </a:solidFill>
                <a:latin typeface="宋体" panose="02010600030101010101" pitchFamily="2" charset="-122"/>
              </a:rPr>
            </a:br>
            <a:endParaRPr lang="zh-CN" altLang="en-US" sz="2800" b="1" dirty="0">
              <a:solidFill>
                <a:srgbClr val="000000"/>
              </a:solidFill>
              <a:latin typeface="宋体" panose="02010600030101010101" pitchFamily="2" charset="-122"/>
            </a:endParaRPr>
          </a:p>
          <a:p>
            <a:pPr marL="0" indent="0" eaLnBrk="1" hangingPunct="1">
              <a:lnSpc>
                <a:spcPct val="90000"/>
              </a:lnSpc>
              <a:buNone/>
            </a:pPr>
            <a:r>
              <a:rPr lang="en-US" altLang="zh-CN" sz="2800" b="1" dirty="0">
                <a:solidFill>
                  <a:srgbClr val="000000"/>
                </a:solidFill>
                <a:latin typeface="宋体" panose="02010600030101010101" pitchFamily="2" charset="-122"/>
              </a:rPr>
              <a:t>6</a:t>
            </a:r>
            <a:r>
              <a:rPr lang="zh-CN" altLang="en-US" sz="2800" b="1" dirty="0">
                <a:solidFill>
                  <a:srgbClr val="000000"/>
                </a:solidFill>
                <a:latin typeface="宋体" panose="02010600030101010101" pitchFamily="2" charset="-122"/>
              </a:rPr>
              <a:t>、	时间因素</a:t>
            </a:r>
            <a:endParaRPr lang="zh-CN" altLang="en-US" sz="2800" b="1" dirty="0">
              <a:solidFill>
                <a:srgbClr val="000000"/>
              </a:solidFill>
              <a:latin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a:xfrm>
            <a:off x="684213" y="0"/>
            <a:ext cx="7772400" cy="692150"/>
          </a:xfrm>
          <a:ln/>
        </p:spPr>
        <p:txBody>
          <a:bodyPr vert="horz" wrap="square" lIns="91440" tIns="45720" rIns="91440" bIns="45720" anchor="ctr" anchorCtr="0"/>
          <a:p>
            <a:pPr eaLnBrk="1" hangingPunct="1"/>
            <a:r>
              <a:rPr lang="zh-CN" altLang="en-US" sz="3600" b="1" dirty="0">
                <a:solidFill>
                  <a:srgbClr val="FF0000"/>
                </a:solidFill>
              </a:rPr>
              <a:t>四、需求函数</a:t>
            </a:r>
            <a:endParaRPr lang="zh-CN" altLang="en-US" sz="3600" b="1" dirty="0">
              <a:solidFill>
                <a:srgbClr val="FF0000"/>
              </a:solidFill>
            </a:endParaRPr>
          </a:p>
        </p:txBody>
      </p:sp>
      <p:sp>
        <p:nvSpPr>
          <p:cNvPr id="24579" name="Rectangle 3"/>
          <p:cNvSpPr>
            <a:spLocks noGrp="1"/>
          </p:cNvSpPr>
          <p:nvPr>
            <p:ph idx="1"/>
          </p:nvPr>
        </p:nvSpPr>
        <p:spPr>
          <a:xfrm>
            <a:off x="685800" y="1125538"/>
            <a:ext cx="7772400" cy="4970462"/>
          </a:xfrm>
          <a:ln/>
        </p:spPr>
        <p:txBody>
          <a:bodyPr vert="horz" wrap="square" lIns="91440" tIns="45720" rIns="91440" bIns="45720" anchor="t" anchorCtr="0"/>
          <a:p>
            <a:pPr marL="0" indent="0" eaLnBrk="1" hangingPunct="1">
              <a:buNone/>
            </a:pPr>
            <a:r>
              <a:rPr lang="zh-CN" altLang="en-US" sz="2400" b="1" dirty="0">
                <a:solidFill>
                  <a:srgbClr val="000000"/>
                </a:solidFill>
              </a:rPr>
              <a:t>需求函数  </a:t>
            </a:r>
            <a:r>
              <a:rPr lang="en-US" altLang="zh-CN" sz="2400" b="1" dirty="0">
                <a:solidFill>
                  <a:srgbClr val="000000"/>
                </a:solidFill>
              </a:rPr>
              <a:t>D</a:t>
            </a:r>
            <a:r>
              <a:rPr lang="zh-CN" altLang="en-US" sz="2400" b="1" dirty="0">
                <a:solidFill>
                  <a:srgbClr val="000000"/>
                </a:solidFill>
              </a:rPr>
              <a:t>＝</a:t>
            </a:r>
            <a:r>
              <a:rPr lang="en-US" altLang="zh-CN" sz="2400" b="1" dirty="0">
                <a:solidFill>
                  <a:srgbClr val="000000"/>
                </a:solidFill>
              </a:rPr>
              <a:t>F</a:t>
            </a:r>
            <a:r>
              <a:rPr lang="zh-CN" altLang="en-US" sz="2400" b="1" dirty="0">
                <a:solidFill>
                  <a:srgbClr val="000000"/>
                </a:solidFill>
              </a:rPr>
              <a:t>（</a:t>
            </a:r>
            <a:r>
              <a:rPr lang="en-US" altLang="zh-CN" sz="2400" b="1" dirty="0">
                <a:solidFill>
                  <a:srgbClr val="000000"/>
                </a:solidFill>
              </a:rPr>
              <a:t>T</a:t>
            </a:r>
            <a:r>
              <a:rPr lang="zh-CN" altLang="en-US" sz="2400" b="1" dirty="0">
                <a:solidFill>
                  <a:srgbClr val="000000"/>
                </a:solidFill>
              </a:rPr>
              <a:t>，</a:t>
            </a:r>
            <a:r>
              <a:rPr lang="en-US" altLang="zh-CN" sz="2400" b="1" dirty="0">
                <a:solidFill>
                  <a:srgbClr val="000000"/>
                </a:solidFill>
              </a:rPr>
              <a:t>X</a:t>
            </a:r>
            <a:r>
              <a:rPr lang="zh-CN" altLang="en-US" sz="2400" b="1" dirty="0">
                <a:solidFill>
                  <a:srgbClr val="000000"/>
                </a:solidFill>
              </a:rPr>
              <a:t>，</a:t>
            </a:r>
            <a:r>
              <a:rPr lang="en-US" altLang="zh-CN" sz="2400" b="1" dirty="0">
                <a:solidFill>
                  <a:srgbClr val="000000"/>
                </a:solidFill>
              </a:rPr>
              <a:t>P</a:t>
            </a:r>
            <a:r>
              <a:rPr lang="zh-CN" altLang="en-US" sz="2400" b="1" dirty="0">
                <a:solidFill>
                  <a:srgbClr val="000000"/>
                </a:solidFill>
              </a:rPr>
              <a:t>，</a:t>
            </a:r>
            <a:r>
              <a:rPr lang="en-US" altLang="zh-CN" sz="2400" b="1" dirty="0">
                <a:solidFill>
                  <a:srgbClr val="000000"/>
                </a:solidFill>
              </a:rPr>
              <a:t>Pa</a:t>
            </a:r>
            <a:r>
              <a:rPr lang="zh-CN" altLang="en-US" sz="2400" b="1" dirty="0">
                <a:solidFill>
                  <a:srgbClr val="000000"/>
                </a:solidFill>
              </a:rPr>
              <a:t>，</a:t>
            </a:r>
            <a:r>
              <a:rPr lang="en-US" altLang="zh-CN" sz="2400" b="1" dirty="0">
                <a:solidFill>
                  <a:srgbClr val="000000"/>
                </a:solidFill>
              </a:rPr>
              <a:t>Pb</a:t>
            </a:r>
            <a:r>
              <a:rPr lang="zh-CN" altLang="en-US" sz="2400" b="1" dirty="0">
                <a:solidFill>
                  <a:srgbClr val="000000"/>
                </a:solidFill>
              </a:rPr>
              <a:t>，</a:t>
            </a:r>
            <a:r>
              <a:rPr lang="en-US" altLang="zh-CN" sz="2400" b="1" dirty="0">
                <a:solidFill>
                  <a:srgbClr val="000000"/>
                </a:solidFill>
              </a:rPr>
              <a:t>…..Pe</a:t>
            </a:r>
            <a:r>
              <a:rPr lang="zh-CN" altLang="en-US" sz="2400" b="1" dirty="0">
                <a:solidFill>
                  <a:srgbClr val="000000"/>
                </a:solidFill>
              </a:rPr>
              <a:t>，</a:t>
            </a:r>
            <a:r>
              <a:rPr lang="en-US" altLang="zh-CN" sz="2400" b="1" dirty="0">
                <a:solidFill>
                  <a:srgbClr val="000000"/>
                </a:solidFill>
              </a:rPr>
              <a:t>Pt</a:t>
            </a:r>
            <a:r>
              <a:rPr lang="zh-CN" altLang="en-US" sz="2400" b="1" dirty="0">
                <a:solidFill>
                  <a:srgbClr val="000000"/>
                </a:solidFill>
              </a:rPr>
              <a:t>）</a:t>
            </a:r>
            <a:br>
              <a:rPr lang="zh-CN" altLang="en-US" sz="2400" b="1" dirty="0">
                <a:solidFill>
                  <a:srgbClr val="000000"/>
                </a:solidFill>
              </a:rPr>
            </a:br>
            <a:r>
              <a:rPr lang="zh-CN" altLang="en-US" sz="2400" b="1" dirty="0">
                <a:solidFill>
                  <a:srgbClr val="000000"/>
                </a:solidFill>
                <a:latin typeface="宋体" panose="02010600030101010101" pitchFamily="2" charset="-122"/>
              </a:rPr>
              <a:t>需求量   </a:t>
            </a:r>
            <a:endParaRPr lang="zh-CN" altLang="en-US" sz="2400" b="1" dirty="0">
              <a:solidFill>
                <a:srgbClr val="000000"/>
              </a:solidFill>
              <a:latin typeface="宋体" panose="02010600030101010101" pitchFamily="2" charset="-122"/>
            </a:endParaRPr>
          </a:p>
          <a:p>
            <a:pPr marL="0" indent="0" eaLnBrk="1" hangingPunct="1">
              <a:buNone/>
            </a:pPr>
            <a:r>
              <a:rPr lang="en-US" altLang="zh-CN" sz="2400" b="1" dirty="0">
                <a:solidFill>
                  <a:srgbClr val="000000"/>
                </a:solidFill>
                <a:latin typeface="宋体" panose="02010600030101010101" pitchFamily="2" charset="-122"/>
              </a:rPr>
              <a:t>T</a:t>
            </a:r>
            <a:r>
              <a:rPr lang="zh-CN" altLang="en-US" sz="2400" b="1" dirty="0">
                <a:solidFill>
                  <a:srgbClr val="000000"/>
                </a:solidFill>
                <a:latin typeface="宋体" panose="02010600030101010101" pitchFamily="2" charset="-122"/>
              </a:rPr>
              <a:t>：消</a:t>
            </a:r>
            <a:endParaRPr lang="zh-CN" altLang="en-US" sz="2400" b="1" dirty="0">
              <a:solidFill>
                <a:srgbClr val="000000"/>
              </a:solidFill>
            </a:endParaRPr>
          </a:p>
          <a:p>
            <a:pPr marL="0" indent="0" eaLnBrk="1" hangingPunct="1">
              <a:buNone/>
            </a:pPr>
            <a:r>
              <a:rPr lang="en-US" altLang="zh-CN" sz="2400" b="1" dirty="0">
                <a:solidFill>
                  <a:srgbClr val="000000"/>
                </a:solidFill>
                <a:latin typeface="宋体" panose="02010600030101010101" pitchFamily="2" charset="-122"/>
              </a:rPr>
              <a:t>D</a:t>
            </a:r>
            <a:r>
              <a:rPr lang="zh-CN" altLang="en-US" sz="2400" b="1" dirty="0">
                <a:solidFill>
                  <a:srgbClr val="000000"/>
                </a:solidFill>
                <a:latin typeface="宋体" panose="02010600030101010101" pitchFamily="2" charset="-122"/>
              </a:rPr>
              <a:t>：费偏好  </a:t>
            </a:r>
            <a:br>
              <a:rPr lang="zh-CN" altLang="en-US" sz="2400" b="1" dirty="0">
                <a:solidFill>
                  <a:srgbClr val="000000"/>
                </a:solidFill>
                <a:latin typeface="宋体" panose="02010600030101010101" pitchFamily="2" charset="-122"/>
              </a:rPr>
            </a:br>
            <a:r>
              <a:rPr lang="en-US" altLang="zh-CN" sz="2400" b="1" dirty="0">
                <a:solidFill>
                  <a:srgbClr val="000000"/>
                </a:solidFill>
                <a:latin typeface="宋体" panose="02010600030101010101" pitchFamily="2" charset="-122"/>
              </a:rPr>
              <a:t>P</a:t>
            </a:r>
            <a:r>
              <a:rPr lang="zh-CN" altLang="en-US" sz="2400" b="1" dirty="0">
                <a:solidFill>
                  <a:srgbClr val="000000"/>
                </a:solidFill>
                <a:latin typeface="宋体" panose="02010600030101010101" pitchFamily="2" charset="-122"/>
              </a:rPr>
              <a:t>：该商品的价格   </a:t>
            </a:r>
            <a:br>
              <a:rPr lang="zh-CN" altLang="en-US" sz="2400" b="1" dirty="0">
                <a:solidFill>
                  <a:srgbClr val="000000"/>
                </a:solidFill>
                <a:latin typeface="宋体" panose="02010600030101010101" pitchFamily="2" charset="-122"/>
              </a:rPr>
            </a:br>
            <a:r>
              <a:rPr lang="en-US" altLang="zh-CN" sz="2400" b="1" dirty="0">
                <a:solidFill>
                  <a:srgbClr val="000000"/>
                </a:solidFill>
                <a:latin typeface="宋体" panose="02010600030101010101" pitchFamily="2" charset="-122"/>
              </a:rPr>
              <a:t>Pa</a:t>
            </a:r>
            <a:r>
              <a:rPr lang="zh-CN" altLang="en-US" sz="2400" b="1" dirty="0">
                <a:solidFill>
                  <a:srgbClr val="000000"/>
                </a:solidFill>
                <a:latin typeface="宋体" panose="02010600030101010101" pitchFamily="2" charset="-122"/>
              </a:rPr>
              <a:t>，</a:t>
            </a:r>
            <a:r>
              <a:rPr lang="en-US" altLang="zh-CN" sz="2400" b="1" dirty="0">
                <a:solidFill>
                  <a:srgbClr val="000000"/>
                </a:solidFill>
                <a:latin typeface="宋体" panose="02010600030101010101" pitchFamily="2" charset="-122"/>
              </a:rPr>
              <a:t>Pb</a:t>
            </a:r>
            <a:r>
              <a:rPr lang="zh-CN" altLang="en-US" sz="2400" b="1" dirty="0">
                <a:solidFill>
                  <a:srgbClr val="000000"/>
                </a:solidFill>
                <a:latin typeface="宋体" panose="02010600030101010101" pitchFamily="2" charset="-122"/>
              </a:rPr>
              <a:t>，</a:t>
            </a:r>
            <a:r>
              <a:rPr lang="en-US" altLang="zh-CN" sz="2400" b="1" dirty="0">
                <a:solidFill>
                  <a:srgbClr val="000000"/>
                </a:solidFill>
                <a:latin typeface="宋体" panose="02010600030101010101" pitchFamily="2" charset="-122"/>
              </a:rPr>
              <a:t>…..Pe</a:t>
            </a:r>
            <a:r>
              <a:rPr lang="zh-CN" altLang="en-US" sz="2400" b="1" dirty="0">
                <a:solidFill>
                  <a:srgbClr val="000000"/>
                </a:solidFill>
                <a:latin typeface="宋体" panose="02010600030101010101" pitchFamily="2" charset="-122"/>
              </a:rPr>
              <a:t>：表示其它商品的价格</a:t>
            </a:r>
            <a:br>
              <a:rPr lang="zh-CN" altLang="en-US" sz="2400" b="1" dirty="0">
                <a:solidFill>
                  <a:srgbClr val="000000"/>
                </a:solidFill>
                <a:latin typeface="宋体" panose="02010600030101010101" pitchFamily="2" charset="-122"/>
              </a:rPr>
            </a:br>
            <a:r>
              <a:rPr lang="en-US" altLang="zh-CN" sz="2400" b="1" dirty="0">
                <a:solidFill>
                  <a:srgbClr val="000000"/>
                </a:solidFill>
                <a:latin typeface="宋体" panose="02010600030101010101" pitchFamily="2" charset="-122"/>
              </a:rPr>
              <a:t>X</a:t>
            </a:r>
            <a:r>
              <a:rPr lang="zh-CN" altLang="en-US" sz="2400" b="1" dirty="0">
                <a:solidFill>
                  <a:srgbClr val="000000"/>
                </a:solidFill>
                <a:latin typeface="宋体" panose="02010600030101010101" pitchFamily="2" charset="-122"/>
              </a:rPr>
              <a:t>：表示货币收入    </a:t>
            </a:r>
            <a:endParaRPr lang="zh-CN" altLang="en-US" sz="2400" b="1" dirty="0">
              <a:solidFill>
                <a:srgbClr val="000000"/>
              </a:solidFill>
              <a:latin typeface="宋体" panose="02010600030101010101" pitchFamily="2" charset="-122"/>
            </a:endParaRPr>
          </a:p>
          <a:p>
            <a:pPr marL="0" indent="0" eaLnBrk="1" hangingPunct="1">
              <a:buNone/>
            </a:pPr>
            <a:r>
              <a:rPr lang="en-US" altLang="zh-CN" sz="2400" b="1" dirty="0">
                <a:solidFill>
                  <a:srgbClr val="000000"/>
                </a:solidFill>
                <a:latin typeface="宋体" panose="02010600030101010101" pitchFamily="2" charset="-122"/>
              </a:rPr>
              <a:t>Pt</a:t>
            </a:r>
            <a:r>
              <a:rPr lang="zh-CN" altLang="en-US" sz="2400" b="1" dirty="0">
                <a:solidFill>
                  <a:srgbClr val="000000"/>
                </a:solidFill>
                <a:latin typeface="宋体" panose="02010600030101010101" pitchFamily="2" charset="-122"/>
              </a:rPr>
              <a:t>：需求的时间因素</a:t>
            </a:r>
            <a:br>
              <a:rPr lang="zh-CN" altLang="en-US" sz="2400" b="1" dirty="0">
                <a:solidFill>
                  <a:srgbClr val="000000"/>
                </a:solidFill>
                <a:latin typeface="宋体" panose="02010600030101010101" pitchFamily="2" charset="-122"/>
              </a:rPr>
            </a:br>
            <a:br>
              <a:rPr lang="zh-CN" altLang="en-US" sz="2400" dirty="0">
                <a:solidFill>
                  <a:srgbClr val="000000"/>
                </a:solidFill>
              </a:rPr>
            </a:br>
            <a:r>
              <a:rPr lang="zh-CN" altLang="en-US" sz="3600" b="1" dirty="0">
                <a:solidFill>
                  <a:srgbClr val="000000"/>
                </a:solidFill>
              </a:rPr>
              <a:t>简化：</a:t>
            </a:r>
            <a:r>
              <a:rPr lang="en-US" altLang="zh-CN" sz="3600" b="1" dirty="0">
                <a:solidFill>
                  <a:srgbClr val="000000"/>
                </a:solidFill>
              </a:rPr>
              <a:t>D</a:t>
            </a:r>
            <a:r>
              <a:rPr lang="zh-CN" altLang="en-US" sz="3600" b="1" dirty="0">
                <a:solidFill>
                  <a:srgbClr val="000000"/>
                </a:solidFill>
              </a:rPr>
              <a:t>＝</a:t>
            </a:r>
            <a:r>
              <a:rPr lang="en-US" altLang="zh-CN" sz="3600" b="1" dirty="0">
                <a:solidFill>
                  <a:srgbClr val="000000"/>
                </a:solidFill>
              </a:rPr>
              <a:t>f</a:t>
            </a:r>
            <a:r>
              <a:rPr lang="zh-CN" altLang="en-US" sz="3600" b="1" dirty="0">
                <a:solidFill>
                  <a:srgbClr val="000000"/>
                </a:solidFill>
              </a:rPr>
              <a:t>（</a:t>
            </a:r>
            <a:r>
              <a:rPr lang="en-US" altLang="zh-CN" sz="3600" b="1" dirty="0">
                <a:solidFill>
                  <a:srgbClr val="000000"/>
                </a:solidFill>
              </a:rPr>
              <a:t>P</a:t>
            </a:r>
            <a:r>
              <a:rPr lang="zh-CN" altLang="en-US" sz="3600" b="1" dirty="0">
                <a:solidFill>
                  <a:srgbClr val="000000"/>
                </a:solidFill>
              </a:rPr>
              <a:t>）</a:t>
            </a:r>
            <a:br>
              <a:rPr lang="zh-CN" altLang="en-US" sz="3600" b="1" dirty="0"/>
            </a:br>
            <a:endParaRPr lang="zh-CN" altLang="en-US" sz="36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xfrm>
            <a:off x="539750" y="5013325"/>
            <a:ext cx="7916863" cy="1628775"/>
          </a:xfrm>
          <a:ln/>
        </p:spPr>
        <p:txBody>
          <a:bodyPr vert="horz" wrap="square" lIns="91440" tIns="45720" rIns="91440" bIns="45720" anchor="ctr" anchorCtr="0"/>
          <a:p>
            <a:pPr algn="l" eaLnBrk="1" hangingPunct="1"/>
            <a:r>
              <a:rPr lang="zh-CN" altLang="en-US" sz="2400" b="1" dirty="0">
                <a:solidFill>
                  <a:srgbClr val="FF0000"/>
                </a:solidFill>
                <a:latin typeface="宋体" panose="02010600030101010101" pitchFamily="2" charset="-122"/>
              </a:rPr>
              <a:t>需求量</a:t>
            </a:r>
            <a:r>
              <a:rPr lang="en-US" altLang="zh-CN" sz="2400" b="1" dirty="0">
                <a:solidFill>
                  <a:srgbClr val="FF0000"/>
                </a:solidFill>
                <a:latin typeface="宋体" panose="02010600030101010101" pitchFamily="2" charset="-122"/>
              </a:rPr>
              <a:t>(Quantity Demanded)</a:t>
            </a:r>
            <a:r>
              <a:rPr lang="zh-CN" altLang="en-US" sz="2400" b="1" dirty="0">
                <a:solidFill>
                  <a:srgbClr val="FF0000"/>
                </a:solidFill>
                <a:latin typeface="宋体" panose="02010600030101010101" pitchFamily="2" charset="-122"/>
              </a:rPr>
              <a:t>变动：</a:t>
            </a:r>
            <a:r>
              <a:rPr lang="zh-CN" altLang="en-US" sz="2400" b="1" dirty="0">
                <a:latin typeface="宋体" panose="02010600030101010101" pitchFamily="2" charset="-122"/>
              </a:rPr>
              <a:t>本身价格变化时，购买量沿需求曲线移动</a:t>
            </a:r>
            <a:br>
              <a:rPr lang="zh-CN" altLang="en-US" sz="2400" dirty="0">
                <a:latin typeface="宋体" panose="02010600030101010101" pitchFamily="2" charset="-122"/>
              </a:rPr>
            </a:br>
            <a:r>
              <a:rPr lang="zh-CN" altLang="en-US" sz="2400" b="1" dirty="0">
                <a:solidFill>
                  <a:srgbClr val="FF0000"/>
                </a:solidFill>
                <a:latin typeface="宋体" panose="02010600030101010101" pitchFamily="2" charset="-122"/>
              </a:rPr>
              <a:t>需求</a:t>
            </a:r>
            <a:r>
              <a:rPr lang="en-US" altLang="zh-CN" sz="2400" b="1" dirty="0">
                <a:solidFill>
                  <a:srgbClr val="FF0000"/>
                </a:solidFill>
                <a:latin typeface="宋体" panose="02010600030101010101" pitchFamily="2" charset="-122"/>
              </a:rPr>
              <a:t>(Demand)</a:t>
            </a:r>
            <a:r>
              <a:rPr lang="zh-CN" altLang="en-US" sz="2400" b="1" dirty="0">
                <a:solidFill>
                  <a:srgbClr val="FF0000"/>
                </a:solidFill>
                <a:latin typeface="宋体" panose="02010600030101010101" pitchFamily="2" charset="-122"/>
              </a:rPr>
              <a:t>变动</a:t>
            </a:r>
            <a:r>
              <a:rPr lang="zh-CN" altLang="en-US" sz="2400" b="1" dirty="0">
                <a:latin typeface="宋体" panose="02010600030101010101" pitchFamily="2" charset="-122"/>
              </a:rPr>
              <a:t>：除本身价格外，任何一种决定需求的因素变动时需求曲线的移动</a:t>
            </a:r>
            <a:endParaRPr lang="zh-CN" altLang="en-US" sz="2400" b="1" dirty="0">
              <a:latin typeface="宋体" panose="02010600030101010101" pitchFamily="2" charset="-122"/>
            </a:endParaRPr>
          </a:p>
        </p:txBody>
      </p:sp>
      <p:sp>
        <p:nvSpPr>
          <p:cNvPr id="25603" name="Line 3"/>
          <p:cNvSpPr/>
          <p:nvPr/>
        </p:nvSpPr>
        <p:spPr>
          <a:xfrm flipV="1">
            <a:off x="2195513" y="765175"/>
            <a:ext cx="0" cy="3743325"/>
          </a:xfrm>
          <a:prstGeom prst="line">
            <a:avLst/>
          </a:prstGeom>
          <a:ln w="57150" cap="flat" cmpd="sng">
            <a:solidFill>
              <a:schemeClr val="tx2"/>
            </a:solidFill>
            <a:prstDash val="solid"/>
            <a:headEnd type="none" w="med" len="med"/>
            <a:tailEnd type="arrow" w="lg" len="lg"/>
          </a:ln>
        </p:spPr>
      </p:sp>
      <p:sp>
        <p:nvSpPr>
          <p:cNvPr id="25604" name="Line 4"/>
          <p:cNvSpPr/>
          <p:nvPr/>
        </p:nvSpPr>
        <p:spPr>
          <a:xfrm>
            <a:off x="2195513" y="4508500"/>
            <a:ext cx="4968875" cy="0"/>
          </a:xfrm>
          <a:prstGeom prst="line">
            <a:avLst/>
          </a:prstGeom>
          <a:ln w="38100" cap="flat" cmpd="sng">
            <a:solidFill>
              <a:schemeClr val="tx2"/>
            </a:solidFill>
            <a:prstDash val="solid"/>
            <a:headEnd type="none" w="med" len="med"/>
            <a:tailEnd type="arrow" w="lg" len="med"/>
          </a:ln>
        </p:spPr>
      </p:sp>
      <p:sp>
        <p:nvSpPr>
          <p:cNvPr id="25605" name="Freeform 5"/>
          <p:cNvSpPr/>
          <p:nvPr/>
        </p:nvSpPr>
        <p:spPr>
          <a:xfrm>
            <a:off x="2843213" y="1484313"/>
            <a:ext cx="4105275" cy="2736850"/>
          </a:xfrm>
          <a:custGeom>
            <a:avLst/>
            <a:gdLst/>
            <a:ahLst/>
            <a:cxnLst>
              <a:cxn ang="0">
                <a:pos x="0" y="0"/>
              </a:cxn>
              <a:cxn ang="0">
                <a:pos x="1657350" y="2232025"/>
              </a:cxn>
              <a:cxn ang="0">
                <a:pos x="4105275" y="2736850"/>
              </a:cxn>
            </a:cxnLst>
            <a:pathLst>
              <a:path w="2586" h="1724">
                <a:moveTo>
                  <a:pt x="0" y="0"/>
                </a:moveTo>
                <a:cubicBezTo>
                  <a:pt x="306" y="559"/>
                  <a:pt x="613" y="1119"/>
                  <a:pt x="1044" y="1406"/>
                </a:cubicBezTo>
                <a:cubicBezTo>
                  <a:pt x="1475" y="1693"/>
                  <a:pt x="2329" y="1671"/>
                  <a:pt x="2586" y="1724"/>
                </a:cubicBezTo>
              </a:path>
            </a:pathLst>
          </a:custGeom>
          <a:noFill/>
          <a:ln w="38100" cap="flat" cmpd="sng">
            <a:solidFill>
              <a:schemeClr val="tx2">
                <a:alpha val="100000"/>
              </a:schemeClr>
            </a:solidFill>
            <a:prstDash val="solid"/>
            <a:round/>
            <a:headEnd type="none" w="med" len="med"/>
            <a:tailEnd type="none" w="med" len="med"/>
          </a:ln>
        </p:spPr>
        <p:txBody>
          <a:bodyPr/>
          <a:p>
            <a:endParaRPr lang="zh-CN" altLang="en-US"/>
          </a:p>
        </p:txBody>
      </p:sp>
      <p:sp>
        <p:nvSpPr>
          <p:cNvPr id="25606" name="Line 6"/>
          <p:cNvSpPr/>
          <p:nvPr/>
        </p:nvSpPr>
        <p:spPr>
          <a:xfrm flipV="1">
            <a:off x="3419475" y="2492375"/>
            <a:ext cx="0" cy="2016125"/>
          </a:xfrm>
          <a:prstGeom prst="line">
            <a:avLst/>
          </a:prstGeom>
          <a:ln w="19050" cap="flat" cmpd="sng">
            <a:solidFill>
              <a:schemeClr val="tx2"/>
            </a:solidFill>
            <a:prstDash val="solid"/>
            <a:headEnd type="none" w="med" len="med"/>
            <a:tailEnd type="none" w="med" len="med"/>
          </a:ln>
        </p:spPr>
      </p:sp>
      <p:sp>
        <p:nvSpPr>
          <p:cNvPr id="25607" name="Line 7"/>
          <p:cNvSpPr/>
          <p:nvPr/>
        </p:nvSpPr>
        <p:spPr>
          <a:xfrm flipH="1">
            <a:off x="2195513" y="2492375"/>
            <a:ext cx="1223962" cy="0"/>
          </a:xfrm>
          <a:prstGeom prst="line">
            <a:avLst/>
          </a:prstGeom>
          <a:ln w="19050" cap="flat" cmpd="sng">
            <a:solidFill>
              <a:schemeClr val="tx2"/>
            </a:solidFill>
            <a:prstDash val="solid"/>
            <a:headEnd type="none" w="med" len="med"/>
            <a:tailEnd type="none" w="med" len="med"/>
          </a:ln>
        </p:spPr>
      </p:sp>
      <p:sp>
        <p:nvSpPr>
          <p:cNvPr id="25608" name="Line 8"/>
          <p:cNvSpPr/>
          <p:nvPr/>
        </p:nvSpPr>
        <p:spPr>
          <a:xfrm>
            <a:off x="3851275" y="3141663"/>
            <a:ext cx="0" cy="1366837"/>
          </a:xfrm>
          <a:prstGeom prst="line">
            <a:avLst/>
          </a:prstGeom>
          <a:ln w="19050" cap="flat" cmpd="sng">
            <a:solidFill>
              <a:schemeClr val="tx2"/>
            </a:solidFill>
            <a:prstDash val="solid"/>
            <a:headEnd type="none" w="med" len="med"/>
            <a:tailEnd type="none" w="med" len="med"/>
          </a:ln>
        </p:spPr>
      </p:sp>
      <p:sp>
        <p:nvSpPr>
          <p:cNvPr id="25609" name="Line 9"/>
          <p:cNvSpPr/>
          <p:nvPr/>
        </p:nvSpPr>
        <p:spPr>
          <a:xfrm flipH="1">
            <a:off x="2195513" y="3141663"/>
            <a:ext cx="1655762" cy="0"/>
          </a:xfrm>
          <a:prstGeom prst="line">
            <a:avLst/>
          </a:prstGeom>
          <a:ln w="19050" cap="flat" cmpd="sng">
            <a:solidFill>
              <a:schemeClr val="tx2"/>
            </a:solidFill>
            <a:prstDash val="solid"/>
            <a:headEnd type="none" w="med" len="med"/>
            <a:tailEnd type="none" w="med" len="med"/>
          </a:ln>
        </p:spPr>
      </p:sp>
      <p:sp>
        <p:nvSpPr>
          <p:cNvPr id="25610" name="Text Box 10"/>
          <p:cNvSpPr txBox="1"/>
          <p:nvPr/>
        </p:nvSpPr>
        <p:spPr>
          <a:xfrm>
            <a:off x="3059113" y="4724400"/>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Q1</a:t>
            </a:r>
            <a:endParaRPr lang="en-US" altLang="zh-CN" sz="2400" b="0" dirty="0">
              <a:latin typeface="Times New Roman" panose="02020603050405020304" pitchFamily="18" charset="0"/>
            </a:endParaRPr>
          </a:p>
        </p:txBody>
      </p:sp>
      <p:sp>
        <p:nvSpPr>
          <p:cNvPr id="25611" name="Text Box 11"/>
          <p:cNvSpPr txBox="1"/>
          <p:nvPr/>
        </p:nvSpPr>
        <p:spPr>
          <a:xfrm>
            <a:off x="3635375" y="4724400"/>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Q2</a:t>
            </a:r>
            <a:endParaRPr lang="en-US" altLang="zh-CN" sz="2400" b="0" dirty="0">
              <a:latin typeface="Times New Roman" panose="02020603050405020304" pitchFamily="18" charset="0"/>
            </a:endParaRPr>
          </a:p>
        </p:txBody>
      </p:sp>
      <p:sp>
        <p:nvSpPr>
          <p:cNvPr id="25612" name="Text Box 12"/>
          <p:cNvSpPr txBox="1"/>
          <p:nvPr/>
        </p:nvSpPr>
        <p:spPr>
          <a:xfrm>
            <a:off x="1476375" y="2276475"/>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P1</a:t>
            </a:r>
            <a:endParaRPr lang="en-US" altLang="zh-CN" sz="2400" b="0" dirty="0">
              <a:latin typeface="Times New Roman" panose="02020603050405020304" pitchFamily="18" charset="0"/>
            </a:endParaRPr>
          </a:p>
        </p:txBody>
      </p:sp>
      <p:sp>
        <p:nvSpPr>
          <p:cNvPr id="25613" name="Text Box 13"/>
          <p:cNvSpPr txBox="1"/>
          <p:nvPr/>
        </p:nvSpPr>
        <p:spPr>
          <a:xfrm>
            <a:off x="1476375" y="2852738"/>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P2</a:t>
            </a:r>
            <a:endParaRPr lang="en-US" altLang="zh-CN" sz="2400" b="0" dirty="0">
              <a:latin typeface="Times New Roman" panose="02020603050405020304" pitchFamily="18" charset="0"/>
            </a:endParaRPr>
          </a:p>
        </p:txBody>
      </p:sp>
      <p:sp>
        <p:nvSpPr>
          <p:cNvPr id="25614" name="Text Box 14"/>
          <p:cNvSpPr txBox="1"/>
          <p:nvPr/>
        </p:nvSpPr>
        <p:spPr>
          <a:xfrm>
            <a:off x="3924300" y="2708275"/>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E2</a:t>
            </a:r>
            <a:endParaRPr lang="en-US" altLang="zh-CN" sz="2400" b="0" dirty="0">
              <a:latin typeface="Times New Roman" panose="02020603050405020304" pitchFamily="18" charset="0"/>
            </a:endParaRPr>
          </a:p>
        </p:txBody>
      </p:sp>
      <p:sp>
        <p:nvSpPr>
          <p:cNvPr id="25615" name="Text Box 15"/>
          <p:cNvSpPr txBox="1"/>
          <p:nvPr/>
        </p:nvSpPr>
        <p:spPr>
          <a:xfrm>
            <a:off x="3492500" y="1989138"/>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E1</a:t>
            </a:r>
            <a:endParaRPr lang="en-US" altLang="zh-CN" sz="2400" b="0" dirty="0">
              <a:latin typeface="Times New Roman" panose="02020603050405020304" pitchFamily="18" charset="0"/>
            </a:endParaRPr>
          </a:p>
        </p:txBody>
      </p:sp>
      <p:sp>
        <p:nvSpPr>
          <p:cNvPr id="25616" name="Text Box 16"/>
          <p:cNvSpPr txBox="1"/>
          <p:nvPr/>
        </p:nvSpPr>
        <p:spPr>
          <a:xfrm>
            <a:off x="6948488" y="3716338"/>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D</a:t>
            </a:r>
            <a:endParaRPr lang="en-US" altLang="zh-CN" sz="2400" b="0" dirty="0">
              <a:latin typeface="Times New Roman" panose="02020603050405020304" pitchFamily="18" charset="0"/>
            </a:endParaRPr>
          </a:p>
        </p:txBody>
      </p:sp>
      <p:sp>
        <p:nvSpPr>
          <p:cNvPr id="25617" name="Text Box 17"/>
          <p:cNvSpPr txBox="1"/>
          <p:nvPr/>
        </p:nvSpPr>
        <p:spPr>
          <a:xfrm>
            <a:off x="7308850" y="4508500"/>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a:t>
            </a:r>
            <a:endParaRPr lang="en-US" altLang="zh-CN" sz="2400" b="0" dirty="0">
              <a:latin typeface="Times New Roman" panose="02020603050405020304" pitchFamily="18" charset="0"/>
            </a:endParaRPr>
          </a:p>
        </p:txBody>
      </p:sp>
      <p:sp>
        <p:nvSpPr>
          <p:cNvPr id="25618" name="Text Box 18"/>
          <p:cNvSpPr txBox="1"/>
          <p:nvPr/>
        </p:nvSpPr>
        <p:spPr>
          <a:xfrm>
            <a:off x="1547813" y="333375"/>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
        <p:nvSpPr>
          <p:cNvPr id="25619" name="Rectangle 19"/>
          <p:cNvSpPr/>
          <p:nvPr/>
        </p:nvSpPr>
        <p:spPr>
          <a:xfrm>
            <a:off x="684213" y="0"/>
            <a:ext cx="7772400" cy="549275"/>
          </a:xfrm>
          <a:prstGeom prst="rect">
            <a:avLst/>
          </a:prstGeom>
          <a:noFill/>
          <a:ln w="9525">
            <a:noFill/>
          </a:ln>
        </p:spPr>
        <p:txBody>
          <a:bodyPr anchor="ctr" anchorCtr="0"/>
          <a:p>
            <a:pPr algn="ctr">
              <a:lnSpc>
                <a:spcPct val="100000"/>
              </a:lnSpc>
              <a:spcBef>
                <a:spcPct val="0"/>
              </a:spcBef>
              <a:buNone/>
            </a:pPr>
            <a:r>
              <a:rPr lang="zh-CN" altLang="en-US" sz="3600" dirty="0">
                <a:solidFill>
                  <a:srgbClr val="FF0000"/>
                </a:solidFill>
                <a:latin typeface="Times New Roman" panose="02020603050405020304" pitchFamily="18" charset="0"/>
              </a:rPr>
              <a:t>五、</a:t>
            </a:r>
            <a:r>
              <a:rPr lang="zh-CN" altLang="en-US" sz="3600" dirty="0">
                <a:solidFill>
                  <a:srgbClr val="FF0000"/>
                </a:solidFill>
                <a:latin typeface="宋体" panose="02010600030101010101" pitchFamily="2" charset="-122"/>
              </a:rPr>
              <a:t>需求量变动与需求变动</a:t>
            </a:r>
            <a:endParaRPr lang="zh-CN" altLang="en-US" sz="4400" b="0" dirty="0">
              <a:latin typeface="宋体" panose="02010600030101010101" pitchFamily="2" charset="-122"/>
            </a:endParaRPr>
          </a:p>
        </p:txBody>
      </p:sp>
      <p:sp>
        <p:nvSpPr>
          <p:cNvPr id="25620" name="Freeform 20"/>
          <p:cNvSpPr/>
          <p:nvPr/>
        </p:nvSpPr>
        <p:spPr>
          <a:xfrm>
            <a:off x="3563938" y="1412875"/>
            <a:ext cx="3313112" cy="2303463"/>
          </a:xfrm>
          <a:custGeom>
            <a:avLst/>
            <a:gdLst/>
            <a:ahLst/>
            <a:cxnLst>
              <a:cxn ang="0">
                <a:pos x="0" y="0"/>
              </a:cxn>
              <a:cxn ang="0">
                <a:pos x="1295400" y="1800225"/>
              </a:cxn>
              <a:cxn ang="0">
                <a:pos x="3313112" y="2303463"/>
              </a:cxn>
            </a:cxnLst>
            <a:pathLst>
              <a:path w="2087" h="1451">
                <a:moveTo>
                  <a:pt x="0" y="0"/>
                </a:moveTo>
                <a:cubicBezTo>
                  <a:pt x="234" y="446"/>
                  <a:pt x="468" y="892"/>
                  <a:pt x="816" y="1134"/>
                </a:cubicBezTo>
                <a:cubicBezTo>
                  <a:pt x="1164" y="1376"/>
                  <a:pt x="1625" y="1413"/>
                  <a:pt x="2087" y="1451"/>
                </a:cubicBezTo>
              </a:path>
            </a:pathLst>
          </a:custGeom>
          <a:noFill/>
          <a:ln w="38100" cap="flat" cmpd="sng">
            <a:solidFill>
              <a:schemeClr val="tx2">
                <a:alpha val="100000"/>
              </a:schemeClr>
            </a:solidFill>
            <a:prstDash val="solid"/>
            <a:round/>
            <a:headEnd type="none" w="med" len="med"/>
            <a:tailEnd type="none" w="med" len="med"/>
          </a:ln>
        </p:spPr>
        <p:txBody>
          <a:bodyPr/>
          <a:p>
            <a:endParaRPr lang="zh-CN" altLang="en-US"/>
          </a:p>
        </p:txBody>
      </p:sp>
      <p:sp>
        <p:nvSpPr>
          <p:cNvPr id="25621" name="Text Box 21"/>
          <p:cNvSpPr txBox="1"/>
          <p:nvPr/>
        </p:nvSpPr>
        <p:spPr>
          <a:xfrm>
            <a:off x="6877050" y="3213100"/>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D1</a:t>
            </a:r>
            <a:endParaRPr lang="en-US" altLang="zh-CN" sz="2400" b="0" dirty="0">
              <a:latin typeface="Times New Roman" panose="02020603050405020304" pitchFamily="18" charset="0"/>
            </a:endParaRPr>
          </a:p>
        </p:txBody>
      </p:sp>
      <p:sp>
        <p:nvSpPr>
          <p:cNvPr id="25622" name="Freeform 22"/>
          <p:cNvSpPr/>
          <p:nvPr/>
        </p:nvSpPr>
        <p:spPr>
          <a:xfrm>
            <a:off x="2484438" y="1844675"/>
            <a:ext cx="2087562" cy="2447925"/>
          </a:xfrm>
          <a:custGeom>
            <a:avLst/>
            <a:gdLst/>
            <a:ahLst/>
            <a:cxnLst>
              <a:cxn ang="0">
                <a:pos x="0" y="0"/>
              </a:cxn>
              <a:cxn ang="0">
                <a:pos x="1043781" y="1871663"/>
              </a:cxn>
              <a:cxn ang="0">
                <a:pos x="2087562" y="2447925"/>
              </a:cxn>
            </a:cxnLst>
            <a:pathLst>
              <a:path w="1360" h="1542">
                <a:moveTo>
                  <a:pt x="0" y="0"/>
                </a:moveTo>
                <a:cubicBezTo>
                  <a:pt x="226" y="461"/>
                  <a:pt x="453" y="922"/>
                  <a:pt x="680" y="1179"/>
                </a:cubicBezTo>
                <a:cubicBezTo>
                  <a:pt x="907" y="1436"/>
                  <a:pt x="1247" y="1482"/>
                  <a:pt x="1360" y="1542"/>
                </a:cubicBezTo>
              </a:path>
            </a:pathLst>
          </a:custGeom>
          <a:noFill/>
          <a:ln w="38100" cap="flat" cmpd="sng">
            <a:solidFill>
              <a:schemeClr val="tx2">
                <a:alpha val="100000"/>
              </a:schemeClr>
            </a:solidFill>
            <a:prstDash val="solid"/>
            <a:round/>
            <a:headEnd type="none" w="med" len="med"/>
            <a:tailEnd type="none" w="med" len="med"/>
          </a:ln>
        </p:spPr>
        <p:txBody>
          <a:bodyPr/>
          <a:p>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a:ln/>
        </p:spPr>
        <p:txBody>
          <a:bodyPr vert="horz" wrap="square" lIns="91440" tIns="45720" rIns="91440" bIns="45720" anchor="ctr" anchorCtr="0"/>
          <a:p>
            <a:pPr eaLnBrk="1" hangingPunct="1"/>
            <a:endParaRPr lang="zh-CN" altLang="zh-CN" dirty="0"/>
          </a:p>
        </p:txBody>
      </p:sp>
      <p:sp>
        <p:nvSpPr>
          <p:cNvPr id="26627" name="Rectangle 3"/>
          <p:cNvSpPr>
            <a:spLocks noGrp="1"/>
          </p:cNvSpPr>
          <p:nvPr>
            <p:ph idx="1"/>
          </p:nvPr>
        </p:nvSpPr>
        <p:spPr>
          <a:ln/>
        </p:spPr>
        <p:txBody>
          <a:bodyPr vert="horz" wrap="square" lIns="91440" tIns="45720" rIns="91440" bIns="45720" anchor="t" anchorCtr="0"/>
          <a:p>
            <a:pPr eaLnBrk="1" hangingPunct="1">
              <a:buNone/>
            </a:pPr>
            <a:r>
              <a:rPr lang="zh-CN" altLang="en-US" b="1" dirty="0">
                <a:solidFill>
                  <a:schemeClr val="tx2"/>
                </a:solidFill>
                <a:latin typeface="宋体" panose="02010600030101010101" pitchFamily="2" charset="-122"/>
              </a:rPr>
              <a:t>思考题：</a:t>
            </a:r>
            <a:br>
              <a:rPr lang="zh-CN" altLang="en-US" b="1" dirty="0">
                <a:solidFill>
                  <a:schemeClr val="tx2"/>
                </a:solidFill>
                <a:latin typeface="宋体" panose="02010600030101010101" pitchFamily="2" charset="-122"/>
              </a:rPr>
            </a:br>
            <a:endParaRPr lang="zh-CN" altLang="en-US" b="1" dirty="0">
              <a:solidFill>
                <a:schemeClr val="tx2"/>
              </a:solidFill>
              <a:latin typeface="宋体" panose="02010600030101010101" pitchFamily="2" charset="-122"/>
            </a:endParaRPr>
          </a:p>
          <a:p>
            <a:pPr eaLnBrk="1" hangingPunct="1">
              <a:buNone/>
            </a:pPr>
            <a:r>
              <a:rPr lang="zh-CN" altLang="en-US" b="1" dirty="0">
                <a:solidFill>
                  <a:schemeClr val="tx2"/>
                </a:solidFill>
                <a:latin typeface="宋体" panose="02010600030101010101" pitchFamily="2" charset="-122"/>
              </a:rPr>
              <a:t>如</a:t>
            </a:r>
            <a:r>
              <a:rPr lang="en-US" altLang="zh-CN" b="1" dirty="0">
                <a:solidFill>
                  <a:schemeClr val="tx2"/>
                </a:solidFill>
                <a:latin typeface="宋体" panose="02010600030101010101" pitchFamily="2" charset="-122"/>
              </a:rPr>
              <a:t>a</a:t>
            </a:r>
            <a:r>
              <a:rPr lang="zh-CN" altLang="en-US" b="1" dirty="0">
                <a:solidFill>
                  <a:schemeClr val="tx2"/>
                </a:solidFill>
                <a:latin typeface="宋体" panose="02010600030101010101" pitchFamily="2" charset="-122"/>
              </a:rPr>
              <a:t>商品的价格上升，引起</a:t>
            </a:r>
            <a:r>
              <a:rPr lang="en-US" altLang="zh-CN" b="1" dirty="0">
                <a:solidFill>
                  <a:schemeClr val="tx2"/>
                </a:solidFill>
                <a:latin typeface="宋体" panose="02010600030101010101" pitchFamily="2" charset="-122"/>
              </a:rPr>
              <a:t>b</a:t>
            </a:r>
            <a:r>
              <a:rPr lang="zh-CN" altLang="en-US" b="1" dirty="0">
                <a:solidFill>
                  <a:schemeClr val="tx2"/>
                </a:solidFill>
                <a:latin typeface="宋体" panose="02010600030101010101" pitchFamily="2" charset="-122"/>
              </a:rPr>
              <a:t>商品的需求曲</a:t>
            </a:r>
            <a:endParaRPr lang="zh-CN" altLang="en-US" b="1" dirty="0">
              <a:solidFill>
                <a:schemeClr val="tx2"/>
              </a:solidFill>
              <a:latin typeface="宋体" panose="02010600030101010101" pitchFamily="2" charset="-122"/>
            </a:endParaRPr>
          </a:p>
          <a:p>
            <a:pPr eaLnBrk="1" hangingPunct="1">
              <a:buNone/>
            </a:pPr>
            <a:r>
              <a:rPr lang="zh-CN" altLang="en-US" b="1" dirty="0">
                <a:solidFill>
                  <a:schemeClr val="tx2"/>
                </a:solidFill>
                <a:latin typeface="宋体" panose="02010600030101010101" pitchFamily="2" charset="-122"/>
              </a:rPr>
              <a:t>线向左移动，</a:t>
            </a:r>
            <a:br>
              <a:rPr lang="zh-CN" altLang="en-US" b="1" dirty="0">
                <a:solidFill>
                  <a:schemeClr val="tx2"/>
                </a:solidFill>
                <a:latin typeface="宋体" panose="02010600030101010101" pitchFamily="2" charset="-122"/>
              </a:rPr>
            </a:br>
            <a:endParaRPr lang="zh-CN" altLang="en-US" b="1" dirty="0">
              <a:solidFill>
                <a:schemeClr val="tx2"/>
              </a:solidFill>
              <a:latin typeface="宋体" panose="02010600030101010101" pitchFamily="2" charset="-122"/>
            </a:endParaRPr>
          </a:p>
          <a:p>
            <a:pPr eaLnBrk="1" hangingPunct="1">
              <a:buNone/>
            </a:pPr>
            <a:r>
              <a:rPr lang="zh-CN" altLang="en-US" b="1" dirty="0">
                <a:solidFill>
                  <a:schemeClr val="tx2"/>
                </a:solidFill>
                <a:latin typeface="宋体" panose="02010600030101010101" pitchFamily="2" charset="-122"/>
              </a:rPr>
              <a:t>问：</a:t>
            </a:r>
            <a:r>
              <a:rPr lang="en-US" altLang="zh-CN" b="1" dirty="0">
                <a:solidFill>
                  <a:schemeClr val="tx2"/>
                </a:solidFill>
                <a:latin typeface="宋体" panose="02010600030101010101" pitchFamily="2" charset="-122"/>
              </a:rPr>
              <a:t>a</a:t>
            </a:r>
            <a:r>
              <a:rPr lang="zh-CN" altLang="en-US" b="1" dirty="0">
                <a:solidFill>
                  <a:schemeClr val="tx2"/>
                </a:solidFill>
                <a:latin typeface="宋体" panose="02010600030101010101" pitchFamily="2" charset="-122"/>
              </a:rPr>
              <a:t>，</a:t>
            </a:r>
            <a:r>
              <a:rPr lang="en-US" altLang="zh-CN" b="1" dirty="0">
                <a:solidFill>
                  <a:schemeClr val="tx2"/>
                </a:solidFill>
                <a:latin typeface="宋体" panose="02010600030101010101" pitchFamily="2" charset="-122"/>
              </a:rPr>
              <a:t>b</a:t>
            </a:r>
            <a:r>
              <a:rPr lang="zh-CN" altLang="en-US" b="1" dirty="0">
                <a:solidFill>
                  <a:schemeClr val="tx2"/>
                </a:solidFill>
                <a:latin typeface="宋体" panose="02010600030101010101" pitchFamily="2" charset="-122"/>
              </a:rPr>
              <a:t>商品间的关系？</a:t>
            </a:r>
            <a:br>
              <a:rPr lang="zh-CN" altLang="en-US" b="1" dirty="0">
                <a:solidFill>
                  <a:schemeClr val="tx2"/>
                </a:solidFill>
                <a:latin typeface="宋体" panose="02010600030101010101" pitchFamily="2" charset="-122"/>
              </a:rPr>
            </a:br>
            <a:endParaRPr lang="zh-CN" altLang="en-US" b="1" dirty="0">
              <a:solidFill>
                <a:schemeClr val="tx2"/>
              </a:solidFill>
              <a:latin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xfrm>
            <a:off x="684213" y="-26987"/>
            <a:ext cx="7772400" cy="576262"/>
          </a:xfrm>
          <a:ln/>
        </p:spPr>
        <p:txBody>
          <a:bodyPr vert="horz" wrap="square" lIns="91440" tIns="45720" rIns="91440" bIns="45720" anchor="ctr" anchorCtr="0"/>
          <a:p>
            <a:pPr eaLnBrk="1" hangingPunct="1"/>
            <a:r>
              <a:rPr lang="zh-CN" altLang="en-US" sz="3600" b="1" dirty="0">
                <a:solidFill>
                  <a:srgbClr val="FF0000"/>
                </a:solidFill>
                <a:latin typeface="宋体" panose="02010600030101010101" pitchFamily="2" charset="-122"/>
              </a:rPr>
              <a:t>第二节	供给曲线</a:t>
            </a:r>
            <a:endParaRPr lang="zh-CN" altLang="en-US" sz="3600" b="1" dirty="0">
              <a:solidFill>
                <a:srgbClr val="FF0000"/>
              </a:solidFill>
              <a:latin typeface="宋体" panose="02010600030101010101" pitchFamily="2" charset="-122"/>
            </a:endParaRPr>
          </a:p>
        </p:txBody>
      </p:sp>
      <p:sp>
        <p:nvSpPr>
          <p:cNvPr id="27651" name="Rectangle 3"/>
          <p:cNvSpPr>
            <a:spLocks noGrp="1"/>
          </p:cNvSpPr>
          <p:nvPr>
            <p:ph idx="1"/>
          </p:nvPr>
        </p:nvSpPr>
        <p:spPr>
          <a:xfrm>
            <a:off x="685800" y="765175"/>
            <a:ext cx="7772400" cy="5330825"/>
          </a:xfrm>
          <a:ln/>
        </p:spPr>
        <p:txBody>
          <a:bodyPr vert="horz" wrap="square" lIns="91440" tIns="45720" rIns="91440" bIns="45720" anchor="t" anchorCtr="0"/>
          <a:p>
            <a:pPr marL="0" indent="0" eaLnBrk="1" hangingPunct="1">
              <a:buNone/>
            </a:pPr>
            <a:r>
              <a:rPr lang="zh-CN" altLang="en-US" sz="2800" b="1" dirty="0">
                <a:solidFill>
                  <a:srgbClr val="FF0000"/>
                </a:solidFill>
                <a:latin typeface="宋体" panose="02010600030101010101" pitchFamily="2" charset="-122"/>
              </a:rPr>
              <a:t>一、供给和供给价格</a:t>
            </a:r>
            <a:br>
              <a:rPr lang="zh-CN" altLang="en-US" sz="2800" dirty="0">
                <a:solidFill>
                  <a:srgbClr val="FF0000"/>
                </a:solidFill>
                <a:latin typeface="宋体" panose="02010600030101010101" pitchFamily="2" charset="-122"/>
              </a:rPr>
            </a:br>
            <a:r>
              <a:rPr lang="zh-CN" altLang="en-US" sz="2800" b="1" dirty="0">
                <a:solidFill>
                  <a:srgbClr val="FF0000"/>
                </a:solidFill>
                <a:latin typeface="宋体" panose="02010600030101010101" pitchFamily="2" charset="-122"/>
              </a:rPr>
              <a:t>供给：</a:t>
            </a:r>
            <a:r>
              <a:rPr lang="zh-CN" altLang="en-US" sz="2800" b="1" dirty="0">
                <a:solidFill>
                  <a:srgbClr val="000000"/>
                </a:solidFill>
                <a:latin typeface="宋体" panose="02010600030101010101" pitchFamily="2" charset="-122"/>
              </a:rPr>
              <a:t>指厂商在一定时期和一定价格水平下，愿意并且能够提供的某种商品的数量</a:t>
            </a:r>
            <a:br>
              <a:rPr lang="zh-CN" altLang="en-US" sz="2800" dirty="0">
                <a:solidFill>
                  <a:srgbClr val="000000"/>
                </a:solidFill>
                <a:latin typeface="宋体" panose="02010600030101010101" pitchFamily="2" charset="-122"/>
              </a:rPr>
            </a:br>
            <a:r>
              <a:rPr lang="zh-CN" altLang="en-US" sz="2400" b="1" dirty="0">
                <a:solidFill>
                  <a:srgbClr val="000000"/>
                </a:solidFill>
                <a:latin typeface="宋体" panose="02010600030101010101" pitchFamily="2" charset="-122"/>
              </a:rPr>
              <a:t>说明：</a:t>
            </a:r>
            <a:br>
              <a:rPr lang="zh-CN" altLang="en-US" sz="2400" b="1" dirty="0">
                <a:solidFill>
                  <a:srgbClr val="000000"/>
                </a:solidFill>
                <a:latin typeface="宋体" panose="02010600030101010101" pitchFamily="2" charset="-122"/>
              </a:rPr>
            </a:br>
            <a:r>
              <a:rPr lang="en-US" altLang="zh-CN" sz="2400" b="1" dirty="0">
                <a:solidFill>
                  <a:srgbClr val="000000"/>
                </a:solidFill>
                <a:latin typeface="宋体" panose="02010600030101010101" pitchFamily="2" charset="-122"/>
              </a:rPr>
              <a:t>1</a:t>
            </a:r>
            <a:r>
              <a:rPr lang="zh-CN" altLang="en-US" sz="2400" b="1" dirty="0">
                <a:solidFill>
                  <a:srgbClr val="000000"/>
                </a:solidFill>
                <a:latin typeface="宋体" panose="02010600030101010101" pitchFamily="2" charset="-122"/>
              </a:rPr>
              <a:t>、	供给同时具备愿意出售和可供出售的产品的两个方面</a:t>
            </a:r>
            <a:br>
              <a:rPr lang="zh-CN" altLang="en-US" sz="2400" b="1" dirty="0">
                <a:solidFill>
                  <a:srgbClr val="000000"/>
                </a:solidFill>
                <a:latin typeface="宋体" panose="02010600030101010101" pitchFamily="2" charset="-122"/>
              </a:rPr>
            </a:br>
            <a:r>
              <a:rPr lang="en-US" altLang="zh-CN" sz="2400" b="1" dirty="0">
                <a:solidFill>
                  <a:srgbClr val="000000"/>
                </a:solidFill>
                <a:latin typeface="宋体" panose="02010600030101010101" pitchFamily="2" charset="-122"/>
              </a:rPr>
              <a:t>2</a:t>
            </a:r>
            <a:r>
              <a:rPr lang="zh-CN" altLang="en-US" sz="2400" b="1" dirty="0">
                <a:solidFill>
                  <a:srgbClr val="000000"/>
                </a:solidFill>
                <a:latin typeface="宋体" panose="02010600030101010101" pitchFamily="2" charset="-122"/>
              </a:rPr>
              <a:t>、	供给和需求一样，也是相对于商品的价格而言，供给实际是指供给量与商品价格之间的关系</a:t>
            </a:r>
            <a:br>
              <a:rPr lang="zh-CN" altLang="en-US" sz="2400" b="1" dirty="0">
                <a:solidFill>
                  <a:srgbClr val="000000"/>
                </a:solidFill>
                <a:latin typeface="宋体" panose="02010600030101010101" pitchFamily="2" charset="-122"/>
              </a:rPr>
            </a:br>
            <a:r>
              <a:rPr lang="zh-CN" altLang="en-US" sz="2800" b="1" dirty="0">
                <a:solidFill>
                  <a:srgbClr val="000000"/>
                </a:solidFill>
                <a:latin typeface="宋体" panose="02010600030101010101" pitchFamily="2" charset="-122"/>
              </a:rPr>
              <a:t>        个别供给</a:t>
            </a:r>
            <a:endParaRPr lang="zh-CN" altLang="en-US" sz="2800" b="1" dirty="0">
              <a:solidFill>
                <a:srgbClr val="000000"/>
              </a:solidFill>
              <a:latin typeface="宋体" panose="02010600030101010101" pitchFamily="2" charset="-122"/>
            </a:endParaRPr>
          </a:p>
          <a:p>
            <a:pPr marL="0" indent="0" eaLnBrk="1" hangingPunct="1">
              <a:buNone/>
            </a:pPr>
            <a:r>
              <a:rPr lang="zh-CN" altLang="en-US" sz="2800" b="1" dirty="0">
                <a:solidFill>
                  <a:srgbClr val="000000"/>
                </a:solidFill>
                <a:latin typeface="宋体" panose="02010600030101010101" pitchFamily="2" charset="-122"/>
              </a:rPr>
              <a:t>供给</a:t>
            </a:r>
            <a:endParaRPr lang="zh-CN" altLang="en-US" sz="2800" b="1" dirty="0">
              <a:solidFill>
                <a:srgbClr val="000000"/>
              </a:solidFill>
              <a:latin typeface="宋体" panose="02010600030101010101" pitchFamily="2" charset="-122"/>
            </a:endParaRPr>
          </a:p>
          <a:p>
            <a:pPr marL="0" indent="0" eaLnBrk="1" hangingPunct="1">
              <a:buNone/>
            </a:pPr>
            <a:r>
              <a:rPr lang="zh-CN" altLang="en-US" sz="2800" b="1" dirty="0">
                <a:solidFill>
                  <a:srgbClr val="000000"/>
                </a:solidFill>
                <a:latin typeface="宋体" panose="02010600030101010101" pitchFamily="2" charset="-122"/>
              </a:rPr>
              <a:t>        市场供给</a:t>
            </a:r>
            <a:br>
              <a:rPr lang="zh-CN" altLang="en-US" sz="2800" dirty="0">
                <a:latin typeface="宋体" panose="02010600030101010101" pitchFamily="2" charset="-122"/>
              </a:rPr>
            </a:br>
            <a:endParaRPr lang="zh-CN" altLang="en-US" sz="2800" dirty="0">
              <a:latin typeface="宋体" panose="02010600030101010101" pitchFamily="2" charset="-122"/>
            </a:endParaRPr>
          </a:p>
        </p:txBody>
      </p:sp>
      <p:sp>
        <p:nvSpPr>
          <p:cNvPr id="27652" name="AutoShape 4"/>
          <p:cNvSpPr/>
          <p:nvPr/>
        </p:nvSpPr>
        <p:spPr>
          <a:xfrm>
            <a:off x="1547813" y="4221163"/>
            <a:ext cx="576262" cy="936625"/>
          </a:xfrm>
          <a:prstGeom prst="leftBrace">
            <a:avLst>
              <a:gd name="adj1" fmla="val 13544"/>
              <a:gd name="adj2" fmla="val 50000"/>
            </a:avLst>
          </a:prstGeom>
          <a:noFill/>
          <a:ln w="38100" cap="flat" cmpd="sng">
            <a:solidFill>
              <a:schemeClr val="tx2"/>
            </a:solidFill>
            <a:prstDash val="solid"/>
            <a:headEnd type="none" w="med" len="med"/>
            <a:tailEnd type="none" w="med" len="med"/>
          </a:ln>
        </p:spPr>
        <p:txBody>
          <a:bodyPr wrap="none" anchor="ctr" anchorCtr="0"/>
          <a:p>
            <a:endParaRPr lang="zh-CN" altLang="en-US" dirty="0">
              <a:latin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a:xfrm>
            <a:off x="684213" y="0"/>
            <a:ext cx="7772400" cy="765175"/>
          </a:xfrm>
          <a:ln/>
        </p:spPr>
        <p:txBody>
          <a:bodyPr vert="horz" wrap="square" lIns="91440" tIns="45720" rIns="91440" bIns="45720" anchor="ctr" anchorCtr="0"/>
          <a:p>
            <a:pPr eaLnBrk="1" hangingPunct="1"/>
            <a:r>
              <a:rPr lang="zh-CN" altLang="en-US" sz="3600" b="1" dirty="0">
                <a:solidFill>
                  <a:srgbClr val="FF0000"/>
                </a:solidFill>
              </a:rPr>
              <a:t>二、供给表，供给曲线和供给规律</a:t>
            </a:r>
            <a:endParaRPr lang="zh-CN" altLang="en-US" sz="3600" b="1" dirty="0">
              <a:solidFill>
                <a:srgbClr val="FF0000"/>
              </a:solidFill>
            </a:endParaRPr>
          </a:p>
        </p:txBody>
      </p:sp>
      <p:sp>
        <p:nvSpPr>
          <p:cNvPr id="28675" name="Rectangle 3"/>
          <p:cNvSpPr>
            <a:spLocks noGrp="1"/>
          </p:cNvSpPr>
          <p:nvPr>
            <p:ph type="body" sz="half" idx="1"/>
          </p:nvPr>
        </p:nvSpPr>
        <p:spPr>
          <a:xfrm>
            <a:off x="685800" y="981075"/>
            <a:ext cx="7773988" cy="5876925"/>
          </a:xfrm>
          <a:ln/>
        </p:spPr>
        <p:txBody>
          <a:bodyPr vert="horz" wrap="square" lIns="91440" tIns="45720" rIns="91440" bIns="45720" anchor="t" anchorCtr="0"/>
          <a:p>
            <a:pPr marL="0" indent="0" eaLnBrk="1" hangingPunct="1">
              <a:lnSpc>
                <a:spcPct val="90000"/>
              </a:lnSpc>
              <a:buClrTx/>
              <a:buSzTx/>
              <a:buFontTx/>
              <a:buNone/>
            </a:pPr>
            <a:r>
              <a:rPr lang="zh-CN" altLang="en-US" sz="2400" b="1" dirty="0">
                <a:solidFill>
                  <a:schemeClr val="tx2"/>
                </a:solidFill>
                <a:latin typeface="宋体" panose="02010600030101010101" pitchFamily="2" charset="-122"/>
              </a:rPr>
              <a:t>供给表：表示一种商品价格与供给量之间关系的表格</a:t>
            </a:r>
            <a:br>
              <a:rPr lang="zh-CN" altLang="en-US" sz="2400" b="1" dirty="0">
                <a:solidFill>
                  <a:schemeClr val="tx2"/>
                </a:solidFill>
                <a:latin typeface="宋体" panose="02010600030101010101" pitchFamily="2" charset="-122"/>
              </a:rPr>
            </a:br>
            <a:r>
              <a:rPr lang="zh-CN" altLang="en-US" sz="2400" b="1" dirty="0">
                <a:solidFill>
                  <a:schemeClr val="tx2"/>
                </a:solidFill>
                <a:latin typeface="宋体" panose="02010600030101010101" pitchFamily="2" charset="-122"/>
              </a:rPr>
              <a:t>供给曲线：</a:t>
            </a:r>
            <a:r>
              <a:rPr lang="zh-CN" altLang="en-US" sz="2400" b="1" dirty="0">
                <a:solidFill>
                  <a:srgbClr val="000000"/>
                </a:solidFill>
                <a:latin typeface="宋体" panose="02010600030101010101" pitchFamily="2" charset="-122"/>
              </a:rPr>
              <a:t>一种商品价格与供给量之间关系的图形</a:t>
            </a:r>
            <a:br>
              <a:rPr lang="zh-CN" altLang="en-US" sz="2000" b="1" dirty="0">
                <a:latin typeface="宋体" panose="02010600030101010101" pitchFamily="2" charset="-122"/>
              </a:rPr>
            </a:br>
            <a:endParaRPr lang="zh-CN" altLang="en-US" sz="2000" b="1" dirty="0">
              <a:latin typeface="宋体" panose="02010600030101010101" pitchFamily="2" charset="-122"/>
            </a:endParaRPr>
          </a:p>
          <a:p>
            <a:pPr marL="0" indent="0" eaLnBrk="1" hangingPunct="1">
              <a:lnSpc>
                <a:spcPct val="90000"/>
              </a:lnSpc>
              <a:buClrTx/>
              <a:buSzTx/>
              <a:buFontTx/>
              <a:buNone/>
            </a:pPr>
            <a:endParaRPr lang="zh-CN" altLang="en-US" sz="2000" b="1" dirty="0">
              <a:latin typeface="宋体" panose="02010600030101010101" pitchFamily="2" charset="-122"/>
            </a:endParaRPr>
          </a:p>
          <a:p>
            <a:pPr marL="0" indent="0" eaLnBrk="1" hangingPunct="1">
              <a:lnSpc>
                <a:spcPct val="90000"/>
              </a:lnSpc>
              <a:buClrTx/>
              <a:buSzTx/>
              <a:buFontTx/>
              <a:buNone/>
            </a:pPr>
            <a:endParaRPr lang="zh-CN" altLang="en-US" sz="2000" b="1" dirty="0">
              <a:latin typeface="宋体" panose="02010600030101010101" pitchFamily="2" charset="-122"/>
            </a:endParaRPr>
          </a:p>
          <a:p>
            <a:pPr marL="0" indent="0" eaLnBrk="1" hangingPunct="1">
              <a:lnSpc>
                <a:spcPct val="90000"/>
              </a:lnSpc>
              <a:buClrTx/>
              <a:buSzTx/>
              <a:buFontTx/>
              <a:buNone/>
            </a:pPr>
            <a:endParaRPr lang="zh-CN" altLang="en-US" sz="2000" b="1" dirty="0">
              <a:latin typeface="宋体" panose="02010600030101010101" pitchFamily="2" charset="-122"/>
            </a:endParaRPr>
          </a:p>
          <a:p>
            <a:pPr marL="0" indent="0" eaLnBrk="1" hangingPunct="1">
              <a:lnSpc>
                <a:spcPct val="90000"/>
              </a:lnSpc>
              <a:buClrTx/>
              <a:buSzTx/>
              <a:buFontTx/>
              <a:buNone/>
            </a:pPr>
            <a:endParaRPr lang="zh-CN" altLang="en-US" sz="2000" b="1" dirty="0">
              <a:latin typeface="宋体" panose="02010600030101010101" pitchFamily="2" charset="-122"/>
            </a:endParaRPr>
          </a:p>
          <a:p>
            <a:pPr marL="0" indent="0" eaLnBrk="1" hangingPunct="1">
              <a:lnSpc>
                <a:spcPct val="90000"/>
              </a:lnSpc>
              <a:buClrTx/>
              <a:buSzTx/>
              <a:buFontTx/>
              <a:buNone/>
            </a:pPr>
            <a:endParaRPr lang="zh-CN" altLang="en-US" sz="2000" b="1" dirty="0">
              <a:latin typeface="宋体" panose="02010600030101010101" pitchFamily="2" charset="-122"/>
            </a:endParaRPr>
          </a:p>
          <a:p>
            <a:pPr marL="0" indent="0" eaLnBrk="1" hangingPunct="1">
              <a:lnSpc>
                <a:spcPct val="90000"/>
              </a:lnSpc>
              <a:buClrTx/>
              <a:buSzTx/>
              <a:buFontTx/>
              <a:buNone/>
            </a:pPr>
            <a:endParaRPr lang="zh-CN" altLang="en-US" sz="2000" b="1" dirty="0">
              <a:latin typeface="宋体" panose="02010600030101010101" pitchFamily="2" charset="-122"/>
            </a:endParaRPr>
          </a:p>
          <a:p>
            <a:pPr marL="0" indent="0" eaLnBrk="1" hangingPunct="1">
              <a:lnSpc>
                <a:spcPct val="90000"/>
              </a:lnSpc>
              <a:buClrTx/>
              <a:buSzTx/>
              <a:buFontTx/>
              <a:buNone/>
            </a:pPr>
            <a:endParaRPr lang="zh-CN" altLang="en-US" sz="2000" b="1" dirty="0">
              <a:latin typeface="宋体" panose="02010600030101010101" pitchFamily="2" charset="-122"/>
            </a:endParaRPr>
          </a:p>
          <a:p>
            <a:pPr marL="0" indent="0" eaLnBrk="1" hangingPunct="1">
              <a:lnSpc>
                <a:spcPct val="90000"/>
              </a:lnSpc>
              <a:buClrTx/>
              <a:buSzTx/>
              <a:buFontTx/>
              <a:buNone/>
            </a:pPr>
            <a:endParaRPr lang="zh-CN" altLang="en-US" sz="2000" b="1" dirty="0">
              <a:latin typeface="宋体" panose="02010600030101010101" pitchFamily="2" charset="-122"/>
            </a:endParaRPr>
          </a:p>
          <a:p>
            <a:pPr marL="0" indent="0" eaLnBrk="1" hangingPunct="1">
              <a:lnSpc>
                <a:spcPct val="90000"/>
              </a:lnSpc>
              <a:buClrTx/>
              <a:buSzTx/>
              <a:buFontTx/>
              <a:buNone/>
            </a:pPr>
            <a:endParaRPr lang="zh-CN" altLang="en-US" sz="2000" b="1" dirty="0">
              <a:latin typeface="宋体" panose="02010600030101010101" pitchFamily="2" charset="-122"/>
            </a:endParaRPr>
          </a:p>
          <a:p>
            <a:pPr marL="0" indent="0" eaLnBrk="1" hangingPunct="1">
              <a:lnSpc>
                <a:spcPct val="90000"/>
              </a:lnSpc>
              <a:buClrTx/>
              <a:buSzTx/>
              <a:buFontTx/>
              <a:buNone/>
            </a:pPr>
            <a:endParaRPr lang="zh-CN" altLang="en-US" sz="2000" b="1" dirty="0">
              <a:latin typeface="宋体" panose="02010600030101010101" pitchFamily="2" charset="-122"/>
            </a:endParaRPr>
          </a:p>
          <a:p>
            <a:pPr marL="0" indent="0" eaLnBrk="1" hangingPunct="1">
              <a:lnSpc>
                <a:spcPct val="90000"/>
              </a:lnSpc>
              <a:buClrTx/>
              <a:buSzTx/>
              <a:buFontTx/>
              <a:buNone/>
            </a:pPr>
            <a:endParaRPr lang="zh-CN" altLang="en-US" sz="2000" b="1" dirty="0">
              <a:latin typeface="宋体" panose="02010600030101010101" pitchFamily="2" charset="-122"/>
            </a:endParaRPr>
          </a:p>
          <a:p>
            <a:pPr marL="0" indent="0" eaLnBrk="1" hangingPunct="1">
              <a:lnSpc>
                <a:spcPct val="90000"/>
              </a:lnSpc>
              <a:buClrTx/>
              <a:buSzTx/>
              <a:buFontTx/>
              <a:buNone/>
            </a:pPr>
            <a:r>
              <a:rPr lang="zh-CN" altLang="en-US" sz="2000" b="1" dirty="0">
                <a:solidFill>
                  <a:srgbClr val="FF0000"/>
                </a:solidFill>
                <a:latin typeface="宋体" panose="02010600030101010101" pitchFamily="2" charset="-122"/>
              </a:rPr>
              <a:t>供给规律：</a:t>
            </a:r>
            <a:r>
              <a:rPr lang="zh-CN" altLang="en-US" sz="2000" b="1" dirty="0">
                <a:solidFill>
                  <a:srgbClr val="000000"/>
                </a:solidFill>
                <a:latin typeface="宋体" panose="02010600030101010101" pitchFamily="2" charset="-122"/>
              </a:rPr>
              <a:t>其他条件不变时，一种物品价格上升时供给量增加，价格下降时供给量减少</a:t>
            </a:r>
            <a:br>
              <a:rPr lang="zh-CN" altLang="en-US" sz="2000" b="1" dirty="0">
                <a:solidFill>
                  <a:srgbClr val="000000"/>
                </a:solidFill>
                <a:latin typeface="宋体" panose="02010600030101010101" pitchFamily="2" charset="-122"/>
              </a:rPr>
            </a:br>
            <a:r>
              <a:rPr lang="zh-CN" altLang="en-US" sz="2400" b="1" dirty="0">
                <a:solidFill>
                  <a:srgbClr val="000000"/>
                </a:solidFill>
              </a:rPr>
              <a:t>思考题：供给规律例外：</a:t>
            </a:r>
            <a:endParaRPr lang="zh-CN" altLang="en-US" sz="2400" b="1" dirty="0">
              <a:solidFill>
                <a:srgbClr val="000000"/>
              </a:solidFill>
              <a:latin typeface="宋体" panose="02010600030101010101" pitchFamily="2" charset="-122"/>
            </a:endParaRPr>
          </a:p>
          <a:p>
            <a:pPr marL="0" indent="0" eaLnBrk="1" hangingPunct="1">
              <a:lnSpc>
                <a:spcPct val="90000"/>
              </a:lnSpc>
              <a:buClrTx/>
              <a:buSzTx/>
              <a:buFontTx/>
              <a:buNone/>
            </a:pPr>
            <a:endParaRPr lang="en-US" altLang="zh-CN" sz="2400" b="1" dirty="0">
              <a:latin typeface="宋体" panose="02010600030101010101" pitchFamily="2" charset="-122"/>
            </a:endParaRPr>
          </a:p>
        </p:txBody>
      </p:sp>
      <p:graphicFrame>
        <p:nvGraphicFramePr>
          <p:cNvPr id="52228" name="Group 4"/>
          <p:cNvGraphicFramePr>
            <a:graphicFrameLocks noGrp="1"/>
          </p:cNvGraphicFramePr>
          <p:nvPr>
            <p:ph sz="half" idx="1"/>
          </p:nvPr>
        </p:nvGraphicFramePr>
        <p:xfrm>
          <a:off x="755650" y="1989138"/>
          <a:ext cx="2232025" cy="3565525"/>
        </p:xfrm>
        <a:graphic>
          <a:graphicData uri="http://schemas.openxmlformats.org/drawingml/2006/table">
            <a:tbl>
              <a:tblPr/>
              <a:tblGrid>
                <a:gridCol w="1117600"/>
                <a:gridCol w="1114425"/>
              </a:tblGrid>
              <a:tr h="3492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价格</a:t>
                      </a:r>
                      <a:endParaRPr kumimoji="1" lang="zh-CN" altLang="en-US"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供给量</a:t>
                      </a:r>
                      <a:endParaRPr kumimoji="1" lang="zh-CN" altLang="en-US"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08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6</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220</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92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5</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180</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92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4</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150</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92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3</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100</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08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2</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60</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41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1</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20</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8702" name="Line 30"/>
          <p:cNvSpPr/>
          <p:nvPr/>
        </p:nvSpPr>
        <p:spPr>
          <a:xfrm flipV="1">
            <a:off x="4859338" y="2060575"/>
            <a:ext cx="0" cy="3240088"/>
          </a:xfrm>
          <a:prstGeom prst="line">
            <a:avLst/>
          </a:prstGeom>
          <a:ln w="38100" cap="flat" cmpd="sng">
            <a:solidFill>
              <a:schemeClr val="tx2"/>
            </a:solidFill>
            <a:prstDash val="solid"/>
            <a:headEnd type="none" w="med" len="med"/>
            <a:tailEnd type="triangle" w="med" len="med"/>
          </a:ln>
        </p:spPr>
      </p:sp>
      <p:sp>
        <p:nvSpPr>
          <p:cNvPr id="28703" name="Line 31"/>
          <p:cNvSpPr/>
          <p:nvPr/>
        </p:nvSpPr>
        <p:spPr>
          <a:xfrm>
            <a:off x="4859338" y="5300663"/>
            <a:ext cx="3097212" cy="0"/>
          </a:xfrm>
          <a:prstGeom prst="line">
            <a:avLst/>
          </a:prstGeom>
          <a:ln w="38100" cap="flat" cmpd="sng">
            <a:solidFill>
              <a:schemeClr val="tx2"/>
            </a:solidFill>
            <a:prstDash val="solid"/>
            <a:headEnd type="none" w="med" len="med"/>
            <a:tailEnd type="triangle" w="med" len="med"/>
          </a:ln>
        </p:spPr>
      </p:sp>
      <p:sp>
        <p:nvSpPr>
          <p:cNvPr id="28704" name="Freeform 32"/>
          <p:cNvSpPr/>
          <p:nvPr/>
        </p:nvSpPr>
        <p:spPr>
          <a:xfrm>
            <a:off x="5148263" y="1905000"/>
            <a:ext cx="2747962" cy="3036888"/>
          </a:xfrm>
          <a:custGeom>
            <a:avLst/>
            <a:gdLst/>
            <a:ahLst/>
            <a:cxnLst>
              <a:cxn ang="0">
                <a:pos x="0" y="3036888"/>
              </a:cxn>
              <a:cxn ang="0">
                <a:pos x="1728787" y="2316163"/>
              </a:cxn>
              <a:cxn ang="0">
                <a:pos x="2592387" y="371475"/>
              </a:cxn>
              <a:cxn ang="0">
                <a:pos x="2663825" y="84138"/>
              </a:cxn>
            </a:cxnLst>
            <a:pathLst>
              <a:path w="1731" h="1913">
                <a:moveTo>
                  <a:pt x="0" y="1913"/>
                </a:moveTo>
                <a:cubicBezTo>
                  <a:pt x="408" y="1826"/>
                  <a:pt x="817" y="1739"/>
                  <a:pt x="1089" y="1459"/>
                </a:cubicBezTo>
                <a:cubicBezTo>
                  <a:pt x="1361" y="1179"/>
                  <a:pt x="1535" y="468"/>
                  <a:pt x="1633" y="234"/>
                </a:cubicBezTo>
                <a:cubicBezTo>
                  <a:pt x="1731" y="0"/>
                  <a:pt x="1704" y="26"/>
                  <a:pt x="1678" y="53"/>
                </a:cubicBezTo>
              </a:path>
            </a:pathLst>
          </a:custGeom>
          <a:noFill/>
          <a:ln w="31750" cap="flat" cmpd="sng">
            <a:solidFill>
              <a:schemeClr val="tx2">
                <a:alpha val="100000"/>
              </a:schemeClr>
            </a:solidFill>
            <a:prstDash val="solid"/>
            <a:round/>
            <a:headEnd type="none" w="med" len="med"/>
            <a:tailEnd type="none" w="med" len="med"/>
          </a:ln>
        </p:spPr>
        <p:txBody>
          <a:bodyPr/>
          <a:p>
            <a:endParaRPr lang="zh-CN" altLang="en-US"/>
          </a:p>
        </p:txBody>
      </p:sp>
      <p:sp>
        <p:nvSpPr>
          <p:cNvPr id="28705" name="Line 33"/>
          <p:cNvSpPr/>
          <p:nvPr/>
        </p:nvSpPr>
        <p:spPr>
          <a:xfrm flipV="1">
            <a:off x="6372225" y="4581525"/>
            <a:ext cx="0" cy="719138"/>
          </a:xfrm>
          <a:prstGeom prst="line">
            <a:avLst/>
          </a:prstGeom>
          <a:ln w="12700" cap="flat" cmpd="sng">
            <a:solidFill>
              <a:schemeClr val="tx2"/>
            </a:solidFill>
            <a:prstDash val="solid"/>
            <a:headEnd type="none" w="med" len="med"/>
            <a:tailEnd type="none" w="med" len="med"/>
          </a:ln>
        </p:spPr>
      </p:sp>
      <p:sp>
        <p:nvSpPr>
          <p:cNvPr id="28706" name="Line 34"/>
          <p:cNvSpPr/>
          <p:nvPr/>
        </p:nvSpPr>
        <p:spPr>
          <a:xfrm flipH="1">
            <a:off x="4859338" y="4581525"/>
            <a:ext cx="1512887" cy="0"/>
          </a:xfrm>
          <a:prstGeom prst="line">
            <a:avLst/>
          </a:prstGeom>
          <a:ln w="12700" cap="flat" cmpd="sng">
            <a:solidFill>
              <a:schemeClr val="tx2"/>
            </a:solidFill>
            <a:prstDash val="solid"/>
            <a:headEnd type="none" w="med" len="med"/>
            <a:tailEnd type="none" w="med" len="med"/>
          </a:ln>
        </p:spPr>
      </p:sp>
      <p:sp>
        <p:nvSpPr>
          <p:cNvPr id="28707" name="Line 35"/>
          <p:cNvSpPr/>
          <p:nvPr/>
        </p:nvSpPr>
        <p:spPr>
          <a:xfrm flipV="1">
            <a:off x="7092950" y="3933825"/>
            <a:ext cx="0" cy="1366838"/>
          </a:xfrm>
          <a:prstGeom prst="line">
            <a:avLst/>
          </a:prstGeom>
          <a:ln w="12700" cap="flat" cmpd="sng">
            <a:solidFill>
              <a:schemeClr val="tx2"/>
            </a:solidFill>
            <a:prstDash val="solid"/>
            <a:headEnd type="none" w="med" len="med"/>
            <a:tailEnd type="none" w="med" len="med"/>
          </a:ln>
        </p:spPr>
      </p:sp>
      <p:sp>
        <p:nvSpPr>
          <p:cNvPr id="28708" name="Line 36"/>
          <p:cNvSpPr/>
          <p:nvPr/>
        </p:nvSpPr>
        <p:spPr>
          <a:xfrm flipH="1">
            <a:off x="4859338" y="3933825"/>
            <a:ext cx="2233612" cy="0"/>
          </a:xfrm>
          <a:prstGeom prst="line">
            <a:avLst/>
          </a:prstGeom>
          <a:ln w="12700" cap="flat" cmpd="sng">
            <a:solidFill>
              <a:schemeClr val="tx2"/>
            </a:solidFill>
            <a:prstDash val="solid"/>
            <a:headEnd type="none" w="med" len="med"/>
            <a:tailEnd type="none" w="med" len="med"/>
          </a:ln>
        </p:spPr>
      </p:sp>
      <p:sp>
        <p:nvSpPr>
          <p:cNvPr id="28709" name="Text Box 37"/>
          <p:cNvSpPr txBox="1"/>
          <p:nvPr/>
        </p:nvSpPr>
        <p:spPr>
          <a:xfrm>
            <a:off x="6084888" y="5229225"/>
            <a:ext cx="576262"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Q1</a:t>
            </a:r>
            <a:endParaRPr lang="en-US" altLang="zh-CN" sz="2400" b="0" dirty="0">
              <a:latin typeface="Times New Roman" panose="02020603050405020304" pitchFamily="18" charset="0"/>
            </a:endParaRPr>
          </a:p>
        </p:txBody>
      </p:sp>
      <p:sp>
        <p:nvSpPr>
          <p:cNvPr id="28710" name="Text Box 38"/>
          <p:cNvSpPr txBox="1"/>
          <p:nvPr/>
        </p:nvSpPr>
        <p:spPr>
          <a:xfrm>
            <a:off x="6804025" y="5229225"/>
            <a:ext cx="576263"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Q2</a:t>
            </a:r>
            <a:endParaRPr lang="en-US" altLang="zh-CN" sz="2400" b="0" dirty="0">
              <a:latin typeface="Times New Roman" panose="02020603050405020304" pitchFamily="18" charset="0"/>
            </a:endParaRPr>
          </a:p>
        </p:txBody>
      </p:sp>
      <p:sp>
        <p:nvSpPr>
          <p:cNvPr id="28711" name="Text Box 39"/>
          <p:cNvSpPr txBox="1"/>
          <p:nvPr/>
        </p:nvSpPr>
        <p:spPr>
          <a:xfrm>
            <a:off x="4140200" y="3716338"/>
            <a:ext cx="576263"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P2</a:t>
            </a:r>
            <a:endParaRPr lang="en-US" altLang="zh-CN" sz="2400" b="0" dirty="0">
              <a:latin typeface="Times New Roman" panose="02020603050405020304" pitchFamily="18" charset="0"/>
            </a:endParaRPr>
          </a:p>
        </p:txBody>
      </p:sp>
      <p:sp>
        <p:nvSpPr>
          <p:cNvPr id="28712" name="Text Box 40"/>
          <p:cNvSpPr txBox="1"/>
          <p:nvPr/>
        </p:nvSpPr>
        <p:spPr>
          <a:xfrm>
            <a:off x="4140200" y="4365625"/>
            <a:ext cx="576263"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P1</a:t>
            </a:r>
            <a:endParaRPr lang="en-US" altLang="zh-CN" sz="2400" b="0" dirty="0">
              <a:latin typeface="Times New Roman" panose="02020603050405020304" pitchFamily="18" charset="0"/>
            </a:endParaRPr>
          </a:p>
        </p:txBody>
      </p:sp>
      <p:sp>
        <p:nvSpPr>
          <p:cNvPr id="28713" name="Text Box 41"/>
          <p:cNvSpPr txBox="1"/>
          <p:nvPr/>
        </p:nvSpPr>
        <p:spPr>
          <a:xfrm>
            <a:off x="4500563" y="5229225"/>
            <a:ext cx="576262"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0</a:t>
            </a:r>
            <a:endParaRPr lang="en-US" altLang="zh-CN" sz="2400" b="0" dirty="0">
              <a:latin typeface="Times New Roman" panose="02020603050405020304" pitchFamily="18" charset="0"/>
            </a:endParaRPr>
          </a:p>
        </p:txBody>
      </p:sp>
      <p:sp>
        <p:nvSpPr>
          <p:cNvPr id="28714" name="Text Box 42"/>
          <p:cNvSpPr txBox="1"/>
          <p:nvPr/>
        </p:nvSpPr>
        <p:spPr>
          <a:xfrm>
            <a:off x="4211638" y="1773238"/>
            <a:ext cx="576262"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
        <p:nvSpPr>
          <p:cNvPr id="28715" name="Text Box 43"/>
          <p:cNvSpPr txBox="1"/>
          <p:nvPr/>
        </p:nvSpPr>
        <p:spPr>
          <a:xfrm>
            <a:off x="7885113" y="1628775"/>
            <a:ext cx="576262"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S</a:t>
            </a:r>
            <a:endParaRPr lang="en-US" altLang="zh-CN" sz="2400" b="0" dirty="0">
              <a:latin typeface="Times New Roman" panose="02020603050405020304" pitchFamily="18" charset="0"/>
            </a:endParaRPr>
          </a:p>
        </p:txBody>
      </p:sp>
      <p:sp>
        <p:nvSpPr>
          <p:cNvPr id="28716" name="Text Box 44"/>
          <p:cNvSpPr txBox="1"/>
          <p:nvPr/>
        </p:nvSpPr>
        <p:spPr>
          <a:xfrm>
            <a:off x="7885113" y="5300663"/>
            <a:ext cx="576262"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a:t>
            </a:r>
            <a:endParaRPr lang="en-US" altLang="zh-CN" sz="2400" b="0" dirty="0">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xfrm>
            <a:off x="755650" y="5300663"/>
            <a:ext cx="7772400" cy="1143000"/>
          </a:xfrm>
          <a:ln/>
        </p:spPr>
        <p:txBody>
          <a:bodyPr vert="horz" wrap="square" lIns="91440" tIns="45720" rIns="91440" bIns="45720" anchor="ctr" anchorCtr="0"/>
          <a:p>
            <a:pPr eaLnBrk="1" hangingPunct="1"/>
            <a:r>
              <a:rPr lang="zh-CN" altLang="en-US" sz="3600" b="1" dirty="0"/>
              <a:t>劳动供给曲线</a:t>
            </a:r>
            <a:endParaRPr lang="zh-CN" altLang="en-US" sz="3600" b="1" dirty="0"/>
          </a:p>
        </p:txBody>
      </p:sp>
      <p:sp>
        <p:nvSpPr>
          <p:cNvPr id="29699" name="Line 3"/>
          <p:cNvSpPr/>
          <p:nvPr/>
        </p:nvSpPr>
        <p:spPr>
          <a:xfrm flipV="1">
            <a:off x="1835150" y="1052513"/>
            <a:ext cx="0" cy="4176712"/>
          </a:xfrm>
          <a:prstGeom prst="line">
            <a:avLst/>
          </a:prstGeom>
          <a:ln w="38100" cap="flat" cmpd="sng">
            <a:solidFill>
              <a:schemeClr val="tx2"/>
            </a:solidFill>
            <a:prstDash val="solid"/>
            <a:headEnd type="none" w="med" len="med"/>
            <a:tailEnd type="stealth" w="lg" len="lg"/>
          </a:ln>
        </p:spPr>
      </p:sp>
      <p:sp>
        <p:nvSpPr>
          <p:cNvPr id="29700" name="Line 4"/>
          <p:cNvSpPr/>
          <p:nvPr/>
        </p:nvSpPr>
        <p:spPr>
          <a:xfrm>
            <a:off x="1835150" y="5229225"/>
            <a:ext cx="5473700" cy="0"/>
          </a:xfrm>
          <a:prstGeom prst="line">
            <a:avLst/>
          </a:prstGeom>
          <a:ln w="38100" cap="flat" cmpd="sng">
            <a:solidFill>
              <a:schemeClr val="tx2"/>
            </a:solidFill>
            <a:prstDash val="solid"/>
            <a:headEnd type="none" w="med" len="med"/>
            <a:tailEnd type="stealth" w="lg" len="lg"/>
          </a:ln>
        </p:spPr>
      </p:sp>
      <p:sp>
        <p:nvSpPr>
          <p:cNvPr id="29701" name="Freeform 5"/>
          <p:cNvSpPr/>
          <p:nvPr/>
        </p:nvSpPr>
        <p:spPr>
          <a:xfrm>
            <a:off x="2627313" y="1268413"/>
            <a:ext cx="3781425" cy="3529012"/>
          </a:xfrm>
          <a:custGeom>
            <a:avLst/>
            <a:gdLst/>
            <a:ahLst/>
            <a:cxnLst>
              <a:cxn ang="0">
                <a:pos x="0" y="3529012"/>
              </a:cxn>
              <a:cxn ang="0">
                <a:pos x="3673475" y="1728787"/>
              </a:cxn>
              <a:cxn ang="0">
                <a:pos x="649288" y="0"/>
              </a:cxn>
            </a:cxnLst>
            <a:pathLst>
              <a:path w="2382" h="2223">
                <a:moveTo>
                  <a:pt x="0" y="2223"/>
                </a:moveTo>
                <a:cubicBezTo>
                  <a:pt x="1123" y="1841"/>
                  <a:pt x="2246" y="1459"/>
                  <a:pt x="2314" y="1089"/>
                </a:cubicBezTo>
                <a:cubicBezTo>
                  <a:pt x="2382" y="719"/>
                  <a:pt x="1395" y="359"/>
                  <a:pt x="409" y="0"/>
                </a:cubicBezTo>
              </a:path>
            </a:pathLst>
          </a:custGeom>
          <a:noFill/>
          <a:ln w="28575" cap="flat" cmpd="sng">
            <a:solidFill>
              <a:schemeClr val="tx2">
                <a:alpha val="100000"/>
              </a:schemeClr>
            </a:solidFill>
            <a:prstDash val="solid"/>
            <a:round/>
            <a:headEnd type="none" w="med" len="med"/>
            <a:tailEnd type="none" w="med" len="med"/>
          </a:ln>
        </p:spPr>
        <p:txBody>
          <a:bodyPr/>
          <a:p>
            <a:endParaRPr lang="zh-CN" altLang="en-US"/>
          </a:p>
        </p:txBody>
      </p:sp>
      <p:sp>
        <p:nvSpPr>
          <p:cNvPr id="29702" name="Line 6"/>
          <p:cNvSpPr/>
          <p:nvPr/>
        </p:nvSpPr>
        <p:spPr>
          <a:xfrm>
            <a:off x="6300788" y="2924175"/>
            <a:ext cx="0" cy="2305050"/>
          </a:xfrm>
          <a:prstGeom prst="line">
            <a:avLst/>
          </a:prstGeom>
          <a:ln w="19050" cap="flat" cmpd="sng">
            <a:solidFill>
              <a:schemeClr val="tx2"/>
            </a:solidFill>
            <a:prstDash val="solid"/>
            <a:headEnd type="none" w="med" len="med"/>
            <a:tailEnd type="none" w="med" len="med"/>
          </a:ln>
        </p:spPr>
      </p:sp>
      <p:sp>
        <p:nvSpPr>
          <p:cNvPr id="29703" name="Line 7"/>
          <p:cNvSpPr/>
          <p:nvPr/>
        </p:nvSpPr>
        <p:spPr>
          <a:xfrm flipH="1">
            <a:off x="1835150" y="2924175"/>
            <a:ext cx="4465638" cy="0"/>
          </a:xfrm>
          <a:prstGeom prst="line">
            <a:avLst/>
          </a:prstGeom>
          <a:ln w="19050" cap="flat" cmpd="sng">
            <a:solidFill>
              <a:schemeClr val="tx2"/>
            </a:solidFill>
            <a:prstDash val="solid"/>
            <a:headEnd type="none" w="med" len="med"/>
            <a:tailEnd type="none" w="med" len="med"/>
          </a:ln>
        </p:spPr>
      </p:sp>
      <p:sp>
        <p:nvSpPr>
          <p:cNvPr id="29704" name="Text Box 8"/>
          <p:cNvSpPr txBox="1"/>
          <p:nvPr/>
        </p:nvSpPr>
        <p:spPr>
          <a:xfrm>
            <a:off x="6011863" y="5229225"/>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L*</a:t>
            </a:r>
            <a:endParaRPr lang="en-US" altLang="zh-CN" sz="2400" b="0" dirty="0">
              <a:latin typeface="Times New Roman" panose="02020603050405020304" pitchFamily="18" charset="0"/>
            </a:endParaRPr>
          </a:p>
        </p:txBody>
      </p:sp>
      <p:sp>
        <p:nvSpPr>
          <p:cNvPr id="29705" name="Text Box 9"/>
          <p:cNvSpPr txBox="1"/>
          <p:nvPr/>
        </p:nvSpPr>
        <p:spPr>
          <a:xfrm>
            <a:off x="1476375" y="5084763"/>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0</a:t>
            </a:r>
            <a:endParaRPr lang="en-US" altLang="zh-CN" sz="2400" b="0" dirty="0">
              <a:latin typeface="Times New Roman" panose="02020603050405020304" pitchFamily="18" charset="0"/>
            </a:endParaRPr>
          </a:p>
        </p:txBody>
      </p:sp>
      <p:sp>
        <p:nvSpPr>
          <p:cNvPr id="29706" name="Text Box 10"/>
          <p:cNvSpPr txBox="1"/>
          <p:nvPr/>
        </p:nvSpPr>
        <p:spPr>
          <a:xfrm>
            <a:off x="1187450" y="765175"/>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
        <p:nvSpPr>
          <p:cNvPr id="29707" name="Text Box 11"/>
          <p:cNvSpPr txBox="1"/>
          <p:nvPr/>
        </p:nvSpPr>
        <p:spPr>
          <a:xfrm>
            <a:off x="1116013" y="2708275"/>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
        <p:nvSpPr>
          <p:cNvPr id="29708" name="Text Box 12"/>
          <p:cNvSpPr txBox="1"/>
          <p:nvPr/>
        </p:nvSpPr>
        <p:spPr>
          <a:xfrm>
            <a:off x="7235825" y="5157788"/>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L</a:t>
            </a:r>
            <a:endParaRPr lang="en-US" altLang="zh-CN" sz="2400" b="0" dirty="0">
              <a:latin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a:xfrm>
            <a:off x="684213" y="0"/>
            <a:ext cx="7772400" cy="692150"/>
          </a:xfrm>
          <a:ln/>
        </p:spPr>
        <p:txBody>
          <a:bodyPr vert="horz" wrap="square" lIns="91440" tIns="45720" rIns="91440" bIns="45720" anchor="ctr" anchorCtr="0"/>
          <a:p>
            <a:pPr eaLnBrk="1" hangingPunct="1"/>
            <a:r>
              <a:rPr lang="zh-CN" altLang="en-US" sz="3600" b="1" dirty="0">
                <a:solidFill>
                  <a:srgbClr val="FF0000"/>
                </a:solidFill>
              </a:rPr>
              <a:t>三、影响供给的因素和供给函数</a:t>
            </a:r>
            <a:endParaRPr lang="zh-CN" altLang="en-US" sz="3600" dirty="0">
              <a:solidFill>
                <a:srgbClr val="FF0000"/>
              </a:solidFill>
            </a:endParaRPr>
          </a:p>
        </p:txBody>
      </p:sp>
      <p:sp>
        <p:nvSpPr>
          <p:cNvPr id="30723" name="Rectangle 3"/>
          <p:cNvSpPr>
            <a:spLocks noGrp="1"/>
          </p:cNvSpPr>
          <p:nvPr>
            <p:ph idx="1"/>
          </p:nvPr>
        </p:nvSpPr>
        <p:spPr>
          <a:xfrm>
            <a:off x="685800" y="908050"/>
            <a:ext cx="7772400" cy="5187950"/>
          </a:xfrm>
          <a:ln/>
        </p:spPr>
        <p:txBody>
          <a:bodyPr vert="horz" wrap="square" lIns="91440" tIns="45720" rIns="91440" bIns="45720" anchor="t" anchorCtr="0"/>
          <a:p>
            <a:pPr marL="0" indent="0">
              <a:buNone/>
            </a:pPr>
            <a:r>
              <a:rPr lang="zh-CN" altLang="en-US" sz="2800" b="1" dirty="0">
                <a:solidFill>
                  <a:schemeClr val="tx2"/>
                </a:solidFill>
              </a:rPr>
              <a:t>供给函数   </a:t>
            </a:r>
            <a:r>
              <a:rPr lang="en-US" altLang="zh-CN" sz="2800" b="1" dirty="0">
                <a:solidFill>
                  <a:schemeClr val="tx2"/>
                </a:solidFill>
              </a:rPr>
              <a:t>S=F(P</a:t>
            </a:r>
            <a:r>
              <a:rPr lang="zh-CN" altLang="en-US" sz="2800" b="1" dirty="0">
                <a:solidFill>
                  <a:schemeClr val="tx2"/>
                </a:solidFill>
              </a:rPr>
              <a:t>，</a:t>
            </a:r>
            <a:r>
              <a:rPr lang="en-US" altLang="zh-CN" sz="2800" b="1" dirty="0">
                <a:solidFill>
                  <a:schemeClr val="tx2"/>
                </a:solidFill>
              </a:rPr>
              <a:t>Pa</a:t>
            </a:r>
            <a:r>
              <a:rPr lang="zh-CN" altLang="en-US" sz="2800" b="1" dirty="0">
                <a:solidFill>
                  <a:schemeClr val="tx2"/>
                </a:solidFill>
              </a:rPr>
              <a:t>，</a:t>
            </a:r>
            <a:r>
              <a:rPr lang="en-US" altLang="zh-CN" sz="2800" b="1" dirty="0">
                <a:solidFill>
                  <a:schemeClr val="tx2"/>
                </a:solidFill>
              </a:rPr>
              <a:t>Pb……)</a:t>
            </a:r>
            <a:br>
              <a:rPr lang="en-US" altLang="zh-CN" sz="2800" b="1" dirty="0">
                <a:solidFill>
                  <a:schemeClr val="tx2"/>
                </a:solidFill>
              </a:rPr>
            </a:br>
            <a:r>
              <a:rPr lang="zh-CN" altLang="en-US" sz="2800" b="1" dirty="0">
                <a:solidFill>
                  <a:schemeClr val="tx2"/>
                </a:solidFill>
              </a:rPr>
              <a:t>简化：</a:t>
            </a:r>
            <a:r>
              <a:rPr lang="en-US" altLang="zh-CN" sz="2800" b="1" dirty="0">
                <a:solidFill>
                  <a:schemeClr val="tx2"/>
                </a:solidFill>
              </a:rPr>
              <a:t>S</a:t>
            </a:r>
            <a:r>
              <a:rPr lang="zh-CN" altLang="en-US" sz="2800" b="1" dirty="0">
                <a:solidFill>
                  <a:schemeClr val="tx2"/>
                </a:solidFill>
              </a:rPr>
              <a:t>＝</a:t>
            </a:r>
            <a:r>
              <a:rPr lang="en-US" altLang="zh-CN" sz="2800" b="1" dirty="0">
                <a:solidFill>
                  <a:schemeClr val="tx2"/>
                </a:solidFill>
              </a:rPr>
              <a:t>f</a:t>
            </a:r>
            <a:r>
              <a:rPr lang="zh-CN" altLang="en-US" sz="2800" b="1" dirty="0">
                <a:solidFill>
                  <a:schemeClr val="tx2"/>
                </a:solidFill>
              </a:rPr>
              <a:t>（</a:t>
            </a:r>
            <a:r>
              <a:rPr lang="en-US" altLang="zh-CN" sz="2800" b="1" dirty="0">
                <a:solidFill>
                  <a:schemeClr val="tx2"/>
                </a:solidFill>
              </a:rPr>
              <a:t>P</a:t>
            </a:r>
            <a:r>
              <a:rPr lang="zh-CN" altLang="en-US" sz="2800" b="1" dirty="0">
                <a:solidFill>
                  <a:schemeClr val="tx2"/>
                </a:solidFill>
              </a:rPr>
              <a:t>）</a:t>
            </a:r>
            <a:br>
              <a:rPr lang="zh-CN" altLang="en-US" sz="2800" b="1" dirty="0">
                <a:solidFill>
                  <a:schemeClr val="tx2"/>
                </a:solidFill>
              </a:rPr>
            </a:br>
            <a:r>
              <a:rPr lang="zh-CN" altLang="en-US" sz="2800" b="1" dirty="0">
                <a:solidFill>
                  <a:schemeClr val="tx2"/>
                </a:solidFill>
              </a:rPr>
              <a:t>影响供给的因素：</a:t>
            </a:r>
            <a:br>
              <a:rPr lang="zh-CN" altLang="en-US" sz="2800" b="1" dirty="0">
                <a:solidFill>
                  <a:schemeClr val="tx2"/>
                </a:solidFill>
              </a:rPr>
            </a:br>
            <a:r>
              <a:rPr lang="en-US" altLang="zh-CN" sz="2800" b="1" dirty="0">
                <a:solidFill>
                  <a:schemeClr val="tx2"/>
                </a:solidFill>
              </a:rPr>
              <a:t>1</a:t>
            </a:r>
            <a:r>
              <a:rPr lang="zh-CN" altLang="en-US" sz="2800" b="1" dirty="0">
                <a:solidFill>
                  <a:schemeClr val="tx2"/>
                </a:solidFill>
              </a:rPr>
              <a:t>、	生产技术和管理水平</a:t>
            </a:r>
            <a:br>
              <a:rPr lang="zh-CN" altLang="en-US" sz="2800" b="1" dirty="0">
                <a:solidFill>
                  <a:schemeClr val="tx2"/>
                </a:solidFill>
              </a:rPr>
            </a:br>
            <a:r>
              <a:rPr lang="en-US" altLang="zh-CN" sz="2800" b="1" dirty="0">
                <a:solidFill>
                  <a:schemeClr val="tx2"/>
                </a:solidFill>
              </a:rPr>
              <a:t>2</a:t>
            </a:r>
            <a:r>
              <a:rPr lang="zh-CN" altLang="en-US" sz="2800" b="1" dirty="0">
                <a:solidFill>
                  <a:schemeClr val="tx2"/>
                </a:solidFill>
              </a:rPr>
              <a:t>、	商品本身价格</a:t>
            </a:r>
            <a:br>
              <a:rPr lang="zh-CN" altLang="en-US" sz="2800" b="1" dirty="0">
                <a:solidFill>
                  <a:schemeClr val="tx2"/>
                </a:solidFill>
              </a:rPr>
            </a:br>
            <a:r>
              <a:rPr lang="en-US" altLang="zh-CN" sz="2800" b="1" dirty="0">
                <a:solidFill>
                  <a:schemeClr val="tx2"/>
                </a:solidFill>
              </a:rPr>
              <a:t>3</a:t>
            </a:r>
            <a:r>
              <a:rPr lang="zh-CN" altLang="en-US" sz="2800" b="1" dirty="0">
                <a:solidFill>
                  <a:schemeClr val="tx2"/>
                </a:solidFill>
              </a:rPr>
              <a:t>、	其他商品价格</a:t>
            </a:r>
            <a:br>
              <a:rPr lang="zh-CN" altLang="en-US" sz="2800" b="1" dirty="0">
                <a:solidFill>
                  <a:schemeClr val="tx2"/>
                </a:solidFill>
              </a:rPr>
            </a:br>
            <a:r>
              <a:rPr lang="en-US" altLang="zh-CN" sz="2800" b="1" dirty="0">
                <a:solidFill>
                  <a:schemeClr val="tx2"/>
                </a:solidFill>
              </a:rPr>
              <a:t>4</a:t>
            </a:r>
            <a:r>
              <a:rPr lang="zh-CN" altLang="en-US" sz="2800" b="1" dirty="0">
                <a:solidFill>
                  <a:schemeClr val="tx2"/>
                </a:solidFill>
              </a:rPr>
              <a:t>、	对未来价格的预期</a:t>
            </a:r>
            <a:br>
              <a:rPr lang="zh-CN" altLang="en-US" sz="2800" b="1" dirty="0">
                <a:solidFill>
                  <a:schemeClr val="tx2"/>
                </a:solidFill>
              </a:rPr>
            </a:br>
            <a:r>
              <a:rPr lang="en-US" altLang="zh-CN" sz="2800" b="1" dirty="0">
                <a:solidFill>
                  <a:schemeClr val="tx2"/>
                </a:solidFill>
              </a:rPr>
              <a:t>5</a:t>
            </a:r>
            <a:r>
              <a:rPr lang="zh-CN" altLang="en-US" sz="2800" b="1" dirty="0">
                <a:solidFill>
                  <a:schemeClr val="tx2"/>
                </a:solidFill>
              </a:rPr>
              <a:t>、	生产要素的价格</a:t>
            </a:r>
            <a:br>
              <a:rPr lang="zh-CN" altLang="en-US" sz="2800" b="1" dirty="0">
                <a:solidFill>
                  <a:schemeClr val="tx2"/>
                </a:solidFill>
              </a:rPr>
            </a:br>
            <a:r>
              <a:rPr lang="en-US" altLang="zh-CN" sz="2800" b="1" dirty="0">
                <a:solidFill>
                  <a:schemeClr val="tx2"/>
                </a:solidFill>
              </a:rPr>
              <a:t>6</a:t>
            </a:r>
            <a:r>
              <a:rPr lang="zh-CN" altLang="en-US" sz="2800" b="1" dirty="0">
                <a:solidFill>
                  <a:schemeClr val="tx2"/>
                </a:solidFill>
              </a:rPr>
              <a:t>、	时间因素</a:t>
            </a:r>
            <a:br>
              <a:rPr lang="zh-CN" altLang="en-US" sz="2800" b="1" dirty="0">
                <a:solidFill>
                  <a:schemeClr val="tx2"/>
                </a:solidFill>
              </a:rPr>
            </a:br>
            <a:endParaRPr lang="zh-CN" altLang="en-US" sz="2800" b="1" dirty="0">
              <a:solidFill>
                <a:schemeClr val="tx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a:xfrm>
            <a:off x="684213" y="0"/>
            <a:ext cx="7772400" cy="549275"/>
          </a:xfrm>
          <a:ln/>
        </p:spPr>
        <p:txBody>
          <a:bodyPr vert="horz" wrap="square" lIns="91440" tIns="45720" rIns="91440" bIns="45720" anchor="ctr" anchorCtr="0"/>
          <a:p>
            <a:pPr eaLnBrk="1" hangingPunct="1"/>
            <a:r>
              <a:rPr lang="zh-CN" altLang="en-US" sz="4000" b="1" dirty="0">
                <a:solidFill>
                  <a:srgbClr val="FF0000"/>
                </a:solidFill>
              </a:rPr>
              <a:t>四、供给量的变动和供给的变动</a:t>
            </a:r>
            <a:endParaRPr lang="zh-CN" altLang="en-US" sz="4000" b="1" dirty="0">
              <a:solidFill>
                <a:srgbClr val="FF0000"/>
              </a:solidFill>
            </a:endParaRPr>
          </a:p>
        </p:txBody>
      </p:sp>
      <p:sp>
        <p:nvSpPr>
          <p:cNvPr id="31747" name="Rectangle 3"/>
          <p:cNvSpPr>
            <a:spLocks noGrp="1"/>
          </p:cNvSpPr>
          <p:nvPr>
            <p:ph idx="1"/>
          </p:nvPr>
        </p:nvSpPr>
        <p:spPr>
          <a:xfrm>
            <a:off x="685800" y="908050"/>
            <a:ext cx="7772400" cy="5187950"/>
          </a:xfrm>
          <a:ln/>
        </p:spPr>
        <p:txBody>
          <a:bodyPr vert="horz" wrap="square" lIns="91440" tIns="45720" rIns="91440" bIns="45720" anchor="t" anchorCtr="0"/>
          <a:p>
            <a:pPr marL="358775" lvl="2" indent="0" eaLnBrk="1" hangingPunct="1">
              <a:buNone/>
            </a:pPr>
            <a:r>
              <a:rPr lang="zh-CN" altLang="en-US" sz="2800" b="1" dirty="0">
                <a:solidFill>
                  <a:schemeClr val="tx2"/>
                </a:solidFill>
              </a:rPr>
              <a:t>供给量变动：本身价格变化时，厂商愿意生产和销售的数量沿供给曲线移动</a:t>
            </a:r>
            <a:endParaRPr lang="zh-CN" altLang="en-US" sz="2800" b="1" dirty="0">
              <a:solidFill>
                <a:schemeClr val="tx2"/>
              </a:solidFill>
            </a:endParaRPr>
          </a:p>
          <a:p>
            <a:pPr marL="358775" lvl="2" indent="0" eaLnBrk="1" hangingPunct="1">
              <a:buNone/>
            </a:pPr>
            <a:r>
              <a:rPr lang="zh-CN" altLang="en-US" sz="2800" b="1" dirty="0">
                <a:solidFill>
                  <a:schemeClr val="tx2"/>
                </a:solidFill>
              </a:rPr>
              <a:t>供给变动：除本身价格外，任何一种决定供给的因素变动时供给曲线的移动</a:t>
            </a:r>
            <a:endParaRPr lang="zh-CN" altLang="en-US" sz="2800" b="1" dirty="0">
              <a:solidFill>
                <a:schemeClr val="tx2"/>
              </a:solidFill>
            </a:endParaRPr>
          </a:p>
        </p:txBody>
      </p:sp>
      <p:sp>
        <p:nvSpPr>
          <p:cNvPr id="31748" name="Line 4"/>
          <p:cNvSpPr/>
          <p:nvPr/>
        </p:nvSpPr>
        <p:spPr>
          <a:xfrm flipV="1">
            <a:off x="1331913" y="2924175"/>
            <a:ext cx="0" cy="3457575"/>
          </a:xfrm>
          <a:prstGeom prst="line">
            <a:avLst/>
          </a:prstGeom>
          <a:ln w="38100" cap="flat" cmpd="sng">
            <a:solidFill>
              <a:schemeClr val="tx2"/>
            </a:solidFill>
            <a:prstDash val="solid"/>
            <a:headEnd type="none" w="med" len="med"/>
            <a:tailEnd type="stealth" w="lg" len="lg"/>
          </a:ln>
        </p:spPr>
      </p:sp>
      <p:sp>
        <p:nvSpPr>
          <p:cNvPr id="31749" name="Line 5"/>
          <p:cNvSpPr/>
          <p:nvPr/>
        </p:nvSpPr>
        <p:spPr>
          <a:xfrm>
            <a:off x="1331913" y="6381750"/>
            <a:ext cx="4319587" cy="0"/>
          </a:xfrm>
          <a:prstGeom prst="line">
            <a:avLst/>
          </a:prstGeom>
          <a:ln w="38100" cap="flat" cmpd="sng">
            <a:solidFill>
              <a:schemeClr val="tx2"/>
            </a:solidFill>
            <a:prstDash val="solid"/>
            <a:headEnd type="none" w="med" len="med"/>
            <a:tailEnd type="stealth" w="lg" len="lg"/>
          </a:ln>
        </p:spPr>
      </p:sp>
      <p:sp>
        <p:nvSpPr>
          <p:cNvPr id="31750" name="Freeform 6"/>
          <p:cNvSpPr/>
          <p:nvPr/>
        </p:nvSpPr>
        <p:spPr>
          <a:xfrm>
            <a:off x="1476375" y="2781300"/>
            <a:ext cx="2160588" cy="2593975"/>
          </a:xfrm>
          <a:custGeom>
            <a:avLst/>
            <a:gdLst/>
            <a:ahLst/>
            <a:cxnLst>
              <a:cxn ang="0">
                <a:pos x="0" y="2593975"/>
              </a:cxn>
              <a:cxn ang="0">
                <a:pos x="1705661" y="1263280"/>
              </a:cxn>
              <a:cxn ang="0">
                <a:pos x="2160588" y="0"/>
              </a:cxn>
            </a:cxnLst>
            <a:pathLst>
              <a:path w="1724" h="1770">
                <a:moveTo>
                  <a:pt x="0" y="1770"/>
                </a:moveTo>
                <a:cubicBezTo>
                  <a:pt x="537" y="1463"/>
                  <a:pt x="1074" y="1157"/>
                  <a:pt x="1361" y="862"/>
                </a:cubicBezTo>
                <a:cubicBezTo>
                  <a:pt x="1648" y="567"/>
                  <a:pt x="1663" y="144"/>
                  <a:pt x="1724" y="0"/>
                </a:cubicBezTo>
              </a:path>
            </a:pathLst>
          </a:custGeom>
          <a:noFill/>
          <a:ln w="28575" cap="rnd" cmpd="sng">
            <a:solidFill>
              <a:schemeClr val="tx2">
                <a:alpha val="100000"/>
              </a:schemeClr>
            </a:solidFill>
            <a:prstDash val="sysDot"/>
            <a:round/>
            <a:headEnd type="none" w="med" len="med"/>
            <a:tailEnd type="none" w="med" len="med"/>
          </a:ln>
        </p:spPr>
        <p:txBody>
          <a:bodyPr/>
          <a:p>
            <a:endParaRPr lang="zh-CN" altLang="en-US"/>
          </a:p>
        </p:txBody>
      </p:sp>
      <p:sp>
        <p:nvSpPr>
          <p:cNvPr id="31751" name="Freeform 7"/>
          <p:cNvSpPr/>
          <p:nvPr/>
        </p:nvSpPr>
        <p:spPr>
          <a:xfrm>
            <a:off x="1763713" y="3141663"/>
            <a:ext cx="2160587" cy="2663825"/>
          </a:xfrm>
          <a:custGeom>
            <a:avLst/>
            <a:gdLst/>
            <a:ahLst/>
            <a:cxnLst>
              <a:cxn ang="0">
                <a:pos x="0" y="2663825"/>
              </a:cxn>
              <a:cxn ang="0">
                <a:pos x="1705661" y="1297298"/>
              </a:cxn>
              <a:cxn ang="0">
                <a:pos x="2160587" y="0"/>
              </a:cxn>
            </a:cxnLst>
            <a:pathLst>
              <a:path w="1724" h="1770">
                <a:moveTo>
                  <a:pt x="0" y="1770"/>
                </a:moveTo>
                <a:cubicBezTo>
                  <a:pt x="537" y="1463"/>
                  <a:pt x="1074" y="1157"/>
                  <a:pt x="1361" y="862"/>
                </a:cubicBezTo>
                <a:cubicBezTo>
                  <a:pt x="1648" y="567"/>
                  <a:pt x="1663" y="144"/>
                  <a:pt x="1724" y="0"/>
                </a:cubicBezTo>
              </a:path>
            </a:pathLst>
          </a:custGeom>
          <a:noFill/>
          <a:ln w="28575" cap="flat" cmpd="sng">
            <a:solidFill>
              <a:schemeClr val="tx2">
                <a:alpha val="100000"/>
              </a:schemeClr>
            </a:solidFill>
            <a:prstDash val="solid"/>
            <a:round/>
            <a:headEnd type="none" w="med" len="med"/>
            <a:tailEnd type="none" w="med" len="med"/>
          </a:ln>
        </p:spPr>
        <p:txBody>
          <a:bodyPr/>
          <a:p>
            <a:endParaRPr lang="zh-CN" altLang="en-US"/>
          </a:p>
        </p:txBody>
      </p:sp>
      <p:sp>
        <p:nvSpPr>
          <p:cNvPr id="31752" name="Freeform 8"/>
          <p:cNvSpPr/>
          <p:nvPr/>
        </p:nvSpPr>
        <p:spPr>
          <a:xfrm>
            <a:off x="2268538" y="3500438"/>
            <a:ext cx="2160587" cy="2520950"/>
          </a:xfrm>
          <a:custGeom>
            <a:avLst/>
            <a:gdLst/>
            <a:ahLst/>
            <a:cxnLst>
              <a:cxn ang="0">
                <a:pos x="0" y="2520950"/>
              </a:cxn>
              <a:cxn ang="0">
                <a:pos x="1705661" y="1227717"/>
              </a:cxn>
              <a:cxn ang="0">
                <a:pos x="2160587" y="0"/>
              </a:cxn>
            </a:cxnLst>
            <a:pathLst>
              <a:path w="1724" h="1770">
                <a:moveTo>
                  <a:pt x="0" y="1770"/>
                </a:moveTo>
                <a:cubicBezTo>
                  <a:pt x="537" y="1463"/>
                  <a:pt x="1074" y="1157"/>
                  <a:pt x="1361" y="862"/>
                </a:cubicBezTo>
                <a:cubicBezTo>
                  <a:pt x="1648" y="567"/>
                  <a:pt x="1663" y="144"/>
                  <a:pt x="1724" y="0"/>
                </a:cubicBezTo>
              </a:path>
            </a:pathLst>
          </a:custGeom>
          <a:noFill/>
          <a:ln w="28575" cap="rnd" cmpd="sng">
            <a:solidFill>
              <a:schemeClr val="tx2">
                <a:alpha val="100000"/>
              </a:schemeClr>
            </a:solidFill>
            <a:prstDash val="sysDot"/>
            <a:round/>
            <a:headEnd type="none" w="med" len="med"/>
            <a:tailEnd type="none" w="med" len="med"/>
          </a:ln>
        </p:spPr>
        <p:txBody>
          <a:bodyPr/>
          <a:p>
            <a:endParaRPr lang="zh-CN" altLang="en-US"/>
          </a:p>
        </p:txBody>
      </p:sp>
      <p:sp>
        <p:nvSpPr>
          <p:cNvPr id="31753" name="Text Box 9"/>
          <p:cNvSpPr txBox="1"/>
          <p:nvPr/>
        </p:nvSpPr>
        <p:spPr>
          <a:xfrm>
            <a:off x="3708400" y="6400800"/>
            <a:ext cx="576263"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Q1</a:t>
            </a:r>
            <a:endParaRPr lang="en-US" altLang="zh-CN" sz="2400" b="0" dirty="0">
              <a:latin typeface="Times New Roman" panose="02020603050405020304" pitchFamily="18" charset="0"/>
            </a:endParaRPr>
          </a:p>
        </p:txBody>
      </p:sp>
      <p:sp>
        <p:nvSpPr>
          <p:cNvPr id="31754" name="Line 10"/>
          <p:cNvSpPr/>
          <p:nvPr/>
        </p:nvSpPr>
        <p:spPr>
          <a:xfrm>
            <a:off x="3348038" y="4581525"/>
            <a:ext cx="0" cy="1800225"/>
          </a:xfrm>
          <a:prstGeom prst="line">
            <a:avLst/>
          </a:prstGeom>
          <a:ln w="25400" cap="flat" cmpd="sng">
            <a:solidFill>
              <a:schemeClr val="tx2"/>
            </a:solidFill>
            <a:prstDash val="solid"/>
            <a:headEnd type="none" w="med" len="med"/>
            <a:tailEnd type="none" w="med" len="med"/>
          </a:ln>
        </p:spPr>
      </p:sp>
      <p:sp>
        <p:nvSpPr>
          <p:cNvPr id="31755" name="Line 11"/>
          <p:cNvSpPr/>
          <p:nvPr/>
        </p:nvSpPr>
        <p:spPr>
          <a:xfrm flipH="1">
            <a:off x="1331913" y="4581525"/>
            <a:ext cx="2016125" cy="0"/>
          </a:xfrm>
          <a:prstGeom prst="line">
            <a:avLst/>
          </a:prstGeom>
          <a:ln w="25400" cap="flat" cmpd="sng">
            <a:solidFill>
              <a:schemeClr val="tx2"/>
            </a:solidFill>
            <a:prstDash val="solid"/>
            <a:headEnd type="none" w="med" len="med"/>
            <a:tailEnd type="none" w="med" len="med"/>
          </a:ln>
        </p:spPr>
      </p:sp>
      <p:sp>
        <p:nvSpPr>
          <p:cNvPr id="31756" name="Line 12"/>
          <p:cNvSpPr/>
          <p:nvPr/>
        </p:nvSpPr>
        <p:spPr>
          <a:xfrm>
            <a:off x="3779838" y="3860800"/>
            <a:ext cx="0" cy="2520950"/>
          </a:xfrm>
          <a:prstGeom prst="line">
            <a:avLst/>
          </a:prstGeom>
          <a:ln w="25400" cap="flat" cmpd="sng">
            <a:solidFill>
              <a:schemeClr val="tx2"/>
            </a:solidFill>
            <a:prstDash val="solid"/>
            <a:headEnd type="none" w="med" len="med"/>
            <a:tailEnd type="none" w="med" len="med"/>
          </a:ln>
        </p:spPr>
      </p:sp>
      <p:sp>
        <p:nvSpPr>
          <p:cNvPr id="31757" name="Line 13"/>
          <p:cNvSpPr/>
          <p:nvPr/>
        </p:nvSpPr>
        <p:spPr>
          <a:xfrm flipH="1">
            <a:off x="1331913" y="3860800"/>
            <a:ext cx="2447925" cy="0"/>
          </a:xfrm>
          <a:prstGeom prst="line">
            <a:avLst/>
          </a:prstGeom>
          <a:ln w="25400" cap="flat" cmpd="sng">
            <a:solidFill>
              <a:schemeClr val="tx2"/>
            </a:solidFill>
            <a:prstDash val="solid"/>
            <a:headEnd type="none" w="med" len="med"/>
            <a:tailEnd type="none" w="med" len="med"/>
          </a:ln>
        </p:spPr>
      </p:sp>
      <p:sp>
        <p:nvSpPr>
          <p:cNvPr id="31758" name="Text Box 14"/>
          <p:cNvSpPr txBox="1"/>
          <p:nvPr/>
        </p:nvSpPr>
        <p:spPr>
          <a:xfrm>
            <a:off x="5651500" y="6165850"/>
            <a:ext cx="5032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a:t>
            </a:r>
            <a:endParaRPr lang="en-US" altLang="zh-CN" sz="2400" b="0" dirty="0">
              <a:latin typeface="Times New Roman" panose="02020603050405020304" pitchFamily="18" charset="0"/>
            </a:endParaRPr>
          </a:p>
        </p:txBody>
      </p:sp>
      <p:sp>
        <p:nvSpPr>
          <p:cNvPr id="31759" name="Text Box 15"/>
          <p:cNvSpPr txBox="1"/>
          <p:nvPr/>
        </p:nvSpPr>
        <p:spPr>
          <a:xfrm>
            <a:off x="755650" y="4437063"/>
            <a:ext cx="647700"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P2</a:t>
            </a:r>
            <a:endParaRPr lang="en-US" altLang="zh-CN" sz="2400" b="0" dirty="0">
              <a:latin typeface="Times New Roman" panose="02020603050405020304" pitchFamily="18" charset="0"/>
            </a:endParaRPr>
          </a:p>
        </p:txBody>
      </p:sp>
      <p:sp>
        <p:nvSpPr>
          <p:cNvPr id="31760" name="Text Box 16"/>
          <p:cNvSpPr txBox="1"/>
          <p:nvPr/>
        </p:nvSpPr>
        <p:spPr>
          <a:xfrm>
            <a:off x="755650" y="3716338"/>
            <a:ext cx="576263"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P1</a:t>
            </a:r>
            <a:endParaRPr lang="en-US" altLang="zh-CN" sz="2400" b="0" dirty="0">
              <a:latin typeface="Times New Roman" panose="02020603050405020304" pitchFamily="18" charset="0"/>
            </a:endParaRPr>
          </a:p>
        </p:txBody>
      </p:sp>
      <p:sp>
        <p:nvSpPr>
          <p:cNvPr id="31761" name="Text Box 17"/>
          <p:cNvSpPr txBox="1"/>
          <p:nvPr/>
        </p:nvSpPr>
        <p:spPr>
          <a:xfrm>
            <a:off x="900113" y="2781300"/>
            <a:ext cx="5032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
        <p:nvSpPr>
          <p:cNvPr id="31762" name="Text Box 18"/>
          <p:cNvSpPr txBox="1"/>
          <p:nvPr/>
        </p:nvSpPr>
        <p:spPr>
          <a:xfrm>
            <a:off x="2987675" y="2852738"/>
            <a:ext cx="576263"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S2</a:t>
            </a:r>
            <a:endParaRPr lang="en-US" altLang="zh-CN" sz="2400" b="0" dirty="0">
              <a:latin typeface="Times New Roman" panose="02020603050405020304" pitchFamily="18" charset="0"/>
            </a:endParaRPr>
          </a:p>
        </p:txBody>
      </p:sp>
      <p:sp>
        <p:nvSpPr>
          <p:cNvPr id="31763" name="Text Box 19"/>
          <p:cNvSpPr txBox="1"/>
          <p:nvPr/>
        </p:nvSpPr>
        <p:spPr>
          <a:xfrm>
            <a:off x="4427538" y="3284538"/>
            <a:ext cx="576262"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S1</a:t>
            </a:r>
            <a:endParaRPr lang="en-US" altLang="zh-CN" sz="2400" b="0" dirty="0">
              <a:latin typeface="Times New Roman" panose="02020603050405020304" pitchFamily="18" charset="0"/>
            </a:endParaRPr>
          </a:p>
        </p:txBody>
      </p:sp>
      <p:sp>
        <p:nvSpPr>
          <p:cNvPr id="31764" name="Text Box 20"/>
          <p:cNvSpPr txBox="1"/>
          <p:nvPr/>
        </p:nvSpPr>
        <p:spPr>
          <a:xfrm>
            <a:off x="3924300" y="2924175"/>
            <a:ext cx="5032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S</a:t>
            </a:r>
            <a:endParaRPr lang="en-US" altLang="zh-CN" sz="2400" b="0" dirty="0">
              <a:latin typeface="Times New Roman" panose="02020603050405020304" pitchFamily="18" charset="0"/>
            </a:endParaRPr>
          </a:p>
        </p:txBody>
      </p:sp>
      <p:sp>
        <p:nvSpPr>
          <p:cNvPr id="31765" name="Text Box 21"/>
          <p:cNvSpPr txBox="1"/>
          <p:nvPr/>
        </p:nvSpPr>
        <p:spPr>
          <a:xfrm>
            <a:off x="3059113" y="6400800"/>
            <a:ext cx="576262"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Q2</a:t>
            </a:r>
            <a:endParaRPr lang="en-US" altLang="zh-CN" sz="2400" b="0" dirty="0">
              <a:latin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idx="1"/>
          </p:nvPr>
        </p:nvSpPr>
        <p:spPr>
          <a:xfrm>
            <a:off x="685800" y="260350"/>
            <a:ext cx="7772400" cy="5835650"/>
          </a:xfrm>
          <a:ln/>
        </p:spPr>
        <p:txBody>
          <a:bodyPr vert="horz" wrap="square" lIns="91440" tIns="45720" rIns="91440" bIns="45720" anchor="t" anchorCtr="0"/>
          <a:p>
            <a:pPr marL="0" indent="0" eaLnBrk="1" hangingPunct="1">
              <a:buNone/>
            </a:pPr>
            <a:r>
              <a:rPr lang="zh-CN" altLang="en-US" sz="3600" b="1" dirty="0">
                <a:solidFill>
                  <a:schemeClr val="tx2"/>
                </a:solidFill>
              </a:rPr>
              <a:t>思考题：</a:t>
            </a:r>
            <a:br>
              <a:rPr lang="zh-CN" altLang="en-US" sz="3600" b="1" dirty="0">
                <a:solidFill>
                  <a:schemeClr val="tx2"/>
                </a:solidFill>
              </a:rPr>
            </a:br>
            <a:r>
              <a:rPr lang="zh-CN" altLang="en-US" sz="3600" b="1" dirty="0">
                <a:solidFill>
                  <a:schemeClr val="tx2"/>
                </a:solidFill>
              </a:rPr>
              <a:t>经常有人主张对原油征收附加税，这当然会引起汽油价格上升，但坚持这种观点的人认为，原油价格上升不会引起汽油价格上升，他们的观点是：起始汽油价格会上升，但价格上升引起汽油的需求减少，这就会使汽油价格下降到原来的水平，这种推理的错误何在？（用图示说明）</a:t>
            </a:r>
            <a:endParaRPr lang="zh-CN" altLang="en-US" sz="3600" b="1" dirty="0">
              <a:solidFill>
                <a:schemeClr val="tx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xfrm>
            <a:off x="684213" y="0"/>
            <a:ext cx="7772400" cy="836613"/>
          </a:xfrm>
          <a:ln/>
        </p:spPr>
        <p:txBody>
          <a:bodyPr vert="horz" wrap="square" lIns="91440" tIns="45720" rIns="91440" bIns="45720" anchor="ctr" anchorCtr="0"/>
          <a:p>
            <a:pPr eaLnBrk="1" hangingPunct="1"/>
            <a:r>
              <a:rPr lang="zh-CN" altLang="en-US" sz="4000" b="1" dirty="0">
                <a:solidFill>
                  <a:srgbClr val="FF0000"/>
                </a:solidFill>
                <a:latin typeface="宋体" panose="02010600030101010101" pitchFamily="2" charset="-122"/>
              </a:rPr>
              <a:t>第二节	均衡价格</a:t>
            </a:r>
            <a:endParaRPr lang="zh-CN" altLang="en-US" sz="4000" b="1" dirty="0">
              <a:solidFill>
                <a:srgbClr val="FF0000"/>
              </a:solidFill>
              <a:latin typeface="宋体" panose="02010600030101010101" pitchFamily="2" charset="-122"/>
            </a:endParaRPr>
          </a:p>
        </p:txBody>
      </p:sp>
      <p:sp>
        <p:nvSpPr>
          <p:cNvPr id="33795" name="Rectangle 3"/>
          <p:cNvSpPr>
            <a:spLocks noGrp="1"/>
          </p:cNvSpPr>
          <p:nvPr>
            <p:ph idx="1"/>
          </p:nvPr>
        </p:nvSpPr>
        <p:spPr>
          <a:xfrm>
            <a:off x="684213" y="1052513"/>
            <a:ext cx="7772400" cy="2447925"/>
          </a:xfrm>
          <a:ln/>
        </p:spPr>
        <p:txBody>
          <a:bodyPr vert="horz" wrap="square" lIns="91440" tIns="45720" rIns="91440" bIns="45720" anchor="t" anchorCtr="0"/>
          <a:p>
            <a:pPr marL="0" indent="0" eaLnBrk="1" hangingPunct="1">
              <a:buNone/>
            </a:pPr>
            <a:r>
              <a:rPr lang="zh-CN" altLang="en-US" sz="3600" b="1" dirty="0">
                <a:solidFill>
                  <a:srgbClr val="000000"/>
                </a:solidFill>
              </a:rPr>
              <a:t>一、均衡价格及其形式</a:t>
            </a:r>
            <a:br>
              <a:rPr lang="zh-CN" altLang="en-US" sz="3600" b="1" dirty="0">
                <a:solidFill>
                  <a:srgbClr val="000000"/>
                </a:solidFill>
              </a:rPr>
            </a:br>
            <a:r>
              <a:rPr lang="zh-CN" altLang="en-US" sz="3600" b="1" dirty="0">
                <a:solidFill>
                  <a:srgbClr val="000000"/>
                </a:solidFill>
              </a:rPr>
              <a:t>均衡价格：是由需求和供给两种力量共同决定的，需求量和供给量相一致时的市场价格</a:t>
            </a:r>
            <a:endParaRPr lang="zh-CN" altLang="en-US" sz="3600" b="1" dirty="0">
              <a:solidFill>
                <a:srgbClr val="000000"/>
              </a:solidFill>
            </a:endParaRPr>
          </a:p>
        </p:txBody>
      </p:sp>
      <p:grpSp>
        <p:nvGrpSpPr>
          <p:cNvPr id="33796" name="Group 4"/>
          <p:cNvGrpSpPr/>
          <p:nvPr/>
        </p:nvGrpSpPr>
        <p:grpSpPr>
          <a:xfrm>
            <a:off x="1835150" y="3573463"/>
            <a:ext cx="5562600" cy="2667000"/>
            <a:chOff x="1587" y="2376"/>
            <a:chExt cx="3675" cy="2340"/>
          </a:xfrm>
        </p:grpSpPr>
        <p:sp>
          <p:nvSpPr>
            <p:cNvPr id="33805" name="Line 5"/>
            <p:cNvSpPr/>
            <p:nvPr/>
          </p:nvSpPr>
          <p:spPr>
            <a:xfrm flipV="1">
              <a:off x="2112" y="2376"/>
              <a:ext cx="0" cy="2340"/>
            </a:xfrm>
            <a:prstGeom prst="line">
              <a:avLst/>
            </a:prstGeom>
            <a:ln w="38100" cap="flat" cmpd="sng">
              <a:solidFill>
                <a:schemeClr val="tx2"/>
              </a:solidFill>
              <a:prstDash val="solid"/>
              <a:headEnd type="none" w="med" len="med"/>
              <a:tailEnd type="triangle" w="med" len="med"/>
            </a:ln>
          </p:spPr>
        </p:sp>
        <p:sp>
          <p:nvSpPr>
            <p:cNvPr id="33806" name="Line 6"/>
            <p:cNvSpPr/>
            <p:nvPr/>
          </p:nvSpPr>
          <p:spPr>
            <a:xfrm>
              <a:off x="1587" y="4560"/>
              <a:ext cx="3675" cy="0"/>
            </a:xfrm>
            <a:prstGeom prst="line">
              <a:avLst/>
            </a:prstGeom>
            <a:ln w="38100" cap="flat" cmpd="sng">
              <a:solidFill>
                <a:schemeClr val="tx2"/>
              </a:solidFill>
              <a:prstDash val="solid"/>
              <a:headEnd type="none" w="med" len="med"/>
              <a:tailEnd type="triangle" w="med" len="med"/>
            </a:ln>
          </p:spPr>
        </p:sp>
        <p:sp>
          <p:nvSpPr>
            <p:cNvPr id="33807" name="Arc 7"/>
            <p:cNvSpPr/>
            <p:nvPr/>
          </p:nvSpPr>
          <p:spPr>
            <a:xfrm flipH="1" flipV="1">
              <a:off x="2637" y="2688"/>
              <a:ext cx="1575" cy="1560"/>
            </a:xfrm>
            <a:custGeom>
              <a:avLst/>
              <a:gdLst/>
              <a:ahLst/>
              <a:cxnLst>
                <a:cxn ang="0">
                  <a:pos x="0" y="0"/>
                </a:cxn>
                <a:cxn ang="0">
                  <a:pos x="1575" y="1560"/>
                </a:cxn>
                <a:cxn ang="0">
                  <a:pos x="0" y="156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chemeClr val="tx2">
                  <a:alpha val="100000"/>
                </a:schemeClr>
              </a:solidFill>
              <a:prstDash val="solid"/>
              <a:round/>
              <a:headEnd type="none" w="med" len="med"/>
              <a:tailEnd type="none" w="med" len="med"/>
            </a:ln>
          </p:spPr>
          <p:txBody>
            <a:bodyPr/>
            <a:p>
              <a:endParaRPr lang="zh-CN" altLang="en-US"/>
            </a:p>
          </p:txBody>
        </p:sp>
        <p:sp>
          <p:nvSpPr>
            <p:cNvPr id="33808" name="Arc 8"/>
            <p:cNvSpPr/>
            <p:nvPr/>
          </p:nvSpPr>
          <p:spPr>
            <a:xfrm flipV="1">
              <a:off x="2427" y="2688"/>
              <a:ext cx="2205" cy="1560"/>
            </a:xfrm>
            <a:custGeom>
              <a:avLst/>
              <a:gdLst/>
              <a:ahLst/>
              <a:cxnLst>
                <a:cxn ang="0">
                  <a:pos x="0" y="0"/>
                </a:cxn>
                <a:cxn ang="0">
                  <a:pos x="2205" y="1560"/>
                </a:cxn>
                <a:cxn ang="0">
                  <a:pos x="0" y="156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chemeClr val="tx2">
                  <a:alpha val="100000"/>
                </a:schemeClr>
              </a:solidFill>
              <a:prstDash val="solid"/>
              <a:round/>
              <a:headEnd type="none" w="med" len="med"/>
              <a:tailEnd type="none" w="med" len="med"/>
            </a:ln>
          </p:spPr>
          <p:txBody>
            <a:bodyPr/>
            <a:p>
              <a:endParaRPr lang="zh-CN" altLang="en-US"/>
            </a:p>
          </p:txBody>
        </p:sp>
        <p:sp>
          <p:nvSpPr>
            <p:cNvPr id="33809" name="Line 9"/>
            <p:cNvSpPr/>
            <p:nvPr/>
          </p:nvSpPr>
          <p:spPr>
            <a:xfrm flipH="1">
              <a:off x="2112" y="4047"/>
              <a:ext cx="1365" cy="0"/>
            </a:xfrm>
            <a:prstGeom prst="line">
              <a:avLst/>
            </a:prstGeom>
            <a:ln w="38100" cap="flat" cmpd="sng">
              <a:solidFill>
                <a:schemeClr val="tx2"/>
              </a:solidFill>
              <a:prstDash val="dash"/>
              <a:headEnd type="none" w="med" len="med"/>
              <a:tailEnd type="none" w="med" len="med"/>
            </a:ln>
          </p:spPr>
        </p:sp>
        <p:sp>
          <p:nvSpPr>
            <p:cNvPr id="33810" name="Line 10"/>
            <p:cNvSpPr/>
            <p:nvPr/>
          </p:nvSpPr>
          <p:spPr>
            <a:xfrm>
              <a:off x="3477" y="4092"/>
              <a:ext cx="0" cy="468"/>
            </a:xfrm>
            <a:prstGeom prst="line">
              <a:avLst/>
            </a:prstGeom>
            <a:ln w="38100" cap="flat" cmpd="sng">
              <a:solidFill>
                <a:schemeClr val="tx2"/>
              </a:solidFill>
              <a:prstDash val="dash"/>
              <a:headEnd type="none" w="med" len="med"/>
              <a:tailEnd type="none" w="med" len="med"/>
            </a:ln>
          </p:spPr>
        </p:sp>
      </p:grpSp>
      <p:sp>
        <p:nvSpPr>
          <p:cNvPr id="33797" name="Text Box 11"/>
          <p:cNvSpPr txBox="1"/>
          <p:nvPr/>
        </p:nvSpPr>
        <p:spPr>
          <a:xfrm>
            <a:off x="4500563" y="5013325"/>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E*</a:t>
            </a:r>
            <a:endParaRPr lang="en-US" altLang="zh-CN" sz="2400" b="0" dirty="0">
              <a:latin typeface="Times New Roman" panose="02020603050405020304" pitchFamily="18" charset="0"/>
            </a:endParaRPr>
          </a:p>
        </p:txBody>
      </p:sp>
      <p:sp>
        <p:nvSpPr>
          <p:cNvPr id="33798" name="Text Box 12"/>
          <p:cNvSpPr txBox="1"/>
          <p:nvPr/>
        </p:nvSpPr>
        <p:spPr>
          <a:xfrm>
            <a:off x="6443663" y="3644900"/>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S</a:t>
            </a:r>
            <a:endParaRPr lang="en-US" altLang="zh-CN" sz="2400" b="0" dirty="0">
              <a:latin typeface="Times New Roman" panose="02020603050405020304" pitchFamily="18" charset="0"/>
            </a:endParaRPr>
          </a:p>
        </p:txBody>
      </p:sp>
      <p:sp>
        <p:nvSpPr>
          <p:cNvPr id="33799" name="Text Box 13"/>
          <p:cNvSpPr txBox="1"/>
          <p:nvPr/>
        </p:nvSpPr>
        <p:spPr>
          <a:xfrm>
            <a:off x="7092950" y="6021388"/>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a:t>
            </a:r>
            <a:endParaRPr lang="en-US" altLang="zh-CN" sz="2400" b="0" dirty="0">
              <a:latin typeface="Times New Roman" panose="02020603050405020304" pitchFamily="18" charset="0"/>
            </a:endParaRPr>
          </a:p>
        </p:txBody>
      </p:sp>
      <p:sp>
        <p:nvSpPr>
          <p:cNvPr id="33800" name="Text Box 14"/>
          <p:cNvSpPr txBox="1"/>
          <p:nvPr/>
        </p:nvSpPr>
        <p:spPr>
          <a:xfrm>
            <a:off x="4500563" y="6092825"/>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a:t>
            </a:r>
            <a:endParaRPr lang="en-US" altLang="zh-CN" sz="2400" b="0" dirty="0">
              <a:latin typeface="Times New Roman" panose="02020603050405020304" pitchFamily="18" charset="0"/>
            </a:endParaRPr>
          </a:p>
        </p:txBody>
      </p:sp>
      <p:sp>
        <p:nvSpPr>
          <p:cNvPr id="33801" name="Text Box 15"/>
          <p:cNvSpPr txBox="1"/>
          <p:nvPr/>
        </p:nvSpPr>
        <p:spPr>
          <a:xfrm>
            <a:off x="2051050" y="5157788"/>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
        <p:nvSpPr>
          <p:cNvPr id="33802" name="Text Box 16"/>
          <p:cNvSpPr txBox="1"/>
          <p:nvPr/>
        </p:nvSpPr>
        <p:spPr>
          <a:xfrm>
            <a:off x="2195513" y="3357563"/>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
        <p:nvSpPr>
          <p:cNvPr id="33803" name="Text Box 17"/>
          <p:cNvSpPr txBox="1"/>
          <p:nvPr/>
        </p:nvSpPr>
        <p:spPr>
          <a:xfrm>
            <a:off x="2195513" y="6092825"/>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0</a:t>
            </a:r>
            <a:endParaRPr lang="en-US" altLang="zh-CN" sz="2400" b="0" dirty="0">
              <a:latin typeface="Times New Roman" panose="02020603050405020304" pitchFamily="18" charset="0"/>
            </a:endParaRPr>
          </a:p>
        </p:txBody>
      </p:sp>
      <p:sp>
        <p:nvSpPr>
          <p:cNvPr id="33804" name="Text Box 18"/>
          <p:cNvSpPr txBox="1"/>
          <p:nvPr/>
        </p:nvSpPr>
        <p:spPr>
          <a:xfrm>
            <a:off x="5795963" y="5445125"/>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D</a:t>
            </a:r>
            <a:endParaRPr lang="en-US" altLang="zh-CN" sz="2400" b="0" dirty="0">
              <a:latin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idx="1"/>
          </p:nvPr>
        </p:nvSpPr>
        <p:spPr>
          <a:xfrm>
            <a:off x="755650" y="0"/>
            <a:ext cx="7772400" cy="2492375"/>
          </a:xfrm>
          <a:ln/>
        </p:spPr>
        <p:txBody>
          <a:bodyPr vert="horz" wrap="square" lIns="91440" tIns="45720" rIns="91440" bIns="45720" anchor="t" anchorCtr="0"/>
          <a:p>
            <a:pPr marL="0" indent="0" eaLnBrk="1" hangingPunct="1">
              <a:buNone/>
            </a:pPr>
            <a:r>
              <a:rPr lang="zh-CN" altLang="en-US" b="1" dirty="0">
                <a:solidFill>
                  <a:srgbClr val="FF0000"/>
                </a:solidFill>
              </a:rPr>
              <a:t>二、均衡价格的变动</a:t>
            </a:r>
            <a:br>
              <a:rPr lang="zh-CN" altLang="en-US" b="1" dirty="0">
                <a:solidFill>
                  <a:srgbClr val="FF0000"/>
                </a:solidFill>
              </a:rPr>
            </a:br>
            <a:r>
              <a:rPr lang="zh-CN" altLang="en-US" b="1" dirty="0">
                <a:solidFill>
                  <a:srgbClr val="FF0000"/>
                </a:solidFill>
              </a:rPr>
              <a:t>第一、	供给既定，需求曲线发生移动</a:t>
            </a:r>
            <a:endParaRPr lang="zh-CN" altLang="en-US" b="1" dirty="0">
              <a:solidFill>
                <a:srgbClr val="FF0000"/>
              </a:solidFill>
            </a:endParaRPr>
          </a:p>
        </p:txBody>
      </p:sp>
      <p:grpSp>
        <p:nvGrpSpPr>
          <p:cNvPr id="34819" name="Group 3"/>
          <p:cNvGrpSpPr/>
          <p:nvPr/>
        </p:nvGrpSpPr>
        <p:grpSpPr>
          <a:xfrm>
            <a:off x="755650" y="2060575"/>
            <a:ext cx="7848600" cy="3810000"/>
            <a:chOff x="1692" y="15012"/>
            <a:chExt cx="8400" cy="2340"/>
          </a:xfrm>
        </p:grpSpPr>
        <p:grpSp>
          <p:nvGrpSpPr>
            <p:cNvPr id="34832" name="Group 4"/>
            <p:cNvGrpSpPr/>
            <p:nvPr/>
          </p:nvGrpSpPr>
          <p:grpSpPr>
            <a:xfrm>
              <a:off x="1692" y="15012"/>
              <a:ext cx="3675" cy="2340"/>
              <a:chOff x="1692" y="5964"/>
              <a:chExt cx="3675" cy="2340"/>
            </a:xfrm>
          </p:grpSpPr>
          <p:sp>
            <p:nvSpPr>
              <p:cNvPr id="34834" name="Line 5"/>
              <p:cNvSpPr/>
              <p:nvPr/>
            </p:nvSpPr>
            <p:spPr>
              <a:xfrm flipV="1">
                <a:off x="2112" y="5964"/>
                <a:ext cx="0" cy="2340"/>
              </a:xfrm>
              <a:prstGeom prst="line">
                <a:avLst/>
              </a:prstGeom>
              <a:ln w="38100" cap="flat" cmpd="sng">
                <a:solidFill>
                  <a:schemeClr val="tx2"/>
                </a:solidFill>
                <a:prstDash val="solid"/>
                <a:headEnd type="none" w="med" len="med"/>
                <a:tailEnd type="triangle" w="med" len="med"/>
              </a:ln>
            </p:spPr>
          </p:sp>
          <p:grpSp>
            <p:nvGrpSpPr>
              <p:cNvPr id="34835" name="Group 6"/>
              <p:cNvGrpSpPr/>
              <p:nvPr/>
            </p:nvGrpSpPr>
            <p:grpSpPr>
              <a:xfrm>
                <a:off x="1692" y="6120"/>
                <a:ext cx="3675" cy="2184"/>
                <a:chOff x="1692" y="6120"/>
                <a:chExt cx="3675" cy="2184"/>
              </a:xfrm>
            </p:grpSpPr>
            <p:sp>
              <p:nvSpPr>
                <p:cNvPr id="34836" name="Line 7"/>
                <p:cNvSpPr/>
                <p:nvPr/>
              </p:nvSpPr>
              <p:spPr>
                <a:xfrm>
                  <a:off x="1692" y="8304"/>
                  <a:ext cx="3675" cy="0"/>
                </a:xfrm>
                <a:prstGeom prst="line">
                  <a:avLst/>
                </a:prstGeom>
                <a:ln w="38100" cap="flat" cmpd="sng">
                  <a:solidFill>
                    <a:schemeClr val="tx2"/>
                  </a:solidFill>
                  <a:prstDash val="solid"/>
                  <a:headEnd type="none" w="med" len="med"/>
                  <a:tailEnd type="triangle" w="med" len="med"/>
                </a:ln>
              </p:spPr>
            </p:sp>
            <p:sp>
              <p:nvSpPr>
                <p:cNvPr id="34837" name="Arc 8"/>
                <p:cNvSpPr/>
                <p:nvPr/>
              </p:nvSpPr>
              <p:spPr>
                <a:xfrm flipH="1" flipV="1">
                  <a:off x="2637" y="6276"/>
                  <a:ext cx="1575" cy="1560"/>
                </a:xfrm>
                <a:custGeom>
                  <a:avLst/>
                  <a:gdLst/>
                  <a:ahLst/>
                  <a:cxnLst>
                    <a:cxn ang="0">
                      <a:pos x="0" y="0"/>
                    </a:cxn>
                    <a:cxn ang="0">
                      <a:pos x="1575" y="1560"/>
                    </a:cxn>
                    <a:cxn ang="0">
                      <a:pos x="0" y="156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chemeClr val="tx2">
                      <a:alpha val="100000"/>
                    </a:schemeClr>
                  </a:solidFill>
                  <a:prstDash val="solid"/>
                  <a:round/>
                  <a:headEnd type="none" w="med" len="med"/>
                  <a:tailEnd type="none" w="med" len="med"/>
                </a:ln>
              </p:spPr>
              <p:txBody>
                <a:bodyPr/>
                <a:p>
                  <a:endParaRPr lang="zh-CN" altLang="en-US"/>
                </a:p>
              </p:txBody>
            </p:sp>
            <p:sp>
              <p:nvSpPr>
                <p:cNvPr id="34838" name="Arc 9"/>
                <p:cNvSpPr/>
                <p:nvPr/>
              </p:nvSpPr>
              <p:spPr>
                <a:xfrm flipV="1">
                  <a:off x="2427" y="6276"/>
                  <a:ext cx="2205" cy="1560"/>
                </a:xfrm>
                <a:custGeom>
                  <a:avLst/>
                  <a:gdLst/>
                  <a:ahLst/>
                  <a:cxnLst>
                    <a:cxn ang="0">
                      <a:pos x="0" y="0"/>
                    </a:cxn>
                    <a:cxn ang="0">
                      <a:pos x="2205" y="1560"/>
                    </a:cxn>
                    <a:cxn ang="0">
                      <a:pos x="0" y="156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chemeClr val="tx2">
                      <a:alpha val="100000"/>
                    </a:schemeClr>
                  </a:solidFill>
                  <a:prstDash val="solid"/>
                  <a:round/>
                  <a:headEnd type="none" w="med" len="med"/>
                  <a:tailEnd type="none" w="med" len="med"/>
                </a:ln>
              </p:spPr>
              <p:txBody>
                <a:bodyPr/>
                <a:p>
                  <a:endParaRPr lang="zh-CN" altLang="en-US"/>
                </a:p>
              </p:txBody>
            </p:sp>
            <p:sp>
              <p:nvSpPr>
                <p:cNvPr id="34839" name="Line 10"/>
                <p:cNvSpPr/>
                <p:nvPr/>
              </p:nvSpPr>
              <p:spPr>
                <a:xfrm flipH="1">
                  <a:off x="2112" y="7635"/>
                  <a:ext cx="1365" cy="0"/>
                </a:xfrm>
                <a:prstGeom prst="line">
                  <a:avLst/>
                </a:prstGeom>
                <a:ln w="38100" cap="flat" cmpd="sng">
                  <a:solidFill>
                    <a:schemeClr val="tx2"/>
                  </a:solidFill>
                  <a:prstDash val="dash"/>
                  <a:headEnd type="none" w="med" len="med"/>
                  <a:tailEnd type="none" w="med" len="med"/>
                </a:ln>
              </p:spPr>
            </p:sp>
            <p:sp>
              <p:nvSpPr>
                <p:cNvPr id="34840" name="Line 11"/>
                <p:cNvSpPr/>
                <p:nvPr/>
              </p:nvSpPr>
              <p:spPr>
                <a:xfrm>
                  <a:off x="3477" y="7680"/>
                  <a:ext cx="0" cy="624"/>
                </a:xfrm>
                <a:prstGeom prst="line">
                  <a:avLst/>
                </a:prstGeom>
                <a:ln w="38100" cap="flat" cmpd="sng">
                  <a:solidFill>
                    <a:schemeClr val="tx2"/>
                  </a:solidFill>
                  <a:prstDash val="dash"/>
                  <a:headEnd type="none" w="med" len="med"/>
                  <a:tailEnd type="none" w="med" len="med"/>
                </a:ln>
              </p:spPr>
            </p:sp>
            <p:sp>
              <p:nvSpPr>
                <p:cNvPr id="34841" name="Arc 12"/>
                <p:cNvSpPr/>
                <p:nvPr/>
              </p:nvSpPr>
              <p:spPr>
                <a:xfrm flipH="1" flipV="1">
                  <a:off x="3057" y="6120"/>
                  <a:ext cx="1365" cy="1404"/>
                </a:xfrm>
                <a:custGeom>
                  <a:avLst/>
                  <a:gdLst/>
                  <a:ahLst/>
                  <a:cxnLst>
                    <a:cxn ang="0">
                      <a:pos x="0" y="0"/>
                    </a:cxn>
                    <a:cxn ang="0">
                      <a:pos x="1365" y="1404"/>
                    </a:cxn>
                    <a:cxn ang="0">
                      <a:pos x="0" y="1404"/>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chemeClr val="tx2">
                      <a:alpha val="100000"/>
                    </a:schemeClr>
                  </a:solidFill>
                  <a:prstDash val="dash"/>
                  <a:round/>
                  <a:headEnd type="none" w="med" len="med"/>
                  <a:tailEnd type="none" w="med" len="med"/>
                </a:ln>
              </p:spPr>
              <p:txBody>
                <a:bodyPr/>
                <a:p>
                  <a:endParaRPr lang="zh-CN" altLang="en-US"/>
                </a:p>
              </p:txBody>
            </p:sp>
            <p:sp>
              <p:nvSpPr>
                <p:cNvPr id="34842" name="Line 13"/>
                <p:cNvSpPr/>
                <p:nvPr/>
              </p:nvSpPr>
              <p:spPr>
                <a:xfrm>
                  <a:off x="3897" y="7368"/>
                  <a:ext cx="0" cy="936"/>
                </a:xfrm>
                <a:prstGeom prst="line">
                  <a:avLst/>
                </a:prstGeom>
                <a:ln w="38100" cap="flat" cmpd="sng">
                  <a:solidFill>
                    <a:schemeClr val="tx2"/>
                  </a:solidFill>
                  <a:prstDash val="dash"/>
                  <a:headEnd type="none" w="med" len="med"/>
                  <a:tailEnd type="none" w="med" len="med"/>
                </a:ln>
              </p:spPr>
            </p:sp>
            <p:sp>
              <p:nvSpPr>
                <p:cNvPr id="34843" name="Line 14"/>
                <p:cNvSpPr/>
                <p:nvPr/>
              </p:nvSpPr>
              <p:spPr>
                <a:xfrm flipH="1">
                  <a:off x="2112" y="7368"/>
                  <a:ext cx="1785" cy="0"/>
                </a:xfrm>
                <a:prstGeom prst="line">
                  <a:avLst/>
                </a:prstGeom>
                <a:ln w="38100" cap="flat" cmpd="sng">
                  <a:solidFill>
                    <a:schemeClr val="tx2"/>
                  </a:solidFill>
                  <a:prstDash val="dash"/>
                  <a:headEnd type="none" w="med" len="med"/>
                  <a:tailEnd type="none" w="med" len="med"/>
                </a:ln>
              </p:spPr>
            </p:sp>
          </p:grpSp>
        </p:grpSp>
        <p:sp>
          <p:nvSpPr>
            <p:cNvPr id="34833" name="Text Box 15"/>
            <p:cNvSpPr txBox="1"/>
            <p:nvPr/>
          </p:nvSpPr>
          <p:spPr>
            <a:xfrm>
              <a:off x="5892" y="15168"/>
              <a:ext cx="4200" cy="2184"/>
            </a:xfrm>
            <a:prstGeom prst="rect">
              <a:avLst/>
            </a:prstGeom>
            <a:solidFill>
              <a:srgbClr val="FFFFFF"/>
            </a:solidFill>
            <a:ln w="38100">
              <a:noFill/>
            </a:ln>
          </p:spPr>
          <p:txBody>
            <a:bodyPr/>
            <a:p>
              <a:pPr algn="just" eaLnBrk="0" hangingPunct="0">
                <a:lnSpc>
                  <a:spcPct val="100000"/>
                </a:lnSpc>
                <a:spcBef>
                  <a:spcPct val="0"/>
                </a:spcBef>
                <a:buNone/>
              </a:pPr>
              <a:r>
                <a:rPr lang="zh-CN" altLang="en-US" sz="3600" dirty="0">
                  <a:solidFill>
                    <a:srgbClr val="000000"/>
                  </a:solidFill>
                  <a:latin typeface="Times New Roman" panose="02020603050405020304" pitchFamily="18" charset="0"/>
                </a:rPr>
                <a:t>需求增加</a:t>
              </a:r>
              <a:endParaRPr lang="zh-CN" altLang="en-US" sz="3600" dirty="0">
                <a:solidFill>
                  <a:srgbClr val="000000"/>
                </a:solidFill>
                <a:latin typeface="Times New Roman" panose="02020603050405020304" pitchFamily="18" charset="0"/>
              </a:endParaRPr>
            </a:p>
            <a:p>
              <a:pPr algn="just" eaLnBrk="0" hangingPunct="0">
                <a:lnSpc>
                  <a:spcPct val="100000"/>
                </a:lnSpc>
                <a:spcBef>
                  <a:spcPct val="0"/>
                </a:spcBef>
                <a:buNone/>
              </a:pPr>
              <a:r>
                <a:rPr lang="en-US" altLang="zh-CN" sz="3200" dirty="0">
                  <a:solidFill>
                    <a:srgbClr val="000000"/>
                  </a:solidFill>
                  <a:latin typeface="Arial Black" panose="020B0A04020102020204" pitchFamily="34" charset="0"/>
                </a:rPr>
                <a:t>P1&gt;P</a:t>
              </a:r>
              <a:endParaRPr lang="en-US" altLang="zh-CN" sz="3200" dirty="0">
                <a:solidFill>
                  <a:srgbClr val="000000"/>
                </a:solidFill>
                <a:latin typeface="Arial Black" panose="020B0A04020102020204" pitchFamily="34" charset="0"/>
              </a:endParaRPr>
            </a:p>
            <a:p>
              <a:pPr algn="just" eaLnBrk="0" hangingPunct="0">
                <a:lnSpc>
                  <a:spcPct val="100000"/>
                </a:lnSpc>
                <a:spcBef>
                  <a:spcPct val="0"/>
                </a:spcBef>
                <a:buNone/>
              </a:pPr>
              <a:r>
                <a:rPr lang="en-US" altLang="zh-CN" sz="3200" dirty="0">
                  <a:solidFill>
                    <a:srgbClr val="000000"/>
                  </a:solidFill>
                  <a:latin typeface="Arial Black" panose="020B0A04020102020204" pitchFamily="34" charset="0"/>
                </a:rPr>
                <a:t>Q1&gt;Q</a:t>
              </a:r>
              <a:endParaRPr lang="en-US" altLang="zh-CN" sz="3200" dirty="0">
                <a:solidFill>
                  <a:srgbClr val="000000"/>
                </a:solidFill>
                <a:latin typeface="Arial Black" panose="020B0A04020102020204" pitchFamily="34" charset="0"/>
              </a:endParaRPr>
            </a:p>
          </p:txBody>
        </p:sp>
      </p:grpSp>
      <p:sp>
        <p:nvSpPr>
          <p:cNvPr id="34820" name="Text Box 16"/>
          <p:cNvSpPr txBox="1"/>
          <p:nvPr/>
        </p:nvSpPr>
        <p:spPr>
          <a:xfrm>
            <a:off x="3492500" y="2276475"/>
            <a:ext cx="86518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S</a:t>
            </a:r>
            <a:endParaRPr lang="en-US" altLang="zh-CN" sz="2400" b="0" dirty="0">
              <a:latin typeface="Times New Roman" panose="02020603050405020304" pitchFamily="18" charset="0"/>
            </a:endParaRPr>
          </a:p>
        </p:txBody>
      </p:sp>
      <p:sp>
        <p:nvSpPr>
          <p:cNvPr id="34821" name="Text Box 17"/>
          <p:cNvSpPr txBox="1"/>
          <p:nvPr/>
        </p:nvSpPr>
        <p:spPr>
          <a:xfrm>
            <a:off x="3276600" y="4581525"/>
            <a:ext cx="86518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D1</a:t>
            </a:r>
            <a:endParaRPr lang="en-US" altLang="zh-CN" sz="2400" b="0" dirty="0">
              <a:latin typeface="Times New Roman" panose="02020603050405020304" pitchFamily="18" charset="0"/>
            </a:endParaRPr>
          </a:p>
        </p:txBody>
      </p:sp>
      <p:sp>
        <p:nvSpPr>
          <p:cNvPr id="34822" name="Text Box 18"/>
          <p:cNvSpPr txBox="1"/>
          <p:nvPr/>
        </p:nvSpPr>
        <p:spPr>
          <a:xfrm>
            <a:off x="3132138" y="5084763"/>
            <a:ext cx="86518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D</a:t>
            </a:r>
            <a:endParaRPr lang="en-US" altLang="zh-CN" sz="2400" b="0" dirty="0">
              <a:latin typeface="Times New Roman" panose="02020603050405020304" pitchFamily="18" charset="0"/>
            </a:endParaRPr>
          </a:p>
        </p:txBody>
      </p:sp>
      <p:sp>
        <p:nvSpPr>
          <p:cNvPr id="34823" name="Text Box 19"/>
          <p:cNvSpPr txBox="1"/>
          <p:nvPr/>
        </p:nvSpPr>
        <p:spPr>
          <a:xfrm>
            <a:off x="2627313" y="3789363"/>
            <a:ext cx="86518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E1</a:t>
            </a:r>
            <a:endParaRPr lang="en-US" altLang="zh-CN" sz="2400" b="0" dirty="0">
              <a:latin typeface="Times New Roman" panose="02020603050405020304" pitchFamily="18" charset="0"/>
            </a:endParaRPr>
          </a:p>
        </p:txBody>
      </p:sp>
      <p:sp>
        <p:nvSpPr>
          <p:cNvPr id="34824" name="Text Box 20"/>
          <p:cNvSpPr txBox="1"/>
          <p:nvPr/>
        </p:nvSpPr>
        <p:spPr>
          <a:xfrm>
            <a:off x="1979613" y="5013325"/>
            <a:ext cx="86518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E</a:t>
            </a:r>
            <a:endParaRPr lang="en-US" altLang="zh-CN" sz="2400" b="0" dirty="0">
              <a:latin typeface="Times New Roman" panose="02020603050405020304" pitchFamily="18" charset="0"/>
            </a:endParaRPr>
          </a:p>
        </p:txBody>
      </p:sp>
      <p:sp>
        <p:nvSpPr>
          <p:cNvPr id="34825" name="Text Box 21"/>
          <p:cNvSpPr txBox="1"/>
          <p:nvPr/>
        </p:nvSpPr>
        <p:spPr>
          <a:xfrm>
            <a:off x="684213" y="1916113"/>
            <a:ext cx="86518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
        <p:nvSpPr>
          <p:cNvPr id="34826" name="Text Box 22"/>
          <p:cNvSpPr txBox="1"/>
          <p:nvPr/>
        </p:nvSpPr>
        <p:spPr>
          <a:xfrm>
            <a:off x="684213" y="4221163"/>
            <a:ext cx="86518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P1</a:t>
            </a:r>
            <a:endParaRPr lang="en-US" altLang="zh-CN" sz="2400" b="0" dirty="0">
              <a:latin typeface="Times New Roman" panose="02020603050405020304" pitchFamily="18" charset="0"/>
            </a:endParaRPr>
          </a:p>
        </p:txBody>
      </p:sp>
      <p:sp>
        <p:nvSpPr>
          <p:cNvPr id="34827" name="Text Box 23"/>
          <p:cNvSpPr txBox="1"/>
          <p:nvPr/>
        </p:nvSpPr>
        <p:spPr>
          <a:xfrm>
            <a:off x="684213" y="4581525"/>
            <a:ext cx="86518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
        <p:nvSpPr>
          <p:cNvPr id="34828" name="Text Box 24"/>
          <p:cNvSpPr txBox="1"/>
          <p:nvPr/>
        </p:nvSpPr>
        <p:spPr>
          <a:xfrm>
            <a:off x="3924300" y="5876925"/>
            <a:ext cx="86518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a:t>
            </a:r>
            <a:endParaRPr lang="en-US" altLang="zh-CN" sz="2400" b="0" dirty="0">
              <a:latin typeface="Times New Roman" panose="02020603050405020304" pitchFamily="18" charset="0"/>
            </a:endParaRPr>
          </a:p>
        </p:txBody>
      </p:sp>
      <p:sp>
        <p:nvSpPr>
          <p:cNvPr id="34829" name="Text Box 25"/>
          <p:cNvSpPr txBox="1"/>
          <p:nvPr/>
        </p:nvSpPr>
        <p:spPr>
          <a:xfrm>
            <a:off x="2555875" y="5876925"/>
            <a:ext cx="86518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Q2</a:t>
            </a:r>
            <a:endParaRPr lang="en-US" altLang="zh-CN" sz="2400" b="0" dirty="0">
              <a:latin typeface="Times New Roman" panose="02020603050405020304" pitchFamily="18" charset="0"/>
            </a:endParaRPr>
          </a:p>
        </p:txBody>
      </p:sp>
      <p:sp>
        <p:nvSpPr>
          <p:cNvPr id="34830" name="Text Box 26"/>
          <p:cNvSpPr txBox="1"/>
          <p:nvPr/>
        </p:nvSpPr>
        <p:spPr>
          <a:xfrm>
            <a:off x="2124075" y="5876925"/>
            <a:ext cx="86518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a:t>
            </a:r>
            <a:endParaRPr lang="en-US" altLang="zh-CN" sz="2400" b="0" dirty="0">
              <a:latin typeface="Times New Roman" panose="02020603050405020304" pitchFamily="18" charset="0"/>
            </a:endParaRPr>
          </a:p>
        </p:txBody>
      </p:sp>
      <p:sp>
        <p:nvSpPr>
          <p:cNvPr id="34831" name="Text Box 27"/>
          <p:cNvSpPr txBox="1"/>
          <p:nvPr/>
        </p:nvSpPr>
        <p:spPr>
          <a:xfrm>
            <a:off x="827088" y="5876925"/>
            <a:ext cx="86518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0</a:t>
            </a:r>
            <a:endParaRPr lang="en-US" altLang="zh-CN" sz="2400" b="0" dirty="0">
              <a:latin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a:xfrm>
            <a:off x="684213" y="0"/>
            <a:ext cx="7772400" cy="792163"/>
          </a:xfrm>
          <a:ln/>
        </p:spPr>
        <p:txBody>
          <a:bodyPr vert="horz" wrap="square" lIns="91440" tIns="45720" rIns="91440" bIns="45720" anchor="ctr" anchorCtr="0"/>
          <a:p>
            <a:pPr eaLnBrk="1" hangingPunct="1"/>
            <a:r>
              <a:rPr lang="zh-CN" altLang="en-US" sz="3600" b="1" dirty="0">
                <a:solidFill>
                  <a:srgbClr val="FF0000"/>
                </a:solidFill>
                <a:latin typeface="宋体" panose="02010600030101010101" pitchFamily="2" charset="-122"/>
              </a:rPr>
              <a:t>第二、需求既定，供给曲线发生移动</a:t>
            </a:r>
            <a:endParaRPr lang="zh-CN" altLang="en-US" sz="3600" dirty="0">
              <a:solidFill>
                <a:srgbClr val="FF0000"/>
              </a:solidFill>
            </a:endParaRPr>
          </a:p>
        </p:txBody>
      </p:sp>
      <p:grpSp>
        <p:nvGrpSpPr>
          <p:cNvPr id="35843" name="Group 3"/>
          <p:cNvGrpSpPr/>
          <p:nvPr/>
        </p:nvGrpSpPr>
        <p:grpSpPr>
          <a:xfrm>
            <a:off x="468313" y="1981200"/>
            <a:ext cx="8675687" cy="3733800"/>
            <a:chOff x="1692" y="4716"/>
            <a:chExt cx="8400" cy="2340"/>
          </a:xfrm>
        </p:grpSpPr>
        <p:grpSp>
          <p:nvGrpSpPr>
            <p:cNvPr id="35856" name="Group 4"/>
            <p:cNvGrpSpPr/>
            <p:nvPr/>
          </p:nvGrpSpPr>
          <p:grpSpPr>
            <a:xfrm>
              <a:off x="1692" y="4716"/>
              <a:ext cx="3675" cy="2340"/>
              <a:chOff x="1692" y="9396"/>
              <a:chExt cx="3675" cy="2340"/>
            </a:xfrm>
          </p:grpSpPr>
          <p:sp>
            <p:nvSpPr>
              <p:cNvPr id="35858" name="Line 5"/>
              <p:cNvSpPr/>
              <p:nvPr/>
            </p:nvSpPr>
            <p:spPr>
              <a:xfrm flipV="1">
                <a:off x="2217" y="9396"/>
                <a:ext cx="0" cy="2340"/>
              </a:xfrm>
              <a:prstGeom prst="line">
                <a:avLst/>
              </a:prstGeom>
              <a:ln w="38100" cap="flat" cmpd="sng">
                <a:solidFill>
                  <a:schemeClr val="tx2"/>
                </a:solidFill>
                <a:prstDash val="solid"/>
                <a:headEnd type="none" w="med" len="med"/>
                <a:tailEnd type="triangle" w="med" len="med"/>
              </a:ln>
            </p:spPr>
          </p:sp>
          <p:sp>
            <p:nvSpPr>
              <p:cNvPr id="35859" name="Line 6"/>
              <p:cNvSpPr/>
              <p:nvPr/>
            </p:nvSpPr>
            <p:spPr>
              <a:xfrm>
                <a:off x="1692" y="11736"/>
                <a:ext cx="3675" cy="0"/>
              </a:xfrm>
              <a:prstGeom prst="line">
                <a:avLst/>
              </a:prstGeom>
              <a:ln w="38100" cap="flat" cmpd="sng">
                <a:solidFill>
                  <a:schemeClr val="tx2"/>
                </a:solidFill>
                <a:prstDash val="solid"/>
                <a:headEnd type="none" w="med" len="med"/>
                <a:tailEnd type="triangle" w="med" len="med"/>
              </a:ln>
            </p:spPr>
          </p:sp>
          <p:sp>
            <p:nvSpPr>
              <p:cNvPr id="35860" name="Arc 7"/>
              <p:cNvSpPr/>
              <p:nvPr/>
            </p:nvSpPr>
            <p:spPr>
              <a:xfrm flipH="1" flipV="1">
                <a:off x="2742" y="9708"/>
                <a:ext cx="1575" cy="1560"/>
              </a:xfrm>
              <a:custGeom>
                <a:avLst/>
                <a:gdLst/>
                <a:ahLst/>
                <a:cxnLst>
                  <a:cxn ang="0">
                    <a:pos x="0" y="0"/>
                  </a:cxn>
                  <a:cxn ang="0">
                    <a:pos x="1575" y="1560"/>
                  </a:cxn>
                  <a:cxn ang="0">
                    <a:pos x="0" y="156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chemeClr val="tx2">
                    <a:alpha val="100000"/>
                  </a:schemeClr>
                </a:solidFill>
                <a:prstDash val="solid"/>
                <a:round/>
                <a:headEnd type="none" w="med" len="med"/>
                <a:tailEnd type="none" w="med" len="med"/>
              </a:ln>
            </p:spPr>
            <p:txBody>
              <a:bodyPr/>
              <a:p>
                <a:endParaRPr lang="zh-CN" altLang="en-US"/>
              </a:p>
            </p:txBody>
          </p:sp>
          <p:sp>
            <p:nvSpPr>
              <p:cNvPr id="35861" name="Arc 8"/>
              <p:cNvSpPr/>
              <p:nvPr/>
            </p:nvSpPr>
            <p:spPr>
              <a:xfrm flipV="1">
                <a:off x="2532" y="9708"/>
                <a:ext cx="2205" cy="1560"/>
              </a:xfrm>
              <a:custGeom>
                <a:avLst/>
                <a:gdLst/>
                <a:ahLst/>
                <a:cxnLst>
                  <a:cxn ang="0">
                    <a:pos x="0" y="0"/>
                  </a:cxn>
                  <a:cxn ang="0">
                    <a:pos x="2205" y="1560"/>
                  </a:cxn>
                  <a:cxn ang="0">
                    <a:pos x="0" y="156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chemeClr val="tx2">
                    <a:alpha val="100000"/>
                  </a:schemeClr>
                </a:solidFill>
                <a:prstDash val="dash"/>
                <a:round/>
                <a:headEnd type="none" w="med" len="med"/>
                <a:tailEnd type="none" w="med" len="med"/>
              </a:ln>
            </p:spPr>
            <p:txBody>
              <a:bodyPr/>
              <a:p>
                <a:endParaRPr lang="zh-CN" altLang="en-US"/>
              </a:p>
            </p:txBody>
          </p:sp>
          <p:sp>
            <p:nvSpPr>
              <p:cNvPr id="35862" name="Line 9"/>
              <p:cNvSpPr/>
              <p:nvPr/>
            </p:nvSpPr>
            <p:spPr>
              <a:xfrm flipH="1">
                <a:off x="2217" y="11067"/>
                <a:ext cx="1365" cy="0"/>
              </a:xfrm>
              <a:prstGeom prst="line">
                <a:avLst/>
              </a:prstGeom>
              <a:ln w="38100" cap="flat" cmpd="sng">
                <a:solidFill>
                  <a:schemeClr val="tx2"/>
                </a:solidFill>
                <a:prstDash val="dash"/>
                <a:headEnd type="none" w="med" len="med"/>
                <a:tailEnd type="none" w="med" len="med"/>
              </a:ln>
            </p:spPr>
          </p:sp>
          <p:sp>
            <p:nvSpPr>
              <p:cNvPr id="35863" name="Line 10"/>
              <p:cNvSpPr/>
              <p:nvPr/>
            </p:nvSpPr>
            <p:spPr>
              <a:xfrm>
                <a:off x="3582" y="11112"/>
                <a:ext cx="0" cy="624"/>
              </a:xfrm>
              <a:prstGeom prst="line">
                <a:avLst/>
              </a:prstGeom>
              <a:ln w="38100" cap="flat" cmpd="sng">
                <a:solidFill>
                  <a:schemeClr val="tx2"/>
                </a:solidFill>
                <a:prstDash val="dash"/>
                <a:headEnd type="none" w="med" len="med"/>
                <a:tailEnd type="none" w="med" len="med"/>
              </a:ln>
            </p:spPr>
          </p:sp>
          <p:sp>
            <p:nvSpPr>
              <p:cNvPr id="35864" name="Arc 11"/>
              <p:cNvSpPr/>
              <p:nvPr/>
            </p:nvSpPr>
            <p:spPr>
              <a:xfrm flipV="1">
                <a:off x="2322" y="9396"/>
                <a:ext cx="2205" cy="1560"/>
              </a:xfrm>
              <a:custGeom>
                <a:avLst/>
                <a:gdLst/>
                <a:ahLst/>
                <a:cxnLst>
                  <a:cxn ang="0">
                    <a:pos x="0" y="0"/>
                  </a:cxn>
                  <a:cxn ang="0">
                    <a:pos x="2205" y="1560"/>
                  </a:cxn>
                  <a:cxn ang="0">
                    <a:pos x="0" y="156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chemeClr val="tx2">
                    <a:alpha val="100000"/>
                  </a:schemeClr>
                </a:solidFill>
                <a:prstDash val="solid"/>
                <a:round/>
                <a:headEnd type="none" w="med" len="med"/>
                <a:tailEnd type="none" w="med" len="med"/>
              </a:ln>
            </p:spPr>
            <p:txBody>
              <a:bodyPr/>
              <a:p>
                <a:endParaRPr lang="zh-CN" altLang="en-US"/>
              </a:p>
            </p:txBody>
          </p:sp>
          <p:sp>
            <p:nvSpPr>
              <p:cNvPr id="35865" name="Line 12"/>
              <p:cNvSpPr/>
              <p:nvPr/>
            </p:nvSpPr>
            <p:spPr>
              <a:xfrm flipH="1">
                <a:off x="2217" y="10800"/>
                <a:ext cx="945" cy="0"/>
              </a:xfrm>
              <a:prstGeom prst="line">
                <a:avLst/>
              </a:prstGeom>
              <a:ln w="38100" cap="flat" cmpd="sng">
                <a:solidFill>
                  <a:schemeClr val="tx2"/>
                </a:solidFill>
                <a:prstDash val="dash"/>
                <a:headEnd type="none" w="med" len="med"/>
                <a:tailEnd type="none" w="med" len="med"/>
              </a:ln>
            </p:spPr>
          </p:sp>
          <p:sp>
            <p:nvSpPr>
              <p:cNvPr id="35866" name="Line 13"/>
              <p:cNvSpPr/>
              <p:nvPr/>
            </p:nvSpPr>
            <p:spPr>
              <a:xfrm>
                <a:off x="3162" y="10800"/>
                <a:ext cx="0" cy="936"/>
              </a:xfrm>
              <a:prstGeom prst="line">
                <a:avLst/>
              </a:prstGeom>
              <a:ln w="38100" cap="flat" cmpd="sng">
                <a:solidFill>
                  <a:schemeClr val="tx2"/>
                </a:solidFill>
                <a:prstDash val="dash"/>
                <a:headEnd type="none" w="med" len="med"/>
                <a:tailEnd type="none" w="med" len="med"/>
              </a:ln>
            </p:spPr>
          </p:sp>
        </p:grpSp>
        <p:sp>
          <p:nvSpPr>
            <p:cNvPr id="35857" name="Text Box 14"/>
            <p:cNvSpPr txBox="1"/>
            <p:nvPr/>
          </p:nvSpPr>
          <p:spPr>
            <a:xfrm>
              <a:off x="5892" y="4872"/>
              <a:ext cx="4200" cy="2028"/>
            </a:xfrm>
            <a:prstGeom prst="rect">
              <a:avLst/>
            </a:prstGeom>
            <a:solidFill>
              <a:srgbClr val="FFFFFF"/>
            </a:solidFill>
            <a:ln w="38100">
              <a:noFill/>
            </a:ln>
          </p:spPr>
          <p:txBody>
            <a:bodyPr/>
            <a:p>
              <a:pPr algn="just" eaLnBrk="0" hangingPunct="0">
                <a:lnSpc>
                  <a:spcPct val="100000"/>
                </a:lnSpc>
                <a:spcBef>
                  <a:spcPct val="0"/>
                </a:spcBef>
                <a:buNone/>
              </a:pPr>
              <a:r>
                <a:rPr lang="zh-CN" altLang="en-US" sz="4000" dirty="0">
                  <a:solidFill>
                    <a:srgbClr val="000000"/>
                  </a:solidFill>
                  <a:latin typeface="Times New Roman" panose="02020603050405020304" pitchFamily="18" charset="0"/>
                </a:rPr>
                <a:t>供给增加</a:t>
              </a:r>
              <a:endParaRPr lang="zh-CN" altLang="en-US" sz="4000" dirty="0">
                <a:solidFill>
                  <a:srgbClr val="000000"/>
                </a:solidFill>
                <a:latin typeface="Times New Roman" panose="02020603050405020304" pitchFamily="18" charset="0"/>
              </a:endParaRPr>
            </a:p>
            <a:p>
              <a:pPr algn="just" eaLnBrk="0" hangingPunct="0">
                <a:lnSpc>
                  <a:spcPct val="100000"/>
                </a:lnSpc>
                <a:spcBef>
                  <a:spcPct val="0"/>
                </a:spcBef>
                <a:buNone/>
              </a:pPr>
              <a:r>
                <a:rPr lang="en-US" altLang="zh-CN" sz="3200" dirty="0">
                  <a:solidFill>
                    <a:srgbClr val="000000"/>
                  </a:solidFill>
                  <a:latin typeface="Arial Black" panose="020B0A04020102020204" pitchFamily="34" charset="0"/>
                </a:rPr>
                <a:t>P1&lt;P</a:t>
              </a:r>
              <a:endParaRPr lang="en-US" altLang="zh-CN" sz="3200" dirty="0">
                <a:solidFill>
                  <a:srgbClr val="000000"/>
                </a:solidFill>
                <a:latin typeface="Arial Black" panose="020B0A04020102020204" pitchFamily="34" charset="0"/>
              </a:endParaRPr>
            </a:p>
            <a:p>
              <a:pPr algn="just" eaLnBrk="0" hangingPunct="0">
                <a:lnSpc>
                  <a:spcPct val="100000"/>
                </a:lnSpc>
                <a:spcBef>
                  <a:spcPct val="0"/>
                </a:spcBef>
                <a:buNone/>
              </a:pPr>
              <a:r>
                <a:rPr lang="en-US" altLang="zh-CN" sz="3200" dirty="0">
                  <a:solidFill>
                    <a:srgbClr val="000000"/>
                  </a:solidFill>
                  <a:latin typeface="Arial Black" panose="020B0A04020102020204" pitchFamily="34" charset="0"/>
                </a:rPr>
                <a:t>Q1&gt;Q</a:t>
              </a:r>
              <a:endParaRPr lang="en-US" altLang="zh-CN" sz="3200" dirty="0">
                <a:solidFill>
                  <a:srgbClr val="000000"/>
                </a:solidFill>
                <a:latin typeface="Arial Black" panose="020B0A04020102020204" pitchFamily="34" charset="0"/>
              </a:endParaRPr>
            </a:p>
          </p:txBody>
        </p:sp>
      </p:grpSp>
      <p:sp>
        <p:nvSpPr>
          <p:cNvPr id="35844" name="Text Box 15"/>
          <p:cNvSpPr txBox="1"/>
          <p:nvPr/>
        </p:nvSpPr>
        <p:spPr>
          <a:xfrm>
            <a:off x="2555875" y="4437063"/>
            <a:ext cx="792163"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E1</a:t>
            </a:r>
            <a:endParaRPr lang="en-US" altLang="zh-CN" sz="2400" b="0" dirty="0">
              <a:latin typeface="Times New Roman" panose="02020603050405020304" pitchFamily="18" charset="0"/>
            </a:endParaRPr>
          </a:p>
        </p:txBody>
      </p:sp>
      <p:sp>
        <p:nvSpPr>
          <p:cNvPr id="35845" name="Text Box 16"/>
          <p:cNvSpPr txBox="1"/>
          <p:nvPr/>
        </p:nvSpPr>
        <p:spPr>
          <a:xfrm>
            <a:off x="3563938" y="2349500"/>
            <a:ext cx="792162"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S1</a:t>
            </a:r>
            <a:endParaRPr lang="en-US" altLang="zh-CN" sz="2400" b="0" dirty="0">
              <a:latin typeface="Times New Roman" panose="02020603050405020304" pitchFamily="18" charset="0"/>
            </a:endParaRPr>
          </a:p>
        </p:txBody>
      </p:sp>
      <p:sp>
        <p:nvSpPr>
          <p:cNvPr id="35846" name="Text Box 17"/>
          <p:cNvSpPr txBox="1"/>
          <p:nvPr/>
        </p:nvSpPr>
        <p:spPr>
          <a:xfrm>
            <a:off x="2987675" y="1773238"/>
            <a:ext cx="792163"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S</a:t>
            </a:r>
            <a:endParaRPr lang="en-US" altLang="zh-CN" sz="2400" b="0" dirty="0">
              <a:latin typeface="Times New Roman" panose="02020603050405020304" pitchFamily="18" charset="0"/>
            </a:endParaRPr>
          </a:p>
        </p:txBody>
      </p:sp>
      <p:sp>
        <p:nvSpPr>
          <p:cNvPr id="35847" name="Text Box 18"/>
          <p:cNvSpPr txBox="1"/>
          <p:nvPr/>
        </p:nvSpPr>
        <p:spPr>
          <a:xfrm>
            <a:off x="3203575" y="4941888"/>
            <a:ext cx="792163"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D</a:t>
            </a:r>
            <a:endParaRPr lang="en-US" altLang="zh-CN" sz="2400" b="0" dirty="0">
              <a:latin typeface="Times New Roman" panose="02020603050405020304" pitchFamily="18" charset="0"/>
            </a:endParaRPr>
          </a:p>
        </p:txBody>
      </p:sp>
      <p:sp>
        <p:nvSpPr>
          <p:cNvPr id="35848" name="Text Box 19"/>
          <p:cNvSpPr txBox="1"/>
          <p:nvPr/>
        </p:nvSpPr>
        <p:spPr>
          <a:xfrm>
            <a:off x="1763713" y="5734050"/>
            <a:ext cx="792162"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a:t>
            </a:r>
            <a:endParaRPr lang="en-US" altLang="zh-CN" sz="2400" b="0" dirty="0">
              <a:latin typeface="Times New Roman" panose="02020603050405020304" pitchFamily="18" charset="0"/>
            </a:endParaRPr>
          </a:p>
        </p:txBody>
      </p:sp>
      <p:sp>
        <p:nvSpPr>
          <p:cNvPr id="35849" name="Text Box 20"/>
          <p:cNvSpPr txBox="1"/>
          <p:nvPr/>
        </p:nvSpPr>
        <p:spPr>
          <a:xfrm>
            <a:off x="2339975" y="5734050"/>
            <a:ext cx="792163"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Q1</a:t>
            </a:r>
            <a:endParaRPr lang="en-US" altLang="zh-CN" sz="2400" b="0" dirty="0">
              <a:latin typeface="Times New Roman" panose="02020603050405020304" pitchFamily="18" charset="0"/>
            </a:endParaRPr>
          </a:p>
        </p:txBody>
      </p:sp>
      <p:sp>
        <p:nvSpPr>
          <p:cNvPr id="35850" name="Text Box 21"/>
          <p:cNvSpPr txBox="1"/>
          <p:nvPr/>
        </p:nvSpPr>
        <p:spPr>
          <a:xfrm>
            <a:off x="4211638" y="5734050"/>
            <a:ext cx="792162"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a:t>
            </a:r>
            <a:endParaRPr lang="en-US" altLang="zh-CN" sz="2400" b="0" dirty="0">
              <a:latin typeface="Times New Roman" panose="02020603050405020304" pitchFamily="18" charset="0"/>
            </a:endParaRPr>
          </a:p>
        </p:txBody>
      </p:sp>
      <p:sp>
        <p:nvSpPr>
          <p:cNvPr id="35851" name="Text Box 22"/>
          <p:cNvSpPr txBox="1"/>
          <p:nvPr/>
        </p:nvSpPr>
        <p:spPr>
          <a:xfrm>
            <a:off x="539750" y="4508500"/>
            <a:ext cx="792163"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P1</a:t>
            </a:r>
            <a:endParaRPr lang="en-US" altLang="zh-CN" sz="2400" b="0" dirty="0">
              <a:latin typeface="Times New Roman" panose="02020603050405020304" pitchFamily="18" charset="0"/>
            </a:endParaRPr>
          </a:p>
        </p:txBody>
      </p:sp>
      <p:sp>
        <p:nvSpPr>
          <p:cNvPr id="35852" name="Text Box 23"/>
          <p:cNvSpPr txBox="1"/>
          <p:nvPr/>
        </p:nvSpPr>
        <p:spPr>
          <a:xfrm>
            <a:off x="539750" y="1844675"/>
            <a:ext cx="792163"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
        <p:nvSpPr>
          <p:cNvPr id="35853" name="Text Box 24"/>
          <p:cNvSpPr txBox="1"/>
          <p:nvPr/>
        </p:nvSpPr>
        <p:spPr>
          <a:xfrm>
            <a:off x="539750" y="4005263"/>
            <a:ext cx="792163"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
        <p:nvSpPr>
          <p:cNvPr id="35854" name="Text Box 25"/>
          <p:cNvSpPr txBox="1"/>
          <p:nvPr/>
        </p:nvSpPr>
        <p:spPr>
          <a:xfrm>
            <a:off x="611188" y="5734050"/>
            <a:ext cx="792162"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0</a:t>
            </a:r>
            <a:endParaRPr lang="en-US" altLang="zh-CN" sz="2400" b="0" dirty="0">
              <a:latin typeface="Times New Roman" panose="02020603050405020304" pitchFamily="18" charset="0"/>
            </a:endParaRPr>
          </a:p>
        </p:txBody>
      </p:sp>
      <p:sp>
        <p:nvSpPr>
          <p:cNvPr id="35855" name="Text Box 26"/>
          <p:cNvSpPr txBox="1"/>
          <p:nvPr/>
        </p:nvSpPr>
        <p:spPr>
          <a:xfrm>
            <a:off x="1979613" y="3573463"/>
            <a:ext cx="792162"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E</a:t>
            </a:r>
            <a:endParaRPr lang="en-US" altLang="zh-CN" sz="2400" b="0" dirty="0">
              <a:latin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a:xfrm>
            <a:off x="250825" y="0"/>
            <a:ext cx="8642350" cy="836613"/>
          </a:xfrm>
          <a:ln/>
        </p:spPr>
        <p:txBody>
          <a:bodyPr vert="horz" wrap="square" lIns="91440" tIns="45720" rIns="91440" bIns="45720" anchor="ctr" anchorCtr="0"/>
          <a:p>
            <a:pPr eaLnBrk="1" hangingPunct="1"/>
            <a:r>
              <a:rPr lang="zh-CN" altLang="en-US" sz="3600" b="1" dirty="0">
                <a:solidFill>
                  <a:srgbClr val="FF0000"/>
                </a:solidFill>
                <a:latin typeface="宋体" panose="02010600030101010101" pitchFamily="2" charset="-122"/>
              </a:rPr>
              <a:t>第三、	需求曲线和供给曲线同方向变动</a:t>
            </a:r>
            <a:endParaRPr lang="zh-CN" altLang="en-US" sz="3600" b="1" dirty="0">
              <a:solidFill>
                <a:srgbClr val="FF0000"/>
              </a:solidFill>
              <a:latin typeface="宋体" panose="02010600030101010101" pitchFamily="2" charset="-122"/>
            </a:endParaRPr>
          </a:p>
        </p:txBody>
      </p:sp>
      <p:sp>
        <p:nvSpPr>
          <p:cNvPr id="36867" name="Line 3"/>
          <p:cNvSpPr/>
          <p:nvPr/>
        </p:nvSpPr>
        <p:spPr>
          <a:xfrm flipV="1">
            <a:off x="1619250" y="1125538"/>
            <a:ext cx="0" cy="5183187"/>
          </a:xfrm>
          <a:prstGeom prst="line">
            <a:avLst/>
          </a:prstGeom>
          <a:ln w="38100" cap="flat" cmpd="sng">
            <a:solidFill>
              <a:schemeClr val="tx2"/>
            </a:solidFill>
            <a:prstDash val="solid"/>
            <a:headEnd type="none" w="med" len="med"/>
            <a:tailEnd type="stealth" w="lg" len="lg"/>
          </a:ln>
        </p:spPr>
      </p:sp>
      <p:sp>
        <p:nvSpPr>
          <p:cNvPr id="36868" name="Line 4"/>
          <p:cNvSpPr/>
          <p:nvPr/>
        </p:nvSpPr>
        <p:spPr>
          <a:xfrm>
            <a:off x="1619250" y="6308725"/>
            <a:ext cx="6337300" cy="0"/>
          </a:xfrm>
          <a:prstGeom prst="line">
            <a:avLst/>
          </a:prstGeom>
          <a:ln w="38100" cap="flat" cmpd="sng">
            <a:solidFill>
              <a:schemeClr val="tx2"/>
            </a:solidFill>
            <a:prstDash val="solid"/>
            <a:headEnd type="none" w="med" len="med"/>
            <a:tailEnd type="stealth" w="lg" len="lg"/>
          </a:ln>
        </p:spPr>
      </p:sp>
      <p:sp>
        <p:nvSpPr>
          <p:cNvPr id="36869" name="Freeform 5"/>
          <p:cNvSpPr/>
          <p:nvPr/>
        </p:nvSpPr>
        <p:spPr>
          <a:xfrm>
            <a:off x="2627313" y="1412875"/>
            <a:ext cx="3960812" cy="4032250"/>
          </a:xfrm>
          <a:custGeom>
            <a:avLst/>
            <a:gdLst/>
            <a:ahLst/>
            <a:cxnLst>
              <a:cxn ang="0">
                <a:pos x="0" y="4032250"/>
              </a:cxn>
              <a:cxn ang="0">
                <a:pos x="3240087" y="2087563"/>
              </a:cxn>
              <a:cxn ang="0">
                <a:pos x="3960812" y="0"/>
              </a:cxn>
            </a:cxnLst>
            <a:pathLst>
              <a:path w="2495" h="2540">
                <a:moveTo>
                  <a:pt x="0" y="2540"/>
                </a:moveTo>
                <a:cubicBezTo>
                  <a:pt x="812" y="2139"/>
                  <a:pt x="1625" y="1738"/>
                  <a:pt x="2041" y="1315"/>
                </a:cubicBezTo>
                <a:cubicBezTo>
                  <a:pt x="2457" y="892"/>
                  <a:pt x="2476" y="446"/>
                  <a:pt x="2495" y="0"/>
                </a:cubicBezTo>
              </a:path>
            </a:pathLst>
          </a:custGeom>
          <a:noFill/>
          <a:ln w="31750" cap="flat" cmpd="sng">
            <a:solidFill>
              <a:schemeClr val="tx2">
                <a:alpha val="100000"/>
              </a:schemeClr>
            </a:solidFill>
            <a:prstDash val="solid"/>
            <a:round/>
            <a:headEnd type="none" w="med" len="med"/>
            <a:tailEnd type="none" w="med" len="med"/>
          </a:ln>
        </p:spPr>
        <p:txBody>
          <a:bodyPr/>
          <a:p>
            <a:endParaRPr lang="zh-CN" altLang="en-US"/>
          </a:p>
        </p:txBody>
      </p:sp>
      <p:sp>
        <p:nvSpPr>
          <p:cNvPr id="36870" name="Freeform 6"/>
          <p:cNvSpPr/>
          <p:nvPr/>
        </p:nvSpPr>
        <p:spPr>
          <a:xfrm>
            <a:off x="2916238" y="1484313"/>
            <a:ext cx="4319587" cy="4249737"/>
          </a:xfrm>
          <a:custGeom>
            <a:avLst/>
            <a:gdLst/>
            <a:ahLst/>
            <a:cxnLst>
              <a:cxn ang="0">
                <a:pos x="0" y="4249737"/>
              </a:cxn>
              <a:cxn ang="0">
                <a:pos x="3469525" y="2228539"/>
              </a:cxn>
              <a:cxn ang="0">
                <a:pos x="4319587" y="0"/>
              </a:cxn>
            </a:cxnLst>
            <a:pathLst>
              <a:path w="2993" h="2767">
                <a:moveTo>
                  <a:pt x="0" y="2767"/>
                </a:moveTo>
                <a:cubicBezTo>
                  <a:pt x="952" y="2339"/>
                  <a:pt x="1905" y="1912"/>
                  <a:pt x="2404" y="1451"/>
                </a:cubicBezTo>
                <a:cubicBezTo>
                  <a:pt x="2903" y="990"/>
                  <a:pt x="2948" y="495"/>
                  <a:pt x="2993" y="0"/>
                </a:cubicBezTo>
              </a:path>
            </a:pathLst>
          </a:custGeom>
          <a:noFill/>
          <a:ln w="25400" cap="flat" cmpd="sng">
            <a:solidFill>
              <a:schemeClr val="tx2">
                <a:alpha val="100000"/>
              </a:schemeClr>
            </a:solidFill>
            <a:prstDash val="dash"/>
            <a:round/>
            <a:headEnd type="none" w="med" len="med"/>
            <a:tailEnd type="none" w="med" len="med"/>
          </a:ln>
        </p:spPr>
        <p:txBody>
          <a:bodyPr/>
          <a:p>
            <a:endParaRPr lang="zh-CN" altLang="en-US"/>
          </a:p>
        </p:txBody>
      </p:sp>
      <p:sp>
        <p:nvSpPr>
          <p:cNvPr id="36871" name="Freeform 7"/>
          <p:cNvSpPr/>
          <p:nvPr/>
        </p:nvSpPr>
        <p:spPr>
          <a:xfrm>
            <a:off x="3203575" y="2420938"/>
            <a:ext cx="4681538" cy="2808287"/>
          </a:xfrm>
          <a:custGeom>
            <a:avLst/>
            <a:gdLst/>
            <a:ahLst/>
            <a:cxnLst>
              <a:cxn ang="0">
                <a:pos x="0" y="0"/>
              </a:cxn>
              <a:cxn ang="0">
                <a:pos x="1368425" y="2016125"/>
              </a:cxn>
              <a:cxn ang="0">
                <a:pos x="4681538" y="2808287"/>
              </a:cxn>
            </a:cxnLst>
            <a:pathLst>
              <a:path w="2949" h="1769">
                <a:moveTo>
                  <a:pt x="0" y="0"/>
                </a:moveTo>
                <a:cubicBezTo>
                  <a:pt x="185" y="487"/>
                  <a:pt x="370" y="975"/>
                  <a:pt x="862" y="1270"/>
                </a:cubicBezTo>
                <a:cubicBezTo>
                  <a:pt x="1354" y="1565"/>
                  <a:pt x="2151" y="1667"/>
                  <a:pt x="2949" y="1769"/>
                </a:cubicBezTo>
              </a:path>
            </a:pathLst>
          </a:custGeom>
          <a:noFill/>
          <a:ln w="31750" cap="flat" cmpd="sng">
            <a:solidFill>
              <a:schemeClr val="tx2">
                <a:alpha val="100000"/>
              </a:schemeClr>
            </a:solidFill>
            <a:prstDash val="solid"/>
            <a:round/>
            <a:headEnd type="none" w="med" len="med"/>
            <a:tailEnd type="none" w="med" len="med"/>
          </a:ln>
        </p:spPr>
        <p:txBody>
          <a:bodyPr/>
          <a:p>
            <a:endParaRPr lang="zh-CN" altLang="en-US"/>
          </a:p>
        </p:txBody>
      </p:sp>
      <p:sp>
        <p:nvSpPr>
          <p:cNvPr id="36872" name="Freeform 8"/>
          <p:cNvSpPr/>
          <p:nvPr/>
        </p:nvSpPr>
        <p:spPr>
          <a:xfrm>
            <a:off x="4140200" y="1989138"/>
            <a:ext cx="3960813" cy="2519362"/>
          </a:xfrm>
          <a:custGeom>
            <a:avLst/>
            <a:gdLst/>
            <a:ahLst/>
            <a:cxnLst>
              <a:cxn ang="0">
                <a:pos x="0" y="0"/>
              </a:cxn>
              <a:cxn ang="0">
                <a:pos x="1511300" y="1727200"/>
              </a:cxn>
              <a:cxn ang="0">
                <a:pos x="3960813" y="2519362"/>
              </a:cxn>
            </a:cxnLst>
            <a:pathLst>
              <a:path w="2495" h="1587">
                <a:moveTo>
                  <a:pt x="0" y="0"/>
                </a:moveTo>
                <a:cubicBezTo>
                  <a:pt x="268" y="411"/>
                  <a:pt x="536" y="823"/>
                  <a:pt x="952" y="1088"/>
                </a:cubicBezTo>
                <a:cubicBezTo>
                  <a:pt x="1368" y="1353"/>
                  <a:pt x="1931" y="1470"/>
                  <a:pt x="2495" y="1587"/>
                </a:cubicBezTo>
              </a:path>
            </a:pathLst>
          </a:custGeom>
          <a:noFill/>
          <a:ln w="25400" cap="flat" cmpd="sng">
            <a:solidFill>
              <a:schemeClr val="tx2">
                <a:alpha val="100000"/>
              </a:schemeClr>
            </a:solidFill>
            <a:prstDash val="dash"/>
            <a:round/>
            <a:headEnd type="none" w="med" len="med"/>
            <a:tailEnd type="none" w="med" len="med"/>
          </a:ln>
        </p:spPr>
        <p:txBody>
          <a:bodyPr/>
          <a:p>
            <a:endParaRPr lang="zh-CN" altLang="en-US"/>
          </a:p>
        </p:txBody>
      </p:sp>
      <p:sp>
        <p:nvSpPr>
          <p:cNvPr id="36873" name="Line 9"/>
          <p:cNvSpPr/>
          <p:nvPr/>
        </p:nvSpPr>
        <p:spPr>
          <a:xfrm>
            <a:off x="4572000" y="4437063"/>
            <a:ext cx="0" cy="1871662"/>
          </a:xfrm>
          <a:prstGeom prst="line">
            <a:avLst/>
          </a:prstGeom>
          <a:ln w="28575" cap="flat" cmpd="sng">
            <a:solidFill>
              <a:schemeClr val="tx2"/>
            </a:solidFill>
            <a:prstDash val="solid"/>
            <a:headEnd type="none" w="med" len="med"/>
            <a:tailEnd type="none" w="med" len="med"/>
          </a:ln>
        </p:spPr>
      </p:sp>
      <p:sp>
        <p:nvSpPr>
          <p:cNvPr id="36874" name="Line 10"/>
          <p:cNvSpPr/>
          <p:nvPr/>
        </p:nvSpPr>
        <p:spPr>
          <a:xfrm flipH="1">
            <a:off x="1619250" y="4437063"/>
            <a:ext cx="2952750" cy="0"/>
          </a:xfrm>
          <a:prstGeom prst="line">
            <a:avLst/>
          </a:prstGeom>
          <a:ln w="28575" cap="flat" cmpd="sng">
            <a:solidFill>
              <a:schemeClr val="tx2"/>
            </a:solidFill>
            <a:prstDash val="solid"/>
            <a:headEnd type="none" w="med" len="med"/>
            <a:tailEnd type="none" w="med" len="med"/>
          </a:ln>
        </p:spPr>
      </p:sp>
      <p:sp>
        <p:nvSpPr>
          <p:cNvPr id="36875" name="Line 11"/>
          <p:cNvSpPr/>
          <p:nvPr/>
        </p:nvSpPr>
        <p:spPr>
          <a:xfrm>
            <a:off x="6084888" y="3933825"/>
            <a:ext cx="0" cy="2374900"/>
          </a:xfrm>
          <a:prstGeom prst="line">
            <a:avLst/>
          </a:prstGeom>
          <a:ln w="28575" cap="flat" cmpd="sng">
            <a:solidFill>
              <a:schemeClr val="tx2"/>
            </a:solidFill>
            <a:prstDash val="solid"/>
            <a:headEnd type="none" w="med" len="med"/>
            <a:tailEnd type="none" w="med" len="med"/>
          </a:ln>
        </p:spPr>
      </p:sp>
      <p:sp>
        <p:nvSpPr>
          <p:cNvPr id="36876" name="Line 12"/>
          <p:cNvSpPr/>
          <p:nvPr/>
        </p:nvSpPr>
        <p:spPr>
          <a:xfrm flipH="1">
            <a:off x="1619250" y="3933825"/>
            <a:ext cx="4465638" cy="0"/>
          </a:xfrm>
          <a:prstGeom prst="line">
            <a:avLst/>
          </a:prstGeom>
          <a:ln w="28575" cap="flat" cmpd="sng">
            <a:solidFill>
              <a:schemeClr val="tx2"/>
            </a:solidFill>
            <a:prstDash val="solid"/>
            <a:headEnd type="none" w="med" len="med"/>
            <a:tailEnd type="none" w="med" len="med"/>
          </a:ln>
        </p:spPr>
      </p:sp>
      <p:sp>
        <p:nvSpPr>
          <p:cNvPr id="36877" name="Text Box 13"/>
          <p:cNvSpPr txBox="1"/>
          <p:nvPr/>
        </p:nvSpPr>
        <p:spPr>
          <a:xfrm>
            <a:off x="5867400" y="3429000"/>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E1</a:t>
            </a:r>
            <a:endParaRPr lang="en-US" altLang="zh-CN" sz="2400" b="0" dirty="0">
              <a:latin typeface="Times New Roman" panose="02020603050405020304" pitchFamily="18" charset="0"/>
            </a:endParaRPr>
          </a:p>
        </p:txBody>
      </p:sp>
      <p:sp>
        <p:nvSpPr>
          <p:cNvPr id="36878" name="Text Box 14"/>
          <p:cNvSpPr txBox="1"/>
          <p:nvPr/>
        </p:nvSpPr>
        <p:spPr>
          <a:xfrm>
            <a:off x="4427538" y="3933825"/>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E</a:t>
            </a:r>
            <a:endParaRPr lang="en-US" altLang="zh-CN" sz="2400" b="0" dirty="0">
              <a:latin typeface="Times New Roman" panose="02020603050405020304" pitchFamily="18" charset="0"/>
            </a:endParaRPr>
          </a:p>
        </p:txBody>
      </p:sp>
      <p:sp>
        <p:nvSpPr>
          <p:cNvPr id="36879" name="Text Box 15"/>
          <p:cNvSpPr txBox="1"/>
          <p:nvPr/>
        </p:nvSpPr>
        <p:spPr>
          <a:xfrm>
            <a:off x="7235825" y="1196975"/>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S1</a:t>
            </a:r>
            <a:endParaRPr lang="en-US" altLang="zh-CN" sz="2400" b="0" dirty="0">
              <a:latin typeface="Times New Roman" panose="02020603050405020304" pitchFamily="18" charset="0"/>
            </a:endParaRPr>
          </a:p>
        </p:txBody>
      </p:sp>
      <p:sp>
        <p:nvSpPr>
          <p:cNvPr id="36880" name="Text Box 16"/>
          <p:cNvSpPr txBox="1"/>
          <p:nvPr/>
        </p:nvSpPr>
        <p:spPr>
          <a:xfrm>
            <a:off x="7956550" y="4365625"/>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D1</a:t>
            </a:r>
            <a:endParaRPr lang="en-US" altLang="zh-CN" sz="2400" b="0" dirty="0">
              <a:latin typeface="Times New Roman" panose="02020603050405020304" pitchFamily="18" charset="0"/>
            </a:endParaRPr>
          </a:p>
        </p:txBody>
      </p:sp>
      <p:sp>
        <p:nvSpPr>
          <p:cNvPr id="36881" name="Text Box 17"/>
          <p:cNvSpPr txBox="1"/>
          <p:nvPr/>
        </p:nvSpPr>
        <p:spPr>
          <a:xfrm>
            <a:off x="6156325" y="1268413"/>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S</a:t>
            </a:r>
            <a:endParaRPr lang="en-US" altLang="zh-CN" sz="2400" b="0" dirty="0">
              <a:latin typeface="Times New Roman" panose="02020603050405020304" pitchFamily="18" charset="0"/>
            </a:endParaRPr>
          </a:p>
        </p:txBody>
      </p:sp>
      <p:sp>
        <p:nvSpPr>
          <p:cNvPr id="36882" name="Text Box 18"/>
          <p:cNvSpPr txBox="1"/>
          <p:nvPr/>
        </p:nvSpPr>
        <p:spPr>
          <a:xfrm>
            <a:off x="7740650" y="5157788"/>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D</a:t>
            </a:r>
            <a:endParaRPr lang="en-US" altLang="zh-CN" sz="2400" b="0" dirty="0">
              <a:latin typeface="Times New Roman" panose="02020603050405020304" pitchFamily="18" charset="0"/>
            </a:endParaRPr>
          </a:p>
        </p:txBody>
      </p:sp>
      <p:sp>
        <p:nvSpPr>
          <p:cNvPr id="36883" name="Text Box 19"/>
          <p:cNvSpPr txBox="1"/>
          <p:nvPr/>
        </p:nvSpPr>
        <p:spPr>
          <a:xfrm>
            <a:off x="7956550" y="6165850"/>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a:t>
            </a:r>
            <a:endParaRPr lang="en-US" altLang="zh-CN" sz="2400" b="0" dirty="0">
              <a:latin typeface="Times New Roman" panose="02020603050405020304" pitchFamily="18" charset="0"/>
            </a:endParaRPr>
          </a:p>
        </p:txBody>
      </p:sp>
      <p:sp>
        <p:nvSpPr>
          <p:cNvPr id="36884" name="Text Box 20"/>
          <p:cNvSpPr txBox="1"/>
          <p:nvPr/>
        </p:nvSpPr>
        <p:spPr>
          <a:xfrm>
            <a:off x="5867400" y="6400800"/>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Q1</a:t>
            </a:r>
            <a:endParaRPr lang="en-US" altLang="zh-CN" sz="2400" b="0" dirty="0">
              <a:latin typeface="Times New Roman" panose="02020603050405020304" pitchFamily="18" charset="0"/>
            </a:endParaRPr>
          </a:p>
        </p:txBody>
      </p:sp>
      <p:sp>
        <p:nvSpPr>
          <p:cNvPr id="36885" name="Text Box 21"/>
          <p:cNvSpPr txBox="1"/>
          <p:nvPr/>
        </p:nvSpPr>
        <p:spPr>
          <a:xfrm>
            <a:off x="4284663" y="6400800"/>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a:t>
            </a:r>
            <a:endParaRPr lang="en-US" altLang="zh-CN" sz="2400" b="0" dirty="0">
              <a:latin typeface="Times New Roman" panose="02020603050405020304" pitchFamily="18" charset="0"/>
            </a:endParaRPr>
          </a:p>
        </p:txBody>
      </p:sp>
      <p:sp>
        <p:nvSpPr>
          <p:cNvPr id="36886" name="Text Box 22"/>
          <p:cNvSpPr txBox="1"/>
          <p:nvPr/>
        </p:nvSpPr>
        <p:spPr>
          <a:xfrm>
            <a:off x="1187450" y="4292600"/>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
        <p:nvSpPr>
          <p:cNvPr id="36887" name="Text Box 23"/>
          <p:cNvSpPr txBox="1"/>
          <p:nvPr/>
        </p:nvSpPr>
        <p:spPr>
          <a:xfrm>
            <a:off x="1187450" y="3716338"/>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P1</a:t>
            </a:r>
            <a:endParaRPr lang="en-US" altLang="zh-CN" sz="2400" b="0" dirty="0">
              <a:latin typeface="Times New Roman" panose="02020603050405020304" pitchFamily="18" charset="0"/>
            </a:endParaRPr>
          </a:p>
        </p:txBody>
      </p:sp>
      <p:sp>
        <p:nvSpPr>
          <p:cNvPr id="36888" name="Text Box 24"/>
          <p:cNvSpPr txBox="1"/>
          <p:nvPr/>
        </p:nvSpPr>
        <p:spPr>
          <a:xfrm>
            <a:off x="1258888" y="1052513"/>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
        <p:nvSpPr>
          <p:cNvPr id="36889" name="Text Box 25"/>
          <p:cNvSpPr txBox="1"/>
          <p:nvPr/>
        </p:nvSpPr>
        <p:spPr>
          <a:xfrm>
            <a:off x="1258888" y="6165850"/>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0</a:t>
            </a:r>
            <a:endParaRPr lang="en-US" altLang="zh-CN" sz="2400" b="0" dirty="0">
              <a:latin typeface="Times New Roman" panose="02020603050405020304" pitchFamily="18" charset="0"/>
            </a:endParaRPr>
          </a:p>
        </p:txBody>
      </p:sp>
      <p:sp>
        <p:nvSpPr>
          <p:cNvPr id="36890" name="Text Box 26"/>
          <p:cNvSpPr txBox="1"/>
          <p:nvPr/>
        </p:nvSpPr>
        <p:spPr>
          <a:xfrm>
            <a:off x="7380288" y="2420938"/>
            <a:ext cx="1524000" cy="1004887"/>
          </a:xfrm>
          <a:prstGeom prst="rect">
            <a:avLst/>
          </a:prstGeom>
          <a:noFill/>
          <a:ln w="9525">
            <a:noFill/>
          </a:ln>
        </p:spPr>
        <p:txBody>
          <a:bodyPr>
            <a:spAutoFit/>
          </a:bodyPr>
          <a:p>
            <a:pPr>
              <a:lnSpc>
                <a:spcPct val="100000"/>
              </a:lnSpc>
              <a:spcBef>
                <a:spcPct val="50000"/>
              </a:spcBef>
              <a:buNone/>
            </a:pPr>
            <a:r>
              <a:rPr lang="en-US" altLang="zh-CN" sz="2400" dirty="0">
                <a:solidFill>
                  <a:srgbClr val="000000"/>
                </a:solidFill>
                <a:latin typeface="Arial Black" panose="020B0A04020102020204" pitchFamily="34" charset="0"/>
              </a:rPr>
              <a:t>P1&gt;P</a:t>
            </a:r>
            <a:endParaRPr lang="en-US" altLang="zh-CN" sz="2400" dirty="0">
              <a:solidFill>
                <a:srgbClr val="000000"/>
              </a:solidFill>
              <a:latin typeface="Arial Black" panose="020B0A04020102020204" pitchFamily="34" charset="0"/>
            </a:endParaRPr>
          </a:p>
          <a:p>
            <a:pPr>
              <a:lnSpc>
                <a:spcPct val="100000"/>
              </a:lnSpc>
              <a:spcBef>
                <a:spcPct val="50000"/>
              </a:spcBef>
              <a:buNone/>
            </a:pPr>
            <a:r>
              <a:rPr lang="en-US" altLang="zh-CN" sz="2400" dirty="0">
                <a:solidFill>
                  <a:srgbClr val="000000"/>
                </a:solidFill>
                <a:latin typeface="Arial Black" panose="020B0A04020102020204" pitchFamily="34" charset="0"/>
              </a:rPr>
              <a:t>Q1&gt;Q</a:t>
            </a:r>
            <a:endParaRPr lang="en-US" altLang="zh-CN" sz="2400" dirty="0">
              <a:solidFill>
                <a:srgbClr val="000000"/>
              </a:solidFill>
              <a:latin typeface="Arial Black" panose="020B0A040201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p:nvPr>
        </p:nvSpPr>
        <p:spPr>
          <a:xfrm>
            <a:off x="250825" y="0"/>
            <a:ext cx="8642350" cy="836613"/>
          </a:xfrm>
          <a:ln/>
        </p:spPr>
        <p:txBody>
          <a:bodyPr vert="horz" wrap="square" lIns="91440" tIns="45720" rIns="91440" bIns="45720" anchor="ctr" anchorCtr="0"/>
          <a:p>
            <a:pPr eaLnBrk="1" hangingPunct="1"/>
            <a:r>
              <a:rPr lang="zh-CN" altLang="en-US" sz="3600" b="1" dirty="0">
                <a:solidFill>
                  <a:srgbClr val="FF0000"/>
                </a:solidFill>
                <a:latin typeface="宋体" panose="02010600030101010101" pitchFamily="2" charset="-122"/>
              </a:rPr>
              <a:t>第三、	需求曲线和供给曲线同方向变动</a:t>
            </a:r>
            <a:endParaRPr lang="zh-CN" altLang="en-US" sz="3600" b="1" dirty="0">
              <a:solidFill>
                <a:srgbClr val="FF0000"/>
              </a:solidFill>
              <a:latin typeface="宋体" panose="02010600030101010101" pitchFamily="2" charset="-122"/>
            </a:endParaRPr>
          </a:p>
        </p:txBody>
      </p:sp>
      <p:sp>
        <p:nvSpPr>
          <p:cNvPr id="37891" name="Line 3"/>
          <p:cNvSpPr/>
          <p:nvPr/>
        </p:nvSpPr>
        <p:spPr>
          <a:xfrm flipV="1">
            <a:off x="1619250" y="1125538"/>
            <a:ext cx="0" cy="5183187"/>
          </a:xfrm>
          <a:prstGeom prst="line">
            <a:avLst/>
          </a:prstGeom>
          <a:ln w="38100" cap="flat" cmpd="sng">
            <a:solidFill>
              <a:schemeClr val="tx2"/>
            </a:solidFill>
            <a:prstDash val="solid"/>
            <a:headEnd type="none" w="med" len="med"/>
            <a:tailEnd type="stealth" w="lg" len="lg"/>
          </a:ln>
        </p:spPr>
      </p:sp>
      <p:sp>
        <p:nvSpPr>
          <p:cNvPr id="37892" name="Line 4"/>
          <p:cNvSpPr/>
          <p:nvPr/>
        </p:nvSpPr>
        <p:spPr>
          <a:xfrm>
            <a:off x="1619250" y="6308725"/>
            <a:ext cx="6337300" cy="0"/>
          </a:xfrm>
          <a:prstGeom prst="line">
            <a:avLst/>
          </a:prstGeom>
          <a:ln w="38100" cap="flat" cmpd="sng">
            <a:solidFill>
              <a:schemeClr val="tx2"/>
            </a:solidFill>
            <a:prstDash val="solid"/>
            <a:headEnd type="none" w="med" len="med"/>
            <a:tailEnd type="stealth" w="lg" len="lg"/>
          </a:ln>
        </p:spPr>
      </p:sp>
      <p:sp>
        <p:nvSpPr>
          <p:cNvPr id="37893" name="Freeform 5"/>
          <p:cNvSpPr/>
          <p:nvPr/>
        </p:nvSpPr>
        <p:spPr>
          <a:xfrm>
            <a:off x="2627313" y="1412875"/>
            <a:ext cx="3960812" cy="4032250"/>
          </a:xfrm>
          <a:custGeom>
            <a:avLst/>
            <a:gdLst/>
            <a:ahLst/>
            <a:cxnLst>
              <a:cxn ang="0">
                <a:pos x="0" y="4032250"/>
              </a:cxn>
              <a:cxn ang="0">
                <a:pos x="3240087" y="2087563"/>
              </a:cxn>
              <a:cxn ang="0">
                <a:pos x="3960812" y="0"/>
              </a:cxn>
            </a:cxnLst>
            <a:pathLst>
              <a:path w="2495" h="2540">
                <a:moveTo>
                  <a:pt x="0" y="2540"/>
                </a:moveTo>
                <a:cubicBezTo>
                  <a:pt x="812" y="2139"/>
                  <a:pt x="1625" y="1738"/>
                  <a:pt x="2041" y="1315"/>
                </a:cubicBezTo>
                <a:cubicBezTo>
                  <a:pt x="2457" y="892"/>
                  <a:pt x="2476" y="446"/>
                  <a:pt x="2495" y="0"/>
                </a:cubicBezTo>
              </a:path>
            </a:pathLst>
          </a:custGeom>
          <a:noFill/>
          <a:ln w="31750" cap="flat" cmpd="sng">
            <a:solidFill>
              <a:schemeClr val="tx2">
                <a:alpha val="100000"/>
              </a:schemeClr>
            </a:solidFill>
            <a:prstDash val="solid"/>
            <a:round/>
            <a:headEnd type="none" w="med" len="med"/>
            <a:tailEnd type="none" w="med" len="med"/>
          </a:ln>
        </p:spPr>
        <p:txBody>
          <a:bodyPr/>
          <a:p>
            <a:endParaRPr lang="zh-CN" altLang="en-US"/>
          </a:p>
        </p:txBody>
      </p:sp>
      <p:sp>
        <p:nvSpPr>
          <p:cNvPr id="37894" name="Freeform 6"/>
          <p:cNvSpPr/>
          <p:nvPr/>
        </p:nvSpPr>
        <p:spPr>
          <a:xfrm>
            <a:off x="3276600" y="2060575"/>
            <a:ext cx="3814763" cy="4032250"/>
          </a:xfrm>
          <a:custGeom>
            <a:avLst/>
            <a:gdLst/>
            <a:ahLst/>
            <a:cxnLst>
              <a:cxn ang="0">
                <a:pos x="0" y="4032250"/>
              </a:cxn>
              <a:cxn ang="0">
                <a:pos x="3064046" y="2114490"/>
              </a:cxn>
              <a:cxn ang="0">
                <a:pos x="3814763" y="0"/>
              </a:cxn>
            </a:cxnLst>
            <a:pathLst>
              <a:path w="2993" h="2767">
                <a:moveTo>
                  <a:pt x="0" y="2767"/>
                </a:moveTo>
                <a:cubicBezTo>
                  <a:pt x="952" y="2339"/>
                  <a:pt x="1905" y="1912"/>
                  <a:pt x="2404" y="1451"/>
                </a:cubicBezTo>
                <a:cubicBezTo>
                  <a:pt x="2903" y="990"/>
                  <a:pt x="2948" y="495"/>
                  <a:pt x="2993" y="0"/>
                </a:cubicBezTo>
              </a:path>
            </a:pathLst>
          </a:custGeom>
          <a:noFill/>
          <a:ln w="25400" cap="flat" cmpd="sng">
            <a:solidFill>
              <a:schemeClr val="tx2">
                <a:alpha val="100000"/>
              </a:schemeClr>
            </a:solidFill>
            <a:prstDash val="dash"/>
            <a:round/>
            <a:headEnd type="none" w="med" len="med"/>
            <a:tailEnd type="none" w="med" len="med"/>
          </a:ln>
        </p:spPr>
        <p:txBody>
          <a:bodyPr/>
          <a:p>
            <a:endParaRPr lang="zh-CN" altLang="en-US"/>
          </a:p>
        </p:txBody>
      </p:sp>
      <p:sp>
        <p:nvSpPr>
          <p:cNvPr id="37895" name="Freeform 7"/>
          <p:cNvSpPr/>
          <p:nvPr/>
        </p:nvSpPr>
        <p:spPr>
          <a:xfrm>
            <a:off x="3203575" y="2420938"/>
            <a:ext cx="4681538" cy="2808287"/>
          </a:xfrm>
          <a:custGeom>
            <a:avLst/>
            <a:gdLst/>
            <a:ahLst/>
            <a:cxnLst>
              <a:cxn ang="0">
                <a:pos x="0" y="0"/>
              </a:cxn>
              <a:cxn ang="0">
                <a:pos x="1368425" y="2016125"/>
              </a:cxn>
              <a:cxn ang="0">
                <a:pos x="4681538" y="2808287"/>
              </a:cxn>
            </a:cxnLst>
            <a:pathLst>
              <a:path w="2949" h="1769">
                <a:moveTo>
                  <a:pt x="0" y="0"/>
                </a:moveTo>
                <a:cubicBezTo>
                  <a:pt x="185" y="487"/>
                  <a:pt x="370" y="975"/>
                  <a:pt x="862" y="1270"/>
                </a:cubicBezTo>
                <a:cubicBezTo>
                  <a:pt x="1354" y="1565"/>
                  <a:pt x="2151" y="1667"/>
                  <a:pt x="2949" y="1769"/>
                </a:cubicBezTo>
              </a:path>
            </a:pathLst>
          </a:custGeom>
          <a:noFill/>
          <a:ln w="31750" cap="flat" cmpd="sng">
            <a:solidFill>
              <a:schemeClr val="tx2">
                <a:alpha val="100000"/>
              </a:schemeClr>
            </a:solidFill>
            <a:prstDash val="solid"/>
            <a:round/>
            <a:headEnd type="none" w="med" len="med"/>
            <a:tailEnd type="none" w="med" len="med"/>
          </a:ln>
        </p:spPr>
        <p:txBody>
          <a:bodyPr/>
          <a:p>
            <a:endParaRPr lang="zh-CN" altLang="en-US"/>
          </a:p>
        </p:txBody>
      </p:sp>
      <p:sp>
        <p:nvSpPr>
          <p:cNvPr id="37896" name="Freeform 8"/>
          <p:cNvSpPr/>
          <p:nvPr/>
        </p:nvSpPr>
        <p:spPr>
          <a:xfrm>
            <a:off x="3708400" y="2205038"/>
            <a:ext cx="3887788" cy="2663825"/>
          </a:xfrm>
          <a:custGeom>
            <a:avLst/>
            <a:gdLst/>
            <a:ahLst/>
            <a:cxnLst>
              <a:cxn ang="0">
                <a:pos x="0" y="0"/>
              </a:cxn>
              <a:cxn ang="0">
                <a:pos x="1483437" y="1826239"/>
              </a:cxn>
              <a:cxn ang="0">
                <a:pos x="3887788" y="2663825"/>
              </a:cxn>
            </a:cxnLst>
            <a:pathLst>
              <a:path w="2495" h="1587">
                <a:moveTo>
                  <a:pt x="0" y="0"/>
                </a:moveTo>
                <a:cubicBezTo>
                  <a:pt x="268" y="411"/>
                  <a:pt x="536" y="823"/>
                  <a:pt x="952" y="1088"/>
                </a:cubicBezTo>
                <a:cubicBezTo>
                  <a:pt x="1368" y="1353"/>
                  <a:pt x="1931" y="1470"/>
                  <a:pt x="2495" y="1587"/>
                </a:cubicBezTo>
              </a:path>
            </a:pathLst>
          </a:custGeom>
          <a:noFill/>
          <a:ln w="25400" cap="flat" cmpd="sng">
            <a:solidFill>
              <a:schemeClr val="tx2">
                <a:alpha val="100000"/>
              </a:schemeClr>
            </a:solidFill>
            <a:prstDash val="dash"/>
            <a:round/>
            <a:headEnd type="none" w="med" len="med"/>
            <a:tailEnd type="none" w="med" len="med"/>
          </a:ln>
        </p:spPr>
        <p:txBody>
          <a:bodyPr/>
          <a:p>
            <a:endParaRPr lang="zh-CN" altLang="en-US"/>
          </a:p>
        </p:txBody>
      </p:sp>
      <p:sp>
        <p:nvSpPr>
          <p:cNvPr id="37897" name="Line 9"/>
          <p:cNvSpPr/>
          <p:nvPr/>
        </p:nvSpPr>
        <p:spPr>
          <a:xfrm>
            <a:off x="4572000" y="4437063"/>
            <a:ext cx="0" cy="1871662"/>
          </a:xfrm>
          <a:prstGeom prst="line">
            <a:avLst/>
          </a:prstGeom>
          <a:ln w="28575" cap="flat" cmpd="sng">
            <a:solidFill>
              <a:schemeClr val="tx2"/>
            </a:solidFill>
            <a:prstDash val="solid"/>
            <a:headEnd type="none" w="med" len="med"/>
            <a:tailEnd type="none" w="med" len="med"/>
          </a:ln>
        </p:spPr>
      </p:sp>
      <p:sp>
        <p:nvSpPr>
          <p:cNvPr id="37898" name="Line 10"/>
          <p:cNvSpPr/>
          <p:nvPr/>
        </p:nvSpPr>
        <p:spPr>
          <a:xfrm flipH="1">
            <a:off x="1619250" y="4437063"/>
            <a:ext cx="2952750" cy="0"/>
          </a:xfrm>
          <a:prstGeom prst="line">
            <a:avLst/>
          </a:prstGeom>
          <a:ln w="28575" cap="flat" cmpd="sng">
            <a:solidFill>
              <a:schemeClr val="tx2"/>
            </a:solidFill>
            <a:prstDash val="solid"/>
            <a:headEnd type="none" w="med" len="med"/>
            <a:tailEnd type="none" w="med" len="med"/>
          </a:ln>
        </p:spPr>
      </p:sp>
      <p:sp>
        <p:nvSpPr>
          <p:cNvPr id="37899" name="Line 11"/>
          <p:cNvSpPr/>
          <p:nvPr/>
        </p:nvSpPr>
        <p:spPr>
          <a:xfrm>
            <a:off x="6084888" y="4437063"/>
            <a:ext cx="0" cy="1871662"/>
          </a:xfrm>
          <a:prstGeom prst="line">
            <a:avLst/>
          </a:prstGeom>
          <a:ln w="28575" cap="flat" cmpd="sng">
            <a:solidFill>
              <a:schemeClr val="tx2"/>
            </a:solidFill>
            <a:prstDash val="solid"/>
            <a:headEnd type="none" w="med" len="med"/>
            <a:tailEnd type="none" w="med" len="med"/>
          </a:ln>
        </p:spPr>
      </p:sp>
      <p:sp>
        <p:nvSpPr>
          <p:cNvPr id="37900" name="Line 12"/>
          <p:cNvSpPr/>
          <p:nvPr/>
        </p:nvSpPr>
        <p:spPr>
          <a:xfrm flipH="1">
            <a:off x="1619250" y="4437063"/>
            <a:ext cx="4465638" cy="0"/>
          </a:xfrm>
          <a:prstGeom prst="line">
            <a:avLst/>
          </a:prstGeom>
          <a:ln w="28575" cap="flat" cmpd="sng">
            <a:solidFill>
              <a:schemeClr val="tx2"/>
            </a:solidFill>
            <a:prstDash val="solid"/>
            <a:headEnd type="none" w="med" len="med"/>
            <a:tailEnd type="none" w="med" len="med"/>
          </a:ln>
        </p:spPr>
      </p:sp>
      <p:sp>
        <p:nvSpPr>
          <p:cNvPr id="37901" name="Text Box 13"/>
          <p:cNvSpPr txBox="1"/>
          <p:nvPr/>
        </p:nvSpPr>
        <p:spPr>
          <a:xfrm>
            <a:off x="5867400" y="3860800"/>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E1</a:t>
            </a:r>
            <a:endParaRPr lang="en-US" altLang="zh-CN" sz="2400" b="0" dirty="0">
              <a:latin typeface="Times New Roman" panose="02020603050405020304" pitchFamily="18" charset="0"/>
            </a:endParaRPr>
          </a:p>
        </p:txBody>
      </p:sp>
      <p:sp>
        <p:nvSpPr>
          <p:cNvPr id="37902" name="Text Box 14"/>
          <p:cNvSpPr txBox="1"/>
          <p:nvPr/>
        </p:nvSpPr>
        <p:spPr>
          <a:xfrm>
            <a:off x="4427538" y="3933825"/>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E</a:t>
            </a:r>
            <a:endParaRPr lang="en-US" altLang="zh-CN" sz="2400" b="0" dirty="0">
              <a:latin typeface="Times New Roman" panose="02020603050405020304" pitchFamily="18" charset="0"/>
            </a:endParaRPr>
          </a:p>
        </p:txBody>
      </p:sp>
      <p:sp>
        <p:nvSpPr>
          <p:cNvPr id="37903" name="Text Box 15"/>
          <p:cNvSpPr txBox="1"/>
          <p:nvPr/>
        </p:nvSpPr>
        <p:spPr>
          <a:xfrm>
            <a:off x="7235825" y="1196975"/>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S1</a:t>
            </a:r>
            <a:endParaRPr lang="en-US" altLang="zh-CN" sz="2400" b="0" dirty="0">
              <a:latin typeface="Times New Roman" panose="02020603050405020304" pitchFamily="18" charset="0"/>
            </a:endParaRPr>
          </a:p>
        </p:txBody>
      </p:sp>
      <p:sp>
        <p:nvSpPr>
          <p:cNvPr id="37904" name="Text Box 16"/>
          <p:cNvSpPr txBox="1"/>
          <p:nvPr/>
        </p:nvSpPr>
        <p:spPr>
          <a:xfrm>
            <a:off x="7956550" y="4365625"/>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D1</a:t>
            </a:r>
            <a:endParaRPr lang="en-US" altLang="zh-CN" sz="2400" b="0" dirty="0">
              <a:latin typeface="Times New Roman" panose="02020603050405020304" pitchFamily="18" charset="0"/>
            </a:endParaRPr>
          </a:p>
        </p:txBody>
      </p:sp>
      <p:sp>
        <p:nvSpPr>
          <p:cNvPr id="37905" name="Text Box 17"/>
          <p:cNvSpPr txBox="1"/>
          <p:nvPr/>
        </p:nvSpPr>
        <p:spPr>
          <a:xfrm>
            <a:off x="6156325" y="1268413"/>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S</a:t>
            </a:r>
            <a:endParaRPr lang="en-US" altLang="zh-CN" sz="2400" b="0" dirty="0">
              <a:latin typeface="Times New Roman" panose="02020603050405020304" pitchFamily="18" charset="0"/>
            </a:endParaRPr>
          </a:p>
        </p:txBody>
      </p:sp>
      <p:sp>
        <p:nvSpPr>
          <p:cNvPr id="37906" name="Text Box 18"/>
          <p:cNvSpPr txBox="1"/>
          <p:nvPr/>
        </p:nvSpPr>
        <p:spPr>
          <a:xfrm>
            <a:off x="7740650" y="5157788"/>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D</a:t>
            </a:r>
            <a:endParaRPr lang="en-US" altLang="zh-CN" sz="2400" b="0" dirty="0">
              <a:latin typeface="Times New Roman" panose="02020603050405020304" pitchFamily="18" charset="0"/>
            </a:endParaRPr>
          </a:p>
        </p:txBody>
      </p:sp>
      <p:sp>
        <p:nvSpPr>
          <p:cNvPr id="37907" name="Text Box 19"/>
          <p:cNvSpPr txBox="1"/>
          <p:nvPr/>
        </p:nvSpPr>
        <p:spPr>
          <a:xfrm>
            <a:off x="7956550" y="6165850"/>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a:t>
            </a:r>
            <a:endParaRPr lang="en-US" altLang="zh-CN" sz="2400" b="0" dirty="0">
              <a:latin typeface="Times New Roman" panose="02020603050405020304" pitchFamily="18" charset="0"/>
            </a:endParaRPr>
          </a:p>
        </p:txBody>
      </p:sp>
      <p:sp>
        <p:nvSpPr>
          <p:cNvPr id="37908" name="Text Box 20"/>
          <p:cNvSpPr txBox="1"/>
          <p:nvPr/>
        </p:nvSpPr>
        <p:spPr>
          <a:xfrm>
            <a:off x="5867400" y="6400800"/>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Q1</a:t>
            </a:r>
            <a:endParaRPr lang="en-US" altLang="zh-CN" sz="2400" b="0" dirty="0">
              <a:latin typeface="Times New Roman" panose="02020603050405020304" pitchFamily="18" charset="0"/>
            </a:endParaRPr>
          </a:p>
        </p:txBody>
      </p:sp>
      <p:sp>
        <p:nvSpPr>
          <p:cNvPr id="37909" name="Text Box 21"/>
          <p:cNvSpPr txBox="1"/>
          <p:nvPr/>
        </p:nvSpPr>
        <p:spPr>
          <a:xfrm>
            <a:off x="4284663" y="6400800"/>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a:t>
            </a:r>
            <a:endParaRPr lang="en-US" altLang="zh-CN" sz="2400" b="0" dirty="0">
              <a:latin typeface="Times New Roman" panose="02020603050405020304" pitchFamily="18" charset="0"/>
            </a:endParaRPr>
          </a:p>
        </p:txBody>
      </p:sp>
      <p:sp>
        <p:nvSpPr>
          <p:cNvPr id="37910" name="Text Box 22"/>
          <p:cNvSpPr txBox="1"/>
          <p:nvPr/>
        </p:nvSpPr>
        <p:spPr>
          <a:xfrm>
            <a:off x="1187450" y="4292600"/>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
        <p:nvSpPr>
          <p:cNvPr id="37911" name="Text Box 23"/>
          <p:cNvSpPr txBox="1"/>
          <p:nvPr/>
        </p:nvSpPr>
        <p:spPr>
          <a:xfrm>
            <a:off x="611188" y="4292600"/>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P1=</a:t>
            </a:r>
            <a:endParaRPr lang="en-US" altLang="zh-CN" sz="2400" b="0" dirty="0">
              <a:latin typeface="Times New Roman" panose="02020603050405020304" pitchFamily="18" charset="0"/>
            </a:endParaRPr>
          </a:p>
        </p:txBody>
      </p:sp>
      <p:sp>
        <p:nvSpPr>
          <p:cNvPr id="37912" name="Text Box 24"/>
          <p:cNvSpPr txBox="1"/>
          <p:nvPr/>
        </p:nvSpPr>
        <p:spPr>
          <a:xfrm>
            <a:off x="1258888" y="1052513"/>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
        <p:nvSpPr>
          <p:cNvPr id="37913" name="Text Box 25"/>
          <p:cNvSpPr txBox="1"/>
          <p:nvPr/>
        </p:nvSpPr>
        <p:spPr>
          <a:xfrm>
            <a:off x="1258888" y="6165850"/>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0</a:t>
            </a:r>
            <a:endParaRPr lang="en-US" altLang="zh-CN" sz="2400" b="0" dirty="0">
              <a:latin typeface="Times New Roman" panose="02020603050405020304" pitchFamily="18" charset="0"/>
            </a:endParaRPr>
          </a:p>
        </p:txBody>
      </p:sp>
      <p:sp>
        <p:nvSpPr>
          <p:cNvPr id="37914" name="Text Box 26"/>
          <p:cNvSpPr txBox="1"/>
          <p:nvPr/>
        </p:nvSpPr>
        <p:spPr>
          <a:xfrm>
            <a:off x="7380288" y="2420938"/>
            <a:ext cx="1524000" cy="1004887"/>
          </a:xfrm>
          <a:prstGeom prst="rect">
            <a:avLst/>
          </a:prstGeom>
          <a:noFill/>
          <a:ln w="9525">
            <a:noFill/>
          </a:ln>
        </p:spPr>
        <p:txBody>
          <a:bodyPr>
            <a:spAutoFit/>
          </a:bodyPr>
          <a:p>
            <a:pPr>
              <a:lnSpc>
                <a:spcPct val="100000"/>
              </a:lnSpc>
              <a:spcBef>
                <a:spcPct val="50000"/>
              </a:spcBef>
              <a:buNone/>
            </a:pPr>
            <a:r>
              <a:rPr lang="en-US" altLang="zh-CN" sz="2400" dirty="0">
                <a:solidFill>
                  <a:srgbClr val="000000"/>
                </a:solidFill>
                <a:latin typeface="Arial Black" panose="020B0A04020102020204" pitchFamily="34" charset="0"/>
              </a:rPr>
              <a:t>P1=P</a:t>
            </a:r>
            <a:endParaRPr lang="en-US" altLang="zh-CN" sz="2400" dirty="0">
              <a:solidFill>
                <a:srgbClr val="000000"/>
              </a:solidFill>
              <a:latin typeface="Arial Black" panose="020B0A04020102020204" pitchFamily="34" charset="0"/>
            </a:endParaRPr>
          </a:p>
          <a:p>
            <a:pPr>
              <a:lnSpc>
                <a:spcPct val="100000"/>
              </a:lnSpc>
              <a:spcBef>
                <a:spcPct val="50000"/>
              </a:spcBef>
              <a:buNone/>
            </a:pPr>
            <a:r>
              <a:rPr lang="en-US" altLang="zh-CN" sz="2400" dirty="0">
                <a:solidFill>
                  <a:srgbClr val="000000"/>
                </a:solidFill>
                <a:latin typeface="Arial Black" panose="020B0A04020102020204" pitchFamily="34" charset="0"/>
              </a:rPr>
              <a:t>Q1&gt;Q</a:t>
            </a:r>
            <a:endParaRPr lang="en-US" altLang="zh-CN" sz="2400" dirty="0">
              <a:solidFill>
                <a:srgbClr val="000000"/>
              </a:solidFill>
              <a:latin typeface="Arial Black" panose="020B0A040201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a:xfrm>
            <a:off x="250825" y="0"/>
            <a:ext cx="8642350" cy="836613"/>
          </a:xfrm>
          <a:ln/>
        </p:spPr>
        <p:txBody>
          <a:bodyPr vert="horz" wrap="square" lIns="91440" tIns="45720" rIns="91440" bIns="45720" anchor="ctr" anchorCtr="0"/>
          <a:p>
            <a:pPr eaLnBrk="1" hangingPunct="1"/>
            <a:r>
              <a:rPr lang="zh-CN" altLang="en-US" sz="3600" b="1" dirty="0">
                <a:solidFill>
                  <a:srgbClr val="FF0000"/>
                </a:solidFill>
                <a:latin typeface="宋体" panose="02010600030101010101" pitchFamily="2" charset="-122"/>
              </a:rPr>
              <a:t>第三、	需求曲线和供给曲线同方向变动</a:t>
            </a:r>
            <a:endParaRPr lang="zh-CN" altLang="en-US" sz="3600" b="1" dirty="0">
              <a:solidFill>
                <a:srgbClr val="FF0000"/>
              </a:solidFill>
              <a:latin typeface="宋体" panose="02010600030101010101" pitchFamily="2" charset="-122"/>
            </a:endParaRPr>
          </a:p>
        </p:txBody>
      </p:sp>
      <p:sp>
        <p:nvSpPr>
          <p:cNvPr id="38915" name="Line 3"/>
          <p:cNvSpPr/>
          <p:nvPr/>
        </p:nvSpPr>
        <p:spPr>
          <a:xfrm flipV="1">
            <a:off x="1619250" y="1125538"/>
            <a:ext cx="0" cy="5183187"/>
          </a:xfrm>
          <a:prstGeom prst="line">
            <a:avLst/>
          </a:prstGeom>
          <a:ln w="38100" cap="flat" cmpd="sng">
            <a:solidFill>
              <a:schemeClr val="tx2"/>
            </a:solidFill>
            <a:prstDash val="solid"/>
            <a:headEnd type="none" w="med" len="med"/>
            <a:tailEnd type="stealth" w="lg" len="lg"/>
          </a:ln>
        </p:spPr>
      </p:sp>
      <p:sp>
        <p:nvSpPr>
          <p:cNvPr id="38916" name="Line 4"/>
          <p:cNvSpPr/>
          <p:nvPr/>
        </p:nvSpPr>
        <p:spPr>
          <a:xfrm>
            <a:off x="1619250" y="6308725"/>
            <a:ext cx="6337300" cy="0"/>
          </a:xfrm>
          <a:prstGeom prst="line">
            <a:avLst/>
          </a:prstGeom>
          <a:ln w="38100" cap="flat" cmpd="sng">
            <a:solidFill>
              <a:schemeClr val="tx2"/>
            </a:solidFill>
            <a:prstDash val="solid"/>
            <a:headEnd type="none" w="med" len="med"/>
            <a:tailEnd type="stealth" w="lg" len="lg"/>
          </a:ln>
        </p:spPr>
      </p:sp>
      <p:sp>
        <p:nvSpPr>
          <p:cNvPr id="38917" name="Freeform 5"/>
          <p:cNvSpPr/>
          <p:nvPr/>
        </p:nvSpPr>
        <p:spPr>
          <a:xfrm>
            <a:off x="2627313" y="1412875"/>
            <a:ext cx="3960812" cy="4032250"/>
          </a:xfrm>
          <a:custGeom>
            <a:avLst/>
            <a:gdLst/>
            <a:ahLst/>
            <a:cxnLst>
              <a:cxn ang="0">
                <a:pos x="0" y="4032250"/>
              </a:cxn>
              <a:cxn ang="0">
                <a:pos x="3240087" y="2087563"/>
              </a:cxn>
              <a:cxn ang="0">
                <a:pos x="3960812" y="0"/>
              </a:cxn>
            </a:cxnLst>
            <a:pathLst>
              <a:path w="2495" h="2540">
                <a:moveTo>
                  <a:pt x="0" y="2540"/>
                </a:moveTo>
                <a:cubicBezTo>
                  <a:pt x="812" y="2139"/>
                  <a:pt x="1625" y="1738"/>
                  <a:pt x="2041" y="1315"/>
                </a:cubicBezTo>
                <a:cubicBezTo>
                  <a:pt x="2457" y="892"/>
                  <a:pt x="2476" y="446"/>
                  <a:pt x="2495" y="0"/>
                </a:cubicBezTo>
              </a:path>
            </a:pathLst>
          </a:custGeom>
          <a:noFill/>
          <a:ln w="31750" cap="flat" cmpd="sng">
            <a:solidFill>
              <a:schemeClr val="tx2">
                <a:alpha val="100000"/>
              </a:schemeClr>
            </a:solidFill>
            <a:prstDash val="solid"/>
            <a:round/>
            <a:headEnd type="none" w="med" len="med"/>
            <a:tailEnd type="none" w="med" len="med"/>
          </a:ln>
        </p:spPr>
        <p:txBody>
          <a:bodyPr/>
          <a:p>
            <a:endParaRPr lang="zh-CN" altLang="en-US"/>
          </a:p>
        </p:txBody>
      </p:sp>
      <p:sp>
        <p:nvSpPr>
          <p:cNvPr id="38918" name="Freeform 6"/>
          <p:cNvSpPr/>
          <p:nvPr/>
        </p:nvSpPr>
        <p:spPr>
          <a:xfrm>
            <a:off x="3563938" y="1989138"/>
            <a:ext cx="3887787" cy="4033837"/>
          </a:xfrm>
          <a:custGeom>
            <a:avLst/>
            <a:gdLst/>
            <a:ahLst/>
            <a:cxnLst>
              <a:cxn ang="0">
                <a:pos x="0" y="4033837"/>
              </a:cxn>
              <a:cxn ang="0">
                <a:pos x="3122700" y="2115323"/>
              </a:cxn>
              <a:cxn ang="0">
                <a:pos x="3887787" y="0"/>
              </a:cxn>
            </a:cxnLst>
            <a:pathLst>
              <a:path w="2993" h="2767">
                <a:moveTo>
                  <a:pt x="0" y="2767"/>
                </a:moveTo>
                <a:cubicBezTo>
                  <a:pt x="952" y="2339"/>
                  <a:pt x="1905" y="1912"/>
                  <a:pt x="2404" y="1451"/>
                </a:cubicBezTo>
                <a:cubicBezTo>
                  <a:pt x="2903" y="990"/>
                  <a:pt x="2948" y="495"/>
                  <a:pt x="2993" y="0"/>
                </a:cubicBezTo>
              </a:path>
            </a:pathLst>
          </a:custGeom>
          <a:noFill/>
          <a:ln w="25400" cap="flat" cmpd="sng">
            <a:solidFill>
              <a:schemeClr val="tx2">
                <a:alpha val="100000"/>
              </a:schemeClr>
            </a:solidFill>
            <a:prstDash val="dash"/>
            <a:round/>
            <a:headEnd type="none" w="med" len="med"/>
            <a:tailEnd type="none" w="med" len="med"/>
          </a:ln>
        </p:spPr>
        <p:txBody>
          <a:bodyPr/>
          <a:p>
            <a:endParaRPr lang="zh-CN" altLang="en-US"/>
          </a:p>
        </p:txBody>
      </p:sp>
      <p:sp>
        <p:nvSpPr>
          <p:cNvPr id="38919" name="Freeform 7"/>
          <p:cNvSpPr/>
          <p:nvPr/>
        </p:nvSpPr>
        <p:spPr>
          <a:xfrm>
            <a:off x="3348038" y="2349500"/>
            <a:ext cx="4752975" cy="3167063"/>
          </a:xfrm>
          <a:custGeom>
            <a:avLst/>
            <a:gdLst/>
            <a:ahLst/>
            <a:cxnLst>
              <a:cxn ang="0">
                <a:pos x="0" y="0"/>
              </a:cxn>
              <a:cxn ang="0">
                <a:pos x="1389306" y="2273697"/>
              </a:cxn>
              <a:cxn ang="0">
                <a:pos x="4752975" y="3167063"/>
              </a:cxn>
            </a:cxnLst>
            <a:pathLst>
              <a:path w="2949" h="1769">
                <a:moveTo>
                  <a:pt x="0" y="0"/>
                </a:moveTo>
                <a:cubicBezTo>
                  <a:pt x="185" y="487"/>
                  <a:pt x="370" y="975"/>
                  <a:pt x="862" y="1270"/>
                </a:cubicBezTo>
                <a:cubicBezTo>
                  <a:pt x="1354" y="1565"/>
                  <a:pt x="2151" y="1667"/>
                  <a:pt x="2949" y="1769"/>
                </a:cubicBezTo>
              </a:path>
            </a:pathLst>
          </a:custGeom>
          <a:noFill/>
          <a:ln w="31750" cap="flat" cmpd="sng">
            <a:solidFill>
              <a:schemeClr val="tx2">
                <a:alpha val="100000"/>
              </a:schemeClr>
            </a:solidFill>
            <a:prstDash val="solid"/>
            <a:round/>
            <a:headEnd type="none" w="med" len="med"/>
            <a:tailEnd type="none" w="med" len="med"/>
          </a:ln>
        </p:spPr>
        <p:txBody>
          <a:bodyPr/>
          <a:p>
            <a:endParaRPr lang="zh-CN" altLang="en-US"/>
          </a:p>
        </p:txBody>
      </p:sp>
      <p:sp>
        <p:nvSpPr>
          <p:cNvPr id="38920" name="Line 8"/>
          <p:cNvSpPr/>
          <p:nvPr/>
        </p:nvSpPr>
        <p:spPr>
          <a:xfrm>
            <a:off x="4572000" y="4437063"/>
            <a:ext cx="0" cy="1871662"/>
          </a:xfrm>
          <a:prstGeom prst="line">
            <a:avLst/>
          </a:prstGeom>
          <a:ln w="28575" cap="flat" cmpd="sng">
            <a:solidFill>
              <a:schemeClr val="tx2"/>
            </a:solidFill>
            <a:prstDash val="solid"/>
            <a:headEnd type="none" w="med" len="med"/>
            <a:tailEnd type="none" w="med" len="med"/>
          </a:ln>
        </p:spPr>
      </p:sp>
      <p:sp>
        <p:nvSpPr>
          <p:cNvPr id="38921" name="Line 9"/>
          <p:cNvSpPr/>
          <p:nvPr/>
        </p:nvSpPr>
        <p:spPr>
          <a:xfrm flipH="1">
            <a:off x="1619250" y="4437063"/>
            <a:ext cx="2952750" cy="0"/>
          </a:xfrm>
          <a:prstGeom prst="line">
            <a:avLst/>
          </a:prstGeom>
          <a:ln w="28575" cap="flat" cmpd="sng">
            <a:solidFill>
              <a:schemeClr val="tx2"/>
            </a:solidFill>
            <a:prstDash val="solid"/>
            <a:headEnd type="none" w="med" len="med"/>
            <a:tailEnd type="none" w="med" len="med"/>
          </a:ln>
        </p:spPr>
      </p:sp>
      <p:sp>
        <p:nvSpPr>
          <p:cNvPr id="38922" name="Line 10"/>
          <p:cNvSpPr/>
          <p:nvPr/>
        </p:nvSpPr>
        <p:spPr>
          <a:xfrm>
            <a:off x="6084888" y="4652963"/>
            <a:ext cx="0" cy="1655762"/>
          </a:xfrm>
          <a:prstGeom prst="line">
            <a:avLst/>
          </a:prstGeom>
          <a:ln w="28575" cap="flat" cmpd="sng">
            <a:solidFill>
              <a:schemeClr val="tx2"/>
            </a:solidFill>
            <a:prstDash val="solid"/>
            <a:headEnd type="none" w="med" len="med"/>
            <a:tailEnd type="none" w="med" len="med"/>
          </a:ln>
        </p:spPr>
      </p:sp>
      <p:sp>
        <p:nvSpPr>
          <p:cNvPr id="38923" name="Line 11"/>
          <p:cNvSpPr/>
          <p:nvPr/>
        </p:nvSpPr>
        <p:spPr>
          <a:xfrm flipH="1">
            <a:off x="1619250" y="4652963"/>
            <a:ext cx="4465638" cy="0"/>
          </a:xfrm>
          <a:prstGeom prst="line">
            <a:avLst/>
          </a:prstGeom>
          <a:ln w="28575" cap="flat" cmpd="sng">
            <a:solidFill>
              <a:schemeClr val="tx2"/>
            </a:solidFill>
            <a:prstDash val="solid"/>
            <a:headEnd type="none" w="med" len="med"/>
            <a:tailEnd type="none" w="med" len="med"/>
          </a:ln>
        </p:spPr>
      </p:sp>
      <p:sp>
        <p:nvSpPr>
          <p:cNvPr id="38924" name="Text Box 12"/>
          <p:cNvSpPr txBox="1"/>
          <p:nvPr/>
        </p:nvSpPr>
        <p:spPr>
          <a:xfrm>
            <a:off x="5795963" y="4076700"/>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E1</a:t>
            </a:r>
            <a:endParaRPr lang="en-US" altLang="zh-CN" sz="2400" b="0" dirty="0">
              <a:latin typeface="Times New Roman" panose="02020603050405020304" pitchFamily="18" charset="0"/>
            </a:endParaRPr>
          </a:p>
        </p:txBody>
      </p:sp>
      <p:sp>
        <p:nvSpPr>
          <p:cNvPr id="38925" name="Text Box 13"/>
          <p:cNvSpPr txBox="1"/>
          <p:nvPr/>
        </p:nvSpPr>
        <p:spPr>
          <a:xfrm>
            <a:off x="4427538" y="3933825"/>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E</a:t>
            </a:r>
            <a:endParaRPr lang="en-US" altLang="zh-CN" sz="2400" b="0" dirty="0">
              <a:latin typeface="Times New Roman" panose="02020603050405020304" pitchFamily="18" charset="0"/>
            </a:endParaRPr>
          </a:p>
        </p:txBody>
      </p:sp>
      <p:sp>
        <p:nvSpPr>
          <p:cNvPr id="38926" name="Text Box 14"/>
          <p:cNvSpPr txBox="1"/>
          <p:nvPr/>
        </p:nvSpPr>
        <p:spPr>
          <a:xfrm>
            <a:off x="7235825" y="1196975"/>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S1</a:t>
            </a:r>
            <a:endParaRPr lang="en-US" altLang="zh-CN" sz="2400" b="0" dirty="0">
              <a:latin typeface="Times New Roman" panose="02020603050405020304" pitchFamily="18" charset="0"/>
            </a:endParaRPr>
          </a:p>
        </p:txBody>
      </p:sp>
      <p:sp>
        <p:nvSpPr>
          <p:cNvPr id="38927" name="Text Box 15"/>
          <p:cNvSpPr txBox="1"/>
          <p:nvPr/>
        </p:nvSpPr>
        <p:spPr>
          <a:xfrm>
            <a:off x="7956550" y="4365625"/>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D1</a:t>
            </a:r>
            <a:endParaRPr lang="en-US" altLang="zh-CN" sz="2400" b="0" dirty="0">
              <a:latin typeface="Times New Roman" panose="02020603050405020304" pitchFamily="18" charset="0"/>
            </a:endParaRPr>
          </a:p>
        </p:txBody>
      </p:sp>
      <p:sp>
        <p:nvSpPr>
          <p:cNvPr id="38928" name="Text Box 16"/>
          <p:cNvSpPr txBox="1"/>
          <p:nvPr/>
        </p:nvSpPr>
        <p:spPr>
          <a:xfrm>
            <a:off x="6156325" y="1268413"/>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S</a:t>
            </a:r>
            <a:endParaRPr lang="en-US" altLang="zh-CN" sz="2400" b="0" dirty="0">
              <a:latin typeface="Times New Roman" panose="02020603050405020304" pitchFamily="18" charset="0"/>
            </a:endParaRPr>
          </a:p>
        </p:txBody>
      </p:sp>
      <p:sp>
        <p:nvSpPr>
          <p:cNvPr id="38929" name="Text Box 17"/>
          <p:cNvSpPr txBox="1"/>
          <p:nvPr/>
        </p:nvSpPr>
        <p:spPr>
          <a:xfrm>
            <a:off x="7740650" y="5157788"/>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D</a:t>
            </a:r>
            <a:endParaRPr lang="en-US" altLang="zh-CN" sz="2400" b="0" dirty="0">
              <a:latin typeface="Times New Roman" panose="02020603050405020304" pitchFamily="18" charset="0"/>
            </a:endParaRPr>
          </a:p>
        </p:txBody>
      </p:sp>
      <p:sp>
        <p:nvSpPr>
          <p:cNvPr id="38930" name="Text Box 18"/>
          <p:cNvSpPr txBox="1"/>
          <p:nvPr/>
        </p:nvSpPr>
        <p:spPr>
          <a:xfrm>
            <a:off x="7956550" y="6165850"/>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a:t>
            </a:r>
            <a:endParaRPr lang="en-US" altLang="zh-CN" sz="2400" b="0" dirty="0">
              <a:latin typeface="Times New Roman" panose="02020603050405020304" pitchFamily="18" charset="0"/>
            </a:endParaRPr>
          </a:p>
        </p:txBody>
      </p:sp>
      <p:sp>
        <p:nvSpPr>
          <p:cNvPr id="38931" name="Text Box 19"/>
          <p:cNvSpPr txBox="1"/>
          <p:nvPr/>
        </p:nvSpPr>
        <p:spPr>
          <a:xfrm>
            <a:off x="5867400" y="6400800"/>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Q1</a:t>
            </a:r>
            <a:endParaRPr lang="en-US" altLang="zh-CN" sz="2400" b="0" dirty="0">
              <a:latin typeface="Times New Roman" panose="02020603050405020304" pitchFamily="18" charset="0"/>
            </a:endParaRPr>
          </a:p>
        </p:txBody>
      </p:sp>
      <p:sp>
        <p:nvSpPr>
          <p:cNvPr id="38932" name="Text Box 20"/>
          <p:cNvSpPr txBox="1"/>
          <p:nvPr/>
        </p:nvSpPr>
        <p:spPr>
          <a:xfrm>
            <a:off x="4284663" y="6400800"/>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a:t>
            </a:r>
            <a:endParaRPr lang="en-US" altLang="zh-CN" sz="2400" b="0" dirty="0">
              <a:latin typeface="Times New Roman" panose="02020603050405020304" pitchFamily="18" charset="0"/>
            </a:endParaRPr>
          </a:p>
        </p:txBody>
      </p:sp>
      <p:sp>
        <p:nvSpPr>
          <p:cNvPr id="38933" name="Text Box 21"/>
          <p:cNvSpPr txBox="1"/>
          <p:nvPr/>
        </p:nvSpPr>
        <p:spPr>
          <a:xfrm>
            <a:off x="1187450" y="4292600"/>
            <a:ext cx="719138"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
        <p:nvSpPr>
          <p:cNvPr id="38934" name="Text Box 22"/>
          <p:cNvSpPr txBox="1"/>
          <p:nvPr/>
        </p:nvSpPr>
        <p:spPr>
          <a:xfrm>
            <a:off x="1116013" y="4724400"/>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P1</a:t>
            </a:r>
            <a:endParaRPr lang="en-US" altLang="zh-CN" sz="2400" b="0" dirty="0">
              <a:latin typeface="Times New Roman" panose="02020603050405020304" pitchFamily="18" charset="0"/>
            </a:endParaRPr>
          </a:p>
        </p:txBody>
      </p:sp>
      <p:sp>
        <p:nvSpPr>
          <p:cNvPr id="38935" name="Text Box 23"/>
          <p:cNvSpPr txBox="1"/>
          <p:nvPr/>
        </p:nvSpPr>
        <p:spPr>
          <a:xfrm>
            <a:off x="1258888" y="1052513"/>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
        <p:nvSpPr>
          <p:cNvPr id="38936" name="Text Box 24"/>
          <p:cNvSpPr txBox="1"/>
          <p:nvPr/>
        </p:nvSpPr>
        <p:spPr>
          <a:xfrm>
            <a:off x="1258888" y="6165850"/>
            <a:ext cx="719137"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0</a:t>
            </a:r>
            <a:endParaRPr lang="en-US" altLang="zh-CN" sz="2400" b="0" dirty="0">
              <a:latin typeface="Times New Roman" panose="02020603050405020304" pitchFamily="18" charset="0"/>
            </a:endParaRPr>
          </a:p>
        </p:txBody>
      </p:sp>
      <p:sp>
        <p:nvSpPr>
          <p:cNvPr id="38937" name="Text Box 25"/>
          <p:cNvSpPr txBox="1"/>
          <p:nvPr/>
        </p:nvSpPr>
        <p:spPr>
          <a:xfrm>
            <a:off x="7380288" y="2420938"/>
            <a:ext cx="1524000" cy="1004887"/>
          </a:xfrm>
          <a:prstGeom prst="rect">
            <a:avLst/>
          </a:prstGeom>
          <a:noFill/>
          <a:ln w="9525">
            <a:noFill/>
          </a:ln>
        </p:spPr>
        <p:txBody>
          <a:bodyPr>
            <a:spAutoFit/>
          </a:bodyPr>
          <a:p>
            <a:pPr>
              <a:lnSpc>
                <a:spcPct val="100000"/>
              </a:lnSpc>
              <a:spcBef>
                <a:spcPct val="50000"/>
              </a:spcBef>
              <a:buNone/>
            </a:pPr>
            <a:r>
              <a:rPr lang="en-US" altLang="zh-CN" sz="2400" dirty="0">
                <a:solidFill>
                  <a:srgbClr val="000000"/>
                </a:solidFill>
                <a:latin typeface="Arial Black" panose="020B0A04020102020204" pitchFamily="34" charset="0"/>
              </a:rPr>
              <a:t>P1&lt;P</a:t>
            </a:r>
            <a:endParaRPr lang="en-US" altLang="zh-CN" sz="2400" dirty="0">
              <a:solidFill>
                <a:srgbClr val="000000"/>
              </a:solidFill>
              <a:latin typeface="Arial Black" panose="020B0A04020102020204" pitchFamily="34" charset="0"/>
            </a:endParaRPr>
          </a:p>
          <a:p>
            <a:pPr>
              <a:lnSpc>
                <a:spcPct val="100000"/>
              </a:lnSpc>
              <a:spcBef>
                <a:spcPct val="50000"/>
              </a:spcBef>
              <a:buNone/>
            </a:pPr>
            <a:r>
              <a:rPr lang="en-US" altLang="zh-CN" sz="2400" dirty="0">
                <a:solidFill>
                  <a:srgbClr val="000000"/>
                </a:solidFill>
                <a:latin typeface="Arial Black" panose="020B0A04020102020204" pitchFamily="34" charset="0"/>
              </a:rPr>
              <a:t>Q1&gt;Q</a:t>
            </a:r>
            <a:endParaRPr lang="en-US" altLang="zh-CN" sz="2400" dirty="0">
              <a:solidFill>
                <a:srgbClr val="000000"/>
              </a:solidFill>
              <a:latin typeface="Arial Black" panose="020B0A04020102020204" pitchFamily="34" charset="0"/>
            </a:endParaRPr>
          </a:p>
        </p:txBody>
      </p:sp>
      <p:sp>
        <p:nvSpPr>
          <p:cNvPr id="38938" name="Freeform 26"/>
          <p:cNvSpPr/>
          <p:nvPr/>
        </p:nvSpPr>
        <p:spPr>
          <a:xfrm>
            <a:off x="4067175" y="2205038"/>
            <a:ext cx="4176713" cy="2879725"/>
          </a:xfrm>
          <a:custGeom>
            <a:avLst/>
            <a:gdLst/>
            <a:ahLst/>
            <a:cxnLst>
              <a:cxn ang="0">
                <a:pos x="0" y="0"/>
              </a:cxn>
              <a:cxn ang="0">
                <a:pos x="1584325" y="2232025"/>
              </a:cxn>
              <a:cxn ang="0">
                <a:pos x="4176713" y="2879725"/>
              </a:cxn>
            </a:cxnLst>
            <a:pathLst>
              <a:path w="2631" h="1814">
                <a:moveTo>
                  <a:pt x="0" y="0"/>
                </a:moveTo>
                <a:cubicBezTo>
                  <a:pt x="280" y="552"/>
                  <a:pt x="560" y="1104"/>
                  <a:pt x="998" y="1406"/>
                </a:cubicBezTo>
                <a:cubicBezTo>
                  <a:pt x="1436" y="1708"/>
                  <a:pt x="2033" y="1761"/>
                  <a:pt x="2631" y="1814"/>
                </a:cubicBezTo>
              </a:path>
            </a:pathLst>
          </a:custGeom>
          <a:noFill/>
          <a:ln w="25400" cap="flat" cmpd="sng">
            <a:solidFill>
              <a:schemeClr val="tx2">
                <a:alpha val="100000"/>
              </a:schemeClr>
            </a:solidFill>
            <a:prstDash val="dash"/>
            <a:round/>
            <a:headEnd type="none" w="med" len="med"/>
            <a:tailEnd type="none" w="med" len="med"/>
          </a:ln>
        </p:spPr>
        <p:txBody>
          <a:bodyPr/>
          <a:p>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p:nvPr>
        </p:nvSpPr>
        <p:spPr>
          <a:xfrm>
            <a:off x="684213" y="44450"/>
            <a:ext cx="7772400" cy="720725"/>
          </a:xfrm>
          <a:ln/>
        </p:spPr>
        <p:txBody>
          <a:bodyPr vert="horz" wrap="square" lIns="91440" tIns="45720" rIns="91440" bIns="45720" anchor="ctr" anchorCtr="0"/>
          <a:p>
            <a:pPr eaLnBrk="1" hangingPunct="1"/>
            <a:r>
              <a:rPr lang="zh-CN" altLang="en-US" sz="3600" b="1" dirty="0">
                <a:solidFill>
                  <a:srgbClr val="FF0000"/>
                </a:solidFill>
                <a:latin typeface="宋体" panose="02010600030101010101" pitchFamily="2" charset="-122"/>
              </a:rPr>
              <a:t>三、进行比较静态的三个步骤计划</a:t>
            </a:r>
            <a:endParaRPr lang="zh-CN" altLang="en-US" sz="3600" b="1" dirty="0">
              <a:solidFill>
                <a:srgbClr val="FFFF66"/>
              </a:solidFill>
              <a:latin typeface="楷体_GB2312" pitchFamily="49" charset="-122"/>
              <a:ea typeface="楷体_GB2312" pitchFamily="49" charset="-122"/>
            </a:endParaRPr>
          </a:p>
        </p:txBody>
      </p:sp>
      <p:sp>
        <p:nvSpPr>
          <p:cNvPr id="39939" name="Rectangle 3"/>
          <p:cNvSpPr>
            <a:spLocks noGrp="1"/>
          </p:cNvSpPr>
          <p:nvPr>
            <p:ph idx="1"/>
          </p:nvPr>
        </p:nvSpPr>
        <p:spPr>
          <a:xfrm>
            <a:off x="685800" y="1268413"/>
            <a:ext cx="7772400" cy="4827587"/>
          </a:xfrm>
          <a:ln/>
        </p:spPr>
        <p:txBody>
          <a:bodyPr vert="horz" wrap="square" lIns="91440" tIns="45720" rIns="91440" bIns="45720" anchor="t" anchorCtr="0"/>
          <a:p>
            <a:pPr marL="0" indent="0" eaLnBrk="1" hangingPunct="1">
              <a:buNone/>
            </a:pPr>
            <a:r>
              <a:rPr lang="en-US" altLang="zh-CN" sz="2800" b="1" dirty="0">
                <a:solidFill>
                  <a:srgbClr val="000000"/>
                </a:solidFill>
                <a:latin typeface="宋体" panose="02010600030101010101" pitchFamily="2" charset="-122"/>
              </a:rPr>
              <a:t>1</a:t>
            </a:r>
            <a:r>
              <a:rPr lang="zh-CN" altLang="en-US" sz="2800" b="1" dirty="0">
                <a:solidFill>
                  <a:srgbClr val="000000"/>
                </a:solidFill>
                <a:latin typeface="宋体" panose="02010600030101010101" pitchFamily="2" charset="-122"/>
              </a:rPr>
              <a:t>、确定该事件是移动供给曲线还是需求曲线</a:t>
            </a:r>
            <a:br>
              <a:rPr lang="zh-CN" altLang="en-US" sz="2800" b="1" dirty="0">
                <a:solidFill>
                  <a:srgbClr val="000000"/>
                </a:solidFill>
                <a:latin typeface="宋体" panose="02010600030101010101" pitchFamily="2" charset="-122"/>
              </a:rPr>
            </a:br>
            <a:endParaRPr lang="zh-CN" altLang="en-US" sz="2800" b="1" dirty="0">
              <a:solidFill>
                <a:srgbClr val="000000"/>
              </a:solidFill>
              <a:latin typeface="宋体" panose="02010600030101010101" pitchFamily="2" charset="-122"/>
            </a:endParaRPr>
          </a:p>
          <a:p>
            <a:pPr marL="0" indent="0" eaLnBrk="1" hangingPunct="1">
              <a:buNone/>
            </a:pPr>
            <a:r>
              <a:rPr lang="en-US" altLang="zh-CN" sz="2800" b="1" dirty="0">
                <a:solidFill>
                  <a:srgbClr val="000000"/>
                </a:solidFill>
                <a:latin typeface="宋体" panose="02010600030101010101" pitchFamily="2" charset="-122"/>
              </a:rPr>
              <a:t>2</a:t>
            </a:r>
            <a:r>
              <a:rPr lang="zh-CN" altLang="en-US" sz="2800" b="1" dirty="0">
                <a:solidFill>
                  <a:srgbClr val="000000"/>
                </a:solidFill>
                <a:latin typeface="宋体" panose="02010600030101010101" pitchFamily="2" charset="-122"/>
              </a:rPr>
              <a:t>、确定曲线移动的方向</a:t>
            </a:r>
            <a:br>
              <a:rPr lang="zh-CN" altLang="en-US" sz="2800" b="1" dirty="0">
                <a:solidFill>
                  <a:srgbClr val="000000"/>
                </a:solidFill>
                <a:latin typeface="宋体" panose="02010600030101010101" pitchFamily="2" charset="-122"/>
              </a:rPr>
            </a:br>
            <a:endParaRPr lang="zh-CN" altLang="en-US" sz="2800" b="1" dirty="0">
              <a:solidFill>
                <a:srgbClr val="000000"/>
              </a:solidFill>
              <a:latin typeface="宋体" panose="02010600030101010101" pitchFamily="2" charset="-122"/>
            </a:endParaRPr>
          </a:p>
          <a:p>
            <a:pPr marL="0" indent="0" eaLnBrk="1" hangingPunct="1">
              <a:buNone/>
            </a:pPr>
            <a:r>
              <a:rPr lang="en-US" altLang="zh-CN" sz="2800" b="1" dirty="0">
                <a:solidFill>
                  <a:srgbClr val="000000"/>
                </a:solidFill>
                <a:latin typeface="宋体" panose="02010600030101010101" pitchFamily="2" charset="-122"/>
              </a:rPr>
              <a:t>3</a:t>
            </a:r>
            <a:r>
              <a:rPr lang="zh-CN" altLang="en-US" sz="2800" b="1" dirty="0">
                <a:solidFill>
                  <a:srgbClr val="000000"/>
                </a:solidFill>
                <a:latin typeface="宋体" panose="02010600030101010101" pitchFamily="2" charset="-122"/>
              </a:rPr>
              <a:t>、用供求图说明这种移动如何改变均衡</a:t>
            </a:r>
            <a:r>
              <a:rPr lang="en-US" altLang="zh-CN" sz="2800" b="1" dirty="0">
                <a:solidFill>
                  <a:srgbClr val="000000"/>
                </a:solidFill>
                <a:latin typeface="宋体" panose="02010600030101010101" pitchFamily="2" charset="-122"/>
              </a:rPr>
              <a:t>.</a:t>
            </a:r>
            <a:br>
              <a:rPr lang="en-US" altLang="zh-CN" sz="2800" b="1" dirty="0">
                <a:solidFill>
                  <a:srgbClr val="000000"/>
                </a:solidFill>
                <a:latin typeface="宋体" panose="02010600030101010101" pitchFamily="2" charset="-122"/>
              </a:rPr>
            </a:br>
            <a:br>
              <a:rPr lang="en-US" altLang="zh-CN" sz="2800" b="1" dirty="0">
                <a:solidFill>
                  <a:srgbClr val="000000"/>
                </a:solidFill>
                <a:latin typeface="宋体" panose="02010600030101010101" pitchFamily="2" charset="-122"/>
              </a:rPr>
            </a:br>
            <a:r>
              <a:rPr lang="zh-CN" altLang="en-US" sz="2800" b="1" dirty="0">
                <a:solidFill>
                  <a:srgbClr val="000000"/>
                </a:solidFill>
                <a:latin typeface="宋体" panose="02010600030101010101" pitchFamily="2" charset="-122"/>
              </a:rPr>
              <a:t>动态分析是考察在时间变化过程中的均衡状态的实际变化过程</a:t>
            </a:r>
            <a:br>
              <a:rPr lang="zh-CN" altLang="en-US" sz="2800" b="1" dirty="0">
                <a:solidFill>
                  <a:srgbClr val="000000"/>
                </a:solidFill>
                <a:latin typeface="宋体" panose="02010600030101010101" pitchFamily="2" charset="-122"/>
              </a:rPr>
            </a:br>
            <a:endParaRPr lang="zh-CN" altLang="en-US" sz="2800" b="1" dirty="0">
              <a:solidFill>
                <a:srgbClr val="000000"/>
              </a:solidFill>
              <a:latin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a:xfrm>
            <a:off x="684213" y="44450"/>
            <a:ext cx="7772400" cy="720725"/>
          </a:xfrm>
          <a:ln/>
        </p:spPr>
        <p:txBody>
          <a:bodyPr vert="horz" wrap="square" lIns="91440" tIns="45720" rIns="91440" bIns="45720" anchor="ctr" anchorCtr="0"/>
          <a:p>
            <a:pPr eaLnBrk="1" hangingPunct="1"/>
            <a:r>
              <a:rPr lang="zh-CN" altLang="en-US" sz="4000" b="1" dirty="0">
                <a:solidFill>
                  <a:srgbClr val="FF0000"/>
                </a:solidFill>
              </a:rPr>
              <a:t>四、支持价格和限制价格</a:t>
            </a:r>
            <a:endParaRPr lang="zh-CN" altLang="en-US" sz="4000" b="1" dirty="0">
              <a:solidFill>
                <a:srgbClr val="FF0000"/>
              </a:solidFill>
              <a:ea typeface="楷体_GB2312" pitchFamily="49" charset="-122"/>
            </a:endParaRPr>
          </a:p>
        </p:txBody>
      </p:sp>
      <p:sp>
        <p:nvSpPr>
          <p:cNvPr id="40963" name="Rectangle 3"/>
          <p:cNvSpPr>
            <a:spLocks noGrp="1"/>
          </p:cNvSpPr>
          <p:nvPr>
            <p:ph idx="1"/>
          </p:nvPr>
        </p:nvSpPr>
        <p:spPr>
          <a:xfrm>
            <a:off x="685800" y="1557338"/>
            <a:ext cx="7772400" cy="4538662"/>
          </a:xfrm>
          <a:ln/>
        </p:spPr>
        <p:txBody>
          <a:bodyPr vert="horz" wrap="square" lIns="91440" tIns="45720" rIns="91440" bIns="45720" anchor="t" anchorCtr="0"/>
          <a:p>
            <a:pPr marL="0" indent="0" eaLnBrk="1" hangingPunct="1">
              <a:buNone/>
            </a:pPr>
            <a:r>
              <a:rPr lang="zh-CN" altLang="en-US" sz="3600" b="1" dirty="0">
                <a:solidFill>
                  <a:srgbClr val="000000"/>
                </a:solidFill>
              </a:rPr>
              <a:t>支持价格：是指政府为了扶植某一行业的生产相对该行业产品规定的高于市场均衡价格的最低价格。</a:t>
            </a:r>
            <a:br>
              <a:rPr lang="zh-CN" altLang="en-US" sz="3600" b="1" dirty="0">
                <a:solidFill>
                  <a:srgbClr val="000000"/>
                </a:solidFill>
              </a:rPr>
            </a:br>
            <a:endParaRPr lang="zh-CN" altLang="en-US" sz="3600" b="1" dirty="0">
              <a:solidFill>
                <a:srgbClr val="000000"/>
              </a:solidFill>
            </a:endParaRPr>
          </a:p>
          <a:p>
            <a:pPr marL="0" indent="0" eaLnBrk="1" hangingPunct="1">
              <a:buNone/>
            </a:pPr>
            <a:r>
              <a:rPr lang="zh-CN" altLang="en-US" sz="3600" b="1" dirty="0">
                <a:solidFill>
                  <a:srgbClr val="000000"/>
                </a:solidFill>
              </a:rPr>
              <a:t>限制价格：是指政府对限制某些商品价格而对其规定的最高限价。</a:t>
            </a:r>
            <a:endParaRPr lang="zh-CN" altLang="en-US" sz="3600" b="1" dirty="0">
              <a:solidFill>
                <a:srgbClr val="00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a:xfrm>
            <a:off x="685800" y="115888"/>
            <a:ext cx="7772400" cy="2233612"/>
          </a:xfrm>
          <a:ln/>
        </p:spPr>
        <p:txBody>
          <a:bodyPr vert="horz" wrap="square" lIns="91440" tIns="45720" rIns="91440" bIns="45720" anchor="ctr" anchorCtr="0"/>
          <a:p>
            <a:pPr algn="l" eaLnBrk="1" hangingPunct="1"/>
            <a:r>
              <a:rPr lang="zh-CN" altLang="en-US" sz="2800" b="1" dirty="0">
                <a:latin typeface="宋体" panose="02010600030101010101" pitchFamily="2" charset="-122"/>
              </a:rPr>
              <a:t>政府限价</a:t>
            </a:r>
            <a:br>
              <a:rPr lang="zh-CN" altLang="en-US" sz="2800" b="1" dirty="0">
                <a:latin typeface="宋体" panose="02010600030101010101" pitchFamily="2" charset="-122"/>
              </a:rPr>
            </a:br>
            <a:r>
              <a:rPr lang="zh-CN" altLang="en-US" sz="2800" b="1" dirty="0">
                <a:latin typeface="宋体" panose="02010600030101010101" pitchFamily="2" charset="-122"/>
              </a:rPr>
              <a:t>最高限价（</a:t>
            </a:r>
            <a:r>
              <a:rPr lang="en-US" altLang="zh-CN" sz="2800" b="1" dirty="0">
                <a:latin typeface="宋体" panose="02010600030101010101" pitchFamily="2" charset="-122"/>
              </a:rPr>
              <a:t>price ceiling</a:t>
            </a:r>
            <a:r>
              <a:rPr lang="zh-CN" altLang="en-US" sz="2800" b="1" dirty="0">
                <a:latin typeface="宋体" panose="02010600030101010101" pitchFamily="2" charset="-122"/>
              </a:rPr>
              <a:t>）：最高限价低于均衡价格时，会产生超额需求。</a:t>
            </a:r>
            <a:br>
              <a:rPr lang="zh-CN" altLang="en-US" sz="2800" b="1" dirty="0">
                <a:latin typeface="宋体" panose="02010600030101010101" pitchFamily="2" charset="-122"/>
              </a:rPr>
            </a:br>
            <a:r>
              <a:rPr lang="zh-CN" altLang="en-US" sz="2800" b="1" dirty="0">
                <a:latin typeface="宋体" panose="02010600030101010101" pitchFamily="2" charset="-122"/>
              </a:rPr>
              <a:t>最低限价（</a:t>
            </a:r>
            <a:r>
              <a:rPr lang="en-US" altLang="zh-CN" sz="2800" b="1" dirty="0">
                <a:latin typeface="宋体" panose="02010600030101010101" pitchFamily="2" charset="-122"/>
              </a:rPr>
              <a:t>price floor</a:t>
            </a:r>
            <a:r>
              <a:rPr lang="zh-CN" altLang="en-US" sz="2800" b="1" dirty="0">
                <a:latin typeface="宋体" panose="02010600030101010101" pitchFamily="2" charset="-122"/>
              </a:rPr>
              <a:t>） ：最低限价高于均衡价格时，会产生超额供给。</a:t>
            </a:r>
            <a:endParaRPr lang="zh-CN" altLang="en-US" sz="2800" b="1" dirty="0">
              <a:latin typeface="宋体" panose="02010600030101010101" pitchFamily="2" charset="-122"/>
            </a:endParaRPr>
          </a:p>
        </p:txBody>
      </p:sp>
      <p:grpSp>
        <p:nvGrpSpPr>
          <p:cNvPr id="41987" name="Group 3"/>
          <p:cNvGrpSpPr/>
          <p:nvPr/>
        </p:nvGrpSpPr>
        <p:grpSpPr>
          <a:xfrm>
            <a:off x="1331913" y="2636838"/>
            <a:ext cx="6729412" cy="3529012"/>
            <a:chOff x="2160" y="4092"/>
            <a:chExt cx="8100" cy="2808"/>
          </a:xfrm>
        </p:grpSpPr>
        <p:grpSp>
          <p:nvGrpSpPr>
            <p:cNvPr id="41994" name="Group 4"/>
            <p:cNvGrpSpPr/>
            <p:nvPr/>
          </p:nvGrpSpPr>
          <p:grpSpPr>
            <a:xfrm>
              <a:off x="2160" y="4248"/>
              <a:ext cx="3783" cy="2652"/>
              <a:chOff x="2157" y="11892"/>
              <a:chExt cx="3783" cy="2652"/>
            </a:xfrm>
          </p:grpSpPr>
          <p:sp>
            <p:nvSpPr>
              <p:cNvPr id="42007" name="Line 5"/>
              <p:cNvSpPr/>
              <p:nvPr/>
            </p:nvSpPr>
            <p:spPr>
              <a:xfrm>
                <a:off x="2520" y="12519"/>
                <a:ext cx="1980" cy="0"/>
              </a:xfrm>
              <a:prstGeom prst="line">
                <a:avLst/>
              </a:prstGeom>
              <a:ln w="28575" cap="rnd" cmpd="sng">
                <a:solidFill>
                  <a:srgbClr val="000000"/>
                </a:solidFill>
                <a:prstDash val="sysDot"/>
                <a:headEnd type="none" w="med" len="med"/>
                <a:tailEnd type="none" w="med" len="med"/>
              </a:ln>
            </p:spPr>
          </p:sp>
          <p:grpSp>
            <p:nvGrpSpPr>
              <p:cNvPr id="42008" name="Group 6"/>
              <p:cNvGrpSpPr/>
              <p:nvPr/>
            </p:nvGrpSpPr>
            <p:grpSpPr>
              <a:xfrm>
                <a:off x="2520" y="11895"/>
                <a:ext cx="2880" cy="2340"/>
                <a:chOff x="2520" y="5964"/>
                <a:chExt cx="2880" cy="2340"/>
              </a:xfrm>
            </p:grpSpPr>
            <p:sp>
              <p:nvSpPr>
                <p:cNvPr id="42014" name="Line 7"/>
                <p:cNvSpPr/>
                <p:nvPr/>
              </p:nvSpPr>
              <p:spPr>
                <a:xfrm flipV="1">
                  <a:off x="2520" y="5964"/>
                  <a:ext cx="0" cy="2340"/>
                </a:xfrm>
                <a:prstGeom prst="line">
                  <a:avLst/>
                </a:prstGeom>
                <a:ln w="38100" cap="flat" cmpd="sng">
                  <a:solidFill>
                    <a:srgbClr val="000000"/>
                  </a:solidFill>
                  <a:prstDash val="solid"/>
                  <a:headEnd type="none" w="med" len="med"/>
                  <a:tailEnd type="stealth" w="lg" len="lg"/>
                </a:ln>
              </p:spPr>
            </p:sp>
            <p:sp>
              <p:nvSpPr>
                <p:cNvPr id="42015" name="Line 8"/>
                <p:cNvSpPr/>
                <p:nvPr/>
              </p:nvSpPr>
              <p:spPr>
                <a:xfrm>
                  <a:off x="2520" y="8304"/>
                  <a:ext cx="2880" cy="0"/>
                </a:xfrm>
                <a:prstGeom prst="line">
                  <a:avLst/>
                </a:prstGeom>
                <a:ln w="38100" cap="flat" cmpd="sng">
                  <a:solidFill>
                    <a:srgbClr val="000000"/>
                  </a:solidFill>
                  <a:prstDash val="solid"/>
                  <a:headEnd type="none" w="med" len="med"/>
                  <a:tailEnd type="stealth" w="lg" len="lg"/>
                </a:ln>
              </p:spPr>
            </p:sp>
            <p:sp>
              <p:nvSpPr>
                <p:cNvPr id="42016" name="Line 9"/>
                <p:cNvSpPr/>
                <p:nvPr/>
              </p:nvSpPr>
              <p:spPr>
                <a:xfrm flipV="1">
                  <a:off x="2700" y="6276"/>
                  <a:ext cx="2340" cy="1404"/>
                </a:xfrm>
                <a:prstGeom prst="line">
                  <a:avLst/>
                </a:prstGeom>
                <a:ln w="38100" cap="flat" cmpd="sng">
                  <a:solidFill>
                    <a:srgbClr val="000000"/>
                  </a:solidFill>
                  <a:prstDash val="solid"/>
                  <a:headEnd type="none" w="med" len="med"/>
                  <a:tailEnd type="none" w="med" len="med"/>
                </a:ln>
              </p:spPr>
            </p:sp>
            <p:sp>
              <p:nvSpPr>
                <p:cNvPr id="42017" name="Line 10"/>
                <p:cNvSpPr/>
                <p:nvPr/>
              </p:nvSpPr>
              <p:spPr>
                <a:xfrm>
                  <a:off x="2880" y="6432"/>
                  <a:ext cx="2340" cy="1248"/>
                </a:xfrm>
                <a:prstGeom prst="line">
                  <a:avLst/>
                </a:prstGeom>
                <a:ln w="38100" cap="flat" cmpd="sng">
                  <a:solidFill>
                    <a:srgbClr val="000000"/>
                  </a:solidFill>
                  <a:prstDash val="solid"/>
                  <a:headEnd type="none" w="med" len="med"/>
                  <a:tailEnd type="none" w="med" len="med"/>
                </a:ln>
              </p:spPr>
            </p:sp>
            <p:sp>
              <p:nvSpPr>
                <p:cNvPr id="42018" name="AutoShape 11"/>
                <p:cNvSpPr/>
                <p:nvPr/>
              </p:nvSpPr>
              <p:spPr>
                <a:xfrm rot="5400000">
                  <a:off x="3792" y="5880"/>
                  <a:ext cx="156" cy="1260"/>
                </a:xfrm>
                <a:prstGeom prst="leftBrace">
                  <a:avLst>
                    <a:gd name="adj1" fmla="val 67307"/>
                    <a:gd name="adj2" fmla="val 50000"/>
                  </a:avLst>
                </a:prstGeom>
                <a:noFill/>
                <a:ln w="28575" cap="flat" cmpd="sng">
                  <a:solidFill>
                    <a:srgbClr val="000000"/>
                  </a:solidFill>
                  <a:prstDash val="solid"/>
                  <a:headEnd type="none" w="med" len="med"/>
                  <a:tailEnd type="none" w="med" len="med"/>
                </a:ln>
              </p:spPr>
              <p:txBody>
                <a:bodyPr/>
                <a:p>
                  <a:endParaRPr lang="zh-CN" altLang="en-US" dirty="0">
                    <a:latin typeface="宋体" panose="02010600030101010101" pitchFamily="2" charset="-122"/>
                  </a:endParaRPr>
                </a:p>
              </p:txBody>
            </p:sp>
            <p:sp>
              <p:nvSpPr>
                <p:cNvPr id="42019" name="Line 12"/>
                <p:cNvSpPr/>
                <p:nvPr/>
              </p:nvSpPr>
              <p:spPr>
                <a:xfrm>
                  <a:off x="4500" y="6588"/>
                  <a:ext cx="0" cy="1716"/>
                </a:xfrm>
                <a:prstGeom prst="line">
                  <a:avLst/>
                </a:prstGeom>
                <a:ln w="28575" cap="rnd" cmpd="sng">
                  <a:solidFill>
                    <a:srgbClr val="000000"/>
                  </a:solidFill>
                  <a:prstDash val="sysDot"/>
                  <a:headEnd type="none" w="med" len="med"/>
                  <a:tailEnd type="none" w="med" len="med"/>
                </a:ln>
              </p:spPr>
            </p:sp>
            <p:sp>
              <p:nvSpPr>
                <p:cNvPr id="42020" name="Line 13"/>
                <p:cNvSpPr/>
                <p:nvPr/>
              </p:nvSpPr>
              <p:spPr>
                <a:xfrm>
                  <a:off x="3240" y="6588"/>
                  <a:ext cx="0" cy="1716"/>
                </a:xfrm>
                <a:prstGeom prst="line">
                  <a:avLst/>
                </a:prstGeom>
                <a:ln w="28575" cap="rnd" cmpd="sng">
                  <a:solidFill>
                    <a:srgbClr val="000000"/>
                  </a:solidFill>
                  <a:prstDash val="sysDot"/>
                  <a:headEnd type="none" w="med" len="med"/>
                  <a:tailEnd type="none" w="med" len="med"/>
                </a:ln>
              </p:spPr>
            </p:sp>
          </p:grpSp>
          <p:sp>
            <p:nvSpPr>
              <p:cNvPr id="42009" name="Text Box 14"/>
              <p:cNvSpPr txBox="1"/>
              <p:nvPr/>
            </p:nvSpPr>
            <p:spPr>
              <a:xfrm>
                <a:off x="2157" y="11892"/>
                <a:ext cx="540" cy="468"/>
              </a:xfrm>
              <a:prstGeom prst="rect">
                <a:avLst/>
              </a:prstGeom>
              <a:noFill/>
              <a:ln w="9525">
                <a:noFill/>
              </a:ln>
            </p:spPr>
            <p:txBody>
              <a:bodyPr/>
              <a:p>
                <a:pPr algn="just" eaLnBrk="0" hangingPunct="0">
                  <a:lnSpc>
                    <a:spcPct val="100000"/>
                  </a:lnSpc>
                  <a:spcBef>
                    <a:spcPct val="0"/>
                  </a:spcBef>
                  <a:buNone/>
                </a:pPr>
                <a:endParaRPr lang="zh-CN" altLang="zh-CN" sz="1800" dirty="0">
                  <a:latin typeface="Times New Roman" panose="02020603050405020304" pitchFamily="18" charset="0"/>
                </a:endParaRPr>
              </a:p>
            </p:txBody>
          </p:sp>
          <p:sp>
            <p:nvSpPr>
              <p:cNvPr id="42010" name="Text Box 15"/>
              <p:cNvSpPr txBox="1"/>
              <p:nvPr/>
            </p:nvSpPr>
            <p:spPr>
              <a:xfrm>
                <a:off x="5400" y="14076"/>
                <a:ext cx="540" cy="468"/>
              </a:xfrm>
              <a:prstGeom prst="rect">
                <a:avLst/>
              </a:prstGeom>
              <a:noFill/>
              <a:ln w="9525">
                <a:noFill/>
              </a:ln>
            </p:spPr>
            <p:txBody>
              <a:bodyPr/>
              <a:p>
                <a:pPr algn="just" eaLnBrk="0" hangingPunct="0">
                  <a:lnSpc>
                    <a:spcPct val="100000"/>
                  </a:lnSpc>
                  <a:spcBef>
                    <a:spcPct val="0"/>
                  </a:spcBef>
                  <a:buNone/>
                </a:pPr>
                <a:endParaRPr lang="zh-CN" altLang="zh-CN" sz="2400" b="0" dirty="0">
                  <a:latin typeface="Times New Roman" panose="02020603050405020304" pitchFamily="18" charset="0"/>
                </a:endParaRPr>
              </a:p>
            </p:txBody>
          </p:sp>
          <p:sp>
            <p:nvSpPr>
              <p:cNvPr id="42011" name="Text Box 16"/>
              <p:cNvSpPr txBox="1"/>
              <p:nvPr/>
            </p:nvSpPr>
            <p:spPr>
              <a:xfrm>
                <a:off x="5040" y="13293"/>
                <a:ext cx="900" cy="468"/>
              </a:xfrm>
              <a:prstGeom prst="rect">
                <a:avLst/>
              </a:prstGeom>
              <a:noFill/>
              <a:ln w="9525">
                <a:noFill/>
              </a:ln>
            </p:spPr>
            <p:txBody>
              <a:bodyPr/>
              <a:p>
                <a:pPr algn="just" eaLnBrk="0" hangingPunct="0">
                  <a:lnSpc>
                    <a:spcPct val="100000"/>
                  </a:lnSpc>
                  <a:spcBef>
                    <a:spcPct val="0"/>
                  </a:spcBef>
                  <a:buNone/>
                </a:pPr>
                <a:r>
                  <a:rPr lang="zh-CN" altLang="en-US" sz="1800" dirty="0">
                    <a:solidFill>
                      <a:srgbClr val="000000"/>
                    </a:solidFill>
                    <a:latin typeface="宋体" panose="02010600030101010101" pitchFamily="2" charset="-122"/>
                  </a:rPr>
                  <a:t>需求</a:t>
                </a:r>
                <a:endParaRPr lang="zh-CN" altLang="en-US" sz="1800" dirty="0">
                  <a:solidFill>
                    <a:srgbClr val="000000"/>
                  </a:solidFill>
                  <a:latin typeface="Times New Roman" panose="02020603050405020304" pitchFamily="18" charset="0"/>
                </a:endParaRPr>
              </a:p>
            </p:txBody>
          </p:sp>
          <p:sp>
            <p:nvSpPr>
              <p:cNvPr id="42012" name="Text Box 17"/>
              <p:cNvSpPr txBox="1"/>
              <p:nvPr/>
            </p:nvSpPr>
            <p:spPr>
              <a:xfrm>
                <a:off x="5040" y="12045"/>
                <a:ext cx="900" cy="468"/>
              </a:xfrm>
              <a:prstGeom prst="rect">
                <a:avLst/>
              </a:prstGeom>
              <a:noFill/>
              <a:ln w="9525">
                <a:noFill/>
              </a:ln>
            </p:spPr>
            <p:txBody>
              <a:bodyPr/>
              <a:p>
                <a:pPr algn="just" eaLnBrk="0" hangingPunct="0">
                  <a:lnSpc>
                    <a:spcPct val="100000"/>
                  </a:lnSpc>
                  <a:spcBef>
                    <a:spcPct val="0"/>
                  </a:spcBef>
                  <a:buNone/>
                </a:pPr>
                <a:r>
                  <a:rPr lang="zh-CN" altLang="en-US" sz="1800" dirty="0">
                    <a:solidFill>
                      <a:srgbClr val="000000"/>
                    </a:solidFill>
                    <a:latin typeface="宋体" panose="02010600030101010101" pitchFamily="2" charset="-122"/>
                  </a:rPr>
                  <a:t>供给</a:t>
                </a:r>
                <a:endParaRPr lang="zh-CN" altLang="en-US" sz="1800" dirty="0">
                  <a:solidFill>
                    <a:srgbClr val="000000"/>
                  </a:solidFill>
                  <a:latin typeface="Times New Roman" panose="02020603050405020304" pitchFamily="18" charset="0"/>
                </a:endParaRPr>
              </a:p>
            </p:txBody>
          </p:sp>
          <p:sp>
            <p:nvSpPr>
              <p:cNvPr id="42013" name="Text Box 18"/>
              <p:cNvSpPr txBox="1"/>
              <p:nvPr/>
            </p:nvSpPr>
            <p:spPr>
              <a:xfrm>
                <a:off x="3420" y="12045"/>
                <a:ext cx="1080" cy="468"/>
              </a:xfrm>
              <a:prstGeom prst="rect">
                <a:avLst/>
              </a:prstGeom>
              <a:noFill/>
              <a:ln w="9525">
                <a:noFill/>
              </a:ln>
            </p:spPr>
            <p:txBody>
              <a:bodyPr/>
              <a:p>
                <a:pPr eaLnBrk="0" hangingPunct="0">
                  <a:lnSpc>
                    <a:spcPct val="100000"/>
                  </a:lnSpc>
                  <a:spcBef>
                    <a:spcPct val="0"/>
                  </a:spcBef>
                  <a:buNone/>
                </a:pPr>
                <a:endParaRPr lang="zh-CN" altLang="zh-CN" b="0" dirty="0">
                  <a:latin typeface="Times New Roman" panose="02020603050405020304" pitchFamily="18" charset="0"/>
                </a:endParaRPr>
              </a:p>
            </p:txBody>
          </p:sp>
        </p:grpSp>
        <p:grpSp>
          <p:nvGrpSpPr>
            <p:cNvPr id="41995" name="Group 19"/>
            <p:cNvGrpSpPr/>
            <p:nvPr/>
          </p:nvGrpSpPr>
          <p:grpSpPr>
            <a:xfrm>
              <a:off x="6660" y="4092"/>
              <a:ext cx="3600" cy="2646"/>
              <a:chOff x="6840" y="11739"/>
              <a:chExt cx="3600" cy="2646"/>
            </a:xfrm>
          </p:grpSpPr>
          <p:grpSp>
            <p:nvGrpSpPr>
              <p:cNvPr id="41996" name="Group 20"/>
              <p:cNvGrpSpPr/>
              <p:nvPr/>
            </p:nvGrpSpPr>
            <p:grpSpPr>
              <a:xfrm>
                <a:off x="6840" y="11739"/>
                <a:ext cx="3060" cy="2496"/>
                <a:chOff x="6840" y="5808"/>
                <a:chExt cx="3060" cy="2496"/>
              </a:xfrm>
            </p:grpSpPr>
            <p:sp>
              <p:nvSpPr>
                <p:cNvPr id="41999" name="Line 21"/>
                <p:cNvSpPr/>
                <p:nvPr/>
              </p:nvSpPr>
              <p:spPr>
                <a:xfrm flipV="1">
                  <a:off x="6840" y="5808"/>
                  <a:ext cx="0" cy="2496"/>
                </a:xfrm>
                <a:prstGeom prst="line">
                  <a:avLst/>
                </a:prstGeom>
                <a:ln w="38100" cap="flat" cmpd="sng">
                  <a:solidFill>
                    <a:srgbClr val="000000"/>
                  </a:solidFill>
                  <a:prstDash val="solid"/>
                  <a:headEnd type="none" w="med" len="med"/>
                  <a:tailEnd type="stealth" w="lg" len="lg"/>
                </a:ln>
              </p:spPr>
            </p:sp>
            <p:sp>
              <p:nvSpPr>
                <p:cNvPr id="42000" name="Line 22"/>
                <p:cNvSpPr/>
                <p:nvPr/>
              </p:nvSpPr>
              <p:spPr>
                <a:xfrm>
                  <a:off x="6840" y="8304"/>
                  <a:ext cx="3060" cy="0"/>
                </a:xfrm>
                <a:prstGeom prst="line">
                  <a:avLst/>
                </a:prstGeom>
                <a:ln w="38100" cap="flat" cmpd="sng">
                  <a:solidFill>
                    <a:srgbClr val="000000"/>
                  </a:solidFill>
                  <a:prstDash val="solid"/>
                  <a:headEnd type="none" w="med" len="med"/>
                  <a:tailEnd type="stealth" w="lg" len="lg"/>
                </a:ln>
              </p:spPr>
            </p:sp>
            <p:sp>
              <p:nvSpPr>
                <p:cNvPr id="42001" name="Line 23"/>
                <p:cNvSpPr/>
                <p:nvPr/>
              </p:nvSpPr>
              <p:spPr>
                <a:xfrm flipV="1">
                  <a:off x="7020" y="6276"/>
                  <a:ext cx="2520" cy="1560"/>
                </a:xfrm>
                <a:prstGeom prst="line">
                  <a:avLst/>
                </a:prstGeom>
                <a:ln w="38100" cap="flat" cmpd="sng">
                  <a:solidFill>
                    <a:srgbClr val="000000"/>
                  </a:solidFill>
                  <a:prstDash val="solid"/>
                  <a:headEnd type="none" w="med" len="med"/>
                  <a:tailEnd type="none" w="med" len="med"/>
                </a:ln>
              </p:spPr>
            </p:sp>
            <p:sp>
              <p:nvSpPr>
                <p:cNvPr id="42002" name="Line 24"/>
                <p:cNvSpPr/>
                <p:nvPr/>
              </p:nvSpPr>
              <p:spPr>
                <a:xfrm>
                  <a:off x="7020" y="6276"/>
                  <a:ext cx="2700" cy="1716"/>
                </a:xfrm>
                <a:prstGeom prst="line">
                  <a:avLst/>
                </a:prstGeom>
                <a:ln w="38100" cap="flat" cmpd="sng">
                  <a:solidFill>
                    <a:srgbClr val="000000"/>
                  </a:solidFill>
                  <a:prstDash val="solid"/>
                  <a:headEnd type="none" w="med" len="med"/>
                  <a:tailEnd type="none" w="med" len="med"/>
                </a:ln>
              </p:spPr>
            </p:sp>
            <p:sp>
              <p:nvSpPr>
                <p:cNvPr id="42003" name="Line 25"/>
                <p:cNvSpPr/>
                <p:nvPr/>
              </p:nvSpPr>
              <p:spPr>
                <a:xfrm>
                  <a:off x="6840" y="7524"/>
                  <a:ext cx="2160" cy="0"/>
                </a:xfrm>
                <a:prstGeom prst="line">
                  <a:avLst/>
                </a:prstGeom>
                <a:ln w="28575" cap="rnd" cmpd="sng">
                  <a:solidFill>
                    <a:srgbClr val="000000"/>
                  </a:solidFill>
                  <a:prstDash val="sysDot"/>
                  <a:headEnd type="none" w="med" len="med"/>
                  <a:tailEnd type="none" w="med" len="med"/>
                </a:ln>
              </p:spPr>
            </p:sp>
            <p:sp>
              <p:nvSpPr>
                <p:cNvPr id="42004" name="Line 26"/>
                <p:cNvSpPr/>
                <p:nvPr/>
              </p:nvSpPr>
              <p:spPr>
                <a:xfrm>
                  <a:off x="9000" y="7524"/>
                  <a:ext cx="0" cy="780"/>
                </a:xfrm>
                <a:prstGeom prst="line">
                  <a:avLst/>
                </a:prstGeom>
                <a:ln w="28575" cap="rnd" cmpd="sng">
                  <a:solidFill>
                    <a:srgbClr val="000000"/>
                  </a:solidFill>
                  <a:prstDash val="sysDot"/>
                  <a:headEnd type="none" w="med" len="med"/>
                  <a:tailEnd type="none" w="med" len="med"/>
                </a:ln>
              </p:spPr>
            </p:sp>
            <p:sp>
              <p:nvSpPr>
                <p:cNvPr id="42005" name="Line 27"/>
                <p:cNvSpPr/>
                <p:nvPr/>
              </p:nvSpPr>
              <p:spPr>
                <a:xfrm>
                  <a:off x="7560" y="7524"/>
                  <a:ext cx="0" cy="780"/>
                </a:xfrm>
                <a:prstGeom prst="line">
                  <a:avLst/>
                </a:prstGeom>
                <a:ln w="28575" cap="rnd" cmpd="sng">
                  <a:solidFill>
                    <a:srgbClr val="000000"/>
                  </a:solidFill>
                  <a:prstDash val="sysDot"/>
                  <a:headEnd type="none" w="med" len="med"/>
                  <a:tailEnd type="none" w="med" len="med"/>
                </a:ln>
              </p:spPr>
            </p:sp>
            <p:sp>
              <p:nvSpPr>
                <p:cNvPr id="42006" name="AutoShape 28"/>
                <p:cNvSpPr/>
                <p:nvPr/>
              </p:nvSpPr>
              <p:spPr>
                <a:xfrm rot="-5449807">
                  <a:off x="8160" y="6924"/>
                  <a:ext cx="240" cy="1440"/>
                </a:xfrm>
                <a:prstGeom prst="leftBrace">
                  <a:avLst>
                    <a:gd name="adj1" fmla="val 50000"/>
                    <a:gd name="adj2" fmla="val 50000"/>
                  </a:avLst>
                </a:prstGeom>
                <a:noFill/>
                <a:ln w="28575" cap="flat" cmpd="sng">
                  <a:solidFill>
                    <a:srgbClr val="000000"/>
                  </a:solidFill>
                  <a:prstDash val="solid"/>
                  <a:headEnd type="none" w="med" len="med"/>
                  <a:tailEnd type="none" w="med" len="med"/>
                </a:ln>
              </p:spPr>
              <p:txBody>
                <a:bodyPr/>
                <a:p>
                  <a:endParaRPr lang="zh-CN" altLang="en-US" dirty="0">
                    <a:latin typeface="宋体" panose="02010600030101010101" pitchFamily="2" charset="-122"/>
                  </a:endParaRPr>
                </a:p>
              </p:txBody>
            </p:sp>
          </p:grpSp>
          <p:sp>
            <p:nvSpPr>
              <p:cNvPr id="41997" name="Text Box 29"/>
              <p:cNvSpPr txBox="1"/>
              <p:nvPr/>
            </p:nvSpPr>
            <p:spPr>
              <a:xfrm>
                <a:off x="7740" y="13605"/>
                <a:ext cx="1080" cy="468"/>
              </a:xfrm>
              <a:prstGeom prst="rect">
                <a:avLst/>
              </a:prstGeom>
              <a:noFill/>
              <a:ln w="9525">
                <a:noFill/>
              </a:ln>
            </p:spPr>
            <p:txBody>
              <a:bodyPr/>
              <a:p>
                <a:pPr algn="just" eaLnBrk="0" hangingPunct="0">
                  <a:lnSpc>
                    <a:spcPct val="100000"/>
                  </a:lnSpc>
                  <a:spcBef>
                    <a:spcPct val="0"/>
                  </a:spcBef>
                  <a:buNone/>
                </a:pPr>
                <a:endParaRPr lang="zh-CN" altLang="zh-CN" sz="2400" b="0" dirty="0">
                  <a:latin typeface="Times New Roman" panose="02020603050405020304" pitchFamily="18" charset="0"/>
                </a:endParaRPr>
              </a:p>
            </p:txBody>
          </p:sp>
          <p:sp>
            <p:nvSpPr>
              <p:cNvPr id="41998" name="Text Box 30"/>
              <p:cNvSpPr txBox="1"/>
              <p:nvPr/>
            </p:nvSpPr>
            <p:spPr>
              <a:xfrm>
                <a:off x="9900" y="13917"/>
                <a:ext cx="540" cy="468"/>
              </a:xfrm>
              <a:prstGeom prst="rect">
                <a:avLst/>
              </a:prstGeom>
              <a:noFill/>
              <a:ln w="9525">
                <a:noFill/>
              </a:ln>
            </p:spPr>
            <p:txBody>
              <a:bodyPr/>
              <a:p>
                <a:pPr algn="just" eaLnBrk="0" hangingPunct="0">
                  <a:lnSpc>
                    <a:spcPct val="100000"/>
                  </a:lnSpc>
                  <a:spcBef>
                    <a:spcPct val="0"/>
                  </a:spcBef>
                  <a:buNone/>
                </a:pPr>
                <a:endParaRPr lang="zh-CN" altLang="zh-CN" sz="2400" b="0" dirty="0">
                  <a:latin typeface="Times New Roman" panose="02020603050405020304" pitchFamily="18" charset="0"/>
                </a:endParaRPr>
              </a:p>
            </p:txBody>
          </p:sp>
        </p:grpSp>
      </p:grpSp>
      <p:sp>
        <p:nvSpPr>
          <p:cNvPr id="41988" name="Text Box 31"/>
          <p:cNvSpPr txBox="1"/>
          <p:nvPr/>
        </p:nvSpPr>
        <p:spPr>
          <a:xfrm>
            <a:off x="2124075" y="2997200"/>
            <a:ext cx="1441450" cy="396875"/>
          </a:xfrm>
          <a:prstGeom prst="rect">
            <a:avLst/>
          </a:prstGeom>
          <a:noFill/>
          <a:ln w="9525">
            <a:noFill/>
          </a:ln>
        </p:spPr>
        <p:txBody>
          <a:bodyPr>
            <a:spAutoFit/>
          </a:bodyPr>
          <a:p>
            <a:pPr eaLnBrk="0" hangingPunct="0">
              <a:lnSpc>
                <a:spcPct val="100000"/>
              </a:lnSpc>
              <a:spcBef>
                <a:spcPct val="50000"/>
              </a:spcBef>
              <a:buNone/>
            </a:pPr>
            <a:r>
              <a:rPr lang="zh-CN" altLang="en-US" dirty="0">
                <a:solidFill>
                  <a:srgbClr val="000000"/>
                </a:solidFill>
                <a:latin typeface="Times New Roman" panose="02020603050405020304" pitchFamily="18" charset="0"/>
              </a:rPr>
              <a:t>超额供给</a:t>
            </a:r>
            <a:endParaRPr lang="zh-CN" altLang="en-US" dirty="0">
              <a:solidFill>
                <a:srgbClr val="000000"/>
              </a:solidFill>
              <a:latin typeface="Times New Roman" panose="02020603050405020304" pitchFamily="18" charset="0"/>
            </a:endParaRPr>
          </a:p>
        </p:txBody>
      </p:sp>
      <p:sp>
        <p:nvSpPr>
          <p:cNvPr id="41989" name="Text Box 32"/>
          <p:cNvSpPr txBox="1"/>
          <p:nvPr/>
        </p:nvSpPr>
        <p:spPr>
          <a:xfrm>
            <a:off x="5724525" y="5300663"/>
            <a:ext cx="1295400" cy="396875"/>
          </a:xfrm>
          <a:prstGeom prst="rect">
            <a:avLst/>
          </a:prstGeom>
          <a:noFill/>
          <a:ln w="9525">
            <a:noFill/>
          </a:ln>
        </p:spPr>
        <p:txBody>
          <a:bodyPr>
            <a:spAutoFit/>
          </a:bodyPr>
          <a:p>
            <a:pPr eaLnBrk="0" hangingPunct="0">
              <a:lnSpc>
                <a:spcPct val="100000"/>
              </a:lnSpc>
              <a:spcBef>
                <a:spcPct val="50000"/>
              </a:spcBef>
              <a:buNone/>
            </a:pPr>
            <a:r>
              <a:rPr lang="zh-CN" altLang="en-US" dirty="0">
                <a:solidFill>
                  <a:srgbClr val="000000"/>
                </a:solidFill>
                <a:latin typeface="Times New Roman" panose="02020603050405020304" pitchFamily="18" charset="0"/>
              </a:rPr>
              <a:t>超额需求</a:t>
            </a:r>
            <a:endParaRPr lang="zh-CN" altLang="en-US" dirty="0">
              <a:solidFill>
                <a:srgbClr val="000000"/>
              </a:solidFill>
              <a:latin typeface="Times New Roman" panose="02020603050405020304" pitchFamily="18" charset="0"/>
            </a:endParaRPr>
          </a:p>
        </p:txBody>
      </p:sp>
      <p:sp>
        <p:nvSpPr>
          <p:cNvPr id="41990" name="Text Box 33"/>
          <p:cNvSpPr txBox="1"/>
          <p:nvPr/>
        </p:nvSpPr>
        <p:spPr>
          <a:xfrm>
            <a:off x="3779838" y="5805488"/>
            <a:ext cx="576262"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a:t>
            </a:r>
            <a:endParaRPr lang="en-US" altLang="zh-CN" sz="2400" b="0" dirty="0">
              <a:latin typeface="Times New Roman" panose="02020603050405020304" pitchFamily="18" charset="0"/>
            </a:endParaRPr>
          </a:p>
        </p:txBody>
      </p:sp>
      <p:sp>
        <p:nvSpPr>
          <p:cNvPr id="41991" name="Text Box 34"/>
          <p:cNvSpPr txBox="1"/>
          <p:nvPr/>
        </p:nvSpPr>
        <p:spPr>
          <a:xfrm>
            <a:off x="4500563" y="2492375"/>
            <a:ext cx="576262"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
        <p:nvSpPr>
          <p:cNvPr id="41992" name="Text Box 35"/>
          <p:cNvSpPr txBox="1"/>
          <p:nvPr/>
        </p:nvSpPr>
        <p:spPr>
          <a:xfrm>
            <a:off x="7596188" y="5734050"/>
            <a:ext cx="576262"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Q</a:t>
            </a:r>
            <a:endParaRPr lang="en-US" altLang="zh-CN" sz="2400" b="0" dirty="0">
              <a:latin typeface="Times New Roman" panose="02020603050405020304" pitchFamily="18" charset="0"/>
            </a:endParaRPr>
          </a:p>
        </p:txBody>
      </p:sp>
      <p:sp>
        <p:nvSpPr>
          <p:cNvPr id="41993" name="Text Box 36"/>
          <p:cNvSpPr txBox="1"/>
          <p:nvPr/>
        </p:nvSpPr>
        <p:spPr>
          <a:xfrm>
            <a:off x="1187450" y="2636838"/>
            <a:ext cx="576263" cy="457200"/>
          </a:xfrm>
          <a:prstGeom prst="rect">
            <a:avLst/>
          </a:prstGeom>
          <a:noFill/>
          <a:ln w="9525">
            <a:noFill/>
          </a:ln>
        </p:spPr>
        <p:txBody>
          <a:bodyPr>
            <a:spAutoFit/>
          </a:bodyPr>
          <a:p>
            <a:pPr eaLnBrk="0" hangingPunct="0">
              <a:lnSpc>
                <a:spcPct val="100000"/>
              </a:lnSpc>
              <a:spcBef>
                <a:spcPct val="50000"/>
              </a:spcBef>
              <a:buNone/>
            </a:pPr>
            <a:r>
              <a:rPr lang="en-US" altLang="zh-CN" sz="2400" b="0" dirty="0">
                <a:latin typeface="Times New Roman" panose="02020603050405020304" pitchFamily="18" charset="0"/>
              </a:rPr>
              <a:t>P</a:t>
            </a:r>
            <a:endParaRPr lang="en-US" altLang="zh-CN" sz="2400" b="0" dirty="0">
              <a:latin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idx="1"/>
          </p:nvPr>
        </p:nvSpPr>
        <p:spPr>
          <a:xfrm>
            <a:off x="685800" y="620713"/>
            <a:ext cx="7772400" cy="5475287"/>
          </a:xfrm>
          <a:ln/>
        </p:spPr>
        <p:txBody>
          <a:bodyPr vert="horz" wrap="square" lIns="91440" tIns="45720" rIns="91440" bIns="45720" anchor="t" anchorCtr="0"/>
          <a:p>
            <a:pPr marL="0" indent="0" eaLnBrk="1" hangingPunct="1">
              <a:buNone/>
            </a:pPr>
            <a:r>
              <a:rPr lang="zh-CN" altLang="en-US" sz="3600" b="1" dirty="0">
                <a:solidFill>
                  <a:srgbClr val="000000"/>
                </a:solidFill>
                <a:latin typeface="宋体" panose="02010600030101010101" pitchFamily="2" charset="-122"/>
              </a:rPr>
              <a:t>思考题：</a:t>
            </a:r>
            <a:br>
              <a:rPr lang="zh-CN" altLang="en-US" sz="3600" b="1" dirty="0">
                <a:solidFill>
                  <a:srgbClr val="000000"/>
                </a:solidFill>
                <a:latin typeface="宋体" panose="02010600030101010101" pitchFamily="2" charset="-122"/>
              </a:rPr>
            </a:br>
            <a:r>
              <a:rPr lang="en-US" altLang="zh-CN" b="1" dirty="0">
                <a:solidFill>
                  <a:srgbClr val="000000"/>
                </a:solidFill>
                <a:latin typeface="宋体" panose="02010600030101010101" pitchFamily="2" charset="-122"/>
              </a:rPr>
              <a:t>1</a:t>
            </a:r>
            <a:r>
              <a:rPr lang="zh-CN" altLang="en-US" b="1" dirty="0">
                <a:solidFill>
                  <a:srgbClr val="000000"/>
                </a:solidFill>
                <a:latin typeface="宋体" panose="02010600030101010101" pitchFamily="2" charset="-122"/>
              </a:rPr>
              <a:t>、在下列情况下磁带的价格和交易量会发生什么变化？</a:t>
            </a:r>
            <a:r>
              <a:rPr lang="en-US" altLang="zh-CN" b="1" dirty="0">
                <a:solidFill>
                  <a:srgbClr val="000000"/>
                </a:solidFill>
                <a:latin typeface="宋体" panose="02010600030101010101" pitchFamily="2" charset="-122"/>
              </a:rPr>
              <a:t>(</a:t>
            </a:r>
            <a:r>
              <a:rPr lang="zh-CN" altLang="en-US" b="1" dirty="0">
                <a:solidFill>
                  <a:srgbClr val="000000"/>
                </a:solidFill>
                <a:latin typeface="宋体" panose="02010600030101010101" pitchFamily="2" charset="-122"/>
              </a:rPr>
              <a:t>用图示说明）</a:t>
            </a:r>
            <a:br>
              <a:rPr lang="zh-CN" altLang="en-US" b="1" dirty="0">
                <a:solidFill>
                  <a:srgbClr val="000000"/>
                </a:solidFill>
                <a:latin typeface="宋体" panose="02010600030101010101" pitchFamily="2" charset="-122"/>
              </a:rPr>
            </a:br>
            <a:br>
              <a:rPr lang="zh-CN" altLang="en-US" b="1" dirty="0">
                <a:solidFill>
                  <a:srgbClr val="000000"/>
                </a:solidFill>
                <a:latin typeface="宋体" panose="02010600030101010101" pitchFamily="2" charset="-122"/>
              </a:rPr>
            </a:br>
            <a:r>
              <a:rPr lang="zh-CN" altLang="en-US" b="1" dirty="0">
                <a:solidFill>
                  <a:srgbClr val="000000"/>
                </a:solidFill>
                <a:latin typeface="宋体" panose="02010600030101010101" pitchFamily="2" charset="-122"/>
              </a:rPr>
              <a:t>① </a:t>
            </a:r>
            <a:r>
              <a:rPr lang="en-US" altLang="zh-CN" b="1" dirty="0">
                <a:solidFill>
                  <a:srgbClr val="000000"/>
                </a:solidFill>
                <a:latin typeface="宋体" panose="02010600030101010101" pitchFamily="2" charset="-122"/>
              </a:rPr>
              <a:t>CD</a:t>
            </a:r>
            <a:r>
              <a:rPr lang="zh-CN" altLang="en-US" b="1" dirty="0">
                <a:solidFill>
                  <a:srgbClr val="000000"/>
                </a:solidFill>
                <a:latin typeface="宋体" panose="02010600030101010101" pitchFamily="2" charset="-122"/>
              </a:rPr>
              <a:t>唱片价格上升，</a:t>
            </a:r>
            <a:br>
              <a:rPr lang="zh-CN" altLang="en-US" b="1" dirty="0">
                <a:solidFill>
                  <a:srgbClr val="000000"/>
                </a:solidFill>
                <a:latin typeface="宋体" panose="02010600030101010101" pitchFamily="2" charset="-122"/>
              </a:rPr>
            </a:br>
            <a:r>
              <a:rPr lang="zh-CN" altLang="en-US" b="1" dirty="0">
                <a:solidFill>
                  <a:srgbClr val="000000"/>
                </a:solidFill>
                <a:latin typeface="宋体" panose="02010600030101010101" pitchFamily="2" charset="-122"/>
              </a:rPr>
              <a:t>②录音机价格上升，</a:t>
            </a:r>
            <a:br>
              <a:rPr lang="zh-CN" altLang="en-US" b="1" dirty="0">
                <a:solidFill>
                  <a:srgbClr val="000000"/>
                </a:solidFill>
                <a:latin typeface="宋体" panose="02010600030101010101" pitchFamily="2" charset="-122"/>
              </a:rPr>
            </a:br>
            <a:r>
              <a:rPr lang="zh-CN" altLang="en-US" b="1" dirty="0">
                <a:solidFill>
                  <a:srgbClr val="000000"/>
                </a:solidFill>
                <a:latin typeface="宋体" panose="02010600030101010101" pitchFamily="2" charset="-122"/>
              </a:rPr>
              <a:t>③消费者收入增加，企业在生产磁带时使用了节约成本技术。</a:t>
            </a:r>
            <a:endParaRPr lang="zh-CN" altLang="en-US" b="1" dirty="0">
              <a:solidFill>
                <a:srgbClr val="000000"/>
              </a:solidFill>
              <a:latin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idx="1"/>
          </p:nvPr>
        </p:nvSpPr>
        <p:spPr>
          <a:xfrm>
            <a:off x="685800" y="620713"/>
            <a:ext cx="7772400" cy="5761037"/>
          </a:xfrm>
          <a:ln/>
        </p:spPr>
        <p:txBody>
          <a:bodyPr vert="horz" wrap="square" lIns="91440" tIns="45720" rIns="91440" bIns="45720" anchor="t" anchorCtr="0"/>
          <a:p>
            <a:pPr marL="0" indent="0" eaLnBrk="1" hangingPunct="1">
              <a:buNone/>
            </a:pPr>
            <a:r>
              <a:rPr lang="en-US" altLang="zh-CN" b="1" dirty="0">
                <a:solidFill>
                  <a:srgbClr val="000000"/>
                </a:solidFill>
                <a:latin typeface="宋体" panose="02010600030101010101" pitchFamily="2" charset="-122"/>
              </a:rPr>
              <a:t>2</a:t>
            </a:r>
            <a:r>
              <a:rPr lang="zh-CN" altLang="en-US" b="1" dirty="0">
                <a:solidFill>
                  <a:srgbClr val="000000"/>
                </a:solidFill>
                <a:latin typeface="宋体" panose="02010600030101010101" pitchFamily="2" charset="-122"/>
              </a:rPr>
              <a:t>、交响音乐会的供给和需求曲线如下：</a:t>
            </a:r>
            <a:br>
              <a:rPr lang="zh-CN" altLang="en-US" b="1" dirty="0">
                <a:solidFill>
                  <a:srgbClr val="000000"/>
                </a:solidFill>
                <a:latin typeface="宋体" panose="02010600030101010101" pitchFamily="2" charset="-122"/>
              </a:rPr>
            </a:br>
            <a:r>
              <a:rPr lang="en-US" altLang="zh-CN" b="1" i="1" dirty="0">
                <a:solidFill>
                  <a:srgbClr val="000000"/>
                </a:solidFill>
                <a:latin typeface="宋体" panose="02010600030101010101" pitchFamily="2" charset="-122"/>
              </a:rPr>
              <a:t>Q</a:t>
            </a:r>
            <a:r>
              <a:rPr lang="en-US" altLang="zh-CN" b="1" i="1" baseline="30000" dirty="0">
                <a:solidFill>
                  <a:srgbClr val="000000"/>
                </a:solidFill>
                <a:latin typeface="宋体" panose="02010600030101010101" pitchFamily="2" charset="-122"/>
              </a:rPr>
              <a:t>D</a:t>
            </a:r>
            <a:r>
              <a:rPr lang="en-US" altLang="zh-CN" b="1"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a:t>
            </a:r>
            <a:r>
              <a:rPr lang="en-US" altLang="zh-CN" b="1" dirty="0">
                <a:solidFill>
                  <a:srgbClr val="000000"/>
                </a:solidFill>
                <a:latin typeface="宋体" panose="02010600030101010101" pitchFamily="2" charset="-122"/>
              </a:rPr>
              <a:t>20000-90P</a:t>
            </a:r>
            <a:br>
              <a:rPr lang="en-US" altLang="zh-CN" b="1" dirty="0">
                <a:solidFill>
                  <a:srgbClr val="000000"/>
                </a:solidFill>
                <a:latin typeface="宋体" panose="02010600030101010101" pitchFamily="2" charset="-122"/>
              </a:rPr>
            </a:br>
            <a:r>
              <a:rPr lang="en-US" altLang="zh-CN" b="1" i="1" dirty="0">
                <a:solidFill>
                  <a:srgbClr val="000000"/>
                </a:solidFill>
                <a:latin typeface="宋体" panose="02010600030101010101" pitchFamily="2" charset="-122"/>
              </a:rPr>
              <a:t>Q</a:t>
            </a:r>
            <a:r>
              <a:rPr lang="en-US" altLang="zh-CN" b="1" i="1" baseline="30000" dirty="0">
                <a:solidFill>
                  <a:srgbClr val="000000"/>
                </a:solidFill>
                <a:latin typeface="宋体" panose="02010600030101010101" pitchFamily="2" charset="-122"/>
              </a:rPr>
              <a:t>S</a:t>
            </a:r>
            <a:r>
              <a:rPr lang="en-US" altLang="zh-CN" b="1" dirty="0">
                <a:solidFill>
                  <a:srgbClr val="000000"/>
                </a:solidFill>
                <a:latin typeface="宋体" panose="02010600030101010101" pitchFamily="2" charset="-122"/>
              </a:rPr>
              <a:t> =10000+110P</a:t>
            </a:r>
            <a:br>
              <a:rPr lang="en-US" altLang="zh-CN" b="1" dirty="0">
                <a:solidFill>
                  <a:srgbClr val="000000"/>
                </a:solidFill>
                <a:latin typeface="宋体" panose="02010600030101010101" pitchFamily="2" charset="-122"/>
              </a:rPr>
            </a:br>
            <a:r>
              <a:rPr lang="en-US" altLang="zh-CN" b="1" dirty="0">
                <a:solidFill>
                  <a:srgbClr val="000000"/>
                </a:solidFill>
                <a:latin typeface="宋体" panose="02010600030101010101" pitchFamily="2" charset="-122"/>
              </a:rPr>
              <a:t>a.</a:t>
            </a:r>
            <a:r>
              <a:rPr lang="zh-CN" altLang="en-US" b="1" dirty="0">
                <a:solidFill>
                  <a:srgbClr val="000000"/>
                </a:solidFill>
                <a:latin typeface="宋体" panose="02010600030101010101" pitchFamily="2" charset="-122"/>
              </a:rPr>
              <a:t>计算该门票市场的均衡价格和数量是多少？</a:t>
            </a:r>
            <a:br>
              <a:rPr lang="zh-CN" altLang="en-US" b="1" dirty="0">
                <a:solidFill>
                  <a:srgbClr val="000000"/>
                </a:solidFill>
                <a:latin typeface="宋体" panose="02010600030101010101" pitchFamily="2" charset="-122"/>
              </a:rPr>
            </a:br>
            <a:r>
              <a:rPr lang="en-US" altLang="zh-CN" b="1" dirty="0">
                <a:solidFill>
                  <a:srgbClr val="000000"/>
                </a:solidFill>
                <a:latin typeface="宋体" panose="02010600030101010101" pitchFamily="2" charset="-122"/>
              </a:rPr>
              <a:t>b.</a:t>
            </a:r>
            <a:r>
              <a:rPr lang="zh-CN" altLang="en-US" b="1" dirty="0">
                <a:solidFill>
                  <a:srgbClr val="000000"/>
                </a:solidFill>
                <a:latin typeface="宋体" panose="02010600030101010101" pitchFamily="2" charset="-122"/>
              </a:rPr>
              <a:t>古典音乐爱好者劝说政府实施每张门票</a:t>
            </a:r>
            <a:r>
              <a:rPr lang="en-US" altLang="zh-CN" b="1" dirty="0">
                <a:solidFill>
                  <a:srgbClr val="000000"/>
                </a:solidFill>
                <a:latin typeface="宋体" panose="02010600030101010101" pitchFamily="2" charset="-122"/>
              </a:rPr>
              <a:t>40</a:t>
            </a:r>
            <a:r>
              <a:rPr lang="zh-CN" altLang="en-US" b="1" dirty="0">
                <a:solidFill>
                  <a:srgbClr val="000000"/>
                </a:solidFill>
                <a:latin typeface="宋体" panose="02010600030101010101" pitchFamily="2" charset="-122"/>
              </a:rPr>
              <a:t>元的价格上限。现在市场上卖出了多少张门票？这种政策使古典音乐会的听众增加了，还是减少了？</a:t>
            </a:r>
            <a:br>
              <a:rPr lang="zh-CN" altLang="en-US" b="1" dirty="0">
                <a:solidFill>
                  <a:srgbClr val="000000"/>
                </a:solidFill>
                <a:latin typeface="宋体" panose="02010600030101010101" pitchFamily="2" charset="-122"/>
              </a:rPr>
            </a:br>
            <a:r>
              <a:rPr lang="en-US" altLang="zh-CN" b="1" dirty="0">
                <a:solidFill>
                  <a:srgbClr val="000000"/>
                </a:solidFill>
                <a:latin typeface="宋体" panose="02010600030101010101" pitchFamily="2" charset="-122"/>
              </a:rPr>
              <a:t>c.</a:t>
            </a:r>
            <a:r>
              <a:rPr lang="zh-CN" altLang="en-US" b="1" dirty="0">
                <a:solidFill>
                  <a:srgbClr val="000000"/>
                </a:solidFill>
                <a:latin typeface="宋体" panose="02010600030101010101" pitchFamily="2" charset="-122"/>
              </a:rPr>
              <a:t>假设政府对每张门票征收</a:t>
            </a:r>
            <a:r>
              <a:rPr lang="en-US" altLang="zh-CN" b="1" dirty="0">
                <a:solidFill>
                  <a:srgbClr val="000000"/>
                </a:solidFill>
                <a:latin typeface="宋体" panose="02010600030101010101" pitchFamily="2" charset="-122"/>
              </a:rPr>
              <a:t>10</a:t>
            </a:r>
            <a:r>
              <a:rPr lang="zh-CN" altLang="en-US" b="1" dirty="0">
                <a:solidFill>
                  <a:srgbClr val="000000"/>
                </a:solidFill>
                <a:latin typeface="宋体" panose="02010600030101010101" pitchFamily="2" charset="-122"/>
              </a:rPr>
              <a:t>元的税，此时均衡价格和数量是多少？</a:t>
            </a:r>
            <a:br>
              <a:rPr lang="zh-CN" altLang="en-US" b="1" dirty="0">
                <a:solidFill>
                  <a:srgbClr val="000000"/>
                </a:solidFill>
                <a:latin typeface="宋体" panose="02010600030101010101" pitchFamily="2" charset="-122"/>
              </a:rPr>
            </a:br>
            <a:endParaRPr lang="zh-CN" altLang="en-US" b="1" dirty="0">
              <a:solidFill>
                <a:srgbClr val="000000"/>
              </a:solidFill>
              <a:latin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body" orient="vert" idx="1"/>
          </p:nvPr>
        </p:nvSpPr>
        <p:spPr>
          <a:xfrm>
            <a:off x="685800" y="1052513"/>
            <a:ext cx="7772400" cy="5043487"/>
          </a:xfrm>
          <a:ln/>
        </p:spPr>
        <p:txBody>
          <a:bodyPr vert="horz" wrap="square" lIns="91440" tIns="45720" rIns="91440" bIns="45720" anchor="t" anchorCtr="0"/>
          <a:p>
            <a:pPr marL="0" indent="0" eaLnBrk="1" hangingPunct="1">
              <a:buNone/>
            </a:pPr>
            <a:r>
              <a:rPr lang="zh-CN" altLang="en-US" sz="2400" b="1" dirty="0">
                <a:solidFill>
                  <a:srgbClr val="000000"/>
                </a:solidFill>
              </a:rPr>
              <a:t>弹性：</a:t>
            </a:r>
            <a:r>
              <a:rPr lang="zh-CN" altLang="en-US" sz="2400" dirty="0">
                <a:solidFill>
                  <a:srgbClr val="000000"/>
                </a:solidFill>
              </a:rPr>
              <a:t>指某一物体对外界力量的反应力。</a:t>
            </a:r>
            <a:br>
              <a:rPr lang="zh-CN" altLang="en-US" sz="2400" dirty="0">
                <a:solidFill>
                  <a:srgbClr val="000000"/>
                </a:solidFill>
              </a:rPr>
            </a:br>
            <a:r>
              <a:rPr lang="zh-CN" altLang="en-US" sz="2400" dirty="0">
                <a:solidFill>
                  <a:srgbClr val="000000"/>
                </a:solidFill>
              </a:rPr>
              <a:t>经济学中的弹性：指经济变量间，一个变量对另一个变量变动的反应程度。</a:t>
            </a:r>
            <a:br>
              <a:rPr lang="zh-CN" altLang="en-US" sz="1800" dirty="0">
                <a:solidFill>
                  <a:srgbClr val="000000"/>
                </a:solidFill>
              </a:rPr>
            </a:br>
            <a:r>
              <a:rPr lang="zh-CN" altLang="en-US" sz="1800" dirty="0">
                <a:solidFill>
                  <a:srgbClr val="000000"/>
                </a:solidFill>
              </a:rPr>
              <a:t>                                      </a:t>
            </a:r>
            <a:r>
              <a:rPr lang="zh-CN" altLang="en-US" b="1" dirty="0">
                <a:solidFill>
                  <a:srgbClr val="FF0000"/>
                </a:solidFill>
              </a:rPr>
              <a:t>第一节      需求弹性</a:t>
            </a:r>
            <a:br>
              <a:rPr lang="zh-CN" altLang="en-US" sz="1800" dirty="0">
                <a:solidFill>
                  <a:srgbClr val="000000"/>
                </a:solidFill>
              </a:rPr>
            </a:br>
            <a:r>
              <a:rPr lang="zh-CN" altLang="en-US" sz="2400" b="1" dirty="0">
                <a:solidFill>
                  <a:srgbClr val="000000"/>
                </a:solidFill>
              </a:rPr>
              <a:t>需求的价格弹性：</a:t>
            </a:r>
            <a:r>
              <a:rPr lang="zh-CN" altLang="en-US" sz="2400" dirty="0">
                <a:solidFill>
                  <a:srgbClr val="000000"/>
                </a:solidFill>
              </a:rPr>
              <a:t>一种商品的需求对该商品本身价格变化的反应程度</a:t>
            </a:r>
            <a:br>
              <a:rPr lang="zh-CN" altLang="en-US" sz="2400" dirty="0">
                <a:solidFill>
                  <a:srgbClr val="000000"/>
                </a:solidFill>
              </a:rPr>
            </a:br>
            <a:endParaRPr lang="zh-CN" altLang="en-US" sz="2400" dirty="0">
              <a:solidFill>
                <a:srgbClr val="000000"/>
              </a:solidFill>
            </a:endParaRPr>
          </a:p>
          <a:p>
            <a:pPr marL="0" indent="0" eaLnBrk="1" hangingPunct="1">
              <a:buNone/>
            </a:pPr>
            <a:endParaRPr lang="en-US" altLang="zh-CN" sz="2400" dirty="0">
              <a:solidFill>
                <a:srgbClr val="000000"/>
              </a:solidFill>
            </a:endParaRPr>
          </a:p>
        </p:txBody>
      </p:sp>
      <p:sp>
        <p:nvSpPr>
          <p:cNvPr id="45059" name="Rectangle 3"/>
          <p:cNvSpPr>
            <a:spLocks noGrp="1"/>
          </p:cNvSpPr>
          <p:nvPr>
            <p:ph type="title"/>
          </p:nvPr>
        </p:nvSpPr>
        <p:spPr>
          <a:xfrm>
            <a:off x="684213" y="0"/>
            <a:ext cx="7772400" cy="692150"/>
          </a:xfrm>
          <a:ln/>
        </p:spPr>
        <p:txBody>
          <a:bodyPr vert="horz" wrap="square" lIns="91440" tIns="45720" rIns="91440" bIns="45720" anchor="ctr" anchorCtr="0"/>
          <a:p>
            <a:pPr eaLnBrk="1" hangingPunct="1"/>
            <a:r>
              <a:rPr lang="zh-CN" altLang="en-US" sz="3600" b="1" dirty="0">
                <a:solidFill>
                  <a:srgbClr val="FF0000"/>
                </a:solidFill>
                <a:latin typeface="黑体" panose="02010609060101010101" pitchFamily="49" charset="-122"/>
                <a:ea typeface="黑体" panose="02010609060101010101" pitchFamily="49" charset="-122"/>
              </a:rPr>
              <a:t>第三章	弹性理论</a:t>
            </a:r>
            <a:endParaRPr lang="zh-CN" altLang="en-US" sz="3600" b="1" dirty="0">
              <a:solidFill>
                <a:srgbClr val="FF0000"/>
              </a:solidFill>
              <a:latin typeface="黑体" panose="02010609060101010101" pitchFamily="49" charset="-122"/>
              <a:ea typeface="黑体" panose="02010609060101010101" pitchFamily="49" charset="-122"/>
            </a:endParaRPr>
          </a:p>
        </p:txBody>
      </p:sp>
      <p:graphicFrame>
        <p:nvGraphicFramePr>
          <p:cNvPr id="45060" name="Object 4"/>
          <p:cNvGraphicFramePr>
            <a:graphicFrameLocks noChangeAspect="1"/>
          </p:cNvGraphicFramePr>
          <p:nvPr/>
        </p:nvGraphicFramePr>
        <p:xfrm>
          <a:off x="827088" y="3933825"/>
          <a:ext cx="7777162" cy="1800225"/>
        </p:xfrm>
        <a:graphic>
          <a:graphicData uri="http://schemas.openxmlformats.org/presentationml/2006/ole">
            <mc:AlternateContent xmlns:mc="http://schemas.openxmlformats.org/markup-compatibility/2006">
              <mc:Choice xmlns:v="urn:schemas-microsoft-com:vml" Requires="v">
                <p:oleObj spid="_x0000_s3078" name="" r:id="rId1" imgW="3263900" imgH="749300" progId="Equation.3">
                  <p:embed/>
                </p:oleObj>
              </mc:Choice>
              <mc:Fallback>
                <p:oleObj name="" r:id="rId1" imgW="3263900" imgH="749300" progId="Equation.3">
                  <p:embed/>
                  <p:pic>
                    <p:nvPicPr>
                      <p:cNvPr id="0" name="图片 3077"/>
                      <p:cNvPicPr/>
                      <p:nvPr/>
                    </p:nvPicPr>
                    <p:blipFill>
                      <a:blip r:embed="rId2"/>
                      <a:stretch>
                        <a:fillRect/>
                      </a:stretch>
                    </p:blipFill>
                    <p:spPr>
                      <a:xfrm>
                        <a:off x="827088" y="3933825"/>
                        <a:ext cx="7777162" cy="1800225"/>
                      </a:xfrm>
                      <a:prstGeom prst="rect">
                        <a:avLst/>
                      </a:prstGeom>
                      <a:noFill/>
                      <a:ln w="38100">
                        <a:noFill/>
                        <a:miter/>
                      </a:ln>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Grp="1"/>
          </p:cNvSpPr>
          <p:nvPr>
            <p:ph type="title"/>
          </p:nvPr>
        </p:nvSpPr>
        <p:spPr>
          <a:xfrm>
            <a:off x="684213" y="260350"/>
            <a:ext cx="7772400" cy="5556250"/>
          </a:xfrm>
          <a:ln/>
        </p:spPr>
        <p:txBody>
          <a:bodyPr vert="horz" wrap="square" lIns="91440" tIns="45720" rIns="91440" bIns="45720" anchor="ctr" anchorCtr="0"/>
          <a:p>
            <a:pPr algn="l" eaLnBrk="1" hangingPunct="1"/>
            <a:br>
              <a:rPr lang="en-US" altLang="zh-CN" dirty="0"/>
            </a:br>
            <a:r>
              <a:rPr lang="zh-CN" altLang="en-US" sz="3200" b="1" dirty="0"/>
              <a:t>计算公式</a:t>
            </a:r>
            <a:r>
              <a:rPr lang="en-US" altLang="zh-CN" sz="3200" b="1" dirty="0"/>
              <a:t>:</a:t>
            </a:r>
            <a:br>
              <a:rPr lang="en-US" altLang="zh-CN" sz="3200" b="1" dirty="0"/>
            </a:br>
            <a:r>
              <a:rPr lang="zh-CN" altLang="en-US" sz="3200" b="1" dirty="0"/>
              <a:t>弧弹性</a:t>
            </a:r>
            <a:r>
              <a:rPr lang="en-US" altLang="zh-CN" sz="3200" b="1" dirty="0"/>
              <a:t>:</a:t>
            </a:r>
            <a:br>
              <a:rPr lang="en-US" altLang="zh-CN" b="1" dirty="0"/>
            </a:br>
            <a:br>
              <a:rPr lang="en-US" altLang="zh-CN" b="1" dirty="0"/>
            </a:br>
            <a:br>
              <a:rPr lang="en-US" altLang="zh-CN" b="1" dirty="0"/>
            </a:br>
            <a:br>
              <a:rPr lang="en-US" altLang="zh-CN" b="1" dirty="0"/>
            </a:br>
            <a:r>
              <a:rPr lang="zh-CN" altLang="en-US" sz="3200" b="1" dirty="0"/>
              <a:t>点弹性</a:t>
            </a:r>
            <a:r>
              <a:rPr lang="en-US" altLang="zh-CN" sz="3200" b="1" dirty="0"/>
              <a:t>:</a:t>
            </a:r>
            <a:br>
              <a:rPr lang="en-US" altLang="zh-CN" sz="3200" dirty="0"/>
            </a:br>
            <a:endParaRPr lang="en-US" altLang="zh-CN" dirty="0"/>
          </a:p>
        </p:txBody>
      </p:sp>
      <p:graphicFrame>
        <p:nvGraphicFramePr>
          <p:cNvPr id="46083" name="Object 3"/>
          <p:cNvGraphicFramePr>
            <a:graphicFrameLocks noChangeAspect="1"/>
          </p:cNvGraphicFramePr>
          <p:nvPr>
            <p:ph sz="half" idx="1"/>
          </p:nvPr>
        </p:nvGraphicFramePr>
        <p:xfrm>
          <a:off x="539750" y="2636838"/>
          <a:ext cx="8208963" cy="1223962"/>
        </p:xfrm>
        <a:graphic>
          <a:graphicData uri="http://schemas.openxmlformats.org/presentationml/2006/ole">
            <mc:AlternateContent xmlns:mc="http://schemas.openxmlformats.org/markup-compatibility/2006">
              <mc:Choice xmlns:v="urn:schemas-microsoft-com:vml" Requires="v">
                <p:oleObj spid="_x0000_s3076" name="" r:id="rId1" imgW="2908300" imgH="431800" progId="Equation.3">
                  <p:embed/>
                </p:oleObj>
              </mc:Choice>
              <mc:Fallback>
                <p:oleObj name="" r:id="rId1" imgW="2908300" imgH="431800" progId="Equation.3">
                  <p:embed/>
                  <p:pic>
                    <p:nvPicPr>
                      <p:cNvPr id="0" name="图片 3075"/>
                      <p:cNvPicPr/>
                      <p:nvPr/>
                    </p:nvPicPr>
                    <p:blipFill>
                      <a:blip r:embed="rId2"/>
                      <a:srcRect/>
                      <a:stretch>
                        <a:fillRect/>
                      </a:stretch>
                    </p:blipFill>
                    <p:spPr>
                      <a:xfrm>
                        <a:off x="539750" y="2636838"/>
                        <a:ext cx="8208963" cy="1223962"/>
                      </a:xfrm>
                      <a:prstGeom prst="rect">
                        <a:avLst/>
                      </a:prstGeom>
                      <a:noFill/>
                      <a:ln w="38100">
                        <a:miter/>
                      </a:ln>
                    </p:spPr>
                  </p:pic>
                </p:oleObj>
              </mc:Fallback>
            </mc:AlternateContent>
          </a:graphicData>
        </a:graphic>
      </p:graphicFrame>
      <p:graphicFrame>
        <p:nvGraphicFramePr>
          <p:cNvPr id="46084" name="Object 4"/>
          <p:cNvGraphicFramePr>
            <a:graphicFrameLocks noChangeAspect="1"/>
          </p:cNvGraphicFramePr>
          <p:nvPr>
            <p:ph sz="half" idx="2"/>
          </p:nvPr>
        </p:nvGraphicFramePr>
        <p:xfrm>
          <a:off x="3276600" y="4797425"/>
          <a:ext cx="3024188" cy="1079500"/>
        </p:xfrm>
        <a:graphic>
          <a:graphicData uri="http://schemas.openxmlformats.org/presentationml/2006/ole">
            <mc:AlternateContent xmlns:mc="http://schemas.openxmlformats.org/markup-compatibility/2006">
              <mc:Choice xmlns:v="urn:schemas-microsoft-com:vml" Requires="v">
                <p:oleObj spid="_x0000_s3077" name="" r:id="rId3" imgW="711200" imgH="419100" progId="Equation.3">
                  <p:embed/>
                </p:oleObj>
              </mc:Choice>
              <mc:Fallback>
                <p:oleObj name="" r:id="rId3" imgW="711200" imgH="419100" progId="Equation.3">
                  <p:embed/>
                  <p:pic>
                    <p:nvPicPr>
                      <p:cNvPr id="0" name="图片 3076"/>
                      <p:cNvPicPr/>
                      <p:nvPr/>
                    </p:nvPicPr>
                    <p:blipFill>
                      <a:blip r:embed="rId4"/>
                      <a:srcRect/>
                      <a:stretch>
                        <a:fillRect/>
                      </a:stretch>
                    </p:blipFill>
                    <p:spPr>
                      <a:xfrm>
                        <a:off x="3276600" y="4797425"/>
                        <a:ext cx="3024188" cy="1079500"/>
                      </a:xfrm>
                      <a:prstGeom prst="rect">
                        <a:avLst/>
                      </a:prstGeom>
                      <a:noFill/>
                      <a:ln w="38100">
                        <a:miter/>
                      </a:ln>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idx="1"/>
          </p:nvPr>
        </p:nvSpPr>
        <p:spPr>
          <a:xfrm>
            <a:off x="685800" y="476250"/>
            <a:ext cx="7772400" cy="5619750"/>
          </a:xfrm>
          <a:ln/>
        </p:spPr>
        <p:txBody>
          <a:bodyPr vert="horz" wrap="square" lIns="91440" tIns="45720" rIns="91440" bIns="45720" anchor="t" anchorCtr="0"/>
          <a:p>
            <a:pPr marL="0" indent="0" eaLnBrk="1" hangingPunct="1">
              <a:buNone/>
            </a:pPr>
            <a:r>
              <a:rPr lang="zh-CN" altLang="en-US" sz="2800" b="1" dirty="0">
                <a:solidFill>
                  <a:srgbClr val="000000"/>
                </a:solidFill>
                <a:latin typeface="宋体" panose="02010600030101010101" pitchFamily="2" charset="-122"/>
              </a:rPr>
              <a:t>需求价格弹性的种类</a:t>
            </a:r>
            <a:br>
              <a:rPr lang="zh-CN" altLang="en-US" sz="2800" b="1" dirty="0">
                <a:solidFill>
                  <a:srgbClr val="000000"/>
                </a:solidFill>
                <a:latin typeface="宋体" panose="02010600030101010101" pitchFamily="2" charset="-122"/>
              </a:rPr>
            </a:br>
            <a:r>
              <a:rPr lang="en-US" altLang="zh-CN" sz="2800" b="1" dirty="0">
                <a:solidFill>
                  <a:srgbClr val="FF0000"/>
                </a:solidFill>
                <a:latin typeface="宋体" panose="02010600030101010101" pitchFamily="2" charset="-122"/>
              </a:rPr>
              <a:t>1</a:t>
            </a:r>
            <a:r>
              <a:rPr lang="zh-CN" altLang="en-US" sz="2800" b="1" dirty="0">
                <a:solidFill>
                  <a:srgbClr val="FF0000"/>
                </a:solidFill>
                <a:latin typeface="宋体" panose="02010600030101010101" pitchFamily="2" charset="-122"/>
              </a:rPr>
              <a:t>、富有弹性（</a:t>
            </a:r>
            <a:r>
              <a:rPr lang="en-US" altLang="zh-CN" sz="2800" b="1" dirty="0">
                <a:solidFill>
                  <a:srgbClr val="FF0000"/>
                </a:solidFill>
                <a:latin typeface="宋体" panose="02010600030101010101" pitchFamily="2" charset="-122"/>
              </a:rPr>
              <a:t>elastic</a:t>
            </a:r>
            <a:r>
              <a:rPr lang="zh-CN" altLang="en-US" sz="2800" b="1" dirty="0">
                <a:solidFill>
                  <a:srgbClr val="FF0000"/>
                </a:solidFill>
                <a:latin typeface="宋体" panose="02010600030101010101" pitchFamily="2" charset="-122"/>
              </a:rPr>
              <a:t>）：</a:t>
            </a:r>
            <a:r>
              <a:rPr lang="en-US" altLang="zh-CN" sz="2800" b="1" dirty="0">
                <a:solidFill>
                  <a:srgbClr val="000000"/>
                </a:solidFill>
                <a:latin typeface="宋体" panose="02010600030101010101" pitchFamily="2" charset="-122"/>
              </a:rPr>
              <a:t>Ed&gt;1</a:t>
            </a:r>
            <a:r>
              <a:rPr lang="zh-CN" altLang="en-US" sz="2800" b="1" dirty="0">
                <a:solidFill>
                  <a:srgbClr val="000000"/>
                </a:solidFill>
                <a:latin typeface="宋体" panose="02010600030101010101" pitchFamily="2" charset="-122"/>
              </a:rPr>
              <a:t>，</a:t>
            </a:r>
            <a:br>
              <a:rPr lang="zh-CN" altLang="en-US" sz="2400" b="1"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需求量变动幅度</a:t>
            </a:r>
            <a:r>
              <a:rPr lang="en-US" altLang="zh-CN" sz="2400" dirty="0">
                <a:solidFill>
                  <a:srgbClr val="000000"/>
                </a:solidFill>
                <a:latin typeface="宋体" panose="02010600030101010101" pitchFamily="2" charset="-122"/>
              </a:rPr>
              <a:t>&gt;</a:t>
            </a:r>
            <a:r>
              <a:rPr lang="zh-CN" altLang="en-US" sz="2400" dirty="0">
                <a:solidFill>
                  <a:srgbClr val="000000"/>
                </a:solidFill>
                <a:latin typeface="宋体" panose="02010600030101010101" pitchFamily="2" charset="-122"/>
              </a:rPr>
              <a:t>价格变动幅度  </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（价格微小变化，可以引起需求量比较大的变化）</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完全富有弹性（</a:t>
            </a:r>
            <a:r>
              <a:rPr lang="en-US" altLang="zh-CN" sz="2400" dirty="0">
                <a:solidFill>
                  <a:srgbClr val="000000"/>
                </a:solidFill>
                <a:latin typeface="宋体" panose="02010600030101010101" pitchFamily="2" charset="-122"/>
              </a:rPr>
              <a:t>perfect elastic</a:t>
            </a:r>
            <a:r>
              <a:rPr lang="zh-CN" altLang="en-US" sz="2400" dirty="0">
                <a:solidFill>
                  <a:srgbClr val="000000"/>
                </a:solidFill>
                <a:latin typeface="宋体" panose="02010600030101010101" pitchFamily="2" charset="-122"/>
              </a:rPr>
              <a:t>）</a:t>
            </a:r>
            <a:r>
              <a:rPr lang="en-US" altLang="zh-CN" sz="2400" dirty="0">
                <a:solidFill>
                  <a:srgbClr val="000000"/>
                </a:solidFill>
                <a:latin typeface="宋体" panose="02010600030101010101" pitchFamily="2" charset="-122"/>
              </a:rPr>
              <a:t>Ed=∝</a:t>
            </a:r>
            <a:r>
              <a:rPr lang="zh-CN" altLang="en-US" sz="2400" dirty="0">
                <a:solidFill>
                  <a:srgbClr val="000000"/>
                </a:solidFill>
                <a:latin typeface="宋体" panose="02010600030101010101" pitchFamily="2" charset="-122"/>
              </a:rPr>
              <a:t>，则需求完全富于弹性</a:t>
            </a:r>
            <a:br>
              <a:rPr lang="zh-CN" altLang="en-US" sz="2400" dirty="0">
                <a:solidFill>
                  <a:srgbClr val="000000"/>
                </a:solidFill>
                <a:latin typeface="宋体" panose="02010600030101010101" pitchFamily="2" charset="-122"/>
              </a:rPr>
            </a:br>
            <a:endParaRPr lang="zh-CN" altLang="en-US" sz="2400" dirty="0">
              <a:solidFill>
                <a:srgbClr val="000000"/>
              </a:solidFill>
              <a:latin typeface="宋体" panose="02010600030101010101" pitchFamily="2" charset="-122"/>
            </a:endParaRPr>
          </a:p>
          <a:p>
            <a:pPr marL="0" indent="0" eaLnBrk="1" hangingPunct="1">
              <a:buNone/>
            </a:pPr>
            <a:r>
              <a:rPr lang="en-US" altLang="zh-CN" sz="2800" b="1" dirty="0">
                <a:solidFill>
                  <a:srgbClr val="FF0000"/>
                </a:solidFill>
                <a:latin typeface="宋体" panose="02010600030101010101" pitchFamily="2" charset="-122"/>
              </a:rPr>
              <a:t>2</a:t>
            </a:r>
            <a:r>
              <a:rPr lang="zh-CN" altLang="en-US" sz="2800" b="1" dirty="0">
                <a:solidFill>
                  <a:srgbClr val="FF0000"/>
                </a:solidFill>
                <a:latin typeface="宋体" panose="02010600030101010101" pitchFamily="2" charset="-122"/>
              </a:rPr>
              <a:t>、缺乏弹性</a:t>
            </a:r>
            <a:r>
              <a:rPr lang="zh-CN" altLang="en-US" sz="2800" b="1" dirty="0">
                <a:solidFill>
                  <a:srgbClr val="000000"/>
                </a:solidFill>
                <a:latin typeface="宋体" panose="02010600030101010101" pitchFamily="2" charset="-122"/>
              </a:rPr>
              <a:t>（</a:t>
            </a:r>
            <a:r>
              <a:rPr lang="en-US" altLang="zh-CN" sz="2800" b="1" dirty="0">
                <a:solidFill>
                  <a:srgbClr val="000000"/>
                </a:solidFill>
                <a:latin typeface="宋体" panose="02010600030101010101" pitchFamily="2" charset="-122"/>
              </a:rPr>
              <a:t>inelastic〕</a:t>
            </a:r>
            <a:r>
              <a:rPr lang="zh-CN" altLang="en-US" sz="2800" b="1" dirty="0">
                <a:solidFill>
                  <a:srgbClr val="000000"/>
                </a:solidFill>
                <a:latin typeface="宋体" panose="02010600030101010101" pitchFamily="2" charset="-122"/>
              </a:rPr>
              <a:t>：</a:t>
            </a:r>
            <a:r>
              <a:rPr lang="en-US" altLang="zh-CN" sz="2800" b="1" dirty="0">
                <a:solidFill>
                  <a:srgbClr val="000000"/>
                </a:solidFill>
                <a:latin typeface="宋体" panose="02010600030101010101" pitchFamily="2" charset="-122"/>
              </a:rPr>
              <a:t>Ed&lt;1, </a:t>
            </a:r>
            <a:br>
              <a:rPr lang="en-US" altLang="zh-CN" sz="2800" b="1"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需求量变动幅度</a:t>
            </a:r>
            <a:r>
              <a:rPr lang="en-US" altLang="zh-CN" sz="2400" dirty="0">
                <a:solidFill>
                  <a:srgbClr val="000000"/>
                </a:solidFill>
                <a:latin typeface="宋体" panose="02010600030101010101" pitchFamily="2" charset="-122"/>
              </a:rPr>
              <a:t>&lt;</a:t>
            </a:r>
            <a:r>
              <a:rPr lang="zh-CN" altLang="en-US" sz="2400" dirty="0">
                <a:solidFill>
                  <a:srgbClr val="000000"/>
                </a:solidFill>
                <a:latin typeface="宋体" panose="02010600030101010101" pitchFamily="2" charset="-122"/>
              </a:rPr>
              <a:t>价格变动幅度</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完全无弹性（</a:t>
            </a:r>
            <a:r>
              <a:rPr lang="en-US" altLang="zh-CN" sz="2400" dirty="0">
                <a:solidFill>
                  <a:srgbClr val="000000"/>
                </a:solidFill>
                <a:latin typeface="宋体" panose="02010600030101010101" pitchFamily="2" charset="-122"/>
              </a:rPr>
              <a:t>perfect inelastic</a:t>
            </a:r>
            <a:r>
              <a:rPr lang="zh-CN" altLang="en-US" sz="2400" dirty="0">
                <a:solidFill>
                  <a:srgbClr val="000000"/>
                </a:solidFill>
                <a:latin typeface="宋体" panose="02010600030101010101" pitchFamily="2" charset="-122"/>
              </a:rPr>
              <a:t>） </a:t>
            </a:r>
            <a:r>
              <a:rPr lang="en-US" altLang="zh-CN" sz="2400" dirty="0">
                <a:solidFill>
                  <a:srgbClr val="000000"/>
                </a:solidFill>
                <a:latin typeface="宋体" panose="02010600030101010101" pitchFamily="2" charset="-122"/>
              </a:rPr>
              <a:t>Ed=0</a:t>
            </a:r>
            <a:r>
              <a:rPr lang="zh-CN" altLang="en-US" sz="2400" dirty="0">
                <a:solidFill>
                  <a:srgbClr val="000000"/>
                </a:solidFill>
                <a:latin typeface="宋体" panose="02010600030101010101" pitchFamily="2" charset="-122"/>
              </a:rPr>
              <a:t>，</a:t>
            </a:r>
            <a:br>
              <a:rPr lang="zh-CN" altLang="en-US" sz="2800" b="1" dirty="0">
                <a:solidFill>
                  <a:srgbClr val="000000"/>
                </a:solidFill>
                <a:latin typeface="宋体" panose="02010600030101010101" pitchFamily="2" charset="-122"/>
              </a:rPr>
            </a:br>
            <a:endParaRPr lang="zh-CN" altLang="en-US" sz="2800" b="1" dirty="0">
              <a:solidFill>
                <a:srgbClr val="000000"/>
              </a:solidFill>
              <a:latin typeface="宋体" panose="02010600030101010101" pitchFamily="2" charset="-122"/>
            </a:endParaRPr>
          </a:p>
          <a:p>
            <a:pPr marL="0" indent="0" eaLnBrk="1" hangingPunct="1">
              <a:buNone/>
            </a:pPr>
            <a:r>
              <a:rPr lang="en-US" altLang="zh-CN" sz="2800" b="1" dirty="0">
                <a:solidFill>
                  <a:srgbClr val="FF0000"/>
                </a:solidFill>
                <a:latin typeface="宋体" panose="02010600030101010101" pitchFamily="2" charset="-122"/>
              </a:rPr>
              <a:t>3</a:t>
            </a:r>
            <a:r>
              <a:rPr lang="zh-CN" altLang="en-US" sz="2800" b="1" dirty="0">
                <a:solidFill>
                  <a:srgbClr val="FF0000"/>
                </a:solidFill>
                <a:latin typeface="宋体" panose="02010600030101010101" pitchFamily="2" charset="-122"/>
              </a:rPr>
              <a:t>、单位弹性</a:t>
            </a:r>
            <a:r>
              <a:rPr lang="zh-CN" altLang="en-US" sz="2800" b="1" dirty="0">
                <a:solidFill>
                  <a:srgbClr val="000000"/>
                </a:solidFill>
                <a:latin typeface="宋体" panose="02010600030101010101" pitchFamily="2" charset="-122"/>
              </a:rPr>
              <a:t>（</a:t>
            </a:r>
            <a:r>
              <a:rPr lang="en-US" altLang="zh-CN" sz="2800" b="1" dirty="0">
                <a:solidFill>
                  <a:srgbClr val="000000"/>
                </a:solidFill>
                <a:latin typeface="宋体" panose="02010600030101010101" pitchFamily="2" charset="-122"/>
              </a:rPr>
              <a:t>unitary elastic</a:t>
            </a:r>
            <a:r>
              <a:rPr lang="zh-CN" altLang="en-US" sz="2800" b="1" dirty="0">
                <a:solidFill>
                  <a:srgbClr val="000000"/>
                </a:solidFill>
                <a:latin typeface="宋体" panose="02010600030101010101" pitchFamily="2" charset="-122"/>
              </a:rPr>
              <a:t>）：</a:t>
            </a:r>
            <a:r>
              <a:rPr lang="en-US" altLang="zh-CN" sz="2800" b="1" dirty="0">
                <a:solidFill>
                  <a:srgbClr val="000000"/>
                </a:solidFill>
                <a:latin typeface="宋体" panose="02010600030101010101" pitchFamily="2" charset="-122"/>
              </a:rPr>
              <a:t>Ed=1</a:t>
            </a:r>
            <a:r>
              <a:rPr lang="zh-CN" altLang="en-US" sz="2800" b="1" dirty="0">
                <a:solidFill>
                  <a:srgbClr val="000000"/>
                </a:solidFill>
                <a:latin typeface="宋体" panose="02010600030101010101" pitchFamily="2" charset="-122"/>
              </a:rPr>
              <a:t>，  </a:t>
            </a:r>
            <a:br>
              <a:rPr lang="zh-CN" altLang="en-US" sz="2800" b="1"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需求量变动幅度＝价格变动幅度</a:t>
            </a:r>
            <a:br>
              <a:rPr lang="zh-CN" altLang="en-US" sz="2400" dirty="0">
                <a:solidFill>
                  <a:srgbClr val="000000"/>
                </a:solidFill>
                <a:latin typeface="宋体" panose="02010600030101010101" pitchFamily="2" charset="-122"/>
              </a:rPr>
            </a:br>
            <a:endParaRPr lang="zh-CN" altLang="en-US" sz="2400" dirty="0">
              <a:solidFill>
                <a:srgbClr val="000000"/>
              </a:solidFill>
              <a:latin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Line 2"/>
          <p:cNvSpPr/>
          <p:nvPr/>
        </p:nvSpPr>
        <p:spPr>
          <a:xfrm>
            <a:off x="1619250" y="2997200"/>
            <a:ext cx="2447925" cy="0"/>
          </a:xfrm>
          <a:prstGeom prst="line">
            <a:avLst/>
          </a:prstGeom>
          <a:ln w="38100" cap="flat" cmpd="sng">
            <a:solidFill>
              <a:schemeClr val="tx2"/>
            </a:solidFill>
            <a:prstDash val="solid"/>
            <a:headEnd type="none" w="med" len="med"/>
            <a:tailEnd type="stealth" w="lg" len="lg"/>
          </a:ln>
        </p:spPr>
      </p:sp>
      <p:sp>
        <p:nvSpPr>
          <p:cNvPr id="48131" name="Line 3"/>
          <p:cNvSpPr/>
          <p:nvPr/>
        </p:nvSpPr>
        <p:spPr>
          <a:xfrm>
            <a:off x="684213" y="5876925"/>
            <a:ext cx="2087562" cy="0"/>
          </a:xfrm>
          <a:prstGeom prst="line">
            <a:avLst/>
          </a:prstGeom>
          <a:ln w="38100" cap="flat" cmpd="sng">
            <a:solidFill>
              <a:schemeClr val="tx2"/>
            </a:solidFill>
            <a:prstDash val="solid"/>
            <a:headEnd type="none" w="med" len="med"/>
            <a:tailEnd type="stealth" w="lg" len="lg"/>
          </a:ln>
        </p:spPr>
      </p:sp>
      <p:sp>
        <p:nvSpPr>
          <p:cNvPr id="48132" name="Line 4"/>
          <p:cNvSpPr/>
          <p:nvPr/>
        </p:nvSpPr>
        <p:spPr>
          <a:xfrm>
            <a:off x="3348038" y="5876925"/>
            <a:ext cx="2447925" cy="0"/>
          </a:xfrm>
          <a:prstGeom prst="line">
            <a:avLst/>
          </a:prstGeom>
          <a:ln w="38100" cap="flat" cmpd="sng">
            <a:solidFill>
              <a:schemeClr val="tx2"/>
            </a:solidFill>
            <a:prstDash val="solid"/>
            <a:headEnd type="none" w="med" len="med"/>
            <a:tailEnd type="stealth" w="lg" len="lg"/>
          </a:ln>
        </p:spPr>
      </p:sp>
      <p:sp>
        <p:nvSpPr>
          <p:cNvPr id="48133" name="Line 5"/>
          <p:cNvSpPr/>
          <p:nvPr/>
        </p:nvSpPr>
        <p:spPr>
          <a:xfrm>
            <a:off x="6156325" y="5876925"/>
            <a:ext cx="2160588" cy="0"/>
          </a:xfrm>
          <a:prstGeom prst="line">
            <a:avLst/>
          </a:prstGeom>
          <a:ln w="38100" cap="flat" cmpd="sng">
            <a:solidFill>
              <a:schemeClr val="tx2"/>
            </a:solidFill>
            <a:prstDash val="solid"/>
            <a:headEnd type="none" w="med" len="med"/>
            <a:tailEnd type="stealth" w="lg" len="lg"/>
          </a:ln>
        </p:spPr>
      </p:sp>
      <p:sp>
        <p:nvSpPr>
          <p:cNvPr id="48134" name="Line 6"/>
          <p:cNvSpPr/>
          <p:nvPr/>
        </p:nvSpPr>
        <p:spPr>
          <a:xfrm>
            <a:off x="5724525" y="3068638"/>
            <a:ext cx="2305050" cy="0"/>
          </a:xfrm>
          <a:prstGeom prst="line">
            <a:avLst/>
          </a:prstGeom>
          <a:ln w="38100" cap="flat" cmpd="sng">
            <a:solidFill>
              <a:schemeClr val="tx2"/>
            </a:solidFill>
            <a:prstDash val="solid"/>
            <a:headEnd type="none" w="med" len="med"/>
            <a:tailEnd type="stealth" w="lg" len="lg"/>
          </a:ln>
        </p:spPr>
      </p:sp>
      <p:sp>
        <p:nvSpPr>
          <p:cNvPr id="48135" name="Line 7"/>
          <p:cNvSpPr/>
          <p:nvPr/>
        </p:nvSpPr>
        <p:spPr>
          <a:xfrm flipV="1">
            <a:off x="684213" y="3500438"/>
            <a:ext cx="0" cy="2376487"/>
          </a:xfrm>
          <a:prstGeom prst="line">
            <a:avLst/>
          </a:prstGeom>
          <a:ln w="38100" cap="flat" cmpd="sng">
            <a:solidFill>
              <a:schemeClr val="tx2"/>
            </a:solidFill>
            <a:prstDash val="solid"/>
            <a:headEnd type="none" w="med" len="med"/>
            <a:tailEnd type="stealth" w="lg" len="lg"/>
          </a:ln>
        </p:spPr>
      </p:sp>
      <p:sp>
        <p:nvSpPr>
          <p:cNvPr id="48136" name="Line 8"/>
          <p:cNvSpPr/>
          <p:nvPr/>
        </p:nvSpPr>
        <p:spPr>
          <a:xfrm flipV="1">
            <a:off x="5724525" y="692150"/>
            <a:ext cx="0" cy="2376488"/>
          </a:xfrm>
          <a:prstGeom prst="line">
            <a:avLst/>
          </a:prstGeom>
          <a:ln w="38100" cap="flat" cmpd="sng">
            <a:solidFill>
              <a:schemeClr val="tx2"/>
            </a:solidFill>
            <a:prstDash val="solid"/>
            <a:headEnd type="none" w="med" len="med"/>
            <a:tailEnd type="stealth" w="lg" len="lg"/>
          </a:ln>
        </p:spPr>
      </p:sp>
      <p:sp>
        <p:nvSpPr>
          <p:cNvPr id="48137" name="Line 9"/>
          <p:cNvSpPr/>
          <p:nvPr/>
        </p:nvSpPr>
        <p:spPr>
          <a:xfrm flipV="1">
            <a:off x="6156325" y="3429000"/>
            <a:ext cx="0" cy="2376488"/>
          </a:xfrm>
          <a:prstGeom prst="line">
            <a:avLst/>
          </a:prstGeom>
          <a:ln w="38100" cap="flat" cmpd="sng">
            <a:solidFill>
              <a:schemeClr val="tx2"/>
            </a:solidFill>
            <a:prstDash val="solid"/>
            <a:headEnd type="none" w="med" len="med"/>
            <a:tailEnd type="stealth" w="lg" len="lg"/>
          </a:ln>
        </p:spPr>
      </p:sp>
      <p:sp>
        <p:nvSpPr>
          <p:cNvPr id="48138" name="Line 10"/>
          <p:cNvSpPr/>
          <p:nvPr/>
        </p:nvSpPr>
        <p:spPr>
          <a:xfrm flipV="1">
            <a:off x="3348038" y="3500438"/>
            <a:ext cx="0" cy="2376487"/>
          </a:xfrm>
          <a:prstGeom prst="line">
            <a:avLst/>
          </a:prstGeom>
          <a:ln w="38100" cap="flat" cmpd="sng">
            <a:solidFill>
              <a:schemeClr val="tx2"/>
            </a:solidFill>
            <a:prstDash val="solid"/>
            <a:headEnd type="none" w="med" len="med"/>
            <a:tailEnd type="stealth" w="lg" len="lg"/>
          </a:ln>
        </p:spPr>
      </p:sp>
      <p:sp>
        <p:nvSpPr>
          <p:cNvPr id="48139" name="Line 11"/>
          <p:cNvSpPr/>
          <p:nvPr/>
        </p:nvSpPr>
        <p:spPr>
          <a:xfrm flipV="1">
            <a:off x="1619250" y="620713"/>
            <a:ext cx="0" cy="2376487"/>
          </a:xfrm>
          <a:prstGeom prst="line">
            <a:avLst/>
          </a:prstGeom>
          <a:ln w="38100" cap="flat" cmpd="sng">
            <a:solidFill>
              <a:schemeClr val="tx2"/>
            </a:solidFill>
            <a:prstDash val="solid"/>
            <a:headEnd type="none" w="med" len="med"/>
            <a:tailEnd type="stealth" w="lg" len="lg"/>
          </a:ln>
        </p:spPr>
      </p:sp>
      <p:sp>
        <p:nvSpPr>
          <p:cNvPr id="48140" name="Line 12"/>
          <p:cNvSpPr/>
          <p:nvPr/>
        </p:nvSpPr>
        <p:spPr>
          <a:xfrm flipV="1">
            <a:off x="2627313" y="981075"/>
            <a:ext cx="0" cy="2016125"/>
          </a:xfrm>
          <a:prstGeom prst="line">
            <a:avLst/>
          </a:prstGeom>
          <a:ln w="28575" cap="flat" cmpd="sng">
            <a:solidFill>
              <a:schemeClr val="tx2"/>
            </a:solidFill>
            <a:prstDash val="solid"/>
            <a:headEnd type="none" w="med" len="med"/>
            <a:tailEnd type="none" w="med" len="med"/>
          </a:ln>
        </p:spPr>
      </p:sp>
      <p:sp>
        <p:nvSpPr>
          <p:cNvPr id="48141" name="Line 13"/>
          <p:cNvSpPr/>
          <p:nvPr/>
        </p:nvSpPr>
        <p:spPr>
          <a:xfrm>
            <a:off x="6227763" y="1052513"/>
            <a:ext cx="792162" cy="1728787"/>
          </a:xfrm>
          <a:prstGeom prst="line">
            <a:avLst/>
          </a:prstGeom>
          <a:ln w="28575" cap="flat" cmpd="sng">
            <a:solidFill>
              <a:schemeClr val="tx2"/>
            </a:solidFill>
            <a:prstDash val="solid"/>
            <a:headEnd type="none" w="med" len="med"/>
            <a:tailEnd type="none" w="med" len="med"/>
          </a:ln>
        </p:spPr>
      </p:sp>
      <p:sp>
        <p:nvSpPr>
          <p:cNvPr id="48142" name="Freeform 14"/>
          <p:cNvSpPr/>
          <p:nvPr/>
        </p:nvSpPr>
        <p:spPr>
          <a:xfrm>
            <a:off x="1042988" y="3500438"/>
            <a:ext cx="1584325" cy="2016125"/>
          </a:xfrm>
          <a:custGeom>
            <a:avLst/>
            <a:gdLst/>
            <a:ahLst/>
            <a:cxnLst>
              <a:cxn ang="0">
                <a:pos x="0" y="0"/>
              </a:cxn>
              <a:cxn ang="0">
                <a:pos x="453852" y="1460005"/>
              </a:cxn>
              <a:cxn ang="0">
                <a:pos x="1584325" y="2016125"/>
              </a:cxn>
            </a:cxnLst>
            <a:pathLst>
              <a:path w="953" h="1316">
                <a:moveTo>
                  <a:pt x="0" y="0"/>
                </a:moveTo>
                <a:cubicBezTo>
                  <a:pt x="57" y="367"/>
                  <a:pt x="114" y="734"/>
                  <a:pt x="273" y="953"/>
                </a:cubicBezTo>
                <a:cubicBezTo>
                  <a:pt x="432" y="1172"/>
                  <a:pt x="692" y="1244"/>
                  <a:pt x="953" y="1316"/>
                </a:cubicBezTo>
              </a:path>
            </a:pathLst>
          </a:custGeom>
          <a:noFill/>
          <a:ln w="28575" cap="flat" cmpd="sng">
            <a:solidFill>
              <a:schemeClr val="tx2">
                <a:alpha val="100000"/>
              </a:schemeClr>
            </a:solidFill>
            <a:prstDash val="solid"/>
            <a:round/>
            <a:headEnd type="none" w="med" len="med"/>
            <a:tailEnd type="none" w="med" len="med"/>
          </a:ln>
        </p:spPr>
        <p:txBody>
          <a:bodyPr/>
          <a:p>
            <a:endParaRPr lang="zh-CN" altLang="en-US"/>
          </a:p>
        </p:txBody>
      </p:sp>
      <p:sp>
        <p:nvSpPr>
          <p:cNvPr id="48143" name="Line 15"/>
          <p:cNvSpPr/>
          <p:nvPr/>
        </p:nvSpPr>
        <p:spPr>
          <a:xfrm>
            <a:off x="3779838" y="4508500"/>
            <a:ext cx="1800225" cy="576263"/>
          </a:xfrm>
          <a:prstGeom prst="line">
            <a:avLst/>
          </a:prstGeom>
          <a:ln w="28575" cap="flat" cmpd="sng">
            <a:solidFill>
              <a:schemeClr val="tx2"/>
            </a:solidFill>
            <a:prstDash val="solid"/>
            <a:headEnd type="none" w="med" len="med"/>
            <a:tailEnd type="none" w="med" len="med"/>
          </a:ln>
        </p:spPr>
      </p:sp>
      <p:sp>
        <p:nvSpPr>
          <p:cNvPr id="48144" name="Line 16"/>
          <p:cNvSpPr/>
          <p:nvPr/>
        </p:nvSpPr>
        <p:spPr>
          <a:xfrm>
            <a:off x="6156325" y="4868863"/>
            <a:ext cx="1800225" cy="0"/>
          </a:xfrm>
          <a:prstGeom prst="line">
            <a:avLst/>
          </a:prstGeom>
          <a:ln w="28575" cap="flat" cmpd="sng">
            <a:solidFill>
              <a:schemeClr val="tx2"/>
            </a:solidFill>
            <a:prstDash val="solid"/>
            <a:headEnd type="none" w="med" len="med"/>
            <a:tailEnd type="none" w="med" len="med"/>
          </a:ln>
        </p:spPr>
      </p:sp>
      <p:sp>
        <p:nvSpPr>
          <p:cNvPr id="48145" name="Line 17"/>
          <p:cNvSpPr/>
          <p:nvPr/>
        </p:nvSpPr>
        <p:spPr>
          <a:xfrm>
            <a:off x="6659563" y="2060575"/>
            <a:ext cx="0" cy="1008063"/>
          </a:xfrm>
          <a:prstGeom prst="line">
            <a:avLst/>
          </a:prstGeom>
          <a:ln w="19050" cap="flat" cmpd="sng">
            <a:solidFill>
              <a:schemeClr val="tx2"/>
            </a:solidFill>
            <a:prstDash val="dash"/>
            <a:headEnd type="none" w="med" len="med"/>
            <a:tailEnd type="none" w="med" len="med"/>
          </a:ln>
        </p:spPr>
      </p:sp>
      <p:sp>
        <p:nvSpPr>
          <p:cNvPr id="48146" name="Line 18"/>
          <p:cNvSpPr/>
          <p:nvPr/>
        </p:nvSpPr>
        <p:spPr>
          <a:xfrm>
            <a:off x="6372225" y="1412875"/>
            <a:ext cx="0" cy="1655763"/>
          </a:xfrm>
          <a:prstGeom prst="line">
            <a:avLst/>
          </a:prstGeom>
          <a:ln w="19050" cap="flat" cmpd="sng">
            <a:solidFill>
              <a:schemeClr val="tx2"/>
            </a:solidFill>
            <a:prstDash val="dash"/>
            <a:headEnd type="none" w="med" len="med"/>
            <a:tailEnd type="none" w="med" len="med"/>
          </a:ln>
        </p:spPr>
      </p:sp>
      <p:sp>
        <p:nvSpPr>
          <p:cNvPr id="48147" name="Line 19"/>
          <p:cNvSpPr/>
          <p:nvPr/>
        </p:nvSpPr>
        <p:spPr>
          <a:xfrm flipH="1">
            <a:off x="5724525" y="1412875"/>
            <a:ext cx="647700" cy="0"/>
          </a:xfrm>
          <a:prstGeom prst="line">
            <a:avLst/>
          </a:prstGeom>
          <a:ln w="19050" cap="flat" cmpd="sng">
            <a:solidFill>
              <a:schemeClr val="tx2"/>
            </a:solidFill>
            <a:prstDash val="dash"/>
            <a:headEnd type="none" w="med" len="med"/>
            <a:tailEnd type="none" w="med" len="med"/>
          </a:ln>
        </p:spPr>
      </p:sp>
      <p:sp>
        <p:nvSpPr>
          <p:cNvPr id="48148" name="Line 20"/>
          <p:cNvSpPr/>
          <p:nvPr/>
        </p:nvSpPr>
        <p:spPr>
          <a:xfrm flipH="1">
            <a:off x="5724525" y="2060575"/>
            <a:ext cx="935038" cy="0"/>
          </a:xfrm>
          <a:prstGeom prst="line">
            <a:avLst/>
          </a:prstGeom>
          <a:ln w="19050" cap="flat" cmpd="sng">
            <a:solidFill>
              <a:schemeClr val="tx2"/>
            </a:solidFill>
            <a:prstDash val="dash"/>
            <a:headEnd type="none" w="med" len="med"/>
            <a:tailEnd type="none" w="med" len="med"/>
          </a:ln>
        </p:spPr>
      </p:sp>
      <p:sp>
        <p:nvSpPr>
          <p:cNvPr id="48149" name="Line 21"/>
          <p:cNvSpPr/>
          <p:nvPr/>
        </p:nvSpPr>
        <p:spPr>
          <a:xfrm flipH="1" flipV="1">
            <a:off x="4211638" y="4652963"/>
            <a:ext cx="0" cy="1223962"/>
          </a:xfrm>
          <a:prstGeom prst="line">
            <a:avLst/>
          </a:prstGeom>
          <a:ln w="19050" cap="flat" cmpd="sng">
            <a:solidFill>
              <a:schemeClr val="tx2"/>
            </a:solidFill>
            <a:prstDash val="dash"/>
            <a:headEnd type="none" w="med" len="med"/>
            <a:tailEnd type="none" w="med" len="med"/>
          </a:ln>
        </p:spPr>
      </p:sp>
      <p:sp>
        <p:nvSpPr>
          <p:cNvPr id="48150" name="Line 22"/>
          <p:cNvSpPr/>
          <p:nvPr/>
        </p:nvSpPr>
        <p:spPr>
          <a:xfrm flipH="1" flipV="1">
            <a:off x="1763713" y="5229225"/>
            <a:ext cx="0" cy="647700"/>
          </a:xfrm>
          <a:prstGeom prst="line">
            <a:avLst/>
          </a:prstGeom>
          <a:ln w="19050" cap="flat" cmpd="sng">
            <a:solidFill>
              <a:schemeClr val="tx2"/>
            </a:solidFill>
            <a:prstDash val="dash"/>
            <a:headEnd type="none" w="med" len="med"/>
            <a:tailEnd type="none" w="med" len="med"/>
          </a:ln>
        </p:spPr>
      </p:sp>
      <p:sp>
        <p:nvSpPr>
          <p:cNvPr id="48151" name="Line 23"/>
          <p:cNvSpPr/>
          <p:nvPr/>
        </p:nvSpPr>
        <p:spPr>
          <a:xfrm flipH="1" flipV="1">
            <a:off x="1258888" y="4508500"/>
            <a:ext cx="0" cy="1368425"/>
          </a:xfrm>
          <a:prstGeom prst="line">
            <a:avLst/>
          </a:prstGeom>
          <a:ln w="19050" cap="flat" cmpd="sng">
            <a:solidFill>
              <a:schemeClr val="tx2"/>
            </a:solidFill>
            <a:prstDash val="dash"/>
            <a:headEnd type="none" w="med" len="med"/>
            <a:tailEnd type="none" w="med" len="med"/>
          </a:ln>
        </p:spPr>
      </p:sp>
      <p:sp>
        <p:nvSpPr>
          <p:cNvPr id="48152" name="Line 24"/>
          <p:cNvSpPr/>
          <p:nvPr/>
        </p:nvSpPr>
        <p:spPr>
          <a:xfrm flipH="1">
            <a:off x="3348038" y="4941888"/>
            <a:ext cx="1800225" cy="0"/>
          </a:xfrm>
          <a:prstGeom prst="line">
            <a:avLst/>
          </a:prstGeom>
          <a:ln w="19050" cap="flat" cmpd="sng">
            <a:solidFill>
              <a:schemeClr val="tx2"/>
            </a:solidFill>
            <a:prstDash val="dash"/>
            <a:headEnd type="none" w="med" len="med"/>
            <a:tailEnd type="none" w="med" len="med"/>
          </a:ln>
        </p:spPr>
      </p:sp>
      <p:sp>
        <p:nvSpPr>
          <p:cNvPr id="48153" name="Line 25"/>
          <p:cNvSpPr/>
          <p:nvPr/>
        </p:nvSpPr>
        <p:spPr>
          <a:xfrm flipH="1">
            <a:off x="3348038" y="4652963"/>
            <a:ext cx="935037" cy="0"/>
          </a:xfrm>
          <a:prstGeom prst="line">
            <a:avLst/>
          </a:prstGeom>
          <a:ln w="19050" cap="flat" cmpd="sng">
            <a:solidFill>
              <a:schemeClr val="tx2"/>
            </a:solidFill>
            <a:prstDash val="dash"/>
            <a:headEnd type="none" w="med" len="med"/>
            <a:tailEnd type="none" w="med" len="med"/>
          </a:ln>
        </p:spPr>
      </p:sp>
      <p:sp>
        <p:nvSpPr>
          <p:cNvPr id="48154" name="Line 26"/>
          <p:cNvSpPr/>
          <p:nvPr/>
        </p:nvSpPr>
        <p:spPr>
          <a:xfrm flipH="1">
            <a:off x="684213" y="4581525"/>
            <a:ext cx="574675" cy="0"/>
          </a:xfrm>
          <a:prstGeom prst="line">
            <a:avLst/>
          </a:prstGeom>
          <a:ln w="19050" cap="flat" cmpd="sng">
            <a:solidFill>
              <a:schemeClr val="tx2"/>
            </a:solidFill>
            <a:prstDash val="dash"/>
            <a:headEnd type="none" w="med" len="med"/>
            <a:tailEnd type="none" w="med" len="med"/>
          </a:ln>
        </p:spPr>
      </p:sp>
      <p:sp>
        <p:nvSpPr>
          <p:cNvPr id="48155" name="Line 27"/>
          <p:cNvSpPr/>
          <p:nvPr/>
        </p:nvSpPr>
        <p:spPr>
          <a:xfrm flipH="1">
            <a:off x="684213" y="5229225"/>
            <a:ext cx="1008062" cy="0"/>
          </a:xfrm>
          <a:prstGeom prst="line">
            <a:avLst/>
          </a:prstGeom>
          <a:ln w="19050" cap="flat" cmpd="sng">
            <a:solidFill>
              <a:schemeClr val="tx2"/>
            </a:solidFill>
            <a:prstDash val="dash"/>
            <a:headEnd type="none" w="med" len="med"/>
            <a:tailEnd type="none" w="med" len="med"/>
          </a:ln>
        </p:spPr>
      </p:sp>
      <p:sp>
        <p:nvSpPr>
          <p:cNvPr id="48156" name="Line 28"/>
          <p:cNvSpPr/>
          <p:nvPr/>
        </p:nvSpPr>
        <p:spPr>
          <a:xfrm flipH="1" flipV="1">
            <a:off x="5219700" y="4941888"/>
            <a:ext cx="0" cy="935037"/>
          </a:xfrm>
          <a:prstGeom prst="line">
            <a:avLst/>
          </a:prstGeom>
          <a:ln w="19050" cap="flat" cmpd="sng">
            <a:solidFill>
              <a:schemeClr val="tx2"/>
            </a:solidFill>
            <a:prstDash val="dash"/>
            <a:headEnd type="none" w="med" len="med"/>
            <a:tailEnd type="none" w="med" len="med"/>
          </a:ln>
        </p:spPr>
      </p:sp>
      <p:sp>
        <p:nvSpPr>
          <p:cNvPr id="48157" name="Text Box 29"/>
          <p:cNvSpPr txBox="1"/>
          <p:nvPr/>
        </p:nvSpPr>
        <p:spPr>
          <a:xfrm>
            <a:off x="5292725" y="1268413"/>
            <a:ext cx="576263" cy="366712"/>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10</a:t>
            </a:r>
            <a:endParaRPr lang="en-US" altLang="zh-CN" dirty="0">
              <a:solidFill>
                <a:srgbClr val="000000"/>
              </a:solidFill>
              <a:latin typeface="宋体" panose="02010600030101010101" pitchFamily="2" charset="-122"/>
            </a:endParaRPr>
          </a:p>
        </p:txBody>
      </p:sp>
      <p:sp>
        <p:nvSpPr>
          <p:cNvPr id="48158" name="Text Box 30"/>
          <p:cNvSpPr txBox="1"/>
          <p:nvPr/>
        </p:nvSpPr>
        <p:spPr>
          <a:xfrm>
            <a:off x="5292725" y="1844675"/>
            <a:ext cx="576263" cy="366713"/>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5</a:t>
            </a:r>
            <a:endParaRPr lang="en-US" altLang="zh-CN" dirty="0">
              <a:solidFill>
                <a:srgbClr val="000000"/>
              </a:solidFill>
              <a:latin typeface="宋体" panose="02010600030101010101" pitchFamily="2" charset="-122"/>
            </a:endParaRPr>
          </a:p>
        </p:txBody>
      </p:sp>
      <p:sp>
        <p:nvSpPr>
          <p:cNvPr id="48159" name="Text Box 31"/>
          <p:cNvSpPr txBox="1"/>
          <p:nvPr/>
        </p:nvSpPr>
        <p:spPr>
          <a:xfrm>
            <a:off x="6084888" y="3141663"/>
            <a:ext cx="576262" cy="366712"/>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50</a:t>
            </a:r>
            <a:endParaRPr lang="en-US" altLang="zh-CN" dirty="0">
              <a:solidFill>
                <a:srgbClr val="000000"/>
              </a:solidFill>
              <a:latin typeface="宋体" panose="02010600030101010101" pitchFamily="2" charset="-122"/>
            </a:endParaRPr>
          </a:p>
        </p:txBody>
      </p:sp>
      <p:sp>
        <p:nvSpPr>
          <p:cNvPr id="48160" name="Text Box 32"/>
          <p:cNvSpPr txBox="1"/>
          <p:nvPr/>
        </p:nvSpPr>
        <p:spPr>
          <a:xfrm>
            <a:off x="250825" y="4292600"/>
            <a:ext cx="576263" cy="366713"/>
          </a:xfrm>
          <a:prstGeom prst="rect">
            <a:avLst/>
          </a:prstGeom>
          <a:noFill/>
          <a:ln w="28575">
            <a:noFill/>
          </a:ln>
        </p:spPr>
        <p:txBody>
          <a:bodyPr>
            <a:spAutoFit/>
          </a:bodyPr>
          <a:p>
            <a:pPr marL="609600" indent="-609600">
              <a:spcBef>
                <a:spcPct val="50000"/>
              </a:spcBef>
              <a:buNone/>
            </a:pPr>
            <a:r>
              <a:rPr lang="en-US" altLang="zh-CN" dirty="0">
                <a:latin typeface="宋体" panose="02010600030101010101" pitchFamily="2" charset="-122"/>
              </a:rPr>
              <a:t>10</a:t>
            </a:r>
            <a:endParaRPr lang="en-US" altLang="zh-CN" dirty="0">
              <a:latin typeface="宋体" panose="02010600030101010101" pitchFamily="2" charset="-122"/>
            </a:endParaRPr>
          </a:p>
        </p:txBody>
      </p:sp>
      <p:sp>
        <p:nvSpPr>
          <p:cNvPr id="48161" name="Text Box 33"/>
          <p:cNvSpPr txBox="1"/>
          <p:nvPr/>
        </p:nvSpPr>
        <p:spPr>
          <a:xfrm>
            <a:off x="323850" y="5084763"/>
            <a:ext cx="576263" cy="366712"/>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5</a:t>
            </a:r>
            <a:endParaRPr lang="en-US" altLang="zh-CN" dirty="0">
              <a:solidFill>
                <a:srgbClr val="000000"/>
              </a:solidFill>
              <a:latin typeface="宋体" panose="02010600030101010101" pitchFamily="2" charset="-122"/>
            </a:endParaRPr>
          </a:p>
        </p:txBody>
      </p:sp>
      <p:sp>
        <p:nvSpPr>
          <p:cNvPr id="48162" name="Text Box 34"/>
          <p:cNvSpPr txBox="1"/>
          <p:nvPr/>
        </p:nvSpPr>
        <p:spPr>
          <a:xfrm>
            <a:off x="900113" y="6021388"/>
            <a:ext cx="576262" cy="366712"/>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50</a:t>
            </a:r>
            <a:endParaRPr lang="en-US" altLang="zh-CN" dirty="0">
              <a:solidFill>
                <a:srgbClr val="000000"/>
              </a:solidFill>
              <a:latin typeface="宋体" panose="02010600030101010101" pitchFamily="2" charset="-122"/>
            </a:endParaRPr>
          </a:p>
        </p:txBody>
      </p:sp>
      <p:sp>
        <p:nvSpPr>
          <p:cNvPr id="48163" name="Text Box 35"/>
          <p:cNvSpPr txBox="1"/>
          <p:nvPr/>
        </p:nvSpPr>
        <p:spPr>
          <a:xfrm>
            <a:off x="1547813" y="6021388"/>
            <a:ext cx="576262" cy="366712"/>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100</a:t>
            </a:r>
            <a:endParaRPr lang="en-US" altLang="zh-CN" dirty="0">
              <a:solidFill>
                <a:srgbClr val="000000"/>
              </a:solidFill>
              <a:latin typeface="宋体" panose="02010600030101010101" pitchFamily="2" charset="-122"/>
            </a:endParaRPr>
          </a:p>
        </p:txBody>
      </p:sp>
      <p:sp>
        <p:nvSpPr>
          <p:cNvPr id="48164" name="Text Box 36"/>
          <p:cNvSpPr txBox="1"/>
          <p:nvPr/>
        </p:nvSpPr>
        <p:spPr>
          <a:xfrm>
            <a:off x="6516688" y="3141663"/>
            <a:ext cx="576262" cy="366712"/>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60</a:t>
            </a:r>
            <a:endParaRPr lang="en-US" altLang="zh-CN" dirty="0">
              <a:solidFill>
                <a:srgbClr val="000000"/>
              </a:solidFill>
              <a:latin typeface="宋体" panose="02010600030101010101" pitchFamily="2" charset="-122"/>
            </a:endParaRPr>
          </a:p>
        </p:txBody>
      </p:sp>
      <p:sp>
        <p:nvSpPr>
          <p:cNvPr id="48165" name="Text Box 37"/>
          <p:cNvSpPr txBox="1"/>
          <p:nvPr/>
        </p:nvSpPr>
        <p:spPr>
          <a:xfrm>
            <a:off x="1908175" y="404813"/>
            <a:ext cx="1223963" cy="312737"/>
          </a:xfrm>
          <a:prstGeom prst="rect">
            <a:avLst/>
          </a:prstGeom>
          <a:noFill/>
          <a:ln w="28575">
            <a:noFill/>
          </a:ln>
        </p:spPr>
        <p:txBody>
          <a:bodyPr>
            <a:spAutoFit/>
          </a:bodyPr>
          <a:p>
            <a:pPr marL="609600" indent="-609600">
              <a:spcBef>
                <a:spcPct val="50000"/>
              </a:spcBef>
              <a:buNone/>
            </a:pPr>
            <a:r>
              <a:rPr lang="zh-CN" altLang="en-US" sz="1600" b="0" dirty="0">
                <a:solidFill>
                  <a:srgbClr val="000000"/>
                </a:solidFill>
                <a:latin typeface="宋体" panose="02010600030101010101" pitchFamily="2" charset="-122"/>
              </a:rPr>
              <a:t>完全无弹性</a:t>
            </a:r>
            <a:endParaRPr lang="zh-CN" altLang="en-US" sz="1600" b="0" dirty="0">
              <a:solidFill>
                <a:srgbClr val="000000"/>
              </a:solidFill>
              <a:latin typeface="宋体" panose="02010600030101010101" pitchFamily="2" charset="-122"/>
            </a:endParaRPr>
          </a:p>
        </p:txBody>
      </p:sp>
      <p:sp>
        <p:nvSpPr>
          <p:cNvPr id="48166" name="Text Box 38"/>
          <p:cNvSpPr txBox="1"/>
          <p:nvPr/>
        </p:nvSpPr>
        <p:spPr>
          <a:xfrm>
            <a:off x="6516688" y="692150"/>
            <a:ext cx="1223962" cy="312738"/>
          </a:xfrm>
          <a:prstGeom prst="rect">
            <a:avLst/>
          </a:prstGeom>
          <a:noFill/>
          <a:ln w="28575">
            <a:noFill/>
          </a:ln>
        </p:spPr>
        <p:txBody>
          <a:bodyPr>
            <a:spAutoFit/>
          </a:bodyPr>
          <a:p>
            <a:pPr marL="609600" indent="-609600">
              <a:spcBef>
                <a:spcPct val="50000"/>
              </a:spcBef>
              <a:buNone/>
            </a:pPr>
            <a:r>
              <a:rPr lang="zh-CN" altLang="en-US" sz="1600" b="0" dirty="0">
                <a:solidFill>
                  <a:srgbClr val="000000"/>
                </a:solidFill>
                <a:latin typeface="宋体" panose="02010600030101010101" pitchFamily="2" charset="-122"/>
              </a:rPr>
              <a:t>缺乏弹性</a:t>
            </a:r>
            <a:endParaRPr lang="zh-CN" altLang="en-US" sz="1600" b="0" dirty="0">
              <a:solidFill>
                <a:srgbClr val="000000"/>
              </a:solidFill>
              <a:latin typeface="宋体" panose="02010600030101010101" pitchFamily="2" charset="-122"/>
            </a:endParaRPr>
          </a:p>
        </p:txBody>
      </p:sp>
      <p:sp>
        <p:nvSpPr>
          <p:cNvPr id="48167" name="Text Box 39"/>
          <p:cNvSpPr txBox="1"/>
          <p:nvPr/>
        </p:nvSpPr>
        <p:spPr>
          <a:xfrm>
            <a:off x="1187450" y="3789363"/>
            <a:ext cx="1223963" cy="312737"/>
          </a:xfrm>
          <a:prstGeom prst="rect">
            <a:avLst/>
          </a:prstGeom>
          <a:noFill/>
          <a:ln w="28575">
            <a:noFill/>
          </a:ln>
        </p:spPr>
        <p:txBody>
          <a:bodyPr>
            <a:spAutoFit/>
          </a:bodyPr>
          <a:p>
            <a:pPr marL="609600" indent="-609600">
              <a:spcBef>
                <a:spcPct val="50000"/>
              </a:spcBef>
              <a:buNone/>
            </a:pPr>
            <a:r>
              <a:rPr lang="zh-CN" altLang="en-US" sz="1600" b="0" dirty="0">
                <a:solidFill>
                  <a:srgbClr val="000000"/>
                </a:solidFill>
                <a:latin typeface="宋体" panose="02010600030101010101" pitchFamily="2" charset="-122"/>
              </a:rPr>
              <a:t>单位弹性</a:t>
            </a:r>
            <a:endParaRPr lang="zh-CN" altLang="en-US" sz="1600" b="0" dirty="0">
              <a:solidFill>
                <a:srgbClr val="000000"/>
              </a:solidFill>
              <a:latin typeface="宋体" panose="02010600030101010101" pitchFamily="2" charset="-122"/>
            </a:endParaRPr>
          </a:p>
        </p:txBody>
      </p:sp>
      <p:sp>
        <p:nvSpPr>
          <p:cNvPr id="48168" name="Text Box 40"/>
          <p:cNvSpPr txBox="1"/>
          <p:nvPr/>
        </p:nvSpPr>
        <p:spPr>
          <a:xfrm>
            <a:off x="3779838" y="3860800"/>
            <a:ext cx="1223962" cy="312738"/>
          </a:xfrm>
          <a:prstGeom prst="rect">
            <a:avLst/>
          </a:prstGeom>
          <a:noFill/>
          <a:ln w="28575">
            <a:noFill/>
          </a:ln>
        </p:spPr>
        <p:txBody>
          <a:bodyPr>
            <a:spAutoFit/>
          </a:bodyPr>
          <a:p>
            <a:pPr marL="609600" indent="-609600">
              <a:spcBef>
                <a:spcPct val="50000"/>
              </a:spcBef>
              <a:buNone/>
            </a:pPr>
            <a:r>
              <a:rPr lang="zh-CN" altLang="en-US" sz="1600" b="0" dirty="0">
                <a:solidFill>
                  <a:srgbClr val="000000"/>
                </a:solidFill>
                <a:latin typeface="宋体" panose="02010600030101010101" pitchFamily="2" charset="-122"/>
              </a:rPr>
              <a:t>富有弹性</a:t>
            </a:r>
            <a:endParaRPr lang="zh-CN" altLang="en-US" sz="1600" b="0" dirty="0">
              <a:solidFill>
                <a:srgbClr val="000000"/>
              </a:solidFill>
              <a:latin typeface="宋体" panose="02010600030101010101" pitchFamily="2" charset="-122"/>
            </a:endParaRPr>
          </a:p>
        </p:txBody>
      </p:sp>
      <p:sp>
        <p:nvSpPr>
          <p:cNvPr id="48169" name="Text Box 41"/>
          <p:cNvSpPr txBox="1"/>
          <p:nvPr/>
        </p:nvSpPr>
        <p:spPr>
          <a:xfrm>
            <a:off x="6516688" y="3716338"/>
            <a:ext cx="1223962" cy="312737"/>
          </a:xfrm>
          <a:prstGeom prst="rect">
            <a:avLst/>
          </a:prstGeom>
          <a:noFill/>
          <a:ln w="28575">
            <a:noFill/>
          </a:ln>
        </p:spPr>
        <p:txBody>
          <a:bodyPr>
            <a:spAutoFit/>
          </a:bodyPr>
          <a:p>
            <a:pPr marL="609600" indent="-609600">
              <a:spcBef>
                <a:spcPct val="50000"/>
              </a:spcBef>
              <a:buNone/>
            </a:pPr>
            <a:r>
              <a:rPr lang="zh-CN" altLang="en-US" sz="1600" b="0" dirty="0">
                <a:solidFill>
                  <a:srgbClr val="000000"/>
                </a:solidFill>
                <a:latin typeface="宋体" panose="02010600030101010101" pitchFamily="2" charset="-122"/>
              </a:rPr>
              <a:t>完全弹性</a:t>
            </a:r>
            <a:endParaRPr lang="zh-CN" altLang="en-US" sz="1600" b="0" dirty="0">
              <a:solidFill>
                <a:srgbClr val="000000"/>
              </a:solidFill>
              <a:latin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a:ln/>
        </p:spPr>
        <p:txBody>
          <a:bodyPr vert="horz" wrap="square" lIns="91440" tIns="45720" rIns="91440" bIns="45720" anchor="ctr" anchorCtr="0"/>
          <a:p>
            <a:pPr eaLnBrk="1" hangingPunct="1"/>
            <a:endParaRPr lang="zh-CN" altLang="zh-CN" dirty="0"/>
          </a:p>
        </p:txBody>
      </p:sp>
      <p:sp>
        <p:nvSpPr>
          <p:cNvPr id="49155" name="Rectangle 3"/>
          <p:cNvSpPr>
            <a:spLocks noGrp="1"/>
          </p:cNvSpPr>
          <p:nvPr>
            <p:ph idx="1"/>
          </p:nvPr>
        </p:nvSpPr>
        <p:spPr>
          <a:ln/>
        </p:spPr>
        <p:txBody>
          <a:bodyPr vert="horz" wrap="square" lIns="91440" tIns="45720" rIns="91440" bIns="45720" anchor="t" anchorCtr="0"/>
          <a:p>
            <a:pPr marL="0" indent="0" eaLnBrk="1" hangingPunct="1">
              <a:buNone/>
            </a:pPr>
            <a:r>
              <a:rPr lang="zh-CN" altLang="en-US" sz="2800" b="1" dirty="0">
                <a:solidFill>
                  <a:srgbClr val="000000"/>
                </a:solidFill>
                <a:latin typeface="宋体" panose="02010600030101010101" pitchFamily="2" charset="-122"/>
              </a:rPr>
              <a:t>需求价格弹性与消费者货币总支出</a:t>
            </a:r>
            <a:br>
              <a:rPr lang="zh-CN" altLang="en-US" sz="2800" b="1" dirty="0">
                <a:solidFill>
                  <a:srgbClr val="000000"/>
                </a:solidFill>
                <a:latin typeface="宋体" panose="02010600030101010101" pitchFamily="2" charset="-122"/>
              </a:rPr>
            </a:br>
            <a:r>
              <a:rPr lang="en-US" altLang="zh-CN" sz="2800" b="1" dirty="0">
                <a:solidFill>
                  <a:srgbClr val="000000"/>
                </a:solidFill>
                <a:latin typeface="宋体" panose="02010600030101010101" pitchFamily="2" charset="-122"/>
              </a:rPr>
              <a:t>1</a:t>
            </a:r>
            <a:r>
              <a:rPr lang="zh-CN" altLang="en-US" sz="2800" b="1" dirty="0">
                <a:solidFill>
                  <a:srgbClr val="000000"/>
                </a:solidFill>
                <a:latin typeface="宋体" panose="02010600030101010101" pitchFamily="2" charset="-122"/>
              </a:rPr>
              <a:t>、	</a:t>
            </a:r>
            <a:r>
              <a:rPr lang="en-US" altLang="zh-CN" sz="2800" b="1" dirty="0">
                <a:solidFill>
                  <a:srgbClr val="000000"/>
                </a:solidFill>
                <a:latin typeface="宋体" panose="02010600030101010101" pitchFamily="2" charset="-122"/>
              </a:rPr>
              <a:t>Ed&gt;1</a:t>
            </a:r>
            <a:br>
              <a:rPr lang="en-US" altLang="zh-CN" sz="2800" b="1" dirty="0">
                <a:solidFill>
                  <a:srgbClr val="000000"/>
                </a:solidFill>
                <a:latin typeface="宋体" panose="02010600030101010101" pitchFamily="2" charset="-122"/>
              </a:rPr>
            </a:br>
            <a:r>
              <a:rPr lang="en-US" altLang="zh-CN" sz="2800" b="1" dirty="0">
                <a:solidFill>
                  <a:srgbClr val="000000"/>
                </a:solidFill>
                <a:latin typeface="宋体" panose="02010600030101010101" pitchFamily="2" charset="-122"/>
              </a:rPr>
              <a:t>2</a:t>
            </a:r>
            <a:r>
              <a:rPr lang="zh-CN" altLang="en-US" sz="2800" b="1" dirty="0">
                <a:solidFill>
                  <a:srgbClr val="000000"/>
                </a:solidFill>
                <a:latin typeface="宋体" panose="02010600030101010101" pitchFamily="2" charset="-122"/>
              </a:rPr>
              <a:t>、	</a:t>
            </a:r>
            <a:r>
              <a:rPr lang="en-US" altLang="zh-CN" sz="2800" b="1" dirty="0">
                <a:solidFill>
                  <a:srgbClr val="000000"/>
                </a:solidFill>
                <a:latin typeface="宋体" panose="02010600030101010101" pitchFamily="2" charset="-122"/>
              </a:rPr>
              <a:t>Ed&lt;1</a:t>
            </a:r>
            <a:br>
              <a:rPr lang="en-US" altLang="zh-CN" sz="2800" b="1" dirty="0">
                <a:solidFill>
                  <a:srgbClr val="000000"/>
                </a:solidFill>
                <a:latin typeface="宋体" panose="02010600030101010101" pitchFamily="2" charset="-122"/>
              </a:rPr>
            </a:br>
            <a:r>
              <a:rPr lang="en-US" altLang="zh-CN" sz="2800" b="1" dirty="0">
                <a:solidFill>
                  <a:srgbClr val="000000"/>
                </a:solidFill>
                <a:latin typeface="宋体" panose="02010600030101010101" pitchFamily="2" charset="-122"/>
              </a:rPr>
              <a:t>3</a:t>
            </a:r>
            <a:r>
              <a:rPr lang="zh-CN" altLang="en-US" sz="2800" b="1" dirty="0">
                <a:solidFill>
                  <a:srgbClr val="000000"/>
                </a:solidFill>
                <a:latin typeface="宋体" panose="02010600030101010101" pitchFamily="2" charset="-122"/>
              </a:rPr>
              <a:t>、	</a:t>
            </a:r>
            <a:r>
              <a:rPr lang="en-US" altLang="zh-CN" sz="2800" b="1" dirty="0">
                <a:solidFill>
                  <a:srgbClr val="000000"/>
                </a:solidFill>
                <a:latin typeface="宋体" panose="02010600030101010101" pitchFamily="2" charset="-122"/>
              </a:rPr>
              <a:t>Ed=1</a:t>
            </a:r>
            <a:br>
              <a:rPr lang="en-US" altLang="zh-CN" sz="2800" b="1" dirty="0">
                <a:solidFill>
                  <a:srgbClr val="000000"/>
                </a:solidFill>
                <a:latin typeface="宋体" panose="02010600030101010101" pitchFamily="2" charset="-122"/>
              </a:rPr>
            </a:br>
            <a:endParaRPr lang="en-US" altLang="zh-CN" sz="2800" b="1" dirty="0">
              <a:solidFill>
                <a:srgbClr val="000000"/>
              </a:solidFill>
              <a:latin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idx="1"/>
          </p:nvPr>
        </p:nvSpPr>
        <p:spPr>
          <a:xfrm>
            <a:off x="685800" y="404813"/>
            <a:ext cx="7772400" cy="5691187"/>
          </a:xfrm>
          <a:ln/>
        </p:spPr>
        <p:txBody>
          <a:bodyPr vert="horz" wrap="square" lIns="91440" tIns="45720" rIns="91440" bIns="45720" anchor="t" anchorCtr="0"/>
          <a:p>
            <a:pPr marL="0" indent="0" eaLnBrk="1" hangingPunct="1">
              <a:lnSpc>
                <a:spcPct val="80000"/>
              </a:lnSpc>
              <a:buNone/>
            </a:pPr>
            <a:r>
              <a:rPr lang="zh-CN" altLang="en-US" sz="2800" b="1" dirty="0">
                <a:solidFill>
                  <a:srgbClr val="FF0000"/>
                </a:solidFill>
                <a:latin typeface="宋体" panose="02010600030101010101" pitchFamily="2" charset="-122"/>
              </a:rPr>
              <a:t>需求价格弹性与消费者货币总支出</a:t>
            </a:r>
            <a:endParaRPr lang="zh-CN" altLang="en-US" sz="2800" b="1" dirty="0">
              <a:solidFill>
                <a:srgbClr val="FF0000"/>
              </a:solidFill>
              <a:latin typeface="宋体" panose="02010600030101010101" pitchFamily="2" charset="-122"/>
            </a:endParaRPr>
          </a:p>
          <a:p>
            <a:pPr marL="0" indent="0" eaLnBrk="1" hangingPunct="1">
              <a:lnSpc>
                <a:spcPct val="80000"/>
              </a:lnSpc>
              <a:buNone/>
            </a:pPr>
            <a:r>
              <a:rPr lang="en-US" altLang="zh-CN" sz="2400" dirty="0">
                <a:solidFill>
                  <a:srgbClr val="000000"/>
                </a:solidFill>
                <a:latin typeface="宋体" panose="02010600030101010101" pitchFamily="2" charset="-122"/>
              </a:rPr>
              <a:t>1</a:t>
            </a:r>
            <a:r>
              <a:rPr lang="zh-CN" altLang="en-US" sz="2400" dirty="0">
                <a:solidFill>
                  <a:srgbClr val="000000"/>
                </a:solidFill>
                <a:latin typeface="宋体" panose="02010600030101010101" pitchFamily="2" charset="-122"/>
              </a:rPr>
              <a:t>、当需求价格弹性小于</a:t>
            </a:r>
            <a:r>
              <a:rPr lang="en-US" altLang="zh-CN" sz="2400" dirty="0">
                <a:solidFill>
                  <a:srgbClr val="000000"/>
                </a:solidFill>
                <a:latin typeface="宋体" panose="02010600030101010101" pitchFamily="2" charset="-122"/>
              </a:rPr>
              <a:t>1</a:t>
            </a:r>
            <a:r>
              <a:rPr lang="zh-CN" altLang="en-US" sz="2400" dirty="0">
                <a:solidFill>
                  <a:srgbClr val="000000"/>
                </a:solidFill>
                <a:latin typeface="宋体" panose="02010600030101010101" pitchFamily="2" charset="-122"/>
              </a:rPr>
              <a:t>时，价格上升使总收益增加，价格下降使总收益减少。</a:t>
            </a:r>
            <a:endParaRPr lang="zh-CN" altLang="en-US" sz="2400" dirty="0">
              <a:solidFill>
                <a:srgbClr val="000000"/>
              </a:solidFill>
              <a:latin typeface="宋体" panose="02010600030101010101" pitchFamily="2" charset="-122"/>
            </a:endParaRPr>
          </a:p>
          <a:p>
            <a:pPr marL="0" indent="0" eaLnBrk="1" hangingPunct="1">
              <a:lnSpc>
                <a:spcPct val="80000"/>
              </a:lnSpc>
              <a:buNone/>
            </a:pPr>
            <a:r>
              <a:rPr lang="en-US" altLang="zh-CN" sz="2400" dirty="0">
                <a:solidFill>
                  <a:srgbClr val="000000"/>
                </a:solidFill>
                <a:latin typeface="宋体" panose="02010600030101010101" pitchFamily="2" charset="-122"/>
              </a:rPr>
              <a:t>2</a:t>
            </a:r>
            <a:r>
              <a:rPr lang="zh-CN" altLang="en-US" sz="2400" dirty="0">
                <a:solidFill>
                  <a:srgbClr val="000000"/>
                </a:solidFill>
                <a:latin typeface="宋体" panose="02010600030101010101" pitchFamily="2" charset="-122"/>
              </a:rPr>
              <a:t>、当需求价格弹性大于</a:t>
            </a:r>
            <a:r>
              <a:rPr lang="en-US" altLang="zh-CN" sz="2400" dirty="0">
                <a:solidFill>
                  <a:srgbClr val="000000"/>
                </a:solidFill>
                <a:latin typeface="宋体" panose="02010600030101010101" pitchFamily="2" charset="-122"/>
              </a:rPr>
              <a:t>1</a:t>
            </a:r>
            <a:r>
              <a:rPr lang="zh-CN" altLang="en-US" sz="2400" dirty="0">
                <a:solidFill>
                  <a:srgbClr val="000000"/>
                </a:solidFill>
                <a:latin typeface="宋体" panose="02010600030101010101" pitchFamily="2" charset="-122"/>
              </a:rPr>
              <a:t>时，价格上升使总收益减少，价格下降使总收益增加。</a:t>
            </a:r>
            <a:endParaRPr lang="zh-CN" altLang="en-US" sz="2400" dirty="0">
              <a:solidFill>
                <a:srgbClr val="000000"/>
              </a:solidFill>
              <a:latin typeface="宋体" panose="02010600030101010101" pitchFamily="2" charset="-122"/>
            </a:endParaRPr>
          </a:p>
          <a:p>
            <a:pPr marL="0" indent="0" eaLnBrk="1" hangingPunct="1">
              <a:lnSpc>
                <a:spcPct val="80000"/>
              </a:lnSpc>
              <a:buNone/>
            </a:pPr>
            <a:r>
              <a:rPr lang="en-US" altLang="zh-CN" sz="2400" dirty="0">
                <a:solidFill>
                  <a:srgbClr val="000000"/>
                </a:solidFill>
                <a:latin typeface="宋体" panose="02010600030101010101" pitchFamily="2" charset="-122"/>
              </a:rPr>
              <a:t>3</a:t>
            </a:r>
            <a:r>
              <a:rPr lang="zh-CN" altLang="en-US" sz="2400" dirty="0">
                <a:solidFill>
                  <a:srgbClr val="000000"/>
                </a:solidFill>
                <a:latin typeface="宋体" panose="02010600030101010101" pitchFamily="2" charset="-122"/>
              </a:rPr>
              <a:t>、当需求价格弹性等于</a:t>
            </a:r>
            <a:r>
              <a:rPr lang="en-US" altLang="zh-CN" sz="2400" dirty="0">
                <a:solidFill>
                  <a:srgbClr val="000000"/>
                </a:solidFill>
                <a:latin typeface="宋体" panose="02010600030101010101" pitchFamily="2" charset="-122"/>
              </a:rPr>
              <a:t>1</a:t>
            </a:r>
            <a:r>
              <a:rPr lang="zh-CN" altLang="en-US" sz="2400" dirty="0">
                <a:solidFill>
                  <a:srgbClr val="000000"/>
                </a:solidFill>
                <a:latin typeface="宋体" panose="02010600030101010101" pitchFamily="2" charset="-122"/>
              </a:rPr>
              <a:t>时，价格的变动不影响总收益。</a:t>
            </a:r>
            <a:endParaRPr lang="zh-CN" altLang="en-US" sz="2400" dirty="0">
              <a:solidFill>
                <a:srgbClr val="000000"/>
              </a:solidFill>
              <a:latin typeface="宋体" panose="02010600030101010101" pitchFamily="2" charset="-122"/>
            </a:endParaRPr>
          </a:p>
          <a:p>
            <a:pPr marL="0" indent="0" eaLnBrk="1" hangingPunct="1">
              <a:lnSpc>
                <a:spcPct val="80000"/>
              </a:lnSpc>
              <a:buNone/>
            </a:pPr>
            <a:endParaRPr lang="zh-CN" altLang="en-US" sz="2000" dirty="0">
              <a:solidFill>
                <a:srgbClr val="000000"/>
              </a:solidFill>
              <a:latin typeface="宋体" panose="02010600030101010101" pitchFamily="2" charset="-122"/>
            </a:endParaRPr>
          </a:p>
          <a:p>
            <a:pPr marL="0" indent="0" eaLnBrk="1" hangingPunct="1">
              <a:lnSpc>
                <a:spcPct val="80000"/>
              </a:lnSpc>
              <a:buNone/>
            </a:pPr>
            <a:r>
              <a:rPr lang="zh-CN" altLang="en-US" sz="2400" b="1" dirty="0">
                <a:solidFill>
                  <a:srgbClr val="000000"/>
                </a:solidFill>
                <a:latin typeface="宋体" panose="02010600030101010101" pitchFamily="2" charset="-122"/>
              </a:rPr>
              <a:t>定价</a:t>
            </a:r>
            <a:endParaRPr lang="zh-CN" altLang="en-US" sz="2400" b="1" dirty="0">
              <a:solidFill>
                <a:srgbClr val="000000"/>
              </a:solidFill>
              <a:latin typeface="宋体" panose="02010600030101010101" pitchFamily="2" charset="-122"/>
            </a:endParaRPr>
          </a:p>
          <a:p>
            <a:pPr marL="0" indent="0" eaLnBrk="1" hangingPunct="1">
              <a:lnSpc>
                <a:spcPct val="80000"/>
              </a:lnSpc>
              <a:buNone/>
            </a:pPr>
            <a:r>
              <a:rPr lang="zh-CN" altLang="en-US" sz="2400" dirty="0">
                <a:solidFill>
                  <a:srgbClr val="000000"/>
                </a:solidFill>
                <a:latin typeface="宋体" panose="02010600030101010101" pitchFamily="2" charset="-122"/>
              </a:rPr>
              <a:t>总收入（</a:t>
            </a:r>
            <a:r>
              <a:rPr lang="en-US" altLang="zh-CN" sz="2400" dirty="0">
                <a:solidFill>
                  <a:srgbClr val="000000"/>
                </a:solidFill>
                <a:latin typeface="宋体" panose="02010600030101010101" pitchFamily="2" charset="-122"/>
              </a:rPr>
              <a:t>Total Revenue</a:t>
            </a:r>
            <a:r>
              <a:rPr lang="zh-CN" altLang="en-US" sz="2400" dirty="0">
                <a:solidFill>
                  <a:srgbClr val="000000"/>
                </a:solidFill>
                <a:latin typeface="宋体" panose="02010600030101010101" pitchFamily="2" charset="-122"/>
              </a:rPr>
              <a:t>）：</a:t>
            </a:r>
            <a:r>
              <a:rPr lang="en-US" altLang="zh-CN" sz="2400" dirty="0">
                <a:solidFill>
                  <a:srgbClr val="000000"/>
                </a:solidFill>
                <a:latin typeface="宋体" panose="02010600030101010101" pitchFamily="2" charset="-122"/>
              </a:rPr>
              <a:t>TR</a:t>
            </a:r>
            <a:r>
              <a:rPr lang="zh-CN" altLang="en-US" sz="2400" dirty="0">
                <a:solidFill>
                  <a:srgbClr val="000000"/>
                </a:solidFill>
                <a:latin typeface="宋体" panose="02010600030101010101" pitchFamily="2" charset="-122"/>
              </a:rPr>
              <a:t>＝</a:t>
            </a:r>
            <a:r>
              <a:rPr lang="en-US" altLang="zh-CN" sz="2400" dirty="0">
                <a:solidFill>
                  <a:srgbClr val="000000"/>
                </a:solidFill>
                <a:latin typeface="宋体" panose="02010600030101010101" pitchFamily="2" charset="-122"/>
              </a:rPr>
              <a:t>PQ</a:t>
            </a:r>
            <a:endParaRPr lang="en-US" altLang="zh-CN" sz="2400" dirty="0">
              <a:solidFill>
                <a:srgbClr val="000000"/>
              </a:solidFill>
              <a:latin typeface="宋体" panose="02010600030101010101" pitchFamily="2" charset="-122"/>
            </a:endParaRPr>
          </a:p>
          <a:p>
            <a:pPr marL="0" indent="0" eaLnBrk="1" hangingPunct="1">
              <a:lnSpc>
                <a:spcPct val="80000"/>
              </a:lnSpc>
              <a:buNone/>
            </a:pPr>
            <a:r>
              <a:rPr lang="zh-CN" altLang="en-US" sz="2400" dirty="0">
                <a:solidFill>
                  <a:srgbClr val="000000"/>
                </a:solidFill>
                <a:latin typeface="宋体" panose="02010600030101010101" pitchFamily="2" charset="-122"/>
              </a:rPr>
              <a:t>弹性大于</a:t>
            </a:r>
            <a:r>
              <a:rPr lang="en-US" altLang="zh-CN" sz="2400" dirty="0">
                <a:solidFill>
                  <a:srgbClr val="000000"/>
                </a:solidFill>
                <a:latin typeface="宋体" panose="02010600030101010101" pitchFamily="2" charset="-122"/>
              </a:rPr>
              <a:t>1</a:t>
            </a:r>
            <a:r>
              <a:rPr lang="zh-CN" altLang="en-US" sz="2400" dirty="0">
                <a:solidFill>
                  <a:srgbClr val="000000"/>
                </a:solidFill>
                <a:latin typeface="宋体" panose="02010600030101010101" pitchFamily="2" charset="-122"/>
              </a:rPr>
              <a:t>时，</a:t>
            </a:r>
            <a:r>
              <a:rPr lang="en-US" altLang="zh-CN" sz="2400" dirty="0">
                <a:solidFill>
                  <a:srgbClr val="000000"/>
                </a:solidFill>
                <a:latin typeface="宋体" panose="02010600030101010101" pitchFamily="2" charset="-122"/>
              </a:rPr>
              <a:t>P</a:t>
            </a:r>
            <a:r>
              <a:rPr lang="zh-CN" altLang="en-US" sz="2400" dirty="0">
                <a:solidFill>
                  <a:srgbClr val="000000"/>
                </a:solidFill>
                <a:latin typeface="宋体" panose="02010600030101010101" pitchFamily="2" charset="-122"/>
              </a:rPr>
              <a:t>上升，</a:t>
            </a:r>
            <a:r>
              <a:rPr lang="en-US" altLang="zh-CN" sz="2400" dirty="0">
                <a:solidFill>
                  <a:srgbClr val="000000"/>
                </a:solidFill>
                <a:latin typeface="宋体" panose="02010600030101010101" pitchFamily="2" charset="-122"/>
              </a:rPr>
              <a:t>TR</a:t>
            </a:r>
            <a:r>
              <a:rPr lang="zh-CN" altLang="en-US" sz="2400" dirty="0">
                <a:solidFill>
                  <a:srgbClr val="000000"/>
                </a:solidFill>
                <a:latin typeface="宋体" panose="02010600030101010101" pitchFamily="2" charset="-122"/>
              </a:rPr>
              <a:t>下降；</a:t>
            </a:r>
            <a:r>
              <a:rPr lang="en-US" altLang="zh-CN" sz="2400" dirty="0">
                <a:solidFill>
                  <a:srgbClr val="000000"/>
                </a:solidFill>
                <a:latin typeface="宋体" panose="02010600030101010101" pitchFamily="2" charset="-122"/>
              </a:rPr>
              <a:t>P</a:t>
            </a:r>
            <a:r>
              <a:rPr lang="zh-CN" altLang="en-US" sz="2400" dirty="0">
                <a:solidFill>
                  <a:srgbClr val="000000"/>
                </a:solidFill>
                <a:latin typeface="宋体" panose="02010600030101010101" pitchFamily="2" charset="-122"/>
              </a:rPr>
              <a:t>下降，</a:t>
            </a:r>
            <a:r>
              <a:rPr lang="en-US" altLang="zh-CN" sz="2400" dirty="0">
                <a:solidFill>
                  <a:srgbClr val="000000"/>
                </a:solidFill>
                <a:latin typeface="宋体" panose="02010600030101010101" pitchFamily="2" charset="-122"/>
              </a:rPr>
              <a:t>TR</a:t>
            </a:r>
            <a:r>
              <a:rPr lang="zh-CN" altLang="en-US" sz="2400" dirty="0">
                <a:solidFill>
                  <a:srgbClr val="000000"/>
                </a:solidFill>
                <a:latin typeface="宋体" panose="02010600030101010101" pitchFamily="2" charset="-122"/>
              </a:rPr>
              <a:t>上升。</a:t>
            </a:r>
            <a:endParaRPr lang="zh-CN" altLang="en-US" sz="2400" dirty="0">
              <a:solidFill>
                <a:srgbClr val="000000"/>
              </a:solidFill>
              <a:latin typeface="宋体" panose="02010600030101010101" pitchFamily="2" charset="-122"/>
            </a:endParaRPr>
          </a:p>
          <a:p>
            <a:pPr marL="0" indent="0" eaLnBrk="1" hangingPunct="1">
              <a:lnSpc>
                <a:spcPct val="80000"/>
              </a:lnSpc>
              <a:buNone/>
            </a:pPr>
            <a:r>
              <a:rPr lang="zh-CN" altLang="en-US" sz="2400" dirty="0">
                <a:solidFill>
                  <a:srgbClr val="000000"/>
                </a:solidFill>
                <a:latin typeface="宋体" panose="02010600030101010101" pitchFamily="2" charset="-122"/>
              </a:rPr>
              <a:t>弹性小于</a:t>
            </a:r>
            <a:r>
              <a:rPr lang="en-US" altLang="zh-CN" sz="2400" dirty="0">
                <a:solidFill>
                  <a:srgbClr val="000000"/>
                </a:solidFill>
                <a:latin typeface="宋体" panose="02010600030101010101" pitchFamily="2" charset="-122"/>
              </a:rPr>
              <a:t>1</a:t>
            </a:r>
            <a:r>
              <a:rPr lang="zh-CN" altLang="en-US" sz="2400" dirty="0">
                <a:solidFill>
                  <a:srgbClr val="000000"/>
                </a:solidFill>
                <a:latin typeface="宋体" panose="02010600030101010101" pitchFamily="2" charset="-122"/>
              </a:rPr>
              <a:t>时，</a:t>
            </a:r>
            <a:r>
              <a:rPr lang="en-US" altLang="zh-CN" sz="2400" dirty="0">
                <a:solidFill>
                  <a:srgbClr val="000000"/>
                </a:solidFill>
                <a:latin typeface="宋体" panose="02010600030101010101" pitchFamily="2" charset="-122"/>
              </a:rPr>
              <a:t>P</a:t>
            </a:r>
            <a:r>
              <a:rPr lang="zh-CN" altLang="en-US" sz="2400" dirty="0">
                <a:solidFill>
                  <a:srgbClr val="000000"/>
                </a:solidFill>
                <a:latin typeface="宋体" panose="02010600030101010101" pitchFamily="2" charset="-122"/>
              </a:rPr>
              <a:t>上升，</a:t>
            </a:r>
            <a:r>
              <a:rPr lang="en-US" altLang="zh-CN" sz="2400" dirty="0">
                <a:solidFill>
                  <a:srgbClr val="000000"/>
                </a:solidFill>
                <a:latin typeface="宋体" panose="02010600030101010101" pitchFamily="2" charset="-122"/>
              </a:rPr>
              <a:t>TR</a:t>
            </a:r>
            <a:r>
              <a:rPr lang="zh-CN" altLang="en-US" sz="2400" dirty="0">
                <a:solidFill>
                  <a:srgbClr val="000000"/>
                </a:solidFill>
                <a:latin typeface="宋体" panose="02010600030101010101" pitchFamily="2" charset="-122"/>
              </a:rPr>
              <a:t>上升；</a:t>
            </a:r>
            <a:r>
              <a:rPr lang="en-US" altLang="zh-CN" sz="2400" dirty="0">
                <a:solidFill>
                  <a:srgbClr val="000000"/>
                </a:solidFill>
                <a:latin typeface="宋体" panose="02010600030101010101" pitchFamily="2" charset="-122"/>
              </a:rPr>
              <a:t>P</a:t>
            </a:r>
            <a:r>
              <a:rPr lang="zh-CN" altLang="en-US" sz="2400" dirty="0">
                <a:solidFill>
                  <a:srgbClr val="000000"/>
                </a:solidFill>
                <a:latin typeface="宋体" panose="02010600030101010101" pitchFamily="2" charset="-122"/>
              </a:rPr>
              <a:t>下降，</a:t>
            </a:r>
            <a:r>
              <a:rPr lang="en-US" altLang="zh-CN" sz="2400" dirty="0">
                <a:solidFill>
                  <a:srgbClr val="000000"/>
                </a:solidFill>
                <a:latin typeface="宋体" panose="02010600030101010101" pitchFamily="2" charset="-122"/>
              </a:rPr>
              <a:t>TR</a:t>
            </a:r>
            <a:r>
              <a:rPr lang="zh-CN" altLang="en-US" sz="2400" dirty="0">
                <a:solidFill>
                  <a:srgbClr val="000000"/>
                </a:solidFill>
                <a:latin typeface="宋体" panose="02010600030101010101" pitchFamily="2" charset="-122"/>
              </a:rPr>
              <a:t>下降。</a:t>
            </a:r>
            <a:br>
              <a:rPr lang="zh-CN" altLang="en-US" sz="2400" dirty="0">
                <a:solidFill>
                  <a:srgbClr val="000000"/>
                </a:solidFill>
                <a:latin typeface="宋体" panose="02010600030101010101" pitchFamily="2" charset="-122"/>
              </a:rPr>
            </a:br>
            <a:r>
              <a:rPr lang="en-US" altLang="zh-CN" sz="2400" dirty="0">
                <a:solidFill>
                  <a:srgbClr val="000000"/>
                </a:solidFill>
                <a:latin typeface="宋体" panose="02010600030101010101" pitchFamily="2" charset="-122"/>
              </a:rPr>
              <a:t>1</a:t>
            </a:r>
            <a:r>
              <a:rPr lang="zh-CN" altLang="en-US" sz="2400" dirty="0">
                <a:solidFill>
                  <a:srgbClr val="000000"/>
                </a:solidFill>
                <a:latin typeface="宋体" panose="02010600030101010101" pitchFamily="2" charset="-122"/>
              </a:rPr>
              <a:t>、	</a:t>
            </a:r>
            <a:r>
              <a:rPr lang="en-US" altLang="zh-CN" sz="2400" dirty="0">
                <a:solidFill>
                  <a:srgbClr val="000000"/>
                </a:solidFill>
                <a:latin typeface="宋体" panose="02010600030101010101" pitchFamily="2" charset="-122"/>
              </a:rPr>
              <a:t>Ed&gt;1</a:t>
            </a:r>
            <a:r>
              <a:rPr lang="zh-CN" altLang="en-US" sz="2400" dirty="0">
                <a:solidFill>
                  <a:srgbClr val="000000"/>
                </a:solidFill>
                <a:latin typeface="宋体" panose="02010600030101010101" pitchFamily="2" charset="-122"/>
              </a:rPr>
              <a:t>，降价好</a:t>
            </a:r>
            <a:br>
              <a:rPr lang="zh-CN" altLang="en-US" sz="2400" dirty="0">
                <a:solidFill>
                  <a:srgbClr val="000000"/>
                </a:solidFill>
                <a:latin typeface="宋体" panose="02010600030101010101" pitchFamily="2" charset="-122"/>
              </a:rPr>
            </a:br>
            <a:r>
              <a:rPr lang="en-US" altLang="zh-CN" sz="2400" dirty="0">
                <a:solidFill>
                  <a:srgbClr val="000000"/>
                </a:solidFill>
                <a:latin typeface="宋体" panose="02010600030101010101" pitchFamily="2" charset="-122"/>
              </a:rPr>
              <a:t>2</a:t>
            </a:r>
            <a:r>
              <a:rPr lang="zh-CN" altLang="en-US" sz="2400" dirty="0">
                <a:solidFill>
                  <a:srgbClr val="000000"/>
                </a:solidFill>
                <a:latin typeface="宋体" panose="02010600030101010101" pitchFamily="2" charset="-122"/>
              </a:rPr>
              <a:t>、	</a:t>
            </a:r>
            <a:r>
              <a:rPr lang="en-US" altLang="zh-CN" sz="2400" dirty="0">
                <a:solidFill>
                  <a:srgbClr val="000000"/>
                </a:solidFill>
                <a:latin typeface="宋体" panose="02010600030101010101" pitchFamily="2" charset="-122"/>
              </a:rPr>
              <a:t>Ed&lt;1</a:t>
            </a:r>
            <a:r>
              <a:rPr lang="zh-CN" altLang="en-US" sz="2400" dirty="0">
                <a:solidFill>
                  <a:srgbClr val="000000"/>
                </a:solidFill>
                <a:latin typeface="宋体" panose="02010600030101010101" pitchFamily="2" charset="-122"/>
              </a:rPr>
              <a:t>，涨价好</a:t>
            </a:r>
            <a:br>
              <a:rPr lang="zh-CN" altLang="en-US" sz="2400" dirty="0">
                <a:solidFill>
                  <a:srgbClr val="000000"/>
                </a:solidFill>
                <a:latin typeface="宋体" panose="02010600030101010101" pitchFamily="2" charset="-122"/>
              </a:rPr>
            </a:br>
            <a:r>
              <a:rPr lang="en-US" altLang="zh-CN" sz="2400" dirty="0">
                <a:solidFill>
                  <a:srgbClr val="000000"/>
                </a:solidFill>
                <a:latin typeface="宋体" panose="02010600030101010101" pitchFamily="2" charset="-122"/>
              </a:rPr>
              <a:t>3</a:t>
            </a:r>
            <a:r>
              <a:rPr lang="zh-CN" altLang="en-US" sz="2400" dirty="0">
                <a:solidFill>
                  <a:srgbClr val="000000"/>
                </a:solidFill>
                <a:latin typeface="宋体" panose="02010600030101010101" pitchFamily="2" charset="-122"/>
              </a:rPr>
              <a:t>、	</a:t>
            </a:r>
            <a:r>
              <a:rPr lang="en-US" altLang="zh-CN" sz="2400" dirty="0">
                <a:solidFill>
                  <a:srgbClr val="000000"/>
                </a:solidFill>
                <a:latin typeface="宋体" panose="02010600030101010101" pitchFamily="2" charset="-122"/>
              </a:rPr>
              <a:t>Ed=1</a:t>
            </a:r>
            <a:r>
              <a:rPr lang="zh-CN" altLang="en-US" sz="2400" dirty="0">
                <a:solidFill>
                  <a:srgbClr val="000000"/>
                </a:solidFill>
                <a:latin typeface="宋体" panose="02010600030101010101" pitchFamily="2" charset="-122"/>
              </a:rPr>
              <a:t>，无所谓</a:t>
            </a:r>
            <a:br>
              <a:rPr lang="zh-CN" altLang="en-US" sz="2400" dirty="0">
                <a:solidFill>
                  <a:srgbClr val="000000"/>
                </a:solidFill>
                <a:latin typeface="宋体" panose="02010600030101010101" pitchFamily="2" charset="-122"/>
              </a:rPr>
            </a:br>
            <a:endParaRPr lang="zh-CN" altLang="en-US" sz="2400" dirty="0">
              <a:solidFill>
                <a:srgbClr val="000000"/>
              </a:solidFill>
              <a:latin typeface="宋体" panose="02010600030101010101" pitchFamily="2" charset="-122"/>
            </a:endParaRPr>
          </a:p>
          <a:p>
            <a:pPr marL="0" indent="0" eaLnBrk="1" hangingPunct="1">
              <a:lnSpc>
                <a:spcPct val="80000"/>
              </a:lnSpc>
            </a:pPr>
            <a:endParaRPr lang="en-US" altLang="zh-CN"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a:ln/>
        </p:spPr>
        <p:txBody>
          <a:bodyPr vert="horz" wrap="square" lIns="91440" tIns="45720" rIns="91440" bIns="45720" anchor="ctr" anchorCtr="0"/>
          <a:p>
            <a:pPr eaLnBrk="1" hangingPunct="1"/>
            <a:endParaRPr lang="zh-CN" altLang="zh-CN" dirty="0"/>
          </a:p>
        </p:txBody>
      </p:sp>
      <p:sp>
        <p:nvSpPr>
          <p:cNvPr id="51203" name="Rectangle 3"/>
          <p:cNvSpPr>
            <a:spLocks noGrp="1"/>
          </p:cNvSpPr>
          <p:nvPr>
            <p:ph idx="1"/>
          </p:nvPr>
        </p:nvSpPr>
        <p:spPr>
          <a:ln/>
        </p:spPr>
        <p:txBody>
          <a:bodyPr vert="horz" wrap="square" lIns="91440" tIns="45720" rIns="91440" bIns="45720" anchor="t" anchorCtr="0"/>
          <a:p>
            <a:pPr eaLnBrk="1" hangingPunct="1">
              <a:buNone/>
            </a:pPr>
            <a:r>
              <a:rPr lang="zh-CN" altLang="en-US" sz="3600" b="1" dirty="0">
                <a:solidFill>
                  <a:srgbClr val="000000"/>
                </a:solidFill>
                <a:latin typeface="宋体" panose="02010600030101010101" pitchFamily="2" charset="-122"/>
              </a:rPr>
              <a:t>例题：</a:t>
            </a:r>
            <a:br>
              <a:rPr lang="zh-CN" altLang="en-US" sz="3600" dirty="0">
                <a:solidFill>
                  <a:srgbClr val="000000"/>
                </a:solidFill>
              </a:rPr>
            </a:br>
            <a:r>
              <a:rPr lang="zh-CN" altLang="en-US" sz="3600" dirty="0">
                <a:solidFill>
                  <a:srgbClr val="000000"/>
                </a:solidFill>
              </a:rPr>
              <a:t>    </a:t>
            </a:r>
            <a:r>
              <a:rPr lang="zh-CN" altLang="en-US" sz="2800" dirty="0">
                <a:solidFill>
                  <a:srgbClr val="000000"/>
                </a:solidFill>
                <a:latin typeface="宋体" panose="02010600030101010101" pitchFamily="2" charset="-122"/>
              </a:rPr>
              <a:t>某市场需求曲线为</a:t>
            </a:r>
            <a:r>
              <a:rPr lang="en-US" altLang="zh-CN" sz="2800" dirty="0">
                <a:solidFill>
                  <a:srgbClr val="000000"/>
                </a:solidFill>
                <a:latin typeface="宋体" panose="02010600030101010101" pitchFamily="2" charset="-122"/>
              </a:rPr>
              <a:t>Q</a:t>
            </a:r>
            <a:r>
              <a:rPr lang="zh-CN" altLang="en-US" sz="2800" dirty="0">
                <a:solidFill>
                  <a:srgbClr val="000000"/>
                </a:solidFill>
                <a:latin typeface="宋体" panose="02010600030101010101" pitchFamily="2" charset="-122"/>
              </a:rPr>
              <a:t>＝</a:t>
            </a:r>
            <a:r>
              <a:rPr lang="en-US" altLang="zh-CN" sz="2800" dirty="0">
                <a:solidFill>
                  <a:srgbClr val="000000"/>
                </a:solidFill>
                <a:latin typeface="宋体" panose="02010600030101010101" pitchFamily="2" charset="-122"/>
              </a:rPr>
              <a:t>20-3P</a:t>
            </a:r>
            <a:r>
              <a:rPr lang="zh-CN" altLang="en-US" sz="2800" dirty="0">
                <a:solidFill>
                  <a:srgbClr val="000000"/>
                </a:solidFill>
                <a:latin typeface="宋体" panose="02010600030101010101" pitchFamily="2" charset="-122"/>
              </a:rPr>
              <a:t>，求价格</a:t>
            </a:r>
            <a:r>
              <a:rPr lang="en-US" altLang="zh-CN" sz="2800" dirty="0">
                <a:solidFill>
                  <a:srgbClr val="000000"/>
                </a:solidFill>
                <a:latin typeface="宋体" panose="02010600030101010101" pitchFamily="2" charset="-122"/>
              </a:rPr>
              <a:t>P=2</a:t>
            </a:r>
            <a:r>
              <a:rPr lang="zh-CN" altLang="en-US" sz="2800" dirty="0">
                <a:solidFill>
                  <a:srgbClr val="000000"/>
                </a:solidFill>
                <a:latin typeface="宋体" panose="02010600030101010101" pitchFamily="2" charset="-122"/>
              </a:rPr>
              <a:t>时，需求的点弹性值，并说明怎样调整价格才能使得总收益增加</a:t>
            </a:r>
            <a:r>
              <a:rPr lang="zh-CN" altLang="en-US" sz="2800" dirty="0">
                <a:solidFill>
                  <a:srgbClr val="000000"/>
                </a:solidFill>
              </a:rPr>
              <a:t>？</a:t>
            </a:r>
            <a:endParaRPr lang="zh-CN" altLang="en-US" sz="2800" dirty="0">
              <a:solidFill>
                <a:srgbClr val="00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idx="1"/>
          </p:nvPr>
        </p:nvSpPr>
        <p:spPr>
          <a:xfrm>
            <a:off x="685800" y="404813"/>
            <a:ext cx="7772400" cy="5691187"/>
          </a:xfrm>
          <a:ln/>
        </p:spPr>
        <p:txBody>
          <a:bodyPr vert="horz" wrap="square" lIns="91440" tIns="45720" rIns="91440" bIns="45720" anchor="t" anchorCtr="0"/>
          <a:p>
            <a:pPr marL="0" indent="0" eaLnBrk="1" hangingPunct="1">
              <a:buNone/>
            </a:pPr>
            <a:r>
              <a:rPr lang="zh-CN" altLang="en-US" b="1" dirty="0">
                <a:solidFill>
                  <a:srgbClr val="FF0000"/>
                </a:solidFill>
                <a:latin typeface="宋体" panose="02010600030101010101" pitchFamily="2" charset="-122"/>
              </a:rPr>
              <a:t>影响需求价格弹性的因素</a:t>
            </a:r>
            <a:br>
              <a:rPr lang="zh-CN" altLang="en-US" b="1" dirty="0">
                <a:solidFill>
                  <a:srgbClr val="FF0000"/>
                </a:solidFill>
                <a:latin typeface="宋体" panose="02010600030101010101" pitchFamily="2" charset="-122"/>
              </a:rPr>
            </a:br>
            <a:r>
              <a:rPr lang="en-US" altLang="zh-CN" sz="2800" b="1" dirty="0">
                <a:solidFill>
                  <a:srgbClr val="000000"/>
                </a:solidFill>
                <a:latin typeface="宋体" panose="02010600030101010101" pitchFamily="2" charset="-122"/>
              </a:rPr>
              <a:t>1</a:t>
            </a:r>
            <a:r>
              <a:rPr lang="zh-CN" altLang="en-US" sz="2800" b="1" dirty="0">
                <a:solidFill>
                  <a:srgbClr val="000000"/>
                </a:solidFill>
                <a:latin typeface="宋体" panose="02010600030101010101" pitchFamily="2" charset="-122"/>
              </a:rPr>
              <a:t>、	消费者对商品的需求程度</a:t>
            </a:r>
            <a:br>
              <a:rPr lang="zh-CN" altLang="en-US" sz="2800" dirty="0">
                <a:solidFill>
                  <a:srgbClr val="000000"/>
                </a:solidFill>
                <a:latin typeface="宋体" panose="02010600030101010101" pitchFamily="2" charset="-122"/>
              </a:rPr>
            </a:br>
            <a:r>
              <a:rPr lang="zh-CN" altLang="en-US" sz="2800" dirty="0">
                <a:solidFill>
                  <a:srgbClr val="000000"/>
                </a:solidFill>
                <a:latin typeface="宋体" panose="02010600030101010101" pitchFamily="2" charset="-122"/>
              </a:rPr>
              <a:t>商品性质	必需品	奢侈品	</a:t>
            </a:r>
            <a:br>
              <a:rPr lang="zh-CN" altLang="en-US" sz="2800" dirty="0">
                <a:solidFill>
                  <a:srgbClr val="000000"/>
                </a:solidFill>
                <a:latin typeface="宋体" panose="02010600030101010101" pitchFamily="2" charset="-122"/>
              </a:rPr>
            </a:br>
            <a:r>
              <a:rPr lang="en-US" altLang="zh-CN" sz="2800" b="1" dirty="0">
                <a:solidFill>
                  <a:srgbClr val="000000"/>
                </a:solidFill>
                <a:latin typeface="宋体" panose="02010600030101010101" pitchFamily="2" charset="-122"/>
              </a:rPr>
              <a:t>2</a:t>
            </a:r>
            <a:r>
              <a:rPr lang="zh-CN" altLang="en-US" sz="2800" b="1" dirty="0">
                <a:solidFill>
                  <a:srgbClr val="000000"/>
                </a:solidFill>
                <a:latin typeface="宋体" panose="02010600030101010101" pitchFamily="2" charset="-122"/>
              </a:rPr>
              <a:t>、	商品支出在消费者总支出中所占的比重</a:t>
            </a:r>
            <a:br>
              <a:rPr lang="zh-CN" altLang="en-US" sz="2800" dirty="0">
                <a:solidFill>
                  <a:srgbClr val="000000"/>
                </a:solidFill>
                <a:latin typeface="宋体" panose="02010600030101010101" pitchFamily="2" charset="-122"/>
              </a:rPr>
            </a:br>
            <a:r>
              <a:rPr lang="zh-CN" altLang="en-US" sz="2800" dirty="0">
                <a:solidFill>
                  <a:srgbClr val="000000"/>
                </a:solidFill>
                <a:latin typeface="宋体" panose="02010600030101010101" pitchFamily="2" charset="-122"/>
              </a:rPr>
              <a:t>商品支出在消费者总支出中所占的比重大小	</a:t>
            </a:r>
            <a:br>
              <a:rPr lang="zh-CN" altLang="en-US" sz="2800" dirty="0">
                <a:solidFill>
                  <a:srgbClr val="000000"/>
                </a:solidFill>
                <a:latin typeface="宋体" panose="02010600030101010101" pitchFamily="2" charset="-122"/>
              </a:rPr>
            </a:br>
            <a:r>
              <a:rPr lang="en-US" altLang="zh-CN" sz="2800" b="1" dirty="0">
                <a:solidFill>
                  <a:srgbClr val="000000"/>
                </a:solidFill>
                <a:latin typeface="宋体" panose="02010600030101010101" pitchFamily="2" charset="-122"/>
              </a:rPr>
              <a:t>3</a:t>
            </a:r>
            <a:r>
              <a:rPr lang="zh-CN" altLang="en-US" sz="2800" b="1" dirty="0">
                <a:solidFill>
                  <a:srgbClr val="000000"/>
                </a:solidFill>
                <a:latin typeface="宋体" panose="02010600030101010101" pitchFamily="2" charset="-122"/>
              </a:rPr>
              <a:t>、	商品的可替代程度</a:t>
            </a:r>
            <a:br>
              <a:rPr lang="zh-CN" altLang="en-US" sz="2800" dirty="0">
                <a:solidFill>
                  <a:srgbClr val="000000"/>
                </a:solidFill>
                <a:latin typeface="宋体" panose="02010600030101010101" pitchFamily="2" charset="-122"/>
              </a:rPr>
            </a:br>
            <a:r>
              <a:rPr lang="zh-CN" altLang="en-US" sz="2800" dirty="0">
                <a:solidFill>
                  <a:srgbClr val="000000"/>
                </a:solidFill>
                <a:latin typeface="宋体" panose="02010600030101010101" pitchFamily="2" charset="-122"/>
              </a:rPr>
              <a:t>商品的可替代程度	大	小	</a:t>
            </a:r>
            <a:br>
              <a:rPr lang="zh-CN" altLang="en-US" sz="2800" dirty="0">
                <a:solidFill>
                  <a:srgbClr val="000000"/>
                </a:solidFill>
                <a:latin typeface="宋体" panose="02010600030101010101" pitchFamily="2" charset="-122"/>
              </a:rPr>
            </a:br>
            <a:r>
              <a:rPr lang="en-US" altLang="zh-CN" sz="2800" b="1" dirty="0">
                <a:solidFill>
                  <a:srgbClr val="000000"/>
                </a:solidFill>
                <a:latin typeface="宋体" panose="02010600030101010101" pitchFamily="2" charset="-122"/>
              </a:rPr>
              <a:t>4</a:t>
            </a:r>
            <a:r>
              <a:rPr lang="zh-CN" altLang="en-US" sz="2800" b="1" dirty="0">
                <a:solidFill>
                  <a:srgbClr val="000000"/>
                </a:solidFill>
                <a:latin typeface="宋体" panose="02010600030101010101" pitchFamily="2" charset="-122"/>
              </a:rPr>
              <a:t>、	消费者收入水平的差别</a:t>
            </a:r>
            <a:br>
              <a:rPr lang="zh-CN" altLang="en-US" sz="2800" b="1" dirty="0">
                <a:solidFill>
                  <a:srgbClr val="000000"/>
                </a:solidFill>
                <a:latin typeface="宋体" panose="02010600030101010101" pitchFamily="2" charset="-122"/>
              </a:rPr>
            </a:br>
            <a:r>
              <a:rPr lang="zh-CN" altLang="en-US" sz="2800" dirty="0">
                <a:solidFill>
                  <a:srgbClr val="000000"/>
                </a:solidFill>
                <a:latin typeface="宋体" panose="02010600030101010101" pitchFamily="2" charset="-122"/>
              </a:rPr>
              <a:t>消费者收入水平	高	低	</a:t>
            </a:r>
            <a:br>
              <a:rPr lang="zh-CN" altLang="en-US" sz="2800" dirty="0">
                <a:solidFill>
                  <a:srgbClr val="000000"/>
                </a:solidFill>
                <a:latin typeface="宋体" panose="02010600030101010101" pitchFamily="2" charset="-122"/>
              </a:rPr>
            </a:br>
            <a:r>
              <a:rPr lang="en-US" altLang="zh-CN" sz="2800" b="1" dirty="0">
                <a:solidFill>
                  <a:srgbClr val="000000"/>
                </a:solidFill>
                <a:latin typeface="宋体" panose="02010600030101010101" pitchFamily="2" charset="-122"/>
              </a:rPr>
              <a:t>5</a:t>
            </a:r>
            <a:r>
              <a:rPr lang="zh-CN" altLang="en-US" sz="2800" b="1" dirty="0">
                <a:solidFill>
                  <a:srgbClr val="000000"/>
                </a:solidFill>
                <a:latin typeface="宋体" panose="02010600030101010101" pitchFamily="2" charset="-122"/>
              </a:rPr>
              <a:t>、	时间因素</a:t>
            </a:r>
            <a:br>
              <a:rPr lang="zh-CN" altLang="en-US" sz="2800" b="1" dirty="0">
                <a:solidFill>
                  <a:srgbClr val="000000"/>
                </a:solidFill>
                <a:latin typeface="宋体" panose="02010600030101010101" pitchFamily="2" charset="-122"/>
              </a:rPr>
            </a:br>
            <a:r>
              <a:rPr lang="zh-CN" altLang="en-US" sz="2800" dirty="0">
                <a:solidFill>
                  <a:srgbClr val="000000"/>
                </a:solidFill>
                <a:latin typeface="宋体" panose="02010600030101010101" pitchFamily="2" charset="-122"/>
              </a:rPr>
              <a:t>时间	长	短</a:t>
            </a:r>
            <a:r>
              <a:rPr lang="zh-CN" altLang="en-US" sz="2000" dirty="0">
                <a:solidFill>
                  <a:srgbClr val="000000"/>
                </a:solidFill>
                <a:latin typeface="宋体" panose="02010600030101010101" pitchFamily="2" charset="-122"/>
              </a:rPr>
              <a:t>	</a:t>
            </a:r>
            <a:br>
              <a:rPr lang="zh-CN" altLang="en-US" sz="2000" dirty="0">
                <a:solidFill>
                  <a:srgbClr val="000000"/>
                </a:solidFill>
                <a:latin typeface="宋体" panose="02010600030101010101" pitchFamily="2" charset="-122"/>
              </a:rPr>
            </a:br>
            <a:endParaRPr lang="zh-CN" altLang="en-US" sz="2000" dirty="0">
              <a:solidFill>
                <a:srgbClr val="000000"/>
              </a:solidFill>
              <a:latin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p:cNvSpPr>
          <p:nvPr>
            <p:ph idx="1"/>
          </p:nvPr>
        </p:nvSpPr>
        <p:spPr>
          <a:xfrm>
            <a:off x="685800" y="260350"/>
            <a:ext cx="7772400" cy="6408738"/>
          </a:xfrm>
          <a:ln/>
        </p:spPr>
        <p:txBody>
          <a:bodyPr vert="horz" wrap="square" lIns="91440" tIns="45720" rIns="91440" bIns="45720" anchor="t" anchorCtr="0"/>
          <a:p>
            <a:pPr marL="0" indent="0" eaLnBrk="1" hangingPunct="1">
              <a:lnSpc>
                <a:spcPct val="80000"/>
              </a:lnSpc>
              <a:buNone/>
            </a:pPr>
            <a:r>
              <a:rPr lang="zh-CN" altLang="en-US" sz="2800" b="1" dirty="0">
                <a:solidFill>
                  <a:srgbClr val="FF0000"/>
                </a:solidFill>
                <a:latin typeface="宋体" panose="02010600030101010101" pitchFamily="2" charset="-122"/>
              </a:rPr>
              <a:t>影响需求价格弹性的因素</a:t>
            </a:r>
            <a:br>
              <a:rPr lang="zh-CN" altLang="en-US" sz="2800" b="1" dirty="0">
                <a:solidFill>
                  <a:srgbClr val="FF0000"/>
                </a:solidFill>
                <a:latin typeface="宋体" panose="02010600030101010101" pitchFamily="2" charset="-122"/>
              </a:rPr>
            </a:br>
            <a:r>
              <a:rPr lang="en-US" altLang="zh-CN" sz="2400" dirty="0">
                <a:solidFill>
                  <a:srgbClr val="000000"/>
                </a:solidFill>
                <a:latin typeface="宋体" panose="02010600030101010101" pitchFamily="2" charset="-122"/>
              </a:rPr>
              <a:t>1</a:t>
            </a:r>
            <a:r>
              <a:rPr lang="zh-CN" altLang="en-US" sz="2400" dirty="0">
                <a:solidFill>
                  <a:srgbClr val="000000"/>
                </a:solidFill>
                <a:latin typeface="宋体" panose="02010600030101010101" pitchFamily="2" charset="-122"/>
              </a:rPr>
              <a:t>、	</a:t>
            </a:r>
            <a:r>
              <a:rPr lang="zh-CN" altLang="en-US" sz="2400" b="1" dirty="0">
                <a:solidFill>
                  <a:srgbClr val="000000"/>
                </a:solidFill>
                <a:latin typeface="宋体" panose="02010600030101010101" pitchFamily="2" charset="-122"/>
              </a:rPr>
              <a:t>消费者对商品的需求程度</a:t>
            </a:r>
            <a:br>
              <a:rPr lang="zh-CN" altLang="en-US" sz="2400" b="1"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商品性质	       必需品         奢侈品	</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需求价格弹性大小	   小	            大	</a:t>
            </a:r>
            <a:br>
              <a:rPr lang="zh-CN" altLang="en-US" sz="2400" dirty="0">
                <a:solidFill>
                  <a:srgbClr val="000000"/>
                </a:solidFill>
                <a:latin typeface="宋体" panose="02010600030101010101" pitchFamily="2" charset="-122"/>
              </a:rPr>
            </a:br>
            <a:r>
              <a:rPr lang="en-US" altLang="zh-CN" sz="2400" dirty="0">
                <a:solidFill>
                  <a:srgbClr val="000000"/>
                </a:solidFill>
                <a:latin typeface="宋体" panose="02010600030101010101" pitchFamily="2" charset="-122"/>
              </a:rPr>
              <a:t>2</a:t>
            </a:r>
            <a:r>
              <a:rPr lang="zh-CN" altLang="en-US" sz="2400" dirty="0">
                <a:solidFill>
                  <a:srgbClr val="000000"/>
                </a:solidFill>
                <a:latin typeface="宋体" panose="02010600030101010101" pitchFamily="2" charset="-122"/>
              </a:rPr>
              <a:t>、	</a:t>
            </a:r>
            <a:r>
              <a:rPr lang="zh-CN" altLang="en-US" sz="2400" b="1" dirty="0">
                <a:solidFill>
                  <a:srgbClr val="000000"/>
                </a:solidFill>
                <a:latin typeface="宋体" panose="02010600030101010101" pitchFamily="2" charset="-122"/>
              </a:rPr>
              <a:t>商品支出在消费者总支出中所占的比重</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商品支出在消费者总支出中所占的比重	大	小	</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需求价格弹性大小                    大    小	</a:t>
            </a:r>
            <a:br>
              <a:rPr lang="zh-CN" altLang="en-US" sz="2400" dirty="0">
                <a:solidFill>
                  <a:srgbClr val="000000"/>
                </a:solidFill>
                <a:latin typeface="宋体" panose="02010600030101010101" pitchFamily="2" charset="-122"/>
              </a:rPr>
            </a:br>
            <a:r>
              <a:rPr lang="en-US" altLang="zh-CN" sz="2400" dirty="0">
                <a:solidFill>
                  <a:srgbClr val="000000"/>
                </a:solidFill>
                <a:latin typeface="宋体" panose="02010600030101010101" pitchFamily="2" charset="-122"/>
              </a:rPr>
              <a:t>3</a:t>
            </a:r>
            <a:r>
              <a:rPr lang="zh-CN" altLang="en-US" sz="2400" dirty="0">
                <a:solidFill>
                  <a:srgbClr val="000000"/>
                </a:solidFill>
                <a:latin typeface="宋体" panose="02010600030101010101" pitchFamily="2" charset="-122"/>
              </a:rPr>
              <a:t>、	</a:t>
            </a:r>
            <a:r>
              <a:rPr lang="zh-CN" altLang="en-US" sz="2400" b="1" dirty="0">
                <a:solidFill>
                  <a:srgbClr val="000000"/>
                </a:solidFill>
                <a:latin typeface="宋体" panose="02010600030101010101" pitchFamily="2" charset="-122"/>
              </a:rPr>
              <a:t>商品的可替代程度</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商品的可替代程度	大	小	</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需求价格弹性大小	大	小	</a:t>
            </a:r>
            <a:br>
              <a:rPr lang="zh-CN" altLang="en-US" sz="2400" dirty="0">
                <a:solidFill>
                  <a:srgbClr val="000000"/>
                </a:solidFill>
                <a:latin typeface="宋体" panose="02010600030101010101" pitchFamily="2" charset="-122"/>
              </a:rPr>
            </a:br>
            <a:r>
              <a:rPr lang="en-US" altLang="zh-CN" sz="2400" dirty="0">
                <a:solidFill>
                  <a:srgbClr val="000000"/>
                </a:solidFill>
                <a:latin typeface="宋体" panose="02010600030101010101" pitchFamily="2" charset="-122"/>
              </a:rPr>
              <a:t>4</a:t>
            </a:r>
            <a:r>
              <a:rPr lang="zh-CN" altLang="en-US" sz="2400" dirty="0">
                <a:solidFill>
                  <a:srgbClr val="000000"/>
                </a:solidFill>
                <a:latin typeface="宋体" panose="02010600030101010101" pitchFamily="2" charset="-122"/>
              </a:rPr>
              <a:t>、	</a:t>
            </a:r>
            <a:r>
              <a:rPr lang="zh-CN" altLang="en-US" sz="2400" b="1" dirty="0">
                <a:solidFill>
                  <a:srgbClr val="000000"/>
                </a:solidFill>
                <a:latin typeface="宋体" panose="02010600030101010101" pitchFamily="2" charset="-122"/>
              </a:rPr>
              <a:t>消费者收入水平的差别</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消费者收入水平	高	低	</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需求价格弹性大小	小	大	</a:t>
            </a:r>
            <a:br>
              <a:rPr lang="zh-CN" altLang="en-US" sz="2400" dirty="0">
                <a:solidFill>
                  <a:srgbClr val="000000"/>
                </a:solidFill>
                <a:latin typeface="宋体" panose="02010600030101010101" pitchFamily="2" charset="-122"/>
              </a:rPr>
            </a:br>
            <a:r>
              <a:rPr lang="en-US" altLang="zh-CN" sz="2400" dirty="0">
                <a:solidFill>
                  <a:srgbClr val="000000"/>
                </a:solidFill>
                <a:latin typeface="宋体" panose="02010600030101010101" pitchFamily="2" charset="-122"/>
              </a:rPr>
              <a:t>5</a:t>
            </a:r>
            <a:r>
              <a:rPr lang="zh-CN" altLang="en-US" sz="2400" dirty="0">
                <a:solidFill>
                  <a:srgbClr val="000000"/>
                </a:solidFill>
                <a:latin typeface="宋体" panose="02010600030101010101" pitchFamily="2" charset="-122"/>
              </a:rPr>
              <a:t>、	</a:t>
            </a:r>
            <a:r>
              <a:rPr lang="zh-CN" altLang="en-US" sz="2400" b="1" dirty="0">
                <a:solidFill>
                  <a:srgbClr val="000000"/>
                </a:solidFill>
                <a:latin typeface="宋体" panose="02010600030101010101" pitchFamily="2" charset="-122"/>
              </a:rPr>
              <a:t>时间因素</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时间		      短	长</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需求价格弹性大小	小	大	</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一种消费品在短期内需求价格弹性较小，在长期内，价格弹性较大，因为时间很短，消费者不大可能因为某一商品的价格下降而很快用其他商品来替代他，而反之亦然</a:t>
            </a:r>
            <a:endParaRPr lang="zh-CN" alt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p:cNvSpPr>
          <p:nvPr>
            <p:ph type="body" sz="half" idx="1"/>
          </p:nvPr>
        </p:nvSpPr>
        <p:spPr>
          <a:xfrm>
            <a:off x="685800" y="620713"/>
            <a:ext cx="7702550" cy="5475287"/>
          </a:xfrm>
          <a:ln/>
        </p:spPr>
        <p:txBody>
          <a:bodyPr vert="horz" wrap="square" lIns="91440" tIns="45720" rIns="91440" bIns="45720" anchor="t" anchorCtr="0"/>
          <a:p>
            <a:pPr marL="0" indent="0" eaLnBrk="1" hangingPunct="1">
              <a:buClrTx/>
              <a:buSzTx/>
              <a:buFontTx/>
              <a:buNone/>
            </a:pPr>
            <a:r>
              <a:rPr lang="zh-CN" altLang="en-US" sz="2400" b="1" dirty="0">
                <a:solidFill>
                  <a:srgbClr val="000000"/>
                </a:solidFill>
                <a:latin typeface="宋体" panose="02010600030101010101" pitchFamily="2" charset="-122"/>
              </a:rPr>
              <a:t>需求的收入弹性：</a:t>
            </a:r>
            <a:r>
              <a:rPr lang="zh-CN" altLang="en-US" sz="2400" dirty="0">
                <a:solidFill>
                  <a:srgbClr val="000000"/>
                </a:solidFill>
                <a:latin typeface="宋体" panose="02010600030101010101" pitchFamily="2" charset="-122"/>
              </a:rPr>
              <a:t>表示一种商品的消费量对消费者收入变化的感应（敏感）程度，用需求量变动百分比除以收入变动百分比来计算。</a:t>
            </a:r>
            <a:br>
              <a:rPr lang="zh-CN" altLang="en-US" sz="2400" dirty="0">
                <a:solidFill>
                  <a:srgbClr val="000000"/>
                </a:solidFill>
                <a:latin typeface="宋体" panose="02010600030101010101" pitchFamily="2" charset="-122"/>
              </a:rPr>
            </a:br>
            <a:br>
              <a:rPr lang="zh-CN" altLang="en-US" sz="2400" dirty="0">
                <a:solidFill>
                  <a:srgbClr val="000000"/>
                </a:solidFill>
                <a:latin typeface="宋体" panose="02010600030101010101" pitchFamily="2" charset="-122"/>
              </a:rPr>
            </a:br>
            <a:br>
              <a:rPr lang="zh-CN" altLang="en-US" sz="2400" dirty="0">
                <a:solidFill>
                  <a:srgbClr val="000000"/>
                </a:solidFill>
                <a:latin typeface="宋体" panose="02010600030101010101" pitchFamily="2" charset="-122"/>
              </a:rPr>
            </a:br>
            <a:br>
              <a:rPr lang="zh-CN" altLang="en-US" sz="2400" dirty="0">
                <a:solidFill>
                  <a:srgbClr val="000000"/>
                </a:solidFill>
                <a:latin typeface="宋体" panose="02010600030101010101" pitchFamily="2" charset="-122"/>
              </a:rPr>
            </a:br>
            <a:br>
              <a:rPr lang="zh-CN" altLang="en-US" sz="2400" dirty="0">
                <a:solidFill>
                  <a:srgbClr val="000000"/>
                </a:solidFill>
                <a:latin typeface="宋体" panose="02010600030101010101" pitchFamily="2" charset="-122"/>
              </a:rPr>
            </a:br>
            <a:r>
              <a:rPr lang="en-US" altLang="zh-CN" sz="2400" dirty="0">
                <a:solidFill>
                  <a:srgbClr val="000000"/>
                </a:solidFill>
                <a:latin typeface="宋体" panose="02010600030101010101" pitchFamily="2" charset="-122"/>
              </a:rPr>
              <a:t>Ei</a:t>
            </a:r>
            <a:r>
              <a:rPr lang="zh-CN" altLang="en-US" sz="2400" dirty="0">
                <a:solidFill>
                  <a:srgbClr val="000000"/>
                </a:solidFill>
                <a:latin typeface="宋体" panose="02010600030101010101" pitchFamily="2" charset="-122"/>
              </a:rPr>
              <a:t>＝（△</a:t>
            </a:r>
            <a:r>
              <a:rPr lang="en-US" altLang="zh-CN" sz="2400" dirty="0">
                <a:solidFill>
                  <a:srgbClr val="000000"/>
                </a:solidFill>
                <a:latin typeface="宋体" panose="02010600030101010101" pitchFamily="2" charset="-122"/>
              </a:rPr>
              <a:t>Q/Q</a:t>
            </a:r>
            <a:r>
              <a:rPr lang="zh-CN" altLang="en-US" sz="2400" dirty="0">
                <a:solidFill>
                  <a:srgbClr val="000000"/>
                </a:solidFill>
                <a:latin typeface="宋体" panose="02010600030101010101" pitchFamily="2" charset="-122"/>
              </a:rPr>
              <a:t>）</a:t>
            </a:r>
            <a:r>
              <a:rPr lang="en-US" altLang="zh-CN" sz="2400" dirty="0">
                <a:solidFill>
                  <a:srgbClr val="000000"/>
                </a:solidFill>
                <a:latin typeface="宋体" panose="02010600030101010101" pitchFamily="2" charset="-122"/>
              </a:rPr>
              <a:t>÷</a:t>
            </a:r>
            <a:r>
              <a:rPr lang="zh-CN" altLang="en-US" sz="2400" dirty="0">
                <a:solidFill>
                  <a:srgbClr val="000000"/>
                </a:solidFill>
                <a:latin typeface="宋体" panose="02010600030101010101" pitchFamily="2" charset="-122"/>
              </a:rPr>
              <a:t>（△</a:t>
            </a:r>
            <a:r>
              <a:rPr lang="en-US" altLang="zh-CN" sz="2400" dirty="0">
                <a:solidFill>
                  <a:srgbClr val="000000"/>
                </a:solidFill>
                <a:latin typeface="宋体" panose="02010600030101010101" pitchFamily="2" charset="-122"/>
              </a:rPr>
              <a:t>I/I</a:t>
            </a:r>
            <a:r>
              <a:rPr lang="zh-CN" altLang="en-US" sz="2400" dirty="0">
                <a:solidFill>
                  <a:srgbClr val="000000"/>
                </a:solidFill>
                <a:latin typeface="宋体" panose="02010600030101010101" pitchFamily="2" charset="-122"/>
              </a:rPr>
              <a:t>） </a:t>
            </a:r>
            <a:br>
              <a:rPr lang="zh-CN" altLang="en-US" sz="2400" dirty="0">
                <a:solidFill>
                  <a:srgbClr val="000000"/>
                </a:solidFill>
                <a:latin typeface="宋体" panose="02010600030101010101" pitchFamily="2" charset="-122"/>
              </a:rPr>
            </a:br>
            <a:r>
              <a:rPr lang="en-US" altLang="zh-CN" sz="2400" dirty="0">
                <a:solidFill>
                  <a:srgbClr val="000000"/>
                </a:solidFill>
                <a:latin typeface="宋体" panose="02010600030101010101" pitchFamily="2" charset="-122"/>
              </a:rPr>
              <a:t>1</a:t>
            </a:r>
            <a:r>
              <a:rPr lang="zh-CN" altLang="en-US" sz="2400" dirty="0">
                <a:solidFill>
                  <a:srgbClr val="000000"/>
                </a:solidFill>
                <a:latin typeface="宋体" panose="02010600030101010101" pitchFamily="2" charset="-122"/>
              </a:rPr>
              <a:t>、	</a:t>
            </a:r>
            <a:r>
              <a:rPr lang="en-US" altLang="zh-CN" sz="2400" dirty="0">
                <a:solidFill>
                  <a:srgbClr val="000000"/>
                </a:solidFill>
                <a:latin typeface="宋体" panose="02010600030101010101" pitchFamily="2" charset="-122"/>
              </a:rPr>
              <a:t>Ei&gt;0</a:t>
            </a:r>
            <a:r>
              <a:rPr lang="zh-CN" altLang="en-US" sz="2400" dirty="0">
                <a:solidFill>
                  <a:srgbClr val="000000"/>
                </a:solidFill>
                <a:latin typeface="宋体" panose="02010600030101010101" pitchFamily="2" charset="-122"/>
              </a:rPr>
              <a:t>，  </a:t>
            </a:r>
            <a:br>
              <a:rPr lang="zh-CN" altLang="en-US" sz="2400" dirty="0">
                <a:solidFill>
                  <a:srgbClr val="000000"/>
                </a:solidFill>
                <a:latin typeface="宋体" panose="02010600030101010101" pitchFamily="2" charset="-122"/>
              </a:rPr>
            </a:br>
            <a:r>
              <a:rPr lang="en-US" altLang="zh-CN" sz="2400" dirty="0">
                <a:solidFill>
                  <a:srgbClr val="000000"/>
                </a:solidFill>
                <a:latin typeface="宋体" panose="02010600030101010101" pitchFamily="2" charset="-122"/>
              </a:rPr>
              <a:t>2</a:t>
            </a:r>
            <a:r>
              <a:rPr lang="zh-CN" altLang="en-US" sz="2400" dirty="0">
                <a:solidFill>
                  <a:srgbClr val="000000"/>
                </a:solidFill>
                <a:latin typeface="宋体" panose="02010600030101010101" pitchFamily="2" charset="-122"/>
              </a:rPr>
              <a:t>、	</a:t>
            </a:r>
            <a:r>
              <a:rPr lang="en-US" altLang="zh-CN" sz="2400" dirty="0">
                <a:solidFill>
                  <a:srgbClr val="000000"/>
                </a:solidFill>
                <a:latin typeface="宋体" panose="02010600030101010101" pitchFamily="2" charset="-122"/>
              </a:rPr>
              <a:t>Ei&lt;0</a:t>
            </a:r>
            <a:r>
              <a:rPr lang="zh-CN" altLang="en-US" sz="2400" dirty="0">
                <a:solidFill>
                  <a:srgbClr val="000000"/>
                </a:solidFill>
                <a:latin typeface="宋体" panose="02010600030101010101" pitchFamily="2" charset="-122"/>
              </a:rPr>
              <a:t>，  </a:t>
            </a:r>
            <a:br>
              <a:rPr lang="zh-CN" altLang="en-US" sz="2400" dirty="0">
                <a:solidFill>
                  <a:srgbClr val="000000"/>
                </a:solidFill>
                <a:latin typeface="宋体" panose="02010600030101010101" pitchFamily="2" charset="-122"/>
              </a:rPr>
            </a:br>
            <a:r>
              <a:rPr lang="en-US" altLang="zh-CN" sz="2400" dirty="0">
                <a:solidFill>
                  <a:srgbClr val="000000"/>
                </a:solidFill>
                <a:latin typeface="宋体" panose="02010600030101010101" pitchFamily="2" charset="-122"/>
              </a:rPr>
              <a:t>3</a:t>
            </a:r>
            <a:r>
              <a:rPr lang="zh-CN" altLang="en-US" sz="2400" dirty="0">
                <a:solidFill>
                  <a:srgbClr val="000000"/>
                </a:solidFill>
                <a:latin typeface="宋体" panose="02010600030101010101" pitchFamily="2" charset="-122"/>
              </a:rPr>
              <a:t>、	在一定范围</a:t>
            </a:r>
            <a:r>
              <a:rPr lang="en-US" altLang="zh-CN" sz="2400" dirty="0">
                <a:solidFill>
                  <a:srgbClr val="000000"/>
                </a:solidFill>
                <a:latin typeface="宋体" panose="02010600030101010101" pitchFamily="2" charset="-122"/>
              </a:rPr>
              <a:t>Ei</a:t>
            </a:r>
            <a:r>
              <a:rPr lang="zh-CN" altLang="en-US" sz="2400" dirty="0">
                <a:solidFill>
                  <a:srgbClr val="000000"/>
                </a:solidFill>
                <a:latin typeface="宋体" panose="02010600030101010101" pitchFamily="2" charset="-122"/>
              </a:rPr>
              <a:t>为负，在一定范围为正</a:t>
            </a:r>
            <a:br>
              <a:rPr lang="zh-CN" altLang="en-US" sz="2400" dirty="0">
                <a:solidFill>
                  <a:srgbClr val="000000"/>
                </a:solidFill>
                <a:latin typeface="宋体" panose="02010600030101010101" pitchFamily="2" charset="-122"/>
              </a:rPr>
            </a:br>
            <a:endParaRPr lang="zh-CN" altLang="en-US" sz="2400" dirty="0">
              <a:solidFill>
                <a:srgbClr val="000000"/>
              </a:solidFill>
              <a:latin typeface="宋体" panose="02010600030101010101" pitchFamily="2" charset="-122"/>
            </a:endParaRPr>
          </a:p>
        </p:txBody>
      </p:sp>
      <p:graphicFrame>
        <p:nvGraphicFramePr>
          <p:cNvPr id="54275" name="Object 3"/>
          <p:cNvGraphicFramePr>
            <a:graphicFrameLocks noChangeAspect="1"/>
          </p:cNvGraphicFramePr>
          <p:nvPr>
            <p:ph sz="half" idx="2"/>
          </p:nvPr>
        </p:nvGraphicFramePr>
        <p:xfrm>
          <a:off x="1292225" y="1981200"/>
          <a:ext cx="5335588" cy="1087438"/>
        </p:xfrm>
        <a:graphic>
          <a:graphicData uri="http://schemas.openxmlformats.org/presentationml/2006/ole">
            <mc:AlternateContent xmlns:mc="http://schemas.openxmlformats.org/markup-compatibility/2006">
              <mc:Choice xmlns:v="urn:schemas-microsoft-com:vml" Requires="v">
                <p:oleObj spid="_x0000_s3081" name="" r:id="rId1" imgW="1993265" imgH="406400" progId="Equation.3">
                  <p:embed/>
                </p:oleObj>
              </mc:Choice>
              <mc:Fallback>
                <p:oleObj name="" r:id="rId1" imgW="1993265" imgH="406400" progId="Equation.3">
                  <p:embed/>
                  <p:pic>
                    <p:nvPicPr>
                      <p:cNvPr id="0" name="图片 3080"/>
                      <p:cNvPicPr/>
                      <p:nvPr/>
                    </p:nvPicPr>
                    <p:blipFill>
                      <a:blip r:embed="rId2"/>
                      <a:srcRect/>
                      <a:stretch>
                        <a:fillRect/>
                      </a:stretch>
                    </p:blipFill>
                    <p:spPr>
                      <a:xfrm>
                        <a:off x="1292225" y="1981200"/>
                        <a:ext cx="5335588" cy="1087438"/>
                      </a:xfrm>
                      <a:prstGeom prst="rect">
                        <a:avLst/>
                      </a:prstGeom>
                      <a:noFill/>
                      <a:ln w="38100">
                        <a:miter/>
                      </a:ln>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idx="1"/>
          </p:nvPr>
        </p:nvSpPr>
        <p:spPr>
          <a:xfrm>
            <a:off x="685800" y="620713"/>
            <a:ext cx="7772400" cy="5475287"/>
          </a:xfrm>
          <a:ln/>
        </p:spPr>
        <p:txBody>
          <a:bodyPr vert="horz" wrap="square" lIns="91440" tIns="45720" rIns="91440" bIns="45720" anchor="t" anchorCtr="0"/>
          <a:p>
            <a:pPr marL="0" indent="0" eaLnBrk="1" hangingPunct="1">
              <a:buNone/>
            </a:pPr>
            <a:r>
              <a:rPr lang="en-US" altLang="zh-CN" sz="2800" b="1" dirty="0">
                <a:solidFill>
                  <a:srgbClr val="000000"/>
                </a:solidFill>
                <a:latin typeface="宋体" panose="02010600030101010101" pitchFamily="2" charset="-122"/>
              </a:rPr>
              <a:t>1</a:t>
            </a:r>
            <a:r>
              <a:rPr lang="zh-CN" altLang="en-US" sz="2800" b="1" dirty="0">
                <a:solidFill>
                  <a:srgbClr val="000000"/>
                </a:solidFill>
                <a:latin typeface="宋体" panose="02010600030101010101" pitchFamily="2" charset="-122"/>
              </a:rPr>
              <a:t>、	</a:t>
            </a:r>
            <a:r>
              <a:rPr lang="en-US" altLang="zh-CN" sz="2800" b="1" dirty="0">
                <a:solidFill>
                  <a:srgbClr val="000000"/>
                </a:solidFill>
                <a:latin typeface="宋体" panose="02010600030101010101" pitchFamily="2" charset="-122"/>
              </a:rPr>
              <a:t>Ei&gt;0</a:t>
            </a:r>
            <a:r>
              <a:rPr lang="zh-CN" altLang="en-US" sz="2800" b="1" dirty="0">
                <a:solidFill>
                  <a:srgbClr val="000000"/>
                </a:solidFill>
                <a:latin typeface="宋体" panose="02010600030101010101" pitchFamily="2" charset="-122"/>
              </a:rPr>
              <a:t>，</a:t>
            </a:r>
            <a:r>
              <a:rPr lang="zh-CN" altLang="en-US" sz="2400" dirty="0">
                <a:solidFill>
                  <a:srgbClr val="000000"/>
                </a:solidFill>
                <a:latin typeface="宋体" panose="02010600030101010101" pitchFamily="2" charset="-122"/>
              </a:rPr>
              <a:t>需求量，收入，同方向（正常商品）</a:t>
            </a:r>
            <a:br>
              <a:rPr lang="zh-CN" altLang="en-US" sz="2400" dirty="0">
                <a:solidFill>
                  <a:srgbClr val="000000"/>
                </a:solidFill>
                <a:latin typeface="宋体" panose="02010600030101010101" pitchFamily="2" charset="-122"/>
              </a:rPr>
            </a:br>
            <a:r>
              <a:rPr lang="en-US" altLang="zh-CN" sz="2800" b="1" dirty="0">
                <a:solidFill>
                  <a:srgbClr val="000000"/>
                </a:solidFill>
                <a:latin typeface="宋体" panose="02010600030101010101" pitchFamily="2" charset="-122"/>
              </a:rPr>
              <a:t>2</a:t>
            </a:r>
            <a:r>
              <a:rPr lang="zh-CN" altLang="en-US" sz="2800" b="1" dirty="0">
                <a:solidFill>
                  <a:srgbClr val="000000"/>
                </a:solidFill>
                <a:latin typeface="宋体" panose="02010600030101010101" pitchFamily="2" charset="-122"/>
              </a:rPr>
              <a:t>、	</a:t>
            </a:r>
            <a:r>
              <a:rPr lang="en-US" altLang="zh-CN" sz="2800" b="1" dirty="0">
                <a:solidFill>
                  <a:srgbClr val="000000"/>
                </a:solidFill>
                <a:latin typeface="宋体" panose="02010600030101010101" pitchFamily="2" charset="-122"/>
              </a:rPr>
              <a:t>Ei&lt;0</a:t>
            </a:r>
            <a:r>
              <a:rPr lang="zh-CN" altLang="en-US" sz="2800" b="1" dirty="0">
                <a:solidFill>
                  <a:srgbClr val="000000"/>
                </a:solidFill>
                <a:latin typeface="宋体" panose="02010600030101010101" pitchFamily="2" charset="-122"/>
              </a:rPr>
              <a:t>，</a:t>
            </a:r>
            <a:r>
              <a:rPr lang="zh-CN" altLang="en-US" sz="2400" dirty="0">
                <a:solidFill>
                  <a:srgbClr val="000000"/>
                </a:solidFill>
                <a:latin typeface="宋体" panose="02010600030101010101" pitchFamily="2" charset="-122"/>
              </a:rPr>
              <a:t>需求量，收入，反方向（低档商品）</a:t>
            </a:r>
            <a:br>
              <a:rPr lang="zh-CN" altLang="en-US" sz="2400" dirty="0">
                <a:solidFill>
                  <a:srgbClr val="000000"/>
                </a:solidFill>
                <a:latin typeface="宋体" panose="02010600030101010101" pitchFamily="2" charset="-122"/>
              </a:rPr>
            </a:br>
            <a:r>
              <a:rPr lang="en-US" altLang="zh-CN" sz="2800" b="1" dirty="0">
                <a:solidFill>
                  <a:srgbClr val="000000"/>
                </a:solidFill>
                <a:latin typeface="宋体" panose="02010600030101010101" pitchFamily="2" charset="-122"/>
              </a:rPr>
              <a:t>3</a:t>
            </a:r>
            <a:r>
              <a:rPr lang="zh-CN" altLang="en-US" sz="2800" b="1" dirty="0">
                <a:solidFill>
                  <a:srgbClr val="000000"/>
                </a:solidFill>
                <a:latin typeface="宋体" panose="02010600030101010101" pitchFamily="2" charset="-122"/>
              </a:rPr>
              <a:t>、	在一定范围</a:t>
            </a:r>
            <a:r>
              <a:rPr lang="en-US" altLang="zh-CN" sz="2800" b="1" dirty="0">
                <a:solidFill>
                  <a:srgbClr val="000000"/>
                </a:solidFill>
                <a:latin typeface="宋体" panose="02010600030101010101" pitchFamily="2" charset="-122"/>
              </a:rPr>
              <a:t>Ei</a:t>
            </a:r>
            <a:r>
              <a:rPr lang="zh-CN" altLang="en-US" sz="2800" b="1" dirty="0">
                <a:solidFill>
                  <a:srgbClr val="000000"/>
                </a:solidFill>
                <a:latin typeface="宋体" panose="02010600030101010101" pitchFamily="2" charset="-122"/>
              </a:rPr>
              <a:t>为负，在一定范围为正</a:t>
            </a:r>
            <a:r>
              <a:rPr lang="zh-CN" altLang="en-US" sz="2400" dirty="0">
                <a:solidFill>
                  <a:srgbClr val="000000"/>
                </a:solidFill>
                <a:latin typeface="宋体" panose="02010600030101010101" pitchFamily="2" charset="-122"/>
              </a:rPr>
              <a:t>（对同一个人，收入变化，消费量变化；对同一种商品，不同的人有不同的需求量的变化）</a:t>
            </a:r>
            <a:br>
              <a:rPr lang="zh-CN" altLang="en-US" sz="2400" dirty="0">
                <a:solidFill>
                  <a:srgbClr val="000000"/>
                </a:solidFill>
                <a:latin typeface="宋体" panose="02010600030101010101" pitchFamily="2" charset="-122"/>
              </a:rPr>
            </a:br>
            <a:endParaRPr lang="zh-CN" altLang="en-US" sz="2400" dirty="0">
              <a:solidFill>
                <a:srgbClr val="000000"/>
              </a:solidFill>
              <a:latin typeface="宋体" panose="02010600030101010101" pitchFamily="2" charset="-122"/>
            </a:endParaRPr>
          </a:p>
          <a:p>
            <a:pPr marL="0" indent="0" eaLnBrk="1" hangingPunct="1">
              <a:buNone/>
            </a:pPr>
            <a:r>
              <a:rPr lang="zh-CN" altLang="en-US" sz="2800" b="1" dirty="0">
                <a:solidFill>
                  <a:srgbClr val="000000"/>
                </a:solidFill>
                <a:latin typeface="宋体" panose="02010600030101010101" pitchFamily="2" charset="-122"/>
              </a:rPr>
              <a:t>不同产品的收入弹性</a:t>
            </a:r>
            <a:endParaRPr lang="zh-CN" altLang="en-US" sz="2800" b="1" dirty="0">
              <a:solidFill>
                <a:srgbClr val="000000"/>
              </a:solidFill>
              <a:latin typeface="宋体" panose="02010600030101010101" pitchFamily="2" charset="-122"/>
            </a:endParaRPr>
          </a:p>
          <a:p>
            <a:pPr marL="0" indent="0" eaLnBrk="1" hangingPunct="1">
              <a:buNone/>
            </a:pPr>
            <a:r>
              <a:rPr lang="zh-CN" altLang="en-US" sz="2400" dirty="0">
                <a:solidFill>
                  <a:srgbClr val="000000"/>
                </a:solidFill>
                <a:latin typeface="宋体" panose="02010600030101010101" pitchFamily="2" charset="-122"/>
              </a:rPr>
              <a:t>奢侈品（</a:t>
            </a:r>
            <a:r>
              <a:rPr lang="en-US" altLang="zh-CN" sz="2400" dirty="0">
                <a:solidFill>
                  <a:srgbClr val="000000"/>
                </a:solidFill>
                <a:latin typeface="宋体" panose="02010600030101010101" pitchFamily="2" charset="-122"/>
              </a:rPr>
              <a:t>luxury, superior goods</a:t>
            </a:r>
            <a:r>
              <a:rPr lang="zh-CN" altLang="en-US" sz="2400" dirty="0">
                <a:solidFill>
                  <a:srgbClr val="000000"/>
                </a:solidFill>
                <a:latin typeface="宋体" panose="02010600030101010101" pitchFamily="2" charset="-122"/>
              </a:rPr>
              <a:t>）：收入弹性大于</a:t>
            </a:r>
            <a:r>
              <a:rPr lang="en-US" altLang="zh-CN" sz="2400" dirty="0">
                <a:solidFill>
                  <a:srgbClr val="000000"/>
                </a:solidFill>
                <a:latin typeface="宋体" panose="02010600030101010101" pitchFamily="2" charset="-122"/>
              </a:rPr>
              <a:t>1</a:t>
            </a:r>
            <a:endParaRPr lang="en-US" altLang="zh-CN" sz="2400" dirty="0">
              <a:solidFill>
                <a:srgbClr val="000000"/>
              </a:solidFill>
              <a:latin typeface="宋体" panose="02010600030101010101" pitchFamily="2" charset="-122"/>
            </a:endParaRPr>
          </a:p>
          <a:p>
            <a:pPr marL="0" indent="0" eaLnBrk="1" hangingPunct="1">
              <a:buNone/>
            </a:pPr>
            <a:r>
              <a:rPr lang="zh-CN" altLang="en-US" sz="2400" dirty="0">
                <a:solidFill>
                  <a:srgbClr val="000000"/>
                </a:solidFill>
                <a:latin typeface="宋体" panose="02010600030101010101" pitchFamily="2" charset="-122"/>
              </a:rPr>
              <a:t>必需品（</a:t>
            </a:r>
            <a:r>
              <a:rPr lang="en-US" altLang="zh-CN" sz="2400" dirty="0">
                <a:solidFill>
                  <a:srgbClr val="000000"/>
                </a:solidFill>
                <a:latin typeface="宋体" panose="02010600030101010101" pitchFamily="2" charset="-122"/>
              </a:rPr>
              <a:t>necessary goods〕</a:t>
            </a:r>
            <a:r>
              <a:rPr lang="zh-CN" altLang="en-US" sz="2400" dirty="0">
                <a:solidFill>
                  <a:srgbClr val="000000"/>
                </a:solidFill>
                <a:latin typeface="宋体" panose="02010600030101010101" pitchFamily="2" charset="-122"/>
              </a:rPr>
              <a:t>：收入弹性小于</a:t>
            </a:r>
            <a:r>
              <a:rPr lang="en-US" altLang="zh-CN" sz="2400" dirty="0">
                <a:solidFill>
                  <a:srgbClr val="000000"/>
                </a:solidFill>
                <a:latin typeface="宋体" panose="02010600030101010101" pitchFamily="2" charset="-122"/>
              </a:rPr>
              <a:t>1</a:t>
            </a:r>
            <a:endParaRPr lang="en-US" altLang="zh-CN" sz="2400" dirty="0">
              <a:solidFill>
                <a:srgbClr val="000000"/>
              </a:solidFill>
              <a:latin typeface="宋体" panose="02010600030101010101" pitchFamily="2" charset="-122"/>
            </a:endParaRPr>
          </a:p>
          <a:p>
            <a:pPr marL="0" indent="0" eaLnBrk="1" hangingPunct="1">
              <a:buNone/>
            </a:pPr>
            <a:r>
              <a:rPr lang="zh-CN" altLang="en-US" sz="2400" dirty="0">
                <a:solidFill>
                  <a:srgbClr val="000000"/>
                </a:solidFill>
                <a:latin typeface="宋体" panose="02010600030101010101" pitchFamily="2" charset="-122"/>
              </a:rPr>
              <a:t>劣等品（</a:t>
            </a:r>
            <a:r>
              <a:rPr lang="en-US" altLang="zh-CN" sz="2400" dirty="0">
                <a:solidFill>
                  <a:srgbClr val="000000"/>
                </a:solidFill>
                <a:latin typeface="宋体" panose="02010600030101010101" pitchFamily="2" charset="-122"/>
              </a:rPr>
              <a:t>inferior goods</a:t>
            </a:r>
            <a:r>
              <a:rPr lang="zh-CN" altLang="en-US" sz="2400" dirty="0">
                <a:solidFill>
                  <a:srgbClr val="000000"/>
                </a:solidFill>
                <a:latin typeface="宋体" panose="02010600030101010101" pitchFamily="2" charset="-122"/>
              </a:rPr>
              <a:t>）：收入弹性小于</a:t>
            </a:r>
            <a:r>
              <a:rPr lang="en-US" altLang="zh-CN" sz="2400" dirty="0">
                <a:solidFill>
                  <a:srgbClr val="000000"/>
                </a:solidFill>
                <a:latin typeface="宋体" panose="02010600030101010101" pitchFamily="2" charset="-122"/>
              </a:rPr>
              <a:t>0</a:t>
            </a:r>
            <a:endParaRPr lang="en-US" altLang="zh-CN" sz="2400" dirty="0">
              <a:solidFill>
                <a:srgbClr val="000000"/>
              </a:solidFill>
              <a:latin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p:cNvSpPr>
          <p:nvPr>
            <p:ph idx="1"/>
          </p:nvPr>
        </p:nvSpPr>
        <p:spPr>
          <a:xfrm>
            <a:off x="685800" y="692150"/>
            <a:ext cx="7772400" cy="5403850"/>
          </a:xfrm>
          <a:ln/>
        </p:spPr>
        <p:txBody>
          <a:bodyPr vert="horz" wrap="square" lIns="91440" tIns="45720" rIns="91440" bIns="45720" anchor="t" anchorCtr="0"/>
          <a:p>
            <a:pPr marL="0" indent="0" eaLnBrk="1" hangingPunct="1">
              <a:buNone/>
            </a:pPr>
            <a:r>
              <a:rPr lang="zh-CN" altLang="en-US" sz="2800" b="1" dirty="0">
                <a:solidFill>
                  <a:srgbClr val="000000"/>
                </a:solidFill>
                <a:latin typeface="宋体" panose="02010600030101010101" pitchFamily="2" charset="-122"/>
              </a:rPr>
              <a:t>食物支出的收入弹性</a:t>
            </a:r>
            <a:r>
              <a:rPr lang="zh-CN" altLang="en-US" sz="2400" dirty="0">
                <a:solidFill>
                  <a:srgbClr val="000000"/>
                </a:solidFill>
                <a:latin typeface="宋体" panose="02010600030101010101" pitchFamily="2" charset="-122"/>
              </a:rPr>
              <a:t>＝用于购买食物的支出量的变动率</a:t>
            </a:r>
            <a:r>
              <a:rPr lang="en-US" altLang="zh-CN" sz="2400" dirty="0">
                <a:solidFill>
                  <a:srgbClr val="000000"/>
                </a:solidFill>
                <a:latin typeface="宋体" panose="02010600030101010101" pitchFamily="2" charset="-122"/>
              </a:rPr>
              <a:t>/</a:t>
            </a:r>
            <a:r>
              <a:rPr lang="zh-CN" altLang="en-US" sz="2400" dirty="0">
                <a:solidFill>
                  <a:srgbClr val="000000"/>
                </a:solidFill>
                <a:latin typeface="宋体" panose="02010600030101010101" pitchFamily="2" charset="-122"/>
              </a:rPr>
              <a:t>消费者的收入量的变动率</a:t>
            </a:r>
            <a:br>
              <a:rPr lang="zh-CN" altLang="en-US" sz="2400" dirty="0">
                <a:solidFill>
                  <a:srgbClr val="000000"/>
                </a:solidFill>
                <a:latin typeface="宋体" panose="02010600030101010101" pitchFamily="2" charset="-122"/>
              </a:rPr>
            </a:br>
            <a:endParaRPr lang="zh-CN" altLang="en-US" sz="2400" dirty="0">
              <a:solidFill>
                <a:srgbClr val="000000"/>
              </a:solidFill>
              <a:latin typeface="宋体" panose="02010600030101010101" pitchFamily="2" charset="-122"/>
            </a:endParaRPr>
          </a:p>
          <a:p>
            <a:pPr marL="0" indent="0" eaLnBrk="1" hangingPunct="1">
              <a:buNone/>
            </a:pPr>
            <a:r>
              <a:rPr lang="zh-CN" altLang="en-US" sz="2800" b="1" dirty="0">
                <a:solidFill>
                  <a:srgbClr val="000000"/>
                </a:solidFill>
                <a:latin typeface="宋体" panose="02010600030101010101" pitchFamily="2" charset="-122"/>
              </a:rPr>
              <a:t>恩格尔定律：</a:t>
            </a:r>
            <a:r>
              <a:rPr lang="zh-CN" altLang="en-US" sz="2400" dirty="0">
                <a:solidFill>
                  <a:srgbClr val="000000"/>
                </a:solidFill>
                <a:latin typeface="宋体" panose="02010600030101010101" pitchFamily="2" charset="-122"/>
              </a:rPr>
              <a:t>在一个国家或家庭中，食物支出在收入中占的比例，随着收入的增加而减少。</a:t>
            </a:r>
            <a:br>
              <a:rPr lang="zh-CN" altLang="en-US" sz="2400" dirty="0">
                <a:solidFill>
                  <a:srgbClr val="000000"/>
                </a:solidFill>
                <a:latin typeface="宋体" panose="02010600030101010101" pitchFamily="2" charset="-122"/>
              </a:rPr>
            </a:br>
            <a:endParaRPr lang="zh-CN" altLang="en-US" sz="2400" dirty="0">
              <a:solidFill>
                <a:srgbClr val="000000"/>
              </a:solidFill>
              <a:latin typeface="宋体" panose="02010600030101010101" pitchFamily="2" charset="-122"/>
            </a:endParaRPr>
          </a:p>
          <a:p>
            <a:pPr marL="0" indent="0" eaLnBrk="1" hangingPunct="1">
              <a:buNone/>
            </a:pPr>
            <a:r>
              <a:rPr lang="zh-CN" altLang="en-US" sz="2800" b="1" dirty="0">
                <a:solidFill>
                  <a:srgbClr val="000000"/>
                </a:solidFill>
                <a:latin typeface="宋体" panose="02010600030101010101" pitchFamily="2" charset="-122"/>
              </a:rPr>
              <a:t>用弹性概念来表述恩格尔定律：</a:t>
            </a:r>
            <a:r>
              <a:rPr lang="zh-CN" altLang="en-US" sz="2400" dirty="0">
                <a:solidFill>
                  <a:srgbClr val="000000"/>
                </a:solidFill>
                <a:latin typeface="宋体" panose="02010600030101010101" pitchFamily="2" charset="-122"/>
              </a:rPr>
              <a:t>在一个家庭或国家中，富裕程度越高，则食物支出的收入弹性越小，反之，则越大。</a:t>
            </a:r>
            <a:endParaRPr lang="zh-CN" altLang="en-US" sz="2400" dirty="0">
              <a:solidFill>
                <a:srgbClr val="000000"/>
              </a:solidFill>
              <a:latin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body" sz="half" idx="1"/>
          </p:nvPr>
        </p:nvSpPr>
        <p:spPr>
          <a:xfrm>
            <a:off x="685800" y="476250"/>
            <a:ext cx="7773988" cy="5619750"/>
          </a:xfrm>
          <a:ln/>
        </p:spPr>
        <p:txBody>
          <a:bodyPr vert="horz" wrap="square" lIns="91440" tIns="45720" rIns="91440" bIns="45720" anchor="t" anchorCtr="0"/>
          <a:p>
            <a:pPr marL="0" indent="0" eaLnBrk="1" hangingPunct="1">
              <a:lnSpc>
                <a:spcPct val="90000"/>
              </a:lnSpc>
              <a:buClrTx/>
              <a:buSzTx/>
              <a:buFontTx/>
              <a:buNone/>
            </a:pPr>
            <a:r>
              <a:rPr lang="zh-CN" altLang="en-US" sz="2800" b="1" dirty="0">
                <a:solidFill>
                  <a:srgbClr val="000000"/>
                </a:solidFill>
                <a:latin typeface="宋体" panose="02010600030101010101" pitchFamily="2" charset="-122"/>
              </a:rPr>
              <a:t>三、需求的交叉弹性</a:t>
            </a:r>
            <a:br>
              <a:rPr lang="zh-CN" altLang="en-US" sz="2800" b="1" dirty="0">
                <a:solidFill>
                  <a:srgbClr val="000000"/>
                </a:solidFill>
                <a:latin typeface="宋体" panose="02010600030101010101" pitchFamily="2" charset="-122"/>
              </a:rPr>
            </a:br>
            <a:r>
              <a:rPr lang="zh-CN" altLang="en-US" sz="2400" b="1" dirty="0">
                <a:solidFill>
                  <a:srgbClr val="000000"/>
                </a:solidFill>
                <a:latin typeface="宋体" panose="02010600030101010101" pitchFamily="2" charset="-122"/>
              </a:rPr>
              <a:t>需求的交叉弹性：</a:t>
            </a:r>
            <a:r>
              <a:rPr lang="zh-CN" altLang="en-US" sz="2400" dirty="0">
                <a:solidFill>
                  <a:srgbClr val="000000"/>
                </a:solidFill>
                <a:latin typeface="宋体" panose="02010600030101010101" pitchFamily="2" charset="-122"/>
              </a:rPr>
              <a:t>衡量一种商品需求量对另一种商品价格变化的反应程度，用这种物品需求量变动的百分比除以另一物品价格变动的百分比来计算。</a:t>
            </a:r>
            <a:br>
              <a:rPr lang="zh-CN" altLang="en-US" sz="2400" dirty="0">
                <a:solidFill>
                  <a:srgbClr val="000000"/>
                </a:solidFill>
                <a:latin typeface="宋体" panose="02010600030101010101" pitchFamily="2" charset="-122"/>
              </a:rPr>
            </a:br>
            <a:br>
              <a:rPr lang="zh-CN" altLang="en-US" sz="1600" b="1" dirty="0">
                <a:solidFill>
                  <a:srgbClr val="000000"/>
                </a:solidFill>
                <a:latin typeface="宋体" panose="02010600030101010101" pitchFamily="2" charset="-122"/>
              </a:rPr>
            </a:br>
            <a:br>
              <a:rPr lang="zh-CN" altLang="en-US" sz="2400" b="1" dirty="0">
                <a:solidFill>
                  <a:srgbClr val="000000"/>
                </a:solidFill>
                <a:latin typeface="宋体" panose="02010600030101010101" pitchFamily="2" charset="-122"/>
              </a:rPr>
            </a:br>
            <a:br>
              <a:rPr lang="zh-CN" altLang="en-US" sz="2400" b="1" dirty="0">
                <a:solidFill>
                  <a:srgbClr val="000000"/>
                </a:solidFill>
                <a:latin typeface="宋体" panose="02010600030101010101" pitchFamily="2" charset="-122"/>
              </a:rPr>
            </a:br>
            <a:br>
              <a:rPr lang="zh-CN" altLang="en-US" sz="2400" b="1" dirty="0">
                <a:solidFill>
                  <a:srgbClr val="000000"/>
                </a:solidFill>
                <a:latin typeface="宋体" panose="02010600030101010101" pitchFamily="2" charset="-122"/>
              </a:rPr>
            </a:br>
            <a:br>
              <a:rPr lang="zh-CN" altLang="en-US" sz="2400" b="1" dirty="0">
                <a:solidFill>
                  <a:srgbClr val="000000"/>
                </a:solidFill>
                <a:latin typeface="宋体" panose="02010600030101010101" pitchFamily="2" charset="-122"/>
              </a:rPr>
            </a:br>
            <a:endParaRPr lang="zh-CN" altLang="en-US" sz="2400" b="1" dirty="0">
              <a:solidFill>
                <a:srgbClr val="000000"/>
              </a:solidFill>
              <a:latin typeface="宋体" panose="02010600030101010101" pitchFamily="2" charset="-122"/>
            </a:endParaRPr>
          </a:p>
          <a:p>
            <a:pPr marL="0" indent="0" eaLnBrk="1" hangingPunct="1">
              <a:lnSpc>
                <a:spcPct val="90000"/>
              </a:lnSpc>
              <a:buClrTx/>
              <a:buSzTx/>
              <a:buFontTx/>
              <a:buNone/>
            </a:pPr>
            <a:endParaRPr lang="zh-CN" altLang="en-US" sz="2400" b="1" dirty="0">
              <a:solidFill>
                <a:srgbClr val="000000"/>
              </a:solidFill>
              <a:latin typeface="宋体" panose="02010600030101010101" pitchFamily="2" charset="-122"/>
            </a:endParaRPr>
          </a:p>
          <a:p>
            <a:pPr marL="0" indent="0" eaLnBrk="1" hangingPunct="1">
              <a:lnSpc>
                <a:spcPct val="90000"/>
              </a:lnSpc>
              <a:buClrTx/>
              <a:buSzTx/>
              <a:buFontTx/>
              <a:buNone/>
            </a:pPr>
            <a:endParaRPr lang="zh-CN" altLang="en-US" sz="2400" b="1" dirty="0">
              <a:solidFill>
                <a:srgbClr val="000000"/>
              </a:solidFill>
              <a:latin typeface="宋体" panose="02010600030101010101" pitchFamily="2" charset="-122"/>
            </a:endParaRPr>
          </a:p>
          <a:p>
            <a:pPr marL="0" indent="0" eaLnBrk="1" hangingPunct="1">
              <a:lnSpc>
                <a:spcPct val="90000"/>
              </a:lnSpc>
              <a:buClrTx/>
              <a:buSzTx/>
              <a:buFontTx/>
              <a:buNone/>
            </a:pPr>
            <a:r>
              <a:rPr lang="en-US" altLang="zh-CN" sz="2400" b="1" dirty="0">
                <a:solidFill>
                  <a:srgbClr val="000000"/>
                </a:solidFill>
                <a:latin typeface="宋体" panose="02010600030101010101" pitchFamily="2" charset="-122"/>
              </a:rPr>
              <a:t>1</a:t>
            </a:r>
            <a:r>
              <a:rPr lang="zh-CN" altLang="en-US" sz="2400" b="1" dirty="0">
                <a:solidFill>
                  <a:srgbClr val="000000"/>
                </a:solidFill>
                <a:latin typeface="宋体" panose="02010600030101010101" pitchFamily="2" charset="-122"/>
              </a:rPr>
              <a:t>、	</a:t>
            </a:r>
            <a:r>
              <a:rPr lang="en-US" altLang="zh-CN" sz="2400" b="1" dirty="0">
                <a:solidFill>
                  <a:srgbClr val="000000"/>
                </a:solidFill>
                <a:latin typeface="宋体" panose="02010600030101010101" pitchFamily="2" charset="-122"/>
              </a:rPr>
              <a:t>Exy&gt;0</a:t>
            </a:r>
            <a:r>
              <a:rPr lang="zh-CN" altLang="en-US" sz="2400" b="1" dirty="0">
                <a:solidFill>
                  <a:srgbClr val="000000"/>
                </a:solidFill>
                <a:latin typeface="宋体" panose="02010600030101010101" pitchFamily="2" charset="-122"/>
              </a:rPr>
              <a:t>，</a:t>
            </a:r>
            <a:br>
              <a:rPr lang="zh-CN" altLang="en-US" sz="2400" b="1" dirty="0">
                <a:solidFill>
                  <a:srgbClr val="000000"/>
                </a:solidFill>
                <a:latin typeface="宋体" panose="02010600030101010101" pitchFamily="2" charset="-122"/>
              </a:rPr>
            </a:br>
            <a:r>
              <a:rPr lang="en-US" altLang="zh-CN" sz="2400" b="1" dirty="0">
                <a:solidFill>
                  <a:srgbClr val="000000"/>
                </a:solidFill>
                <a:latin typeface="宋体" panose="02010600030101010101" pitchFamily="2" charset="-122"/>
              </a:rPr>
              <a:t>2</a:t>
            </a:r>
            <a:r>
              <a:rPr lang="zh-CN" altLang="en-US" sz="2400" b="1" dirty="0">
                <a:solidFill>
                  <a:srgbClr val="000000"/>
                </a:solidFill>
                <a:latin typeface="宋体" panose="02010600030101010101" pitchFamily="2" charset="-122"/>
              </a:rPr>
              <a:t>、	</a:t>
            </a:r>
            <a:r>
              <a:rPr lang="en-US" altLang="zh-CN" sz="2400" b="1" dirty="0">
                <a:solidFill>
                  <a:srgbClr val="000000"/>
                </a:solidFill>
                <a:latin typeface="宋体" panose="02010600030101010101" pitchFamily="2" charset="-122"/>
              </a:rPr>
              <a:t>Exy&lt;0</a:t>
            </a:r>
            <a:r>
              <a:rPr lang="zh-CN" altLang="en-US" sz="2400" b="1" dirty="0">
                <a:solidFill>
                  <a:srgbClr val="000000"/>
                </a:solidFill>
                <a:latin typeface="宋体" panose="02010600030101010101" pitchFamily="2" charset="-122"/>
              </a:rPr>
              <a:t>，</a:t>
            </a:r>
            <a:br>
              <a:rPr lang="zh-CN" altLang="en-US" sz="2400" b="1" dirty="0">
                <a:solidFill>
                  <a:srgbClr val="000000"/>
                </a:solidFill>
                <a:latin typeface="宋体" panose="02010600030101010101" pitchFamily="2" charset="-122"/>
              </a:rPr>
            </a:br>
            <a:r>
              <a:rPr lang="en-US" altLang="zh-CN" sz="2400" b="1" dirty="0">
                <a:solidFill>
                  <a:srgbClr val="000000"/>
                </a:solidFill>
                <a:latin typeface="宋体" panose="02010600030101010101" pitchFamily="2" charset="-122"/>
              </a:rPr>
              <a:t>3</a:t>
            </a:r>
            <a:r>
              <a:rPr lang="zh-CN" altLang="en-US" sz="2400" b="1" dirty="0">
                <a:solidFill>
                  <a:srgbClr val="000000"/>
                </a:solidFill>
                <a:latin typeface="宋体" panose="02010600030101010101" pitchFamily="2" charset="-122"/>
              </a:rPr>
              <a:t>、	</a:t>
            </a:r>
            <a:r>
              <a:rPr lang="en-US" altLang="zh-CN" sz="2400" b="1" dirty="0">
                <a:solidFill>
                  <a:srgbClr val="000000"/>
                </a:solidFill>
                <a:latin typeface="宋体" panose="02010600030101010101" pitchFamily="2" charset="-122"/>
              </a:rPr>
              <a:t>Exy=0</a:t>
            </a:r>
            <a:r>
              <a:rPr lang="zh-CN" altLang="en-US" sz="2400" b="1" dirty="0">
                <a:solidFill>
                  <a:srgbClr val="000000"/>
                </a:solidFill>
                <a:latin typeface="宋体" panose="02010600030101010101" pitchFamily="2" charset="-122"/>
              </a:rPr>
              <a:t>，</a:t>
            </a:r>
            <a:br>
              <a:rPr lang="zh-CN" altLang="en-US" sz="2400" b="1" dirty="0">
                <a:solidFill>
                  <a:srgbClr val="000000"/>
                </a:solidFill>
                <a:latin typeface="宋体" panose="02010600030101010101" pitchFamily="2" charset="-122"/>
              </a:rPr>
            </a:br>
            <a:endParaRPr lang="zh-CN" altLang="en-US" sz="2400" b="1" dirty="0">
              <a:solidFill>
                <a:srgbClr val="000000"/>
              </a:solidFill>
              <a:latin typeface="宋体" panose="02010600030101010101" pitchFamily="2" charset="-122"/>
            </a:endParaRPr>
          </a:p>
        </p:txBody>
      </p:sp>
      <p:graphicFrame>
        <p:nvGraphicFramePr>
          <p:cNvPr id="57347" name="Object 3"/>
          <p:cNvGraphicFramePr>
            <a:graphicFrameLocks noChangeAspect="1"/>
          </p:cNvGraphicFramePr>
          <p:nvPr>
            <p:ph sz="quarter" idx="2"/>
          </p:nvPr>
        </p:nvGraphicFramePr>
        <p:xfrm>
          <a:off x="827088" y="1916113"/>
          <a:ext cx="4321175" cy="1033462"/>
        </p:xfrm>
        <a:graphic>
          <a:graphicData uri="http://schemas.openxmlformats.org/presentationml/2006/ole">
            <mc:AlternateContent xmlns:mc="http://schemas.openxmlformats.org/markup-compatibility/2006">
              <mc:Choice xmlns:v="urn:schemas-microsoft-com:vml" Requires="v">
                <p:oleObj spid="_x0000_s3079" name="" r:id="rId1" imgW="1752600" imgH="419100" progId="Equation.3">
                  <p:embed/>
                </p:oleObj>
              </mc:Choice>
              <mc:Fallback>
                <p:oleObj name="" r:id="rId1" imgW="1752600" imgH="419100" progId="Equation.3">
                  <p:embed/>
                  <p:pic>
                    <p:nvPicPr>
                      <p:cNvPr id="0" name="图片 3078"/>
                      <p:cNvPicPr/>
                      <p:nvPr/>
                    </p:nvPicPr>
                    <p:blipFill>
                      <a:blip r:embed="rId2"/>
                      <a:srcRect/>
                      <a:stretch>
                        <a:fillRect/>
                      </a:stretch>
                    </p:blipFill>
                    <p:spPr>
                      <a:xfrm>
                        <a:off x="827088" y="1916113"/>
                        <a:ext cx="4321175" cy="1033462"/>
                      </a:xfrm>
                      <a:prstGeom prst="rect">
                        <a:avLst/>
                      </a:prstGeom>
                      <a:noFill/>
                      <a:ln w="38100">
                        <a:miter/>
                      </a:ln>
                    </p:spPr>
                  </p:pic>
                </p:oleObj>
              </mc:Fallback>
            </mc:AlternateContent>
          </a:graphicData>
        </a:graphic>
      </p:graphicFrame>
      <p:graphicFrame>
        <p:nvGraphicFramePr>
          <p:cNvPr id="57348" name="Object 4"/>
          <p:cNvGraphicFramePr>
            <a:graphicFrameLocks noChangeAspect="1"/>
          </p:cNvGraphicFramePr>
          <p:nvPr>
            <p:ph sz="quarter" idx="3"/>
          </p:nvPr>
        </p:nvGraphicFramePr>
        <p:xfrm>
          <a:off x="900113" y="3068638"/>
          <a:ext cx="2952750" cy="1285875"/>
        </p:xfrm>
        <a:graphic>
          <a:graphicData uri="http://schemas.openxmlformats.org/presentationml/2006/ole">
            <mc:AlternateContent xmlns:mc="http://schemas.openxmlformats.org/markup-compatibility/2006">
              <mc:Choice xmlns:v="urn:schemas-microsoft-com:vml" Requires="v">
                <p:oleObj spid="_x0000_s3080" name="" r:id="rId3" imgW="1079500" imgH="469900" progId="Equation.3">
                  <p:embed/>
                </p:oleObj>
              </mc:Choice>
              <mc:Fallback>
                <p:oleObj name="" r:id="rId3" imgW="1079500" imgH="469900" progId="Equation.3">
                  <p:embed/>
                  <p:pic>
                    <p:nvPicPr>
                      <p:cNvPr id="0" name="图片 3079"/>
                      <p:cNvPicPr/>
                      <p:nvPr/>
                    </p:nvPicPr>
                    <p:blipFill>
                      <a:blip r:embed="rId4"/>
                      <a:srcRect/>
                      <a:stretch>
                        <a:fillRect/>
                      </a:stretch>
                    </p:blipFill>
                    <p:spPr>
                      <a:xfrm>
                        <a:off x="900113" y="3068638"/>
                        <a:ext cx="2952750" cy="1285875"/>
                      </a:xfrm>
                      <a:prstGeom prst="rect">
                        <a:avLst/>
                      </a:prstGeom>
                      <a:noFill/>
                      <a:ln w="38100">
                        <a:miter/>
                      </a:ln>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p:cNvSpPr>
          <p:nvPr>
            <p:ph type="title"/>
          </p:nvPr>
        </p:nvSpPr>
        <p:spPr>
          <a:ln/>
        </p:spPr>
        <p:txBody>
          <a:bodyPr vert="horz" wrap="square" lIns="91440" tIns="45720" rIns="91440" bIns="45720" anchor="ctr" anchorCtr="0"/>
          <a:p>
            <a:pPr eaLnBrk="1" hangingPunct="1"/>
            <a:endParaRPr lang="zh-CN" altLang="zh-CN" dirty="0"/>
          </a:p>
        </p:txBody>
      </p:sp>
      <p:sp>
        <p:nvSpPr>
          <p:cNvPr id="58371" name="Rectangle 3"/>
          <p:cNvSpPr>
            <a:spLocks noGrp="1"/>
          </p:cNvSpPr>
          <p:nvPr>
            <p:ph idx="1"/>
          </p:nvPr>
        </p:nvSpPr>
        <p:spPr>
          <a:ln/>
        </p:spPr>
        <p:txBody>
          <a:bodyPr vert="horz" wrap="square" lIns="91440" tIns="45720" rIns="91440" bIns="45720" anchor="t" anchorCtr="0"/>
          <a:p>
            <a:pPr marL="0" indent="0" eaLnBrk="1" hangingPunct="1">
              <a:buNone/>
            </a:pPr>
            <a:r>
              <a:rPr lang="en-US" altLang="zh-CN" b="1" dirty="0">
                <a:solidFill>
                  <a:srgbClr val="000000"/>
                </a:solidFill>
                <a:latin typeface="宋体" panose="02010600030101010101" pitchFamily="2" charset="-122"/>
              </a:rPr>
              <a:t>1</a:t>
            </a:r>
            <a:r>
              <a:rPr lang="zh-CN" altLang="en-US" b="1" dirty="0">
                <a:solidFill>
                  <a:srgbClr val="000000"/>
                </a:solidFill>
                <a:latin typeface="宋体" panose="02010600030101010101" pitchFamily="2" charset="-122"/>
              </a:rPr>
              <a:t>、	</a:t>
            </a:r>
            <a:r>
              <a:rPr lang="en-US" altLang="zh-CN" b="1" dirty="0">
                <a:solidFill>
                  <a:srgbClr val="000000"/>
                </a:solidFill>
                <a:latin typeface="宋体" panose="02010600030101010101" pitchFamily="2" charset="-122"/>
              </a:rPr>
              <a:t>Exy&gt;0</a:t>
            </a:r>
            <a:r>
              <a:rPr lang="zh-CN" altLang="en-US" b="1" dirty="0">
                <a:solidFill>
                  <a:srgbClr val="000000"/>
                </a:solidFill>
                <a:latin typeface="宋体" panose="02010600030101010101" pitchFamily="2" charset="-122"/>
              </a:rPr>
              <a:t>，替代品</a:t>
            </a:r>
            <a:br>
              <a:rPr lang="zh-CN" altLang="en-US" b="1" dirty="0">
                <a:solidFill>
                  <a:srgbClr val="000000"/>
                </a:solidFill>
                <a:latin typeface="宋体" panose="02010600030101010101" pitchFamily="2" charset="-122"/>
              </a:rPr>
            </a:br>
            <a:r>
              <a:rPr lang="en-US" altLang="zh-CN" b="1" dirty="0">
                <a:solidFill>
                  <a:srgbClr val="000000"/>
                </a:solidFill>
                <a:latin typeface="宋体" panose="02010600030101010101" pitchFamily="2" charset="-122"/>
              </a:rPr>
              <a:t>2</a:t>
            </a:r>
            <a:r>
              <a:rPr lang="zh-CN" altLang="en-US" b="1" dirty="0">
                <a:solidFill>
                  <a:srgbClr val="000000"/>
                </a:solidFill>
                <a:latin typeface="宋体" panose="02010600030101010101" pitchFamily="2" charset="-122"/>
              </a:rPr>
              <a:t>、	</a:t>
            </a:r>
            <a:r>
              <a:rPr lang="en-US" altLang="zh-CN" b="1" dirty="0">
                <a:solidFill>
                  <a:srgbClr val="000000"/>
                </a:solidFill>
                <a:latin typeface="宋体" panose="02010600030101010101" pitchFamily="2" charset="-122"/>
              </a:rPr>
              <a:t>Exy&lt;0</a:t>
            </a:r>
            <a:r>
              <a:rPr lang="zh-CN" altLang="en-US" b="1" dirty="0">
                <a:solidFill>
                  <a:srgbClr val="000000"/>
                </a:solidFill>
                <a:latin typeface="宋体" panose="02010600030101010101" pitchFamily="2" charset="-122"/>
              </a:rPr>
              <a:t>，互补品</a:t>
            </a:r>
            <a:br>
              <a:rPr lang="zh-CN" altLang="en-US" b="1" dirty="0">
                <a:solidFill>
                  <a:srgbClr val="000000"/>
                </a:solidFill>
                <a:latin typeface="宋体" panose="02010600030101010101" pitchFamily="2" charset="-122"/>
              </a:rPr>
            </a:br>
            <a:r>
              <a:rPr lang="en-US" altLang="zh-CN" b="1" dirty="0">
                <a:solidFill>
                  <a:srgbClr val="000000"/>
                </a:solidFill>
                <a:latin typeface="宋体" panose="02010600030101010101" pitchFamily="2" charset="-122"/>
              </a:rPr>
              <a:t>3</a:t>
            </a:r>
            <a:r>
              <a:rPr lang="zh-CN" altLang="en-US" b="1" dirty="0">
                <a:solidFill>
                  <a:srgbClr val="000000"/>
                </a:solidFill>
                <a:latin typeface="宋体" panose="02010600030101010101" pitchFamily="2" charset="-122"/>
              </a:rPr>
              <a:t>、	</a:t>
            </a:r>
            <a:r>
              <a:rPr lang="en-US" altLang="zh-CN" b="1" dirty="0">
                <a:solidFill>
                  <a:srgbClr val="000000"/>
                </a:solidFill>
                <a:latin typeface="宋体" panose="02010600030101010101" pitchFamily="2" charset="-122"/>
              </a:rPr>
              <a:t>Exy=0</a:t>
            </a:r>
            <a:r>
              <a:rPr lang="zh-CN" altLang="en-US" b="1" dirty="0">
                <a:solidFill>
                  <a:srgbClr val="000000"/>
                </a:solidFill>
                <a:latin typeface="宋体" panose="02010600030101010101" pitchFamily="2" charset="-122"/>
              </a:rPr>
              <a:t>，无关</a:t>
            </a:r>
            <a:endParaRPr lang="zh-CN" altLang="en-US" b="1" dirty="0">
              <a:solidFill>
                <a:srgbClr val="000000"/>
              </a:solidFill>
              <a:latin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Grp="1"/>
          </p:cNvSpPr>
          <p:nvPr>
            <p:ph type="title"/>
          </p:nvPr>
        </p:nvSpPr>
        <p:spPr>
          <a:ln/>
        </p:spPr>
        <p:txBody>
          <a:bodyPr vert="horz" wrap="square" lIns="91440" tIns="45720" rIns="91440" bIns="45720" anchor="ctr" anchorCtr="0"/>
          <a:p>
            <a:pPr eaLnBrk="1" hangingPunct="1"/>
            <a:endParaRPr lang="zh-CN" altLang="zh-CN" dirty="0"/>
          </a:p>
        </p:txBody>
      </p:sp>
      <p:sp>
        <p:nvSpPr>
          <p:cNvPr id="59395" name="Rectangle 3"/>
          <p:cNvSpPr>
            <a:spLocks noGrp="1"/>
          </p:cNvSpPr>
          <p:nvPr>
            <p:ph idx="1"/>
          </p:nvPr>
        </p:nvSpPr>
        <p:spPr>
          <a:ln/>
        </p:spPr>
        <p:txBody>
          <a:bodyPr vert="horz" wrap="square" lIns="91440" tIns="45720" rIns="91440" bIns="45720" anchor="t" anchorCtr="0"/>
          <a:p>
            <a:pPr marL="0" indent="0" eaLnBrk="1" hangingPunct="1">
              <a:buNone/>
            </a:pPr>
            <a:r>
              <a:rPr lang="zh-CN" altLang="en-US" b="1" dirty="0">
                <a:solidFill>
                  <a:srgbClr val="000000"/>
                </a:solidFill>
                <a:latin typeface="宋体" panose="02010600030101010101" pitchFamily="2" charset="-122"/>
              </a:rPr>
              <a:t>思考题：</a:t>
            </a:r>
            <a:br>
              <a:rPr lang="zh-CN" altLang="en-US" b="1" dirty="0">
                <a:solidFill>
                  <a:srgbClr val="000000"/>
                </a:solidFill>
                <a:latin typeface="宋体" panose="02010600030101010101" pitchFamily="2" charset="-122"/>
              </a:rPr>
            </a:br>
            <a:r>
              <a:rPr lang="en-US" altLang="zh-CN" b="1" dirty="0">
                <a:solidFill>
                  <a:srgbClr val="000000"/>
                </a:solidFill>
                <a:latin typeface="宋体" panose="02010600030101010101" pitchFamily="2" charset="-122"/>
              </a:rPr>
              <a:t>IBM</a:t>
            </a:r>
            <a:r>
              <a:rPr lang="zh-CN" altLang="en-US" b="1" dirty="0">
                <a:solidFill>
                  <a:srgbClr val="000000"/>
                </a:solidFill>
                <a:latin typeface="宋体" panose="02010600030101010101" pitchFamily="2" charset="-122"/>
              </a:rPr>
              <a:t>微机改进前后，需求价格弹性大小？</a:t>
            </a:r>
            <a:endParaRPr lang="zh-CN" altLang="en-US" b="1" dirty="0">
              <a:solidFill>
                <a:srgbClr val="000000"/>
              </a:solidFill>
              <a:latin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a:spLocks noGrp="1"/>
          </p:cNvSpPr>
          <p:nvPr>
            <p:ph type="title"/>
          </p:nvPr>
        </p:nvSpPr>
        <p:spPr>
          <a:xfrm>
            <a:off x="684213" y="0"/>
            <a:ext cx="7772400" cy="1143000"/>
          </a:xfrm>
          <a:ln/>
        </p:spPr>
        <p:txBody>
          <a:bodyPr vert="horz" wrap="square" lIns="91440" tIns="45720" rIns="91440" bIns="45720" anchor="ctr" anchorCtr="0"/>
          <a:p>
            <a:pPr eaLnBrk="1" hangingPunct="1"/>
            <a:r>
              <a:rPr lang="zh-CN" altLang="en-US" sz="2800" b="1" dirty="0">
                <a:solidFill>
                  <a:srgbClr val="000000"/>
                </a:solidFill>
                <a:latin typeface="Arial Black" panose="020B0A04020102020204" pitchFamily="34" charset="0"/>
              </a:rPr>
              <a:t>需求弹性（案例）</a:t>
            </a:r>
            <a:br>
              <a:rPr lang="zh-CN" altLang="en-US" sz="2800" b="1" dirty="0">
                <a:solidFill>
                  <a:srgbClr val="000000"/>
                </a:solidFill>
                <a:latin typeface="Arial Black" panose="020B0A04020102020204" pitchFamily="34" charset="0"/>
              </a:rPr>
            </a:br>
            <a:r>
              <a:rPr lang="zh-CN" altLang="en-US" sz="2800" b="1" dirty="0">
                <a:solidFill>
                  <a:srgbClr val="000000"/>
                </a:solidFill>
                <a:latin typeface="Arial Black" panose="020B0A04020102020204" pitchFamily="34" charset="0"/>
              </a:rPr>
              <a:t>谷贱伤农：在丰收的年份，农民的收入却反而减少了。（用弹性原理加以解释</a:t>
            </a:r>
            <a:r>
              <a:rPr lang="en-US" altLang="zh-CN" sz="2800" b="1" dirty="0">
                <a:solidFill>
                  <a:srgbClr val="000000"/>
                </a:solidFill>
                <a:latin typeface="宋体" panose="02010600030101010101" pitchFamily="2" charset="-122"/>
              </a:rPr>
              <a:t>)</a:t>
            </a:r>
            <a:endParaRPr lang="en-US" altLang="zh-CN" sz="2800" b="1" dirty="0">
              <a:solidFill>
                <a:srgbClr val="000000"/>
              </a:solidFill>
              <a:latin typeface="宋体" panose="02010600030101010101" pitchFamily="2" charset="-122"/>
            </a:endParaRPr>
          </a:p>
        </p:txBody>
      </p:sp>
      <p:sp>
        <p:nvSpPr>
          <p:cNvPr id="60419" name="Rectangle 3"/>
          <p:cNvSpPr>
            <a:spLocks noGrp="1"/>
          </p:cNvSpPr>
          <p:nvPr>
            <p:ph idx="1"/>
          </p:nvPr>
        </p:nvSpPr>
        <p:spPr>
          <a:xfrm>
            <a:off x="5867400" y="1628775"/>
            <a:ext cx="2590800" cy="4114800"/>
          </a:xfrm>
          <a:ln/>
        </p:spPr>
        <p:txBody>
          <a:bodyPr vert="horz" wrap="square" lIns="91440" tIns="45720" rIns="91440" bIns="45720" anchor="t" anchorCtr="0"/>
          <a:p>
            <a:pPr marL="0" indent="0" eaLnBrk="1" hangingPunct="1">
              <a:lnSpc>
                <a:spcPct val="90000"/>
              </a:lnSpc>
              <a:buNone/>
            </a:pPr>
            <a:r>
              <a:rPr lang="zh-CN" altLang="en-US" sz="2400" dirty="0">
                <a:solidFill>
                  <a:srgbClr val="000000"/>
                </a:solidFill>
              </a:rPr>
              <a:t>农产品的需求曲</a:t>
            </a:r>
            <a:r>
              <a:rPr lang="en-US" altLang="zh-CN" sz="2400" dirty="0">
                <a:solidFill>
                  <a:srgbClr val="000000"/>
                </a:solidFill>
              </a:rPr>
              <a:t>D</a:t>
            </a:r>
            <a:r>
              <a:rPr lang="zh-CN" altLang="en-US" sz="2400" dirty="0">
                <a:solidFill>
                  <a:srgbClr val="000000"/>
                </a:solidFill>
              </a:rPr>
              <a:t>是缺乏弹性的。</a:t>
            </a:r>
            <a:endParaRPr lang="zh-CN" altLang="en-US" sz="2400" dirty="0">
              <a:solidFill>
                <a:srgbClr val="000000"/>
              </a:solidFill>
            </a:endParaRPr>
          </a:p>
          <a:p>
            <a:pPr marL="0" indent="0" eaLnBrk="1" hangingPunct="1">
              <a:lnSpc>
                <a:spcPct val="90000"/>
              </a:lnSpc>
              <a:buNone/>
            </a:pPr>
            <a:r>
              <a:rPr lang="zh-CN" altLang="en-US" sz="2400" dirty="0">
                <a:solidFill>
                  <a:srgbClr val="000000"/>
                </a:solidFill>
              </a:rPr>
              <a:t>农产品的丰收使供给曲线由</a:t>
            </a:r>
            <a:r>
              <a:rPr lang="en-US" altLang="zh-CN" sz="2400" dirty="0">
                <a:solidFill>
                  <a:srgbClr val="000000"/>
                </a:solidFill>
              </a:rPr>
              <a:t>S1</a:t>
            </a:r>
            <a:r>
              <a:rPr lang="zh-CN" altLang="en-US" sz="2400" dirty="0">
                <a:solidFill>
                  <a:srgbClr val="000000"/>
                </a:solidFill>
              </a:rPr>
              <a:t>的位置向右平移至</a:t>
            </a:r>
            <a:r>
              <a:rPr lang="en-US" altLang="zh-CN" sz="2400" dirty="0">
                <a:solidFill>
                  <a:srgbClr val="000000"/>
                </a:solidFill>
              </a:rPr>
              <a:t>S2</a:t>
            </a:r>
            <a:r>
              <a:rPr lang="zh-CN" altLang="en-US" sz="2400" dirty="0">
                <a:solidFill>
                  <a:srgbClr val="000000"/>
                </a:solidFill>
              </a:rPr>
              <a:t>的位置</a:t>
            </a:r>
            <a:r>
              <a:rPr lang="en-US" altLang="zh-CN" sz="2400" dirty="0">
                <a:solidFill>
                  <a:srgbClr val="000000"/>
                </a:solidFill>
              </a:rPr>
              <a:t>P1</a:t>
            </a:r>
            <a:r>
              <a:rPr lang="zh-CN" altLang="en-US" sz="2400" dirty="0">
                <a:solidFill>
                  <a:srgbClr val="000000"/>
                </a:solidFill>
              </a:rPr>
              <a:t>下降为</a:t>
            </a:r>
            <a:r>
              <a:rPr lang="en-US" altLang="zh-CN" sz="2400" dirty="0">
                <a:solidFill>
                  <a:srgbClr val="000000"/>
                </a:solidFill>
              </a:rPr>
              <a:t>P2&gt;Q1</a:t>
            </a:r>
            <a:r>
              <a:rPr lang="zh-CN" altLang="en-US" sz="2400" dirty="0">
                <a:solidFill>
                  <a:srgbClr val="000000"/>
                </a:solidFill>
              </a:rPr>
              <a:t>增加到</a:t>
            </a:r>
            <a:r>
              <a:rPr lang="en-US" altLang="zh-CN" sz="2400" dirty="0">
                <a:solidFill>
                  <a:srgbClr val="000000"/>
                </a:solidFill>
              </a:rPr>
              <a:t>Q2</a:t>
            </a:r>
            <a:r>
              <a:rPr lang="zh-CN" altLang="en-US" sz="2400" dirty="0">
                <a:solidFill>
                  <a:srgbClr val="000000"/>
                </a:solidFill>
              </a:rPr>
              <a:t>。</a:t>
            </a:r>
            <a:endParaRPr lang="zh-CN" altLang="en-US" sz="2400" dirty="0">
              <a:solidFill>
                <a:srgbClr val="000000"/>
              </a:solidFill>
            </a:endParaRPr>
          </a:p>
          <a:p>
            <a:pPr marL="0" indent="0" eaLnBrk="1" hangingPunct="1">
              <a:lnSpc>
                <a:spcPct val="90000"/>
              </a:lnSpc>
              <a:buNone/>
            </a:pPr>
            <a:r>
              <a:rPr lang="zh-CN" altLang="en-US" sz="2400" dirty="0">
                <a:solidFill>
                  <a:srgbClr val="000000"/>
                </a:solidFill>
              </a:rPr>
              <a:t>总收入的减少量</a:t>
            </a:r>
            <a:r>
              <a:rPr lang="en-US" altLang="zh-CN" sz="2400" dirty="0">
                <a:solidFill>
                  <a:srgbClr val="000000"/>
                </a:solidFill>
              </a:rPr>
              <a:t>=0P1E1Q1-0P2E2Q2</a:t>
            </a:r>
            <a:endParaRPr lang="en-US" altLang="zh-CN" sz="2400" dirty="0">
              <a:solidFill>
                <a:srgbClr val="000000"/>
              </a:solidFill>
            </a:endParaRPr>
          </a:p>
          <a:p>
            <a:pPr marL="0" indent="0" eaLnBrk="1" hangingPunct="1">
              <a:lnSpc>
                <a:spcPct val="90000"/>
              </a:lnSpc>
              <a:buNone/>
            </a:pPr>
            <a:endParaRPr lang="en-US" altLang="zh-CN" sz="2400" dirty="0">
              <a:solidFill>
                <a:srgbClr val="000000"/>
              </a:solidFill>
            </a:endParaRPr>
          </a:p>
        </p:txBody>
      </p:sp>
      <p:grpSp>
        <p:nvGrpSpPr>
          <p:cNvPr id="60420" name="Group 4"/>
          <p:cNvGrpSpPr/>
          <p:nvPr/>
        </p:nvGrpSpPr>
        <p:grpSpPr>
          <a:xfrm>
            <a:off x="609600" y="2286000"/>
            <a:ext cx="5334000" cy="3429000"/>
            <a:chOff x="384" y="1920"/>
            <a:chExt cx="2050" cy="1680"/>
          </a:xfrm>
        </p:grpSpPr>
        <p:sp>
          <p:nvSpPr>
            <p:cNvPr id="60433" name="Line 5"/>
            <p:cNvSpPr/>
            <p:nvPr/>
          </p:nvSpPr>
          <p:spPr>
            <a:xfrm flipV="1">
              <a:off x="746" y="1920"/>
              <a:ext cx="0" cy="1680"/>
            </a:xfrm>
            <a:prstGeom prst="line">
              <a:avLst/>
            </a:prstGeom>
            <a:ln w="38100" cap="flat" cmpd="sng">
              <a:solidFill>
                <a:srgbClr val="000000"/>
              </a:solidFill>
              <a:prstDash val="solid"/>
              <a:headEnd type="none" w="med" len="med"/>
              <a:tailEnd type="triangle" w="med" len="med"/>
            </a:ln>
          </p:spPr>
        </p:sp>
        <p:sp>
          <p:nvSpPr>
            <p:cNvPr id="60434" name="Line 6"/>
            <p:cNvSpPr/>
            <p:nvPr/>
          </p:nvSpPr>
          <p:spPr>
            <a:xfrm>
              <a:off x="384" y="3360"/>
              <a:ext cx="2050" cy="0"/>
            </a:xfrm>
            <a:prstGeom prst="line">
              <a:avLst/>
            </a:prstGeom>
            <a:ln w="38100" cap="flat" cmpd="sng">
              <a:solidFill>
                <a:srgbClr val="000000"/>
              </a:solidFill>
              <a:prstDash val="solid"/>
              <a:headEnd type="none" w="med" len="med"/>
              <a:tailEnd type="triangle" w="med" len="med"/>
            </a:ln>
          </p:spPr>
        </p:sp>
        <p:sp>
          <p:nvSpPr>
            <p:cNvPr id="60435" name="Line 7"/>
            <p:cNvSpPr/>
            <p:nvPr/>
          </p:nvSpPr>
          <p:spPr>
            <a:xfrm flipV="1">
              <a:off x="987" y="2040"/>
              <a:ext cx="663" cy="720"/>
            </a:xfrm>
            <a:prstGeom prst="line">
              <a:avLst/>
            </a:prstGeom>
            <a:ln w="38100" cap="flat" cmpd="sng">
              <a:solidFill>
                <a:srgbClr val="000000"/>
              </a:solidFill>
              <a:prstDash val="solid"/>
              <a:headEnd type="none" w="med" len="med"/>
              <a:tailEnd type="none" w="med" len="med"/>
            </a:ln>
          </p:spPr>
        </p:sp>
        <p:sp>
          <p:nvSpPr>
            <p:cNvPr id="60436" name="Line 8"/>
            <p:cNvSpPr/>
            <p:nvPr/>
          </p:nvSpPr>
          <p:spPr>
            <a:xfrm flipV="1">
              <a:off x="1047" y="2040"/>
              <a:ext cx="965" cy="1080"/>
            </a:xfrm>
            <a:prstGeom prst="line">
              <a:avLst/>
            </a:prstGeom>
            <a:ln w="38100" cap="flat" cmpd="sng">
              <a:solidFill>
                <a:srgbClr val="000000"/>
              </a:solidFill>
              <a:prstDash val="solid"/>
              <a:headEnd type="none" w="med" len="med"/>
              <a:tailEnd type="none" w="med" len="med"/>
            </a:ln>
          </p:spPr>
        </p:sp>
        <p:sp>
          <p:nvSpPr>
            <p:cNvPr id="60437" name="Line 9"/>
            <p:cNvSpPr/>
            <p:nvPr/>
          </p:nvSpPr>
          <p:spPr>
            <a:xfrm>
              <a:off x="1168" y="2040"/>
              <a:ext cx="362" cy="1080"/>
            </a:xfrm>
            <a:prstGeom prst="line">
              <a:avLst/>
            </a:prstGeom>
            <a:ln w="38100" cap="flat" cmpd="sng">
              <a:solidFill>
                <a:srgbClr val="000000"/>
              </a:solidFill>
              <a:prstDash val="solid"/>
              <a:headEnd type="none" w="med" len="med"/>
              <a:tailEnd type="none" w="med" len="med"/>
            </a:ln>
          </p:spPr>
        </p:sp>
        <p:sp>
          <p:nvSpPr>
            <p:cNvPr id="60438" name="Line 10"/>
            <p:cNvSpPr/>
            <p:nvPr/>
          </p:nvSpPr>
          <p:spPr>
            <a:xfrm>
              <a:off x="746" y="2400"/>
              <a:ext cx="542" cy="0"/>
            </a:xfrm>
            <a:prstGeom prst="line">
              <a:avLst/>
            </a:prstGeom>
            <a:ln w="38100" cap="flat" cmpd="sng">
              <a:solidFill>
                <a:srgbClr val="000000"/>
              </a:solidFill>
              <a:prstDash val="dash"/>
              <a:headEnd type="none" w="med" len="med"/>
              <a:tailEnd type="none" w="med" len="med"/>
            </a:ln>
          </p:spPr>
        </p:sp>
        <p:sp>
          <p:nvSpPr>
            <p:cNvPr id="60439" name="Line 11"/>
            <p:cNvSpPr/>
            <p:nvPr/>
          </p:nvSpPr>
          <p:spPr>
            <a:xfrm>
              <a:off x="1288" y="2400"/>
              <a:ext cx="0" cy="960"/>
            </a:xfrm>
            <a:prstGeom prst="line">
              <a:avLst/>
            </a:prstGeom>
            <a:ln w="38100" cap="flat" cmpd="sng">
              <a:solidFill>
                <a:srgbClr val="000000"/>
              </a:solidFill>
              <a:prstDash val="dash"/>
              <a:headEnd type="none" w="med" len="med"/>
              <a:tailEnd type="none" w="med" len="med"/>
            </a:ln>
          </p:spPr>
        </p:sp>
        <p:sp>
          <p:nvSpPr>
            <p:cNvPr id="60440" name="Line 12"/>
            <p:cNvSpPr/>
            <p:nvPr/>
          </p:nvSpPr>
          <p:spPr>
            <a:xfrm>
              <a:off x="746" y="2760"/>
              <a:ext cx="663" cy="0"/>
            </a:xfrm>
            <a:prstGeom prst="line">
              <a:avLst/>
            </a:prstGeom>
            <a:ln w="38100" cap="flat" cmpd="sng">
              <a:solidFill>
                <a:srgbClr val="000000"/>
              </a:solidFill>
              <a:prstDash val="dash"/>
              <a:headEnd type="none" w="med" len="med"/>
              <a:tailEnd type="none" w="med" len="med"/>
            </a:ln>
          </p:spPr>
        </p:sp>
        <p:sp>
          <p:nvSpPr>
            <p:cNvPr id="60441" name="Line 13"/>
            <p:cNvSpPr/>
            <p:nvPr/>
          </p:nvSpPr>
          <p:spPr>
            <a:xfrm>
              <a:off x="1409" y="2760"/>
              <a:ext cx="0" cy="600"/>
            </a:xfrm>
            <a:prstGeom prst="line">
              <a:avLst/>
            </a:prstGeom>
            <a:ln w="38100" cap="flat" cmpd="sng">
              <a:solidFill>
                <a:srgbClr val="000000"/>
              </a:solidFill>
              <a:prstDash val="dash"/>
              <a:headEnd type="none" w="med" len="med"/>
              <a:tailEnd type="none" w="med" len="med"/>
            </a:ln>
          </p:spPr>
        </p:sp>
      </p:grpSp>
      <p:sp>
        <p:nvSpPr>
          <p:cNvPr id="60421" name="Text Box 14"/>
          <p:cNvSpPr txBox="1"/>
          <p:nvPr/>
        </p:nvSpPr>
        <p:spPr>
          <a:xfrm>
            <a:off x="3563938" y="4437063"/>
            <a:ext cx="647700" cy="366712"/>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D</a:t>
            </a:r>
            <a:endParaRPr lang="en-US" altLang="zh-CN" dirty="0">
              <a:solidFill>
                <a:srgbClr val="000000"/>
              </a:solidFill>
              <a:latin typeface="宋体" panose="02010600030101010101" pitchFamily="2" charset="-122"/>
            </a:endParaRPr>
          </a:p>
        </p:txBody>
      </p:sp>
      <p:sp>
        <p:nvSpPr>
          <p:cNvPr id="60422" name="Text Box 15"/>
          <p:cNvSpPr txBox="1"/>
          <p:nvPr/>
        </p:nvSpPr>
        <p:spPr>
          <a:xfrm>
            <a:off x="4716463" y="2492375"/>
            <a:ext cx="647700" cy="366713"/>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S2</a:t>
            </a:r>
            <a:endParaRPr lang="en-US" altLang="zh-CN" dirty="0">
              <a:solidFill>
                <a:srgbClr val="000000"/>
              </a:solidFill>
              <a:latin typeface="宋体" panose="02010600030101010101" pitchFamily="2" charset="-122"/>
            </a:endParaRPr>
          </a:p>
        </p:txBody>
      </p:sp>
      <p:sp>
        <p:nvSpPr>
          <p:cNvPr id="60423" name="Text Box 16"/>
          <p:cNvSpPr txBox="1"/>
          <p:nvPr/>
        </p:nvSpPr>
        <p:spPr>
          <a:xfrm>
            <a:off x="3635375" y="2133600"/>
            <a:ext cx="647700" cy="366713"/>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S1</a:t>
            </a:r>
            <a:endParaRPr lang="en-US" altLang="zh-CN" dirty="0">
              <a:solidFill>
                <a:srgbClr val="000000"/>
              </a:solidFill>
              <a:latin typeface="宋体" panose="02010600030101010101" pitchFamily="2" charset="-122"/>
            </a:endParaRPr>
          </a:p>
        </p:txBody>
      </p:sp>
      <p:sp>
        <p:nvSpPr>
          <p:cNvPr id="60424" name="Text Box 17"/>
          <p:cNvSpPr txBox="1"/>
          <p:nvPr/>
        </p:nvSpPr>
        <p:spPr>
          <a:xfrm>
            <a:off x="3132138" y="3357563"/>
            <a:ext cx="647700" cy="366712"/>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E2</a:t>
            </a:r>
            <a:endParaRPr lang="en-US" altLang="zh-CN" dirty="0">
              <a:solidFill>
                <a:srgbClr val="000000"/>
              </a:solidFill>
              <a:latin typeface="宋体" panose="02010600030101010101" pitchFamily="2" charset="-122"/>
            </a:endParaRPr>
          </a:p>
        </p:txBody>
      </p:sp>
      <p:sp>
        <p:nvSpPr>
          <p:cNvPr id="60425" name="Text Box 18"/>
          <p:cNvSpPr txBox="1"/>
          <p:nvPr/>
        </p:nvSpPr>
        <p:spPr>
          <a:xfrm>
            <a:off x="2843213" y="2708275"/>
            <a:ext cx="647700" cy="366713"/>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E1</a:t>
            </a:r>
            <a:endParaRPr lang="en-US" altLang="zh-CN" dirty="0">
              <a:solidFill>
                <a:srgbClr val="000000"/>
              </a:solidFill>
              <a:latin typeface="宋体" panose="02010600030101010101" pitchFamily="2" charset="-122"/>
            </a:endParaRPr>
          </a:p>
        </p:txBody>
      </p:sp>
      <p:sp>
        <p:nvSpPr>
          <p:cNvPr id="60426" name="Text Box 19"/>
          <p:cNvSpPr txBox="1"/>
          <p:nvPr/>
        </p:nvSpPr>
        <p:spPr>
          <a:xfrm>
            <a:off x="1116013" y="3068638"/>
            <a:ext cx="647700" cy="366712"/>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P1</a:t>
            </a:r>
            <a:endParaRPr lang="en-US" altLang="zh-CN" dirty="0">
              <a:solidFill>
                <a:srgbClr val="000000"/>
              </a:solidFill>
              <a:latin typeface="宋体" panose="02010600030101010101" pitchFamily="2" charset="-122"/>
            </a:endParaRPr>
          </a:p>
        </p:txBody>
      </p:sp>
      <p:sp>
        <p:nvSpPr>
          <p:cNvPr id="60427" name="Text Box 20"/>
          <p:cNvSpPr txBox="1"/>
          <p:nvPr/>
        </p:nvSpPr>
        <p:spPr>
          <a:xfrm>
            <a:off x="1116013" y="3789363"/>
            <a:ext cx="647700" cy="366712"/>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P2</a:t>
            </a:r>
            <a:endParaRPr lang="en-US" altLang="zh-CN" dirty="0">
              <a:solidFill>
                <a:srgbClr val="000000"/>
              </a:solidFill>
              <a:latin typeface="宋体" panose="02010600030101010101" pitchFamily="2" charset="-122"/>
            </a:endParaRPr>
          </a:p>
        </p:txBody>
      </p:sp>
      <p:sp>
        <p:nvSpPr>
          <p:cNvPr id="60428" name="Text Box 21"/>
          <p:cNvSpPr txBox="1"/>
          <p:nvPr/>
        </p:nvSpPr>
        <p:spPr>
          <a:xfrm>
            <a:off x="3059113" y="5229225"/>
            <a:ext cx="647700" cy="366713"/>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Q2</a:t>
            </a:r>
            <a:endParaRPr lang="en-US" altLang="zh-CN" dirty="0">
              <a:solidFill>
                <a:srgbClr val="000000"/>
              </a:solidFill>
              <a:latin typeface="宋体" panose="02010600030101010101" pitchFamily="2" charset="-122"/>
            </a:endParaRPr>
          </a:p>
        </p:txBody>
      </p:sp>
      <p:sp>
        <p:nvSpPr>
          <p:cNvPr id="60429" name="Text Box 22"/>
          <p:cNvSpPr txBox="1"/>
          <p:nvPr/>
        </p:nvSpPr>
        <p:spPr>
          <a:xfrm>
            <a:off x="2700338" y="5229225"/>
            <a:ext cx="647700" cy="366713"/>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Q1</a:t>
            </a:r>
            <a:endParaRPr lang="en-US" altLang="zh-CN" dirty="0">
              <a:solidFill>
                <a:srgbClr val="000000"/>
              </a:solidFill>
              <a:latin typeface="宋体" panose="02010600030101010101" pitchFamily="2" charset="-122"/>
            </a:endParaRPr>
          </a:p>
        </p:txBody>
      </p:sp>
      <p:sp>
        <p:nvSpPr>
          <p:cNvPr id="60430" name="Text Box 23"/>
          <p:cNvSpPr txBox="1"/>
          <p:nvPr/>
        </p:nvSpPr>
        <p:spPr>
          <a:xfrm>
            <a:off x="1187450" y="1989138"/>
            <a:ext cx="647700" cy="366712"/>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P</a:t>
            </a:r>
            <a:endParaRPr lang="en-US" altLang="zh-CN" dirty="0">
              <a:solidFill>
                <a:srgbClr val="000000"/>
              </a:solidFill>
              <a:latin typeface="宋体" panose="02010600030101010101" pitchFamily="2" charset="-122"/>
            </a:endParaRPr>
          </a:p>
        </p:txBody>
      </p:sp>
      <p:sp>
        <p:nvSpPr>
          <p:cNvPr id="60431" name="Text Box 24"/>
          <p:cNvSpPr txBox="1"/>
          <p:nvPr/>
        </p:nvSpPr>
        <p:spPr>
          <a:xfrm>
            <a:off x="5219700" y="5300663"/>
            <a:ext cx="647700" cy="366712"/>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Q</a:t>
            </a:r>
            <a:endParaRPr lang="en-US" altLang="zh-CN" dirty="0">
              <a:solidFill>
                <a:srgbClr val="000000"/>
              </a:solidFill>
              <a:latin typeface="宋体" panose="02010600030101010101" pitchFamily="2" charset="-122"/>
            </a:endParaRPr>
          </a:p>
        </p:txBody>
      </p:sp>
      <p:sp>
        <p:nvSpPr>
          <p:cNvPr id="60432" name="Text Box 25"/>
          <p:cNvSpPr txBox="1"/>
          <p:nvPr/>
        </p:nvSpPr>
        <p:spPr>
          <a:xfrm>
            <a:off x="1116013" y="5229225"/>
            <a:ext cx="647700" cy="366713"/>
          </a:xfrm>
          <a:prstGeom prst="rect">
            <a:avLst/>
          </a:prstGeom>
          <a:noFill/>
          <a:ln w="28575">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0</a:t>
            </a:r>
            <a:endParaRPr lang="en-US" altLang="zh-CN" dirty="0">
              <a:solidFill>
                <a:srgbClr val="000000"/>
              </a:solidFill>
              <a:latin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p:nvPr>
        </p:nvSpPr>
        <p:spPr>
          <a:xfrm>
            <a:off x="684213" y="0"/>
            <a:ext cx="7772400" cy="827088"/>
          </a:xfrm>
          <a:ln/>
        </p:spPr>
        <p:txBody>
          <a:bodyPr vert="horz" wrap="square" lIns="91440" tIns="45720" rIns="91440" bIns="45720" anchor="ctr" anchorCtr="0"/>
          <a:p>
            <a:pPr eaLnBrk="1" hangingPunct="1"/>
            <a:r>
              <a:rPr lang="zh-CN" altLang="en-US" sz="3600" b="1" dirty="0">
                <a:solidFill>
                  <a:srgbClr val="FF0000"/>
                </a:solidFill>
                <a:latin typeface="宋体" panose="02010600030101010101" pitchFamily="2" charset="-122"/>
              </a:rPr>
              <a:t>第二节	供给弹性</a:t>
            </a:r>
            <a:endParaRPr lang="zh-CN" altLang="en-US" sz="2800" b="1" dirty="0">
              <a:solidFill>
                <a:srgbClr val="FF0000"/>
              </a:solidFill>
              <a:latin typeface="宋体" panose="02010600030101010101" pitchFamily="2" charset="-122"/>
            </a:endParaRPr>
          </a:p>
        </p:txBody>
      </p:sp>
      <p:sp>
        <p:nvSpPr>
          <p:cNvPr id="61443" name="Rectangle 3"/>
          <p:cNvSpPr>
            <a:spLocks noGrp="1"/>
          </p:cNvSpPr>
          <p:nvPr>
            <p:ph type="body" sz="half" idx="1"/>
          </p:nvPr>
        </p:nvSpPr>
        <p:spPr>
          <a:xfrm>
            <a:off x="685800" y="1196975"/>
            <a:ext cx="7558088" cy="4899025"/>
          </a:xfrm>
          <a:ln/>
        </p:spPr>
        <p:txBody>
          <a:bodyPr vert="horz" wrap="square" lIns="91440" tIns="45720" rIns="91440" bIns="45720" anchor="t" anchorCtr="0"/>
          <a:p>
            <a:pPr marL="0" indent="0" eaLnBrk="1" hangingPunct="1">
              <a:buClrTx/>
              <a:buSzTx/>
              <a:buFontTx/>
              <a:buNone/>
            </a:pPr>
            <a:r>
              <a:rPr lang="zh-CN" altLang="en-US" sz="2800" b="1" dirty="0">
                <a:solidFill>
                  <a:srgbClr val="FF0000"/>
                </a:solidFill>
                <a:latin typeface="宋体" panose="02010600030101010101" pitchFamily="2" charset="-122"/>
              </a:rPr>
              <a:t>一、	供给弹性的概念</a:t>
            </a:r>
            <a:br>
              <a:rPr lang="zh-CN" altLang="en-US" sz="2800" b="1" dirty="0">
                <a:solidFill>
                  <a:srgbClr val="000000"/>
                </a:solidFill>
                <a:latin typeface="宋体" panose="02010600030101010101" pitchFamily="2" charset="-122"/>
              </a:rPr>
            </a:br>
            <a:r>
              <a:rPr lang="zh-CN" altLang="en-US" sz="2400" b="1" dirty="0">
                <a:solidFill>
                  <a:srgbClr val="000000"/>
                </a:solidFill>
                <a:latin typeface="宋体" panose="02010600030101010101" pitchFamily="2" charset="-122"/>
              </a:rPr>
              <a:t>供给弹性：</a:t>
            </a:r>
            <a:r>
              <a:rPr lang="zh-CN" altLang="en-US" sz="2400" dirty="0">
                <a:solidFill>
                  <a:srgbClr val="000000"/>
                </a:solidFill>
                <a:latin typeface="宋体" panose="02010600030101010101" pitchFamily="2" charset="-122"/>
              </a:rPr>
              <a:t>是衡量供给量对任何影响它的力量的变化所作出的反应。用来衡量商品的供给量的变动对商品价格变动的灵敏程度。</a:t>
            </a:r>
            <a:r>
              <a:rPr lang="zh-CN" altLang="en-US" sz="2400" b="1" dirty="0">
                <a:solidFill>
                  <a:srgbClr val="000000"/>
                </a:solidFill>
                <a:latin typeface="宋体" panose="02010600030101010101" pitchFamily="2" charset="-122"/>
              </a:rPr>
              <a:t> </a:t>
            </a:r>
            <a:br>
              <a:rPr lang="zh-CN" altLang="en-US" sz="2400" b="1" dirty="0">
                <a:solidFill>
                  <a:srgbClr val="000000"/>
                </a:solidFill>
                <a:latin typeface="宋体" panose="02010600030101010101" pitchFamily="2" charset="-122"/>
              </a:rPr>
            </a:br>
            <a:br>
              <a:rPr lang="zh-CN" altLang="en-US" sz="2400" b="1" dirty="0">
                <a:solidFill>
                  <a:srgbClr val="000000"/>
                </a:solidFill>
                <a:latin typeface="宋体" panose="02010600030101010101" pitchFamily="2" charset="-122"/>
              </a:rPr>
            </a:br>
            <a:br>
              <a:rPr lang="zh-CN" altLang="en-US" sz="2400" b="1" dirty="0">
                <a:solidFill>
                  <a:srgbClr val="000000"/>
                </a:solidFill>
                <a:latin typeface="宋体" panose="02010600030101010101" pitchFamily="2" charset="-122"/>
              </a:rPr>
            </a:br>
            <a:r>
              <a:rPr lang="zh-CN" altLang="en-US" sz="2400" b="1" dirty="0">
                <a:solidFill>
                  <a:srgbClr val="000000"/>
                </a:solidFill>
                <a:latin typeface="宋体" panose="02010600030101010101" pitchFamily="2" charset="-122"/>
              </a:rPr>
              <a:t>供给价格弹性：Ｅ</a:t>
            </a:r>
            <a:r>
              <a:rPr lang="en-US" altLang="zh-CN" sz="2400" b="1" dirty="0">
                <a:solidFill>
                  <a:srgbClr val="000000"/>
                </a:solidFill>
                <a:latin typeface="宋体" panose="02010600030101010101" pitchFamily="2" charset="-122"/>
              </a:rPr>
              <a:t>s</a:t>
            </a:r>
            <a:r>
              <a:rPr lang="zh-CN" altLang="en-US" sz="2400" b="1" dirty="0">
                <a:solidFill>
                  <a:srgbClr val="000000"/>
                </a:solidFill>
                <a:latin typeface="宋体" panose="02010600030101010101" pitchFamily="2" charset="-122"/>
              </a:rPr>
              <a:t>＝         ＝ </a:t>
            </a:r>
            <a:br>
              <a:rPr lang="zh-CN" altLang="en-US" sz="2400" b="1" dirty="0">
                <a:solidFill>
                  <a:srgbClr val="000000"/>
                </a:solidFill>
                <a:latin typeface="宋体" panose="02010600030101010101" pitchFamily="2" charset="-122"/>
              </a:rPr>
            </a:br>
            <a:br>
              <a:rPr lang="zh-CN" altLang="en-US" sz="1400" b="1" dirty="0">
                <a:latin typeface="楷体_GB2312" pitchFamily="49" charset="-122"/>
                <a:ea typeface="楷体_GB2312" pitchFamily="49" charset="-122"/>
              </a:rPr>
            </a:br>
            <a:endParaRPr lang="zh-CN" altLang="en-US" sz="1400" b="1" dirty="0">
              <a:latin typeface="楷体_GB2312" pitchFamily="49" charset="-122"/>
              <a:ea typeface="楷体_GB2312" pitchFamily="49" charset="-122"/>
            </a:endParaRPr>
          </a:p>
        </p:txBody>
      </p:sp>
      <p:graphicFrame>
        <p:nvGraphicFramePr>
          <p:cNvPr id="61444" name="Object 4"/>
          <p:cNvGraphicFramePr>
            <a:graphicFrameLocks noChangeAspect="1"/>
          </p:cNvGraphicFramePr>
          <p:nvPr>
            <p:ph sz="quarter" idx="2"/>
          </p:nvPr>
        </p:nvGraphicFramePr>
        <p:xfrm>
          <a:off x="3708400" y="3284538"/>
          <a:ext cx="1295400" cy="871537"/>
        </p:xfrm>
        <a:graphic>
          <a:graphicData uri="http://schemas.openxmlformats.org/presentationml/2006/ole">
            <mc:AlternateContent xmlns:mc="http://schemas.openxmlformats.org/markup-compatibility/2006">
              <mc:Choice xmlns:v="urn:schemas-microsoft-com:vml" Requires="v">
                <p:oleObj spid="_x0000_s3085" name="" r:id="rId1" imgW="622300" imgH="419100" progId="Equation.3">
                  <p:embed/>
                </p:oleObj>
              </mc:Choice>
              <mc:Fallback>
                <p:oleObj name="" r:id="rId1" imgW="622300" imgH="419100" progId="Equation.3">
                  <p:embed/>
                  <p:pic>
                    <p:nvPicPr>
                      <p:cNvPr id="0" name="图片 3084"/>
                      <p:cNvPicPr/>
                      <p:nvPr/>
                    </p:nvPicPr>
                    <p:blipFill>
                      <a:blip r:embed="rId2"/>
                      <a:srcRect/>
                      <a:stretch>
                        <a:fillRect/>
                      </a:stretch>
                    </p:blipFill>
                    <p:spPr>
                      <a:xfrm>
                        <a:off x="3708400" y="3284538"/>
                        <a:ext cx="1295400" cy="871537"/>
                      </a:xfrm>
                      <a:prstGeom prst="rect">
                        <a:avLst/>
                      </a:prstGeom>
                      <a:noFill/>
                      <a:ln w="38100">
                        <a:miter/>
                      </a:ln>
                    </p:spPr>
                  </p:pic>
                </p:oleObj>
              </mc:Fallback>
            </mc:AlternateContent>
          </a:graphicData>
        </a:graphic>
      </p:graphicFrame>
      <p:graphicFrame>
        <p:nvGraphicFramePr>
          <p:cNvPr id="61445" name="Object 5"/>
          <p:cNvGraphicFramePr>
            <a:graphicFrameLocks noChangeAspect="1"/>
          </p:cNvGraphicFramePr>
          <p:nvPr>
            <p:ph sz="quarter" idx="3"/>
          </p:nvPr>
        </p:nvGraphicFramePr>
        <p:xfrm>
          <a:off x="5364163" y="3284538"/>
          <a:ext cx="1150937" cy="904875"/>
        </p:xfrm>
        <a:graphic>
          <a:graphicData uri="http://schemas.openxmlformats.org/presentationml/2006/ole">
            <mc:AlternateContent xmlns:mc="http://schemas.openxmlformats.org/markup-compatibility/2006">
              <mc:Choice xmlns:v="urn:schemas-microsoft-com:vml" Requires="v">
                <p:oleObj spid="_x0000_s3084" name="" r:id="rId3" imgW="533400" imgH="419100" progId="Equation.3">
                  <p:embed/>
                </p:oleObj>
              </mc:Choice>
              <mc:Fallback>
                <p:oleObj name="" r:id="rId3" imgW="533400" imgH="419100" progId="Equation.3">
                  <p:embed/>
                  <p:pic>
                    <p:nvPicPr>
                      <p:cNvPr id="0" name="图片 3083"/>
                      <p:cNvPicPr/>
                      <p:nvPr/>
                    </p:nvPicPr>
                    <p:blipFill>
                      <a:blip r:embed="rId4"/>
                      <a:srcRect/>
                      <a:stretch>
                        <a:fillRect/>
                      </a:stretch>
                    </p:blipFill>
                    <p:spPr>
                      <a:xfrm>
                        <a:off x="5364163" y="3284538"/>
                        <a:ext cx="1150937" cy="904875"/>
                      </a:xfrm>
                      <a:prstGeom prst="rect">
                        <a:avLst/>
                      </a:prstGeom>
                      <a:noFill/>
                      <a:ln w="38100">
                        <a:miter/>
                      </a:ln>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a:spLocks noGrp="1"/>
          </p:cNvSpPr>
          <p:nvPr>
            <p:ph type="title"/>
          </p:nvPr>
        </p:nvSpPr>
        <p:spPr>
          <a:ln/>
        </p:spPr>
        <p:txBody>
          <a:bodyPr vert="horz" wrap="square" lIns="91440" tIns="45720" rIns="91440" bIns="45720" anchor="ctr" anchorCtr="0"/>
          <a:p>
            <a:pPr eaLnBrk="1" hangingPunct="1"/>
            <a:r>
              <a:rPr lang="" altLang="en-US" sz="3200" b="1" dirty="0">
                <a:solidFill>
                  <a:srgbClr val="FF0000"/>
                </a:solidFill>
              </a:rPr>
              <a:t>二、	</a:t>
            </a:r>
            <a:r>
              <a:rPr lang="zh-CN" altLang="en-US" sz="3200" b="1" dirty="0">
                <a:solidFill>
                  <a:srgbClr val="FF0000"/>
                </a:solidFill>
              </a:rPr>
              <a:t>供给弹性分类</a:t>
            </a:r>
            <a:endParaRPr lang="zh-CN" altLang="en-US" sz="3200" b="1" dirty="0">
              <a:solidFill>
                <a:srgbClr val="FF0000"/>
              </a:solidFill>
            </a:endParaRPr>
          </a:p>
        </p:txBody>
      </p:sp>
      <p:graphicFrame>
        <p:nvGraphicFramePr>
          <p:cNvPr id="62467" name="Object 3"/>
          <p:cNvGraphicFramePr>
            <a:graphicFrameLocks noChangeAspect="1"/>
          </p:cNvGraphicFramePr>
          <p:nvPr>
            <p:ph sz="half" idx="1"/>
          </p:nvPr>
        </p:nvGraphicFramePr>
        <p:xfrm>
          <a:off x="1979613" y="4076700"/>
          <a:ext cx="288925" cy="241300"/>
        </p:xfrm>
        <a:graphic>
          <a:graphicData uri="http://schemas.openxmlformats.org/presentationml/2006/ole">
            <mc:AlternateContent xmlns:mc="http://schemas.openxmlformats.org/markup-compatibility/2006">
              <mc:Choice xmlns:v="urn:schemas-microsoft-com:vml" Requires="v">
                <p:oleObj spid="_x0000_s3082" name="" r:id="rId1" imgW="152400" imgH="127000" progId="Equation.3">
                  <p:embed/>
                </p:oleObj>
              </mc:Choice>
              <mc:Fallback>
                <p:oleObj name="" r:id="rId1" imgW="152400" imgH="127000" progId="Equation.3">
                  <p:embed/>
                  <p:pic>
                    <p:nvPicPr>
                      <p:cNvPr id="0" name="图片 3081"/>
                      <p:cNvPicPr/>
                      <p:nvPr/>
                    </p:nvPicPr>
                    <p:blipFill>
                      <a:blip r:embed="rId2"/>
                      <a:srcRect/>
                      <a:stretch>
                        <a:fillRect/>
                      </a:stretch>
                    </p:blipFill>
                    <p:spPr>
                      <a:xfrm>
                        <a:off x="1979613" y="4076700"/>
                        <a:ext cx="288925" cy="241300"/>
                      </a:xfrm>
                      <a:prstGeom prst="rect">
                        <a:avLst/>
                      </a:prstGeom>
                      <a:noFill/>
                      <a:ln w="38100">
                        <a:miter/>
                      </a:ln>
                    </p:spPr>
                  </p:pic>
                </p:oleObj>
              </mc:Fallback>
            </mc:AlternateContent>
          </a:graphicData>
        </a:graphic>
      </p:graphicFrame>
      <p:grpSp>
        <p:nvGrpSpPr>
          <p:cNvPr id="62468" name="Group 4"/>
          <p:cNvGrpSpPr/>
          <p:nvPr/>
        </p:nvGrpSpPr>
        <p:grpSpPr>
          <a:xfrm>
            <a:off x="971550" y="2997200"/>
            <a:ext cx="3389313" cy="2652713"/>
            <a:chOff x="1692" y="2688"/>
            <a:chExt cx="3465" cy="2340"/>
          </a:xfrm>
        </p:grpSpPr>
        <p:sp>
          <p:nvSpPr>
            <p:cNvPr id="62478" name="Line 5"/>
            <p:cNvSpPr/>
            <p:nvPr/>
          </p:nvSpPr>
          <p:spPr>
            <a:xfrm flipV="1">
              <a:off x="2217" y="2688"/>
              <a:ext cx="0" cy="2340"/>
            </a:xfrm>
            <a:prstGeom prst="line">
              <a:avLst/>
            </a:prstGeom>
            <a:ln w="38100" cap="flat" cmpd="sng">
              <a:solidFill>
                <a:schemeClr val="tx2"/>
              </a:solidFill>
              <a:prstDash val="solid"/>
              <a:headEnd type="none" w="med" len="med"/>
              <a:tailEnd type="triangle" w="med" len="med"/>
            </a:ln>
          </p:spPr>
        </p:sp>
        <p:sp>
          <p:nvSpPr>
            <p:cNvPr id="62479" name="Line 6"/>
            <p:cNvSpPr/>
            <p:nvPr/>
          </p:nvSpPr>
          <p:spPr>
            <a:xfrm>
              <a:off x="1692" y="4716"/>
              <a:ext cx="3465" cy="0"/>
            </a:xfrm>
            <a:prstGeom prst="line">
              <a:avLst/>
            </a:prstGeom>
            <a:ln w="38100" cap="flat" cmpd="sng">
              <a:solidFill>
                <a:schemeClr val="tx2"/>
              </a:solidFill>
              <a:prstDash val="solid"/>
              <a:headEnd type="none" w="med" len="med"/>
              <a:tailEnd type="triangle" w="med" len="med"/>
            </a:ln>
          </p:spPr>
        </p:sp>
        <p:sp>
          <p:nvSpPr>
            <p:cNvPr id="62480" name="Line 7"/>
            <p:cNvSpPr/>
            <p:nvPr/>
          </p:nvSpPr>
          <p:spPr>
            <a:xfrm flipV="1">
              <a:off x="2217" y="3000"/>
              <a:ext cx="1890" cy="1716"/>
            </a:xfrm>
            <a:prstGeom prst="line">
              <a:avLst/>
            </a:prstGeom>
            <a:ln w="38100" cap="flat" cmpd="sng">
              <a:solidFill>
                <a:schemeClr val="tx2"/>
              </a:solidFill>
              <a:prstDash val="dash"/>
              <a:headEnd type="none" w="med" len="med"/>
              <a:tailEnd type="none" w="med" len="med"/>
            </a:ln>
          </p:spPr>
        </p:sp>
        <p:sp>
          <p:nvSpPr>
            <p:cNvPr id="62481" name="Line 8"/>
            <p:cNvSpPr/>
            <p:nvPr/>
          </p:nvSpPr>
          <p:spPr>
            <a:xfrm flipH="1">
              <a:off x="3477" y="2688"/>
              <a:ext cx="0" cy="624"/>
            </a:xfrm>
            <a:prstGeom prst="line">
              <a:avLst/>
            </a:prstGeom>
            <a:ln w="38100" cap="flat" cmpd="sng">
              <a:solidFill>
                <a:schemeClr val="tx2"/>
              </a:solidFill>
              <a:prstDash val="solid"/>
              <a:headEnd type="none" w="med" len="med"/>
              <a:tailEnd type="none" w="med" len="med"/>
            </a:ln>
          </p:spPr>
        </p:sp>
        <p:sp>
          <p:nvSpPr>
            <p:cNvPr id="62482" name="Line 9"/>
            <p:cNvSpPr/>
            <p:nvPr/>
          </p:nvSpPr>
          <p:spPr>
            <a:xfrm flipH="1">
              <a:off x="3162" y="3312"/>
              <a:ext cx="315" cy="468"/>
            </a:xfrm>
            <a:prstGeom prst="line">
              <a:avLst/>
            </a:prstGeom>
            <a:ln w="38100" cap="flat" cmpd="sng">
              <a:solidFill>
                <a:schemeClr val="tx2"/>
              </a:solidFill>
              <a:prstDash val="solid"/>
              <a:headEnd type="none" w="med" len="med"/>
              <a:tailEnd type="none" w="med" len="med"/>
            </a:ln>
          </p:spPr>
        </p:sp>
        <p:sp>
          <p:nvSpPr>
            <p:cNvPr id="62483" name="Line 10"/>
            <p:cNvSpPr/>
            <p:nvPr/>
          </p:nvSpPr>
          <p:spPr>
            <a:xfrm flipH="1">
              <a:off x="2742" y="3780"/>
              <a:ext cx="420" cy="312"/>
            </a:xfrm>
            <a:prstGeom prst="line">
              <a:avLst/>
            </a:prstGeom>
            <a:ln w="38100" cap="flat" cmpd="sng">
              <a:solidFill>
                <a:schemeClr val="tx2"/>
              </a:solidFill>
              <a:prstDash val="solid"/>
              <a:headEnd type="none" w="med" len="med"/>
              <a:tailEnd type="none" w="med" len="med"/>
            </a:ln>
          </p:spPr>
        </p:sp>
        <p:sp>
          <p:nvSpPr>
            <p:cNvPr id="62484" name="Line 11"/>
            <p:cNvSpPr/>
            <p:nvPr/>
          </p:nvSpPr>
          <p:spPr>
            <a:xfrm flipH="1">
              <a:off x="2322" y="4092"/>
              <a:ext cx="420" cy="0"/>
            </a:xfrm>
            <a:prstGeom prst="line">
              <a:avLst/>
            </a:prstGeom>
            <a:ln w="38100" cap="flat" cmpd="sng">
              <a:solidFill>
                <a:schemeClr val="tx2"/>
              </a:solidFill>
              <a:prstDash val="solid"/>
              <a:headEnd type="none" w="med" len="med"/>
              <a:tailEnd type="none" w="med" len="med"/>
            </a:ln>
          </p:spPr>
        </p:sp>
      </p:grpSp>
      <p:sp>
        <p:nvSpPr>
          <p:cNvPr id="62469" name="Rectangle 12"/>
          <p:cNvSpPr/>
          <p:nvPr/>
        </p:nvSpPr>
        <p:spPr>
          <a:xfrm>
            <a:off x="2819400" y="2667000"/>
            <a:ext cx="673100" cy="366713"/>
          </a:xfrm>
          <a:prstGeom prst="rect">
            <a:avLst/>
          </a:prstGeom>
          <a:noFill/>
          <a:ln w="9525">
            <a:noFill/>
          </a:ln>
        </p:spPr>
        <p:txBody>
          <a:bodyPr>
            <a:spAutoFit/>
          </a:bodyPr>
          <a:p>
            <a:pPr>
              <a:lnSpc>
                <a:spcPct val="100000"/>
              </a:lnSpc>
              <a:spcBef>
                <a:spcPct val="0"/>
              </a:spcBef>
              <a:buNone/>
            </a:pPr>
            <a:r>
              <a:rPr lang="en-US" altLang="zh-CN" sz="1800" dirty="0">
                <a:solidFill>
                  <a:srgbClr val="000000"/>
                </a:solidFill>
                <a:latin typeface="Times New Roman" panose="02020603050405020304" pitchFamily="18" charset="0"/>
              </a:rPr>
              <a:t>Es=0</a:t>
            </a:r>
            <a:endParaRPr lang="en-US" altLang="zh-CN" sz="1800" dirty="0">
              <a:solidFill>
                <a:srgbClr val="000000"/>
              </a:solidFill>
              <a:latin typeface="Times New Roman" panose="02020603050405020304" pitchFamily="18" charset="0"/>
            </a:endParaRPr>
          </a:p>
        </p:txBody>
      </p:sp>
      <p:sp>
        <p:nvSpPr>
          <p:cNvPr id="62470" name="Rectangle 13"/>
          <p:cNvSpPr/>
          <p:nvPr/>
        </p:nvSpPr>
        <p:spPr>
          <a:xfrm>
            <a:off x="2667000" y="4191000"/>
            <a:ext cx="723900" cy="396875"/>
          </a:xfrm>
          <a:prstGeom prst="rect">
            <a:avLst/>
          </a:prstGeom>
          <a:noFill/>
          <a:ln w="9525">
            <a:noFill/>
          </a:ln>
        </p:spPr>
        <p:txBody>
          <a:bodyPr wrap="none">
            <a:spAutoFit/>
          </a:bodyPr>
          <a:p>
            <a:pPr>
              <a:lnSpc>
                <a:spcPct val="100000"/>
              </a:lnSpc>
              <a:spcBef>
                <a:spcPct val="0"/>
              </a:spcBef>
              <a:buNone/>
            </a:pPr>
            <a:r>
              <a:rPr lang="en-US" altLang="zh-CN" dirty="0">
                <a:solidFill>
                  <a:srgbClr val="000000"/>
                </a:solidFill>
                <a:latin typeface="Times New Roman" panose="02020603050405020304" pitchFamily="18" charset="0"/>
              </a:rPr>
              <a:t>Es=1</a:t>
            </a:r>
            <a:endParaRPr lang="en-US" altLang="zh-CN" dirty="0">
              <a:solidFill>
                <a:srgbClr val="000000"/>
              </a:solidFill>
              <a:latin typeface="Times New Roman" panose="02020603050405020304" pitchFamily="18" charset="0"/>
            </a:endParaRPr>
          </a:p>
        </p:txBody>
      </p:sp>
      <p:sp>
        <p:nvSpPr>
          <p:cNvPr id="62471" name="Rectangle 14"/>
          <p:cNvSpPr/>
          <p:nvPr/>
        </p:nvSpPr>
        <p:spPr>
          <a:xfrm>
            <a:off x="1908175" y="3573463"/>
            <a:ext cx="723900" cy="396875"/>
          </a:xfrm>
          <a:prstGeom prst="rect">
            <a:avLst/>
          </a:prstGeom>
          <a:noFill/>
          <a:ln w="9525">
            <a:noFill/>
          </a:ln>
        </p:spPr>
        <p:txBody>
          <a:bodyPr wrap="none">
            <a:spAutoFit/>
          </a:bodyPr>
          <a:p>
            <a:pPr>
              <a:lnSpc>
                <a:spcPct val="100000"/>
              </a:lnSpc>
              <a:spcBef>
                <a:spcPct val="0"/>
              </a:spcBef>
              <a:buNone/>
            </a:pPr>
            <a:r>
              <a:rPr lang="en-US" altLang="zh-CN" dirty="0">
                <a:solidFill>
                  <a:srgbClr val="000000"/>
                </a:solidFill>
                <a:latin typeface="Times New Roman" panose="02020603050405020304" pitchFamily="18" charset="0"/>
              </a:rPr>
              <a:t>Es&lt;1</a:t>
            </a:r>
            <a:endParaRPr lang="en-US" altLang="zh-CN" dirty="0">
              <a:solidFill>
                <a:srgbClr val="000000"/>
              </a:solidFill>
              <a:latin typeface="Times New Roman" panose="02020603050405020304" pitchFamily="18" charset="0"/>
            </a:endParaRPr>
          </a:p>
        </p:txBody>
      </p:sp>
      <p:sp>
        <p:nvSpPr>
          <p:cNvPr id="62472" name="Rectangle 15"/>
          <p:cNvSpPr/>
          <p:nvPr/>
        </p:nvSpPr>
        <p:spPr>
          <a:xfrm>
            <a:off x="2209800" y="4495800"/>
            <a:ext cx="723900" cy="396875"/>
          </a:xfrm>
          <a:prstGeom prst="rect">
            <a:avLst/>
          </a:prstGeom>
          <a:noFill/>
          <a:ln w="9525">
            <a:noFill/>
          </a:ln>
        </p:spPr>
        <p:txBody>
          <a:bodyPr wrap="none">
            <a:spAutoFit/>
          </a:bodyPr>
          <a:p>
            <a:pPr>
              <a:lnSpc>
                <a:spcPct val="100000"/>
              </a:lnSpc>
              <a:spcBef>
                <a:spcPct val="0"/>
              </a:spcBef>
              <a:buNone/>
            </a:pPr>
            <a:r>
              <a:rPr lang="en-US" altLang="zh-CN" dirty="0">
                <a:solidFill>
                  <a:srgbClr val="000000"/>
                </a:solidFill>
                <a:latin typeface="Times New Roman" panose="02020603050405020304" pitchFamily="18" charset="0"/>
              </a:rPr>
              <a:t>Es&gt;1</a:t>
            </a:r>
            <a:endParaRPr lang="en-US" altLang="zh-CN" dirty="0">
              <a:solidFill>
                <a:srgbClr val="000000"/>
              </a:solidFill>
              <a:latin typeface="Times New Roman" panose="02020603050405020304" pitchFamily="18" charset="0"/>
            </a:endParaRPr>
          </a:p>
        </p:txBody>
      </p:sp>
      <p:sp>
        <p:nvSpPr>
          <p:cNvPr id="62473" name="Text Box 16"/>
          <p:cNvSpPr txBox="1"/>
          <p:nvPr/>
        </p:nvSpPr>
        <p:spPr>
          <a:xfrm>
            <a:off x="1066800" y="2900363"/>
            <a:ext cx="381000" cy="457200"/>
          </a:xfrm>
          <a:prstGeom prst="rect">
            <a:avLst/>
          </a:prstGeom>
          <a:noFill/>
          <a:ln w="9525">
            <a:noFill/>
          </a:ln>
        </p:spPr>
        <p:txBody>
          <a:bodyPr>
            <a:spAutoFit/>
          </a:bodyPr>
          <a:p>
            <a:pPr>
              <a:lnSpc>
                <a:spcPct val="100000"/>
              </a:lnSpc>
              <a:spcBef>
                <a:spcPct val="50000"/>
              </a:spcBef>
              <a:buNone/>
            </a:pPr>
            <a:r>
              <a:rPr lang="en-US" altLang="zh-CN" sz="2400" dirty="0">
                <a:latin typeface="Times New Roman" panose="02020603050405020304" pitchFamily="18" charset="0"/>
              </a:rPr>
              <a:t>P</a:t>
            </a:r>
            <a:endParaRPr lang="en-US" altLang="zh-CN" sz="2400" dirty="0">
              <a:latin typeface="Times New Roman" panose="02020603050405020304" pitchFamily="18" charset="0"/>
            </a:endParaRPr>
          </a:p>
        </p:txBody>
      </p:sp>
      <p:sp>
        <p:nvSpPr>
          <p:cNvPr id="62474" name="Text Box 17"/>
          <p:cNvSpPr txBox="1"/>
          <p:nvPr/>
        </p:nvSpPr>
        <p:spPr>
          <a:xfrm>
            <a:off x="4038600" y="5486400"/>
            <a:ext cx="533400" cy="457200"/>
          </a:xfrm>
          <a:prstGeom prst="rect">
            <a:avLst/>
          </a:prstGeom>
          <a:noFill/>
          <a:ln w="9525">
            <a:noFill/>
          </a:ln>
        </p:spPr>
        <p:txBody>
          <a:bodyPr>
            <a:spAutoFit/>
          </a:bodyPr>
          <a:p>
            <a:pPr>
              <a:lnSpc>
                <a:spcPct val="100000"/>
              </a:lnSpc>
              <a:spcBef>
                <a:spcPct val="50000"/>
              </a:spcBef>
              <a:buNone/>
            </a:pPr>
            <a:r>
              <a:rPr lang="en-US" altLang="zh-CN" sz="2400" dirty="0">
                <a:solidFill>
                  <a:srgbClr val="000000"/>
                </a:solidFill>
                <a:latin typeface="Times New Roman" panose="02020603050405020304" pitchFamily="18" charset="0"/>
              </a:rPr>
              <a:t>Q</a:t>
            </a:r>
            <a:endParaRPr lang="en-US" altLang="zh-CN" sz="2400" dirty="0">
              <a:solidFill>
                <a:srgbClr val="000000"/>
              </a:solidFill>
              <a:latin typeface="Times New Roman" panose="02020603050405020304" pitchFamily="18" charset="0"/>
            </a:endParaRPr>
          </a:p>
        </p:txBody>
      </p:sp>
      <p:sp>
        <p:nvSpPr>
          <p:cNvPr id="62475" name="Rectangle 18"/>
          <p:cNvSpPr/>
          <p:nvPr/>
        </p:nvSpPr>
        <p:spPr>
          <a:xfrm>
            <a:off x="1476375" y="4005263"/>
            <a:ext cx="673100" cy="366712"/>
          </a:xfrm>
          <a:prstGeom prst="rect">
            <a:avLst/>
          </a:prstGeom>
          <a:noFill/>
          <a:ln w="9525">
            <a:noFill/>
          </a:ln>
        </p:spPr>
        <p:txBody>
          <a:bodyPr>
            <a:spAutoFit/>
          </a:bodyPr>
          <a:p>
            <a:pPr>
              <a:lnSpc>
                <a:spcPct val="100000"/>
              </a:lnSpc>
              <a:spcBef>
                <a:spcPct val="0"/>
              </a:spcBef>
              <a:buNone/>
            </a:pPr>
            <a:r>
              <a:rPr lang="en-US" altLang="zh-CN" sz="1800" dirty="0">
                <a:solidFill>
                  <a:srgbClr val="000000"/>
                </a:solidFill>
                <a:latin typeface="Times New Roman" panose="02020603050405020304" pitchFamily="18" charset="0"/>
              </a:rPr>
              <a:t>Es=</a:t>
            </a:r>
            <a:endParaRPr lang="en-US" altLang="zh-CN" sz="1800" dirty="0">
              <a:solidFill>
                <a:srgbClr val="000000"/>
              </a:solidFill>
              <a:latin typeface="Times New Roman" panose="02020603050405020304" pitchFamily="18" charset="0"/>
            </a:endParaRPr>
          </a:p>
        </p:txBody>
      </p:sp>
      <p:sp>
        <p:nvSpPr>
          <p:cNvPr id="62476" name="Text Box 19"/>
          <p:cNvSpPr txBox="1"/>
          <p:nvPr/>
        </p:nvSpPr>
        <p:spPr>
          <a:xfrm>
            <a:off x="4572000" y="2349500"/>
            <a:ext cx="4103688" cy="2133600"/>
          </a:xfrm>
          <a:prstGeom prst="rect">
            <a:avLst/>
          </a:prstGeom>
          <a:noFill/>
          <a:ln w="28575">
            <a:noFill/>
          </a:ln>
        </p:spPr>
        <p:txBody>
          <a:bodyPr>
            <a:spAutoFit/>
          </a:bodyPr>
          <a:p>
            <a:pPr marL="457200" indent="-457200">
              <a:buNone/>
            </a:pPr>
            <a:r>
              <a:rPr lang="en-US" altLang="zh-CN" b="0" dirty="0">
                <a:solidFill>
                  <a:srgbClr val="000000"/>
                </a:solidFill>
                <a:latin typeface="宋体" panose="02010600030101010101" pitchFamily="2" charset="-122"/>
              </a:rPr>
              <a:t>1</a:t>
            </a:r>
            <a:r>
              <a:rPr lang="zh-CN" altLang="en-US" b="0" dirty="0">
                <a:solidFill>
                  <a:srgbClr val="000000"/>
                </a:solidFill>
                <a:latin typeface="宋体" panose="02010600030101010101" pitchFamily="2" charset="-122"/>
              </a:rPr>
              <a:t>、</a:t>
            </a:r>
            <a:r>
              <a:rPr lang="en-US" altLang="zh-CN" b="0" dirty="0">
                <a:solidFill>
                  <a:srgbClr val="000000"/>
                </a:solidFill>
                <a:latin typeface="宋体" panose="02010600030101010101" pitchFamily="2" charset="-122"/>
              </a:rPr>
              <a:t>Es&gt;1  </a:t>
            </a:r>
            <a:r>
              <a:rPr lang="zh-CN" altLang="en-US" b="0" dirty="0">
                <a:solidFill>
                  <a:srgbClr val="000000"/>
                </a:solidFill>
                <a:latin typeface="宋体" panose="02010600030101010101" pitchFamily="2" charset="-122"/>
              </a:rPr>
              <a:t>富有价格弹性</a:t>
            </a:r>
            <a:endParaRPr lang="zh-CN" altLang="en-US" b="0" dirty="0">
              <a:solidFill>
                <a:srgbClr val="000000"/>
              </a:solidFill>
              <a:latin typeface="宋体" panose="02010600030101010101" pitchFamily="2" charset="-122"/>
            </a:endParaRPr>
          </a:p>
          <a:p>
            <a:pPr marL="457200" indent="-457200">
              <a:buNone/>
            </a:pPr>
            <a:r>
              <a:rPr lang="en-US" altLang="zh-CN" b="0" dirty="0">
                <a:solidFill>
                  <a:srgbClr val="000000"/>
                </a:solidFill>
                <a:latin typeface="宋体" panose="02010600030101010101" pitchFamily="2" charset="-122"/>
              </a:rPr>
              <a:t>2</a:t>
            </a:r>
            <a:r>
              <a:rPr lang="zh-CN" altLang="en-US" b="0" dirty="0">
                <a:solidFill>
                  <a:srgbClr val="000000"/>
                </a:solidFill>
                <a:latin typeface="宋体" panose="02010600030101010101" pitchFamily="2" charset="-122"/>
              </a:rPr>
              <a:t>、</a:t>
            </a:r>
            <a:r>
              <a:rPr lang="en-US" altLang="zh-CN" b="0" dirty="0">
                <a:solidFill>
                  <a:srgbClr val="000000"/>
                </a:solidFill>
                <a:latin typeface="宋体" panose="02010600030101010101" pitchFamily="2" charset="-122"/>
              </a:rPr>
              <a:t>Es=1  </a:t>
            </a:r>
            <a:r>
              <a:rPr lang="zh-CN" altLang="en-US" b="0" dirty="0">
                <a:solidFill>
                  <a:srgbClr val="000000"/>
                </a:solidFill>
                <a:latin typeface="宋体" panose="02010600030101010101" pitchFamily="2" charset="-122"/>
              </a:rPr>
              <a:t>单位弹性</a:t>
            </a:r>
            <a:endParaRPr lang="zh-CN" altLang="en-US" b="0" dirty="0">
              <a:solidFill>
                <a:srgbClr val="000000"/>
              </a:solidFill>
              <a:latin typeface="宋体" panose="02010600030101010101" pitchFamily="2" charset="-122"/>
            </a:endParaRPr>
          </a:p>
          <a:p>
            <a:pPr marL="457200" indent="-457200">
              <a:buNone/>
            </a:pPr>
            <a:r>
              <a:rPr lang="en-US" altLang="zh-CN" b="0" dirty="0">
                <a:solidFill>
                  <a:srgbClr val="000000"/>
                </a:solidFill>
                <a:latin typeface="宋体" panose="02010600030101010101" pitchFamily="2" charset="-122"/>
              </a:rPr>
              <a:t>3</a:t>
            </a:r>
            <a:r>
              <a:rPr lang="zh-CN" altLang="en-US" b="0" dirty="0">
                <a:solidFill>
                  <a:srgbClr val="000000"/>
                </a:solidFill>
                <a:latin typeface="宋体" panose="02010600030101010101" pitchFamily="2" charset="-122"/>
              </a:rPr>
              <a:t>、</a:t>
            </a:r>
            <a:r>
              <a:rPr lang="en-US" altLang="zh-CN" b="0" dirty="0">
                <a:solidFill>
                  <a:srgbClr val="000000"/>
                </a:solidFill>
                <a:latin typeface="宋体" panose="02010600030101010101" pitchFamily="2" charset="-122"/>
              </a:rPr>
              <a:t>Es&lt;1  </a:t>
            </a:r>
            <a:r>
              <a:rPr lang="zh-CN" altLang="en-US" b="0" dirty="0">
                <a:solidFill>
                  <a:srgbClr val="000000"/>
                </a:solidFill>
                <a:latin typeface="宋体" panose="02010600030101010101" pitchFamily="2" charset="-122"/>
              </a:rPr>
              <a:t>供给的价格弹性不足</a:t>
            </a:r>
            <a:endParaRPr lang="zh-CN" altLang="en-US" b="0" dirty="0">
              <a:solidFill>
                <a:srgbClr val="000000"/>
              </a:solidFill>
              <a:latin typeface="宋体" panose="02010600030101010101" pitchFamily="2" charset="-122"/>
            </a:endParaRPr>
          </a:p>
          <a:p>
            <a:pPr marL="457200" indent="-457200">
              <a:buNone/>
            </a:pPr>
            <a:r>
              <a:rPr lang="en-US" altLang="zh-CN" b="0" dirty="0">
                <a:solidFill>
                  <a:srgbClr val="000000"/>
                </a:solidFill>
                <a:latin typeface="宋体" panose="02010600030101010101" pitchFamily="2" charset="-122"/>
              </a:rPr>
              <a:t>4</a:t>
            </a:r>
            <a:r>
              <a:rPr lang="zh-CN" altLang="en-US" b="0" dirty="0">
                <a:solidFill>
                  <a:srgbClr val="000000"/>
                </a:solidFill>
                <a:latin typeface="宋体" panose="02010600030101010101" pitchFamily="2" charset="-122"/>
              </a:rPr>
              <a:t>、</a:t>
            </a:r>
            <a:r>
              <a:rPr lang="en-US" altLang="zh-CN" b="0" dirty="0">
                <a:solidFill>
                  <a:srgbClr val="000000"/>
                </a:solidFill>
                <a:latin typeface="宋体" panose="02010600030101010101" pitchFamily="2" charset="-122"/>
              </a:rPr>
              <a:t>Es=0  </a:t>
            </a:r>
            <a:r>
              <a:rPr lang="zh-CN" altLang="en-US" b="0" dirty="0">
                <a:solidFill>
                  <a:srgbClr val="000000"/>
                </a:solidFill>
                <a:latin typeface="宋体" panose="02010600030101010101" pitchFamily="2" charset="-122"/>
              </a:rPr>
              <a:t>供给完全缺乏价格弹性</a:t>
            </a:r>
            <a:endParaRPr lang="zh-CN" altLang="en-US" b="0" dirty="0">
              <a:solidFill>
                <a:srgbClr val="000000"/>
              </a:solidFill>
              <a:latin typeface="宋体" panose="02010600030101010101" pitchFamily="2" charset="-122"/>
            </a:endParaRPr>
          </a:p>
          <a:p>
            <a:pPr marL="457200" indent="-457200">
              <a:buNone/>
            </a:pPr>
            <a:r>
              <a:rPr lang="en-US" altLang="zh-CN" b="0" dirty="0">
                <a:solidFill>
                  <a:srgbClr val="000000"/>
                </a:solidFill>
                <a:latin typeface="宋体" panose="02010600030101010101" pitchFamily="2" charset="-122"/>
              </a:rPr>
              <a:t>5</a:t>
            </a:r>
            <a:r>
              <a:rPr lang="zh-CN" altLang="en-US" b="0" dirty="0">
                <a:solidFill>
                  <a:srgbClr val="000000"/>
                </a:solidFill>
                <a:latin typeface="宋体" panose="02010600030101010101" pitchFamily="2" charset="-122"/>
              </a:rPr>
              <a:t>、</a:t>
            </a:r>
            <a:r>
              <a:rPr lang="en-US" altLang="zh-CN" b="0" dirty="0">
                <a:solidFill>
                  <a:srgbClr val="000000"/>
                </a:solidFill>
                <a:latin typeface="宋体" panose="02010600030101010101" pitchFamily="2" charset="-122"/>
              </a:rPr>
              <a:t>Es=   </a:t>
            </a:r>
            <a:r>
              <a:rPr lang="zh-CN" altLang="en-US" b="0" dirty="0">
                <a:solidFill>
                  <a:srgbClr val="000000"/>
                </a:solidFill>
                <a:latin typeface="宋体" panose="02010600030101010101" pitchFamily="2" charset="-122"/>
              </a:rPr>
              <a:t>供给富有无限价格弹性</a:t>
            </a:r>
            <a:endParaRPr lang="zh-CN" altLang="en-US" b="0" dirty="0">
              <a:solidFill>
                <a:srgbClr val="000000"/>
              </a:solidFill>
              <a:latin typeface="宋体" panose="02010600030101010101" pitchFamily="2" charset="-122"/>
            </a:endParaRPr>
          </a:p>
          <a:p>
            <a:pPr marL="457200" indent="-457200">
              <a:spcBef>
                <a:spcPct val="50000"/>
              </a:spcBef>
              <a:buNone/>
            </a:pPr>
            <a:endParaRPr lang="en-US" altLang="zh-CN" dirty="0">
              <a:solidFill>
                <a:srgbClr val="000000"/>
              </a:solidFill>
              <a:latin typeface="宋体" panose="02010600030101010101" pitchFamily="2" charset="-122"/>
            </a:endParaRPr>
          </a:p>
        </p:txBody>
      </p:sp>
      <p:graphicFrame>
        <p:nvGraphicFramePr>
          <p:cNvPr id="62477" name="Object 20"/>
          <p:cNvGraphicFramePr>
            <a:graphicFrameLocks noChangeAspect="1"/>
          </p:cNvGraphicFramePr>
          <p:nvPr>
            <p:ph sz="half" idx="2"/>
          </p:nvPr>
        </p:nvGraphicFramePr>
        <p:xfrm>
          <a:off x="5435600" y="3775075"/>
          <a:ext cx="288925" cy="241300"/>
        </p:xfrm>
        <a:graphic>
          <a:graphicData uri="http://schemas.openxmlformats.org/presentationml/2006/ole">
            <mc:AlternateContent xmlns:mc="http://schemas.openxmlformats.org/markup-compatibility/2006">
              <mc:Choice xmlns:v="urn:schemas-microsoft-com:vml" Requires="v">
                <p:oleObj spid="_x0000_s3083" name="" r:id="rId3" imgW="152400" imgH="127000" progId="Equation.3">
                  <p:embed/>
                </p:oleObj>
              </mc:Choice>
              <mc:Fallback>
                <p:oleObj name="" r:id="rId3" imgW="152400" imgH="127000" progId="Equation.3">
                  <p:embed/>
                  <p:pic>
                    <p:nvPicPr>
                      <p:cNvPr id="0" name="图片 3082"/>
                      <p:cNvPicPr/>
                      <p:nvPr/>
                    </p:nvPicPr>
                    <p:blipFill>
                      <a:blip r:embed="rId2"/>
                      <a:srcRect/>
                      <a:stretch>
                        <a:fillRect/>
                      </a:stretch>
                    </p:blipFill>
                    <p:spPr>
                      <a:xfrm>
                        <a:off x="5435600" y="3775075"/>
                        <a:ext cx="288925" cy="241300"/>
                      </a:xfrm>
                      <a:prstGeom prst="rect">
                        <a:avLst/>
                      </a:prstGeom>
                      <a:noFill/>
                      <a:ln w="38100">
                        <a:miter/>
                      </a:ln>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a:xfrm>
            <a:off x="684213" y="0"/>
            <a:ext cx="7772400" cy="692150"/>
          </a:xfrm>
          <a:ln/>
        </p:spPr>
        <p:txBody>
          <a:bodyPr vert="horz" wrap="square" lIns="91440" tIns="45720" rIns="91440" bIns="45720" anchor="ctr" anchorCtr="0"/>
          <a:p>
            <a:pPr marL="838200" indent="-838200" eaLnBrk="1" hangingPunct="1"/>
            <a:r>
              <a:rPr lang="zh-CN" altLang="en-US" sz="3600" b="1" dirty="0">
                <a:solidFill>
                  <a:srgbClr val="FF0000"/>
                </a:solidFill>
                <a:latin typeface="宋体" panose="02010600030101010101" pitchFamily="2" charset="-122"/>
              </a:rPr>
              <a:t>三、	决定供给弹性的因素</a:t>
            </a:r>
            <a:endParaRPr lang="zh-CN" altLang="en-US" sz="3600" b="1" dirty="0">
              <a:solidFill>
                <a:srgbClr val="FF0000"/>
              </a:solidFill>
              <a:latin typeface="宋体" panose="02010600030101010101" pitchFamily="2" charset="-122"/>
            </a:endParaRPr>
          </a:p>
        </p:txBody>
      </p:sp>
      <p:sp>
        <p:nvSpPr>
          <p:cNvPr id="63491" name="Rectangle 3"/>
          <p:cNvSpPr>
            <a:spLocks noGrp="1"/>
          </p:cNvSpPr>
          <p:nvPr>
            <p:ph idx="1"/>
          </p:nvPr>
        </p:nvSpPr>
        <p:spPr>
          <a:xfrm>
            <a:off x="685800" y="1052513"/>
            <a:ext cx="7772400" cy="5043487"/>
          </a:xfrm>
          <a:ln/>
        </p:spPr>
        <p:txBody>
          <a:bodyPr vert="horz" wrap="square" lIns="91440" tIns="45720" rIns="91440" bIns="45720" anchor="t" anchorCtr="0"/>
          <a:p>
            <a:pPr marL="0" indent="0" eaLnBrk="1" hangingPunct="1">
              <a:buNone/>
            </a:pPr>
            <a:r>
              <a:rPr lang="zh-CN" altLang="en-US" sz="2800" b="1" dirty="0">
                <a:solidFill>
                  <a:srgbClr val="000000"/>
                </a:solidFill>
                <a:latin typeface="宋体" panose="02010600030101010101" pitchFamily="2" charset="-122"/>
              </a:rPr>
              <a:t>（一）生产的难易程度</a:t>
            </a:r>
            <a:br>
              <a:rPr lang="zh-CN" altLang="en-US" sz="28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生产的难易程度	容易生产	很难生产</a:t>
            </a:r>
            <a:endParaRPr lang="zh-CN" altLang="en-US" sz="2400" dirty="0">
              <a:solidFill>
                <a:srgbClr val="000000"/>
              </a:solidFill>
              <a:latin typeface="宋体" panose="02010600030101010101" pitchFamily="2" charset="-122"/>
            </a:endParaRPr>
          </a:p>
          <a:p>
            <a:pPr marL="0" indent="0" eaLnBrk="1" hangingPunct="1">
              <a:buNone/>
            </a:pPr>
            <a:r>
              <a:rPr lang="zh-CN" altLang="en-US" sz="1600" b="1" dirty="0">
                <a:solidFill>
                  <a:srgbClr val="000000"/>
                </a:solidFill>
                <a:latin typeface="宋体" panose="02010600030101010101" pitchFamily="2" charset="-122"/>
              </a:rPr>
              <a:t>	</a:t>
            </a:r>
            <a:br>
              <a:rPr lang="zh-CN" altLang="en-US" sz="1600" b="1" dirty="0">
                <a:solidFill>
                  <a:srgbClr val="000000"/>
                </a:solidFill>
                <a:latin typeface="宋体" panose="02010600030101010101" pitchFamily="2" charset="-122"/>
              </a:rPr>
            </a:br>
            <a:r>
              <a:rPr lang="zh-CN" altLang="en-US" sz="2800" b="1" dirty="0">
                <a:solidFill>
                  <a:srgbClr val="000000"/>
                </a:solidFill>
                <a:latin typeface="宋体" panose="02010600030101010101" pitchFamily="2" charset="-122"/>
              </a:rPr>
              <a:t>（二）生产规模变化的难易程度</a:t>
            </a:r>
            <a:br>
              <a:rPr lang="zh-CN" altLang="en-US" sz="2800" b="1"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生产规模变化的难易程度	变化容易	变化困难	</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	</a:t>
            </a:r>
            <a:br>
              <a:rPr lang="zh-CN" altLang="en-US" sz="2400" dirty="0">
                <a:solidFill>
                  <a:srgbClr val="000000"/>
                </a:solidFill>
                <a:latin typeface="宋体" panose="02010600030101010101" pitchFamily="2" charset="-122"/>
              </a:rPr>
            </a:br>
            <a:r>
              <a:rPr lang="zh-CN" altLang="en-US" sz="2800" b="1" dirty="0">
                <a:solidFill>
                  <a:srgbClr val="000000"/>
                </a:solidFill>
                <a:latin typeface="宋体" panose="02010600030101010101" pitchFamily="2" charset="-122"/>
              </a:rPr>
              <a:t>（三）生产成本变化（成本变化大弹性小）</a:t>
            </a:r>
            <a:br>
              <a:rPr lang="zh-CN" altLang="en-US" sz="2800" b="1"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生产成本变化的难易程度	成本变化大	成本变化小	</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	</a:t>
            </a:r>
            <a:br>
              <a:rPr lang="zh-CN" altLang="en-US" sz="2400" dirty="0">
                <a:solidFill>
                  <a:srgbClr val="000000"/>
                </a:solidFill>
                <a:latin typeface="宋体" panose="02010600030101010101" pitchFamily="2" charset="-122"/>
              </a:rPr>
            </a:br>
            <a:r>
              <a:rPr lang="zh-CN" altLang="en-US" sz="2800" b="1" dirty="0">
                <a:solidFill>
                  <a:srgbClr val="000000"/>
                </a:solidFill>
                <a:latin typeface="宋体" panose="02010600030101010101" pitchFamily="2" charset="-122"/>
              </a:rPr>
              <a:t>（四）时间的长短（时间长的供给价格弹性大）</a:t>
            </a:r>
            <a:br>
              <a:rPr lang="zh-CN" altLang="en-US" sz="2800" b="1"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时间的长短	  时间长	时间短	</a:t>
            </a:r>
            <a:br>
              <a:rPr lang="zh-CN" altLang="en-US" sz="2400" dirty="0">
                <a:solidFill>
                  <a:srgbClr val="000000"/>
                </a:solidFill>
                <a:latin typeface="宋体" panose="02010600030101010101" pitchFamily="2" charset="-122"/>
              </a:rPr>
            </a:br>
            <a:r>
              <a:rPr lang="zh-CN" altLang="en-US" sz="2400" dirty="0">
                <a:solidFill>
                  <a:srgbClr val="000000"/>
                </a:solidFill>
                <a:latin typeface="宋体" panose="02010600030101010101" pitchFamily="2" charset="-122"/>
              </a:rPr>
              <a:t>	</a:t>
            </a:r>
            <a:br>
              <a:rPr lang="zh-CN" altLang="en-US" sz="2400" dirty="0">
                <a:solidFill>
                  <a:srgbClr val="000000"/>
                </a:solidFill>
                <a:latin typeface="宋体" panose="02010600030101010101" pitchFamily="2" charset="-122"/>
              </a:rPr>
            </a:br>
            <a:endParaRPr lang="zh-CN" altLang="en-US" sz="2400" dirty="0">
              <a:solidFill>
                <a:srgbClr val="000000"/>
              </a:solidFill>
              <a:latin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p:cNvSpPr>
          <p:nvPr>
            <p:ph idx="1"/>
          </p:nvPr>
        </p:nvSpPr>
        <p:spPr>
          <a:xfrm>
            <a:off x="685800" y="476250"/>
            <a:ext cx="7772400" cy="5619750"/>
          </a:xfrm>
          <a:ln/>
        </p:spPr>
        <p:txBody>
          <a:bodyPr vert="horz" wrap="square" lIns="91440" tIns="45720" rIns="91440" bIns="45720" anchor="t" anchorCtr="0"/>
          <a:p>
            <a:pPr marL="0" indent="0" algn="just" eaLnBrk="1" hangingPunct="1">
              <a:lnSpc>
                <a:spcPct val="80000"/>
              </a:lnSpc>
              <a:buNone/>
            </a:pPr>
            <a:r>
              <a:rPr lang="zh-CN" altLang="en-US" sz="2800" b="1" dirty="0">
                <a:solidFill>
                  <a:srgbClr val="000000"/>
                </a:solidFill>
              </a:rPr>
              <a:t>（一）生产的难易程度</a:t>
            </a:r>
            <a:endParaRPr lang="zh-CN" altLang="en-US" sz="2800" b="1" dirty="0">
              <a:solidFill>
                <a:srgbClr val="000000"/>
              </a:solidFill>
            </a:endParaRPr>
          </a:p>
          <a:p>
            <a:pPr marL="0" indent="0" eaLnBrk="1" hangingPunct="1">
              <a:lnSpc>
                <a:spcPct val="80000"/>
              </a:lnSpc>
              <a:buNone/>
            </a:pPr>
            <a:r>
              <a:rPr lang="zh-CN" altLang="en-US" sz="2000" dirty="0">
                <a:solidFill>
                  <a:srgbClr val="000000"/>
                </a:solidFill>
                <a:latin typeface="宋体" panose="02010600030101010101" pitchFamily="2" charset="-122"/>
              </a:rPr>
              <a:t>生产的难易程度	  容易生产	很难生产	</a:t>
            </a:r>
            <a:endParaRPr lang="zh-CN" altLang="en-US" sz="2000" dirty="0">
              <a:solidFill>
                <a:srgbClr val="000000"/>
              </a:solidFill>
              <a:latin typeface="宋体" panose="02010600030101010101" pitchFamily="2" charset="-122"/>
            </a:endParaRPr>
          </a:p>
          <a:p>
            <a:pPr marL="0" indent="0" eaLnBrk="1" hangingPunct="1">
              <a:lnSpc>
                <a:spcPct val="80000"/>
              </a:lnSpc>
              <a:buNone/>
            </a:pPr>
            <a:r>
              <a:rPr lang="zh-CN" altLang="en-US" sz="2000" dirty="0">
                <a:solidFill>
                  <a:srgbClr val="000000"/>
                </a:solidFill>
                <a:latin typeface="宋体" panose="02010600030101010101" pitchFamily="2" charset="-122"/>
              </a:rPr>
              <a:t>供给弹性	  弹性大       弹性小	</a:t>
            </a:r>
            <a:endParaRPr lang="zh-CN" altLang="en-US" sz="2000" dirty="0">
              <a:solidFill>
                <a:srgbClr val="000000"/>
              </a:solidFill>
              <a:latin typeface="宋体" panose="02010600030101010101" pitchFamily="2" charset="-122"/>
            </a:endParaRPr>
          </a:p>
          <a:p>
            <a:pPr marL="0" indent="0" algn="just" eaLnBrk="1" hangingPunct="1">
              <a:lnSpc>
                <a:spcPct val="80000"/>
              </a:lnSpc>
              <a:buNone/>
            </a:pPr>
            <a:r>
              <a:rPr lang="zh-CN" altLang="en-US" sz="2800" b="1" dirty="0">
                <a:solidFill>
                  <a:srgbClr val="000000"/>
                </a:solidFill>
              </a:rPr>
              <a:t>（二）生产规模变化的难易程度</a:t>
            </a:r>
            <a:endParaRPr lang="zh-CN" altLang="en-US" sz="2800" b="1" dirty="0">
              <a:solidFill>
                <a:srgbClr val="000000"/>
              </a:solidFill>
            </a:endParaRPr>
          </a:p>
          <a:p>
            <a:pPr marL="0" indent="0" eaLnBrk="1" hangingPunct="1">
              <a:lnSpc>
                <a:spcPct val="80000"/>
              </a:lnSpc>
              <a:buNone/>
            </a:pPr>
            <a:r>
              <a:rPr lang="zh-CN" altLang="en-US" sz="2000" dirty="0">
                <a:solidFill>
                  <a:srgbClr val="000000"/>
                </a:solidFill>
                <a:latin typeface="宋体" panose="02010600030101010101" pitchFamily="2" charset="-122"/>
              </a:rPr>
              <a:t>生产规模变化的难易程度	变化容易	变化困难	</a:t>
            </a:r>
            <a:endParaRPr lang="zh-CN" altLang="en-US" sz="2000" dirty="0">
              <a:solidFill>
                <a:srgbClr val="000000"/>
              </a:solidFill>
              <a:latin typeface="宋体" panose="02010600030101010101" pitchFamily="2" charset="-122"/>
            </a:endParaRPr>
          </a:p>
          <a:p>
            <a:pPr marL="0" indent="0" eaLnBrk="1" hangingPunct="1">
              <a:lnSpc>
                <a:spcPct val="80000"/>
              </a:lnSpc>
              <a:buNone/>
            </a:pPr>
            <a:r>
              <a:rPr lang="zh-CN" altLang="en-US" sz="2000" dirty="0">
                <a:solidFill>
                  <a:srgbClr val="000000"/>
                </a:solidFill>
                <a:latin typeface="宋体" panose="02010600030101010101" pitchFamily="2" charset="-122"/>
              </a:rPr>
              <a:t>供给弹性                     弹性大        弹性小	</a:t>
            </a:r>
            <a:endParaRPr lang="zh-CN" altLang="en-US" sz="2000" dirty="0">
              <a:solidFill>
                <a:srgbClr val="000000"/>
              </a:solidFill>
              <a:latin typeface="宋体" panose="02010600030101010101" pitchFamily="2" charset="-122"/>
            </a:endParaRPr>
          </a:p>
          <a:p>
            <a:pPr marL="0" indent="0" algn="just" eaLnBrk="1" hangingPunct="1">
              <a:lnSpc>
                <a:spcPct val="80000"/>
              </a:lnSpc>
              <a:buNone/>
            </a:pPr>
            <a:r>
              <a:rPr lang="zh-CN" altLang="en-US" sz="2800" b="1" dirty="0">
                <a:solidFill>
                  <a:srgbClr val="000000"/>
                </a:solidFill>
              </a:rPr>
              <a:t>（三）生产成本变化（成本变化大弹性小）</a:t>
            </a:r>
            <a:endParaRPr lang="zh-CN" altLang="en-US" sz="2800" b="1" dirty="0">
              <a:solidFill>
                <a:srgbClr val="000000"/>
              </a:solidFill>
            </a:endParaRPr>
          </a:p>
          <a:p>
            <a:pPr marL="0" indent="0" eaLnBrk="1" hangingPunct="1">
              <a:lnSpc>
                <a:spcPct val="80000"/>
              </a:lnSpc>
              <a:buNone/>
            </a:pPr>
            <a:r>
              <a:rPr lang="zh-CN" altLang="en-US" sz="2000" dirty="0">
                <a:solidFill>
                  <a:srgbClr val="000000"/>
                </a:solidFill>
                <a:latin typeface="宋体" panose="02010600030101010101" pitchFamily="2" charset="-122"/>
              </a:rPr>
              <a:t>生产成本变化的难易程度	成本变化大	成本变化小	</a:t>
            </a:r>
            <a:endParaRPr lang="zh-CN" altLang="en-US" sz="2000" dirty="0">
              <a:solidFill>
                <a:srgbClr val="000000"/>
              </a:solidFill>
              <a:latin typeface="宋体" panose="02010600030101010101" pitchFamily="2" charset="-122"/>
            </a:endParaRPr>
          </a:p>
          <a:p>
            <a:pPr marL="0" indent="0" eaLnBrk="1" hangingPunct="1">
              <a:lnSpc>
                <a:spcPct val="80000"/>
              </a:lnSpc>
              <a:buNone/>
            </a:pPr>
            <a:r>
              <a:rPr lang="zh-CN" altLang="en-US" sz="2000" dirty="0">
                <a:solidFill>
                  <a:srgbClr val="000000"/>
                </a:solidFill>
                <a:latin typeface="宋体" panose="02010600030101010101" pitchFamily="2" charset="-122"/>
              </a:rPr>
              <a:t>供给弹性                     弹性小         弹性大	</a:t>
            </a:r>
            <a:endParaRPr lang="zh-CN" altLang="en-US" sz="2000" dirty="0">
              <a:solidFill>
                <a:srgbClr val="000000"/>
              </a:solidFill>
              <a:latin typeface="宋体" panose="02010600030101010101" pitchFamily="2" charset="-122"/>
            </a:endParaRPr>
          </a:p>
          <a:p>
            <a:pPr marL="0" indent="0" algn="just" eaLnBrk="1" hangingPunct="1">
              <a:lnSpc>
                <a:spcPct val="80000"/>
              </a:lnSpc>
              <a:buNone/>
            </a:pPr>
            <a:r>
              <a:rPr lang="zh-CN" altLang="en-US" sz="2800" b="1" dirty="0">
                <a:solidFill>
                  <a:srgbClr val="000000"/>
                </a:solidFill>
              </a:rPr>
              <a:t>（四）时间的长短（时间长的供给价格弹性大）</a:t>
            </a:r>
            <a:endParaRPr lang="zh-CN" altLang="en-US" sz="2800" b="1" dirty="0">
              <a:solidFill>
                <a:srgbClr val="000000"/>
              </a:solidFill>
            </a:endParaRPr>
          </a:p>
          <a:p>
            <a:pPr marL="0" indent="0" eaLnBrk="1" hangingPunct="1">
              <a:lnSpc>
                <a:spcPct val="80000"/>
              </a:lnSpc>
              <a:buNone/>
            </a:pPr>
            <a:r>
              <a:rPr lang="zh-CN" altLang="en-US" sz="2000" dirty="0">
                <a:solidFill>
                  <a:srgbClr val="000000"/>
                </a:solidFill>
                <a:latin typeface="宋体" panose="02010600030101010101" pitchFamily="2" charset="-122"/>
              </a:rPr>
              <a:t>时间的长短	时间长	时间短	</a:t>
            </a:r>
            <a:endParaRPr lang="zh-CN" altLang="en-US" sz="2000" dirty="0">
              <a:solidFill>
                <a:srgbClr val="000000"/>
              </a:solidFill>
              <a:latin typeface="宋体" panose="02010600030101010101" pitchFamily="2" charset="-122"/>
            </a:endParaRPr>
          </a:p>
          <a:p>
            <a:pPr marL="0" indent="0" eaLnBrk="1" hangingPunct="1">
              <a:lnSpc>
                <a:spcPct val="80000"/>
              </a:lnSpc>
              <a:buNone/>
            </a:pPr>
            <a:r>
              <a:rPr lang="zh-CN" altLang="en-US" sz="2000" dirty="0">
                <a:solidFill>
                  <a:srgbClr val="000000"/>
                </a:solidFill>
                <a:latin typeface="宋体" panose="02010600030101010101" pitchFamily="2" charset="-122"/>
              </a:rPr>
              <a:t>供给弹性	弹性大	弹性小	</a:t>
            </a:r>
            <a:endParaRPr lang="zh-CN" altLang="en-US" sz="2000" dirty="0">
              <a:solidFill>
                <a:srgbClr val="000000"/>
              </a:solidFill>
              <a:latin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title"/>
          </p:nvPr>
        </p:nvSpPr>
        <p:spPr>
          <a:ln/>
        </p:spPr>
        <p:txBody>
          <a:bodyPr vert="horz" wrap="square" lIns="91440" tIns="45720" rIns="91440" bIns="45720" anchor="ctr" anchorCtr="0"/>
          <a:p>
            <a:pPr algn="l" eaLnBrk="1" hangingPunct="1"/>
            <a:r>
              <a:rPr lang="en-US" altLang="zh-CN" b="1"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税收</a:t>
            </a:r>
            <a:br>
              <a:rPr lang="zh-CN" altLang="en-US" b="1" dirty="0">
                <a:solidFill>
                  <a:srgbClr val="000000"/>
                </a:solidFill>
                <a:latin typeface="宋体" panose="02010600030101010101" pitchFamily="2" charset="-122"/>
              </a:rPr>
            </a:br>
            <a:r>
              <a:rPr lang="en-US" altLang="zh-CN" sz="2800" b="1" dirty="0">
                <a:solidFill>
                  <a:srgbClr val="000000"/>
                </a:solidFill>
                <a:latin typeface="宋体" panose="02010600030101010101" pitchFamily="2" charset="-122"/>
              </a:rPr>
              <a:t>1</a:t>
            </a:r>
            <a:r>
              <a:rPr lang="zh-CN" altLang="en-US" sz="2800" b="1" dirty="0">
                <a:solidFill>
                  <a:srgbClr val="000000"/>
                </a:solidFill>
                <a:latin typeface="宋体" panose="02010600030101010101" pitchFamily="2" charset="-122"/>
              </a:rPr>
              <a:t>、对买者征税</a:t>
            </a:r>
            <a:br>
              <a:rPr lang="zh-CN" altLang="en-US" sz="2800" b="1" dirty="0">
                <a:solidFill>
                  <a:srgbClr val="000000"/>
                </a:solidFill>
                <a:latin typeface="宋体" panose="02010600030101010101" pitchFamily="2" charset="-122"/>
              </a:rPr>
            </a:br>
            <a:r>
              <a:rPr lang="zh-CN" altLang="en-US" sz="2800" b="1" dirty="0">
                <a:solidFill>
                  <a:srgbClr val="000000"/>
                </a:solidFill>
                <a:latin typeface="宋体" panose="02010600030101010101" pitchFamily="2" charset="-122"/>
              </a:rPr>
              <a:t>假如税收是</a:t>
            </a:r>
            <a:r>
              <a:rPr lang="en-US" altLang="zh-CN" sz="2800" b="1" dirty="0">
                <a:solidFill>
                  <a:srgbClr val="000000"/>
                </a:solidFill>
                <a:latin typeface="宋体" panose="02010600030101010101" pitchFamily="2" charset="-122"/>
              </a:rPr>
              <a:t>0.5</a:t>
            </a:r>
            <a:br>
              <a:rPr lang="en-US" altLang="zh-CN" sz="2800" b="1" dirty="0">
                <a:solidFill>
                  <a:srgbClr val="000000"/>
                </a:solidFill>
                <a:latin typeface="宋体" panose="02010600030101010101" pitchFamily="2" charset="-122"/>
              </a:rPr>
            </a:br>
            <a:r>
              <a:rPr lang="zh-CN" altLang="en-US" sz="2800" b="1" dirty="0">
                <a:solidFill>
                  <a:srgbClr val="000000"/>
                </a:solidFill>
                <a:latin typeface="宋体" panose="02010600030101010101" pitchFamily="2" charset="-122"/>
              </a:rPr>
              <a:t>征税后买者支付</a:t>
            </a:r>
            <a:r>
              <a:rPr lang="en-US" altLang="zh-CN" sz="2800" b="1" dirty="0">
                <a:solidFill>
                  <a:srgbClr val="000000"/>
                </a:solidFill>
                <a:latin typeface="宋体" panose="02010600030101010101" pitchFamily="2" charset="-122"/>
              </a:rPr>
              <a:t>=2.8+0.5=3.3</a:t>
            </a:r>
            <a:br>
              <a:rPr lang="en-US" altLang="zh-CN" sz="2800" b="1" dirty="0">
                <a:solidFill>
                  <a:srgbClr val="000000"/>
                </a:solidFill>
                <a:latin typeface="宋体" panose="02010600030101010101" pitchFamily="2" charset="-122"/>
              </a:rPr>
            </a:br>
            <a:r>
              <a:rPr lang="zh-CN" altLang="en-US" sz="2800" b="1" dirty="0">
                <a:solidFill>
                  <a:srgbClr val="000000"/>
                </a:solidFill>
                <a:latin typeface="宋体" panose="02010600030101010101" pitchFamily="2" charset="-122"/>
              </a:rPr>
              <a:t>征税后卖者得到</a:t>
            </a:r>
            <a:r>
              <a:rPr lang="en-US" altLang="zh-CN" sz="2800" b="1" dirty="0">
                <a:solidFill>
                  <a:srgbClr val="000000"/>
                </a:solidFill>
                <a:latin typeface="宋体" panose="02010600030101010101" pitchFamily="2" charset="-122"/>
              </a:rPr>
              <a:t>2.8(</a:t>
            </a:r>
            <a:r>
              <a:rPr lang="zh-CN" altLang="en-US" sz="2800" b="1" dirty="0">
                <a:solidFill>
                  <a:srgbClr val="000000"/>
                </a:solidFill>
                <a:latin typeface="宋体" panose="02010600030101010101" pitchFamily="2" charset="-122"/>
              </a:rPr>
              <a:t>征税前是</a:t>
            </a:r>
            <a:r>
              <a:rPr lang="en-US" altLang="zh-CN" sz="2800" b="1" dirty="0">
                <a:solidFill>
                  <a:srgbClr val="000000"/>
                </a:solidFill>
                <a:latin typeface="宋体" panose="02010600030101010101" pitchFamily="2" charset="-122"/>
              </a:rPr>
              <a:t>3.0)</a:t>
            </a:r>
            <a:endParaRPr lang="en-US" altLang="zh-CN" sz="2800" b="1" dirty="0">
              <a:solidFill>
                <a:srgbClr val="000000"/>
              </a:solidFill>
              <a:latin typeface="宋体" panose="02010600030101010101" pitchFamily="2" charset="-122"/>
            </a:endParaRPr>
          </a:p>
        </p:txBody>
      </p:sp>
      <p:sp>
        <p:nvSpPr>
          <p:cNvPr id="65539" name="Line 3"/>
          <p:cNvSpPr/>
          <p:nvPr/>
        </p:nvSpPr>
        <p:spPr>
          <a:xfrm flipV="1">
            <a:off x="898525" y="2636838"/>
            <a:ext cx="0" cy="3382962"/>
          </a:xfrm>
          <a:prstGeom prst="line">
            <a:avLst/>
          </a:prstGeom>
          <a:ln w="38100" cap="flat" cmpd="sng">
            <a:solidFill>
              <a:schemeClr val="tx2"/>
            </a:solidFill>
            <a:prstDash val="solid"/>
            <a:headEnd type="none" w="med" len="med"/>
            <a:tailEnd type="stealth" w="lg" len="lg"/>
          </a:ln>
        </p:spPr>
      </p:sp>
      <p:sp>
        <p:nvSpPr>
          <p:cNvPr id="65540" name="Line 4"/>
          <p:cNvSpPr/>
          <p:nvPr/>
        </p:nvSpPr>
        <p:spPr>
          <a:xfrm>
            <a:off x="900113" y="6021388"/>
            <a:ext cx="5400675" cy="0"/>
          </a:xfrm>
          <a:prstGeom prst="line">
            <a:avLst/>
          </a:prstGeom>
          <a:ln w="38100" cap="flat" cmpd="sng">
            <a:solidFill>
              <a:schemeClr val="tx2"/>
            </a:solidFill>
            <a:prstDash val="solid"/>
            <a:headEnd type="none" w="med" len="med"/>
            <a:tailEnd type="stealth" w="lg" len="lg"/>
          </a:ln>
        </p:spPr>
      </p:sp>
      <p:sp>
        <p:nvSpPr>
          <p:cNvPr id="65541" name="Line 5"/>
          <p:cNvSpPr/>
          <p:nvPr/>
        </p:nvSpPr>
        <p:spPr>
          <a:xfrm flipV="1">
            <a:off x="1547813" y="3357563"/>
            <a:ext cx="3887787" cy="2303462"/>
          </a:xfrm>
          <a:prstGeom prst="line">
            <a:avLst/>
          </a:prstGeom>
          <a:ln w="31750" cap="flat" cmpd="sng">
            <a:solidFill>
              <a:schemeClr val="tx2"/>
            </a:solidFill>
            <a:prstDash val="solid"/>
            <a:headEnd type="none" w="med" len="med"/>
            <a:tailEnd type="none" w="med" len="med"/>
          </a:ln>
        </p:spPr>
      </p:sp>
      <p:sp>
        <p:nvSpPr>
          <p:cNvPr id="65542" name="Line 6"/>
          <p:cNvSpPr/>
          <p:nvPr/>
        </p:nvSpPr>
        <p:spPr>
          <a:xfrm>
            <a:off x="2051050" y="3141663"/>
            <a:ext cx="3960813" cy="1582737"/>
          </a:xfrm>
          <a:prstGeom prst="line">
            <a:avLst/>
          </a:prstGeom>
          <a:ln w="31750" cap="flat" cmpd="sng">
            <a:solidFill>
              <a:schemeClr val="tx2"/>
            </a:solidFill>
            <a:prstDash val="solid"/>
            <a:headEnd type="none" w="med" len="med"/>
            <a:tailEnd type="none" w="med" len="med"/>
          </a:ln>
        </p:spPr>
      </p:sp>
      <p:sp>
        <p:nvSpPr>
          <p:cNvPr id="65543" name="Line 7"/>
          <p:cNvSpPr/>
          <p:nvPr/>
        </p:nvSpPr>
        <p:spPr>
          <a:xfrm>
            <a:off x="1908175" y="4292600"/>
            <a:ext cx="3960813" cy="1582738"/>
          </a:xfrm>
          <a:prstGeom prst="line">
            <a:avLst/>
          </a:prstGeom>
          <a:ln w="34925" cap="flat" cmpd="sng">
            <a:solidFill>
              <a:schemeClr val="tx2"/>
            </a:solidFill>
            <a:prstDash val="dash"/>
            <a:headEnd type="none" w="med" len="med"/>
            <a:tailEnd type="none" w="med" len="med"/>
          </a:ln>
        </p:spPr>
      </p:sp>
      <p:sp>
        <p:nvSpPr>
          <p:cNvPr id="65544" name="Line 8"/>
          <p:cNvSpPr/>
          <p:nvPr/>
        </p:nvSpPr>
        <p:spPr>
          <a:xfrm flipH="1">
            <a:off x="900113" y="3573463"/>
            <a:ext cx="2160587" cy="0"/>
          </a:xfrm>
          <a:prstGeom prst="line">
            <a:avLst/>
          </a:prstGeom>
          <a:ln w="25400" cap="rnd" cmpd="sng">
            <a:solidFill>
              <a:schemeClr val="tx2"/>
            </a:solidFill>
            <a:prstDash val="sysDot"/>
            <a:headEnd type="none" w="med" len="med"/>
            <a:tailEnd type="none" w="med" len="med"/>
          </a:ln>
        </p:spPr>
      </p:sp>
      <p:sp>
        <p:nvSpPr>
          <p:cNvPr id="65545" name="Line 9"/>
          <p:cNvSpPr/>
          <p:nvPr/>
        </p:nvSpPr>
        <p:spPr>
          <a:xfrm>
            <a:off x="3059113" y="3573463"/>
            <a:ext cx="0" cy="2447925"/>
          </a:xfrm>
          <a:prstGeom prst="line">
            <a:avLst/>
          </a:prstGeom>
          <a:ln w="25400" cap="rnd" cmpd="sng">
            <a:solidFill>
              <a:schemeClr val="tx2"/>
            </a:solidFill>
            <a:prstDash val="sysDot"/>
            <a:headEnd type="none" w="med" len="med"/>
            <a:tailEnd type="none" w="med" len="med"/>
          </a:ln>
        </p:spPr>
      </p:sp>
      <p:sp>
        <p:nvSpPr>
          <p:cNvPr id="65546" name="Line 10"/>
          <p:cNvSpPr/>
          <p:nvPr/>
        </p:nvSpPr>
        <p:spPr>
          <a:xfrm flipH="1">
            <a:off x="900113" y="4797425"/>
            <a:ext cx="2160587" cy="0"/>
          </a:xfrm>
          <a:prstGeom prst="line">
            <a:avLst/>
          </a:prstGeom>
          <a:ln w="25400" cap="rnd" cmpd="sng">
            <a:solidFill>
              <a:schemeClr val="tx2"/>
            </a:solidFill>
            <a:prstDash val="sysDot"/>
            <a:headEnd type="none" w="med" len="med"/>
            <a:tailEnd type="none" w="med" len="med"/>
          </a:ln>
        </p:spPr>
      </p:sp>
      <p:sp>
        <p:nvSpPr>
          <p:cNvPr id="65547" name="Line 11"/>
          <p:cNvSpPr/>
          <p:nvPr/>
        </p:nvSpPr>
        <p:spPr>
          <a:xfrm flipH="1">
            <a:off x="900113" y="4005263"/>
            <a:ext cx="3384550" cy="0"/>
          </a:xfrm>
          <a:prstGeom prst="line">
            <a:avLst/>
          </a:prstGeom>
          <a:ln w="25400" cap="rnd" cmpd="sng">
            <a:solidFill>
              <a:schemeClr val="tx2"/>
            </a:solidFill>
            <a:prstDash val="sysDot"/>
            <a:headEnd type="none" w="med" len="med"/>
            <a:tailEnd type="none" w="med" len="med"/>
          </a:ln>
        </p:spPr>
      </p:sp>
      <p:sp>
        <p:nvSpPr>
          <p:cNvPr id="65548" name="Line 12"/>
          <p:cNvSpPr/>
          <p:nvPr/>
        </p:nvSpPr>
        <p:spPr>
          <a:xfrm>
            <a:off x="4284663" y="4076700"/>
            <a:ext cx="0" cy="1944688"/>
          </a:xfrm>
          <a:prstGeom prst="line">
            <a:avLst/>
          </a:prstGeom>
          <a:ln w="25400" cap="rnd" cmpd="sng">
            <a:solidFill>
              <a:schemeClr val="tx2"/>
            </a:solidFill>
            <a:prstDash val="sysDot"/>
            <a:headEnd type="none" w="med" len="med"/>
            <a:tailEnd type="none" w="med" len="med"/>
          </a:ln>
        </p:spPr>
      </p:sp>
      <p:sp>
        <p:nvSpPr>
          <p:cNvPr id="65549" name="Text Box 13"/>
          <p:cNvSpPr txBox="1"/>
          <p:nvPr/>
        </p:nvSpPr>
        <p:spPr>
          <a:xfrm>
            <a:off x="323850" y="3429000"/>
            <a:ext cx="755650" cy="366713"/>
          </a:xfrm>
          <a:prstGeom prst="rect">
            <a:avLst/>
          </a:prstGeom>
          <a:noFill/>
          <a:ln w="38100">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3.3</a:t>
            </a:r>
            <a:endParaRPr lang="en-US" altLang="zh-CN" dirty="0">
              <a:solidFill>
                <a:srgbClr val="000000"/>
              </a:solidFill>
              <a:latin typeface="宋体" panose="02010600030101010101" pitchFamily="2" charset="-122"/>
            </a:endParaRPr>
          </a:p>
        </p:txBody>
      </p:sp>
      <p:sp>
        <p:nvSpPr>
          <p:cNvPr id="65550" name="Text Box 14"/>
          <p:cNvSpPr txBox="1"/>
          <p:nvPr/>
        </p:nvSpPr>
        <p:spPr>
          <a:xfrm>
            <a:off x="323850" y="3933825"/>
            <a:ext cx="755650" cy="366713"/>
          </a:xfrm>
          <a:prstGeom prst="rect">
            <a:avLst/>
          </a:prstGeom>
          <a:noFill/>
          <a:ln w="38100">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3.0</a:t>
            </a:r>
            <a:endParaRPr lang="en-US" altLang="zh-CN" dirty="0">
              <a:solidFill>
                <a:srgbClr val="000000"/>
              </a:solidFill>
              <a:latin typeface="宋体" panose="02010600030101010101" pitchFamily="2" charset="-122"/>
            </a:endParaRPr>
          </a:p>
        </p:txBody>
      </p:sp>
      <p:sp>
        <p:nvSpPr>
          <p:cNvPr id="65551" name="Text Box 15"/>
          <p:cNvSpPr txBox="1"/>
          <p:nvPr/>
        </p:nvSpPr>
        <p:spPr>
          <a:xfrm>
            <a:off x="323850" y="4581525"/>
            <a:ext cx="755650" cy="366713"/>
          </a:xfrm>
          <a:prstGeom prst="rect">
            <a:avLst/>
          </a:prstGeom>
          <a:noFill/>
          <a:ln w="38100">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2.8</a:t>
            </a:r>
            <a:endParaRPr lang="en-US" altLang="zh-CN" dirty="0">
              <a:solidFill>
                <a:srgbClr val="000000"/>
              </a:solidFill>
              <a:latin typeface="宋体" panose="02010600030101010101" pitchFamily="2" charset="-122"/>
            </a:endParaRPr>
          </a:p>
        </p:txBody>
      </p:sp>
      <p:sp>
        <p:nvSpPr>
          <p:cNvPr id="65552" name="Text Box 16"/>
          <p:cNvSpPr txBox="1"/>
          <p:nvPr/>
        </p:nvSpPr>
        <p:spPr>
          <a:xfrm>
            <a:off x="4716463" y="3789363"/>
            <a:ext cx="2592387" cy="366712"/>
          </a:xfrm>
          <a:prstGeom prst="rect">
            <a:avLst/>
          </a:prstGeom>
          <a:noFill/>
          <a:ln w="38100">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E1</a:t>
            </a:r>
            <a:r>
              <a:rPr lang="zh-CN" altLang="en-US" b="0" dirty="0">
                <a:solidFill>
                  <a:srgbClr val="000000"/>
                </a:solidFill>
                <a:latin typeface="宋体" panose="02010600030101010101" pitchFamily="2" charset="-122"/>
              </a:rPr>
              <a:t>没有税收时的均衡</a:t>
            </a:r>
            <a:endParaRPr lang="zh-CN" altLang="en-US" b="0" dirty="0">
              <a:solidFill>
                <a:srgbClr val="000000"/>
              </a:solidFill>
              <a:latin typeface="宋体" panose="02010600030101010101" pitchFamily="2" charset="-122"/>
            </a:endParaRPr>
          </a:p>
        </p:txBody>
      </p:sp>
      <p:sp>
        <p:nvSpPr>
          <p:cNvPr id="65553" name="Text Box 17"/>
          <p:cNvSpPr txBox="1"/>
          <p:nvPr/>
        </p:nvSpPr>
        <p:spPr>
          <a:xfrm>
            <a:off x="3419475" y="4581525"/>
            <a:ext cx="2592388" cy="366713"/>
          </a:xfrm>
          <a:prstGeom prst="rect">
            <a:avLst/>
          </a:prstGeom>
          <a:noFill/>
          <a:ln w="38100">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E2</a:t>
            </a:r>
            <a:r>
              <a:rPr lang="zh-CN" altLang="en-US" b="0" dirty="0">
                <a:solidFill>
                  <a:srgbClr val="000000"/>
                </a:solidFill>
                <a:latin typeface="宋体" panose="02010600030101010101" pitchFamily="2" charset="-122"/>
              </a:rPr>
              <a:t>有税收时的均衡</a:t>
            </a:r>
            <a:endParaRPr lang="zh-CN" altLang="en-US" b="0" dirty="0">
              <a:solidFill>
                <a:srgbClr val="000000"/>
              </a:solidFill>
              <a:latin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p:cNvSpPr>
          <p:nvPr>
            <p:ph type="title"/>
          </p:nvPr>
        </p:nvSpPr>
        <p:spPr>
          <a:ln/>
        </p:spPr>
        <p:txBody>
          <a:bodyPr vert="horz" wrap="square" lIns="91440" tIns="45720" rIns="91440" bIns="45720" anchor="ctr" anchorCtr="0"/>
          <a:p>
            <a:pPr algn="l" eaLnBrk="1" hangingPunct="1"/>
            <a:r>
              <a:rPr lang="en-US" altLang="zh-CN" sz="3200" b="1" dirty="0">
                <a:solidFill>
                  <a:srgbClr val="000000"/>
                </a:solidFill>
                <a:latin typeface="宋体" panose="02010600030101010101" pitchFamily="2" charset="-122"/>
              </a:rPr>
              <a:t>          2</a:t>
            </a:r>
            <a:r>
              <a:rPr lang="zh-CN" altLang="en-US" sz="3200" b="1" dirty="0">
                <a:solidFill>
                  <a:srgbClr val="000000"/>
                </a:solidFill>
                <a:latin typeface="宋体" panose="02010600030101010101" pitchFamily="2" charset="-122"/>
              </a:rPr>
              <a:t>、对卖者征税</a:t>
            </a:r>
            <a:br>
              <a:rPr lang="zh-CN" altLang="en-US" sz="3200" b="1" dirty="0">
                <a:solidFill>
                  <a:srgbClr val="000000"/>
                </a:solidFill>
                <a:latin typeface="宋体" panose="02010600030101010101" pitchFamily="2" charset="-122"/>
              </a:rPr>
            </a:br>
            <a:r>
              <a:rPr lang="zh-CN" altLang="en-US" sz="3200" b="1" dirty="0">
                <a:solidFill>
                  <a:srgbClr val="000000"/>
                </a:solidFill>
                <a:latin typeface="宋体" panose="02010600030101010101" pitchFamily="2" charset="-122"/>
              </a:rPr>
              <a:t>假如税收</a:t>
            </a:r>
            <a:r>
              <a:rPr lang="en-US" altLang="zh-CN" sz="3200" b="1" dirty="0">
                <a:solidFill>
                  <a:srgbClr val="000000"/>
                </a:solidFill>
                <a:latin typeface="宋体" panose="02010600030101010101" pitchFamily="2" charset="-122"/>
              </a:rPr>
              <a:t>0.5</a:t>
            </a:r>
            <a:br>
              <a:rPr lang="en-US" altLang="zh-CN" sz="3200" b="1" dirty="0">
                <a:solidFill>
                  <a:srgbClr val="000000"/>
                </a:solidFill>
                <a:latin typeface="宋体" panose="02010600030101010101" pitchFamily="2" charset="-122"/>
              </a:rPr>
            </a:br>
            <a:r>
              <a:rPr lang="zh-CN" altLang="en-US" sz="3200" b="1" dirty="0">
                <a:solidFill>
                  <a:srgbClr val="000000"/>
                </a:solidFill>
                <a:latin typeface="宋体" panose="02010600030101010101" pitchFamily="2" charset="-122"/>
              </a:rPr>
              <a:t>征税后买者支付</a:t>
            </a:r>
            <a:r>
              <a:rPr lang="en-US" altLang="zh-CN" sz="3200" b="1" dirty="0">
                <a:solidFill>
                  <a:srgbClr val="000000"/>
                </a:solidFill>
                <a:latin typeface="宋体" panose="02010600030101010101" pitchFamily="2" charset="-122"/>
              </a:rPr>
              <a:t>3.3(</a:t>
            </a:r>
            <a:r>
              <a:rPr lang="zh-CN" altLang="en-US" sz="3200" b="1" dirty="0">
                <a:solidFill>
                  <a:srgbClr val="000000"/>
                </a:solidFill>
                <a:latin typeface="宋体" panose="02010600030101010101" pitchFamily="2" charset="-122"/>
              </a:rPr>
              <a:t>征税前</a:t>
            </a:r>
            <a:r>
              <a:rPr lang="en-US" altLang="zh-CN" sz="3200" b="1" dirty="0">
                <a:solidFill>
                  <a:srgbClr val="000000"/>
                </a:solidFill>
                <a:latin typeface="宋体" panose="02010600030101010101" pitchFamily="2" charset="-122"/>
              </a:rPr>
              <a:t>3.0)</a:t>
            </a:r>
            <a:br>
              <a:rPr lang="en-US" altLang="zh-CN" sz="3200" b="1" dirty="0">
                <a:solidFill>
                  <a:srgbClr val="000000"/>
                </a:solidFill>
                <a:latin typeface="宋体" panose="02010600030101010101" pitchFamily="2" charset="-122"/>
              </a:rPr>
            </a:br>
            <a:r>
              <a:rPr lang="zh-CN" altLang="en-US" sz="3200" b="1" dirty="0">
                <a:solidFill>
                  <a:srgbClr val="000000"/>
                </a:solidFill>
                <a:latin typeface="宋体" panose="02010600030101010101" pitchFamily="2" charset="-122"/>
              </a:rPr>
              <a:t>征税后卖者得到是</a:t>
            </a:r>
            <a:r>
              <a:rPr lang="en-US" altLang="zh-CN" sz="3200" b="1" dirty="0">
                <a:solidFill>
                  <a:srgbClr val="000000"/>
                </a:solidFill>
                <a:latin typeface="宋体" panose="02010600030101010101" pitchFamily="2" charset="-122"/>
              </a:rPr>
              <a:t>2.8(</a:t>
            </a:r>
            <a:r>
              <a:rPr lang="zh-CN" altLang="en-US" sz="3200" b="1" dirty="0">
                <a:solidFill>
                  <a:srgbClr val="000000"/>
                </a:solidFill>
                <a:latin typeface="宋体" panose="02010600030101010101" pitchFamily="2" charset="-122"/>
              </a:rPr>
              <a:t>征税前</a:t>
            </a:r>
            <a:r>
              <a:rPr lang="en-US" altLang="zh-CN" sz="3200" b="1" dirty="0">
                <a:solidFill>
                  <a:srgbClr val="000000"/>
                </a:solidFill>
                <a:latin typeface="宋体" panose="02010600030101010101" pitchFamily="2" charset="-122"/>
              </a:rPr>
              <a:t>3.0)</a:t>
            </a:r>
            <a:endParaRPr lang="en-US" altLang="zh-CN" sz="3200" b="1" dirty="0">
              <a:solidFill>
                <a:srgbClr val="000000"/>
              </a:solidFill>
              <a:latin typeface="宋体" panose="02010600030101010101" pitchFamily="2" charset="-122"/>
            </a:endParaRPr>
          </a:p>
        </p:txBody>
      </p:sp>
      <p:sp>
        <p:nvSpPr>
          <p:cNvPr id="66563" name="Line 3"/>
          <p:cNvSpPr/>
          <p:nvPr/>
        </p:nvSpPr>
        <p:spPr>
          <a:xfrm flipV="1">
            <a:off x="898525" y="2636838"/>
            <a:ext cx="0" cy="3382962"/>
          </a:xfrm>
          <a:prstGeom prst="line">
            <a:avLst/>
          </a:prstGeom>
          <a:ln w="38100" cap="flat" cmpd="sng">
            <a:solidFill>
              <a:schemeClr val="tx2"/>
            </a:solidFill>
            <a:prstDash val="solid"/>
            <a:headEnd type="none" w="med" len="med"/>
            <a:tailEnd type="stealth" w="lg" len="lg"/>
          </a:ln>
        </p:spPr>
      </p:sp>
      <p:sp>
        <p:nvSpPr>
          <p:cNvPr id="66564" name="Line 4"/>
          <p:cNvSpPr/>
          <p:nvPr/>
        </p:nvSpPr>
        <p:spPr>
          <a:xfrm>
            <a:off x="900113" y="6021388"/>
            <a:ext cx="5400675" cy="0"/>
          </a:xfrm>
          <a:prstGeom prst="line">
            <a:avLst/>
          </a:prstGeom>
          <a:ln w="38100" cap="flat" cmpd="sng">
            <a:solidFill>
              <a:schemeClr val="tx2"/>
            </a:solidFill>
            <a:prstDash val="solid"/>
            <a:headEnd type="none" w="med" len="med"/>
            <a:tailEnd type="stealth" w="lg" len="lg"/>
          </a:ln>
        </p:spPr>
      </p:sp>
      <p:sp>
        <p:nvSpPr>
          <p:cNvPr id="66565" name="Line 5"/>
          <p:cNvSpPr/>
          <p:nvPr/>
        </p:nvSpPr>
        <p:spPr>
          <a:xfrm flipV="1">
            <a:off x="1547813" y="3357563"/>
            <a:ext cx="3887787" cy="2303462"/>
          </a:xfrm>
          <a:prstGeom prst="line">
            <a:avLst/>
          </a:prstGeom>
          <a:ln w="31750" cap="flat" cmpd="sng">
            <a:solidFill>
              <a:schemeClr val="tx2"/>
            </a:solidFill>
            <a:prstDash val="solid"/>
            <a:headEnd type="none" w="med" len="med"/>
            <a:tailEnd type="none" w="med" len="med"/>
          </a:ln>
        </p:spPr>
      </p:sp>
      <p:sp>
        <p:nvSpPr>
          <p:cNvPr id="66566" name="Line 6"/>
          <p:cNvSpPr/>
          <p:nvPr/>
        </p:nvSpPr>
        <p:spPr>
          <a:xfrm>
            <a:off x="2051050" y="3141663"/>
            <a:ext cx="3960813" cy="1582737"/>
          </a:xfrm>
          <a:prstGeom prst="line">
            <a:avLst/>
          </a:prstGeom>
          <a:ln w="31750" cap="flat" cmpd="sng">
            <a:solidFill>
              <a:schemeClr val="tx2"/>
            </a:solidFill>
            <a:prstDash val="solid"/>
            <a:headEnd type="none" w="med" len="med"/>
            <a:tailEnd type="none" w="med" len="med"/>
          </a:ln>
        </p:spPr>
      </p:sp>
      <p:sp>
        <p:nvSpPr>
          <p:cNvPr id="66567" name="Line 7"/>
          <p:cNvSpPr/>
          <p:nvPr/>
        </p:nvSpPr>
        <p:spPr>
          <a:xfrm flipV="1">
            <a:off x="971550" y="2781300"/>
            <a:ext cx="3311525" cy="2087563"/>
          </a:xfrm>
          <a:prstGeom prst="line">
            <a:avLst/>
          </a:prstGeom>
          <a:ln w="34925" cap="flat" cmpd="sng">
            <a:solidFill>
              <a:schemeClr val="tx2"/>
            </a:solidFill>
            <a:prstDash val="dash"/>
            <a:headEnd type="none" w="med" len="med"/>
            <a:tailEnd type="none" w="med" len="med"/>
          </a:ln>
        </p:spPr>
      </p:sp>
      <p:sp>
        <p:nvSpPr>
          <p:cNvPr id="66568" name="Line 8"/>
          <p:cNvSpPr/>
          <p:nvPr/>
        </p:nvSpPr>
        <p:spPr>
          <a:xfrm flipH="1">
            <a:off x="900113" y="3573463"/>
            <a:ext cx="2160587" cy="0"/>
          </a:xfrm>
          <a:prstGeom prst="line">
            <a:avLst/>
          </a:prstGeom>
          <a:ln w="25400" cap="rnd" cmpd="sng">
            <a:solidFill>
              <a:schemeClr val="tx2"/>
            </a:solidFill>
            <a:prstDash val="sysDot"/>
            <a:headEnd type="none" w="med" len="med"/>
            <a:tailEnd type="none" w="med" len="med"/>
          </a:ln>
        </p:spPr>
      </p:sp>
      <p:sp>
        <p:nvSpPr>
          <p:cNvPr id="66569" name="Line 9"/>
          <p:cNvSpPr/>
          <p:nvPr/>
        </p:nvSpPr>
        <p:spPr>
          <a:xfrm>
            <a:off x="3059113" y="3573463"/>
            <a:ext cx="0" cy="2447925"/>
          </a:xfrm>
          <a:prstGeom prst="line">
            <a:avLst/>
          </a:prstGeom>
          <a:ln w="25400" cap="rnd" cmpd="sng">
            <a:solidFill>
              <a:schemeClr val="tx2"/>
            </a:solidFill>
            <a:prstDash val="sysDot"/>
            <a:headEnd type="none" w="med" len="med"/>
            <a:tailEnd type="none" w="med" len="med"/>
          </a:ln>
        </p:spPr>
      </p:sp>
      <p:sp>
        <p:nvSpPr>
          <p:cNvPr id="66570" name="Line 10"/>
          <p:cNvSpPr/>
          <p:nvPr/>
        </p:nvSpPr>
        <p:spPr>
          <a:xfrm flipH="1">
            <a:off x="900113" y="4797425"/>
            <a:ext cx="2160587" cy="0"/>
          </a:xfrm>
          <a:prstGeom prst="line">
            <a:avLst/>
          </a:prstGeom>
          <a:ln w="25400" cap="rnd" cmpd="sng">
            <a:solidFill>
              <a:schemeClr val="tx2"/>
            </a:solidFill>
            <a:prstDash val="sysDot"/>
            <a:headEnd type="none" w="med" len="med"/>
            <a:tailEnd type="none" w="med" len="med"/>
          </a:ln>
        </p:spPr>
      </p:sp>
      <p:sp>
        <p:nvSpPr>
          <p:cNvPr id="66571" name="Line 11"/>
          <p:cNvSpPr/>
          <p:nvPr/>
        </p:nvSpPr>
        <p:spPr>
          <a:xfrm flipH="1">
            <a:off x="900113" y="4005263"/>
            <a:ext cx="3384550" cy="0"/>
          </a:xfrm>
          <a:prstGeom prst="line">
            <a:avLst/>
          </a:prstGeom>
          <a:ln w="25400" cap="rnd" cmpd="sng">
            <a:solidFill>
              <a:schemeClr val="tx2"/>
            </a:solidFill>
            <a:prstDash val="sysDot"/>
            <a:headEnd type="none" w="med" len="med"/>
            <a:tailEnd type="none" w="med" len="med"/>
          </a:ln>
        </p:spPr>
      </p:sp>
      <p:sp>
        <p:nvSpPr>
          <p:cNvPr id="66572" name="Line 12"/>
          <p:cNvSpPr/>
          <p:nvPr/>
        </p:nvSpPr>
        <p:spPr>
          <a:xfrm>
            <a:off x="4284663" y="4076700"/>
            <a:ext cx="0" cy="1944688"/>
          </a:xfrm>
          <a:prstGeom prst="line">
            <a:avLst/>
          </a:prstGeom>
          <a:ln w="25400" cap="rnd" cmpd="sng">
            <a:solidFill>
              <a:schemeClr val="tx2"/>
            </a:solidFill>
            <a:prstDash val="sysDot"/>
            <a:headEnd type="none" w="med" len="med"/>
            <a:tailEnd type="none" w="med" len="med"/>
          </a:ln>
        </p:spPr>
      </p:sp>
      <p:sp>
        <p:nvSpPr>
          <p:cNvPr id="66573" name="Text Box 13"/>
          <p:cNvSpPr txBox="1"/>
          <p:nvPr/>
        </p:nvSpPr>
        <p:spPr>
          <a:xfrm>
            <a:off x="323850" y="3429000"/>
            <a:ext cx="755650" cy="366713"/>
          </a:xfrm>
          <a:prstGeom prst="rect">
            <a:avLst/>
          </a:prstGeom>
          <a:noFill/>
          <a:ln w="38100">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3.3</a:t>
            </a:r>
            <a:endParaRPr lang="en-US" altLang="zh-CN" dirty="0">
              <a:solidFill>
                <a:srgbClr val="000000"/>
              </a:solidFill>
              <a:latin typeface="宋体" panose="02010600030101010101" pitchFamily="2" charset="-122"/>
            </a:endParaRPr>
          </a:p>
        </p:txBody>
      </p:sp>
      <p:sp>
        <p:nvSpPr>
          <p:cNvPr id="66574" name="Text Box 14"/>
          <p:cNvSpPr txBox="1"/>
          <p:nvPr/>
        </p:nvSpPr>
        <p:spPr>
          <a:xfrm>
            <a:off x="323850" y="3933825"/>
            <a:ext cx="755650" cy="366713"/>
          </a:xfrm>
          <a:prstGeom prst="rect">
            <a:avLst/>
          </a:prstGeom>
          <a:noFill/>
          <a:ln w="38100">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3.0</a:t>
            </a:r>
            <a:endParaRPr lang="en-US" altLang="zh-CN" dirty="0">
              <a:solidFill>
                <a:srgbClr val="000000"/>
              </a:solidFill>
              <a:latin typeface="宋体" panose="02010600030101010101" pitchFamily="2" charset="-122"/>
            </a:endParaRPr>
          </a:p>
        </p:txBody>
      </p:sp>
      <p:sp>
        <p:nvSpPr>
          <p:cNvPr id="66575" name="Text Box 15"/>
          <p:cNvSpPr txBox="1"/>
          <p:nvPr/>
        </p:nvSpPr>
        <p:spPr>
          <a:xfrm>
            <a:off x="323850" y="4581525"/>
            <a:ext cx="755650" cy="366713"/>
          </a:xfrm>
          <a:prstGeom prst="rect">
            <a:avLst/>
          </a:prstGeom>
          <a:noFill/>
          <a:ln w="38100">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2.8</a:t>
            </a:r>
            <a:endParaRPr lang="en-US" altLang="zh-CN" dirty="0">
              <a:solidFill>
                <a:srgbClr val="000000"/>
              </a:solidFill>
              <a:latin typeface="宋体" panose="02010600030101010101" pitchFamily="2" charset="-122"/>
            </a:endParaRPr>
          </a:p>
        </p:txBody>
      </p:sp>
      <p:sp>
        <p:nvSpPr>
          <p:cNvPr id="66576" name="Text Box 16"/>
          <p:cNvSpPr txBox="1"/>
          <p:nvPr/>
        </p:nvSpPr>
        <p:spPr>
          <a:xfrm>
            <a:off x="4716463" y="3789363"/>
            <a:ext cx="2592387" cy="366712"/>
          </a:xfrm>
          <a:prstGeom prst="rect">
            <a:avLst/>
          </a:prstGeom>
          <a:noFill/>
          <a:ln w="38100">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E1</a:t>
            </a:r>
            <a:r>
              <a:rPr lang="zh-CN" altLang="en-US" b="0" dirty="0">
                <a:solidFill>
                  <a:srgbClr val="000000"/>
                </a:solidFill>
                <a:latin typeface="宋体" panose="02010600030101010101" pitchFamily="2" charset="-122"/>
              </a:rPr>
              <a:t>没有税收时的均衡</a:t>
            </a:r>
            <a:endParaRPr lang="zh-CN" altLang="en-US" b="0" dirty="0">
              <a:solidFill>
                <a:srgbClr val="000000"/>
              </a:solidFill>
              <a:latin typeface="宋体" panose="02010600030101010101" pitchFamily="2" charset="-122"/>
            </a:endParaRPr>
          </a:p>
        </p:txBody>
      </p:sp>
      <p:sp>
        <p:nvSpPr>
          <p:cNvPr id="66577" name="Text Box 17"/>
          <p:cNvSpPr txBox="1"/>
          <p:nvPr/>
        </p:nvSpPr>
        <p:spPr>
          <a:xfrm>
            <a:off x="3276600" y="3284538"/>
            <a:ext cx="2592388" cy="366712"/>
          </a:xfrm>
          <a:prstGeom prst="rect">
            <a:avLst/>
          </a:prstGeom>
          <a:noFill/>
          <a:ln w="38100">
            <a:noFill/>
          </a:ln>
        </p:spPr>
        <p:txBody>
          <a:bodyPr>
            <a:spAutoFit/>
          </a:bodyPr>
          <a:p>
            <a:pPr marL="609600" indent="-609600">
              <a:spcBef>
                <a:spcPct val="50000"/>
              </a:spcBef>
              <a:buNone/>
            </a:pPr>
            <a:r>
              <a:rPr lang="en-US" altLang="zh-CN" dirty="0">
                <a:solidFill>
                  <a:srgbClr val="000000"/>
                </a:solidFill>
                <a:latin typeface="宋体" panose="02010600030101010101" pitchFamily="2" charset="-122"/>
              </a:rPr>
              <a:t>E2</a:t>
            </a:r>
            <a:r>
              <a:rPr lang="zh-CN" altLang="en-US" b="0" dirty="0">
                <a:solidFill>
                  <a:srgbClr val="000000"/>
                </a:solidFill>
                <a:latin typeface="宋体" panose="02010600030101010101" pitchFamily="2" charset="-122"/>
              </a:rPr>
              <a:t>有税收时的均衡</a:t>
            </a:r>
            <a:endParaRPr lang="zh-CN" altLang="en-US" b="0" dirty="0">
              <a:solidFill>
                <a:srgbClr val="000000"/>
              </a:solidFill>
              <a:latin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a:xfrm>
            <a:off x="684213" y="260350"/>
            <a:ext cx="7772400" cy="1143000"/>
          </a:xfrm>
          <a:ln/>
        </p:spPr>
        <p:txBody>
          <a:bodyPr vert="horz" wrap="square" lIns="91440" tIns="45720" rIns="91440" bIns="45720" anchor="ctr" anchorCtr="0"/>
          <a:p>
            <a:pPr algn="l" eaLnBrk="1" hangingPunct="1"/>
            <a:r>
              <a:rPr lang="zh-CN" altLang="en-US" sz="3200" b="1" dirty="0">
                <a:solidFill>
                  <a:srgbClr val="000000"/>
                </a:solidFill>
                <a:latin typeface="宋体" panose="02010600030101010101" pitchFamily="2" charset="-122"/>
              </a:rPr>
              <a:t>税收负担如何分摊</a:t>
            </a:r>
            <a:br>
              <a:rPr lang="zh-CN" altLang="en-US" sz="3200" b="1" dirty="0">
                <a:solidFill>
                  <a:srgbClr val="000000"/>
                </a:solidFill>
                <a:latin typeface="宋体" panose="02010600030101010101" pitchFamily="2" charset="-122"/>
              </a:rPr>
            </a:br>
            <a:r>
              <a:rPr lang="en-US" altLang="zh-CN" sz="3200" b="1" dirty="0">
                <a:solidFill>
                  <a:srgbClr val="000000"/>
                </a:solidFill>
                <a:latin typeface="宋体" panose="02010600030101010101" pitchFamily="2" charset="-122"/>
              </a:rPr>
              <a:t>(a)</a:t>
            </a:r>
            <a:r>
              <a:rPr lang="zh-CN" altLang="en-US" sz="3200" b="1" dirty="0">
                <a:solidFill>
                  <a:srgbClr val="000000"/>
                </a:solidFill>
                <a:latin typeface="宋体" panose="02010600030101010101" pitchFamily="2" charset="-122"/>
              </a:rPr>
              <a:t>供给富有弹性，需求缺乏弹性</a:t>
            </a:r>
            <a:br>
              <a:rPr lang="zh-CN" altLang="en-US" sz="3200" b="1" dirty="0">
                <a:solidFill>
                  <a:srgbClr val="000000"/>
                </a:solidFill>
                <a:latin typeface="宋体" panose="02010600030101010101" pitchFamily="2" charset="-122"/>
              </a:rPr>
            </a:br>
            <a:r>
              <a:rPr lang="zh-CN" altLang="en-US" sz="3200" b="1" dirty="0">
                <a:solidFill>
                  <a:srgbClr val="000000"/>
                </a:solidFill>
                <a:latin typeface="宋体" panose="02010600030101010101" pitchFamily="2" charset="-122"/>
              </a:rPr>
              <a:t>税收更多由消费者承担</a:t>
            </a:r>
            <a:endParaRPr lang="zh-CN" altLang="en-US" sz="3200" b="1" dirty="0">
              <a:solidFill>
                <a:srgbClr val="000000"/>
              </a:solidFill>
              <a:latin typeface="宋体" panose="02010600030101010101" pitchFamily="2" charset="-122"/>
            </a:endParaRPr>
          </a:p>
        </p:txBody>
      </p:sp>
      <p:sp>
        <p:nvSpPr>
          <p:cNvPr id="67587" name="Line 3"/>
          <p:cNvSpPr/>
          <p:nvPr/>
        </p:nvSpPr>
        <p:spPr>
          <a:xfrm flipV="1">
            <a:off x="2484438" y="2133600"/>
            <a:ext cx="0" cy="3382963"/>
          </a:xfrm>
          <a:prstGeom prst="line">
            <a:avLst/>
          </a:prstGeom>
          <a:ln w="38100" cap="flat" cmpd="sng">
            <a:solidFill>
              <a:schemeClr val="tx2"/>
            </a:solidFill>
            <a:prstDash val="solid"/>
            <a:headEnd type="none" w="med" len="med"/>
            <a:tailEnd type="stealth" w="lg" len="lg"/>
          </a:ln>
        </p:spPr>
      </p:sp>
      <p:sp>
        <p:nvSpPr>
          <p:cNvPr id="67588" name="Line 4"/>
          <p:cNvSpPr/>
          <p:nvPr/>
        </p:nvSpPr>
        <p:spPr>
          <a:xfrm>
            <a:off x="2484438" y="5516563"/>
            <a:ext cx="5400675" cy="0"/>
          </a:xfrm>
          <a:prstGeom prst="line">
            <a:avLst/>
          </a:prstGeom>
          <a:ln w="38100" cap="flat" cmpd="sng">
            <a:solidFill>
              <a:schemeClr val="tx2"/>
            </a:solidFill>
            <a:prstDash val="solid"/>
            <a:headEnd type="none" w="med" len="med"/>
            <a:tailEnd type="stealth" w="lg" len="lg"/>
          </a:ln>
        </p:spPr>
      </p:sp>
      <p:sp>
        <p:nvSpPr>
          <p:cNvPr id="67589" name="Line 5"/>
          <p:cNvSpPr/>
          <p:nvPr/>
        </p:nvSpPr>
        <p:spPr>
          <a:xfrm flipV="1">
            <a:off x="3492500" y="3357563"/>
            <a:ext cx="4319588" cy="1798637"/>
          </a:xfrm>
          <a:prstGeom prst="line">
            <a:avLst/>
          </a:prstGeom>
          <a:ln w="31750" cap="flat" cmpd="sng">
            <a:solidFill>
              <a:schemeClr val="tx2"/>
            </a:solidFill>
            <a:prstDash val="solid"/>
            <a:headEnd type="none" w="med" len="med"/>
            <a:tailEnd type="none" w="med" len="med"/>
          </a:ln>
        </p:spPr>
      </p:sp>
      <p:sp>
        <p:nvSpPr>
          <p:cNvPr id="67590" name="Line 6"/>
          <p:cNvSpPr/>
          <p:nvPr/>
        </p:nvSpPr>
        <p:spPr>
          <a:xfrm>
            <a:off x="4572000" y="2060575"/>
            <a:ext cx="1439863" cy="3168650"/>
          </a:xfrm>
          <a:prstGeom prst="line">
            <a:avLst/>
          </a:prstGeom>
          <a:ln w="31750" cap="flat" cmpd="sng">
            <a:solidFill>
              <a:schemeClr val="tx2"/>
            </a:solidFill>
            <a:prstDash val="solid"/>
            <a:headEnd type="none" w="med" len="med"/>
            <a:tailEnd type="none" w="med" len="med"/>
          </a:ln>
        </p:spPr>
      </p:sp>
      <p:sp>
        <p:nvSpPr>
          <p:cNvPr id="67591" name="Line 7"/>
          <p:cNvSpPr/>
          <p:nvPr/>
        </p:nvSpPr>
        <p:spPr>
          <a:xfrm flipV="1">
            <a:off x="3348038" y="1844675"/>
            <a:ext cx="3889375" cy="1655763"/>
          </a:xfrm>
          <a:prstGeom prst="line">
            <a:avLst/>
          </a:prstGeom>
          <a:ln w="34925" cap="flat" cmpd="sng">
            <a:solidFill>
              <a:schemeClr val="tx2"/>
            </a:solidFill>
            <a:prstDash val="dash"/>
            <a:headEnd type="none" w="med" len="med"/>
            <a:tailEnd type="none" w="med" len="med"/>
          </a:ln>
        </p:spPr>
      </p:sp>
      <p:sp>
        <p:nvSpPr>
          <p:cNvPr id="67592" name="Line 8"/>
          <p:cNvSpPr/>
          <p:nvPr/>
        </p:nvSpPr>
        <p:spPr>
          <a:xfrm flipH="1">
            <a:off x="2484438" y="2852738"/>
            <a:ext cx="2447925" cy="0"/>
          </a:xfrm>
          <a:prstGeom prst="line">
            <a:avLst/>
          </a:prstGeom>
          <a:ln w="25400" cap="rnd" cmpd="sng">
            <a:solidFill>
              <a:schemeClr val="tx2"/>
            </a:solidFill>
            <a:prstDash val="sysDot"/>
            <a:headEnd type="none" w="med" len="med"/>
            <a:tailEnd type="none" w="med" len="med"/>
          </a:ln>
        </p:spPr>
      </p:sp>
      <p:sp>
        <p:nvSpPr>
          <p:cNvPr id="67593" name="Line 9"/>
          <p:cNvSpPr/>
          <p:nvPr/>
        </p:nvSpPr>
        <p:spPr>
          <a:xfrm flipH="1">
            <a:off x="2484438" y="4581525"/>
            <a:ext cx="2303462" cy="0"/>
          </a:xfrm>
          <a:prstGeom prst="line">
            <a:avLst/>
          </a:prstGeom>
          <a:ln w="25400" cap="rnd" cmpd="sng">
            <a:solidFill>
              <a:schemeClr val="tx2"/>
            </a:solidFill>
            <a:prstDash val="sysDot"/>
            <a:headEnd type="none" w="med" len="med"/>
            <a:tailEnd type="none" w="med" len="med"/>
          </a:ln>
        </p:spPr>
      </p:sp>
      <p:sp>
        <p:nvSpPr>
          <p:cNvPr id="67594" name="Line 10"/>
          <p:cNvSpPr/>
          <p:nvPr/>
        </p:nvSpPr>
        <p:spPr>
          <a:xfrm flipH="1">
            <a:off x="2484438" y="4292600"/>
            <a:ext cx="3095625" cy="0"/>
          </a:xfrm>
          <a:prstGeom prst="line">
            <a:avLst/>
          </a:prstGeom>
          <a:ln w="25400" cap="rnd" cmpd="sng">
            <a:solidFill>
              <a:schemeClr val="tx2"/>
            </a:solidFill>
            <a:prstDash val="sysDot"/>
            <a:headEnd type="none" w="med" len="med"/>
            <a:tailEnd type="none" w="med" len="med"/>
          </a:ln>
        </p:spPr>
      </p:sp>
      <p:sp>
        <p:nvSpPr>
          <p:cNvPr id="67595" name="Line 11"/>
          <p:cNvSpPr/>
          <p:nvPr/>
        </p:nvSpPr>
        <p:spPr>
          <a:xfrm>
            <a:off x="4859338" y="2852738"/>
            <a:ext cx="0" cy="1728787"/>
          </a:xfrm>
          <a:prstGeom prst="line">
            <a:avLst/>
          </a:prstGeom>
          <a:ln w="25400" cap="rnd" cmpd="sng">
            <a:solidFill>
              <a:schemeClr val="tx2"/>
            </a:solidFill>
            <a:prstDash val="sysDot"/>
            <a:headEnd type="none" w="med" len="med"/>
            <a:tailEnd type="none" w="med" len="med"/>
          </a:ln>
        </p:spPr>
      </p:sp>
      <p:sp>
        <p:nvSpPr>
          <p:cNvPr id="67596" name="Text Box 12"/>
          <p:cNvSpPr txBox="1"/>
          <p:nvPr/>
        </p:nvSpPr>
        <p:spPr>
          <a:xfrm>
            <a:off x="0" y="4437063"/>
            <a:ext cx="2592388" cy="396875"/>
          </a:xfrm>
          <a:prstGeom prst="rect">
            <a:avLst/>
          </a:prstGeom>
          <a:noFill/>
          <a:ln w="38100">
            <a:noFill/>
          </a:ln>
        </p:spPr>
        <p:txBody>
          <a:bodyPr>
            <a:spAutoFit/>
          </a:bodyPr>
          <a:p>
            <a:pPr marL="609600" indent="-609600" eaLnBrk="0" hangingPunct="0">
              <a:lnSpc>
                <a:spcPct val="100000"/>
              </a:lnSpc>
              <a:spcBef>
                <a:spcPct val="50000"/>
              </a:spcBef>
              <a:buNone/>
            </a:pPr>
            <a:r>
              <a:rPr lang="zh-CN" altLang="en-US" b="0" dirty="0">
                <a:solidFill>
                  <a:srgbClr val="000000"/>
                </a:solidFill>
                <a:latin typeface="宋体" panose="02010600030101010101" pitchFamily="2" charset="-122"/>
              </a:rPr>
              <a:t>税后卖者得到的价格</a:t>
            </a:r>
            <a:endParaRPr lang="zh-CN" altLang="en-US" b="0" dirty="0">
              <a:solidFill>
                <a:srgbClr val="000000"/>
              </a:solidFill>
              <a:latin typeface="宋体" panose="02010600030101010101" pitchFamily="2" charset="-122"/>
            </a:endParaRPr>
          </a:p>
        </p:txBody>
      </p:sp>
      <p:sp>
        <p:nvSpPr>
          <p:cNvPr id="67597" name="Text Box 13"/>
          <p:cNvSpPr txBox="1"/>
          <p:nvPr/>
        </p:nvSpPr>
        <p:spPr>
          <a:xfrm>
            <a:off x="0" y="2636838"/>
            <a:ext cx="2592388" cy="396875"/>
          </a:xfrm>
          <a:prstGeom prst="rect">
            <a:avLst/>
          </a:prstGeom>
          <a:noFill/>
          <a:ln w="38100">
            <a:noFill/>
          </a:ln>
        </p:spPr>
        <p:txBody>
          <a:bodyPr>
            <a:spAutoFit/>
          </a:bodyPr>
          <a:p>
            <a:pPr marL="609600" indent="-609600" eaLnBrk="0" hangingPunct="0">
              <a:lnSpc>
                <a:spcPct val="100000"/>
              </a:lnSpc>
              <a:spcBef>
                <a:spcPct val="50000"/>
              </a:spcBef>
              <a:buNone/>
            </a:pPr>
            <a:r>
              <a:rPr lang="zh-CN" altLang="en-US" b="0" dirty="0">
                <a:solidFill>
                  <a:srgbClr val="000000"/>
                </a:solidFill>
                <a:latin typeface="宋体" panose="02010600030101010101" pitchFamily="2" charset="-122"/>
              </a:rPr>
              <a:t>税后买者支付的价格</a:t>
            </a:r>
            <a:endParaRPr lang="zh-CN" altLang="en-US" b="0" dirty="0">
              <a:solidFill>
                <a:srgbClr val="000000"/>
              </a:solidFill>
              <a:latin typeface="宋体" panose="02010600030101010101" pitchFamily="2" charset="-122"/>
            </a:endParaRPr>
          </a:p>
        </p:txBody>
      </p:sp>
      <p:sp>
        <p:nvSpPr>
          <p:cNvPr id="67598" name="Text Box 14"/>
          <p:cNvSpPr txBox="1"/>
          <p:nvPr/>
        </p:nvSpPr>
        <p:spPr>
          <a:xfrm>
            <a:off x="323850" y="4005263"/>
            <a:ext cx="2195513" cy="396875"/>
          </a:xfrm>
          <a:prstGeom prst="rect">
            <a:avLst/>
          </a:prstGeom>
          <a:noFill/>
          <a:ln w="38100">
            <a:noFill/>
          </a:ln>
        </p:spPr>
        <p:txBody>
          <a:bodyPr>
            <a:spAutoFit/>
          </a:bodyPr>
          <a:p>
            <a:pPr marL="609600" indent="-609600" eaLnBrk="0" hangingPunct="0">
              <a:lnSpc>
                <a:spcPct val="100000"/>
              </a:lnSpc>
              <a:spcBef>
                <a:spcPct val="50000"/>
              </a:spcBef>
              <a:buNone/>
            </a:pPr>
            <a:r>
              <a:rPr lang="zh-CN" altLang="en-US" b="0" dirty="0">
                <a:solidFill>
                  <a:srgbClr val="000000"/>
                </a:solidFill>
                <a:latin typeface="宋体" panose="02010600030101010101" pitchFamily="2" charset="-122"/>
              </a:rPr>
              <a:t>没有税收的价格</a:t>
            </a:r>
            <a:endParaRPr lang="zh-CN" altLang="en-US" b="0" dirty="0">
              <a:solidFill>
                <a:srgbClr val="000000"/>
              </a:solidFill>
              <a:latin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type="title"/>
          </p:nvPr>
        </p:nvSpPr>
        <p:spPr>
          <a:xfrm>
            <a:off x="684213" y="260350"/>
            <a:ext cx="7772400" cy="1584325"/>
          </a:xfrm>
          <a:ln/>
        </p:spPr>
        <p:txBody>
          <a:bodyPr vert="horz" wrap="square" lIns="91440" tIns="45720" rIns="91440" bIns="45720" anchor="ctr" anchorCtr="0"/>
          <a:p>
            <a:pPr algn="l" eaLnBrk="1" hangingPunct="1"/>
            <a:r>
              <a:rPr lang="en-US" altLang="zh-CN" sz="2800" b="1" dirty="0">
                <a:solidFill>
                  <a:srgbClr val="000000"/>
                </a:solidFill>
                <a:latin typeface="宋体" panose="02010600030101010101" pitchFamily="2" charset="-122"/>
              </a:rPr>
              <a:t>(b)</a:t>
            </a:r>
            <a:r>
              <a:rPr lang="zh-CN" altLang="en-US" sz="2800" b="1" dirty="0">
                <a:solidFill>
                  <a:srgbClr val="000000"/>
                </a:solidFill>
                <a:latin typeface="宋体" panose="02010600030101010101" pitchFamily="2" charset="-122"/>
              </a:rPr>
              <a:t>供给缺乏弹性，需求富有弹性</a:t>
            </a:r>
            <a:br>
              <a:rPr lang="zh-CN" altLang="en-US" sz="2800" b="1" dirty="0">
                <a:solidFill>
                  <a:srgbClr val="000000"/>
                </a:solidFill>
                <a:latin typeface="宋体" panose="02010600030101010101" pitchFamily="2" charset="-122"/>
              </a:rPr>
            </a:br>
            <a:r>
              <a:rPr lang="zh-CN" altLang="en-US" sz="2800" b="1" dirty="0">
                <a:solidFill>
                  <a:srgbClr val="000000"/>
                </a:solidFill>
                <a:latin typeface="宋体" panose="02010600030101010101" pitchFamily="2" charset="-122"/>
              </a:rPr>
              <a:t>税收更多地由卖者承担</a:t>
            </a:r>
            <a:br>
              <a:rPr lang="zh-CN" altLang="en-US" sz="2800" b="1" dirty="0">
                <a:solidFill>
                  <a:srgbClr val="000000"/>
                </a:solidFill>
                <a:latin typeface="宋体" panose="02010600030101010101" pitchFamily="2" charset="-122"/>
              </a:rPr>
            </a:br>
            <a:r>
              <a:rPr lang="zh-CN" altLang="en-US" sz="2000" dirty="0">
                <a:solidFill>
                  <a:srgbClr val="000000"/>
                </a:solidFill>
                <a:latin typeface="宋体" panose="02010600030101010101" pitchFamily="2" charset="-122"/>
              </a:rPr>
              <a:t>最后的结论</a:t>
            </a:r>
            <a:r>
              <a:rPr lang="en-US" altLang="zh-CN" sz="2000" dirty="0">
                <a:solidFill>
                  <a:srgbClr val="000000"/>
                </a:solidFill>
                <a:latin typeface="宋体" panose="02010600030101010101" pitchFamily="2" charset="-122"/>
              </a:rPr>
              <a:t>:</a:t>
            </a:r>
            <a:r>
              <a:rPr lang="zh-CN" altLang="en-US" sz="2000" dirty="0">
                <a:solidFill>
                  <a:srgbClr val="000000"/>
                </a:solidFill>
                <a:latin typeface="宋体" panose="02010600030101010101" pitchFamily="2" charset="-122"/>
              </a:rPr>
              <a:t>税收是更多由缺乏弹性一方承担</a:t>
            </a:r>
            <a:br>
              <a:rPr lang="zh-CN" altLang="en-US" sz="2000" dirty="0">
                <a:solidFill>
                  <a:srgbClr val="000000"/>
                </a:solidFill>
                <a:latin typeface="宋体" panose="02010600030101010101" pitchFamily="2" charset="-122"/>
              </a:rPr>
            </a:br>
            <a:r>
              <a:rPr lang="en-US" altLang="zh-CN" sz="2000" dirty="0">
                <a:solidFill>
                  <a:srgbClr val="000000"/>
                </a:solidFill>
                <a:latin typeface="宋体" panose="02010600030101010101" pitchFamily="2" charset="-122"/>
              </a:rPr>
              <a:t>(</a:t>
            </a:r>
            <a:r>
              <a:rPr lang="zh-CN" altLang="en-US" sz="2000" dirty="0">
                <a:solidFill>
                  <a:srgbClr val="000000"/>
                </a:solidFill>
                <a:latin typeface="宋体" panose="02010600030101010101" pitchFamily="2" charset="-122"/>
              </a:rPr>
              <a:t>需求弹性小意味着买者对消费这种物品没有适当替代他品。</a:t>
            </a:r>
            <a:br>
              <a:rPr lang="zh-CN" altLang="en-US" sz="2000" dirty="0">
                <a:solidFill>
                  <a:srgbClr val="000000"/>
                </a:solidFill>
                <a:latin typeface="宋体" panose="02010600030101010101" pitchFamily="2" charset="-122"/>
              </a:rPr>
            </a:br>
            <a:r>
              <a:rPr lang="zh-CN" altLang="en-US" sz="2000" dirty="0">
                <a:solidFill>
                  <a:srgbClr val="000000"/>
                </a:solidFill>
                <a:latin typeface="宋体" panose="02010600030101010101" pitchFamily="2" charset="-122"/>
              </a:rPr>
              <a:t>供给弹性小意味着卖者对生产这种物品没有适当的替代品。</a:t>
            </a:r>
            <a:r>
              <a:rPr lang="en-US" altLang="zh-CN" sz="2000" dirty="0">
                <a:solidFill>
                  <a:srgbClr val="000000"/>
                </a:solidFill>
                <a:latin typeface="宋体" panose="02010600030101010101" pitchFamily="2" charset="-122"/>
              </a:rPr>
              <a:t>)</a:t>
            </a:r>
            <a:endParaRPr lang="en-US" altLang="zh-CN" sz="2000" dirty="0">
              <a:solidFill>
                <a:srgbClr val="000000"/>
              </a:solidFill>
              <a:latin typeface="宋体" panose="02010600030101010101" pitchFamily="2" charset="-122"/>
            </a:endParaRPr>
          </a:p>
        </p:txBody>
      </p:sp>
      <p:sp>
        <p:nvSpPr>
          <p:cNvPr id="68611" name="Line 3"/>
          <p:cNvSpPr/>
          <p:nvPr/>
        </p:nvSpPr>
        <p:spPr>
          <a:xfrm flipV="1">
            <a:off x="2484438" y="2133600"/>
            <a:ext cx="0" cy="3382963"/>
          </a:xfrm>
          <a:prstGeom prst="line">
            <a:avLst/>
          </a:prstGeom>
          <a:ln w="38100" cap="flat" cmpd="sng">
            <a:solidFill>
              <a:schemeClr val="tx2"/>
            </a:solidFill>
            <a:prstDash val="solid"/>
            <a:headEnd type="none" w="med" len="med"/>
            <a:tailEnd type="stealth" w="lg" len="lg"/>
          </a:ln>
        </p:spPr>
      </p:sp>
      <p:sp>
        <p:nvSpPr>
          <p:cNvPr id="68612" name="Line 4"/>
          <p:cNvSpPr/>
          <p:nvPr/>
        </p:nvSpPr>
        <p:spPr>
          <a:xfrm>
            <a:off x="2484438" y="5516563"/>
            <a:ext cx="5400675" cy="0"/>
          </a:xfrm>
          <a:prstGeom prst="line">
            <a:avLst/>
          </a:prstGeom>
          <a:ln w="38100" cap="flat" cmpd="sng">
            <a:solidFill>
              <a:schemeClr val="tx2"/>
            </a:solidFill>
            <a:prstDash val="solid"/>
            <a:headEnd type="none" w="med" len="med"/>
            <a:tailEnd type="stealth" w="lg" len="lg"/>
          </a:ln>
        </p:spPr>
      </p:sp>
      <p:sp>
        <p:nvSpPr>
          <p:cNvPr id="68613" name="Line 5"/>
          <p:cNvSpPr/>
          <p:nvPr/>
        </p:nvSpPr>
        <p:spPr>
          <a:xfrm flipV="1">
            <a:off x="2987675" y="2205038"/>
            <a:ext cx="2376488" cy="3095625"/>
          </a:xfrm>
          <a:prstGeom prst="line">
            <a:avLst/>
          </a:prstGeom>
          <a:ln w="31750" cap="flat" cmpd="sng">
            <a:solidFill>
              <a:schemeClr val="tx2"/>
            </a:solidFill>
            <a:prstDash val="solid"/>
            <a:headEnd type="none" w="med" len="med"/>
            <a:tailEnd type="none" w="med" len="med"/>
          </a:ln>
        </p:spPr>
      </p:sp>
      <p:sp>
        <p:nvSpPr>
          <p:cNvPr id="68614" name="Line 6"/>
          <p:cNvSpPr/>
          <p:nvPr/>
        </p:nvSpPr>
        <p:spPr>
          <a:xfrm>
            <a:off x="3059113" y="2420938"/>
            <a:ext cx="4032250" cy="936625"/>
          </a:xfrm>
          <a:prstGeom prst="line">
            <a:avLst/>
          </a:prstGeom>
          <a:ln w="31750" cap="flat" cmpd="sng">
            <a:solidFill>
              <a:schemeClr val="tx2"/>
            </a:solidFill>
            <a:prstDash val="solid"/>
            <a:headEnd type="none" w="med" len="med"/>
            <a:tailEnd type="none" w="med" len="med"/>
          </a:ln>
        </p:spPr>
      </p:sp>
      <p:sp>
        <p:nvSpPr>
          <p:cNvPr id="68615" name="Line 7"/>
          <p:cNvSpPr/>
          <p:nvPr/>
        </p:nvSpPr>
        <p:spPr>
          <a:xfrm flipH="1">
            <a:off x="2484438" y="2852738"/>
            <a:ext cx="2447925" cy="0"/>
          </a:xfrm>
          <a:prstGeom prst="line">
            <a:avLst/>
          </a:prstGeom>
          <a:ln w="25400" cap="rnd" cmpd="sng">
            <a:solidFill>
              <a:schemeClr val="tx2"/>
            </a:solidFill>
            <a:prstDash val="sysDot"/>
            <a:headEnd type="none" w="med" len="med"/>
            <a:tailEnd type="none" w="med" len="med"/>
          </a:ln>
        </p:spPr>
      </p:sp>
      <p:sp>
        <p:nvSpPr>
          <p:cNvPr id="68616" name="Line 8"/>
          <p:cNvSpPr/>
          <p:nvPr/>
        </p:nvSpPr>
        <p:spPr>
          <a:xfrm flipH="1">
            <a:off x="2411413" y="2565400"/>
            <a:ext cx="1368425" cy="0"/>
          </a:xfrm>
          <a:prstGeom prst="line">
            <a:avLst/>
          </a:prstGeom>
          <a:ln w="25400" cap="rnd" cmpd="sng">
            <a:solidFill>
              <a:schemeClr val="tx2"/>
            </a:solidFill>
            <a:prstDash val="sysDot"/>
            <a:headEnd type="none" w="med" len="med"/>
            <a:tailEnd type="none" w="med" len="med"/>
          </a:ln>
        </p:spPr>
      </p:sp>
      <p:sp>
        <p:nvSpPr>
          <p:cNvPr id="68617" name="Line 9"/>
          <p:cNvSpPr/>
          <p:nvPr/>
        </p:nvSpPr>
        <p:spPr>
          <a:xfrm flipH="1">
            <a:off x="2484438" y="4292600"/>
            <a:ext cx="1295400" cy="0"/>
          </a:xfrm>
          <a:prstGeom prst="line">
            <a:avLst/>
          </a:prstGeom>
          <a:ln w="25400" cap="rnd" cmpd="sng">
            <a:solidFill>
              <a:schemeClr val="tx2"/>
            </a:solidFill>
            <a:prstDash val="sysDot"/>
            <a:headEnd type="none" w="med" len="med"/>
            <a:tailEnd type="none" w="med" len="med"/>
          </a:ln>
        </p:spPr>
      </p:sp>
      <p:sp>
        <p:nvSpPr>
          <p:cNvPr id="68618" name="Line 10"/>
          <p:cNvSpPr/>
          <p:nvPr/>
        </p:nvSpPr>
        <p:spPr>
          <a:xfrm>
            <a:off x="3779838" y="2565400"/>
            <a:ext cx="0" cy="1728788"/>
          </a:xfrm>
          <a:prstGeom prst="line">
            <a:avLst/>
          </a:prstGeom>
          <a:ln w="25400" cap="rnd" cmpd="sng">
            <a:solidFill>
              <a:schemeClr val="tx2"/>
            </a:solidFill>
            <a:prstDash val="sysDot"/>
            <a:headEnd type="none" w="med" len="med"/>
            <a:tailEnd type="none" w="med" len="med"/>
          </a:ln>
        </p:spPr>
      </p:sp>
      <p:sp>
        <p:nvSpPr>
          <p:cNvPr id="68619" name="Text Box 11"/>
          <p:cNvSpPr txBox="1"/>
          <p:nvPr/>
        </p:nvSpPr>
        <p:spPr>
          <a:xfrm>
            <a:off x="0" y="4076700"/>
            <a:ext cx="2592388" cy="396875"/>
          </a:xfrm>
          <a:prstGeom prst="rect">
            <a:avLst/>
          </a:prstGeom>
          <a:noFill/>
          <a:ln w="38100">
            <a:noFill/>
          </a:ln>
        </p:spPr>
        <p:txBody>
          <a:bodyPr>
            <a:spAutoFit/>
          </a:bodyPr>
          <a:p>
            <a:pPr marL="609600" indent="-609600" eaLnBrk="0" hangingPunct="0">
              <a:lnSpc>
                <a:spcPct val="100000"/>
              </a:lnSpc>
              <a:spcBef>
                <a:spcPct val="50000"/>
              </a:spcBef>
              <a:buNone/>
            </a:pPr>
            <a:r>
              <a:rPr lang="zh-CN" altLang="en-US" b="0" dirty="0">
                <a:solidFill>
                  <a:srgbClr val="000000"/>
                </a:solidFill>
                <a:latin typeface="宋体" panose="02010600030101010101" pitchFamily="2" charset="-122"/>
              </a:rPr>
              <a:t>税后卖者得到的价格</a:t>
            </a:r>
            <a:endParaRPr lang="zh-CN" altLang="en-US" b="0" dirty="0">
              <a:solidFill>
                <a:srgbClr val="000000"/>
              </a:solidFill>
              <a:latin typeface="宋体" panose="02010600030101010101" pitchFamily="2" charset="-122"/>
            </a:endParaRPr>
          </a:p>
        </p:txBody>
      </p:sp>
      <p:sp>
        <p:nvSpPr>
          <p:cNvPr id="68620" name="Text Box 12"/>
          <p:cNvSpPr txBox="1"/>
          <p:nvPr/>
        </p:nvSpPr>
        <p:spPr>
          <a:xfrm>
            <a:off x="0" y="2276475"/>
            <a:ext cx="2592388" cy="396875"/>
          </a:xfrm>
          <a:prstGeom prst="rect">
            <a:avLst/>
          </a:prstGeom>
          <a:noFill/>
          <a:ln w="38100">
            <a:noFill/>
          </a:ln>
        </p:spPr>
        <p:txBody>
          <a:bodyPr>
            <a:spAutoFit/>
          </a:bodyPr>
          <a:p>
            <a:pPr marL="609600" indent="-609600" eaLnBrk="0" hangingPunct="0">
              <a:lnSpc>
                <a:spcPct val="100000"/>
              </a:lnSpc>
              <a:spcBef>
                <a:spcPct val="50000"/>
              </a:spcBef>
              <a:buNone/>
            </a:pPr>
            <a:r>
              <a:rPr lang="zh-CN" altLang="en-US" b="0" dirty="0">
                <a:solidFill>
                  <a:srgbClr val="000000"/>
                </a:solidFill>
                <a:latin typeface="宋体" panose="02010600030101010101" pitchFamily="2" charset="-122"/>
              </a:rPr>
              <a:t>税后买者支付的价格</a:t>
            </a:r>
            <a:endParaRPr lang="zh-CN" altLang="en-US" b="0" dirty="0">
              <a:solidFill>
                <a:srgbClr val="000000"/>
              </a:solidFill>
              <a:latin typeface="宋体" panose="02010600030101010101" pitchFamily="2" charset="-122"/>
            </a:endParaRPr>
          </a:p>
        </p:txBody>
      </p:sp>
      <p:sp>
        <p:nvSpPr>
          <p:cNvPr id="68621" name="Text Box 13"/>
          <p:cNvSpPr txBox="1"/>
          <p:nvPr/>
        </p:nvSpPr>
        <p:spPr>
          <a:xfrm>
            <a:off x="323850" y="2708275"/>
            <a:ext cx="2195513" cy="396875"/>
          </a:xfrm>
          <a:prstGeom prst="rect">
            <a:avLst/>
          </a:prstGeom>
          <a:noFill/>
          <a:ln w="38100">
            <a:noFill/>
          </a:ln>
        </p:spPr>
        <p:txBody>
          <a:bodyPr>
            <a:spAutoFit/>
          </a:bodyPr>
          <a:p>
            <a:pPr marL="609600" indent="-609600" eaLnBrk="0" hangingPunct="0">
              <a:lnSpc>
                <a:spcPct val="100000"/>
              </a:lnSpc>
              <a:spcBef>
                <a:spcPct val="50000"/>
              </a:spcBef>
              <a:buNone/>
            </a:pPr>
            <a:r>
              <a:rPr lang="zh-CN" altLang="en-US" b="0" dirty="0">
                <a:solidFill>
                  <a:srgbClr val="000000"/>
                </a:solidFill>
                <a:latin typeface="宋体" panose="02010600030101010101" pitchFamily="2" charset="-122"/>
              </a:rPr>
              <a:t>没有税收的价格</a:t>
            </a:r>
            <a:endParaRPr lang="zh-CN" altLang="en-US" b="0" dirty="0">
              <a:solidFill>
                <a:srgbClr val="000000"/>
              </a:solidFill>
              <a:latin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p:nvPr>
        </p:nvSpPr>
        <p:spPr>
          <a:xfrm>
            <a:off x="684213" y="0"/>
            <a:ext cx="7772400" cy="836613"/>
          </a:xfrm>
          <a:ln/>
        </p:spPr>
        <p:txBody>
          <a:bodyPr vert="horz" wrap="square" lIns="91440" tIns="45720" rIns="91440" bIns="45720" anchor="ctr" anchorCtr="0"/>
          <a:p>
            <a:pPr eaLnBrk="1" hangingPunct="1"/>
            <a:r>
              <a:rPr lang="zh-CN" altLang="en-US" b="1" dirty="0">
                <a:latin typeface="宋体" panose="02010600030101010101" pitchFamily="2" charset="-122"/>
              </a:rPr>
              <a:t>第三节	蛛网理论</a:t>
            </a:r>
            <a:endParaRPr lang="zh-CN" altLang="en-US" b="1" dirty="0">
              <a:latin typeface="宋体" panose="02010600030101010101" pitchFamily="2" charset="-122"/>
            </a:endParaRPr>
          </a:p>
        </p:txBody>
      </p:sp>
      <p:sp>
        <p:nvSpPr>
          <p:cNvPr id="69635" name="Rectangle 3"/>
          <p:cNvSpPr>
            <a:spLocks noGrp="1"/>
          </p:cNvSpPr>
          <p:nvPr>
            <p:ph idx="1"/>
          </p:nvPr>
        </p:nvSpPr>
        <p:spPr>
          <a:ln/>
        </p:spPr>
        <p:txBody>
          <a:bodyPr vert="horz" wrap="square" lIns="91440" tIns="45720" rIns="91440" bIns="45720" anchor="t" anchorCtr="0"/>
          <a:p>
            <a:pPr eaLnBrk="1" hangingPunct="1">
              <a:buNone/>
            </a:pPr>
            <a:r>
              <a:rPr lang="en-US" altLang="zh-CN" dirty="0"/>
              <a:t>        </a:t>
            </a:r>
            <a:r>
              <a:rPr lang="zh-CN" altLang="en-US" b="1" dirty="0">
                <a:solidFill>
                  <a:srgbClr val="000000"/>
                </a:solidFill>
              </a:rPr>
              <a:t>动态稳定                      动态不稳定</a:t>
            </a:r>
            <a:endParaRPr lang="zh-CN" altLang="en-US" b="1" dirty="0">
              <a:solidFill>
                <a:srgbClr val="000000"/>
              </a:solidFill>
            </a:endParaRPr>
          </a:p>
        </p:txBody>
      </p:sp>
      <p:sp>
        <p:nvSpPr>
          <p:cNvPr id="69636" name="Oval 4"/>
          <p:cNvSpPr/>
          <p:nvPr/>
        </p:nvSpPr>
        <p:spPr>
          <a:xfrm>
            <a:off x="2124075" y="4005263"/>
            <a:ext cx="647700" cy="647700"/>
          </a:xfrm>
          <a:prstGeom prst="ellipse">
            <a:avLst/>
          </a:prstGeom>
          <a:noFill/>
          <a:ln w="38100" cap="flat" cmpd="sng">
            <a:solidFill>
              <a:schemeClr val="tx2"/>
            </a:solidFill>
            <a:prstDash val="solid"/>
            <a:headEnd type="none" w="med" len="med"/>
            <a:tailEnd type="none" w="med" len="med"/>
          </a:ln>
        </p:spPr>
        <p:txBody>
          <a:bodyPr wrap="none" anchor="ctr" anchorCtr="0"/>
          <a:p>
            <a:endParaRPr lang="zh-CN" altLang="en-US" dirty="0">
              <a:latin typeface="宋体" panose="02010600030101010101" pitchFamily="2" charset="-122"/>
            </a:endParaRPr>
          </a:p>
        </p:txBody>
      </p:sp>
      <p:sp>
        <p:nvSpPr>
          <p:cNvPr id="69637" name="Oval 5"/>
          <p:cNvSpPr/>
          <p:nvPr/>
        </p:nvSpPr>
        <p:spPr>
          <a:xfrm>
            <a:off x="6300788" y="3933825"/>
            <a:ext cx="647700" cy="647700"/>
          </a:xfrm>
          <a:prstGeom prst="ellipse">
            <a:avLst/>
          </a:prstGeom>
          <a:noFill/>
          <a:ln w="38100" cap="flat" cmpd="sng">
            <a:solidFill>
              <a:schemeClr val="tx2"/>
            </a:solidFill>
            <a:prstDash val="solid"/>
            <a:headEnd type="none" w="med" len="med"/>
            <a:tailEnd type="none" w="med" len="med"/>
          </a:ln>
        </p:spPr>
        <p:txBody>
          <a:bodyPr wrap="none" anchor="ctr" anchorCtr="0"/>
          <a:p>
            <a:endParaRPr lang="zh-CN" altLang="en-US" dirty="0">
              <a:latin typeface="宋体" panose="02010600030101010101" pitchFamily="2" charset="-122"/>
            </a:endParaRPr>
          </a:p>
        </p:txBody>
      </p:sp>
      <p:sp>
        <p:nvSpPr>
          <p:cNvPr id="69638" name="Freeform 6"/>
          <p:cNvSpPr/>
          <p:nvPr/>
        </p:nvSpPr>
        <p:spPr>
          <a:xfrm>
            <a:off x="971550" y="3141663"/>
            <a:ext cx="2951163" cy="1522412"/>
          </a:xfrm>
          <a:custGeom>
            <a:avLst/>
            <a:gdLst/>
            <a:ahLst/>
            <a:cxnLst>
              <a:cxn ang="0">
                <a:pos x="0" y="71437"/>
              </a:cxn>
              <a:cxn ang="0">
                <a:pos x="1511300" y="1511300"/>
              </a:cxn>
              <a:cxn ang="0">
                <a:pos x="2951163" y="0"/>
              </a:cxn>
            </a:cxnLst>
            <a:pathLst>
              <a:path w="1859" h="959">
                <a:moveTo>
                  <a:pt x="0" y="45"/>
                </a:moveTo>
                <a:cubicBezTo>
                  <a:pt x="321" y="502"/>
                  <a:pt x="642" y="959"/>
                  <a:pt x="952" y="952"/>
                </a:cubicBezTo>
                <a:cubicBezTo>
                  <a:pt x="1262" y="945"/>
                  <a:pt x="1700" y="159"/>
                  <a:pt x="1859" y="0"/>
                </a:cubicBezTo>
              </a:path>
            </a:pathLst>
          </a:custGeom>
          <a:noFill/>
          <a:ln w="38100" cap="flat" cmpd="sng">
            <a:solidFill>
              <a:schemeClr val="tx2">
                <a:alpha val="100000"/>
              </a:schemeClr>
            </a:solidFill>
            <a:prstDash val="solid"/>
            <a:round/>
            <a:headEnd type="none" w="med" len="med"/>
            <a:tailEnd type="none" w="med" len="med"/>
          </a:ln>
        </p:spPr>
        <p:txBody>
          <a:bodyPr/>
          <a:p>
            <a:endParaRPr lang="zh-CN" altLang="en-US"/>
          </a:p>
        </p:txBody>
      </p:sp>
      <p:sp>
        <p:nvSpPr>
          <p:cNvPr id="69639" name="Freeform 7"/>
          <p:cNvSpPr/>
          <p:nvPr/>
        </p:nvSpPr>
        <p:spPr>
          <a:xfrm rot="10800000">
            <a:off x="5148263" y="4581525"/>
            <a:ext cx="2951162" cy="1522413"/>
          </a:xfrm>
          <a:custGeom>
            <a:avLst/>
            <a:gdLst/>
            <a:ahLst/>
            <a:cxnLst>
              <a:cxn ang="0">
                <a:pos x="0" y="71438"/>
              </a:cxn>
              <a:cxn ang="0">
                <a:pos x="1511300" y="1511300"/>
              </a:cxn>
              <a:cxn ang="0">
                <a:pos x="2951162" y="0"/>
              </a:cxn>
            </a:cxnLst>
            <a:pathLst>
              <a:path w="1859" h="959">
                <a:moveTo>
                  <a:pt x="0" y="45"/>
                </a:moveTo>
                <a:cubicBezTo>
                  <a:pt x="321" y="502"/>
                  <a:pt x="642" y="959"/>
                  <a:pt x="952" y="952"/>
                </a:cubicBezTo>
                <a:cubicBezTo>
                  <a:pt x="1262" y="945"/>
                  <a:pt x="1700" y="159"/>
                  <a:pt x="1859" y="0"/>
                </a:cubicBezTo>
              </a:path>
            </a:pathLst>
          </a:custGeom>
          <a:noFill/>
          <a:ln w="38100" cap="flat" cmpd="sng">
            <a:solidFill>
              <a:schemeClr val="tx2">
                <a:alpha val="100000"/>
              </a:schemeClr>
            </a:solidFill>
            <a:prstDash val="solid"/>
            <a:round/>
            <a:headEnd type="none" w="med" len="med"/>
            <a:tailEnd type="none" w="med" len="med"/>
          </a:ln>
        </p:spPr>
        <p:txBody>
          <a:bodyPr/>
          <a:p>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p:cNvSpPr>
          <p:nvPr>
            <p:ph idx="1"/>
          </p:nvPr>
        </p:nvSpPr>
        <p:spPr>
          <a:xfrm>
            <a:off x="685800" y="836613"/>
            <a:ext cx="7772400" cy="5400675"/>
          </a:xfrm>
          <a:ln/>
        </p:spPr>
        <p:txBody>
          <a:bodyPr vert="horz" wrap="square" lIns="91440" tIns="45720" rIns="91440" bIns="45720" anchor="t" anchorCtr="0"/>
          <a:p>
            <a:pPr marL="0" indent="0" eaLnBrk="1" hangingPunct="1">
              <a:buNone/>
            </a:pPr>
            <a:r>
              <a:rPr lang="zh-CN" altLang="en-US" sz="1800" b="1" dirty="0">
                <a:solidFill>
                  <a:srgbClr val="000000"/>
                </a:solidFill>
                <a:latin typeface="宋体" panose="02010600030101010101" pitchFamily="2" charset="-122"/>
              </a:rPr>
              <a:t>一、	收敛式模型</a:t>
            </a:r>
            <a:br>
              <a:rPr lang="zh-CN" altLang="en-US" sz="1800" b="1" dirty="0">
                <a:solidFill>
                  <a:srgbClr val="000000"/>
                </a:solidFill>
                <a:latin typeface="宋体" panose="02010600030101010101" pitchFamily="2" charset="-122"/>
              </a:rPr>
            </a:br>
            <a:r>
              <a:rPr lang="en-US" altLang="zh-CN" sz="1800" b="1" dirty="0">
                <a:solidFill>
                  <a:srgbClr val="000000"/>
                </a:solidFill>
                <a:latin typeface="宋体" panose="02010600030101010101" pitchFamily="2" charset="-122"/>
              </a:rPr>
              <a:t>P                 S               P</a:t>
            </a:r>
            <a:br>
              <a:rPr lang="en-US" altLang="zh-CN" sz="1800" b="1" dirty="0">
                <a:solidFill>
                  <a:srgbClr val="000000"/>
                </a:solidFill>
                <a:latin typeface="宋体" panose="02010600030101010101" pitchFamily="2" charset="-122"/>
              </a:rPr>
            </a:br>
            <a:br>
              <a:rPr lang="en-US" altLang="zh-CN" sz="1800" b="1" dirty="0">
                <a:solidFill>
                  <a:srgbClr val="000000"/>
                </a:solidFill>
                <a:latin typeface="宋体" panose="02010600030101010101" pitchFamily="2" charset="-122"/>
              </a:rPr>
            </a:br>
            <a:br>
              <a:rPr lang="en-US" altLang="zh-CN" sz="1800" b="1" dirty="0">
                <a:solidFill>
                  <a:srgbClr val="000000"/>
                </a:solidFill>
                <a:latin typeface="宋体" panose="02010600030101010101" pitchFamily="2" charset="-122"/>
              </a:rPr>
            </a:br>
            <a:endParaRPr lang="en-US" altLang="zh-CN" sz="1800" b="1" dirty="0">
              <a:solidFill>
                <a:srgbClr val="000000"/>
              </a:solidFill>
              <a:latin typeface="宋体" panose="02010600030101010101" pitchFamily="2" charset="-122"/>
            </a:endParaRPr>
          </a:p>
          <a:p>
            <a:pPr marL="0" indent="0" eaLnBrk="1" hangingPunct="1">
              <a:buNone/>
            </a:pPr>
            <a:r>
              <a:rPr lang="en-US" altLang="zh-CN" sz="1800" b="1" dirty="0">
                <a:solidFill>
                  <a:srgbClr val="000000"/>
                </a:solidFill>
                <a:latin typeface="宋体" panose="02010600030101010101" pitchFamily="2" charset="-122"/>
              </a:rPr>
              <a:t>P1</a:t>
            </a:r>
            <a:br>
              <a:rPr lang="en-US" altLang="zh-CN" sz="1800" b="1" dirty="0">
                <a:solidFill>
                  <a:srgbClr val="000000"/>
                </a:solidFill>
                <a:latin typeface="宋体" panose="02010600030101010101" pitchFamily="2" charset="-122"/>
              </a:rPr>
            </a:br>
            <a:endParaRPr lang="en-US" altLang="zh-CN" sz="1800" b="1" dirty="0">
              <a:solidFill>
                <a:srgbClr val="000000"/>
              </a:solidFill>
              <a:latin typeface="宋体" panose="02010600030101010101" pitchFamily="2" charset="-122"/>
            </a:endParaRPr>
          </a:p>
          <a:p>
            <a:pPr marL="0" indent="0" eaLnBrk="1" hangingPunct="1">
              <a:buNone/>
            </a:pPr>
            <a:r>
              <a:rPr lang="en-US" altLang="zh-CN" sz="1800" b="1" dirty="0">
                <a:solidFill>
                  <a:srgbClr val="000000"/>
                </a:solidFill>
                <a:latin typeface="宋体" panose="02010600030101010101" pitchFamily="2" charset="-122"/>
              </a:rPr>
              <a:t>P2</a:t>
            </a:r>
            <a:br>
              <a:rPr lang="en-US" altLang="zh-CN" sz="1800" b="1" dirty="0">
                <a:solidFill>
                  <a:srgbClr val="000000"/>
                </a:solidFill>
                <a:latin typeface="宋体" panose="02010600030101010101" pitchFamily="2" charset="-122"/>
              </a:rPr>
            </a:br>
            <a:r>
              <a:rPr lang="en-US" altLang="zh-CN" sz="1800" b="1" dirty="0">
                <a:solidFill>
                  <a:srgbClr val="000000"/>
                </a:solidFill>
                <a:latin typeface="宋体" panose="02010600030101010101" pitchFamily="2" charset="-122"/>
              </a:rPr>
              <a:t>  </a:t>
            </a:r>
            <a:br>
              <a:rPr lang="en-US" altLang="zh-CN" sz="1800" b="1" dirty="0">
                <a:solidFill>
                  <a:srgbClr val="000000"/>
                </a:solidFill>
                <a:latin typeface="宋体" panose="02010600030101010101" pitchFamily="2" charset="-122"/>
              </a:rPr>
            </a:br>
            <a:br>
              <a:rPr lang="en-US" altLang="zh-CN" sz="1800" b="1" dirty="0">
                <a:solidFill>
                  <a:srgbClr val="000000"/>
                </a:solidFill>
                <a:latin typeface="宋体" panose="02010600030101010101" pitchFamily="2" charset="-122"/>
              </a:rPr>
            </a:br>
            <a:r>
              <a:rPr lang="en-US" altLang="zh-CN" sz="1800" b="1" dirty="0">
                <a:solidFill>
                  <a:srgbClr val="000000"/>
                </a:solidFill>
                <a:latin typeface="宋体" panose="02010600030101010101" pitchFamily="2" charset="-122"/>
              </a:rPr>
              <a:t>                    D</a:t>
            </a:r>
            <a:br>
              <a:rPr lang="en-US" altLang="zh-CN" sz="1800" b="1" dirty="0">
                <a:solidFill>
                  <a:srgbClr val="000000"/>
                </a:solidFill>
                <a:latin typeface="宋体" panose="02010600030101010101" pitchFamily="2" charset="-122"/>
              </a:rPr>
            </a:br>
            <a:br>
              <a:rPr lang="en-US" altLang="zh-CN" sz="1800" b="1" dirty="0">
                <a:solidFill>
                  <a:srgbClr val="000000"/>
                </a:solidFill>
                <a:latin typeface="宋体" panose="02010600030101010101" pitchFamily="2" charset="-122"/>
              </a:rPr>
            </a:br>
            <a:r>
              <a:rPr lang="en-US" altLang="zh-CN" sz="1800" b="1" dirty="0">
                <a:solidFill>
                  <a:srgbClr val="000000"/>
                </a:solidFill>
                <a:latin typeface="宋体" panose="02010600030101010101" pitchFamily="2" charset="-122"/>
              </a:rPr>
              <a:t>  </a:t>
            </a:r>
            <a:endParaRPr lang="en-US" altLang="zh-CN" sz="1800" b="1" dirty="0">
              <a:solidFill>
                <a:srgbClr val="000000"/>
              </a:solidFill>
              <a:latin typeface="宋体" panose="02010600030101010101" pitchFamily="2" charset="-122"/>
            </a:endParaRPr>
          </a:p>
          <a:p>
            <a:pPr marL="0" indent="0" eaLnBrk="1" hangingPunct="1">
              <a:buNone/>
            </a:pPr>
            <a:r>
              <a:rPr lang="en-US" altLang="zh-CN" sz="1800" b="1" dirty="0">
                <a:solidFill>
                  <a:srgbClr val="000000"/>
                </a:solidFill>
                <a:latin typeface="宋体" panose="02010600030101010101" pitchFamily="2" charset="-122"/>
              </a:rPr>
              <a:t>0           Q2  Q1           Q    0             </a:t>
            </a:r>
            <a:r>
              <a:rPr lang="zh-CN" altLang="en-US" sz="1800" b="1" dirty="0">
                <a:solidFill>
                  <a:srgbClr val="000000"/>
                </a:solidFill>
                <a:latin typeface="宋体" panose="02010600030101010101" pitchFamily="2" charset="-122"/>
              </a:rPr>
              <a:t>时间</a:t>
            </a:r>
            <a:br>
              <a:rPr lang="zh-CN" altLang="en-US" sz="1800" b="1" dirty="0">
                <a:solidFill>
                  <a:srgbClr val="000000"/>
                </a:solidFill>
                <a:latin typeface="宋体" panose="02010600030101010101" pitchFamily="2" charset="-122"/>
              </a:rPr>
            </a:br>
            <a:br>
              <a:rPr lang="zh-CN" altLang="en-US" sz="1800" b="1" dirty="0">
                <a:solidFill>
                  <a:srgbClr val="000000"/>
                </a:solidFill>
                <a:latin typeface="宋体" panose="02010600030101010101" pitchFamily="2" charset="-122"/>
              </a:rPr>
            </a:br>
            <a:r>
              <a:rPr lang="zh-CN" altLang="en-US" sz="1800" b="1" dirty="0">
                <a:solidFill>
                  <a:srgbClr val="000000"/>
                </a:solidFill>
                <a:latin typeface="宋体" panose="02010600030101010101" pitchFamily="2" charset="-122"/>
              </a:rPr>
              <a:t>供给价格弹性</a:t>
            </a:r>
            <a:r>
              <a:rPr lang="en-US" altLang="zh-CN" sz="1800" b="1" dirty="0">
                <a:solidFill>
                  <a:srgbClr val="000000"/>
                </a:solidFill>
                <a:latin typeface="宋体" panose="02010600030101010101" pitchFamily="2" charset="-122"/>
              </a:rPr>
              <a:t>&lt;</a:t>
            </a:r>
            <a:r>
              <a:rPr lang="zh-CN" altLang="en-US" sz="1800" b="1" dirty="0">
                <a:solidFill>
                  <a:srgbClr val="000000"/>
                </a:solidFill>
                <a:latin typeface="宋体" panose="02010600030101010101" pitchFamily="2" charset="-122"/>
              </a:rPr>
              <a:t>需求价格弹性（蛛网稳定条件）</a:t>
            </a:r>
            <a:br>
              <a:rPr lang="zh-CN" altLang="en-US" sz="1800" b="1" dirty="0">
                <a:solidFill>
                  <a:srgbClr val="000000"/>
                </a:solidFill>
                <a:latin typeface="宋体" panose="02010600030101010101" pitchFamily="2" charset="-122"/>
              </a:rPr>
            </a:br>
            <a:endParaRPr lang="zh-CN" altLang="en-US" sz="1800" b="1" dirty="0">
              <a:solidFill>
                <a:srgbClr val="000000"/>
              </a:solidFill>
              <a:latin typeface="宋体" panose="02010600030101010101" pitchFamily="2" charset="-122"/>
            </a:endParaRPr>
          </a:p>
        </p:txBody>
      </p:sp>
      <p:grpSp>
        <p:nvGrpSpPr>
          <p:cNvPr id="70659" name="Group 3"/>
          <p:cNvGrpSpPr/>
          <p:nvPr/>
        </p:nvGrpSpPr>
        <p:grpSpPr>
          <a:xfrm>
            <a:off x="533400" y="1219200"/>
            <a:ext cx="7848600" cy="3581400"/>
            <a:chOff x="1797" y="6788"/>
            <a:chExt cx="8190" cy="2964"/>
          </a:xfrm>
        </p:grpSpPr>
        <p:sp>
          <p:nvSpPr>
            <p:cNvPr id="70660" name="Line 4"/>
            <p:cNvSpPr/>
            <p:nvPr/>
          </p:nvSpPr>
          <p:spPr>
            <a:xfrm>
              <a:off x="3162" y="7880"/>
              <a:ext cx="630" cy="0"/>
            </a:xfrm>
            <a:prstGeom prst="line">
              <a:avLst/>
            </a:prstGeom>
            <a:ln w="38100" cap="flat" cmpd="sng">
              <a:solidFill>
                <a:schemeClr val="tx2"/>
              </a:solidFill>
              <a:prstDash val="solid"/>
              <a:headEnd type="none" w="med" len="med"/>
              <a:tailEnd type="triangle" w="med" len="med"/>
            </a:ln>
          </p:spPr>
        </p:sp>
        <p:grpSp>
          <p:nvGrpSpPr>
            <p:cNvPr id="70661" name="Group 5"/>
            <p:cNvGrpSpPr/>
            <p:nvPr/>
          </p:nvGrpSpPr>
          <p:grpSpPr>
            <a:xfrm>
              <a:off x="1797" y="6788"/>
              <a:ext cx="8190" cy="2964"/>
              <a:chOff x="1797" y="11736"/>
              <a:chExt cx="8190" cy="2964"/>
            </a:xfrm>
          </p:grpSpPr>
          <p:sp>
            <p:nvSpPr>
              <p:cNvPr id="70667" name="Line 6"/>
              <p:cNvSpPr/>
              <p:nvPr/>
            </p:nvSpPr>
            <p:spPr>
              <a:xfrm flipV="1">
                <a:off x="2322" y="11736"/>
                <a:ext cx="0" cy="2964"/>
              </a:xfrm>
              <a:prstGeom prst="line">
                <a:avLst/>
              </a:prstGeom>
              <a:ln w="38100" cap="flat" cmpd="sng">
                <a:solidFill>
                  <a:schemeClr val="tx2"/>
                </a:solidFill>
                <a:prstDash val="solid"/>
                <a:headEnd type="none" w="med" len="med"/>
                <a:tailEnd type="triangle" w="med" len="med"/>
              </a:ln>
            </p:spPr>
          </p:sp>
          <p:sp>
            <p:nvSpPr>
              <p:cNvPr id="70668" name="Line 7"/>
              <p:cNvSpPr/>
              <p:nvPr/>
            </p:nvSpPr>
            <p:spPr>
              <a:xfrm>
                <a:off x="1797" y="14388"/>
                <a:ext cx="3885" cy="0"/>
              </a:xfrm>
              <a:prstGeom prst="line">
                <a:avLst/>
              </a:prstGeom>
              <a:ln w="38100" cap="flat" cmpd="sng">
                <a:solidFill>
                  <a:schemeClr val="tx2"/>
                </a:solidFill>
                <a:prstDash val="solid"/>
                <a:headEnd type="none" w="med" len="med"/>
                <a:tailEnd type="triangle" w="med" len="med"/>
              </a:ln>
            </p:spPr>
          </p:sp>
          <p:sp>
            <p:nvSpPr>
              <p:cNvPr id="70669" name="Line 8"/>
              <p:cNvSpPr/>
              <p:nvPr/>
            </p:nvSpPr>
            <p:spPr>
              <a:xfrm flipV="1">
                <a:off x="6417" y="11736"/>
                <a:ext cx="0" cy="2964"/>
              </a:xfrm>
              <a:prstGeom prst="line">
                <a:avLst/>
              </a:prstGeom>
              <a:ln w="38100" cap="flat" cmpd="sng">
                <a:solidFill>
                  <a:schemeClr val="tx2"/>
                </a:solidFill>
                <a:prstDash val="solid"/>
                <a:headEnd type="none" w="med" len="med"/>
                <a:tailEnd type="triangle" w="med" len="med"/>
              </a:ln>
            </p:spPr>
          </p:sp>
          <p:sp>
            <p:nvSpPr>
              <p:cNvPr id="70670" name="Line 9"/>
              <p:cNvSpPr/>
              <p:nvPr/>
            </p:nvSpPr>
            <p:spPr>
              <a:xfrm>
                <a:off x="6102" y="14388"/>
                <a:ext cx="3885" cy="0"/>
              </a:xfrm>
              <a:prstGeom prst="line">
                <a:avLst/>
              </a:prstGeom>
              <a:ln w="38100" cap="flat" cmpd="sng">
                <a:solidFill>
                  <a:schemeClr val="tx2"/>
                </a:solidFill>
                <a:prstDash val="solid"/>
                <a:headEnd type="none" w="med" len="med"/>
                <a:tailEnd type="triangle" w="med" len="med"/>
              </a:ln>
            </p:spPr>
          </p:sp>
          <p:sp>
            <p:nvSpPr>
              <p:cNvPr id="70671" name="Line 10"/>
              <p:cNvSpPr/>
              <p:nvPr/>
            </p:nvSpPr>
            <p:spPr>
              <a:xfrm>
                <a:off x="2532" y="12516"/>
                <a:ext cx="2415" cy="1248"/>
              </a:xfrm>
              <a:prstGeom prst="line">
                <a:avLst/>
              </a:prstGeom>
              <a:ln w="38100" cap="flat" cmpd="sng">
                <a:solidFill>
                  <a:schemeClr val="tx2"/>
                </a:solidFill>
                <a:prstDash val="solid"/>
                <a:headEnd type="none" w="med" len="med"/>
                <a:tailEnd type="none" w="med" len="med"/>
              </a:ln>
            </p:spPr>
          </p:sp>
          <p:sp>
            <p:nvSpPr>
              <p:cNvPr id="70672" name="Line 11"/>
              <p:cNvSpPr/>
              <p:nvPr/>
            </p:nvSpPr>
            <p:spPr>
              <a:xfrm flipH="1">
                <a:off x="3267" y="11736"/>
                <a:ext cx="945" cy="2340"/>
              </a:xfrm>
              <a:prstGeom prst="line">
                <a:avLst/>
              </a:prstGeom>
              <a:ln w="38100" cap="flat" cmpd="sng">
                <a:solidFill>
                  <a:schemeClr val="tx2"/>
                </a:solidFill>
                <a:prstDash val="solid"/>
                <a:headEnd type="none" w="med" len="med"/>
                <a:tailEnd type="none" w="med" len="med"/>
              </a:ln>
            </p:spPr>
          </p:sp>
          <p:sp>
            <p:nvSpPr>
              <p:cNvPr id="70673" name="Line 12"/>
              <p:cNvSpPr/>
              <p:nvPr/>
            </p:nvSpPr>
            <p:spPr>
              <a:xfrm>
                <a:off x="3792" y="12828"/>
                <a:ext cx="5775" cy="0"/>
              </a:xfrm>
              <a:prstGeom prst="line">
                <a:avLst/>
              </a:prstGeom>
              <a:ln w="38100" cap="flat" cmpd="sng">
                <a:solidFill>
                  <a:schemeClr val="tx2"/>
                </a:solidFill>
                <a:prstDash val="dash"/>
                <a:headEnd type="none" w="med" len="med"/>
                <a:tailEnd type="none" w="med" len="med"/>
              </a:ln>
            </p:spPr>
          </p:sp>
          <p:sp>
            <p:nvSpPr>
              <p:cNvPr id="70674" name="Line 13"/>
              <p:cNvSpPr/>
              <p:nvPr/>
            </p:nvSpPr>
            <p:spPr>
              <a:xfrm>
                <a:off x="2322" y="13065"/>
                <a:ext cx="7245" cy="0"/>
              </a:xfrm>
              <a:prstGeom prst="line">
                <a:avLst/>
              </a:prstGeom>
              <a:ln w="38100" cap="flat" cmpd="sng">
                <a:solidFill>
                  <a:schemeClr val="tx2"/>
                </a:solidFill>
                <a:prstDash val="dash"/>
                <a:headEnd type="none" w="med" len="med"/>
                <a:tailEnd type="none" w="med" len="med"/>
              </a:ln>
            </p:spPr>
          </p:sp>
          <p:sp>
            <p:nvSpPr>
              <p:cNvPr id="70675" name="Line 14"/>
              <p:cNvSpPr/>
              <p:nvPr/>
            </p:nvSpPr>
            <p:spPr>
              <a:xfrm>
                <a:off x="2322" y="13170"/>
                <a:ext cx="7245" cy="0"/>
              </a:xfrm>
              <a:prstGeom prst="line">
                <a:avLst/>
              </a:prstGeom>
              <a:ln w="38100" cap="flat" cmpd="sng">
                <a:solidFill>
                  <a:schemeClr val="tx2"/>
                </a:solidFill>
                <a:prstDash val="dash"/>
                <a:headEnd type="none" w="med" len="med"/>
                <a:tailEnd type="none" w="med" len="med"/>
              </a:ln>
            </p:spPr>
          </p:sp>
        </p:grpSp>
        <p:sp>
          <p:nvSpPr>
            <p:cNvPr id="70662" name="Line 15"/>
            <p:cNvSpPr/>
            <p:nvPr/>
          </p:nvSpPr>
          <p:spPr>
            <a:xfrm>
              <a:off x="3792" y="7880"/>
              <a:ext cx="0" cy="312"/>
            </a:xfrm>
            <a:prstGeom prst="line">
              <a:avLst/>
            </a:prstGeom>
            <a:ln w="38100" cap="flat" cmpd="sng">
              <a:solidFill>
                <a:schemeClr val="tx2"/>
              </a:solidFill>
              <a:prstDash val="solid"/>
              <a:headEnd type="none" w="med" len="med"/>
              <a:tailEnd type="triangle" w="med" len="med"/>
            </a:ln>
          </p:spPr>
        </p:sp>
        <p:sp>
          <p:nvSpPr>
            <p:cNvPr id="70663" name="Line 16"/>
            <p:cNvSpPr/>
            <p:nvPr/>
          </p:nvSpPr>
          <p:spPr>
            <a:xfrm flipH="1">
              <a:off x="3582" y="8222"/>
              <a:ext cx="105" cy="0"/>
            </a:xfrm>
            <a:prstGeom prst="line">
              <a:avLst/>
            </a:prstGeom>
            <a:ln w="38100" cap="flat" cmpd="sng">
              <a:solidFill>
                <a:schemeClr val="tx2"/>
              </a:solidFill>
              <a:prstDash val="solid"/>
              <a:headEnd type="none" w="med" len="med"/>
              <a:tailEnd type="triangle" w="med" len="med"/>
            </a:ln>
          </p:spPr>
        </p:sp>
        <p:sp>
          <p:nvSpPr>
            <p:cNvPr id="70664" name="Line 17"/>
            <p:cNvSpPr/>
            <p:nvPr/>
          </p:nvSpPr>
          <p:spPr>
            <a:xfrm>
              <a:off x="6417" y="7880"/>
              <a:ext cx="525" cy="312"/>
            </a:xfrm>
            <a:prstGeom prst="line">
              <a:avLst/>
            </a:prstGeom>
            <a:ln w="38100" cap="flat" cmpd="sng">
              <a:solidFill>
                <a:schemeClr val="tx2"/>
              </a:solidFill>
              <a:prstDash val="solid"/>
              <a:headEnd type="none" w="med" len="med"/>
              <a:tailEnd type="none" w="med" len="med"/>
            </a:ln>
          </p:spPr>
        </p:sp>
        <p:sp>
          <p:nvSpPr>
            <p:cNvPr id="70665" name="Line 18"/>
            <p:cNvSpPr/>
            <p:nvPr/>
          </p:nvSpPr>
          <p:spPr>
            <a:xfrm flipV="1">
              <a:off x="6942" y="8036"/>
              <a:ext cx="315" cy="156"/>
            </a:xfrm>
            <a:prstGeom prst="line">
              <a:avLst/>
            </a:prstGeom>
            <a:ln w="38100" cap="flat" cmpd="sng">
              <a:solidFill>
                <a:schemeClr val="tx2"/>
              </a:solidFill>
              <a:prstDash val="solid"/>
              <a:headEnd type="none" w="med" len="med"/>
              <a:tailEnd type="none" w="med" len="med"/>
            </a:ln>
          </p:spPr>
        </p:sp>
        <p:sp>
          <p:nvSpPr>
            <p:cNvPr id="70666" name="Line 19"/>
            <p:cNvSpPr/>
            <p:nvPr/>
          </p:nvSpPr>
          <p:spPr>
            <a:xfrm>
              <a:off x="7257" y="8036"/>
              <a:ext cx="105" cy="156"/>
            </a:xfrm>
            <a:prstGeom prst="line">
              <a:avLst/>
            </a:prstGeom>
            <a:ln w="38100" cap="flat" cmpd="sng">
              <a:solidFill>
                <a:schemeClr val="tx2"/>
              </a:solidFill>
              <a:prstDash val="solid"/>
              <a:headEnd type="none" w="med" len="med"/>
              <a:tailEnd type="triangle" w="med" len="med"/>
            </a:ln>
          </p:spPr>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1682" name="Group 2"/>
          <p:cNvGrpSpPr/>
          <p:nvPr/>
        </p:nvGrpSpPr>
        <p:grpSpPr>
          <a:xfrm>
            <a:off x="1295400" y="1219200"/>
            <a:ext cx="6629400" cy="2743200"/>
            <a:chOff x="1587" y="10652"/>
            <a:chExt cx="8190" cy="3120"/>
          </a:xfrm>
        </p:grpSpPr>
        <p:sp>
          <p:nvSpPr>
            <p:cNvPr id="71684" name="Line 3"/>
            <p:cNvSpPr/>
            <p:nvPr/>
          </p:nvSpPr>
          <p:spPr>
            <a:xfrm flipV="1">
              <a:off x="2112" y="10808"/>
              <a:ext cx="0" cy="2964"/>
            </a:xfrm>
            <a:prstGeom prst="line">
              <a:avLst/>
            </a:prstGeom>
            <a:ln w="28575" cap="flat" cmpd="sng">
              <a:solidFill>
                <a:schemeClr val="tx2"/>
              </a:solidFill>
              <a:prstDash val="solid"/>
              <a:headEnd type="none" w="med" len="med"/>
              <a:tailEnd type="triangle" w="med" len="med"/>
            </a:ln>
          </p:spPr>
        </p:sp>
        <p:sp>
          <p:nvSpPr>
            <p:cNvPr id="71685" name="Line 4"/>
            <p:cNvSpPr/>
            <p:nvPr/>
          </p:nvSpPr>
          <p:spPr>
            <a:xfrm>
              <a:off x="1587" y="13460"/>
              <a:ext cx="3885" cy="0"/>
            </a:xfrm>
            <a:prstGeom prst="line">
              <a:avLst/>
            </a:prstGeom>
            <a:ln w="28575" cap="flat" cmpd="sng">
              <a:solidFill>
                <a:schemeClr val="tx2"/>
              </a:solidFill>
              <a:prstDash val="solid"/>
              <a:headEnd type="none" w="med" len="med"/>
              <a:tailEnd type="triangle" w="med" len="med"/>
            </a:ln>
          </p:spPr>
        </p:sp>
        <p:sp>
          <p:nvSpPr>
            <p:cNvPr id="71686" name="Line 5"/>
            <p:cNvSpPr/>
            <p:nvPr/>
          </p:nvSpPr>
          <p:spPr>
            <a:xfrm flipV="1">
              <a:off x="6207" y="10808"/>
              <a:ext cx="0" cy="2964"/>
            </a:xfrm>
            <a:prstGeom prst="line">
              <a:avLst/>
            </a:prstGeom>
            <a:ln w="28575" cap="flat" cmpd="sng">
              <a:solidFill>
                <a:schemeClr val="tx2"/>
              </a:solidFill>
              <a:prstDash val="solid"/>
              <a:headEnd type="none" w="med" len="med"/>
              <a:tailEnd type="triangle" w="med" len="med"/>
            </a:ln>
          </p:spPr>
        </p:sp>
        <p:sp>
          <p:nvSpPr>
            <p:cNvPr id="71687" name="Line 6"/>
            <p:cNvSpPr/>
            <p:nvPr/>
          </p:nvSpPr>
          <p:spPr>
            <a:xfrm>
              <a:off x="5892" y="13460"/>
              <a:ext cx="3885" cy="0"/>
            </a:xfrm>
            <a:prstGeom prst="line">
              <a:avLst/>
            </a:prstGeom>
            <a:ln w="28575" cap="flat" cmpd="sng">
              <a:solidFill>
                <a:schemeClr val="tx2"/>
              </a:solidFill>
              <a:prstDash val="solid"/>
              <a:headEnd type="none" w="med" len="med"/>
              <a:tailEnd type="triangle" w="med" len="med"/>
            </a:ln>
          </p:spPr>
        </p:sp>
        <p:sp>
          <p:nvSpPr>
            <p:cNvPr id="71688" name="Line 7"/>
            <p:cNvSpPr/>
            <p:nvPr/>
          </p:nvSpPr>
          <p:spPr>
            <a:xfrm>
              <a:off x="2637" y="10808"/>
              <a:ext cx="1575" cy="2496"/>
            </a:xfrm>
            <a:prstGeom prst="line">
              <a:avLst/>
            </a:prstGeom>
            <a:ln w="28575" cap="flat" cmpd="sng">
              <a:solidFill>
                <a:schemeClr val="tx2"/>
              </a:solidFill>
              <a:prstDash val="solid"/>
              <a:headEnd type="none" w="med" len="med"/>
              <a:tailEnd type="none" w="med" len="med"/>
            </a:ln>
          </p:spPr>
        </p:sp>
        <p:sp>
          <p:nvSpPr>
            <p:cNvPr id="71689" name="Line 8"/>
            <p:cNvSpPr/>
            <p:nvPr/>
          </p:nvSpPr>
          <p:spPr>
            <a:xfrm flipH="1">
              <a:off x="2112" y="11120"/>
              <a:ext cx="3150" cy="1872"/>
            </a:xfrm>
            <a:prstGeom prst="line">
              <a:avLst/>
            </a:prstGeom>
            <a:ln w="28575" cap="flat" cmpd="sng">
              <a:solidFill>
                <a:schemeClr val="tx2"/>
              </a:solidFill>
              <a:prstDash val="solid"/>
              <a:headEnd type="none" w="med" len="med"/>
              <a:tailEnd type="none" w="med" len="med"/>
            </a:ln>
          </p:spPr>
        </p:sp>
        <p:sp>
          <p:nvSpPr>
            <p:cNvPr id="71690" name="Line 9"/>
            <p:cNvSpPr/>
            <p:nvPr/>
          </p:nvSpPr>
          <p:spPr>
            <a:xfrm>
              <a:off x="2112" y="11900"/>
              <a:ext cx="7245" cy="0"/>
            </a:xfrm>
            <a:prstGeom prst="line">
              <a:avLst/>
            </a:prstGeom>
            <a:ln w="28575" cap="flat" cmpd="sng">
              <a:solidFill>
                <a:schemeClr val="tx2"/>
              </a:solidFill>
              <a:prstDash val="dash"/>
              <a:headEnd type="none" w="med" len="med"/>
              <a:tailEnd type="none" w="med" len="med"/>
            </a:ln>
          </p:spPr>
        </p:sp>
        <p:sp>
          <p:nvSpPr>
            <p:cNvPr id="71691" name="Line 10"/>
            <p:cNvSpPr/>
            <p:nvPr/>
          </p:nvSpPr>
          <p:spPr>
            <a:xfrm>
              <a:off x="2112" y="12137"/>
              <a:ext cx="7245" cy="0"/>
            </a:xfrm>
            <a:prstGeom prst="line">
              <a:avLst/>
            </a:prstGeom>
            <a:ln w="28575" cap="flat" cmpd="sng">
              <a:solidFill>
                <a:schemeClr val="tx2"/>
              </a:solidFill>
              <a:prstDash val="dash"/>
              <a:headEnd type="none" w="med" len="med"/>
              <a:tailEnd type="none" w="med" len="med"/>
            </a:ln>
          </p:spPr>
        </p:sp>
        <p:sp>
          <p:nvSpPr>
            <p:cNvPr id="71692" name="Line 11"/>
            <p:cNvSpPr/>
            <p:nvPr/>
          </p:nvSpPr>
          <p:spPr>
            <a:xfrm>
              <a:off x="2112" y="12836"/>
              <a:ext cx="7140" cy="0"/>
            </a:xfrm>
            <a:prstGeom prst="line">
              <a:avLst/>
            </a:prstGeom>
            <a:ln w="28575" cap="flat" cmpd="sng">
              <a:solidFill>
                <a:schemeClr val="tx2"/>
              </a:solidFill>
              <a:prstDash val="dash"/>
              <a:headEnd type="none" w="med" len="med"/>
              <a:tailEnd type="none" w="med" len="med"/>
            </a:ln>
          </p:spPr>
        </p:sp>
        <p:sp>
          <p:nvSpPr>
            <p:cNvPr id="71693" name="Line 12"/>
            <p:cNvSpPr/>
            <p:nvPr/>
          </p:nvSpPr>
          <p:spPr>
            <a:xfrm>
              <a:off x="3897" y="11900"/>
              <a:ext cx="0" cy="936"/>
            </a:xfrm>
            <a:prstGeom prst="line">
              <a:avLst/>
            </a:prstGeom>
            <a:ln w="28575" cap="flat" cmpd="sng">
              <a:solidFill>
                <a:schemeClr val="tx2"/>
              </a:solidFill>
              <a:prstDash val="solid"/>
              <a:headEnd type="none" w="med" len="med"/>
              <a:tailEnd type="triangle" w="med" len="med"/>
            </a:ln>
          </p:spPr>
        </p:sp>
        <p:sp>
          <p:nvSpPr>
            <p:cNvPr id="71694" name="Line 13"/>
            <p:cNvSpPr/>
            <p:nvPr/>
          </p:nvSpPr>
          <p:spPr>
            <a:xfrm flipH="1">
              <a:off x="2322" y="12836"/>
              <a:ext cx="1575" cy="0"/>
            </a:xfrm>
            <a:prstGeom prst="line">
              <a:avLst/>
            </a:prstGeom>
            <a:ln w="28575" cap="flat" cmpd="sng">
              <a:solidFill>
                <a:schemeClr val="tx2"/>
              </a:solidFill>
              <a:prstDash val="solid"/>
              <a:headEnd type="none" w="med" len="med"/>
              <a:tailEnd type="triangle" w="med" len="med"/>
            </a:ln>
          </p:spPr>
        </p:sp>
        <p:sp>
          <p:nvSpPr>
            <p:cNvPr id="71695" name="Line 14"/>
            <p:cNvSpPr/>
            <p:nvPr/>
          </p:nvSpPr>
          <p:spPr>
            <a:xfrm flipV="1">
              <a:off x="2322" y="10652"/>
              <a:ext cx="0" cy="2184"/>
            </a:xfrm>
            <a:prstGeom prst="line">
              <a:avLst/>
            </a:prstGeom>
            <a:ln w="28575" cap="flat" cmpd="sng">
              <a:solidFill>
                <a:schemeClr val="tx2"/>
              </a:solidFill>
              <a:prstDash val="solid"/>
              <a:headEnd type="none" w="med" len="med"/>
              <a:tailEnd type="triangle" w="med" len="med"/>
            </a:ln>
          </p:spPr>
        </p:sp>
        <p:sp>
          <p:nvSpPr>
            <p:cNvPr id="71696" name="Line 15"/>
            <p:cNvSpPr/>
            <p:nvPr/>
          </p:nvSpPr>
          <p:spPr>
            <a:xfrm>
              <a:off x="6207" y="11900"/>
              <a:ext cx="315" cy="936"/>
            </a:xfrm>
            <a:prstGeom prst="line">
              <a:avLst/>
            </a:prstGeom>
            <a:ln w="28575" cap="flat" cmpd="sng">
              <a:solidFill>
                <a:schemeClr val="tx2"/>
              </a:solidFill>
              <a:prstDash val="solid"/>
              <a:headEnd type="none" w="med" len="med"/>
              <a:tailEnd type="none" w="med" len="med"/>
            </a:ln>
          </p:spPr>
        </p:sp>
        <p:sp>
          <p:nvSpPr>
            <p:cNvPr id="71697" name="Line 16"/>
            <p:cNvSpPr/>
            <p:nvPr/>
          </p:nvSpPr>
          <p:spPr>
            <a:xfrm flipV="1">
              <a:off x="6522" y="10808"/>
              <a:ext cx="945" cy="2028"/>
            </a:xfrm>
            <a:prstGeom prst="line">
              <a:avLst/>
            </a:prstGeom>
            <a:ln w="28575" cap="flat" cmpd="sng">
              <a:solidFill>
                <a:schemeClr val="tx2"/>
              </a:solidFill>
              <a:prstDash val="solid"/>
              <a:headEnd type="none" w="med" len="med"/>
              <a:tailEnd type="none" w="med" len="med"/>
            </a:ln>
          </p:spPr>
        </p:sp>
        <p:sp>
          <p:nvSpPr>
            <p:cNvPr id="71698" name="Line 17"/>
            <p:cNvSpPr/>
            <p:nvPr/>
          </p:nvSpPr>
          <p:spPr>
            <a:xfrm>
              <a:off x="7467" y="10808"/>
              <a:ext cx="1470" cy="2340"/>
            </a:xfrm>
            <a:prstGeom prst="line">
              <a:avLst/>
            </a:prstGeom>
            <a:ln w="28575" cap="flat" cmpd="sng">
              <a:solidFill>
                <a:schemeClr val="tx2"/>
              </a:solidFill>
              <a:prstDash val="solid"/>
              <a:headEnd type="none" w="med" len="med"/>
              <a:tailEnd type="triangle" w="med" len="med"/>
            </a:ln>
          </p:spPr>
        </p:sp>
      </p:grpSp>
      <p:sp>
        <p:nvSpPr>
          <p:cNvPr id="71683" name="Rectangle 18"/>
          <p:cNvSpPr/>
          <p:nvPr/>
        </p:nvSpPr>
        <p:spPr>
          <a:xfrm>
            <a:off x="684213" y="692150"/>
            <a:ext cx="6264275" cy="4211638"/>
          </a:xfrm>
          <a:prstGeom prst="rect">
            <a:avLst/>
          </a:prstGeom>
          <a:noFill/>
          <a:ln w="38100">
            <a:noFill/>
          </a:ln>
        </p:spPr>
        <p:txBody>
          <a:bodyPr>
            <a:spAutoFit/>
          </a:bodyPr>
          <a:p>
            <a:pPr>
              <a:buNone/>
            </a:pPr>
            <a:r>
              <a:rPr lang="zh-CN" altLang="en-US" dirty="0">
                <a:solidFill>
                  <a:srgbClr val="000000"/>
                </a:solidFill>
                <a:latin typeface="宋体" panose="02010600030101010101" pitchFamily="2" charset="-122"/>
              </a:rPr>
              <a:t>二、	发散式模型</a:t>
            </a:r>
            <a:br>
              <a:rPr lang="zh-CN" altLang="en-US" dirty="0">
                <a:solidFill>
                  <a:srgbClr val="000000"/>
                </a:solidFill>
                <a:latin typeface="宋体" panose="02010600030101010101" pitchFamily="2" charset="-122"/>
              </a:rPr>
            </a:br>
            <a:r>
              <a:rPr lang="zh-CN" altLang="en-US" dirty="0">
                <a:solidFill>
                  <a:srgbClr val="000000"/>
                </a:solidFill>
                <a:latin typeface="宋体" panose="02010600030101010101" pitchFamily="2" charset="-122"/>
              </a:rPr>
              <a:t>      </a:t>
            </a:r>
            <a:r>
              <a:rPr lang="en-US" altLang="zh-CN" dirty="0">
                <a:solidFill>
                  <a:srgbClr val="000000"/>
                </a:solidFill>
                <a:latin typeface="宋体" panose="02010600030101010101" pitchFamily="2" charset="-122"/>
              </a:rPr>
              <a:t>P                S       P</a:t>
            </a:r>
            <a:br>
              <a:rPr lang="en-US" altLang="zh-CN" dirty="0">
                <a:solidFill>
                  <a:srgbClr val="000000"/>
                </a:solidFill>
                <a:latin typeface="宋体" panose="02010600030101010101" pitchFamily="2" charset="-122"/>
              </a:rPr>
            </a:br>
            <a:r>
              <a:rPr lang="en-US" altLang="zh-CN" dirty="0">
                <a:solidFill>
                  <a:srgbClr val="000000"/>
                </a:solidFill>
                <a:latin typeface="宋体" panose="02010600030101010101" pitchFamily="2" charset="-122"/>
              </a:rPr>
              <a:t>         </a:t>
            </a:r>
            <a:br>
              <a:rPr lang="en-US" altLang="zh-CN" dirty="0">
                <a:solidFill>
                  <a:srgbClr val="000000"/>
                </a:solidFill>
                <a:latin typeface="宋体" panose="02010600030101010101" pitchFamily="2" charset="-122"/>
              </a:rPr>
            </a:br>
            <a:br>
              <a:rPr lang="en-US" altLang="zh-CN" dirty="0">
                <a:solidFill>
                  <a:srgbClr val="000000"/>
                </a:solidFill>
                <a:latin typeface="宋体" panose="02010600030101010101" pitchFamily="2" charset="-122"/>
              </a:rPr>
            </a:br>
            <a:r>
              <a:rPr lang="en-US" altLang="zh-CN" dirty="0">
                <a:solidFill>
                  <a:srgbClr val="000000"/>
                </a:solidFill>
                <a:latin typeface="宋体" panose="02010600030101010101" pitchFamily="2" charset="-122"/>
              </a:rPr>
              <a:t>         </a:t>
            </a:r>
            <a:br>
              <a:rPr lang="en-US" altLang="zh-CN" dirty="0">
                <a:solidFill>
                  <a:srgbClr val="000000"/>
                </a:solidFill>
                <a:latin typeface="宋体" panose="02010600030101010101" pitchFamily="2" charset="-122"/>
              </a:rPr>
            </a:br>
            <a:r>
              <a:rPr lang="en-US" altLang="zh-CN" dirty="0">
                <a:solidFill>
                  <a:srgbClr val="000000"/>
                </a:solidFill>
                <a:latin typeface="宋体" panose="02010600030101010101" pitchFamily="2" charset="-122"/>
              </a:rPr>
              <a:t>      P1</a:t>
            </a:r>
            <a:br>
              <a:rPr lang="en-US" altLang="zh-CN" dirty="0">
                <a:solidFill>
                  <a:srgbClr val="000000"/>
                </a:solidFill>
                <a:latin typeface="宋体" panose="02010600030101010101" pitchFamily="2" charset="-122"/>
              </a:rPr>
            </a:br>
            <a:r>
              <a:rPr lang="en-US" altLang="zh-CN" dirty="0">
                <a:solidFill>
                  <a:srgbClr val="000000"/>
                </a:solidFill>
                <a:latin typeface="宋体" panose="02010600030101010101" pitchFamily="2" charset="-122"/>
              </a:rPr>
              <a:t>      P2 </a:t>
            </a:r>
            <a:br>
              <a:rPr lang="en-US" altLang="zh-CN" dirty="0">
                <a:solidFill>
                  <a:srgbClr val="000000"/>
                </a:solidFill>
                <a:latin typeface="宋体" panose="02010600030101010101" pitchFamily="2" charset="-122"/>
              </a:rPr>
            </a:br>
            <a:br>
              <a:rPr lang="en-US" altLang="zh-CN" dirty="0">
                <a:solidFill>
                  <a:srgbClr val="000000"/>
                </a:solidFill>
                <a:latin typeface="宋体" panose="02010600030101010101" pitchFamily="2" charset="-122"/>
              </a:rPr>
            </a:br>
            <a:br>
              <a:rPr lang="en-US" altLang="zh-CN" dirty="0">
                <a:solidFill>
                  <a:srgbClr val="000000"/>
                </a:solidFill>
                <a:latin typeface="宋体" panose="02010600030101010101" pitchFamily="2" charset="-122"/>
              </a:rPr>
            </a:br>
            <a:r>
              <a:rPr lang="en-US" altLang="zh-CN" dirty="0">
                <a:solidFill>
                  <a:srgbClr val="000000"/>
                </a:solidFill>
                <a:latin typeface="宋体" panose="02010600030101010101" pitchFamily="2" charset="-122"/>
              </a:rPr>
              <a:t> </a:t>
            </a:r>
            <a:br>
              <a:rPr lang="en-US" altLang="zh-CN" dirty="0">
                <a:solidFill>
                  <a:srgbClr val="000000"/>
                </a:solidFill>
                <a:latin typeface="宋体" panose="02010600030101010101" pitchFamily="2" charset="-122"/>
              </a:rPr>
            </a:br>
            <a:r>
              <a:rPr lang="en-US" altLang="zh-CN" dirty="0">
                <a:solidFill>
                  <a:srgbClr val="000000"/>
                </a:solidFill>
                <a:latin typeface="宋体" panose="02010600030101010101" pitchFamily="2" charset="-122"/>
              </a:rPr>
              <a:t>                      D</a:t>
            </a:r>
            <a:br>
              <a:rPr lang="en-US" altLang="zh-CN" dirty="0">
                <a:solidFill>
                  <a:srgbClr val="000000"/>
                </a:solidFill>
                <a:latin typeface="宋体" panose="02010600030101010101" pitchFamily="2" charset="-122"/>
              </a:rPr>
            </a:br>
            <a:r>
              <a:rPr lang="en-US" altLang="zh-CN" dirty="0">
                <a:solidFill>
                  <a:srgbClr val="000000"/>
                </a:solidFill>
                <a:latin typeface="宋体" panose="02010600030101010101" pitchFamily="2" charset="-122"/>
              </a:rPr>
              <a:t>         </a:t>
            </a:r>
            <a:br>
              <a:rPr lang="en-US" altLang="zh-CN" dirty="0">
                <a:solidFill>
                  <a:srgbClr val="000000"/>
                </a:solidFill>
                <a:latin typeface="宋体" panose="02010600030101010101" pitchFamily="2" charset="-122"/>
              </a:rPr>
            </a:br>
            <a:r>
              <a:rPr lang="en-US" altLang="zh-CN" dirty="0">
                <a:solidFill>
                  <a:srgbClr val="000000"/>
                </a:solidFill>
                <a:latin typeface="宋体" panose="02010600030101010101" pitchFamily="2" charset="-122"/>
              </a:rPr>
              <a:t>     0   Q2      Q1       Q     0        </a:t>
            </a:r>
            <a:r>
              <a:rPr lang="zh-CN" altLang="en-US" dirty="0">
                <a:solidFill>
                  <a:srgbClr val="000000"/>
                </a:solidFill>
                <a:latin typeface="宋体" panose="02010600030101010101" pitchFamily="2" charset="-122"/>
              </a:rPr>
              <a:t>时间</a:t>
            </a:r>
            <a:br>
              <a:rPr lang="zh-CN" altLang="en-US" dirty="0">
                <a:solidFill>
                  <a:srgbClr val="000000"/>
                </a:solidFill>
                <a:latin typeface="宋体" panose="02010600030101010101" pitchFamily="2" charset="-122"/>
              </a:rPr>
            </a:br>
            <a:r>
              <a:rPr lang="zh-CN" altLang="en-US" dirty="0">
                <a:solidFill>
                  <a:srgbClr val="000000"/>
                </a:solidFill>
                <a:latin typeface="宋体" panose="02010600030101010101" pitchFamily="2" charset="-122"/>
              </a:rPr>
              <a:t>供给价格弹性</a:t>
            </a:r>
            <a:r>
              <a:rPr lang="en-US" altLang="zh-CN" dirty="0">
                <a:solidFill>
                  <a:srgbClr val="000000"/>
                </a:solidFill>
                <a:latin typeface="宋体" panose="02010600030101010101" pitchFamily="2" charset="-122"/>
              </a:rPr>
              <a:t>&gt;</a:t>
            </a:r>
            <a:r>
              <a:rPr lang="zh-CN" altLang="en-US" dirty="0">
                <a:solidFill>
                  <a:srgbClr val="000000"/>
                </a:solidFill>
                <a:latin typeface="宋体" panose="02010600030101010101" pitchFamily="2" charset="-122"/>
              </a:rPr>
              <a:t>需求价格弹性（蛛网不稳定条件）</a:t>
            </a:r>
            <a:br>
              <a:rPr lang="zh-CN" altLang="en-US" dirty="0">
                <a:solidFill>
                  <a:srgbClr val="000000"/>
                </a:solidFill>
                <a:latin typeface="宋体" panose="02010600030101010101" pitchFamily="2" charset="-122"/>
              </a:rPr>
            </a:br>
            <a:endParaRPr lang="zh-CN" altLang="en-US" dirty="0">
              <a:solidFill>
                <a:srgbClr val="000000"/>
              </a:solidFill>
              <a:latin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type="title"/>
          </p:nvPr>
        </p:nvSpPr>
        <p:spPr>
          <a:xfrm>
            <a:off x="685800" y="609600"/>
            <a:ext cx="7772400" cy="5267325"/>
          </a:xfrm>
          <a:ln/>
        </p:spPr>
        <p:txBody>
          <a:bodyPr vert="horz" wrap="square" lIns="91440" tIns="45720" rIns="91440" bIns="45720" anchor="ctr" anchorCtr="0"/>
          <a:p>
            <a:pPr algn="l" eaLnBrk="1" hangingPunct="1"/>
            <a:r>
              <a:rPr lang="zh-CN" altLang="en-US" sz="3200" b="1" dirty="0">
                <a:solidFill>
                  <a:srgbClr val="000000"/>
                </a:solidFill>
                <a:latin typeface="宋体" panose="02010600030101010101" pitchFamily="2" charset="-122"/>
              </a:rPr>
              <a:t>三、	封闭式模型</a:t>
            </a:r>
            <a:br>
              <a:rPr lang="zh-CN" altLang="en-US" sz="3200" b="1" dirty="0">
                <a:solidFill>
                  <a:srgbClr val="000000"/>
                </a:solidFill>
                <a:latin typeface="宋体" panose="02010600030101010101" pitchFamily="2" charset="-122"/>
              </a:rPr>
            </a:br>
            <a:br>
              <a:rPr lang="zh-CN" altLang="en-US" sz="3200" b="1" dirty="0">
                <a:solidFill>
                  <a:srgbClr val="000000"/>
                </a:solidFill>
                <a:latin typeface="宋体" panose="02010600030101010101" pitchFamily="2" charset="-122"/>
              </a:rPr>
            </a:br>
            <a:r>
              <a:rPr lang="zh-CN" altLang="en-US" sz="3200" b="1" dirty="0">
                <a:solidFill>
                  <a:srgbClr val="000000"/>
                </a:solidFill>
                <a:latin typeface="宋体" panose="02010600030101010101" pitchFamily="2" charset="-122"/>
              </a:rPr>
              <a:t>             </a:t>
            </a:r>
            <a:r>
              <a:rPr lang="en-US" altLang="zh-CN" sz="2000" dirty="0">
                <a:solidFill>
                  <a:srgbClr val="000000"/>
                </a:solidFill>
                <a:latin typeface="宋体" panose="02010600030101010101" pitchFamily="2" charset="-122"/>
              </a:rPr>
              <a:t>S</a:t>
            </a:r>
            <a:r>
              <a:rPr lang="en-US" altLang="zh-CN" sz="3200" b="1" dirty="0">
                <a:solidFill>
                  <a:srgbClr val="000000"/>
                </a:solidFill>
                <a:latin typeface="宋体" panose="02010600030101010101" pitchFamily="2" charset="-122"/>
              </a:rPr>
              <a:t>      </a:t>
            </a:r>
            <a:r>
              <a:rPr lang="en-US" altLang="zh-CN" sz="2000" dirty="0">
                <a:solidFill>
                  <a:srgbClr val="000000"/>
                </a:solidFill>
                <a:latin typeface="宋体" panose="02010600030101010101" pitchFamily="2" charset="-122"/>
              </a:rPr>
              <a:t>P</a:t>
            </a:r>
            <a:r>
              <a:rPr lang="en-US" altLang="zh-CN" sz="3200" b="1" dirty="0">
                <a:solidFill>
                  <a:srgbClr val="000000"/>
                </a:solidFill>
                <a:latin typeface="宋体" panose="02010600030101010101" pitchFamily="2" charset="-122"/>
              </a:rPr>
              <a:t> </a:t>
            </a:r>
            <a:br>
              <a:rPr lang="en-US" altLang="zh-CN" sz="3200" b="1" dirty="0">
                <a:solidFill>
                  <a:srgbClr val="000000"/>
                </a:solidFill>
                <a:latin typeface="宋体" panose="02010600030101010101" pitchFamily="2" charset="-122"/>
              </a:rPr>
            </a:br>
            <a:r>
              <a:rPr lang="en-US" altLang="zh-CN" sz="2000" dirty="0">
                <a:solidFill>
                  <a:srgbClr val="000000"/>
                </a:solidFill>
                <a:latin typeface="宋体" panose="02010600030101010101" pitchFamily="2" charset="-122"/>
              </a:rPr>
              <a:t>P </a:t>
            </a:r>
            <a:br>
              <a:rPr lang="en-US" altLang="zh-CN" sz="2000" dirty="0">
                <a:solidFill>
                  <a:srgbClr val="000000"/>
                </a:solidFill>
                <a:latin typeface="宋体" panose="02010600030101010101" pitchFamily="2" charset="-122"/>
              </a:rPr>
            </a:br>
            <a:br>
              <a:rPr lang="en-US" altLang="zh-CN" sz="2000" dirty="0">
                <a:solidFill>
                  <a:srgbClr val="000000"/>
                </a:solidFill>
                <a:latin typeface="宋体" panose="02010600030101010101" pitchFamily="2" charset="-122"/>
              </a:rPr>
            </a:br>
            <a:r>
              <a:rPr lang="en-US" altLang="zh-CN" sz="2000" dirty="0">
                <a:solidFill>
                  <a:srgbClr val="000000"/>
                </a:solidFill>
                <a:latin typeface="宋体" panose="02010600030101010101" pitchFamily="2" charset="-122"/>
              </a:rPr>
              <a:t>P1</a:t>
            </a:r>
            <a:br>
              <a:rPr lang="en-US" altLang="zh-CN" sz="2000" dirty="0">
                <a:solidFill>
                  <a:srgbClr val="000000"/>
                </a:solidFill>
                <a:latin typeface="宋体" panose="02010600030101010101" pitchFamily="2" charset="-122"/>
              </a:rPr>
            </a:br>
            <a:br>
              <a:rPr lang="en-US" altLang="zh-CN" sz="2000" dirty="0">
                <a:solidFill>
                  <a:srgbClr val="000000"/>
                </a:solidFill>
                <a:latin typeface="宋体" panose="02010600030101010101" pitchFamily="2" charset="-122"/>
              </a:rPr>
            </a:br>
            <a:br>
              <a:rPr lang="en-US" altLang="zh-CN" sz="2000" dirty="0">
                <a:solidFill>
                  <a:srgbClr val="000000"/>
                </a:solidFill>
                <a:latin typeface="宋体" panose="02010600030101010101" pitchFamily="2" charset="-122"/>
              </a:rPr>
            </a:br>
            <a:r>
              <a:rPr lang="en-US" altLang="zh-CN" sz="2000" dirty="0">
                <a:solidFill>
                  <a:srgbClr val="000000"/>
                </a:solidFill>
                <a:latin typeface="宋体" panose="02010600030101010101" pitchFamily="2" charset="-122"/>
              </a:rPr>
              <a:t>P2</a:t>
            </a:r>
            <a:br>
              <a:rPr lang="en-US" altLang="zh-CN" sz="2000" dirty="0">
                <a:solidFill>
                  <a:srgbClr val="000000"/>
                </a:solidFill>
                <a:latin typeface="宋体" panose="02010600030101010101" pitchFamily="2" charset="-122"/>
              </a:rPr>
            </a:br>
            <a:r>
              <a:rPr lang="en-US" altLang="zh-CN" sz="2000" dirty="0">
                <a:solidFill>
                  <a:srgbClr val="000000"/>
                </a:solidFill>
                <a:latin typeface="宋体" panose="02010600030101010101" pitchFamily="2" charset="-122"/>
              </a:rPr>
              <a:t>                      D</a:t>
            </a:r>
            <a:br>
              <a:rPr lang="en-US" altLang="zh-CN" sz="2000" dirty="0">
                <a:solidFill>
                  <a:srgbClr val="000000"/>
                </a:solidFill>
                <a:latin typeface="宋体" panose="02010600030101010101" pitchFamily="2" charset="-122"/>
              </a:rPr>
            </a:br>
            <a:r>
              <a:rPr lang="en-US" altLang="zh-CN" sz="2000" dirty="0">
                <a:solidFill>
                  <a:srgbClr val="000000"/>
                </a:solidFill>
                <a:latin typeface="宋体" panose="02010600030101010101" pitchFamily="2" charset="-122"/>
              </a:rPr>
              <a:t>                                                                                  </a:t>
            </a:r>
            <a:br>
              <a:rPr lang="en-US" altLang="zh-CN" sz="2000" dirty="0">
                <a:solidFill>
                  <a:srgbClr val="000000"/>
                </a:solidFill>
                <a:latin typeface="宋体" panose="02010600030101010101" pitchFamily="2" charset="-122"/>
              </a:rPr>
            </a:br>
            <a:br>
              <a:rPr lang="en-US" altLang="zh-CN" sz="2000" dirty="0">
                <a:solidFill>
                  <a:srgbClr val="000000"/>
                </a:solidFill>
                <a:latin typeface="宋体" panose="02010600030101010101" pitchFamily="2" charset="-122"/>
              </a:rPr>
            </a:br>
            <a:r>
              <a:rPr lang="en-US" altLang="zh-CN" sz="2000" dirty="0">
                <a:solidFill>
                  <a:srgbClr val="000000"/>
                </a:solidFill>
                <a:latin typeface="宋体" panose="02010600030101010101" pitchFamily="2" charset="-122"/>
              </a:rPr>
              <a:t>  0       Q2     Q1       Q      0       </a:t>
            </a:r>
            <a:r>
              <a:rPr lang="zh-CN" altLang="en-US" sz="2000" dirty="0">
                <a:solidFill>
                  <a:srgbClr val="000000"/>
                </a:solidFill>
                <a:latin typeface="宋体" panose="02010600030101010101" pitchFamily="2" charset="-122"/>
              </a:rPr>
              <a:t>时间</a:t>
            </a:r>
            <a:br>
              <a:rPr lang="zh-CN" altLang="en-US" sz="2000" dirty="0">
                <a:solidFill>
                  <a:srgbClr val="000000"/>
                </a:solidFill>
                <a:latin typeface="宋体" panose="02010600030101010101" pitchFamily="2" charset="-122"/>
              </a:rPr>
            </a:br>
            <a:br>
              <a:rPr lang="zh-CN" altLang="en-US" sz="2000" dirty="0">
                <a:solidFill>
                  <a:srgbClr val="000000"/>
                </a:solidFill>
                <a:latin typeface="宋体" panose="02010600030101010101" pitchFamily="2" charset="-122"/>
              </a:rPr>
            </a:br>
            <a:br>
              <a:rPr lang="zh-CN" altLang="en-US" sz="2000" dirty="0">
                <a:solidFill>
                  <a:srgbClr val="000000"/>
                </a:solidFill>
                <a:latin typeface="宋体" panose="02010600030101010101" pitchFamily="2" charset="-122"/>
              </a:rPr>
            </a:br>
            <a:br>
              <a:rPr lang="zh-CN" altLang="en-US" sz="2000" dirty="0">
                <a:solidFill>
                  <a:srgbClr val="000000"/>
                </a:solidFill>
                <a:latin typeface="宋体" panose="02010600030101010101" pitchFamily="2" charset="-122"/>
              </a:rPr>
            </a:br>
            <a:r>
              <a:rPr lang="zh-CN" altLang="en-US" sz="2000" dirty="0">
                <a:solidFill>
                  <a:srgbClr val="000000"/>
                </a:solidFill>
                <a:latin typeface="宋体" panose="02010600030101010101" pitchFamily="2" charset="-122"/>
              </a:rPr>
              <a:t>供给价格弹性＝需求价格弹性（蛛网中立条件）</a:t>
            </a:r>
            <a:br>
              <a:rPr lang="zh-CN" altLang="en-US" sz="2000" dirty="0">
                <a:solidFill>
                  <a:schemeClr val="tx1"/>
                </a:solidFill>
              </a:rPr>
            </a:br>
            <a:endParaRPr lang="zh-CN" altLang="en-US" sz="2000" dirty="0">
              <a:solidFill>
                <a:schemeClr val="tx1"/>
              </a:solidFill>
            </a:endParaRPr>
          </a:p>
        </p:txBody>
      </p:sp>
      <p:grpSp>
        <p:nvGrpSpPr>
          <p:cNvPr id="72707" name="Group 3"/>
          <p:cNvGrpSpPr/>
          <p:nvPr/>
        </p:nvGrpSpPr>
        <p:grpSpPr>
          <a:xfrm>
            <a:off x="838200" y="1600200"/>
            <a:ext cx="7239000" cy="2971800"/>
            <a:chOff x="1587" y="5496"/>
            <a:chExt cx="8190" cy="2964"/>
          </a:xfrm>
        </p:grpSpPr>
        <p:sp>
          <p:nvSpPr>
            <p:cNvPr id="72708" name="Line 4"/>
            <p:cNvSpPr/>
            <p:nvPr/>
          </p:nvSpPr>
          <p:spPr>
            <a:xfrm flipV="1">
              <a:off x="2112" y="5496"/>
              <a:ext cx="0" cy="2964"/>
            </a:xfrm>
            <a:prstGeom prst="line">
              <a:avLst/>
            </a:prstGeom>
            <a:ln w="38100" cap="flat" cmpd="sng">
              <a:solidFill>
                <a:schemeClr val="tx2"/>
              </a:solidFill>
              <a:prstDash val="solid"/>
              <a:headEnd type="none" w="med" len="med"/>
              <a:tailEnd type="triangle" w="med" len="med"/>
            </a:ln>
          </p:spPr>
        </p:sp>
        <p:sp>
          <p:nvSpPr>
            <p:cNvPr id="72709" name="Line 5"/>
            <p:cNvSpPr/>
            <p:nvPr/>
          </p:nvSpPr>
          <p:spPr>
            <a:xfrm>
              <a:off x="1587" y="8148"/>
              <a:ext cx="3885" cy="0"/>
            </a:xfrm>
            <a:prstGeom prst="line">
              <a:avLst/>
            </a:prstGeom>
            <a:ln w="38100" cap="flat" cmpd="sng">
              <a:solidFill>
                <a:schemeClr val="tx2"/>
              </a:solidFill>
              <a:prstDash val="solid"/>
              <a:headEnd type="none" w="med" len="med"/>
              <a:tailEnd type="triangle" w="med" len="med"/>
            </a:ln>
          </p:spPr>
        </p:sp>
        <p:sp>
          <p:nvSpPr>
            <p:cNvPr id="72710" name="Line 6"/>
            <p:cNvSpPr/>
            <p:nvPr/>
          </p:nvSpPr>
          <p:spPr>
            <a:xfrm flipV="1">
              <a:off x="6207" y="5496"/>
              <a:ext cx="0" cy="2964"/>
            </a:xfrm>
            <a:prstGeom prst="line">
              <a:avLst/>
            </a:prstGeom>
            <a:ln w="38100" cap="flat" cmpd="sng">
              <a:solidFill>
                <a:schemeClr val="tx2"/>
              </a:solidFill>
              <a:prstDash val="solid"/>
              <a:headEnd type="none" w="med" len="med"/>
              <a:tailEnd type="triangle" w="med" len="med"/>
            </a:ln>
          </p:spPr>
        </p:sp>
        <p:sp>
          <p:nvSpPr>
            <p:cNvPr id="72711" name="Line 7"/>
            <p:cNvSpPr/>
            <p:nvPr/>
          </p:nvSpPr>
          <p:spPr>
            <a:xfrm>
              <a:off x="5892" y="8148"/>
              <a:ext cx="3885" cy="0"/>
            </a:xfrm>
            <a:prstGeom prst="line">
              <a:avLst/>
            </a:prstGeom>
            <a:ln w="38100" cap="flat" cmpd="sng">
              <a:solidFill>
                <a:schemeClr val="tx2"/>
              </a:solidFill>
              <a:prstDash val="solid"/>
              <a:headEnd type="none" w="med" len="med"/>
              <a:tailEnd type="triangle" w="med" len="med"/>
            </a:ln>
          </p:spPr>
        </p:sp>
        <p:sp>
          <p:nvSpPr>
            <p:cNvPr id="72712" name="Line 8"/>
            <p:cNvSpPr/>
            <p:nvPr/>
          </p:nvSpPr>
          <p:spPr>
            <a:xfrm>
              <a:off x="2637" y="5808"/>
              <a:ext cx="1890" cy="2028"/>
            </a:xfrm>
            <a:prstGeom prst="line">
              <a:avLst/>
            </a:prstGeom>
            <a:ln w="38100" cap="flat" cmpd="sng">
              <a:solidFill>
                <a:schemeClr val="tx2"/>
              </a:solidFill>
              <a:prstDash val="solid"/>
              <a:headEnd type="none" w="med" len="med"/>
              <a:tailEnd type="none" w="med" len="med"/>
            </a:ln>
          </p:spPr>
        </p:sp>
        <p:sp>
          <p:nvSpPr>
            <p:cNvPr id="72713" name="Line 9"/>
            <p:cNvSpPr/>
            <p:nvPr/>
          </p:nvSpPr>
          <p:spPr>
            <a:xfrm flipH="1">
              <a:off x="2427" y="5652"/>
              <a:ext cx="2100" cy="2340"/>
            </a:xfrm>
            <a:prstGeom prst="line">
              <a:avLst/>
            </a:prstGeom>
            <a:ln w="38100" cap="flat" cmpd="sng">
              <a:solidFill>
                <a:schemeClr val="tx2"/>
              </a:solidFill>
              <a:prstDash val="solid"/>
              <a:headEnd type="none" w="med" len="med"/>
              <a:tailEnd type="none" w="med" len="med"/>
            </a:ln>
          </p:spPr>
        </p:sp>
        <p:sp>
          <p:nvSpPr>
            <p:cNvPr id="72714" name="Line 10"/>
            <p:cNvSpPr/>
            <p:nvPr/>
          </p:nvSpPr>
          <p:spPr>
            <a:xfrm>
              <a:off x="2112" y="6276"/>
              <a:ext cx="7245" cy="0"/>
            </a:xfrm>
            <a:prstGeom prst="line">
              <a:avLst/>
            </a:prstGeom>
            <a:ln w="38100" cap="flat" cmpd="sng">
              <a:solidFill>
                <a:schemeClr val="tx2"/>
              </a:solidFill>
              <a:prstDash val="dash"/>
              <a:headEnd type="none" w="med" len="med"/>
              <a:tailEnd type="none" w="med" len="med"/>
            </a:ln>
          </p:spPr>
        </p:sp>
        <p:sp>
          <p:nvSpPr>
            <p:cNvPr id="72715" name="Line 11"/>
            <p:cNvSpPr/>
            <p:nvPr/>
          </p:nvSpPr>
          <p:spPr>
            <a:xfrm>
              <a:off x="2112" y="6765"/>
              <a:ext cx="7245" cy="0"/>
            </a:xfrm>
            <a:prstGeom prst="line">
              <a:avLst/>
            </a:prstGeom>
            <a:ln w="38100" cap="flat" cmpd="sng">
              <a:solidFill>
                <a:schemeClr val="tx2"/>
              </a:solidFill>
              <a:prstDash val="dash"/>
              <a:headEnd type="none" w="med" len="med"/>
              <a:tailEnd type="none" w="med" len="med"/>
            </a:ln>
          </p:spPr>
        </p:sp>
        <p:sp>
          <p:nvSpPr>
            <p:cNvPr id="72716" name="Line 12"/>
            <p:cNvSpPr/>
            <p:nvPr/>
          </p:nvSpPr>
          <p:spPr>
            <a:xfrm>
              <a:off x="2112" y="7212"/>
              <a:ext cx="7245" cy="0"/>
            </a:xfrm>
            <a:prstGeom prst="line">
              <a:avLst/>
            </a:prstGeom>
            <a:ln w="38100" cap="flat" cmpd="sng">
              <a:solidFill>
                <a:schemeClr val="tx2"/>
              </a:solidFill>
              <a:prstDash val="dash"/>
              <a:headEnd type="none" w="med" len="med"/>
              <a:tailEnd type="none" w="med" len="med"/>
            </a:ln>
          </p:spPr>
        </p:sp>
        <p:sp>
          <p:nvSpPr>
            <p:cNvPr id="72717" name="Line 13"/>
            <p:cNvSpPr/>
            <p:nvPr/>
          </p:nvSpPr>
          <p:spPr>
            <a:xfrm>
              <a:off x="3057" y="6276"/>
              <a:ext cx="945" cy="0"/>
            </a:xfrm>
            <a:prstGeom prst="line">
              <a:avLst/>
            </a:prstGeom>
            <a:ln w="38100" cap="flat" cmpd="sng">
              <a:solidFill>
                <a:schemeClr val="tx2"/>
              </a:solidFill>
              <a:prstDash val="solid"/>
              <a:headEnd type="none" w="med" len="med"/>
              <a:tailEnd type="triangle" w="med" len="med"/>
            </a:ln>
          </p:spPr>
        </p:sp>
        <p:sp>
          <p:nvSpPr>
            <p:cNvPr id="72718" name="Line 14"/>
            <p:cNvSpPr/>
            <p:nvPr/>
          </p:nvSpPr>
          <p:spPr>
            <a:xfrm>
              <a:off x="4002" y="6276"/>
              <a:ext cx="0" cy="936"/>
            </a:xfrm>
            <a:prstGeom prst="line">
              <a:avLst/>
            </a:prstGeom>
            <a:ln w="38100" cap="flat" cmpd="sng">
              <a:solidFill>
                <a:schemeClr val="tx2"/>
              </a:solidFill>
              <a:prstDash val="solid"/>
              <a:headEnd type="none" w="med" len="med"/>
              <a:tailEnd type="triangle" w="med" len="med"/>
            </a:ln>
          </p:spPr>
        </p:sp>
        <p:sp>
          <p:nvSpPr>
            <p:cNvPr id="72719" name="Line 15"/>
            <p:cNvSpPr/>
            <p:nvPr/>
          </p:nvSpPr>
          <p:spPr>
            <a:xfrm flipH="1">
              <a:off x="3057" y="7212"/>
              <a:ext cx="945" cy="0"/>
            </a:xfrm>
            <a:prstGeom prst="line">
              <a:avLst/>
            </a:prstGeom>
            <a:ln w="38100" cap="flat" cmpd="sng">
              <a:solidFill>
                <a:schemeClr val="tx2"/>
              </a:solidFill>
              <a:prstDash val="solid"/>
              <a:headEnd type="none" w="med" len="med"/>
              <a:tailEnd type="triangle" w="med" len="med"/>
            </a:ln>
          </p:spPr>
        </p:sp>
        <p:sp>
          <p:nvSpPr>
            <p:cNvPr id="72720" name="Line 16"/>
            <p:cNvSpPr/>
            <p:nvPr/>
          </p:nvSpPr>
          <p:spPr>
            <a:xfrm flipV="1">
              <a:off x="3102" y="6276"/>
              <a:ext cx="0" cy="936"/>
            </a:xfrm>
            <a:prstGeom prst="line">
              <a:avLst/>
            </a:prstGeom>
            <a:ln w="38100" cap="flat" cmpd="sng">
              <a:solidFill>
                <a:schemeClr val="tx2"/>
              </a:solidFill>
              <a:prstDash val="solid"/>
              <a:headEnd type="none" w="med" len="med"/>
              <a:tailEnd type="triangle" w="med" len="med"/>
            </a:ln>
          </p:spPr>
        </p:sp>
        <p:sp>
          <p:nvSpPr>
            <p:cNvPr id="72721" name="Line 17"/>
            <p:cNvSpPr/>
            <p:nvPr/>
          </p:nvSpPr>
          <p:spPr>
            <a:xfrm>
              <a:off x="6207" y="6276"/>
              <a:ext cx="525" cy="936"/>
            </a:xfrm>
            <a:prstGeom prst="line">
              <a:avLst/>
            </a:prstGeom>
            <a:ln w="38100" cap="flat" cmpd="sng">
              <a:solidFill>
                <a:schemeClr val="tx2"/>
              </a:solidFill>
              <a:prstDash val="solid"/>
              <a:headEnd type="none" w="med" len="med"/>
              <a:tailEnd type="none" w="med" len="med"/>
            </a:ln>
          </p:spPr>
        </p:sp>
        <p:sp>
          <p:nvSpPr>
            <p:cNvPr id="72722" name="Line 18"/>
            <p:cNvSpPr/>
            <p:nvPr/>
          </p:nvSpPr>
          <p:spPr>
            <a:xfrm flipV="1">
              <a:off x="6732" y="6276"/>
              <a:ext cx="420" cy="936"/>
            </a:xfrm>
            <a:prstGeom prst="line">
              <a:avLst/>
            </a:prstGeom>
            <a:ln w="38100" cap="flat" cmpd="sng">
              <a:solidFill>
                <a:schemeClr val="tx2"/>
              </a:solidFill>
              <a:prstDash val="solid"/>
              <a:headEnd type="none" w="med" len="med"/>
              <a:tailEnd type="none" w="med" len="med"/>
            </a:ln>
          </p:spPr>
        </p:sp>
        <p:sp>
          <p:nvSpPr>
            <p:cNvPr id="72723" name="Line 19"/>
            <p:cNvSpPr/>
            <p:nvPr/>
          </p:nvSpPr>
          <p:spPr>
            <a:xfrm>
              <a:off x="7152" y="6276"/>
              <a:ext cx="525" cy="936"/>
            </a:xfrm>
            <a:prstGeom prst="line">
              <a:avLst/>
            </a:prstGeom>
            <a:ln w="38100" cap="flat" cmpd="sng">
              <a:solidFill>
                <a:schemeClr val="tx2"/>
              </a:solidFill>
              <a:prstDash val="solid"/>
              <a:headEnd type="none" w="med" len="med"/>
              <a:tailEnd type="none" w="med" len="med"/>
            </a:ln>
          </p:spPr>
        </p:sp>
        <p:sp>
          <p:nvSpPr>
            <p:cNvPr id="72724" name="Line 20"/>
            <p:cNvSpPr/>
            <p:nvPr/>
          </p:nvSpPr>
          <p:spPr>
            <a:xfrm flipV="1">
              <a:off x="7677" y="6276"/>
              <a:ext cx="525" cy="936"/>
            </a:xfrm>
            <a:prstGeom prst="line">
              <a:avLst/>
            </a:prstGeom>
            <a:ln w="38100" cap="flat" cmpd="sng">
              <a:solidFill>
                <a:schemeClr val="tx2"/>
              </a:solidFill>
              <a:prstDash val="solid"/>
              <a:headEnd type="none" w="med" len="med"/>
              <a:tailEnd type="triangle" w="med" len="med"/>
            </a:ln>
          </p:spPr>
        </p:sp>
      </p:grpSp>
    </p:spTree>
  </p:cSld>
  <p:clrMapOvr>
    <a:masterClrMapping/>
  </p:clrMapOvr>
</p:sld>
</file>

<file path=ppt/theme/theme1.xml><?xml version="1.0" encoding="utf-8"?>
<a:theme xmlns:a="http://schemas.openxmlformats.org/drawingml/2006/main" name="彩带型模板">
  <a:themeElements>
    <a:clrScheme name="彩带型模板 5">
      <a:dk1>
        <a:srgbClr val="663300"/>
      </a:dk1>
      <a:lt1>
        <a:srgbClr val="FFFFFF"/>
      </a:lt1>
      <a:dk2>
        <a:srgbClr val="000000"/>
      </a:dk2>
      <a:lt2>
        <a:srgbClr val="FFFF99"/>
      </a:lt2>
      <a:accent1>
        <a:srgbClr val="FFCC66"/>
      </a:accent1>
      <a:accent2>
        <a:srgbClr val="FFFFCC"/>
      </a:accent2>
      <a:accent3>
        <a:srgbClr val="FFFFFF"/>
      </a:accent3>
      <a:accent4>
        <a:srgbClr val="562A00"/>
      </a:accent4>
      <a:accent5>
        <a:srgbClr val="FFE2B8"/>
      </a:accent5>
      <a:accent6>
        <a:srgbClr val="E7E7B9"/>
      </a:accent6>
      <a:hlink>
        <a:srgbClr val="FFCC00"/>
      </a:hlink>
      <a:folHlink>
        <a:srgbClr val="FF7C80"/>
      </a:folHlink>
    </a:clrScheme>
    <a:fontScheme name="彩带型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609600" marR="0" indent="-609600" algn="l" defTabSz="914400" rtl="0" eaLnBrk="1" fontAlgn="base" latinLnBrk="0" hangingPunct="1">
          <a:lnSpc>
            <a:spcPct val="90000"/>
          </a:lnSpc>
          <a:spcBef>
            <a:spcPct val="20000"/>
          </a:spcBef>
          <a:spcAft>
            <a:spcPct val="0"/>
          </a:spcAft>
          <a:buClrTx/>
          <a:buSzTx/>
          <a:buFontTx/>
          <a:buAutoNum type="arabicPeriod"/>
          <a:defRPr kumimoji="1" lang="zh-CN" altLang="en-US" sz="20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609600" marR="0" indent="-609600" algn="l" defTabSz="914400" rtl="0" eaLnBrk="1" fontAlgn="base" latinLnBrk="0" hangingPunct="1">
          <a:lnSpc>
            <a:spcPct val="90000"/>
          </a:lnSpc>
          <a:spcBef>
            <a:spcPct val="20000"/>
          </a:spcBef>
          <a:spcAft>
            <a:spcPct val="0"/>
          </a:spcAft>
          <a:buClrTx/>
          <a:buSzTx/>
          <a:buFontTx/>
          <a:buAutoNum type="arabicPeriod"/>
          <a:defRPr kumimoji="1" lang="zh-CN" altLang="en-US" sz="20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彩带型模板 1">
        <a:dk1>
          <a:srgbClr val="220011"/>
        </a:dk1>
        <a:lt1>
          <a:srgbClr val="FFFFCC"/>
        </a:lt1>
        <a:dk2>
          <a:srgbClr val="660033"/>
        </a:dk2>
        <a:lt2>
          <a:srgbClr val="FFCC00"/>
        </a:lt2>
        <a:accent1>
          <a:srgbClr val="CC0099"/>
        </a:accent1>
        <a:accent2>
          <a:srgbClr val="56002B"/>
        </a:accent2>
        <a:accent3>
          <a:srgbClr val="B8AAAD"/>
        </a:accent3>
        <a:accent4>
          <a:srgbClr val="DADAAE"/>
        </a:accent4>
        <a:accent5>
          <a:srgbClr val="E2AACA"/>
        </a:accent5>
        <a:accent6>
          <a:srgbClr val="4D0026"/>
        </a:accent6>
        <a:hlink>
          <a:srgbClr val="9C004E"/>
        </a:hlink>
        <a:folHlink>
          <a:srgbClr val="FF6600"/>
        </a:folHlink>
      </a:clrScheme>
      <a:clrMap bg1="dk2" tx1="lt1" bg2="dk1" tx2="lt2" accent1="accent1" accent2="accent2" accent3="accent3" accent4="accent4" accent5="accent5" accent6="accent6" hlink="hlink" folHlink="folHlink"/>
    </a:extraClrScheme>
    <a:extraClrScheme>
      <a:clrScheme name="彩带型模板 2">
        <a:dk1>
          <a:srgbClr val="000F1E"/>
        </a:dk1>
        <a:lt1>
          <a:srgbClr val="FFFFFF"/>
        </a:lt1>
        <a:dk2>
          <a:srgbClr val="003366"/>
        </a:dk2>
        <a:lt2>
          <a:srgbClr val="33CCCC"/>
        </a:lt2>
        <a:accent1>
          <a:srgbClr val="006699"/>
        </a:accent1>
        <a:accent2>
          <a:srgbClr val="003366"/>
        </a:accent2>
        <a:accent3>
          <a:srgbClr val="AAADB8"/>
        </a:accent3>
        <a:accent4>
          <a:srgbClr val="DADADA"/>
        </a:accent4>
        <a:accent5>
          <a:srgbClr val="AAB8CA"/>
        </a:accent5>
        <a:accent6>
          <a:srgbClr val="002D5C"/>
        </a:accent6>
        <a:hlink>
          <a:srgbClr val="0099CC"/>
        </a:hlink>
        <a:folHlink>
          <a:srgbClr val="009999"/>
        </a:folHlink>
      </a:clrScheme>
      <a:clrMap bg1="dk2" tx1="lt1" bg2="dk1" tx2="lt2" accent1="accent1" accent2="accent2" accent3="accent3" accent4="accent4" accent5="accent5" accent6="accent6" hlink="hlink" folHlink="folHlink"/>
    </a:extraClrScheme>
    <a:extraClrScheme>
      <a:clrScheme name="彩带型模板 3">
        <a:dk1>
          <a:srgbClr val="002F2E"/>
        </a:dk1>
        <a:lt1>
          <a:srgbClr val="FFFFFF"/>
        </a:lt1>
        <a:dk2>
          <a:srgbClr val="008080"/>
        </a:dk2>
        <a:lt2>
          <a:srgbClr val="66FFCC"/>
        </a:lt2>
        <a:accent1>
          <a:srgbClr val="0099CC"/>
        </a:accent1>
        <a:accent2>
          <a:srgbClr val="005250"/>
        </a:accent2>
        <a:accent3>
          <a:srgbClr val="AAC0C0"/>
        </a:accent3>
        <a:accent4>
          <a:srgbClr val="DADADA"/>
        </a:accent4>
        <a:accent5>
          <a:srgbClr val="AACAE2"/>
        </a:accent5>
        <a:accent6>
          <a:srgbClr val="004948"/>
        </a:accent6>
        <a:hlink>
          <a:srgbClr val="00CC99"/>
        </a:hlink>
        <a:folHlink>
          <a:srgbClr val="009999"/>
        </a:folHlink>
      </a:clrScheme>
      <a:clrMap bg1="dk2" tx1="lt1" bg2="dk1" tx2="lt2" accent1="accent1" accent2="accent2" accent3="accent3" accent4="accent4" accent5="accent5" accent6="accent6" hlink="hlink" folHlink="folHlink"/>
    </a:extraClrScheme>
    <a:extraClrScheme>
      <a:clrScheme name="彩带型模板 4">
        <a:dk1>
          <a:srgbClr val="000022"/>
        </a:dk1>
        <a:lt1>
          <a:srgbClr val="FFFFFF"/>
        </a:lt1>
        <a:dk2>
          <a:srgbClr val="000066"/>
        </a:dk2>
        <a:lt2>
          <a:srgbClr val="FFCC00"/>
        </a:lt2>
        <a:accent1>
          <a:srgbClr val="666699"/>
        </a:accent1>
        <a:accent2>
          <a:srgbClr val="000048"/>
        </a:accent2>
        <a:accent3>
          <a:srgbClr val="AAAAB8"/>
        </a:accent3>
        <a:accent4>
          <a:srgbClr val="DADADA"/>
        </a:accent4>
        <a:accent5>
          <a:srgbClr val="B8B8CA"/>
        </a:accent5>
        <a:accent6>
          <a:srgbClr val="000040"/>
        </a:accent6>
        <a:hlink>
          <a:srgbClr val="9999FF"/>
        </a:hlink>
        <a:folHlink>
          <a:srgbClr val="000099"/>
        </a:folHlink>
      </a:clrScheme>
      <a:clrMap bg1="dk2" tx1="lt1" bg2="dk1" tx2="lt2" accent1="accent1" accent2="accent2" accent3="accent3" accent4="accent4" accent5="accent5" accent6="accent6" hlink="hlink" folHlink="folHlink"/>
    </a:extraClrScheme>
    <a:extraClrScheme>
      <a:clrScheme name="彩带型模板 5">
        <a:dk1>
          <a:srgbClr val="663300"/>
        </a:dk1>
        <a:lt1>
          <a:srgbClr val="FFFFFF"/>
        </a:lt1>
        <a:dk2>
          <a:srgbClr val="000000"/>
        </a:dk2>
        <a:lt2>
          <a:srgbClr val="FFFF99"/>
        </a:lt2>
        <a:accent1>
          <a:srgbClr val="FFCC66"/>
        </a:accent1>
        <a:accent2>
          <a:srgbClr val="FFFFCC"/>
        </a:accent2>
        <a:accent3>
          <a:srgbClr val="FFFFFF"/>
        </a:accent3>
        <a:accent4>
          <a:srgbClr val="562A00"/>
        </a:accent4>
        <a:accent5>
          <a:srgbClr val="FFE2B8"/>
        </a:accent5>
        <a:accent6>
          <a:srgbClr val="E7E7B9"/>
        </a:accent6>
        <a:hlink>
          <a:srgbClr val="FFCC00"/>
        </a:hlink>
        <a:folHlink>
          <a:srgbClr val="FF7C80"/>
        </a:folHlink>
      </a:clrScheme>
      <a:clrMap bg1="lt1" tx1="dk1" bg2="lt2" tx2="dk2" accent1="accent1" accent2="accent2" accent3="accent3" accent4="accent4" accent5="accent5" accent6="accent6" hlink="hlink" folHlink="folHlink"/>
    </a:extraClrScheme>
    <a:extraClrScheme>
      <a:clrScheme name="彩带型模板 6">
        <a:dk1>
          <a:srgbClr val="000000"/>
        </a:dk1>
        <a:lt1>
          <a:srgbClr val="FFFFFF"/>
        </a:lt1>
        <a:dk2>
          <a:srgbClr val="000000"/>
        </a:dk2>
        <a:lt2>
          <a:srgbClr val="C0C0C0"/>
        </a:lt2>
        <a:accent1>
          <a:srgbClr val="CBCBCB"/>
        </a:accent1>
        <a:accent2>
          <a:srgbClr val="EAEAEA"/>
        </a:accent2>
        <a:accent3>
          <a:srgbClr val="FFFFFF"/>
        </a:accent3>
        <a:accent4>
          <a:srgbClr val="000000"/>
        </a:accent4>
        <a:accent5>
          <a:srgbClr val="E2E2E2"/>
        </a:accent5>
        <a:accent6>
          <a:srgbClr val="D4D4D4"/>
        </a:accent6>
        <a:hlink>
          <a:srgbClr val="4D4D4D"/>
        </a:hlink>
        <a:folHlink>
          <a:srgbClr val="86868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Office\Templates\演示文稿设计\彩带型模板.pot</Template>
  <TotalTime>0</TotalTime>
  <Words>8167</Words>
  <Application>WPS 演示</Application>
  <PresentationFormat>全屏显示(4:3)</PresentationFormat>
  <Paragraphs>923</Paragraphs>
  <Slides>69</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11</vt:i4>
      </vt:variant>
      <vt:variant>
        <vt:lpstr>幻灯片标题</vt:lpstr>
      </vt:variant>
      <vt:variant>
        <vt:i4>69</vt:i4>
      </vt:variant>
    </vt:vector>
  </HeadingPairs>
  <TitlesOfParts>
    <vt:vector size="93" baseType="lpstr">
      <vt:lpstr>Arial</vt:lpstr>
      <vt:lpstr>宋体</vt:lpstr>
      <vt:lpstr>Wingdings</vt:lpstr>
      <vt:lpstr>Times New Roman</vt:lpstr>
      <vt:lpstr>黑体</vt:lpstr>
      <vt:lpstr>华文楷体</vt:lpstr>
      <vt:lpstr>楷体_GB2312</vt:lpstr>
      <vt:lpstr>新宋体</vt:lpstr>
      <vt:lpstr>楷体</vt:lpstr>
      <vt:lpstr>Arial Black</vt:lpstr>
      <vt:lpstr>微软雅黑</vt:lpstr>
      <vt:lpstr>Arial Unicode MS</vt:lpstr>
      <vt:lpstr>彩带型模板</vt:lpstr>
      <vt:lpstr>MSGraph.Chart.8</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XINLI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第一章微观经济学导论     1.基本经济问题  .三个重要概念  ）稀缺（scarcity）：社会资源的有限性，是指社会提供的东西少于人们想拥有的。 基本假设：  ①人类的欲望是无穷的   ②资源是有限的</dc:title>
  <dc:creator>aopen</dc:creator>
  <cp:lastModifiedBy>王瑞</cp:lastModifiedBy>
  <cp:revision>22</cp:revision>
  <dcterms:created xsi:type="dcterms:W3CDTF">2003-01-22T06:12:13Z</dcterms:created>
  <dcterms:modified xsi:type="dcterms:W3CDTF">2024-11-07T10:07:31Z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556BCA6FBEDC49DF8826A905CC90FF8B_13</vt:lpwstr>
  </property>
  <property fmtid="{D5CDD505-2E9C-101B-9397-08002B2CF9AE}" pid="3" name="KSOProductBuildVer">
    <vt:lpwstr>2052-12.1.0.18276</vt:lpwstr>
  </property>
</Properties>
</file>