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handoutMasterIdLst>
    <p:handoutMasterId r:id="rId24"/>
  </p:handoutMasterIdLst>
  <p:sldIdLst>
    <p:sldId id="257" r:id="rId3"/>
    <p:sldId id="276"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3"/>
  </p:sldIdLst>
  <p:sldSz cx="9144000" cy="6858000" type="screen4x3"/>
  <p:notesSz cx="6858000" cy="9144000"/>
  <p:defaultTextStyle>
    <a:defPPr>
      <a:defRPr lang="zh-CN"/>
    </a:defPPr>
    <a:lvl1pPr marL="0" lvl="0"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1pPr>
    <a:lvl2pPr marL="457200" lvl="1"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2pPr>
    <a:lvl3pPr marL="914400" lvl="2"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3pPr>
    <a:lvl4pPr marL="1371600" lvl="3"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4pPr>
    <a:lvl5pPr marL="1828800" lvl="4"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5pPr>
    <a:lvl6pPr marL="2286000" lvl="5"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6pPr>
    <a:lvl7pPr marL="2743200" lvl="6"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7pPr>
    <a:lvl8pPr marL="3200400" lvl="7"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8pPr>
    <a:lvl9pPr marL="3657600" lvl="8"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886"/>
    <p:restoredTop sz="94660"/>
  </p:normalViewPr>
  <p:slideViewPr>
    <p:cSldViewPr showGuides="1">
      <p:cViewPr varScale="1">
        <p:scale>
          <a:sx n="70" d="100"/>
          <a:sy n="70" d="100"/>
        </p:scale>
        <p:origin x="-492" y="-102"/>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40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20.xml"/><Relationship Id="rId22" Type="http://schemas.openxmlformats.org/officeDocument/2006/relationships/notesMaster" Target="notesMasters/notesMaster1.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页眉占位符 3073"/>
          <p:cNvSpPr>
            <a:spLocks noGrp="1"/>
          </p:cNvSpPr>
          <p:nvPr>
            <p:ph type="hdr" sz="quarter"/>
          </p:nvPr>
        </p:nvSpPr>
        <p:spPr>
          <a:xfrm>
            <a:off x="0" y="0"/>
            <a:ext cx="2971800" cy="457200"/>
          </a:xfrm>
          <a:prstGeom prst="rect">
            <a:avLst/>
          </a:prstGeom>
          <a:noFill/>
          <a:ln w="9525">
            <a:noFill/>
          </a:ln>
        </p:spPr>
        <p:txBody>
          <a:bodyPr/>
          <a:p>
            <a:pPr lvl="0" eaLnBrk="1" hangingPunct="1"/>
            <a:endParaRPr lang="zh-CN" altLang="en-US" sz="1200" b="0" dirty="0"/>
          </a:p>
        </p:txBody>
      </p:sp>
      <p:sp>
        <p:nvSpPr>
          <p:cNvPr id="3075" name="日期占位符 3074"/>
          <p:cNvSpPr>
            <a:spLocks noGrp="1"/>
          </p:cNvSpPr>
          <p:nvPr>
            <p:ph type="dt" sz="quarter" idx="1"/>
          </p:nvPr>
        </p:nvSpPr>
        <p:spPr>
          <a:xfrm>
            <a:off x="3886200" y="0"/>
            <a:ext cx="2971800" cy="457200"/>
          </a:xfrm>
          <a:prstGeom prst="rect">
            <a:avLst/>
          </a:prstGeom>
          <a:noFill/>
          <a:ln w="9525">
            <a:noFill/>
          </a:ln>
        </p:spPr>
        <p:txBody>
          <a:bodyPr/>
          <a:p>
            <a:pPr lvl="0" algn="r" eaLnBrk="1" hangingPunct="1"/>
            <a:endParaRPr lang="zh-CN" altLang="en-US" sz="1200" b="0" dirty="0"/>
          </a:p>
        </p:txBody>
      </p:sp>
      <p:sp>
        <p:nvSpPr>
          <p:cNvPr id="3076" name="页脚占位符 3075"/>
          <p:cNvSpPr>
            <a:spLocks noGrp="1"/>
          </p:cNvSpPr>
          <p:nvPr>
            <p:ph type="ftr" sz="quarter" idx="2"/>
          </p:nvPr>
        </p:nvSpPr>
        <p:spPr>
          <a:xfrm>
            <a:off x="0" y="8686800"/>
            <a:ext cx="2971800" cy="457200"/>
          </a:xfrm>
          <a:prstGeom prst="rect">
            <a:avLst/>
          </a:prstGeom>
          <a:noFill/>
          <a:ln w="9525">
            <a:noFill/>
          </a:ln>
        </p:spPr>
        <p:txBody>
          <a:bodyPr anchor="b" anchorCtr="0"/>
          <a:p>
            <a:pPr lvl="0" eaLnBrk="1" hangingPunct="1"/>
            <a:endParaRPr lang="zh-CN" altLang="en-US" sz="1200" b="0" dirty="0"/>
          </a:p>
        </p:txBody>
      </p:sp>
      <p:sp>
        <p:nvSpPr>
          <p:cNvPr id="3077" name="灯片编号占位符 3076"/>
          <p:cNvSpPr>
            <a:spLocks noGrp="1"/>
          </p:cNvSpPr>
          <p:nvPr>
            <p:ph type="sldNum" sz="quarter" idx="3"/>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b="0" dirty="0"/>
            </a:fld>
            <a:endParaRPr lang="zh-CN" altLang="en-US" sz="1200" b="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页眉占位符 2049"/>
          <p:cNvSpPr>
            <a:spLocks noGrp="1"/>
          </p:cNvSpPr>
          <p:nvPr>
            <p:ph type="hdr" sz="quarter"/>
          </p:nvPr>
        </p:nvSpPr>
        <p:spPr>
          <a:xfrm>
            <a:off x="0" y="0"/>
            <a:ext cx="2971800" cy="457200"/>
          </a:xfrm>
          <a:prstGeom prst="rect">
            <a:avLst/>
          </a:prstGeom>
          <a:noFill/>
          <a:ln w="9525">
            <a:noFill/>
          </a:ln>
        </p:spPr>
        <p:txBody>
          <a:bodyPr/>
          <a:p>
            <a:pPr lvl="0" eaLnBrk="1" hangingPunct="1"/>
            <a:endParaRPr lang="zh-CN" altLang="en-US" sz="1200" b="0" dirty="0"/>
          </a:p>
        </p:txBody>
      </p:sp>
      <p:sp>
        <p:nvSpPr>
          <p:cNvPr id="2051" name="日期占位符 2050"/>
          <p:cNvSpPr>
            <a:spLocks noGrp="1"/>
          </p:cNvSpPr>
          <p:nvPr>
            <p:ph type="dt" idx="1"/>
          </p:nvPr>
        </p:nvSpPr>
        <p:spPr>
          <a:xfrm>
            <a:off x="3886200" y="0"/>
            <a:ext cx="2971800" cy="457200"/>
          </a:xfrm>
          <a:prstGeom prst="rect">
            <a:avLst/>
          </a:prstGeom>
          <a:noFill/>
          <a:ln w="9525">
            <a:noFill/>
          </a:ln>
        </p:spPr>
        <p:txBody>
          <a:bodyPr/>
          <a:p>
            <a:pPr lvl="0" algn="r" eaLnBrk="1" hangingPunct="1"/>
            <a:endParaRPr lang="zh-CN" altLang="en-US" sz="1200" b="0" dirty="0"/>
          </a:p>
        </p:txBody>
      </p:sp>
      <p:sp>
        <p:nvSpPr>
          <p:cNvPr id="2052" name="幻灯片图像占位符 2051"/>
          <p:cNvSpPr/>
          <p:nvPr>
            <p:ph type="sldImg" idx="2"/>
          </p:nvPr>
        </p:nvSpPr>
        <p:spPr>
          <a:xfrm>
            <a:off x="1143000" y="685800"/>
            <a:ext cx="4572000" cy="3429000"/>
          </a:xfrm>
          <a:prstGeom prst="rect">
            <a:avLst/>
          </a:prstGeom>
          <a:ln w="9525" cap="flat" cmpd="sng">
            <a:solidFill>
              <a:srgbClr val="000000"/>
            </a:solidFill>
            <a:prstDash val="solid"/>
            <a:miter/>
            <a:headEnd type="none" w="med" len="med"/>
            <a:tailEnd type="none" w="med" len="med"/>
          </a:ln>
        </p:spPr>
      </p:sp>
      <p:sp>
        <p:nvSpPr>
          <p:cNvPr id="2053" name="文本占位符 2052"/>
          <p:cNvSpPr>
            <a:spLocks noGrp="1"/>
          </p:cNvSpPr>
          <p:nvPr>
            <p:ph type="body" sz="quarter" idx="3"/>
          </p:nvPr>
        </p:nvSpPr>
        <p:spPr>
          <a:xfrm>
            <a:off x="914400" y="4343400"/>
            <a:ext cx="5029200" cy="4114800"/>
          </a:xfrm>
          <a:prstGeom prst="rect">
            <a:avLst/>
          </a:prstGeom>
          <a:noFill/>
          <a:ln w="9525">
            <a:noFill/>
          </a:ln>
        </p:spPr>
        <p:txBody>
          <a:bodyPr/>
          <a:p>
            <a:pPr lvl="0"/>
            <a:r>
              <a:rPr lang="zh-CN" altLang="en-US" dirty="0"/>
              <a:t>单击以编辑母版文本样式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054" name="页脚占位符 2053"/>
          <p:cNvSpPr>
            <a:spLocks noGrp="1"/>
          </p:cNvSpPr>
          <p:nvPr>
            <p:ph type="ftr" sz="quarter" idx="4"/>
          </p:nvPr>
        </p:nvSpPr>
        <p:spPr>
          <a:xfrm>
            <a:off x="0" y="8686800"/>
            <a:ext cx="2971800" cy="457200"/>
          </a:xfrm>
          <a:prstGeom prst="rect">
            <a:avLst/>
          </a:prstGeom>
          <a:noFill/>
          <a:ln w="9525">
            <a:noFill/>
          </a:ln>
        </p:spPr>
        <p:txBody>
          <a:bodyPr anchor="b" anchorCtr="0"/>
          <a:p>
            <a:pPr lvl="0" eaLnBrk="1" hangingPunct="1"/>
            <a:endParaRPr lang="zh-CN" altLang="en-US" sz="1200" b="0" dirty="0"/>
          </a:p>
        </p:txBody>
      </p:sp>
      <p:sp>
        <p:nvSpPr>
          <p:cNvPr id="2055" name="灯片编号占位符 2054"/>
          <p:cNvSpPr>
            <a:spLocks noGrp="1"/>
          </p:cNvSpPr>
          <p:nvPr>
            <p:ph type="sldNum" sz="quarter" idx="5"/>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b="0" dirty="0"/>
            </a:fld>
            <a:endParaRPr lang="zh-CN" altLang="en-US" sz="1200" b="0" dirty="0"/>
          </a:p>
        </p:txBody>
      </p:sp>
    </p:spTree>
  </p:cSld>
  <p:clrMap bg1="lt1" tx1="dk1" bg2="lt2" tx2="dk2" accent1="accent1" accent2="accent2" accent3="accent3" accent4="accent4" accent5="accent5" accent6="accent6" hlink="hlink" folHlink="folHlink"/>
  <p:hf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p:nvPr>
            <p:ph type="sldNum" sz="quarter" idx="2"/>
          </p:nvPr>
        </p:nvSpPr>
        <p:spPr/>
        <p:txBody>
          <a:bodyPr/>
          <a:p>
            <a:pPr lvl="0" algn="r" eaLnBrk="1" hangingPunct="1"/>
            <a:fld id="{9A0DB2DC-4C9A-4742-B13C-FB6460FD3503}" type="slidenum">
              <a:rPr lang="zh-CN" altLang="en-US" sz="1200" b="0" dirty="0"/>
            </a:fld>
            <a:endParaRPr lang="zh-CN" altLang="en-US" sz="1200" b="0" dirty="0"/>
          </a:p>
        </p:txBody>
      </p:sp>
      <p:sp>
        <p:nvSpPr>
          <p:cNvPr id="61442" name="幻灯片图像占位符 61441"/>
          <p:cNvSpPr>
            <a:spLocks noTextEdit="1"/>
          </p:cNvSpPr>
          <p:nvPr>
            <p:ph type="sldImg"/>
          </p:nvPr>
        </p:nvSpPr>
        <p:spPr>
          <a:ln/>
        </p:spPr>
      </p:sp>
      <p:sp>
        <p:nvSpPr>
          <p:cNvPr id="61443" name="文本占位符 61442"/>
          <p:cNvSpPr>
            <a:spLocks noGrp="1"/>
          </p:cNvSpPr>
          <p:nvPr>
            <p:ph type="body" idx="1"/>
          </p:nvPr>
        </p:nvSpPr>
        <p:spPr>
          <a:ln/>
        </p:spPr>
        <p:txBody>
          <a:bodyPr/>
          <a:p>
            <a:pPr lvl="0"/>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gradFill rotWithShape="0">
          <a:gsLst>
            <a:gs pos="0">
              <a:schemeClr val="bg2"/>
            </a:gs>
            <a:gs pos="50000">
              <a:schemeClr val="bg1"/>
            </a:gs>
            <a:gs pos="100000">
              <a:schemeClr val="bg2"/>
            </a:gs>
          </a:gsLst>
          <a:lin ang="0" scaled="1"/>
          <a:tileRect/>
        </a:gradFill>
        <a:effectLst>
          <a:outerShdw dist="107763" dir="2699999" algn="ctr" rotWithShape="0">
            <a:srgbClr val="020000"/>
          </a:outerShdw>
        </a:effectLst>
      </p:bgPr>
    </p:bg>
    <p:spTree>
      <p:nvGrpSpPr>
        <p:cNvPr id="1" name=""/>
        <p:cNvGrpSpPr/>
        <p:nvPr/>
      </p:nvGrpSpPr>
      <p:grpSpPr/>
      <p:sp>
        <p:nvSpPr>
          <p:cNvPr id="9218" name="矩形 9217"/>
          <p:cNvSpPr/>
          <p:nvPr/>
        </p:nvSpPr>
        <p:spPr>
          <a:xfrm>
            <a:off x="8783638" y="444500"/>
            <a:ext cx="360362" cy="3152775"/>
          </a:xfrm>
          <a:prstGeom prst="rect">
            <a:avLst/>
          </a:prstGeom>
          <a:gradFill rotWithShape="0">
            <a:gsLst>
              <a:gs pos="0">
                <a:schemeClr val="bg2"/>
              </a:gs>
              <a:gs pos="50000">
                <a:schemeClr val="hlink"/>
              </a:gs>
              <a:gs pos="100000">
                <a:schemeClr val="bg2"/>
              </a:gs>
            </a:gsLst>
            <a:lin ang="0" scaled="1"/>
            <a:tileRect/>
          </a:gradFill>
          <a:ln w="9525">
            <a:noFill/>
          </a:ln>
        </p:spPr>
        <p:txBody>
          <a:bodyPr wrap="none" anchor="ctr" anchorCtr="0"/>
          <a:p>
            <a:pPr lvl="0" algn="ctr" eaLnBrk="1" hangingPunct="1">
              <a:lnSpc>
                <a:spcPct val="100000"/>
              </a:lnSpc>
              <a:spcBef>
                <a:spcPct val="0"/>
              </a:spcBef>
            </a:pPr>
            <a:endParaRPr sz="2400" b="0" dirty="0">
              <a:latin typeface="Times New Roman" panose="02020603050405020304" pitchFamily="18" charset="0"/>
            </a:endParaRPr>
          </a:p>
        </p:txBody>
      </p:sp>
      <p:sp>
        <p:nvSpPr>
          <p:cNvPr id="9219" name="任意多边形 9218"/>
          <p:cNvSpPr/>
          <p:nvPr/>
        </p:nvSpPr>
        <p:spPr>
          <a:xfrm>
            <a:off x="0" y="0"/>
            <a:ext cx="9144000" cy="2133600"/>
          </a:xfrm>
          <a:custGeom>
            <a:avLst/>
            <a:gdLst/>
            <a:ahLst/>
            <a:cxnLst/>
            <a:pathLst>
              <a:path w="5760" h="1104">
                <a:moveTo>
                  <a:pt x="0" y="0"/>
                </a:moveTo>
                <a:lnTo>
                  <a:pt x="5760" y="0"/>
                </a:lnTo>
                <a:lnTo>
                  <a:pt x="5760" y="720"/>
                </a:lnTo>
                <a:cubicBezTo>
                  <a:pt x="5400" y="824"/>
                  <a:pt x="4560" y="577"/>
                  <a:pt x="3600" y="624"/>
                </a:cubicBezTo>
                <a:cubicBezTo>
                  <a:pt x="2640" y="671"/>
                  <a:pt x="600" y="1104"/>
                  <a:pt x="0" y="1000"/>
                </a:cubicBezTo>
                <a:lnTo>
                  <a:pt x="0" y="0"/>
                </a:lnTo>
                <a:close/>
              </a:path>
            </a:pathLst>
          </a:custGeom>
          <a:gradFill rotWithShape="0">
            <a:gsLst>
              <a:gs pos="0">
                <a:schemeClr val="bg2"/>
              </a:gs>
              <a:gs pos="50000">
                <a:schemeClr val="bg1"/>
              </a:gs>
              <a:gs pos="100000">
                <a:schemeClr val="bg2"/>
              </a:gs>
            </a:gsLst>
            <a:lin ang="0" scaled="1"/>
            <a:tileRect/>
          </a:gradFill>
          <a:ln w="9525">
            <a:noFill/>
          </a:ln>
        </p:spPr>
        <p:txBody>
          <a:bodyPr/>
          <a:p>
            <a:endParaRPr lang="zh-CN" altLang="en-US"/>
          </a:p>
        </p:txBody>
      </p:sp>
      <p:sp>
        <p:nvSpPr>
          <p:cNvPr id="9220" name="任意多边形 9219"/>
          <p:cNvSpPr/>
          <p:nvPr/>
        </p:nvSpPr>
        <p:spPr>
          <a:xfrm>
            <a:off x="0" y="1163638"/>
            <a:ext cx="9144000" cy="5694362"/>
          </a:xfrm>
          <a:custGeom>
            <a:avLst/>
            <a:gdLst/>
            <a:ahLst/>
            <a:cxnLst/>
            <a:pathLst>
              <a:path w="5760" h="3587">
                <a:moveTo>
                  <a:pt x="0" y="582"/>
                </a:moveTo>
                <a:cubicBezTo>
                  <a:pt x="1027" y="680"/>
                  <a:pt x="1960" y="387"/>
                  <a:pt x="2640" y="267"/>
                </a:cubicBezTo>
                <a:cubicBezTo>
                  <a:pt x="2640" y="267"/>
                  <a:pt x="3268" y="180"/>
                  <a:pt x="3373" y="160"/>
                </a:cubicBezTo>
                <a:cubicBezTo>
                  <a:pt x="4120" y="0"/>
                  <a:pt x="5280" y="358"/>
                  <a:pt x="5760" y="358"/>
                </a:cubicBezTo>
                <a:lnTo>
                  <a:pt x="5760" y="3587"/>
                </a:lnTo>
                <a:lnTo>
                  <a:pt x="0" y="3587"/>
                </a:lnTo>
                <a:cubicBezTo>
                  <a:pt x="0" y="3587"/>
                  <a:pt x="0" y="582"/>
                  <a:pt x="0" y="582"/>
                </a:cubicBezTo>
                <a:close/>
              </a:path>
            </a:pathLst>
          </a:custGeom>
          <a:gradFill rotWithShape="0">
            <a:gsLst>
              <a:gs pos="0">
                <a:schemeClr val="bg2">
                  <a:alpha val="100000"/>
                </a:schemeClr>
              </a:gs>
              <a:gs pos="50000">
                <a:schemeClr val="bg1"/>
              </a:gs>
              <a:gs pos="100000">
                <a:schemeClr val="bg2">
                  <a:alpha val="100000"/>
                </a:schemeClr>
              </a:gs>
            </a:gsLst>
            <a:lin ang="0" scaled="1"/>
            <a:tileRect/>
          </a:gradFill>
          <a:ln w="9525">
            <a:noFill/>
          </a:ln>
        </p:spPr>
        <p:txBody>
          <a:bodyPr/>
          <a:p>
            <a:endParaRPr lang="zh-CN" altLang="en-US"/>
          </a:p>
        </p:txBody>
      </p:sp>
      <p:sp>
        <p:nvSpPr>
          <p:cNvPr id="9221" name="任意多边形 9220"/>
          <p:cNvSpPr/>
          <p:nvPr/>
        </p:nvSpPr>
        <p:spPr>
          <a:xfrm>
            <a:off x="0" y="292100"/>
            <a:ext cx="9144000" cy="854075"/>
          </a:xfrm>
          <a:custGeom>
            <a:avLst/>
            <a:gdLst/>
            <a:ahLst/>
            <a:cxnLst/>
            <a:pathLst>
              <a:path w="5760" h="538">
                <a:moveTo>
                  <a:pt x="0" y="163"/>
                </a:moveTo>
                <a:lnTo>
                  <a:pt x="0" y="403"/>
                </a:lnTo>
                <a:cubicBezTo>
                  <a:pt x="295" y="450"/>
                  <a:pt x="1011" y="481"/>
                  <a:pt x="1773" y="443"/>
                </a:cubicBezTo>
                <a:cubicBezTo>
                  <a:pt x="2535" y="405"/>
                  <a:pt x="3909" y="161"/>
                  <a:pt x="4573" y="176"/>
                </a:cubicBezTo>
                <a:cubicBezTo>
                  <a:pt x="5237" y="191"/>
                  <a:pt x="5562" y="538"/>
                  <a:pt x="5760" y="536"/>
                </a:cubicBezTo>
                <a:lnTo>
                  <a:pt x="5760" y="163"/>
                </a:lnTo>
                <a:cubicBezTo>
                  <a:pt x="5560" y="79"/>
                  <a:pt x="5189" y="0"/>
                  <a:pt x="4560" y="29"/>
                </a:cubicBezTo>
                <a:cubicBezTo>
                  <a:pt x="3931" y="58"/>
                  <a:pt x="2747" y="314"/>
                  <a:pt x="1987" y="336"/>
                </a:cubicBezTo>
                <a:cubicBezTo>
                  <a:pt x="1227" y="358"/>
                  <a:pt x="414" y="199"/>
                  <a:pt x="0" y="163"/>
                </a:cubicBezTo>
                <a:close/>
              </a:path>
            </a:pathLst>
          </a:custGeom>
          <a:gradFill rotWithShape="0">
            <a:gsLst>
              <a:gs pos="0">
                <a:schemeClr val="bg1"/>
              </a:gs>
              <a:gs pos="50000">
                <a:schemeClr val="bg2"/>
              </a:gs>
              <a:gs pos="100000">
                <a:schemeClr val="bg1"/>
              </a:gs>
            </a:gsLst>
            <a:lin ang="0" scaled="1"/>
            <a:tileRect/>
          </a:gradFill>
          <a:ln w="9525">
            <a:noFill/>
          </a:ln>
        </p:spPr>
        <p:txBody>
          <a:bodyPr/>
          <a:p>
            <a:endParaRPr lang="zh-CN" altLang="en-US"/>
          </a:p>
        </p:txBody>
      </p:sp>
      <p:sp>
        <p:nvSpPr>
          <p:cNvPr id="9222" name="任意多边形 9221"/>
          <p:cNvSpPr/>
          <p:nvPr/>
        </p:nvSpPr>
        <p:spPr>
          <a:xfrm>
            <a:off x="0" y="2405063"/>
            <a:ext cx="9144000" cy="1069975"/>
          </a:xfrm>
          <a:custGeom>
            <a:avLst/>
            <a:gdLst/>
            <a:ahLst/>
            <a:cxnLst/>
            <a:pathLst>
              <a:path w="5760" h="674">
                <a:moveTo>
                  <a:pt x="0" y="246"/>
                </a:moveTo>
                <a:lnTo>
                  <a:pt x="0" y="406"/>
                </a:lnTo>
                <a:cubicBezTo>
                  <a:pt x="213" y="463"/>
                  <a:pt x="1009" y="616"/>
                  <a:pt x="1280" y="645"/>
                </a:cubicBezTo>
                <a:cubicBezTo>
                  <a:pt x="1551" y="674"/>
                  <a:pt x="1092" y="669"/>
                  <a:pt x="1627" y="580"/>
                </a:cubicBezTo>
                <a:cubicBezTo>
                  <a:pt x="2162" y="491"/>
                  <a:pt x="3804" y="109"/>
                  <a:pt x="4493" y="113"/>
                </a:cubicBezTo>
                <a:cubicBezTo>
                  <a:pt x="5182" y="117"/>
                  <a:pt x="5549" y="586"/>
                  <a:pt x="5760" y="606"/>
                </a:cubicBezTo>
                <a:lnTo>
                  <a:pt x="5760" y="233"/>
                </a:lnTo>
                <a:cubicBezTo>
                  <a:pt x="5471" y="158"/>
                  <a:pt x="4818" y="0"/>
                  <a:pt x="4040" y="33"/>
                </a:cubicBezTo>
                <a:cubicBezTo>
                  <a:pt x="3262" y="66"/>
                  <a:pt x="1766" y="398"/>
                  <a:pt x="1093" y="433"/>
                </a:cubicBezTo>
                <a:cubicBezTo>
                  <a:pt x="420" y="468"/>
                  <a:pt x="228" y="285"/>
                  <a:pt x="0" y="246"/>
                </a:cubicBezTo>
                <a:close/>
              </a:path>
            </a:pathLst>
          </a:custGeom>
          <a:gradFill rotWithShape="0">
            <a:gsLst>
              <a:gs pos="0">
                <a:schemeClr val="bg1"/>
              </a:gs>
              <a:gs pos="50000">
                <a:schemeClr val="accent2">
                  <a:alpha val="100000"/>
                </a:schemeClr>
              </a:gs>
              <a:gs pos="100000">
                <a:schemeClr val="bg1"/>
              </a:gs>
            </a:gsLst>
            <a:lin ang="0" scaled="1"/>
            <a:tileRect/>
          </a:gradFill>
          <a:ln w="9525">
            <a:noFill/>
          </a:ln>
        </p:spPr>
        <p:txBody>
          <a:bodyPr/>
          <a:p>
            <a:endParaRPr lang="zh-CN" altLang="en-US"/>
          </a:p>
        </p:txBody>
      </p:sp>
      <p:sp>
        <p:nvSpPr>
          <p:cNvPr id="9223" name="任意多边形 9222"/>
          <p:cNvSpPr/>
          <p:nvPr/>
        </p:nvSpPr>
        <p:spPr>
          <a:xfrm>
            <a:off x="2476500" y="1522413"/>
            <a:ext cx="6667500" cy="5335587"/>
          </a:xfrm>
          <a:custGeom>
            <a:avLst/>
            <a:gdLst/>
            <a:ahLst/>
            <a:cxnLst/>
            <a:pathLst>
              <a:path w="4200" h="3361">
                <a:moveTo>
                  <a:pt x="0" y="3361"/>
                </a:moveTo>
                <a:cubicBezTo>
                  <a:pt x="118" y="2850"/>
                  <a:pt x="354" y="590"/>
                  <a:pt x="1054" y="295"/>
                </a:cubicBezTo>
                <a:cubicBezTo>
                  <a:pt x="1754" y="0"/>
                  <a:pt x="3676" y="1299"/>
                  <a:pt x="4200" y="1588"/>
                </a:cubicBezTo>
                <a:lnTo>
                  <a:pt x="4200" y="2028"/>
                </a:lnTo>
                <a:cubicBezTo>
                  <a:pt x="3700" y="1837"/>
                  <a:pt x="1842" y="220"/>
                  <a:pt x="1200" y="442"/>
                </a:cubicBezTo>
                <a:cubicBezTo>
                  <a:pt x="558" y="664"/>
                  <a:pt x="547" y="2875"/>
                  <a:pt x="347" y="3361"/>
                </a:cubicBezTo>
                <a:lnTo>
                  <a:pt x="0" y="3361"/>
                </a:lnTo>
                <a:close/>
              </a:path>
            </a:pathLst>
          </a:custGeom>
          <a:gradFill rotWithShape="0">
            <a:gsLst>
              <a:gs pos="0">
                <a:schemeClr val="accent2"/>
              </a:gs>
              <a:gs pos="50000">
                <a:schemeClr val="bg1"/>
              </a:gs>
              <a:gs pos="100000">
                <a:schemeClr val="accent2"/>
              </a:gs>
            </a:gsLst>
            <a:lin ang="5400000" scaled="1"/>
            <a:tileRect/>
          </a:gradFill>
          <a:ln w="9525">
            <a:noFill/>
          </a:ln>
        </p:spPr>
        <p:txBody>
          <a:bodyPr/>
          <a:p>
            <a:endParaRPr lang="zh-CN" altLang="en-US"/>
          </a:p>
        </p:txBody>
      </p:sp>
      <p:sp>
        <p:nvSpPr>
          <p:cNvPr id="9224" name="任意多边形 9223"/>
          <p:cNvSpPr/>
          <p:nvPr/>
        </p:nvSpPr>
        <p:spPr>
          <a:xfrm>
            <a:off x="0" y="3443288"/>
            <a:ext cx="9144000" cy="3055937"/>
          </a:xfrm>
          <a:custGeom>
            <a:avLst/>
            <a:gdLst/>
            <a:ahLst/>
            <a:cxnLst/>
            <a:pathLst>
              <a:path w="5760" h="1925">
                <a:moveTo>
                  <a:pt x="0" y="804"/>
                </a:moveTo>
                <a:lnTo>
                  <a:pt x="0" y="991"/>
                </a:lnTo>
                <a:cubicBezTo>
                  <a:pt x="258" y="1160"/>
                  <a:pt x="1005" y="1925"/>
                  <a:pt x="1547" y="1818"/>
                </a:cubicBezTo>
                <a:cubicBezTo>
                  <a:pt x="2089" y="1711"/>
                  <a:pt x="2551" y="398"/>
                  <a:pt x="3253" y="351"/>
                </a:cubicBezTo>
                <a:cubicBezTo>
                  <a:pt x="3955" y="304"/>
                  <a:pt x="5342" y="1404"/>
                  <a:pt x="5760" y="1537"/>
                </a:cubicBezTo>
                <a:lnTo>
                  <a:pt x="5760" y="1151"/>
                </a:lnTo>
                <a:cubicBezTo>
                  <a:pt x="5405" y="1124"/>
                  <a:pt x="3982" y="0"/>
                  <a:pt x="3240" y="84"/>
                </a:cubicBezTo>
                <a:cubicBezTo>
                  <a:pt x="2542" y="171"/>
                  <a:pt x="2113" y="1551"/>
                  <a:pt x="1573" y="1671"/>
                </a:cubicBezTo>
                <a:cubicBezTo>
                  <a:pt x="1033" y="1791"/>
                  <a:pt x="262" y="826"/>
                  <a:pt x="0" y="804"/>
                </a:cubicBezTo>
                <a:close/>
              </a:path>
            </a:pathLst>
          </a:custGeom>
          <a:gradFill rotWithShape="0">
            <a:gsLst>
              <a:gs pos="0">
                <a:schemeClr val="bg1"/>
              </a:gs>
              <a:gs pos="50000">
                <a:schemeClr val="accent2">
                  <a:alpha val="100000"/>
                </a:schemeClr>
              </a:gs>
              <a:gs pos="100000">
                <a:schemeClr val="bg1"/>
              </a:gs>
            </a:gsLst>
            <a:lin ang="0" scaled="1"/>
            <a:tileRect/>
          </a:gradFill>
          <a:ln w="9525">
            <a:noFill/>
          </a:ln>
        </p:spPr>
        <p:txBody>
          <a:bodyPr/>
          <a:p>
            <a:endParaRPr lang="zh-CN" altLang="en-US"/>
          </a:p>
        </p:txBody>
      </p:sp>
      <p:sp>
        <p:nvSpPr>
          <p:cNvPr id="9225" name="任意多边形 9224"/>
          <p:cNvSpPr/>
          <p:nvPr/>
        </p:nvSpPr>
        <p:spPr>
          <a:xfrm>
            <a:off x="0" y="3552825"/>
            <a:ext cx="6237288" cy="3365500"/>
          </a:xfrm>
          <a:custGeom>
            <a:avLst/>
            <a:gdLst/>
            <a:ahLst/>
            <a:cxnLst/>
            <a:pathLst>
              <a:path w="4196" h="2120">
                <a:moveTo>
                  <a:pt x="0" y="415"/>
                </a:moveTo>
                <a:lnTo>
                  <a:pt x="0" y="508"/>
                </a:lnTo>
                <a:cubicBezTo>
                  <a:pt x="160" y="577"/>
                  <a:pt x="1280" y="138"/>
                  <a:pt x="1933" y="229"/>
                </a:cubicBezTo>
                <a:cubicBezTo>
                  <a:pt x="2586" y="320"/>
                  <a:pt x="3644" y="746"/>
                  <a:pt x="3920" y="1055"/>
                </a:cubicBezTo>
                <a:cubicBezTo>
                  <a:pt x="4196" y="1364"/>
                  <a:pt x="3583" y="2120"/>
                  <a:pt x="3587" y="2082"/>
                </a:cubicBezTo>
                <a:lnTo>
                  <a:pt x="3947" y="829"/>
                </a:lnTo>
                <a:cubicBezTo>
                  <a:pt x="3725" y="494"/>
                  <a:pt x="2911" y="138"/>
                  <a:pt x="2253" y="69"/>
                </a:cubicBezTo>
                <a:cubicBezTo>
                  <a:pt x="1595" y="0"/>
                  <a:pt x="469" y="343"/>
                  <a:pt x="0" y="415"/>
                </a:cubicBezTo>
                <a:close/>
              </a:path>
            </a:pathLst>
          </a:custGeom>
          <a:gradFill rotWithShape="0">
            <a:gsLst>
              <a:gs pos="0">
                <a:schemeClr val="accent2">
                  <a:alpha val="100000"/>
                </a:schemeClr>
              </a:gs>
              <a:gs pos="50000">
                <a:schemeClr val="bg1"/>
              </a:gs>
              <a:gs pos="100000">
                <a:schemeClr val="accent2">
                  <a:alpha val="100000"/>
                </a:schemeClr>
              </a:gs>
            </a:gsLst>
            <a:lin ang="5400000" scaled="1"/>
            <a:tileRect/>
          </a:gradFill>
          <a:ln w="9525">
            <a:noFill/>
          </a:ln>
        </p:spPr>
        <p:txBody>
          <a:bodyPr/>
          <a:p>
            <a:endParaRPr lang="zh-CN" altLang="en-US"/>
          </a:p>
        </p:txBody>
      </p:sp>
      <p:sp>
        <p:nvSpPr>
          <p:cNvPr id="9226" name="标题 9225"/>
          <p:cNvSpPr>
            <a:spLocks noGrp="1"/>
          </p:cNvSpPr>
          <p:nvPr>
            <p:ph type="ctrTitle"/>
          </p:nvPr>
        </p:nvSpPr>
        <p:spPr>
          <a:xfrm>
            <a:off x="685800" y="2286000"/>
            <a:ext cx="7772400" cy="1143000"/>
          </a:xfrm>
          <a:prstGeom prst="rect">
            <a:avLst/>
          </a:prstGeom>
          <a:noFill/>
          <a:ln w="9525">
            <a:noFill/>
          </a:ln>
        </p:spPr>
        <p:txBody>
          <a:bodyPr anchor="ctr" anchorCtr="0"/>
          <a:lstStyle>
            <a:lvl1pPr lvl="0">
              <a:buClrTx/>
              <a:buSzTx/>
              <a:buFontTx/>
              <a:defRPr/>
            </a:lvl1pPr>
          </a:lstStyle>
          <a:p>
            <a:pPr lvl="0"/>
            <a:r>
              <a:rPr lang="zh-CN" altLang="en-US" dirty="0"/>
              <a:t>单击此处编辑母版标题样式</a:t>
            </a:r>
            <a:endParaRPr lang="zh-CN" altLang="zh-CN" dirty="0"/>
          </a:p>
        </p:txBody>
      </p:sp>
      <p:sp>
        <p:nvSpPr>
          <p:cNvPr id="9227" name="副标题 9226"/>
          <p:cNvSpPr>
            <a:spLocks noGrp="1"/>
          </p:cNvSpPr>
          <p:nvPr>
            <p:ph type="subTitle" idx="1"/>
          </p:nvPr>
        </p:nvSpPr>
        <p:spPr>
          <a:xfrm>
            <a:off x="1371600" y="3886200"/>
            <a:ext cx="6400800" cy="1752600"/>
          </a:xfrm>
          <a:prstGeom prst="rect">
            <a:avLst/>
          </a:prstGeom>
          <a:noFill/>
          <a:ln w="9525">
            <a:noFill/>
          </a:ln>
        </p:spPr>
        <p:txBody>
          <a:bodyPr anchor="t" anchorCtr="0"/>
          <a:lstStyle>
            <a:lvl1pPr marL="0" lvl="0" indent="0" algn="ctr">
              <a:buClrTx/>
              <a:buSzTx/>
              <a:buFontTx/>
              <a:buNone/>
              <a:defRPr/>
            </a:lvl1pPr>
            <a:lvl2pPr marL="457200" lvl="1" indent="0" algn="ctr">
              <a:buClrTx/>
              <a:buSzTx/>
              <a:buFontTx/>
              <a:buNone/>
              <a:defRPr/>
            </a:lvl2pPr>
            <a:lvl3pPr marL="914400" lvl="2" indent="0" algn="ctr">
              <a:buClrTx/>
              <a:buSzTx/>
              <a:buFontTx/>
              <a:buNone/>
              <a:defRPr/>
            </a:lvl3pPr>
            <a:lvl4pPr marL="1371600" lvl="3" indent="0" algn="ctr">
              <a:buClrTx/>
              <a:buSzTx/>
              <a:buFontTx/>
              <a:buNone/>
              <a:defRPr/>
            </a:lvl4pPr>
            <a:lvl5pPr marL="1828800" lvl="4" indent="0" algn="ctr">
              <a:buClrTx/>
              <a:buSzTx/>
              <a:buFontTx/>
              <a:buNone/>
              <a:defRPr/>
            </a:lvl5pPr>
          </a:lstStyle>
          <a:p>
            <a:pPr lvl="0"/>
            <a:r>
              <a:rPr lang="zh-CN" altLang="en-US" dirty="0"/>
              <a:t>单击此处编辑母版副标题样式</a:t>
            </a:r>
            <a:endParaRPr lang="zh-CN" altLang="en-US" dirty="0"/>
          </a:p>
        </p:txBody>
      </p:sp>
      <p:sp>
        <p:nvSpPr>
          <p:cNvPr id="9228" name="日期占位符 9227"/>
          <p:cNvSpPr>
            <a:spLocks noGrp="1"/>
          </p:cNvSpPr>
          <p:nvPr>
            <p:ph type="dt" sz="half" idx="2"/>
          </p:nvPr>
        </p:nvSpPr>
        <p:spPr>
          <a:xfrm>
            <a:off x="685800" y="6248400"/>
            <a:ext cx="1905000" cy="457200"/>
          </a:xfrm>
          <a:prstGeom prst="rect">
            <a:avLst/>
          </a:prstGeom>
          <a:noFill/>
          <a:ln w="9525">
            <a:noFill/>
          </a:ln>
        </p:spPr>
        <p:txBody>
          <a:bodyPr anchor="t" anchorCtr="0"/>
          <a:lstStyle>
            <a:lvl1pPr>
              <a:defRPr sz="1400" b="0">
                <a:solidFill>
                  <a:srgbClr val="FFFFCC"/>
                </a:solidFill>
              </a:defRPr>
            </a:lvl1pPr>
          </a:lstStyle>
          <a:p>
            <a:pPr eaLnBrk="1" hangingPunct="1">
              <a:lnSpc>
                <a:spcPct val="100000"/>
              </a:lnSpc>
              <a:spcBef>
                <a:spcPct val="50000"/>
              </a:spcBef>
            </a:pPr>
            <a:endParaRPr lang="zh-CN" altLang="en-US" dirty="0">
              <a:latin typeface="Times New Roman" panose="02020603050405020304" pitchFamily="18" charset="0"/>
            </a:endParaRPr>
          </a:p>
        </p:txBody>
      </p:sp>
      <p:sp>
        <p:nvSpPr>
          <p:cNvPr id="9229" name="页脚占位符 9228"/>
          <p:cNvSpPr>
            <a:spLocks noGrp="1"/>
          </p:cNvSpPr>
          <p:nvPr>
            <p:ph type="ftr" sz="quarter" idx="3"/>
          </p:nvPr>
        </p:nvSpPr>
        <p:spPr>
          <a:xfrm>
            <a:off x="3124200" y="6248400"/>
            <a:ext cx="2895600" cy="457200"/>
          </a:xfrm>
          <a:prstGeom prst="rect">
            <a:avLst/>
          </a:prstGeom>
          <a:noFill/>
          <a:ln w="9525">
            <a:noFill/>
          </a:ln>
        </p:spPr>
        <p:txBody>
          <a:bodyPr anchor="t" anchorCtr="0"/>
          <a:lstStyle>
            <a:lvl1pPr algn="ctr">
              <a:defRPr sz="1400" b="0">
                <a:solidFill>
                  <a:srgbClr val="FFFFCC"/>
                </a:solidFill>
              </a:defRPr>
            </a:lvl1pPr>
          </a:lstStyle>
          <a:p>
            <a:pPr eaLnBrk="1" hangingPunct="1">
              <a:lnSpc>
                <a:spcPct val="100000"/>
              </a:lnSpc>
              <a:spcBef>
                <a:spcPct val="50000"/>
              </a:spcBef>
            </a:pPr>
            <a:endParaRPr lang="zh-CN" altLang="en-US" dirty="0">
              <a:latin typeface="Times New Roman" panose="02020603050405020304" pitchFamily="18" charset="0"/>
            </a:endParaRPr>
          </a:p>
        </p:txBody>
      </p:sp>
      <p:sp>
        <p:nvSpPr>
          <p:cNvPr id="9230" name="灯片编号占位符 9229"/>
          <p:cNvSpPr>
            <a:spLocks noGrp="1"/>
          </p:cNvSpPr>
          <p:nvPr>
            <p:ph type="sldNum" sz="quarter" idx="4"/>
          </p:nvPr>
        </p:nvSpPr>
        <p:spPr>
          <a:xfrm>
            <a:off x="6553200" y="6248400"/>
            <a:ext cx="1905000" cy="457200"/>
          </a:xfrm>
          <a:prstGeom prst="rect">
            <a:avLst/>
          </a:prstGeom>
          <a:noFill/>
          <a:ln w="9525">
            <a:noFill/>
          </a:ln>
        </p:spPr>
        <p:txBody>
          <a:bodyPr anchor="t" anchorCtr="0"/>
          <a:lstStyle>
            <a:lvl1pPr algn="r">
              <a:defRPr sz="1400" b="0">
                <a:solidFill>
                  <a:srgbClr val="FFFFCC"/>
                </a:solidFill>
              </a:defRPr>
            </a:lvl1pPr>
          </a:lstStyle>
          <a:p>
            <a:pPr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ntr" presetSubtype="8" fill="hold" grpId="0" nodeType="afterEffect">
                                  <p:stCondLst>
                                    <p:cond delay="1000"/>
                                  </p:stCondLst>
                                  <p:childTnLst>
                                    <p:set>
                                      <p:cBhvr>
                                        <p:cTn id="6" dur="1" fill="hold">
                                          <p:stCondLst>
                                            <p:cond delay="0"/>
                                          </p:stCondLst>
                                        </p:cTn>
                                        <p:tgtEl>
                                          <p:spTgt spid="9218"/>
                                        </p:tgtEl>
                                        <p:attrNameLst>
                                          <p:attrName>style.visibility</p:attrName>
                                        </p:attrNameLst>
                                      </p:cBhvr>
                                      <p:to>
                                        <p:strVal val="visible"/>
                                      </p:to>
                                    </p:set>
                                    <p:anim calcmode="lin" valueType="num">
                                      <p:cBhvr additive="base">
                                        <p:cTn id="7" dur="5000" fill="hold"/>
                                        <p:tgtEl>
                                          <p:spTgt spid="9218"/>
                                        </p:tgtEl>
                                        <p:attrNameLst>
                                          <p:attrName>ppt_x</p:attrName>
                                        </p:attrNameLst>
                                      </p:cBhvr>
                                      <p:tavLst>
                                        <p:tav tm="0">
                                          <p:val>
                                            <p:strVal val="0-#ppt_w/2"/>
                                          </p:val>
                                        </p:tav>
                                        <p:tav tm="100000">
                                          <p:val>
                                            <p:strVal val="#ppt_x"/>
                                          </p:val>
                                        </p:tav>
                                      </p:tavLst>
                                    </p:anim>
                                    <p:anim calcmode="lin" valueType="num">
                                      <p:cBhvr additive="base">
                                        <p:cTn id="8" dur="5000" fill="hold"/>
                                        <p:tgtEl>
                                          <p:spTgt spid="92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nimBg="1"/>
    </p:bld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eaLnBrk="1" hangingPunct="1">
              <a:lnSpc>
                <a:spcPct val="100000"/>
              </a:lnSpc>
              <a:spcBef>
                <a:spcPct val="50000"/>
              </a:spcBef>
            </a:pPr>
            <a:fld id="{BB962C8B-B14F-4D97-AF65-F5344CB8AC3E}" type="datetime1">
              <a:rPr lang="zh-CN" altLang="en-US" dirty="0">
                <a:latin typeface="Times New Roman" panose="02020603050405020304" pitchFamily="18" charset="0"/>
              </a:rPr>
            </a:fld>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08476"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9724" y="1981200"/>
            <a:ext cx="3808476"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8" name="页脚占位符 7"/>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9" name="灯片编号占位符 8"/>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5" name="灯片编号占位符 4"/>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3" name="页脚占位符 2"/>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4" name="灯片编号占位符 3"/>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716657" cy="54864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0" scaled="1"/>
          <a:tileRect/>
        </a:gradFill>
        <a:effectLst>
          <a:outerShdw dist="107763" dir="2699999" algn="ctr" rotWithShape="0">
            <a:srgbClr val="020000"/>
          </a:outerShdw>
        </a:effectLst>
      </p:bgPr>
    </p:bg>
    <p:spTree>
      <p:nvGrpSpPr>
        <p:cNvPr id="1" name=""/>
        <p:cNvGrpSpPr/>
        <p:nvPr/>
      </p:nvGrpSpPr>
      <p:grpSpPr/>
      <p:sp>
        <p:nvSpPr>
          <p:cNvPr id="8194" name="矩形 8193"/>
          <p:cNvSpPr/>
          <p:nvPr/>
        </p:nvSpPr>
        <p:spPr>
          <a:xfrm>
            <a:off x="8783638" y="444500"/>
            <a:ext cx="360362" cy="3152775"/>
          </a:xfrm>
          <a:prstGeom prst="rect">
            <a:avLst/>
          </a:prstGeom>
          <a:gradFill rotWithShape="0">
            <a:gsLst>
              <a:gs pos="0">
                <a:schemeClr val="bg2"/>
              </a:gs>
              <a:gs pos="50000">
                <a:schemeClr val="hlink"/>
              </a:gs>
              <a:gs pos="100000">
                <a:schemeClr val="bg2"/>
              </a:gs>
            </a:gsLst>
            <a:lin ang="0" scaled="1"/>
            <a:tileRect/>
          </a:gradFill>
          <a:ln w="9525">
            <a:noFill/>
          </a:ln>
        </p:spPr>
        <p:txBody>
          <a:bodyPr wrap="none" anchor="ctr" anchorCtr="0"/>
          <a:p>
            <a:pPr lvl="0" algn="ctr" eaLnBrk="1" hangingPunct="1">
              <a:lnSpc>
                <a:spcPct val="100000"/>
              </a:lnSpc>
              <a:spcBef>
                <a:spcPct val="0"/>
              </a:spcBef>
            </a:pPr>
            <a:endParaRPr sz="2400" b="0" dirty="0">
              <a:latin typeface="Times New Roman" panose="02020603050405020304" pitchFamily="18" charset="0"/>
            </a:endParaRPr>
          </a:p>
        </p:txBody>
      </p:sp>
      <p:sp>
        <p:nvSpPr>
          <p:cNvPr id="8195" name="任意多边形 8194"/>
          <p:cNvSpPr/>
          <p:nvPr/>
        </p:nvSpPr>
        <p:spPr>
          <a:xfrm>
            <a:off x="0" y="0"/>
            <a:ext cx="9144000" cy="2133600"/>
          </a:xfrm>
          <a:custGeom>
            <a:avLst/>
            <a:gdLst/>
            <a:ahLst/>
            <a:cxnLst/>
            <a:pathLst>
              <a:path w="5760" h="1104">
                <a:moveTo>
                  <a:pt x="0" y="0"/>
                </a:moveTo>
                <a:lnTo>
                  <a:pt x="5760" y="0"/>
                </a:lnTo>
                <a:lnTo>
                  <a:pt x="5760" y="720"/>
                </a:lnTo>
                <a:cubicBezTo>
                  <a:pt x="5400" y="824"/>
                  <a:pt x="4560" y="577"/>
                  <a:pt x="3600" y="624"/>
                </a:cubicBezTo>
                <a:cubicBezTo>
                  <a:pt x="2640" y="671"/>
                  <a:pt x="600" y="1104"/>
                  <a:pt x="0" y="1000"/>
                </a:cubicBezTo>
                <a:lnTo>
                  <a:pt x="0" y="0"/>
                </a:lnTo>
                <a:close/>
              </a:path>
            </a:pathLst>
          </a:custGeom>
          <a:gradFill rotWithShape="0">
            <a:gsLst>
              <a:gs pos="0">
                <a:schemeClr val="bg2"/>
              </a:gs>
              <a:gs pos="50000">
                <a:schemeClr val="bg1"/>
              </a:gs>
              <a:gs pos="100000">
                <a:schemeClr val="bg2"/>
              </a:gs>
            </a:gsLst>
            <a:lin ang="0" scaled="1"/>
            <a:tileRect/>
          </a:gradFill>
          <a:ln w="9525">
            <a:noFill/>
          </a:ln>
        </p:spPr>
        <p:txBody>
          <a:bodyPr/>
          <a:p>
            <a:endParaRPr lang="zh-CN" altLang="en-US"/>
          </a:p>
        </p:txBody>
      </p:sp>
      <p:sp>
        <p:nvSpPr>
          <p:cNvPr id="8196" name="任意多边形 8195"/>
          <p:cNvSpPr/>
          <p:nvPr/>
        </p:nvSpPr>
        <p:spPr>
          <a:xfrm>
            <a:off x="0" y="1163638"/>
            <a:ext cx="9144000" cy="5694362"/>
          </a:xfrm>
          <a:custGeom>
            <a:avLst/>
            <a:gdLst/>
            <a:ahLst/>
            <a:cxnLst/>
            <a:pathLst>
              <a:path w="5760" h="3587">
                <a:moveTo>
                  <a:pt x="0" y="582"/>
                </a:moveTo>
                <a:cubicBezTo>
                  <a:pt x="1027" y="680"/>
                  <a:pt x="1960" y="387"/>
                  <a:pt x="2640" y="267"/>
                </a:cubicBezTo>
                <a:cubicBezTo>
                  <a:pt x="2640" y="267"/>
                  <a:pt x="3268" y="180"/>
                  <a:pt x="3373" y="160"/>
                </a:cubicBezTo>
                <a:cubicBezTo>
                  <a:pt x="4120" y="0"/>
                  <a:pt x="5280" y="358"/>
                  <a:pt x="5760" y="358"/>
                </a:cubicBezTo>
                <a:lnTo>
                  <a:pt x="5760" y="3587"/>
                </a:lnTo>
                <a:lnTo>
                  <a:pt x="0" y="3587"/>
                </a:lnTo>
                <a:cubicBezTo>
                  <a:pt x="0" y="3587"/>
                  <a:pt x="0" y="582"/>
                  <a:pt x="0" y="582"/>
                </a:cubicBezTo>
                <a:close/>
              </a:path>
            </a:pathLst>
          </a:custGeom>
          <a:gradFill rotWithShape="0">
            <a:gsLst>
              <a:gs pos="0">
                <a:schemeClr val="bg2">
                  <a:alpha val="100000"/>
                </a:schemeClr>
              </a:gs>
              <a:gs pos="50000">
                <a:schemeClr val="bg1"/>
              </a:gs>
              <a:gs pos="100000">
                <a:schemeClr val="bg2">
                  <a:alpha val="100000"/>
                </a:schemeClr>
              </a:gs>
            </a:gsLst>
            <a:lin ang="0" scaled="1"/>
            <a:tileRect/>
          </a:gradFill>
          <a:ln w="9525">
            <a:noFill/>
          </a:ln>
        </p:spPr>
        <p:txBody>
          <a:bodyPr/>
          <a:p>
            <a:endParaRPr lang="zh-CN" altLang="en-US"/>
          </a:p>
        </p:txBody>
      </p:sp>
      <p:sp>
        <p:nvSpPr>
          <p:cNvPr id="8197" name="任意多边形 8196"/>
          <p:cNvSpPr/>
          <p:nvPr/>
        </p:nvSpPr>
        <p:spPr>
          <a:xfrm>
            <a:off x="0" y="292100"/>
            <a:ext cx="9144000" cy="854075"/>
          </a:xfrm>
          <a:custGeom>
            <a:avLst/>
            <a:gdLst/>
            <a:ahLst/>
            <a:cxnLst/>
            <a:pathLst>
              <a:path w="5760" h="538">
                <a:moveTo>
                  <a:pt x="0" y="163"/>
                </a:moveTo>
                <a:lnTo>
                  <a:pt x="0" y="403"/>
                </a:lnTo>
                <a:cubicBezTo>
                  <a:pt x="295" y="450"/>
                  <a:pt x="1011" y="481"/>
                  <a:pt x="1773" y="443"/>
                </a:cubicBezTo>
                <a:cubicBezTo>
                  <a:pt x="2535" y="405"/>
                  <a:pt x="3909" y="161"/>
                  <a:pt x="4573" y="176"/>
                </a:cubicBezTo>
                <a:cubicBezTo>
                  <a:pt x="5237" y="191"/>
                  <a:pt x="5562" y="538"/>
                  <a:pt x="5760" y="536"/>
                </a:cubicBezTo>
                <a:lnTo>
                  <a:pt x="5760" y="163"/>
                </a:lnTo>
                <a:cubicBezTo>
                  <a:pt x="5560" y="79"/>
                  <a:pt x="5189" y="0"/>
                  <a:pt x="4560" y="29"/>
                </a:cubicBezTo>
                <a:cubicBezTo>
                  <a:pt x="3931" y="58"/>
                  <a:pt x="2747" y="314"/>
                  <a:pt x="1987" y="336"/>
                </a:cubicBezTo>
                <a:cubicBezTo>
                  <a:pt x="1227" y="358"/>
                  <a:pt x="414" y="199"/>
                  <a:pt x="0" y="163"/>
                </a:cubicBezTo>
                <a:close/>
              </a:path>
            </a:pathLst>
          </a:custGeom>
          <a:gradFill rotWithShape="0">
            <a:gsLst>
              <a:gs pos="0">
                <a:schemeClr val="bg1"/>
              </a:gs>
              <a:gs pos="50000">
                <a:schemeClr val="bg2"/>
              </a:gs>
              <a:gs pos="100000">
                <a:schemeClr val="bg1"/>
              </a:gs>
            </a:gsLst>
            <a:lin ang="0" scaled="1"/>
            <a:tileRect/>
          </a:gradFill>
          <a:ln w="9525">
            <a:noFill/>
          </a:ln>
        </p:spPr>
        <p:txBody>
          <a:bodyPr/>
          <a:p>
            <a:endParaRPr lang="zh-CN" altLang="en-US"/>
          </a:p>
        </p:txBody>
      </p:sp>
      <p:sp>
        <p:nvSpPr>
          <p:cNvPr id="8198" name="任意多边形 8197"/>
          <p:cNvSpPr/>
          <p:nvPr/>
        </p:nvSpPr>
        <p:spPr>
          <a:xfrm>
            <a:off x="0" y="2405063"/>
            <a:ext cx="9144000" cy="1069975"/>
          </a:xfrm>
          <a:custGeom>
            <a:avLst/>
            <a:gdLst/>
            <a:ahLst/>
            <a:cxnLst/>
            <a:pathLst>
              <a:path w="5760" h="674">
                <a:moveTo>
                  <a:pt x="0" y="246"/>
                </a:moveTo>
                <a:lnTo>
                  <a:pt x="0" y="406"/>
                </a:lnTo>
                <a:cubicBezTo>
                  <a:pt x="213" y="463"/>
                  <a:pt x="1009" y="616"/>
                  <a:pt x="1280" y="645"/>
                </a:cubicBezTo>
                <a:cubicBezTo>
                  <a:pt x="1551" y="674"/>
                  <a:pt x="1092" y="669"/>
                  <a:pt x="1627" y="580"/>
                </a:cubicBezTo>
                <a:cubicBezTo>
                  <a:pt x="2162" y="491"/>
                  <a:pt x="3804" y="109"/>
                  <a:pt x="4493" y="113"/>
                </a:cubicBezTo>
                <a:cubicBezTo>
                  <a:pt x="5182" y="117"/>
                  <a:pt x="5549" y="586"/>
                  <a:pt x="5760" y="606"/>
                </a:cubicBezTo>
                <a:lnTo>
                  <a:pt x="5760" y="233"/>
                </a:lnTo>
                <a:cubicBezTo>
                  <a:pt x="5471" y="158"/>
                  <a:pt x="4818" y="0"/>
                  <a:pt x="4040" y="33"/>
                </a:cubicBezTo>
                <a:cubicBezTo>
                  <a:pt x="3262" y="66"/>
                  <a:pt x="1766" y="398"/>
                  <a:pt x="1093" y="433"/>
                </a:cubicBezTo>
                <a:cubicBezTo>
                  <a:pt x="420" y="468"/>
                  <a:pt x="228" y="285"/>
                  <a:pt x="0" y="246"/>
                </a:cubicBezTo>
                <a:close/>
              </a:path>
            </a:pathLst>
          </a:custGeom>
          <a:gradFill rotWithShape="0">
            <a:gsLst>
              <a:gs pos="0">
                <a:schemeClr val="bg1"/>
              </a:gs>
              <a:gs pos="50000">
                <a:schemeClr val="accent2">
                  <a:alpha val="100000"/>
                </a:schemeClr>
              </a:gs>
              <a:gs pos="100000">
                <a:schemeClr val="bg1"/>
              </a:gs>
            </a:gsLst>
            <a:lin ang="0" scaled="1"/>
            <a:tileRect/>
          </a:gradFill>
          <a:ln w="9525">
            <a:noFill/>
          </a:ln>
        </p:spPr>
        <p:txBody>
          <a:bodyPr/>
          <a:p>
            <a:endParaRPr lang="zh-CN" altLang="en-US"/>
          </a:p>
        </p:txBody>
      </p:sp>
      <p:sp>
        <p:nvSpPr>
          <p:cNvPr id="8199" name="任意多边形 8198"/>
          <p:cNvSpPr/>
          <p:nvPr/>
        </p:nvSpPr>
        <p:spPr>
          <a:xfrm>
            <a:off x="2476500" y="1522413"/>
            <a:ext cx="6667500" cy="5335587"/>
          </a:xfrm>
          <a:custGeom>
            <a:avLst/>
            <a:gdLst/>
            <a:ahLst/>
            <a:cxnLst/>
            <a:pathLst>
              <a:path w="4200" h="3361">
                <a:moveTo>
                  <a:pt x="0" y="3361"/>
                </a:moveTo>
                <a:cubicBezTo>
                  <a:pt x="118" y="2850"/>
                  <a:pt x="354" y="590"/>
                  <a:pt x="1054" y="295"/>
                </a:cubicBezTo>
                <a:cubicBezTo>
                  <a:pt x="1754" y="0"/>
                  <a:pt x="3676" y="1299"/>
                  <a:pt x="4200" y="1588"/>
                </a:cubicBezTo>
                <a:lnTo>
                  <a:pt x="4200" y="2028"/>
                </a:lnTo>
                <a:cubicBezTo>
                  <a:pt x="3700" y="1837"/>
                  <a:pt x="1842" y="220"/>
                  <a:pt x="1200" y="442"/>
                </a:cubicBezTo>
                <a:cubicBezTo>
                  <a:pt x="558" y="664"/>
                  <a:pt x="547" y="2875"/>
                  <a:pt x="347" y="3361"/>
                </a:cubicBezTo>
                <a:lnTo>
                  <a:pt x="0" y="3361"/>
                </a:lnTo>
                <a:close/>
              </a:path>
            </a:pathLst>
          </a:custGeom>
          <a:gradFill rotWithShape="0">
            <a:gsLst>
              <a:gs pos="0">
                <a:schemeClr val="accent2"/>
              </a:gs>
              <a:gs pos="50000">
                <a:schemeClr val="bg1"/>
              </a:gs>
              <a:gs pos="100000">
                <a:schemeClr val="accent2"/>
              </a:gs>
            </a:gsLst>
            <a:lin ang="5400000" scaled="1"/>
            <a:tileRect/>
          </a:gradFill>
          <a:ln w="9525">
            <a:noFill/>
          </a:ln>
        </p:spPr>
        <p:txBody>
          <a:bodyPr/>
          <a:p>
            <a:endParaRPr lang="zh-CN" altLang="en-US"/>
          </a:p>
        </p:txBody>
      </p:sp>
      <p:sp>
        <p:nvSpPr>
          <p:cNvPr id="8200" name="任意多边形 8199"/>
          <p:cNvSpPr/>
          <p:nvPr/>
        </p:nvSpPr>
        <p:spPr>
          <a:xfrm>
            <a:off x="0" y="3443288"/>
            <a:ext cx="9144000" cy="3055937"/>
          </a:xfrm>
          <a:custGeom>
            <a:avLst/>
            <a:gdLst/>
            <a:ahLst/>
            <a:cxnLst/>
            <a:pathLst>
              <a:path w="5760" h="1925">
                <a:moveTo>
                  <a:pt x="0" y="804"/>
                </a:moveTo>
                <a:lnTo>
                  <a:pt x="0" y="991"/>
                </a:lnTo>
                <a:cubicBezTo>
                  <a:pt x="258" y="1160"/>
                  <a:pt x="1005" y="1925"/>
                  <a:pt x="1547" y="1818"/>
                </a:cubicBezTo>
                <a:cubicBezTo>
                  <a:pt x="2089" y="1711"/>
                  <a:pt x="2551" y="398"/>
                  <a:pt x="3253" y="351"/>
                </a:cubicBezTo>
                <a:cubicBezTo>
                  <a:pt x="3955" y="304"/>
                  <a:pt x="5342" y="1404"/>
                  <a:pt x="5760" y="1537"/>
                </a:cubicBezTo>
                <a:lnTo>
                  <a:pt x="5760" y="1151"/>
                </a:lnTo>
                <a:cubicBezTo>
                  <a:pt x="5405" y="1124"/>
                  <a:pt x="3982" y="0"/>
                  <a:pt x="3240" y="84"/>
                </a:cubicBezTo>
                <a:cubicBezTo>
                  <a:pt x="2542" y="171"/>
                  <a:pt x="2113" y="1551"/>
                  <a:pt x="1573" y="1671"/>
                </a:cubicBezTo>
                <a:cubicBezTo>
                  <a:pt x="1033" y="1791"/>
                  <a:pt x="262" y="826"/>
                  <a:pt x="0" y="804"/>
                </a:cubicBezTo>
                <a:close/>
              </a:path>
            </a:pathLst>
          </a:custGeom>
          <a:gradFill rotWithShape="0">
            <a:gsLst>
              <a:gs pos="0">
                <a:schemeClr val="bg1"/>
              </a:gs>
              <a:gs pos="50000">
                <a:schemeClr val="accent2">
                  <a:alpha val="100000"/>
                </a:schemeClr>
              </a:gs>
              <a:gs pos="100000">
                <a:schemeClr val="bg1"/>
              </a:gs>
            </a:gsLst>
            <a:lin ang="0" scaled="1"/>
            <a:tileRect/>
          </a:gradFill>
          <a:ln w="9525">
            <a:noFill/>
          </a:ln>
        </p:spPr>
        <p:txBody>
          <a:bodyPr/>
          <a:p>
            <a:endParaRPr lang="zh-CN" altLang="en-US"/>
          </a:p>
        </p:txBody>
      </p:sp>
      <p:sp>
        <p:nvSpPr>
          <p:cNvPr id="8201" name="任意多边形 8200"/>
          <p:cNvSpPr/>
          <p:nvPr/>
        </p:nvSpPr>
        <p:spPr>
          <a:xfrm>
            <a:off x="0" y="3552825"/>
            <a:ext cx="6237288" cy="3365500"/>
          </a:xfrm>
          <a:custGeom>
            <a:avLst/>
            <a:gdLst/>
            <a:ahLst/>
            <a:cxnLst/>
            <a:pathLst>
              <a:path w="4196" h="2120">
                <a:moveTo>
                  <a:pt x="0" y="415"/>
                </a:moveTo>
                <a:lnTo>
                  <a:pt x="0" y="508"/>
                </a:lnTo>
                <a:cubicBezTo>
                  <a:pt x="160" y="577"/>
                  <a:pt x="1280" y="138"/>
                  <a:pt x="1933" y="229"/>
                </a:cubicBezTo>
                <a:cubicBezTo>
                  <a:pt x="2586" y="320"/>
                  <a:pt x="3644" y="746"/>
                  <a:pt x="3920" y="1055"/>
                </a:cubicBezTo>
                <a:cubicBezTo>
                  <a:pt x="4196" y="1364"/>
                  <a:pt x="3583" y="2120"/>
                  <a:pt x="3587" y="2082"/>
                </a:cubicBezTo>
                <a:lnTo>
                  <a:pt x="3947" y="829"/>
                </a:lnTo>
                <a:cubicBezTo>
                  <a:pt x="3725" y="494"/>
                  <a:pt x="2911" y="138"/>
                  <a:pt x="2253" y="69"/>
                </a:cubicBezTo>
                <a:cubicBezTo>
                  <a:pt x="1595" y="0"/>
                  <a:pt x="469" y="343"/>
                  <a:pt x="0" y="415"/>
                </a:cubicBezTo>
                <a:close/>
              </a:path>
            </a:pathLst>
          </a:custGeom>
          <a:gradFill rotWithShape="0">
            <a:gsLst>
              <a:gs pos="0">
                <a:schemeClr val="accent2">
                  <a:alpha val="100000"/>
                </a:schemeClr>
              </a:gs>
              <a:gs pos="50000">
                <a:schemeClr val="bg1"/>
              </a:gs>
              <a:gs pos="100000">
                <a:schemeClr val="accent2">
                  <a:alpha val="100000"/>
                </a:schemeClr>
              </a:gs>
            </a:gsLst>
            <a:lin ang="5400000" scaled="1"/>
            <a:tileRect/>
          </a:gradFill>
          <a:ln w="9525">
            <a:noFill/>
          </a:ln>
        </p:spPr>
        <p:txBody>
          <a:bodyPr/>
          <a:p>
            <a:endParaRPr lang="zh-CN" altLang="en-US"/>
          </a:p>
        </p:txBody>
      </p:sp>
      <p:sp>
        <p:nvSpPr>
          <p:cNvPr id="8202" name="标题 8201"/>
          <p:cNvSpPr>
            <a:spLocks noGrp="1"/>
          </p:cNvSpPr>
          <p:nvPr>
            <p:ph type="title"/>
          </p:nvPr>
        </p:nvSpPr>
        <p:spPr>
          <a:xfrm>
            <a:off x="685800" y="609600"/>
            <a:ext cx="77724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8203" name="文本占位符 8202"/>
          <p:cNvSpPr>
            <a:spLocks noGrp="1"/>
          </p:cNvSpPr>
          <p:nvPr>
            <p:ph type="body" idx="1"/>
          </p:nvPr>
        </p:nvSpPr>
        <p:spPr>
          <a:xfrm>
            <a:off x="685800" y="1981200"/>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204" name="日期占位符 8203"/>
          <p:cNvSpPr>
            <a:spLocks noGrp="1"/>
          </p:cNvSpPr>
          <p:nvPr>
            <p:ph type="dt" sz="half" idx="2"/>
          </p:nvPr>
        </p:nvSpPr>
        <p:spPr>
          <a:xfrm>
            <a:off x="685800" y="6248400"/>
            <a:ext cx="1905000" cy="457200"/>
          </a:xfrm>
          <a:prstGeom prst="rect">
            <a:avLst/>
          </a:prstGeom>
          <a:noFill/>
          <a:ln w="9525">
            <a:noFill/>
          </a:ln>
        </p:spPr>
        <p:txBody>
          <a:bodyPr/>
          <a:lstStyle>
            <a:lvl1pPr>
              <a:defRPr sz="1400" b="0"/>
            </a:lvl1pPr>
          </a:lstStyle>
          <a:p>
            <a:pPr lvl="0" eaLnBrk="1" hangingPunct="1">
              <a:lnSpc>
                <a:spcPct val="100000"/>
              </a:lnSpc>
              <a:spcBef>
                <a:spcPct val="50000"/>
              </a:spcBef>
            </a:pPr>
            <a:fld id="{BB962C8B-B14F-4D97-AF65-F5344CB8AC3E}" type="datetime1">
              <a:rPr lang="zh-CN" altLang="en-US" dirty="0">
                <a:latin typeface="Times New Roman" panose="02020603050405020304" pitchFamily="18" charset="0"/>
              </a:rPr>
            </a:fld>
            <a:endParaRPr lang="zh-CN" altLang="en-US" dirty="0">
              <a:latin typeface="Times New Roman" panose="02020603050405020304" pitchFamily="18" charset="0"/>
            </a:endParaRPr>
          </a:p>
        </p:txBody>
      </p:sp>
      <p:sp>
        <p:nvSpPr>
          <p:cNvPr id="8205" name="页脚占位符 8204"/>
          <p:cNvSpPr>
            <a:spLocks noGrp="1"/>
          </p:cNvSpPr>
          <p:nvPr>
            <p:ph type="ftr" sz="quarter" idx="3"/>
          </p:nvPr>
        </p:nvSpPr>
        <p:spPr>
          <a:xfrm>
            <a:off x="3124200" y="6248400"/>
            <a:ext cx="2895600" cy="457200"/>
          </a:xfrm>
          <a:prstGeom prst="rect">
            <a:avLst/>
          </a:prstGeom>
          <a:noFill/>
          <a:ln w="9525">
            <a:noFill/>
          </a:ln>
        </p:spPr>
        <p:txBody>
          <a:bodyPr/>
          <a:lstStyle>
            <a:lvl1pPr algn="ctr">
              <a:defRPr sz="1400" b="0"/>
            </a:lvl1p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8206" name="灯片编号占位符 8205"/>
          <p:cNvSpPr>
            <a:spLocks noGrp="1"/>
          </p:cNvSpPr>
          <p:nvPr>
            <p:ph type="sldNum" sz="quarter" idx="4"/>
          </p:nvPr>
        </p:nvSpPr>
        <p:spPr>
          <a:xfrm>
            <a:off x="6553200" y="6248400"/>
            <a:ext cx="1905000" cy="457200"/>
          </a:xfrm>
          <a:prstGeom prst="rect">
            <a:avLst/>
          </a:prstGeom>
          <a:noFill/>
          <a:ln w="9525">
            <a:noFill/>
          </a:ln>
        </p:spPr>
        <p:txBody>
          <a:bodyPr/>
          <a:lstStyle>
            <a:lvl1pPr algn="r">
              <a:defRPr sz="1400" b="0"/>
            </a:lvl1p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ntr" presetSubtype="8" fill="hold" grpId="0" nodeType="afterEffect">
                                  <p:stCondLst>
                                    <p:cond delay="1000"/>
                                  </p:stCondLst>
                                  <p:childTnLst>
                                    <p:set>
                                      <p:cBhvr>
                                        <p:cTn id="6" dur="1" fill="hold">
                                          <p:stCondLst>
                                            <p:cond delay="0"/>
                                          </p:stCondLst>
                                        </p:cTn>
                                        <p:tgtEl>
                                          <p:spTgt spid="8194"/>
                                        </p:tgtEl>
                                        <p:attrNameLst>
                                          <p:attrName>style.visibility</p:attrName>
                                        </p:attrNameLst>
                                      </p:cBhvr>
                                      <p:to>
                                        <p:strVal val="visible"/>
                                      </p:to>
                                    </p:set>
                                    <p:anim calcmode="lin" valueType="num">
                                      <p:cBhvr additive="base">
                                        <p:cTn id="7" dur="5000" fill="hold"/>
                                        <p:tgtEl>
                                          <p:spTgt spid="8194"/>
                                        </p:tgtEl>
                                        <p:attrNameLst>
                                          <p:attrName>ppt_x</p:attrName>
                                        </p:attrNameLst>
                                      </p:cBhvr>
                                      <p:tavLst>
                                        <p:tav tm="0">
                                          <p:val>
                                            <p:strVal val="0-#ppt_w/2"/>
                                          </p:val>
                                        </p:tav>
                                        <p:tav tm="100000">
                                          <p:val>
                                            <p:strVal val="#ppt_x"/>
                                          </p:val>
                                        </p:tav>
                                      </p:tavLst>
                                    </p:anim>
                                    <p:anim calcmode="lin" valueType="num">
                                      <p:cBhvr additive="base">
                                        <p:cTn id="8" dur="5000" fill="hold"/>
                                        <p:tgtEl>
                                          <p:spTgt spid="81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animBg="1"/>
    </p:bldLst>
  </p:timing>
  <p:hf sldNum="0" hdr="0" ftr="0" dt="0"/>
  <p:txStyles>
    <p:title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2.wmf"/><Relationship Id="rId1"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3.wmf"/><Relationship Id="rId1"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2.wmf"/><Relationship Id="rId3" Type="http://schemas.openxmlformats.org/officeDocument/2006/relationships/oleObject" Target="../embeddings/oleObject5.bin"/><Relationship Id="rId2" Type="http://schemas.openxmlformats.org/officeDocument/2006/relationships/image" Target="../media/image1.wmf"/><Relationship Id="rId1" Type="http://schemas.openxmlformats.org/officeDocument/2006/relationships/oleObject" Target="../embeddings/oleObject4.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4.wmf"/><Relationship Id="rId1" Type="http://schemas.openxmlformats.org/officeDocument/2006/relationships/oleObject" Target="../embeddings/oleObject6.bin"/></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标题 43009"/>
          <p:cNvSpPr>
            <a:spLocks noGrp="1"/>
          </p:cNvSpPr>
          <p:nvPr>
            <p:ph type="title"/>
          </p:nvPr>
        </p:nvSpPr>
        <p:spPr>
          <a:xfrm>
            <a:off x="457200" y="765175"/>
            <a:ext cx="8001000" cy="4679950"/>
          </a:xfrm>
          <a:ln/>
        </p:spPr>
        <p:txBody>
          <a:bodyPr anchor="ctr" anchorCtr="0"/>
          <a:p>
            <a:pPr algn="l"/>
            <a:r>
              <a:rPr lang="zh-CN" altLang="en-US" sz="4000" b="1" dirty="0">
                <a:solidFill>
                  <a:srgbClr val="FF0000"/>
                </a:solidFill>
                <a:latin typeface="黑体" panose="02010609060101010101" pitchFamily="49" charset="-122"/>
                <a:ea typeface="黑体" panose="02010609060101010101" pitchFamily="49" charset="-122"/>
              </a:rPr>
              <a:t>第六单元 宏观经济基本概念</a:t>
            </a:r>
            <a:r>
              <a:rPr lang="zh-CN" altLang="en-US" sz="2800" b="1" dirty="0">
                <a:solidFill>
                  <a:srgbClr val="FF0000"/>
                </a:solidFill>
                <a:latin typeface="黑体" panose="02010609060101010101" pitchFamily="49" charset="-122"/>
                <a:ea typeface="黑体" panose="02010609060101010101" pitchFamily="49" charset="-122"/>
              </a:rPr>
              <a:t> </a:t>
            </a:r>
            <a:br>
              <a:rPr lang="zh-CN" altLang="en-US" sz="2800" b="1" dirty="0">
                <a:solidFill>
                  <a:srgbClr val="FF0000"/>
                </a:solidFill>
                <a:latin typeface="黑体" panose="02010609060101010101" pitchFamily="49" charset="-122"/>
                <a:ea typeface="黑体" panose="02010609060101010101" pitchFamily="49" charset="-122"/>
              </a:rPr>
            </a:br>
            <a:br>
              <a:rPr lang="zh-CN" altLang="en-US" sz="2800" b="1" dirty="0">
                <a:solidFill>
                  <a:srgbClr val="FF0000"/>
                </a:solidFill>
                <a:latin typeface="宋体" panose="02010600030101010101" pitchFamily="2" charset="-122"/>
              </a:rPr>
            </a:br>
            <a:r>
              <a:rPr lang="zh-CN" altLang="en-US" sz="2800" b="1" dirty="0">
                <a:solidFill>
                  <a:srgbClr val="FF0000"/>
                </a:solidFill>
                <a:latin typeface="宋体" panose="02010600030101010101" pitchFamily="2" charset="-122"/>
              </a:rPr>
              <a:t>第一节</a:t>
            </a:r>
            <a:r>
              <a:rPr lang="en-US" altLang="zh-CN" sz="2800" b="1" dirty="0">
                <a:solidFill>
                  <a:srgbClr val="FF0000"/>
                </a:solidFill>
                <a:latin typeface="宋体" panose="02010600030101010101" pitchFamily="2" charset="-122"/>
                <a:cs typeface="Times New Roman" panose="02020603050405020304" pitchFamily="18" charset="0"/>
              </a:rPr>
              <a:t>   </a:t>
            </a:r>
            <a:r>
              <a:rPr lang="zh-CN" altLang="en-US" sz="2800" b="1" dirty="0">
                <a:solidFill>
                  <a:srgbClr val="FF0000"/>
                </a:solidFill>
                <a:latin typeface="宋体" panose="02010600030101010101" pitchFamily="2" charset="-122"/>
              </a:rPr>
              <a:t>国民收入的衡量</a:t>
            </a:r>
            <a:br>
              <a:rPr lang="zh-CN" altLang="en-US" sz="2800" b="1" dirty="0">
                <a:solidFill>
                  <a:srgbClr val="FF0000"/>
                </a:solidFill>
                <a:latin typeface="宋体" panose="02010600030101010101" pitchFamily="2" charset="-122"/>
              </a:rPr>
            </a:br>
            <a:r>
              <a:rPr lang="en-US" altLang="zh-CN" sz="2800" dirty="0">
                <a:solidFill>
                  <a:srgbClr val="FF0000"/>
                </a:solidFill>
                <a:latin typeface="宋体" panose="02010600030101010101" pitchFamily="2" charset="-122"/>
              </a:rPr>
              <a:t> </a:t>
            </a:r>
            <a:br>
              <a:rPr lang="en-US" altLang="zh-CN" sz="2800" dirty="0">
                <a:solidFill>
                  <a:srgbClr val="FF0000"/>
                </a:solidFill>
                <a:latin typeface="宋体" panose="02010600030101010101" pitchFamily="2" charset="-122"/>
              </a:rPr>
            </a:br>
            <a:r>
              <a:rPr lang="en-US" altLang="zh-CN" sz="2800" b="1">
                <a:solidFill>
                  <a:srgbClr val="FF0000"/>
                </a:solidFill>
                <a:latin typeface="宋体" panose="02010600030101010101" pitchFamily="2" charset="-122"/>
              </a:rPr>
              <a:t>A</a:t>
            </a:r>
            <a:r>
              <a:rPr lang="zh-CN" altLang="en-US" sz="2800" b="1">
                <a:solidFill>
                  <a:srgbClr val="FF0000"/>
                </a:solidFill>
                <a:latin typeface="宋体" panose="02010600030101010101" pitchFamily="2" charset="-122"/>
              </a:rPr>
              <a:t>．</a:t>
            </a:r>
            <a:r>
              <a:rPr lang="zh-CN" altLang="en-US" sz="2800" b="1" dirty="0">
                <a:solidFill>
                  <a:srgbClr val="FF0000"/>
                </a:solidFill>
                <a:latin typeface="宋体" panose="02010600030101010101" pitchFamily="2" charset="-122"/>
              </a:rPr>
              <a:t>宏观经济学的主要研究对象</a:t>
            </a:r>
            <a:br>
              <a:rPr lang="zh-CN" altLang="en-US" sz="2800" b="1" dirty="0">
                <a:solidFill>
                  <a:srgbClr val="FF0000"/>
                </a:solidFill>
                <a:latin typeface="宋体" panose="02010600030101010101" pitchFamily="2" charset="-122"/>
              </a:rPr>
            </a:br>
            <a:r>
              <a:rPr lang="zh-CN" altLang="en-US" sz="2400" b="1" dirty="0">
                <a:solidFill>
                  <a:srgbClr val="000000"/>
                </a:solidFill>
                <a:latin typeface="宋体" panose="02010600030101010101" pitchFamily="2" charset="-122"/>
              </a:rPr>
              <a:t>国民经济增长</a:t>
            </a:r>
            <a:r>
              <a:rPr lang="en-US" altLang="zh-CN" sz="2400" b="1">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经济增长</a:t>
            </a:r>
            <a:r>
              <a:rPr lang="en-US" altLang="zh-CN" sz="2400" b="1">
                <a:solidFill>
                  <a:srgbClr val="000000"/>
                </a:solidFill>
                <a:latin typeface="宋体" panose="02010600030101010101" pitchFamily="2" charset="-122"/>
              </a:rPr>
              <a:t>)</a:t>
            </a:r>
            <a:br>
              <a:rPr lang="en-US" altLang="zh-CN" sz="2400" b="1">
                <a:solidFill>
                  <a:srgbClr val="000000"/>
                </a:solidFill>
                <a:latin typeface="宋体" panose="02010600030101010101" pitchFamily="2" charset="-122"/>
              </a:rPr>
            </a:br>
            <a:r>
              <a:rPr lang="zh-CN" altLang="en-US" sz="2400" b="1" dirty="0">
                <a:solidFill>
                  <a:srgbClr val="000000"/>
                </a:solidFill>
                <a:latin typeface="宋体" panose="02010600030101010101" pitchFamily="2" charset="-122"/>
              </a:rPr>
              <a:t>物价</a:t>
            </a:r>
            <a:r>
              <a:rPr lang="en-US" altLang="zh-CN" sz="2400" b="1">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通货膨胀</a:t>
            </a:r>
            <a:r>
              <a:rPr lang="en-US" altLang="zh-CN" sz="2400" b="1">
                <a:solidFill>
                  <a:srgbClr val="000000"/>
                </a:solidFill>
                <a:latin typeface="宋体" panose="02010600030101010101" pitchFamily="2" charset="-122"/>
              </a:rPr>
              <a:t>)</a:t>
            </a:r>
            <a:br>
              <a:rPr lang="en-US" altLang="zh-CN" sz="2400" b="1">
                <a:solidFill>
                  <a:srgbClr val="000000"/>
                </a:solidFill>
                <a:latin typeface="宋体" panose="02010600030101010101" pitchFamily="2" charset="-122"/>
              </a:rPr>
            </a:br>
            <a:r>
              <a:rPr lang="zh-CN" altLang="en-US" sz="2400" b="1" dirty="0">
                <a:solidFill>
                  <a:srgbClr val="000000"/>
                </a:solidFill>
                <a:latin typeface="宋体" panose="02010600030101010101" pitchFamily="2" charset="-122"/>
              </a:rPr>
              <a:t>就业</a:t>
            </a:r>
            <a:r>
              <a:rPr lang="en-US" altLang="zh-CN" sz="2400" b="1">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失业率</a:t>
            </a:r>
            <a:r>
              <a:rPr lang="en-US" altLang="zh-CN" sz="2400" b="1">
                <a:solidFill>
                  <a:srgbClr val="000000"/>
                </a:solidFill>
                <a:latin typeface="宋体" panose="02010600030101010101" pitchFamily="2" charset="-122"/>
              </a:rPr>
              <a:t>)</a:t>
            </a:r>
            <a:br>
              <a:rPr lang="en-US" altLang="zh-CN" sz="2400" b="1">
                <a:solidFill>
                  <a:srgbClr val="000000"/>
                </a:solidFill>
                <a:latin typeface="宋体" panose="02010600030101010101" pitchFamily="2" charset="-122"/>
              </a:rPr>
            </a:br>
            <a:r>
              <a:rPr lang="en-US" altLang="zh-CN" sz="1600" b="1">
                <a:solidFill>
                  <a:srgbClr val="000000"/>
                </a:solidFill>
                <a:latin typeface="宋体" panose="02010600030101010101" pitchFamily="2" charset="-122"/>
              </a:rPr>
              <a:t> </a:t>
            </a:r>
            <a:br>
              <a:rPr lang="en-US" altLang="zh-CN" sz="1600" b="1">
                <a:solidFill>
                  <a:srgbClr val="000000"/>
                </a:solidFill>
                <a:latin typeface="宋体" panose="02010600030101010101" pitchFamily="2" charset="-122"/>
              </a:rPr>
            </a:br>
            <a:endParaRPr lang="en-US" altLang="zh-CN" sz="1600" b="1">
              <a:solidFill>
                <a:srgbClr val="000000"/>
              </a:solidFill>
              <a:latin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1" name="文本占位符 63490"/>
          <p:cNvSpPr>
            <a:spLocks noGrp="1"/>
          </p:cNvSpPr>
          <p:nvPr>
            <p:ph type="body" idx="1"/>
          </p:nvPr>
        </p:nvSpPr>
        <p:spPr>
          <a:xfrm>
            <a:off x="685800" y="692150"/>
            <a:ext cx="7772400" cy="5403850"/>
          </a:xfrm>
          <a:ln/>
        </p:spPr>
        <p:txBody>
          <a:bodyPr/>
          <a:p>
            <a:pPr marL="0" indent="0">
              <a:buNone/>
            </a:pPr>
            <a:r>
              <a:rPr lang="en-US" altLang="zh-CN" sz="2000">
                <a:solidFill>
                  <a:srgbClr val="FF0000"/>
                </a:solidFill>
                <a:latin typeface="宋体" panose="02010600030101010101" pitchFamily="2" charset="-122"/>
              </a:rPr>
              <a:t>B</a:t>
            </a:r>
            <a:r>
              <a:rPr lang="zh-CN" altLang="en-US" sz="2000" dirty="0">
                <a:solidFill>
                  <a:srgbClr val="FF0000"/>
                </a:solidFill>
                <a:latin typeface="宋体" panose="02010600030101010101" pitchFamily="2" charset="-122"/>
              </a:rPr>
              <a:t>．国内生产总值（</a:t>
            </a:r>
            <a:r>
              <a:rPr lang="en-US" altLang="zh-CN" sz="2000">
                <a:solidFill>
                  <a:srgbClr val="FF0000"/>
                </a:solidFill>
                <a:latin typeface="宋体" panose="02010600030101010101" pitchFamily="2" charset="-122"/>
              </a:rPr>
              <a:t>GDP</a:t>
            </a:r>
            <a:r>
              <a:rPr lang="zh-CN" altLang="en-US" sz="2000" dirty="0">
                <a:solidFill>
                  <a:srgbClr val="FF0000"/>
                </a:solidFill>
                <a:latin typeface="宋体" panose="02010600030101010101" pitchFamily="2" charset="-122"/>
              </a:rPr>
              <a:t>）的衡量</a:t>
            </a:r>
            <a:br>
              <a:rPr lang="zh-CN" altLang="en-US" sz="2000" dirty="0">
                <a:solidFill>
                  <a:srgbClr val="FF0000"/>
                </a:solidFill>
                <a:latin typeface="宋体" panose="02010600030101010101" pitchFamily="2" charset="-122"/>
              </a:rPr>
            </a:br>
            <a:r>
              <a:rPr lang="zh-CN" altLang="en-US" sz="2000" dirty="0">
                <a:solidFill>
                  <a:srgbClr val="000000"/>
                </a:solidFill>
                <a:latin typeface="宋体" panose="02010600030101010101" pitchFamily="2" charset="-122"/>
              </a:rPr>
              <a:t>定义</a:t>
            </a:r>
            <a:r>
              <a:rPr lang="en-US" altLang="zh-CN" sz="2000">
                <a:solidFill>
                  <a:srgbClr val="000000"/>
                </a:solidFill>
                <a:latin typeface="宋体" panose="02010600030101010101" pitchFamily="2" charset="-122"/>
              </a:rPr>
              <a:t>: </a:t>
            </a:r>
            <a:r>
              <a:rPr lang="zh-CN" altLang="en-US" sz="2000" dirty="0">
                <a:solidFill>
                  <a:srgbClr val="000000"/>
                </a:solidFill>
                <a:latin typeface="宋体" panose="02010600030101010101" pitchFamily="2" charset="-122"/>
              </a:rPr>
              <a:t>国内生产总值是在某一既定时期一个国家内生产的所有最终物品与劳务的市场价值。</a:t>
            </a:r>
            <a:br>
              <a:rPr lang="zh-CN" altLang="en-US" sz="2000" dirty="0">
                <a:solidFill>
                  <a:srgbClr val="000000"/>
                </a:solidFill>
                <a:latin typeface="宋体" panose="02010600030101010101" pitchFamily="2" charset="-122"/>
              </a:rPr>
            </a:br>
            <a:r>
              <a:rPr lang="zh-CN" altLang="en-US" sz="2000" b="1" dirty="0">
                <a:solidFill>
                  <a:srgbClr val="000000"/>
                </a:solidFill>
                <a:latin typeface="宋体" panose="02010600030101010101" pitchFamily="2" charset="-122"/>
              </a:rPr>
              <a:t>“</a:t>
            </a:r>
            <a:r>
              <a:rPr lang="en-US" altLang="zh-CN" sz="2000" b="1">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所有的</a:t>
            </a:r>
            <a:r>
              <a:rPr lang="en-US" altLang="zh-CN" sz="2000" b="1">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a:t>
            </a:r>
            <a:r>
              <a:rPr lang="en-US" altLang="zh-CN" sz="2000">
                <a:solidFill>
                  <a:srgbClr val="000000"/>
                </a:solidFill>
                <a:latin typeface="宋体" panose="02010600030101010101" pitchFamily="2" charset="-122"/>
              </a:rPr>
              <a:t>GDP</a:t>
            </a:r>
            <a:r>
              <a:rPr lang="zh-CN" altLang="en-US" sz="2000" dirty="0">
                <a:solidFill>
                  <a:srgbClr val="000000"/>
                </a:solidFill>
                <a:latin typeface="宋体" panose="02010600030101010101" pitchFamily="2" charset="-122"/>
              </a:rPr>
              <a:t>要成为全面的衡量，它包括了经济中生产并在市场上合法出售的所有东西。</a:t>
            </a:r>
            <a:r>
              <a:rPr lang="en-US" altLang="zh-CN" sz="2000">
                <a:solidFill>
                  <a:srgbClr val="000000"/>
                </a:solidFill>
                <a:latin typeface="宋体" panose="02010600030101010101" pitchFamily="2" charset="-122"/>
              </a:rPr>
              <a:t>GDP</a:t>
            </a:r>
            <a:r>
              <a:rPr lang="zh-CN" altLang="en-US" sz="2000" dirty="0">
                <a:solidFill>
                  <a:srgbClr val="000000"/>
                </a:solidFill>
                <a:latin typeface="宋体" panose="02010600030101010101" pitchFamily="2" charset="-122"/>
              </a:rPr>
              <a:t>还包括了租金和佣金的收入。</a:t>
            </a:r>
            <a:br>
              <a:rPr lang="zh-CN" altLang="en-US" sz="2000" dirty="0">
                <a:solidFill>
                  <a:srgbClr val="000000"/>
                </a:solidFill>
                <a:latin typeface="宋体" panose="02010600030101010101" pitchFamily="2" charset="-122"/>
              </a:rPr>
            </a:br>
            <a:r>
              <a:rPr lang="zh-CN" altLang="en-US" sz="2000" b="1" dirty="0">
                <a:solidFill>
                  <a:srgbClr val="000000"/>
                </a:solidFill>
                <a:latin typeface="宋体" panose="02010600030101010101" pitchFamily="2" charset="-122"/>
              </a:rPr>
              <a:t>“</a:t>
            </a:r>
            <a:r>
              <a:rPr lang="en-US" altLang="zh-CN" sz="2000" b="1">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最终</a:t>
            </a:r>
            <a:r>
              <a:rPr lang="en-US" altLang="zh-CN" sz="2000" b="1">
                <a:solidFill>
                  <a:srgbClr val="000000"/>
                </a:solidFill>
                <a:latin typeface="宋体" panose="02010600030101010101" pitchFamily="2" charset="-122"/>
              </a:rPr>
              <a:t>……”</a:t>
            </a:r>
            <a:r>
              <a:rPr lang="zh-CN" altLang="en-US" sz="2000" dirty="0">
                <a:solidFill>
                  <a:srgbClr val="000000"/>
                </a:solidFill>
                <a:latin typeface="宋体" panose="02010600030101010101" pitchFamily="2" charset="-122"/>
              </a:rPr>
              <a:t>：</a:t>
            </a:r>
            <a:r>
              <a:rPr lang="en-US" altLang="zh-CN" sz="2000">
                <a:solidFill>
                  <a:srgbClr val="000000"/>
                </a:solidFill>
                <a:latin typeface="宋体" panose="02010600030101010101" pitchFamily="2" charset="-122"/>
              </a:rPr>
              <a:t>GDP</a:t>
            </a:r>
            <a:r>
              <a:rPr lang="zh-CN" altLang="en-US" sz="2000" dirty="0">
                <a:solidFill>
                  <a:srgbClr val="000000"/>
                </a:solidFill>
                <a:latin typeface="宋体" panose="02010600030101010101" pitchFamily="2" charset="-122"/>
              </a:rPr>
              <a:t>只计算最终物品的价值，而不包括中间物品，避免对中间物品的重复计算。</a:t>
            </a:r>
            <a:br>
              <a:rPr lang="zh-CN" altLang="en-US" sz="2000" dirty="0">
                <a:solidFill>
                  <a:srgbClr val="000000"/>
                </a:solidFill>
                <a:latin typeface="宋体" panose="02010600030101010101" pitchFamily="2" charset="-122"/>
              </a:rPr>
            </a:br>
            <a:r>
              <a:rPr lang="zh-CN" altLang="en-US" sz="2000" b="1" dirty="0">
                <a:solidFill>
                  <a:srgbClr val="000000"/>
                </a:solidFill>
                <a:latin typeface="宋体" panose="02010600030101010101" pitchFamily="2" charset="-122"/>
              </a:rPr>
              <a:t>“</a:t>
            </a:r>
            <a:r>
              <a:rPr lang="en-US" altLang="zh-CN" sz="2000" b="1">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物品和劳务</a:t>
            </a:r>
            <a:r>
              <a:rPr lang="en-US" altLang="zh-CN" sz="2000" b="1">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a:t>
            </a:r>
            <a:r>
              <a:rPr lang="en-US" altLang="zh-CN" sz="2000">
                <a:solidFill>
                  <a:srgbClr val="000000"/>
                </a:solidFill>
                <a:latin typeface="宋体" panose="02010600030101010101" pitchFamily="2" charset="-122"/>
              </a:rPr>
              <a:t>GDP</a:t>
            </a:r>
            <a:r>
              <a:rPr lang="zh-CN" altLang="en-US" sz="2000" dirty="0">
                <a:solidFill>
                  <a:srgbClr val="000000"/>
                </a:solidFill>
                <a:latin typeface="宋体" panose="02010600030101010101" pitchFamily="2" charset="-122"/>
              </a:rPr>
              <a:t>既包括有形的物品，也包括无形的劳务。</a:t>
            </a:r>
            <a:br>
              <a:rPr lang="zh-CN" altLang="en-US" sz="2000" dirty="0">
                <a:solidFill>
                  <a:srgbClr val="000000"/>
                </a:solidFill>
                <a:latin typeface="宋体" panose="02010600030101010101" pitchFamily="2" charset="-122"/>
              </a:rPr>
            </a:br>
            <a:r>
              <a:rPr lang="zh-CN" altLang="en-US" sz="2000" b="1" dirty="0">
                <a:solidFill>
                  <a:srgbClr val="000000"/>
                </a:solidFill>
                <a:latin typeface="宋体" panose="02010600030101010101" pitchFamily="2" charset="-122"/>
              </a:rPr>
              <a:t>“</a:t>
            </a:r>
            <a:r>
              <a:rPr lang="en-US" altLang="zh-CN" sz="2000" b="1">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生产的</a:t>
            </a:r>
            <a:r>
              <a:rPr lang="en-US" altLang="zh-CN" sz="2000" b="1">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a:t>
            </a:r>
            <a:r>
              <a:rPr lang="en-US" altLang="zh-CN" sz="2000">
                <a:solidFill>
                  <a:srgbClr val="000000"/>
                </a:solidFill>
                <a:latin typeface="宋体" panose="02010600030101010101" pitchFamily="2" charset="-122"/>
              </a:rPr>
              <a:t>GDP</a:t>
            </a:r>
            <a:r>
              <a:rPr lang="zh-CN" altLang="en-US" sz="2000" dirty="0">
                <a:solidFill>
                  <a:srgbClr val="000000"/>
                </a:solidFill>
                <a:latin typeface="宋体" panose="02010600030101010101" pitchFamily="2" charset="-122"/>
              </a:rPr>
              <a:t>包括现期生产的物品与劳务，并不包括涉及过去生产的东西的交易。</a:t>
            </a:r>
            <a:br>
              <a:rPr lang="zh-CN" altLang="en-US" sz="2000" dirty="0">
                <a:solidFill>
                  <a:srgbClr val="000000"/>
                </a:solidFill>
                <a:latin typeface="宋体" panose="02010600030101010101" pitchFamily="2" charset="-122"/>
              </a:rPr>
            </a:br>
            <a:r>
              <a:rPr lang="zh-CN" altLang="en-US" sz="2000" b="1" dirty="0">
                <a:solidFill>
                  <a:srgbClr val="000000"/>
                </a:solidFill>
                <a:latin typeface="宋体" panose="02010600030101010101" pitchFamily="2" charset="-122"/>
              </a:rPr>
              <a:t>“</a:t>
            </a:r>
            <a:r>
              <a:rPr lang="en-US" altLang="zh-CN" sz="2000" b="1">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一个国家之内</a:t>
            </a:r>
            <a:r>
              <a:rPr lang="en-US" altLang="zh-CN" sz="2000" b="1">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a:t>
            </a:r>
            <a:r>
              <a:rPr lang="en-US" altLang="zh-CN" sz="2000">
                <a:solidFill>
                  <a:srgbClr val="000000"/>
                </a:solidFill>
                <a:latin typeface="宋体" panose="02010600030101010101" pitchFamily="2" charset="-122"/>
              </a:rPr>
              <a:t>GDP</a:t>
            </a:r>
            <a:r>
              <a:rPr lang="zh-CN" altLang="en-US" sz="2000" dirty="0">
                <a:solidFill>
                  <a:srgbClr val="000000"/>
                </a:solidFill>
                <a:latin typeface="宋体" panose="02010600030101010101" pitchFamily="2" charset="-122"/>
              </a:rPr>
              <a:t>衡量的生产价值是在一个国家的地理范围之内。国民生产总值（</a:t>
            </a:r>
            <a:r>
              <a:rPr lang="en-US" altLang="zh-CN" sz="2000">
                <a:solidFill>
                  <a:srgbClr val="000000"/>
                </a:solidFill>
                <a:latin typeface="宋体" panose="02010600030101010101" pitchFamily="2" charset="-122"/>
              </a:rPr>
              <a:t>GNP</a:t>
            </a:r>
            <a:r>
              <a:rPr lang="zh-CN" altLang="en-US" sz="2000" dirty="0">
                <a:solidFill>
                  <a:srgbClr val="000000"/>
                </a:solidFill>
                <a:latin typeface="宋体" panose="02010600030101010101" pitchFamily="2" charset="-122"/>
              </a:rPr>
              <a:t>）是在某一既定时期内由一国永久居民生产的所有最终物品和劳务的市场价值。</a:t>
            </a:r>
            <a:br>
              <a:rPr lang="zh-CN" altLang="en-US" sz="2000" dirty="0">
                <a:solidFill>
                  <a:srgbClr val="000000"/>
                </a:solidFill>
                <a:latin typeface="宋体" panose="02010600030101010101" pitchFamily="2" charset="-122"/>
              </a:rPr>
            </a:br>
            <a:r>
              <a:rPr lang="zh-CN" altLang="en-US" sz="2000" b="1" dirty="0">
                <a:solidFill>
                  <a:srgbClr val="000000"/>
                </a:solidFill>
                <a:latin typeface="宋体" panose="02010600030101010101" pitchFamily="2" charset="-122"/>
              </a:rPr>
              <a:t>“</a:t>
            </a:r>
            <a:r>
              <a:rPr lang="en-US" altLang="zh-CN" sz="2000" b="1">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在某一既定时期内</a:t>
            </a:r>
            <a:r>
              <a:rPr lang="en-US" altLang="zh-CN" sz="2000" b="1">
                <a:solidFill>
                  <a:srgbClr val="000000"/>
                </a:solidFill>
                <a:latin typeface="宋体" panose="02010600030101010101" pitchFamily="2" charset="-122"/>
              </a:rPr>
              <a:t>……”</a:t>
            </a:r>
            <a:r>
              <a:rPr lang="zh-CN" altLang="en-US" sz="2000" dirty="0">
                <a:solidFill>
                  <a:srgbClr val="000000"/>
                </a:solidFill>
                <a:latin typeface="宋体" panose="02010600030101010101" pitchFamily="2" charset="-122"/>
              </a:rPr>
              <a:t>：</a:t>
            </a:r>
            <a:r>
              <a:rPr lang="en-US" altLang="zh-CN" sz="2000">
                <a:solidFill>
                  <a:srgbClr val="000000"/>
                </a:solidFill>
                <a:latin typeface="宋体" panose="02010600030101010101" pitchFamily="2" charset="-122"/>
              </a:rPr>
              <a:t>GDP</a:t>
            </a:r>
            <a:r>
              <a:rPr lang="zh-CN" altLang="en-US" sz="2000" dirty="0">
                <a:solidFill>
                  <a:srgbClr val="000000"/>
                </a:solidFill>
                <a:latin typeface="宋体" panose="02010600030101010101" pitchFamily="2" charset="-122"/>
              </a:rPr>
              <a:t>衡量某一既定时期内进行的生产的价值。通常这个时期是一年或一个季度。</a:t>
            </a:r>
            <a:r>
              <a:rPr lang="en-US" altLang="zh-CN" sz="2000">
                <a:solidFill>
                  <a:srgbClr val="000000"/>
                </a:solidFill>
                <a:latin typeface="宋体" panose="02010600030101010101" pitchFamily="2" charset="-122"/>
              </a:rPr>
              <a:t>GDP</a:t>
            </a:r>
            <a:r>
              <a:rPr lang="zh-CN" altLang="en-US" sz="2000" dirty="0">
                <a:solidFill>
                  <a:srgbClr val="000000"/>
                </a:solidFill>
                <a:latin typeface="宋体" panose="02010600030101010101" pitchFamily="2" charset="-122"/>
              </a:rPr>
              <a:t>衡量在这一段时期中经济收入与支出的流量。</a:t>
            </a:r>
            <a:endParaRPr lang="zh-CN" altLang="en-US" sz="2000" dirty="0">
              <a:solidFill>
                <a:srgbClr val="000000"/>
              </a:solidFill>
              <a:latin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5" name="文本占位符 44034"/>
          <p:cNvSpPr>
            <a:spLocks noGrp="1"/>
          </p:cNvSpPr>
          <p:nvPr>
            <p:ph type="body" idx="1"/>
          </p:nvPr>
        </p:nvSpPr>
        <p:spPr>
          <a:xfrm>
            <a:off x="611188" y="188913"/>
            <a:ext cx="7847012" cy="6048375"/>
          </a:xfrm>
          <a:ln/>
        </p:spPr>
        <p:txBody>
          <a:bodyPr/>
          <a:p>
            <a:pPr marL="0" indent="0" algn="just">
              <a:lnSpc>
                <a:spcPct val="90000"/>
              </a:lnSpc>
              <a:buNone/>
            </a:pPr>
            <a:r>
              <a:rPr lang="zh-CN" altLang="en-US" sz="3600" b="1" dirty="0">
                <a:solidFill>
                  <a:srgbClr val="FF0000"/>
                </a:solidFill>
                <a:latin typeface="宋体" panose="02010600030101010101" pitchFamily="2" charset="-122"/>
              </a:rPr>
              <a:t>衡量方法</a:t>
            </a:r>
            <a:endParaRPr lang="zh-CN" altLang="en-US" sz="3600" b="1" dirty="0">
              <a:solidFill>
                <a:srgbClr val="FF0000"/>
              </a:solidFill>
              <a:latin typeface="宋体" panose="02010600030101010101" pitchFamily="2" charset="-122"/>
            </a:endParaRPr>
          </a:p>
          <a:p>
            <a:pPr marL="0" indent="0" algn="just">
              <a:lnSpc>
                <a:spcPct val="90000"/>
              </a:lnSpc>
              <a:buNone/>
            </a:pPr>
            <a:r>
              <a:rPr lang="en-US" altLang="zh-CN" sz="2800" b="1">
                <a:solidFill>
                  <a:srgbClr val="FF0000"/>
                </a:solidFill>
                <a:latin typeface="宋体" panose="02010600030101010101" pitchFamily="2" charset="-122"/>
              </a:rPr>
              <a:t>(</a:t>
            </a:r>
            <a:r>
              <a:rPr lang="en-US" altLang="zh-CN" sz="2400" b="1">
                <a:solidFill>
                  <a:srgbClr val="FF0000"/>
                </a:solidFill>
                <a:latin typeface="宋体" panose="02010600030101010101" pitchFamily="2" charset="-122"/>
              </a:rPr>
              <a:t>1)</a:t>
            </a:r>
            <a:r>
              <a:rPr lang="zh-CN" altLang="en-US" sz="2400" b="1" dirty="0">
                <a:solidFill>
                  <a:srgbClr val="FF0000"/>
                </a:solidFill>
                <a:latin typeface="宋体" panose="02010600030101010101" pitchFamily="2" charset="-122"/>
              </a:rPr>
              <a:t>收入法</a:t>
            </a:r>
            <a:endParaRPr lang="zh-CN" altLang="en-US" sz="2400" b="1" dirty="0">
              <a:solidFill>
                <a:srgbClr val="FF0000"/>
              </a:solidFill>
              <a:latin typeface="宋体" panose="02010600030101010101" pitchFamily="2" charset="-122"/>
            </a:endParaRPr>
          </a:p>
          <a:p>
            <a:pPr marL="0" indent="0" algn="just">
              <a:lnSpc>
                <a:spcPct val="90000"/>
              </a:lnSpc>
              <a:buNone/>
            </a:pPr>
            <a:r>
              <a:rPr lang="zh-CN" altLang="en-US" sz="2400" b="1" dirty="0">
                <a:solidFill>
                  <a:srgbClr val="000000"/>
                </a:solidFill>
                <a:latin typeface="宋体" panose="02010600030101010101" pitchFamily="2" charset="-122"/>
              </a:rPr>
              <a:t>把参加生产过程的所有生产要素的所有者的收入相加得到</a:t>
            </a:r>
            <a:r>
              <a:rPr lang="en-US" altLang="zh-CN" sz="2400" b="1">
                <a:solidFill>
                  <a:srgbClr val="000000"/>
                </a:solidFill>
                <a:latin typeface="宋体" panose="02010600030101010101" pitchFamily="2" charset="-122"/>
              </a:rPr>
              <a:t>GDP</a:t>
            </a:r>
            <a:r>
              <a:rPr lang="zh-CN" altLang="en-US" sz="2400" b="1" dirty="0">
                <a:solidFill>
                  <a:srgbClr val="000000"/>
                </a:solidFill>
                <a:latin typeface="宋体" panose="02010600030101010101" pitchFamily="2" charset="-122"/>
              </a:rPr>
              <a:t>的数字。不同类型的收入主要有工资、利润、地租、利息、折旧。</a:t>
            </a:r>
            <a:endParaRPr lang="zh-CN" altLang="en-US" sz="2400" b="1" dirty="0">
              <a:solidFill>
                <a:srgbClr val="000000"/>
              </a:solidFill>
              <a:latin typeface="宋体" panose="02010600030101010101" pitchFamily="2" charset="-122"/>
            </a:endParaRPr>
          </a:p>
          <a:p>
            <a:pPr marL="0" indent="0" algn="just">
              <a:lnSpc>
                <a:spcPct val="90000"/>
              </a:lnSpc>
              <a:buNone/>
            </a:pPr>
            <a:r>
              <a:rPr lang="en-US" altLang="zh-CN" sz="2400" b="1">
                <a:solidFill>
                  <a:srgbClr val="000000"/>
                </a:solidFill>
                <a:latin typeface="宋体" panose="02010600030101010101" pitchFamily="2" charset="-122"/>
              </a:rPr>
              <a:t>GDP=w+r+i+</a:t>
            </a:r>
            <a:r>
              <a:rPr lang="zh-CN" altLang="en-US" sz="2400" b="1" dirty="0">
                <a:solidFill>
                  <a:srgbClr val="000000"/>
                </a:solidFill>
                <a:latin typeface="宋体" panose="02010600030101010101" pitchFamily="2" charset="-122"/>
              </a:rPr>
              <a:t>兀</a:t>
            </a:r>
            <a:r>
              <a:rPr lang="en-US" altLang="zh-CN" sz="2400" b="1">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折旧</a:t>
            </a:r>
            <a:r>
              <a:rPr lang="en-US" altLang="zh-CN" sz="2400" b="1">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间接税净值</a:t>
            </a:r>
            <a:endParaRPr lang="zh-CN" altLang="en-US" sz="2400" b="1" dirty="0">
              <a:solidFill>
                <a:srgbClr val="000000"/>
              </a:solidFill>
              <a:latin typeface="宋体" panose="02010600030101010101" pitchFamily="2" charset="-122"/>
            </a:endParaRPr>
          </a:p>
          <a:p>
            <a:pPr marL="0" indent="0" algn="just">
              <a:lnSpc>
                <a:spcPct val="90000"/>
              </a:lnSpc>
              <a:buNone/>
            </a:pPr>
            <a:r>
              <a:rPr lang="zh-CN" altLang="en-US" sz="2400" b="1" dirty="0">
                <a:solidFill>
                  <a:srgbClr val="000000"/>
                </a:solidFill>
                <a:latin typeface="宋体" panose="02010600030101010101" pitchFamily="2" charset="-122"/>
              </a:rPr>
              <a:t>其中</a:t>
            </a:r>
            <a:r>
              <a:rPr lang="en-US" altLang="zh-CN" sz="2400" b="1">
                <a:solidFill>
                  <a:srgbClr val="000000"/>
                </a:solidFill>
                <a:latin typeface="宋体" panose="02010600030101010101" pitchFamily="2" charset="-122"/>
              </a:rPr>
              <a:t>w,r,i,</a:t>
            </a:r>
            <a:r>
              <a:rPr lang="zh-CN" altLang="en-US" sz="2400" b="1">
                <a:solidFill>
                  <a:srgbClr val="000000"/>
                </a:solidFill>
                <a:latin typeface="宋体" panose="02010600030101010101" pitchFamily="2" charset="-122"/>
              </a:rPr>
              <a:t>兀</a:t>
            </a:r>
            <a:r>
              <a:rPr lang="zh-CN" altLang="en-US" sz="2400" b="1" dirty="0">
                <a:solidFill>
                  <a:srgbClr val="000000"/>
                </a:solidFill>
                <a:latin typeface="宋体" panose="02010600030101010101" pitchFamily="2" charset="-122"/>
              </a:rPr>
              <a:t>分别为工资、地租、利息、利润。</a:t>
            </a:r>
            <a:endParaRPr lang="zh-CN" altLang="en-US" sz="2400" b="1" dirty="0">
              <a:solidFill>
                <a:srgbClr val="000000"/>
              </a:solidFill>
              <a:latin typeface="宋体" panose="02010600030101010101" pitchFamily="2" charset="-122"/>
            </a:endParaRPr>
          </a:p>
          <a:p>
            <a:pPr marL="0" indent="0" algn="just">
              <a:lnSpc>
                <a:spcPct val="90000"/>
              </a:lnSpc>
              <a:buNone/>
            </a:pPr>
            <a:r>
              <a:rPr lang="zh-CN" altLang="en-US" sz="2400" b="1" dirty="0">
                <a:solidFill>
                  <a:srgbClr val="000000"/>
                </a:solidFill>
                <a:latin typeface="宋体" panose="02010600030101010101" pitchFamily="2" charset="-122"/>
              </a:rPr>
              <a:t>折旧</a:t>
            </a:r>
            <a:r>
              <a:rPr lang="en-US" altLang="zh-CN" sz="2400" b="1">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是指资本投资设备在生产过程中的损耗。</a:t>
            </a:r>
            <a:endParaRPr lang="zh-CN" altLang="en-US" sz="2400" b="1" dirty="0">
              <a:solidFill>
                <a:srgbClr val="000000"/>
              </a:solidFill>
              <a:latin typeface="宋体" panose="02010600030101010101" pitchFamily="2" charset="-122"/>
            </a:endParaRPr>
          </a:p>
          <a:p>
            <a:pPr marL="0" indent="0" algn="just">
              <a:lnSpc>
                <a:spcPct val="90000"/>
              </a:lnSpc>
              <a:buNone/>
            </a:pPr>
            <a:r>
              <a:rPr lang="zh-CN" altLang="en-US" sz="2400" b="1" dirty="0">
                <a:solidFill>
                  <a:srgbClr val="000000"/>
                </a:solidFill>
                <a:latin typeface="宋体" panose="02010600030101010101" pitchFamily="2" charset="-122"/>
              </a:rPr>
              <a:t>间接税净值</a:t>
            </a:r>
            <a:r>
              <a:rPr lang="en-US" altLang="zh-CN" sz="2400" b="1">
                <a:solidFill>
                  <a:srgbClr val="000000"/>
                </a:solidFill>
                <a:latin typeface="宋体" panose="02010600030101010101" pitchFamily="2" charset="-122"/>
              </a:rPr>
              <a:t>(net indirect tax):</a:t>
            </a:r>
            <a:r>
              <a:rPr lang="zh-CN" altLang="en-US" sz="2400" b="1" dirty="0">
                <a:solidFill>
                  <a:srgbClr val="000000"/>
                </a:solidFill>
                <a:latin typeface="宋体" panose="02010600030101010101" pitchFamily="2" charset="-122"/>
              </a:rPr>
              <a:t>是间接税与政府补贴之差额。</a:t>
            </a:r>
            <a:endParaRPr lang="zh-CN" altLang="en-US" sz="2400" b="1" dirty="0">
              <a:solidFill>
                <a:srgbClr val="000000"/>
              </a:solidFill>
              <a:latin typeface="宋体" panose="02010600030101010101" pitchFamily="2" charset="-122"/>
            </a:endParaRPr>
          </a:p>
          <a:p>
            <a:pPr marL="0" indent="0" algn="just">
              <a:lnSpc>
                <a:spcPct val="90000"/>
              </a:lnSpc>
              <a:buNone/>
            </a:pPr>
            <a:r>
              <a:rPr lang="en-US" altLang="zh-CN" sz="2400" b="1">
                <a:solidFill>
                  <a:srgbClr val="FF0000"/>
                </a:solidFill>
                <a:latin typeface="宋体" panose="02010600030101010101" pitchFamily="2" charset="-122"/>
              </a:rPr>
              <a:t>(2)</a:t>
            </a:r>
            <a:r>
              <a:rPr lang="zh-CN" altLang="en-US" sz="2400" b="1" dirty="0">
                <a:solidFill>
                  <a:srgbClr val="FF0000"/>
                </a:solidFill>
                <a:latin typeface="宋体" panose="02010600030101010101" pitchFamily="2" charset="-122"/>
              </a:rPr>
              <a:t>支出法</a:t>
            </a:r>
            <a:endParaRPr lang="zh-CN" altLang="en-US" sz="2400" b="1" dirty="0">
              <a:solidFill>
                <a:srgbClr val="FF0000"/>
              </a:solidFill>
              <a:latin typeface="宋体" panose="02010600030101010101" pitchFamily="2" charset="-122"/>
            </a:endParaRPr>
          </a:p>
          <a:p>
            <a:pPr marL="0" indent="0" algn="just">
              <a:lnSpc>
                <a:spcPct val="90000"/>
              </a:lnSpc>
              <a:buNone/>
            </a:pPr>
            <a:r>
              <a:rPr lang="zh-CN" altLang="en-US" sz="2400" b="1" dirty="0">
                <a:solidFill>
                  <a:srgbClr val="000000"/>
                </a:solidFill>
                <a:latin typeface="宋体" panose="02010600030101010101" pitchFamily="2" charset="-122"/>
              </a:rPr>
              <a:t>把实际经济生活中四大类对最终产品和服务的需求相加得到</a:t>
            </a:r>
            <a:r>
              <a:rPr lang="en-US" altLang="zh-CN" sz="2400" b="1">
                <a:solidFill>
                  <a:srgbClr val="000000"/>
                </a:solidFill>
                <a:latin typeface="宋体" panose="02010600030101010101" pitchFamily="2" charset="-122"/>
              </a:rPr>
              <a:t>GDP</a:t>
            </a:r>
            <a:r>
              <a:rPr lang="zh-CN" altLang="en-US" sz="2400" b="1">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四个部分包括消费（</a:t>
            </a:r>
            <a:r>
              <a:rPr lang="en-US" altLang="zh-CN" sz="2400" b="1">
                <a:solidFill>
                  <a:srgbClr val="000000"/>
                </a:solidFill>
                <a:latin typeface="宋体" panose="02010600030101010101" pitchFamily="2" charset="-122"/>
              </a:rPr>
              <a:t>C</a:t>
            </a:r>
            <a:r>
              <a:rPr lang="zh-CN" altLang="en-US" sz="2400" b="1">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投资（</a:t>
            </a:r>
            <a:r>
              <a:rPr lang="en-US" altLang="zh-CN" sz="2400" b="1">
                <a:solidFill>
                  <a:srgbClr val="000000"/>
                </a:solidFill>
                <a:latin typeface="宋体" panose="02010600030101010101" pitchFamily="2" charset="-122"/>
              </a:rPr>
              <a:t>I</a:t>
            </a:r>
            <a:r>
              <a:rPr lang="zh-CN" altLang="en-US" sz="2400" b="1">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政府购买（</a:t>
            </a:r>
            <a:r>
              <a:rPr lang="en-US" altLang="zh-CN" sz="2400" b="1">
                <a:solidFill>
                  <a:srgbClr val="000000"/>
                </a:solidFill>
                <a:latin typeface="宋体" panose="02010600030101010101" pitchFamily="2" charset="-122"/>
              </a:rPr>
              <a:t>G</a:t>
            </a:r>
            <a:r>
              <a:rPr lang="zh-CN" altLang="en-US" sz="2400" b="1">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和净出口［</a:t>
            </a:r>
            <a:r>
              <a:rPr lang="en-US" altLang="zh-CN" sz="2400" b="1">
                <a:solidFill>
                  <a:srgbClr val="000000"/>
                </a:solidFill>
                <a:latin typeface="宋体" panose="02010600030101010101" pitchFamily="2" charset="-122"/>
              </a:rPr>
              <a:t>X(export</a:t>
            </a:r>
            <a:r>
              <a:rPr lang="zh-CN" altLang="en-US" sz="2400" b="1" dirty="0">
                <a:solidFill>
                  <a:srgbClr val="000000"/>
                </a:solidFill>
                <a:latin typeface="宋体" panose="02010600030101010101" pitchFamily="2" charset="-122"/>
              </a:rPr>
              <a:t>出口</a:t>
            </a:r>
            <a:r>
              <a:rPr lang="en-US" altLang="zh-CN" sz="2400" b="1">
                <a:solidFill>
                  <a:srgbClr val="000000"/>
                </a:solidFill>
                <a:latin typeface="宋体" panose="02010600030101010101" pitchFamily="2" charset="-122"/>
              </a:rPr>
              <a:t>)-M(import</a:t>
            </a:r>
            <a:r>
              <a:rPr lang="zh-CN" altLang="en-US" sz="2400" b="1" dirty="0">
                <a:solidFill>
                  <a:srgbClr val="000000"/>
                </a:solidFill>
                <a:latin typeface="宋体" panose="02010600030101010101" pitchFamily="2" charset="-122"/>
              </a:rPr>
              <a:t>进口</a:t>
            </a:r>
            <a:r>
              <a:rPr lang="en-US" altLang="zh-CN" sz="2400" b="1">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 ，</a:t>
            </a:r>
            <a:r>
              <a:rPr lang="zh-CN" altLang="en-US" sz="2400" b="1">
                <a:solidFill>
                  <a:srgbClr val="000000"/>
                </a:solidFill>
                <a:latin typeface="宋体" panose="02010600030101010101" pitchFamily="2" charset="-122"/>
              </a:rPr>
              <a:t>即</a:t>
            </a:r>
            <a:r>
              <a:rPr lang="en-US" altLang="zh-CN" sz="2400" b="1">
                <a:solidFill>
                  <a:srgbClr val="000000"/>
                </a:solidFill>
                <a:latin typeface="宋体" panose="02010600030101010101" pitchFamily="2" charset="-122"/>
              </a:rPr>
              <a:t>GDP=C+I+G+(X-M)</a:t>
            </a:r>
            <a:r>
              <a:rPr lang="zh-CN" altLang="en-US" sz="2400" b="1">
                <a:solidFill>
                  <a:srgbClr val="000000"/>
                </a:solidFill>
                <a:latin typeface="宋体" panose="02010600030101010101" pitchFamily="2" charset="-122"/>
              </a:rPr>
              <a:t>。</a:t>
            </a:r>
            <a:endParaRPr lang="zh-CN" altLang="en-US" sz="2400" b="1">
              <a:solidFill>
                <a:srgbClr val="000000"/>
              </a:solidFill>
              <a:latin typeface="宋体" panose="02010600030101010101" pitchFamily="2" charset="-122"/>
            </a:endParaRPr>
          </a:p>
          <a:p>
            <a:pPr marL="0" indent="0" algn="just">
              <a:lnSpc>
                <a:spcPct val="90000"/>
              </a:lnSpc>
              <a:buNone/>
            </a:pPr>
            <a:r>
              <a:rPr lang="zh-CN" altLang="en-US" sz="2400" b="1" dirty="0">
                <a:solidFill>
                  <a:srgbClr val="000000"/>
                </a:solidFill>
                <a:latin typeface="宋体" panose="02010600030101010101" pitchFamily="2" charset="-122"/>
              </a:rPr>
              <a:t>因为买者的支出必定是卖者的收入，所以收入法和支出法等价。</a:t>
            </a:r>
            <a:endParaRPr lang="zh-CN" altLang="en-US" sz="2400" b="1" dirty="0">
              <a:solidFill>
                <a:srgbClr val="000000"/>
              </a:solidFill>
              <a:latin typeface="宋体" panose="02010600030101010101" pitchFamily="2" charset="-122"/>
            </a:endParaRPr>
          </a:p>
          <a:p>
            <a:pPr marL="0" indent="0">
              <a:lnSpc>
                <a:spcPct val="90000"/>
              </a:lnSpc>
              <a:buNone/>
            </a:pPr>
            <a:endParaRPr lang="zh-CN" altLang="en-US" sz="2400" b="1">
              <a:solidFill>
                <a:srgbClr val="000000"/>
              </a:solidFill>
              <a:latin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9" name="文本占位符 45058"/>
          <p:cNvSpPr>
            <a:spLocks noGrp="1"/>
          </p:cNvSpPr>
          <p:nvPr>
            <p:ph type="body" idx="1"/>
          </p:nvPr>
        </p:nvSpPr>
        <p:spPr>
          <a:xfrm>
            <a:off x="914400" y="1066800"/>
            <a:ext cx="7772400" cy="4114800"/>
          </a:xfrm>
          <a:ln/>
        </p:spPr>
        <p:txBody>
          <a:bodyPr/>
          <a:p>
            <a:pPr marL="0" indent="0" algn="just">
              <a:lnSpc>
                <a:spcPct val="90000"/>
              </a:lnSpc>
              <a:buNone/>
            </a:pPr>
            <a:r>
              <a:rPr lang="zh-CN" altLang="en-US" sz="2800" b="1" dirty="0">
                <a:solidFill>
                  <a:srgbClr val="FF0000"/>
                </a:solidFill>
                <a:latin typeface="隶书" panose="02010509060101010101" pitchFamily="49" charset="-122"/>
                <a:ea typeface="隶书" panose="02010509060101010101" pitchFamily="49" charset="-122"/>
              </a:rPr>
              <a:t>名义</a:t>
            </a:r>
            <a:r>
              <a:rPr lang="en-US" altLang="zh-CN" sz="2800" b="1">
                <a:solidFill>
                  <a:srgbClr val="FF0000"/>
                </a:solidFill>
                <a:latin typeface="隶书" panose="02010509060101010101" pitchFamily="49" charset="-122"/>
                <a:ea typeface="隶书" panose="02010509060101010101" pitchFamily="49" charset="-122"/>
              </a:rPr>
              <a:t>GDP</a:t>
            </a:r>
            <a:r>
              <a:rPr lang="zh-CN" altLang="en-US" sz="2800" b="1" dirty="0">
                <a:solidFill>
                  <a:srgbClr val="FF0000"/>
                </a:solidFill>
                <a:latin typeface="隶书" panose="02010509060101010101" pitchFamily="49" charset="-122"/>
                <a:ea typeface="隶书" panose="02010509060101010101" pitchFamily="49" charset="-122"/>
              </a:rPr>
              <a:t>和实际</a:t>
            </a:r>
            <a:r>
              <a:rPr lang="en-US" altLang="zh-CN" sz="2800" b="1">
                <a:solidFill>
                  <a:srgbClr val="FF0000"/>
                </a:solidFill>
                <a:latin typeface="隶书" panose="02010509060101010101" pitchFamily="49" charset="-122"/>
                <a:ea typeface="隶书" panose="02010509060101010101" pitchFamily="49" charset="-122"/>
              </a:rPr>
              <a:t>GDP</a:t>
            </a:r>
            <a:endParaRPr lang="en-US" altLang="zh-CN" sz="2800" b="1">
              <a:solidFill>
                <a:srgbClr val="FF0000"/>
              </a:solidFill>
              <a:latin typeface="隶书" panose="02010509060101010101" pitchFamily="49" charset="-122"/>
              <a:ea typeface="隶书" panose="02010509060101010101" pitchFamily="49" charset="-122"/>
            </a:endParaRPr>
          </a:p>
          <a:p>
            <a:pPr marL="0" indent="0" algn="just">
              <a:lnSpc>
                <a:spcPct val="90000"/>
              </a:lnSpc>
              <a:buNone/>
            </a:pPr>
            <a:r>
              <a:rPr lang="zh-CN" altLang="en-US" sz="2400" b="1" dirty="0">
                <a:solidFill>
                  <a:srgbClr val="000000"/>
                </a:solidFill>
                <a:latin typeface="隶书" panose="02010509060101010101" pitchFamily="49" charset="-122"/>
                <a:ea typeface="隶书" panose="02010509060101010101" pitchFamily="49" charset="-122"/>
              </a:rPr>
              <a:t>名义</a:t>
            </a:r>
            <a:r>
              <a:rPr lang="en-US" altLang="zh-CN" sz="2400" b="1">
                <a:solidFill>
                  <a:srgbClr val="000000"/>
                </a:solidFill>
                <a:latin typeface="隶书" panose="02010509060101010101" pitchFamily="49" charset="-122"/>
                <a:ea typeface="隶书" panose="02010509060101010101" pitchFamily="49" charset="-122"/>
              </a:rPr>
              <a:t>GDP</a:t>
            </a:r>
            <a:r>
              <a:rPr lang="zh-CN" altLang="en-US" sz="2400" b="1">
                <a:solidFill>
                  <a:srgbClr val="000000"/>
                </a:solidFill>
                <a:latin typeface="隶书" panose="02010509060101010101" pitchFamily="49" charset="-122"/>
                <a:ea typeface="隶书" panose="02010509060101010101" pitchFamily="49" charset="-122"/>
              </a:rPr>
              <a:t>：</a:t>
            </a:r>
            <a:r>
              <a:rPr lang="zh-CN" altLang="en-US" sz="2400" b="1" dirty="0">
                <a:solidFill>
                  <a:srgbClr val="000000"/>
                </a:solidFill>
                <a:latin typeface="隶书" panose="02010509060101010101" pitchFamily="49" charset="-122"/>
                <a:ea typeface="隶书" panose="02010509060101010101" pitchFamily="49" charset="-122"/>
              </a:rPr>
              <a:t>按现期价格评价的物品与劳务的生产。</a:t>
            </a:r>
            <a:endParaRPr lang="zh-CN" altLang="en-US" sz="2400" b="1" dirty="0">
              <a:solidFill>
                <a:srgbClr val="000000"/>
              </a:solidFill>
              <a:latin typeface="隶书" panose="02010509060101010101" pitchFamily="49" charset="-122"/>
              <a:ea typeface="隶书" panose="02010509060101010101" pitchFamily="49" charset="-122"/>
            </a:endParaRPr>
          </a:p>
          <a:p>
            <a:pPr marL="0" indent="0" algn="just">
              <a:lnSpc>
                <a:spcPct val="90000"/>
              </a:lnSpc>
              <a:buNone/>
            </a:pPr>
            <a:r>
              <a:rPr lang="zh-CN" altLang="en-US" sz="2400" b="1" dirty="0">
                <a:solidFill>
                  <a:srgbClr val="000000"/>
                </a:solidFill>
                <a:latin typeface="隶书" panose="02010509060101010101" pitchFamily="49" charset="-122"/>
                <a:ea typeface="隶书" panose="02010509060101010101" pitchFamily="49" charset="-122"/>
              </a:rPr>
              <a:t>		</a:t>
            </a:r>
            <a:r>
              <a:rPr lang="en-US" altLang="zh-CN" sz="2400" b="1">
                <a:solidFill>
                  <a:srgbClr val="000000"/>
                </a:solidFill>
                <a:latin typeface="隶书" panose="02010509060101010101" pitchFamily="49" charset="-122"/>
                <a:ea typeface="隶书" panose="02010509060101010101" pitchFamily="49" charset="-122"/>
              </a:rPr>
              <a:t>t</a:t>
            </a:r>
            <a:r>
              <a:rPr lang="zh-CN" altLang="en-US" sz="2400" b="1" dirty="0">
                <a:solidFill>
                  <a:srgbClr val="000000"/>
                </a:solidFill>
                <a:latin typeface="隶书" panose="02010509060101010101" pitchFamily="49" charset="-122"/>
                <a:ea typeface="隶书" panose="02010509060101010101" pitchFamily="49" charset="-122"/>
              </a:rPr>
              <a:t>年的名义</a:t>
            </a:r>
            <a:r>
              <a:rPr lang="en-US" altLang="zh-CN" sz="2400" b="1" dirty="0" err="1">
                <a:solidFill>
                  <a:srgbClr val="000000"/>
                </a:solidFill>
                <a:latin typeface="隶书" panose="02010509060101010101" pitchFamily="49" charset="-122"/>
                <a:ea typeface="隶书" panose="02010509060101010101" pitchFamily="49" charset="-122"/>
              </a:rPr>
              <a:t>GDP</a:t>
            </a:r>
            <a:r>
              <a:rPr lang="en-US" altLang="zh-CN" sz="2400" b="1" baseline="-30000" dirty="0" err="1">
                <a:solidFill>
                  <a:srgbClr val="000000"/>
                </a:solidFill>
                <a:latin typeface="隶书" panose="02010509060101010101" pitchFamily="49" charset="-122"/>
                <a:ea typeface="隶书" panose="02010509060101010101" pitchFamily="49" charset="-122"/>
              </a:rPr>
              <a:t>t</a:t>
            </a:r>
            <a:r>
              <a:rPr lang="en-US" altLang="zh-CN" sz="2400" b="1">
                <a:solidFill>
                  <a:srgbClr val="000000"/>
                </a:solidFill>
                <a:latin typeface="隶书" panose="02010509060101010101" pitchFamily="49" charset="-122"/>
                <a:ea typeface="隶书" panose="02010509060101010101" pitchFamily="49" charset="-122"/>
              </a:rPr>
              <a:t>=</a:t>
            </a:r>
            <a:r>
              <a:rPr lang="en-US" altLang="zh-CN" sz="2400" b="1" dirty="0" err="1">
                <a:solidFill>
                  <a:srgbClr val="000000"/>
                </a:solidFill>
                <a:latin typeface="隶书" panose="02010509060101010101" pitchFamily="49" charset="-122"/>
                <a:ea typeface="隶书" panose="02010509060101010101" pitchFamily="49" charset="-122"/>
              </a:rPr>
              <a:t>ΣP</a:t>
            </a:r>
            <a:r>
              <a:rPr lang="en-US" altLang="zh-CN" sz="2400" b="1" baseline="-30000" dirty="0" err="1">
                <a:solidFill>
                  <a:srgbClr val="000000"/>
                </a:solidFill>
                <a:latin typeface="隶书" panose="02010509060101010101" pitchFamily="49" charset="-122"/>
                <a:ea typeface="隶书" panose="02010509060101010101" pitchFamily="49" charset="-122"/>
              </a:rPr>
              <a:t>t</a:t>
            </a:r>
            <a:r>
              <a:rPr lang="en-US" altLang="zh-CN" sz="2400" b="1" dirty="0" err="1">
                <a:solidFill>
                  <a:srgbClr val="000000"/>
                </a:solidFill>
                <a:latin typeface="隶书" panose="02010509060101010101" pitchFamily="49" charset="-122"/>
                <a:ea typeface="隶书" panose="02010509060101010101" pitchFamily="49" charset="-122"/>
              </a:rPr>
              <a:t>Q</a:t>
            </a:r>
            <a:r>
              <a:rPr lang="en-US" altLang="zh-CN" sz="2400" b="1" baseline="-30000" dirty="0" err="1">
                <a:solidFill>
                  <a:srgbClr val="000000"/>
                </a:solidFill>
                <a:latin typeface="隶书" panose="02010509060101010101" pitchFamily="49" charset="-122"/>
                <a:ea typeface="隶书" panose="02010509060101010101" pitchFamily="49" charset="-122"/>
              </a:rPr>
              <a:t>t</a:t>
            </a:r>
            <a:endParaRPr lang="en-US" altLang="zh-CN" sz="2400" b="1">
              <a:solidFill>
                <a:srgbClr val="000000"/>
              </a:solidFill>
              <a:latin typeface="隶书" panose="02010509060101010101" pitchFamily="49" charset="-122"/>
              <a:ea typeface="隶书" panose="02010509060101010101" pitchFamily="49" charset="-122"/>
            </a:endParaRPr>
          </a:p>
          <a:p>
            <a:pPr marL="0" indent="0" algn="just">
              <a:lnSpc>
                <a:spcPct val="90000"/>
              </a:lnSpc>
              <a:buNone/>
            </a:pPr>
            <a:r>
              <a:rPr lang="en-US" altLang="zh-CN" sz="2400" b="1" baseline="-30000">
                <a:solidFill>
                  <a:srgbClr val="000000"/>
                </a:solidFill>
                <a:latin typeface="隶书" panose="02010509060101010101" pitchFamily="49" charset="-122"/>
                <a:ea typeface="隶书" panose="02010509060101010101" pitchFamily="49" charset="-122"/>
              </a:rPr>
              <a:t> </a:t>
            </a:r>
            <a:endParaRPr lang="en-US" altLang="zh-CN" sz="2400" b="1">
              <a:solidFill>
                <a:srgbClr val="000000"/>
              </a:solidFill>
              <a:latin typeface="隶书" panose="02010509060101010101" pitchFamily="49" charset="-122"/>
              <a:ea typeface="隶书" panose="02010509060101010101" pitchFamily="49" charset="-122"/>
            </a:endParaRPr>
          </a:p>
          <a:p>
            <a:pPr marL="0" indent="0" algn="just">
              <a:lnSpc>
                <a:spcPct val="90000"/>
              </a:lnSpc>
              <a:buNone/>
            </a:pPr>
            <a:r>
              <a:rPr lang="zh-CN" altLang="en-US" sz="2400" b="1" dirty="0">
                <a:solidFill>
                  <a:srgbClr val="000000"/>
                </a:solidFill>
                <a:latin typeface="隶书" panose="02010509060101010101" pitchFamily="49" charset="-122"/>
                <a:ea typeface="隶书" panose="02010509060101010101" pitchFamily="49" charset="-122"/>
              </a:rPr>
              <a:t>实际</a:t>
            </a:r>
            <a:r>
              <a:rPr lang="en-US" altLang="zh-CN" sz="2400" b="1">
                <a:solidFill>
                  <a:srgbClr val="000000"/>
                </a:solidFill>
                <a:latin typeface="隶书" panose="02010509060101010101" pitchFamily="49" charset="-122"/>
                <a:ea typeface="隶书" panose="02010509060101010101" pitchFamily="49" charset="-122"/>
              </a:rPr>
              <a:t>GDP</a:t>
            </a:r>
            <a:r>
              <a:rPr lang="zh-CN" altLang="en-US" sz="2400" b="1">
                <a:solidFill>
                  <a:srgbClr val="000000"/>
                </a:solidFill>
                <a:latin typeface="隶书" panose="02010509060101010101" pitchFamily="49" charset="-122"/>
                <a:ea typeface="隶书" panose="02010509060101010101" pitchFamily="49" charset="-122"/>
              </a:rPr>
              <a:t>：</a:t>
            </a:r>
            <a:r>
              <a:rPr lang="zh-CN" altLang="en-US" sz="2400" b="1" dirty="0">
                <a:solidFill>
                  <a:srgbClr val="000000"/>
                </a:solidFill>
                <a:latin typeface="隶书" panose="02010509060101010101" pitchFamily="49" charset="-122"/>
                <a:ea typeface="隶书" panose="02010509060101010101" pitchFamily="49" charset="-122"/>
              </a:rPr>
              <a:t>按不变价格评价的物品与劳务的生产。</a:t>
            </a:r>
            <a:endParaRPr lang="zh-CN" altLang="en-US" sz="2400" b="1" dirty="0">
              <a:solidFill>
                <a:srgbClr val="000000"/>
              </a:solidFill>
              <a:latin typeface="隶书" panose="02010509060101010101" pitchFamily="49" charset="-122"/>
              <a:ea typeface="隶书" panose="02010509060101010101" pitchFamily="49" charset="-122"/>
            </a:endParaRPr>
          </a:p>
          <a:p>
            <a:pPr marL="0" indent="0" algn="just">
              <a:lnSpc>
                <a:spcPct val="90000"/>
              </a:lnSpc>
              <a:buNone/>
            </a:pPr>
            <a:r>
              <a:rPr lang="zh-CN" altLang="en-US" sz="2400" b="1" dirty="0">
                <a:solidFill>
                  <a:srgbClr val="000000"/>
                </a:solidFill>
                <a:latin typeface="隶书" panose="02010509060101010101" pitchFamily="49" charset="-122"/>
                <a:ea typeface="隶书" panose="02010509060101010101" pitchFamily="49" charset="-122"/>
              </a:rPr>
              <a:t>		</a:t>
            </a:r>
            <a:r>
              <a:rPr lang="en-US" altLang="zh-CN" sz="2400" b="1">
                <a:solidFill>
                  <a:srgbClr val="000000"/>
                </a:solidFill>
                <a:latin typeface="隶书" panose="02010509060101010101" pitchFamily="49" charset="-122"/>
                <a:ea typeface="隶书" panose="02010509060101010101" pitchFamily="49" charset="-122"/>
              </a:rPr>
              <a:t>t</a:t>
            </a:r>
            <a:r>
              <a:rPr lang="zh-CN" altLang="en-US" sz="2400" b="1" dirty="0">
                <a:solidFill>
                  <a:srgbClr val="000000"/>
                </a:solidFill>
                <a:latin typeface="隶书" panose="02010509060101010101" pitchFamily="49" charset="-122"/>
                <a:ea typeface="隶书" panose="02010509060101010101" pitchFamily="49" charset="-122"/>
              </a:rPr>
              <a:t>年的实际</a:t>
            </a:r>
            <a:r>
              <a:rPr lang="en-US" altLang="zh-CN" sz="2400" b="1" dirty="0" err="1">
                <a:solidFill>
                  <a:srgbClr val="000000"/>
                </a:solidFill>
                <a:latin typeface="隶书" panose="02010509060101010101" pitchFamily="49" charset="-122"/>
                <a:ea typeface="隶书" panose="02010509060101010101" pitchFamily="49" charset="-122"/>
              </a:rPr>
              <a:t>GDP</a:t>
            </a:r>
            <a:r>
              <a:rPr lang="en-US" altLang="zh-CN" sz="2400" b="1" baseline="-30000" dirty="0" err="1">
                <a:solidFill>
                  <a:srgbClr val="000000"/>
                </a:solidFill>
                <a:latin typeface="隶书" panose="02010509060101010101" pitchFamily="49" charset="-122"/>
                <a:ea typeface="隶书" panose="02010509060101010101" pitchFamily="49" charset="-122"/>
              </a:rPr>
              <a:t>t</a:t>
            </a:r>
            <a:r>
              <a:rPr lang="en-US" altLang="zh-CN" sz="2400" b="1">
                <a:solidFill>
                  <a:srgbClr val="000000"/>
                </a:solidFill>
                <a:latin typeface="隶书" panose="02010509060101010101" pitchFamily="49" charset="-122"/>
                <a:ea typeface="隶书" panose="02010509060101010101" pitchFamily="49" charset="-122"/>
              </a:rPr>
              <a:t>=</a:t>
            </a:r>
            <a:r>
              <a:rPr lang="en-US" altLang="zh-CN" sz="2400" b="1" dirty="0" err="1">
                <a:solidFill>
                  <a:srgbClr val="000000"/>
                </a:solidFill>
                <a:latin typeface="隶书" panose="02010509060101010101" pitchFamily="49" charset="-122"/>
                <a:ea typeface="隶书" panose="02010509060101010101" pitchFamily="49" charset="-122"/>
              </a:rPr>
              <a:t>ΣP</a:t>
            </a:r>
            <a:r>
              <a:rPr lang="en-US" altLang="zh-CN" sz="2400" b="1" baseline="-30000" dirty="0" err="1">
                <a:solidFill>
                  <a:srgbClr val="000000"/>
                </a:solidFill>
                <a:latin typeface="隶书" panose="02010509060101010101" pitchFamily="49" charset="-122"/>
                <a:ea typeface="隶书" panose="02010509060101010101" pitchFamily="49" charset="-122"/>
              </a:rPr>
              <a:t>o</a:t>
            </a:r>
            <a:r>
              <a:rPr lang="en-US" altLang="zh-CN" sz="2400" b="1" dirty="0" err="1">
                <a:solidFill>
                  <a:srgbClr val="000000"/>
                </a:solidFill>
                <a:latin typeface="隶书" panose="02010509060101010101" pitchFamily="49" charset="-122"/>
                <a:ea typeface="隶书" panose="02010509060101010101" pitchFamily="49" charset="-122"/>
              </a:rPr>
              <a:t>Q</a:t>
            </a:r>
            <a:r>
              <a:rPr lang="en-US" altLang="zh-CN" sz="2400" b="1" baseline="-30000" dirty="0" err="1">
                <a:solidFill>
                  <a:srgbClr val="000000"/>
                </a:solidFill>
                <a:latin typeface="隶书" panose="02010509060101010101" pitchFamily="49" charset="-122"/>
                <a:ea typeface="隶书" panose="02010509060101010101" pitchFamily="49" charset="-122"/>
              </a:rPr>
              <a:t>t</a:t>
            </a:r>
            <a:r>
              <a:rPr lang="en-US" altLang="zh-CN" sz="2400" b="1">
                <a:solidFill>
                  <a:srgbClr val="000000"/>
                </a:solidFill>
                <a:latin typeface="隶书" panose="02010509060101010101" pitchFamily="49" charset="-122"/>
                <a:ea typeface="隶书" panose="02010509060101010101" pitchFamily="49" charset="-122"/>
              </a:rPr>
              <a:t> , P</a:t>
            </a:r>
            <a:r>
              <a:rPr lang="en-US" altLang="zh-CN" sz="2400" b="1" baseline="-30000">
                <a:solidFill>
                  <a:srgbClr val="000000"/>
                </a:solidFill>
                <a:latin typeface="隶书" panose="02010509060101010101" pitchFamily="49" charset="-122"/>
                <a:ea typeface="隶书" panose="02010509060101010101" pitchFamily="49" charset="-122"/>
              </a:rPr>
              <a:t>o</a:t>
            </a:r>
            <a:r>
              <a:rPr lang="en-US" altLang="zh-CN" sz="2400" b="1">
                <a:solidFill>
                  <a:srgbClr val="000000"/>
                </a:solidFill>
                <a:latin typeface="隶书" panose="02010509060101010101" pitchFamily="49" charset="-122"/>
                <a:ea typeface="隶书" panose="02010509060101010101" pitchFamily="49" charset="-122"/>
              </a:rPr>
              <a:t> </a:t>
            </a:r>
            <a:r>
              <a:rPr lang="zh-CN" altLang="en-US" sz="2400" b="1" dirty="0">
                <a:solidFill>
                  <a:srgbClr val="000000"/>
                </a:solidFill>
                <a:latin typeface="隶书" panose="02010509060101010101" pitchFamily="49" charset="-122"/>
                <a:ea typeface="隶书" panose="02010509060101010101" pitchFamily="49" charset="-122"/>
              </a:rPr>
              <a:t>是基期的价格</a:t>
            </a:r>
            <a:endParaRPr lang="zh-CN" altLang="en-US" sz="2400" b="1" dirty="0">
              <a:solidFill>
                <a:srgbClr val="000000"/>
              </a:solidFill>
              <a:latin typeface="隶书" panose="02010509060101010101" pitchFamily="49" charset="-122"/>
              <a:ea typeface="隶书" panose="02010509060101010101" pitchFamily="49" charset="-122"/>
            </a:endParaRPr>
          </a:p>
          <a:p>
            <a:pPr marL="0" indent="0" algn="just">
              <a:lnSpc>
                <a:spcPct val="90000"/>
              </a:lnSpc>
              <a:buNone/>
            </a:pPr>
            <a:r>
              <a:rPr lang="en-US" altLang="zh-CN" sz="2400" b="1" dirty="0">
                <a:solidFill>
                  <a:srgbClr val="000000"/>
                </a:solidFill>
                <a:latin typeface="隶书" panose="02010509060101010101" pitchFamily="49" charset="-122"/>
                <a:ea typeface="隶书" panose="02010509060101010101" pitchFamily="49" charset="-122"/>
              </a:rPr>
              <a:t> </a:t>
            </a:r>
            <a:endParaRPr lang="en-US" altLang="zh-CN" sz="2400" b="1" dirty="0">
              <a:solidFill>
                <a:srgbClr val="000000"/>
              </a:solidFill>
              <a:latin typeface="隶书" panose="02010509060101010101" pitchFamily="49" charset="-122"/>
              <a:ea typeface="隶书" panose="02010509060101010101" pitchFamily="49" charset="-122"/>
            </a:endParaRPr>
          </a:p>
          <a:p>
            <a:pPr marL="0" indent="0" algn="just">
              <a:lnSpc>
                <a:spcPct val="90000"/>
              </a:lnSpc>
              <a:buNone/>
            </a:pPr>
            <a:r>
              <a:rPr lang="en-US" altLang="zh-CN" sz="2400" b="1">
                <a:solidFill>
                  <a:srgbClr val="000000"/>
                </a:solidFill>
                <a:latin typeface="隶书" panose="02010509060101010101" pitchFamily="49" charset="-122"/>
                <a:ea typeface="隶书" panose="02010509060101010101" pitchFamily="49" charset="-122"/>
              </a:rPr>
              <a:t>GDP</a:t>
            </a:r>
            <a:r>
              <a:rPr lang="zh-CN" altLang="en-US" sz="2400" b="1" dirty="0">
                <a:solidFill>
                  <a:srgbClr val="000000"/>
                </a:solidFill>
                <a:latin typeface="隶书" panose="02010509060101010101" pitchFamily="49" charset="-122"/>
                <a:ea typeface="隶书" panose="02010509060101010101" pitchFamily="49" charset="-122"/>
              </a:rPr>
              <a:t>平减指数</a:t>
            </a:r>
            <a:r>
              <a:rPr lang="en-US" altLang="zh-CN" sz="2400" b="1">
                <a:solidFill>
                  <a:srgbClr val="000000"/>
                </a:solidFill>
                <a:latin typeface="隶书" panose="02010509060101010101" pitchFamily="49" charset="-122"/>
                <a:ea typeface="隶书" panose="02010509060101010101" pitchFamily="49" charset="-122"/>
              </a:rPr>
              <a:t>:</a:t>
            </a:r>
            <a:r>
              <a:rPr lang="zh-CN" altLang="en-US" sz="2400" b="1" dirty="0">
                <a:solidFill>
                  <a:srgbClr val="000000"/>
                </a:solidFill>
                <a:latin typeface="隶书" panose="02010509060101010101" pitchFamily="49" charset="-122"/>
                <a:ea typeface="隶书" panose="02010509060101010101" pitchFamily="49" charset="-122"/>
              </a:rPr>
              <a:t>用名义</a:t>
            </a:r>
            <a:r>
              <a:rPr lang="en-US" altLang="zh-CN" sz="2400" b="1">
                <a:solidFill>
                  <a:srgbClr val="000000"/>
                </a:solidFill>
                <a:latin typeface="隶书" panose="02010509060101010101" pitchFamily="49" charset="-122"/>
                <a:ea typeface="隶书" panose="02010509060101010101" pitchFamily="49" charset="-122"/>
              </a:rPr>
              <a:t>GDP</a:t>
            </a:r>
            <a:r>
              <a:rPr lang="zh-CN" altLang="en-US" sz="2400" b="1" dirty="0">
                <a:solidFill>
                  <a:srgbClr val="000000"/>
                </a:solidFill>
                <a:latin typeface="隶书" panose="02010509060101010101" pitchFamily="49" charset="-122"/>
                <a:ea typeface="隶书" panose="02010509060101010101" pitchFamily="49" charset="-122"/>
              </a:rPr>
              <a:t>与实际</a:t>
            </a:r>
            <a:r>
              <a:rPr lang="en-US" altLang="zh-CN" sz="2400" b="1">
                <a:solidFill>
                  <a:srgbClr val="000000"/>
                </a:solidFill>
                <a:latin typeface="隶书" panose="02010509060101010101" pitchFamily="49" charset="-122"/>
                <a:ea typeface="隶书" panose="02010509060101010101" pitchFamily="49" charset="-122"/>
              </a:rPr>
              <a:t>GDP</a:t>
            </a:r>
            <a:r>
              <a:rPr lang="zh-CN" altLang="en-US" sz="2400" b="1" dirty="0">
                <a:solidFill>
                  <a:srgbClr val="000000"/>
                </a:solidFill>
                <a:latin typeface="隶书" panose="02010509060101010101" pitchFamily="49" charset="-122"/>
                <a:ea typeface="隶书" panose="02010509060101010101" pitchFamily="49" charset="-122"/>
              </a:rPr>
              <a:t>比例比率计算的物价水平衡量指标</a:t>
            </a:r>
            <a:r>
              <a:rPr lang="en-US" altLang="zh-CN" sz="2400" b="1">
                <a:solidFill>
                  <a:srgbClr val="000000"/>
                </a:solidFill>
                <a:latin typeface="隶书" panose="02010509060101010101" pitchFamily="49" charset="-122"/>
                <a:ea typeface="隶书" panose="02010509060101010101" pitchFamily="49" charset="-122"/>
              </a:rPr>
              <a:t>,</a:t>
            </a:r>
            <a:r>
              <a:rPr lang="zh-CN" altLang="en-US" sz="2400" b="1" dirty="0">
                <a:solidFill>
                  <a:srgbClr val="000000"/>
                </a:solidFill>
                <a:latin typeface="隶书" panose="02010509060101010101" pitchFamily="49" charset="-122"/>
                <a:ea typeface="隶书" panose="02010509060101010101" pitchFamily="49" charset="-122"/>
              </a:rPr>
              <a:t>它衡量相对于基年物价水平的现期物价水平。</a:t>
            </a:r>
            <a:endParaRPr lang="zh-CN" altLang="en-US" sz="2400" b="1" dirty="0">
              <a:solidFill>
                <a:srgbClr val="000000"/>
              </a:solidFill>
              <a:latin typeface="隶书" panose="02010509060101010101" pitchFamily="49" charset="-122"/>
              <a:ea typeface="隶书" panose="02010509060101010101" pitchFamily="49" charset="-122"/>
            </a:endParaRPr>
          </a:p>
          <a:p>
            <a:pPr marL="0" indent="0" algn="just">
              <a:lnSpc>
                <a:spcPct val="90000"/>
              </a:lnSpc>
              <a:buNone/>
            </a:pPr>
            <a:br>
              <a:rPr lang="zh-CN" altLang="en-US" sz="2400" b="1" dirty="0">
                <a:solidFill>
                  <a:srgbClr val="000000"/>
                </a:solidFill>
                <a:latin typeface="隶书" panose="02010509060101010101" pitchFamily="49" charset="-122"/>
                <a:ea typeface="隶书" panose="02010509060101010101" pitchFamily="49" charset="-122"/>
              </a:rPr>
            </a:br>
            <a:r>
              <a:rPr lang="en-US" altLang="zh-CN" sz="2400" b="1" dirty="0">
                <a:solidFill>
                  <a:srgbClr val="000000"/>
                </a:solidFill>
                <a:latin typeface="隶书" panose="02010509060101010101" pitchFamily="49" charset="-122"/>
                <a:ea typeface="隶书" panose="02010509060101010101" pitchFamily="49" charset="-122"/>
              </a:rPr>
              <a:t> </a:t>
            </a:r>
            <a:endParaRPr lang="en-US" altLang="zh-CN" sz="2400" b="1" dirty="0">
              <a:solidFill>
                <a:srgbClr val="000000"/>
              </a:solidFill>
              <a:latin typeface="隶书" panose="02010509060101010101" pitchFamily="49" charset="-122"/>
              <a:ea typeface="隶书" panose="02010509060101010101" pitchFamily="49" charset="-122"/>
            </a:endParaRPr>
          </a:p>
          <a:p>
            <a:pPr marL="0" indent="0">
              <a:lnSpc>
                <a:spcPct val="90000"/>
              </a:lnSpc>
              <a:buNone/>
            </a:pPr>
            <a:endParaRPr lang="en-US" altLang="zh-CN" sz="2400" b="1">
              <a:solidFill>
                <a:srgbClr val="000000"/>
              </a:solidFill>
              <a:latin typeface="隶书" panose="02010509060101010101" pitchFamily="49" charset="-122"/>
              <a:ea typeface="隶书" panose="02010509060101010101" pitchFamily="49" charset="-122"/>
            </a:endParaRPr>
          </a:p>
        </p:txBody>
      </p:sp>
      <p:graphicFrame>
        <p:nvGraphicFramePr>
          <p:cNvPr id="45060" name="对象 45059"/>
          <p:cNvGraphicFramePr/>
          <p:nvPr/>
        </p:nvGraphicFramePr>
        <p:xfrm>
          <a:off x="1447800" y="5486400"/>
          <a:ext cx="5410200" cy="685800"/>
        </p:xfrm>
        <a:graphic>
          <a:graphicData uri="http://schemas.openxmlformats.org/presentationml/2006/ole">
            <mc:AlternateContent xmlns:mc="http://schemas.openxmlformats.org/markup-compatibility/2006">
              <mc:Choice xmlns:v="urn:schemas-microsoft-com:vml" Requires="v">
                <p:oleObj spid="_x0000_s3077" name="" r:id="rId1" imgW="2273300" imgH="419100" progId="Equation.3">
                  <p:embed/>
                </p:oleObj>
              </mc:Choice>
              <mc:Fallback>
                <p:oleObj name="" r:id="rId1" imgW="2273300" imgH="419100" progId="Equation.3">
                  <p:embed/>
                  <p:pic>
                    <p:nvPicPr>
                      <p:cNvPr id="0" name="图片 3076"/>
                      <p:cNvPicPr/>
                      <p:nvPr/>
                    </p:nvPicPr>
                    <p:blipFill>
                      <a:blip r:embed="rId2"/>
                      <a:stretch>
                        <a:fillRect/>
                      </a:stretch>
                    </p:blipFill>
                    <p:spPr>
                      <a:xfrm>
                        <a:off x="1447800" y="5486400"/>
                        <a:ext cx="5410200" cy="685800"/>
                      </a:xfrm>
                      <a:prstGeom prst="rect">
                        <a:avLst/>
                      </a:prstGeom>
                      <a:noFill/>
                      <a:ln w="38100">
                        <a:noFill/>
                        <a:miter/>
                      </a:ln>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3" name="文本占位符 46082"/>
          <p:cNvSpPr>
            <a:spLocks noGrp="1"/>
          </p:cNvSpPr>
          <p:nvPr>
            <p:ph type="body" idx="1"/>
          </p:nvPr>
        </p:nvSpPr>
        <p:spPr>
          <a:xfrm>
            <a:off x="838200" y="476250"/>
            <a:ext cx="7772400" cy="4705350"/>
          </a:xfrm>
          <a:ln/>
        </p:spPr>
        <p:txBody>
          <a:bodyPr/>
          <a:p>
            <a:pPr marL="0" indent="0" algn="just">
              <a:lnSpc>
                <a:spcPct val="90000"/>
              </a:lnSpc>
              <a:buNone/>
            </a:pPr>
            <a:r>
              <a:rPr lang="en-US" altLang="zh-CN" sz="3600">
                <a:solidFill>
                  <a:srgbClr val="FF0000"/>
                </a:solidFill>
                <a:latin typeface="宋体" panose="02010600030101010101" pitchFamily="2" charset="-122"/>
              </a:rPr>
              <a:t>C</a:t>
            </a:r>
            <a:r>
              <a:rPr lang="zh-CN" altLang="en-US" sz="3600" dirty="0">
                <a:solidFill>
                  <a:srgbClr val="FF0000"/>
                </a:solidFill>
                <a:latin typeface="宋体" panose="02010600030101010101" pitchFamily="2" charset="-122"/>
              </a:rPr>
              <a:t>．</a:t>
            </a:r>
            <a:r>
              <a:rPr lang="en-US" altLang="zh-CN" sz="3600">
                <a:solidFill>
                  <a:srgbClr val="FF0000"/>
                </a:solidFill>
                <a:latin typeface="宋体" panose="02010600030101010101" pitchFamily="2" charset="-122"/>
              </a:rPr>
              <a:t>GDP</a:t>
            </a:r>
            <a:r>
              <a:rPr lang="zh-CN" altLang="en-US" sz="3600" dirty="0">
                <a:solidFill>
                  <a:srgbClr val="FF0000"/>
                </a:solidFill>
                <a:latin typeface="宋体" panose="02010600030101010101" pitchFamily="2" charset="-122"/>
              </a:rPr>
              <a:t>与经济福利</a:t>
            </a:r>
            <a:endParaRPr lang="zh-CN" altLang="en-US" sz="3600" dirty="0">
              <a:solidFill>
                <a:srgbClr val="FF0000"/>
              </a:solidFill>
              <a:latin typeface="宋体" panose="02010600030101010101" pitchFamily="2" charset="-122"/>
            </a:endParaRPr>
          </a:p>
          <a:p>
            <a:pPr marL="0" indent="0">
              <a:lnSpc>
                <a:spcPct val="90000"/>
              </a:lnSpc>
              <a:buNone/>
            </a:pPr>
            <a:r>
              <a:rPr lang="en-US" altLang="zh-CN" sz="2800" b="1">
                <a:solidFill>
                  <a:srgbClr val="000000"/>
                </a:solidFill>
                <a:latin typeface="宋体" panose="02010600030101010101" pitchFamily="2" charset="-122"/>
              </a:rPr>
              <a:t>GDP</a:t>
            </a:r>
            <a:r>
              <a:rPr lang="zh-CN" altLang="en-US" sz="2800" dirty="0">
                <a:solidFill>
                  <a:srgbClr val="000000"/>
                </a:solidFill>
                <a:latin typeface="宋体" panose="02010600030101010101" pitchFamily="2" charset="-122"/>
              </a:rPr>
              <a:t>既衡量经济的总收入，又衡量经济用于物品和劳务的总支出。因此，人均</a:t>
            </a:r>
            <a:r>
              <a:rPr lang="en-US" altLang="zh-CN" sz="2800">
                <a:solidFill>
                  <a:srgbClr val="000000"/>
                </a:solidFill>
                <a:latin typeface="宋体" panose="02010600030101010101" pitchFamily="2" charset="-122"/>
              </a:rPr>
              <a:t>GDP</a:t>
            </a:r>
            <a:r>
              <a:rPr lang="zh-CN" altLang="en-US" sz="2800" dirty="0">
                <a:solidFill>
                  <a:srgbClr val="000000"/>
                </a:solidFill>
                <a:latin typeface="宋体" panose="02010600030101010101" pitchFamily="2" charset="-122"/>
              </a:rPr>
              <a:t>告诉我们经济中平均每个人的收入与支出，可以衡量平均每个人的经济福利。但</a:t>
            </a:r>
            <a:r>
              <a:rPr lang="en-US" altLang="zh-CN" sz="2800">
                <a:solidFill>
                  <a:srgbClr val="000000"/>
                </a:solidFill>
                <a:latin typeface="宋体" panose="02010600030101010101" pitchFamily="2" charset="-122"/>
              </a:rPr>
              <a:t>GDP</a:t>
            </a:r>
            <a:r>
              <a:rPr lang="zh-CN" altLang="en-US" sz="2800" dirty="0">
                <a:solidFill>
                  <a:srgbClr val="000000"/>
                </a:solidFill>
                <a:latin typeface="宋体" panose="02010600030101010101" pitchFamily="2" charset="-122"/>
              </a:rPr>
              <a:t>并不是福利的一个完美衡量指标，影响福利的某些东西并没有包括在</a:t>
            </a:r>
            <a:r>
              <a:rPr lang="en-US" altLang="zh-CN" sz="2800">
                <a:solidFill>
                  <a:srgbClr val="000000"/>
                </a:solidFill>
                <a:latin typeface="宋体" panose="02010600030101010101" pitchFamily="2" charset="-122"/>
              </a:rPr>
              <a:t>GDP</a:t>
            </a:r>
            <a:r>
              <a:rPr lang="zh-CN" altLang="en-US" sz="2800" dirty="0">
                <a:solidFill>
                  <a:srgbClr val="000000"/>
                </a:solidFill>
                <a:latin typeface="宋体" panose="02010600030101010101" pitchFamily="2" charset="-122"/>
              </a:rPr>
              <a:t>中，如闲暇、环境质量以及市场之外的活动。</a:t>
            </a:r>
            <a:endParaRPr lang="zh-CN" altLang="en-US" sz="2800" dirty="0">
              <a:solidFill>
                <a:srgbClr val="000000"/>
              </a:solidFill>
              <a:latin typeface="宋体" panose="02010600030101010101" pitchFamily="2" charset="-122"/>
            </a:endParaRPr>
          </a:p>
          <a:p>
            <a:pPr marL="0" indent="0">
              <a:lnSpc>
                <a:spcPct val="90000"/>
              </a:lnSpc>
              <a:buNone/>
            </a:pPr>
            <a:endParaRPr lang="zh-CN" altLang="en-US" sz="2800" b="1" dirty="0">
              <a:solidFill>
                <a:srgbClr val="000000"/>
              </a:solidFill>
              <a:latin typeface="宋体" panose="02010600030101010101" pitchFamily="2" charset="-122"/>
            </a:endParaRPr>
          </a:p>
          <a:p>
            <a:pPr marL="0" indent="0">
              <a:lnSpc>
                <a:spcPct val="90000"/>
              </a:lnSpc>
              <a:buNone/>
            </a:pPr>
            <a:r>
              <a:rPr lang="zh-CN" altLang="en-US" sz="2800" b="1" dirty="0">
                <a:solidFill>
                  <a:srgbClr val="000000"/>
                </a:solidFill>
                <a:latin typeface="宋体" panose="02010600030101010101" pitchFamily="2" charset="-122"/>
              </a:rPr>
              <a:t>新的经济福利指标</a:t>
            </a:r>
            <a:r>
              <a:rPr lang="en-US" altLang="zh-CN" sz="2800" b="1">
                <a:solidFill>
                  <a:srgbClr val="000000"/>
                </a:solidFill>
                <a:latin typeface="宋体" panose="02010600030101010101" pitchFamily="2" charset="-122"/>
              </a:rPr>
              <a:t>:</a:t>
            </a:r>
            <a:r>
              <a:rPr lang="zh-CN" altLang="en-US" sz="2800" dirty="0">
                <a:solidFill>
                  <a:srgbClr val="000000"/>
                </a:solidFill>
                <a:latin typeface="宋体" panose="02010600030101010101" pitchFamily="2" charset="-122"/>
              </a:rPr>
              <a:t>经济福利测度</a:t>
            </a:r>
            <a:r>
              <a:rPr lang="en-US" altLang="zh-CN" sz="2800">
                <a:solidFill>
                  <a:srgbClr val="000000"/>
                </a:solidFill>
                <a:latin typeface="宋体" panose="02010600030101010101" pitchFamily="2" charset="-122"/>
              </a:rPr>
              <a:t>(measure of </a:t>
            </a:r>
            <a:r>
              <a:rPr lang="en-US" altLang="zh-CN" sz="2800" dirty="0" err="1">
                <a:solidFill>
                  <a:srgbClr val="000000"/>
                </a:solidFill>
                <a:latin typeface="宋体" panose="02010600030101010101" pitchFamily="2" charset="-122"/>
              </a:rPr>
              <a:t>ecnomic</a:t>
            </a:r>
            <a:r>
              <a:rPr lang="en-US" altLang="zh-CN" sz="2800">
                <a:solidFill>
                  <a:srgbClr val="000000"/>
                </a:solidFill>
                <a:latin typeface="宋体" panose="02010600030101010101" pitchFamily="2" charset="-122"/>
              </a:rPr>
              <a:t> welfare</a:t>
            </a:r>
            <a:r>
              <a:rPr lang="zh-CN" altLang="en-US" sz="2800" dirty="0">
                <a:solidFill>
                  <a:srgbClr val="000000"/>
                </a:solidFill>
                <a:latin typeface="宋体" panose="02010600030101010101" pitchFamily="2" charset="-122"/>
              </a:rPr>
              <a:t>，</a:t>
            </a:r>
            <a:r>
              <a:rPr lang="en-US" altLang="zh-CN" sz="2800">
                <a:solidFill>
                  <a:srgbClr val="000000"/>
                </a:solidFill>
                <a:latin typeface="宋体" panose="02010600030101010101" pitchFamily="2" charset="-122"/>
              </a:rPr>
              <a:t>MEW)</a:t>
            </a:r>
            <a:r>
              <a:rPr lang="zh-CN" altLang="en-US" sz="2800" dirty="0">
                <a:solidFill>
                  <a:srgbClr val="000000"/>
                </a:solidFill>
                <a:latin typeface="宋体" panose="02010600030101010101" pitchFamily="2" charset="-122"/>
              </a:rPr>
              <a:t>和经济福利净值</a:t>
            </a:r>
            <a:r>
              <a:rPr lang="en-US" altLang="zh-CN" sz="2800">
                <a:solidFill>
                  <a:srgbClr val="000000"/>
                </a:solidFill>
                <a:latin typeface="宋体" panose="02010600030101010101" pitchFamily="2" charset="-122"/>
              </a:rPr>
              <a:t>(net economic welfare</a:t>
            </a:r>
            <a:r>
              <a:rPr lang="zh-CN" altLang="en-US" sz="2800" dirty="0">
                <a:solidFill>
                  <a:srgbClr val="000000"/>
                </a:solidFill>
                <a:latin typeface="宋体" panose="02010600030101010101" pitchFamily="2" charset="-122"/>
              </a:rPr>
              <a:t>，</a:t>
            </a:r>
            <a:r>
              <a:rPr lang="en-US" altLang="zh-CN" sz="2800">
                <a:solidFill>
                  <a:srgbClr val="000000"/>
                </a:solidFill>
                <a:latin typeface="宋体" panose="02010600030101010101" pitchFamily="2" charset="-122"/>
              </a:rPr>
              <a:t>NEW)</a:t>
            </a:r>
            <a:r>
              <a:rPr lang="zh-CN" altLang="en-US" sz="2800" dirty="0">
                <a:solidFill>
                  <a:srgbClr val="000000"/>
                </a:solidFill>
                <a:latin typeface="宋体" panose="02010600030101010101" pitchFamily="2" charset="-122"/>
              </a:rPr>
              <a:t>，以弥补国民收入基准限制的缺点。如</a:t>
            </a:r>
            <a:r>
              <a:rPr lang="en-US" altLang="zh-CN" sz="2800">
                <a:solidFill>
                  <a:srgbClr val="000000"/>
                </a:solidFill>
                <a:latin typeface="宋体" panose="02010600030101010101" pitchFamily="2" charset="-122"/>
              </a:rPr>
              <a:t>: NEW:GNP+</a:t>
            </a:r>
            <a:r>
              <a:rPr lang="zh-CN" altLang="en-US" sz="2800" dirty="0">
                <a:solidFill>
                  <a:srgbClr val="000000"/>
                </a:solidFill>
                <a:latin typeface="宋体" panose="02010600030101010101" pitchFamily="2" charset="-122"/>
              </a:rPr>
              <a:t>休闲的价值</a:t>
            </a:r>
            <a:r>
              <a:rPr lang="en-US" altLang="zh-CN" sz="2800">
                <a:solidFill>
                  <a:srgbClr val="000000"/>
                </a:solidFill>
                <a:latin typeface="宋体" panose="02010600030101010101" pitchFamily="2" charset="-122"/>
              </a:rPr>
              <a:t>+</a:t>
            </a:r>
            <a:r>
              <a:rPr lang="zh-CN" altLang="en-US" sz="2800" dirty="0">
                <a:solidFill>
                  <a:srgbClr val="000000"/>
                </a:solidFill>
                <a:latin typeface="宋体" panose="02010600030101010101" pitchFamily="2" charset="-122"/>
              </a:rPr>
              <a:t>家务劳动的价值</a:t>
            </a:r>
            <a:r>
              <a:rPr lang="en-US" altLang="zh-CN" sz="2800">
                <a:solidFill>
                  <a:srgbClr val="000000"/>
                </a:solidFill>
                <a:latin typeface="宋体" panose="02010600030101010101" pitchFamily="2" charset="-122"/>
              </a:rPr>
              <a:t>-</a:t>
            </a:r>
            <a:r>
              <a:rPr lang="zh-CN" altLang="en-US" sz="2800" dirty="0">
                <a:solidFill>
                  <a:srgbClr val="000000"/>
                </a:solidFill>
                <a:latin typeface="宋体" panose="02010600030101010101" pitchFamily="2" charset="-122"/>
              </a:rPr>
              <a:t>负作用产品</a:t>
            </a:r>
            <a:r>
              <a:rPr lang="en-US" altLang="zh-CN" sz="2800">
                <a:solidFill>
                  <a:srgbClr val="000000"/>
                </a:solidFill>
                <a:latin typeface="宋体" panose="02010600030101010101" pitchFamily="2" charset="-122"/>
              </a:rPr>
              <a:t>(</a:t>
            </a:r>
            <a:r>
              <a:rPr lang="zh-CN" altLang="en-US" sz="2800" dirty="0">
                <a:solidFill>
                  <a:srgbClr val="000000"/>
                </a:solidFill>
                <a:latin typeface="宋体" panose="02010600030101010101" pitchFamily="2" charset="-122"/>
              </a:rPr>
              <a:t>环境污染</a:t>
            </a:r>
            <a:r>
              <a:rPr lang="en-US" altLang="zh-CN" sz="2800">
                <a:solidFill>
                  <a:srgbClr val="000000"/>
                </a:solidFill>
                <a:latin typeface="宋体" panose="02010600030101010101" pitchFamily="2" charset="-122"/>
              </a:rPr>
              <a:t>)</a:t>
            </a:r>
            <a:r>
              <a:rPr lang="zh-CN" altLang="en-US" sz="2800" dirty="0">
                <a:solidFill>
                  <a:srgbClr val="000000"/>
                </a:solidFill>
                <a:latin typeface="宋体" panose="02010600030101010101" pitchFamily="2" charset="-122"/>
              </a:rPr>
              <a:t>。 </a:t>
            </a:r>
            <a:endParaRPr lang="zh-CN" altLang="en-US" sz="2800" dirty="0">
              <a:solidFill>
                <a:srgbClr val="000000"/>
              </a:solidFill>
              <a:latin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7" name="文本占位符 47106"/>
          <p:cNvSpPr>
            <a:spLocks noGrp="1"/>
          </p:cNvSpPr>
          <p:nvPr>
            <p:ph type="body" idx="1"/>
          </p:nvPr>
        </p:nvSpPr>
        <p:spPr>
          <a:xfrm>
            <a:off x="838200" y="1143000"/>
            <a:ext cx="7772400" cy="4876800"/>
          </a:xfrm>
          <a:ln/>
        </p:spPr>
        <p:txBody>
          <a:bodyPr/>
          <a:p>
            <a:pPr marL="0" indent="0">
              <a:lnSpc>
                <a:spcPct val="90000"/>
              </a:lnSpc>
              <a:buNone/>
            </a:pPr>
            <a:r>
              <a:rPr lang="zh-CN" altLang="en-US" sz="2800" b="1" dirty="0">
                <a:solidFill>
                  <a:srgbClr val="FF0000"/>
                </a:solidFill>
                <a:latin typeface="宋体" panose="02010600030101010101" pitchFamily="2" charset="-122"/>
              </a:rPr>
              <a:t>生产率</a:t>
            </a:r>
            <a:r>
              <a:rPr lang="zh-CN" altLang="en-US" sz="2800" b="1" dirty="0">
                <a:solidFill>
                  <a:srgbClr val="000000"/>
                </a:solidFill>
                <a:latin typeface="宋体" panose="02010600030101010101" pitchFamily="2" charset="-122"/>
              </a:rPr>
              <a:t>是一个国家</a:t>
            </a:r>
            <a:r>
              <a:rPr lang="en-US" altLang="zh-CN" sz="2800" b="1">
                <a:solidFill>
                  <a:srgbClr val="000000"/>
                </a:solidFill>
                <a:latin typeface="宋体" panose="02010600030101010101" pitchFamily="2" charset="-122"/>
              </a:rPr>
              <a:t>GDP</a:t>
            </a:r>
            <a:r>
              <a:rPr lang="zh-CN" altLang="en-US" sz="2800" b="1" dirty="0">
                <a:solidFill>
                  <a:srgbClr val="000000"/>
                </a:solidFill>
                <a:latin typeface="宋体" panose="02010600030101010101" pitchFamily="2" charset="-122"/>
              </a:rPr>
              <a:t>高低的关键决定因素。</a:t>
            </a:r>
            <a:endParaRPr lang="zh-CN" altLang="en-US" sz="2800" b="1" dirty="0">
              <a:solidFill>
                <a:srgbClr val="000000"/>
              </a:solidFill>
              <a:latin typeface="宋体" panose="02010600030101010101" pitchFamily="2" charset="-122"/>
            </a:endParaRPr>
          </a:p>
          <a:p>
            <a:pPr marL="0" indent="0">
              <a:lnSpc>
                <a:spcPct val="90000"/>
              </a:lnSpc>
              <a:buNone/>
            </a:pPr>
            <a:r>
              <a:rPr lang="zh-CN" altLang="en-US" sz="2800" b="1" dirty="0">
                <a:solidFill>
                  <a:srgbClr val="000000"/>
                </a:solidFill>
                <a:latin typeface="宋体" panose="02010600030101010101" pitchFamily="2" charset="-122"/>
              </a:rPr>
              <a:t>生产率</a:t>
            </a:r>
            <a:r>
              <a:rPr lang="en-US" altLang="zh-CN" sz="2800" b="1">
                <a:solidFill>
                  <a:srgbClr val="000000"/>
                </a:solidFill>
                <a:latin typeface="宋体" panose="02010600030101010101" pitchFamily="2" charset="-122"/>
              </a:rPr>
              <a:t>:</a:t>
            </a:r>
            <a:r>
              <a:rPr lang="zh-CN" altLang="en-US" sz="2800" b="1" dirty="0">
                <a:solidFill>
                  <a:srgbClr val="000000"/>
                </a:solidFill>
                <a:latin typeface="宋体" panose="02010600030101010101" pitchFamily="2" charset="-122"/>
              </a:rPr>
              <a:t>一个工人每小时工作能生产的物品与劳务的数量。</a:t>
            </a:r>
            <a:endParaRPr lang="zh-CN" altLang="en-US" sz="2800" b="1" dirty="0">
              <a:solidFill>
                <a:srgbClr val="000000"/>
              </a:solidFill>
              <a:latin typeface="宋体" panose="02010600030101010101" pitchFamily="2" charset="-122"/>
            </a:endParaRPr>
          </a:p>
          <a:p>
            <a:pPr marL="0" indent="0">
              <a:lnSpc>
                <a:spcPct val="90000"/>
              </a:lnSpc>
              <a:buNone/>
            </a:pPr>
            <a:r>
              <a:rPr lang="zh-CN" altLang="en-US" sz="2800" b="1" dirty="0">
                <a:solidFill>
                  <a:srgbClr val="000000"/>
                </a:solidFill>
                <a:latin typeface="宋体" panose="02010600030101010101" pitchFamily="2" charset="-122"/>
              </a:rPr>
              <a:t>生产率的</a:t>
            </a:r>
            <a:r>
              <a:rPr lang="zh-CN" altLang="en-US" sz="2800" b="1" dirty="0">
                <a:solidFill>
                  <a:srgbClr val="FF0000"/>
                </a:solidFill>
                <a:latin typeface="宋体" panose="02010600030101010101" pitchFamily="2" charset="-122"/>
              </a:rPr>
              <a:t>决定因素</a:t>
            </a:r>
            <a:r>
              <a:rPr lang="en-US" altLang="zh-CN" sz="2800" b="1">
                <a:solidFill>
                  <a:srgbClr val="000000"/>
                </a:solidFill>
                <a:latin typeface="宋体" panose="02010600030101010101" pitchFamily="2" charset="-122"/>
              </a:rPr>
              <a:t>:</a:t>
            </a:r>
            <a:endParaRPr lang="en-US" altLang="zh-CN" sz="2800" b="1">
              <a:solidFill>
                <a:srgbClr val="000000"/>
              </a:solidFill>
              <a:latin typeface="宋体" panose="02010600030101010101" pitchFamily="2" charset="-122"/>
            </a:endParaRPr>
          </a:p>
          <a:p>
            <a:pPr marL="0" indent="0">
              <a:lnSpc>
                <a:spcPct val="90000"/>
              </a:lnSpc>
              <a:buNone/>
            </a:pPr>
            <a:r>
              <a:rPr lang="en-US" altLang="zh-CN" sz="2800" b="1">
                <a:solidFill>
                  <a:srgbClr val="000000"/>
                </a:solidFill>
                <a:latin typeface="宋体" panose="02010600030101010101" pitchFamily="2" charset="-122"/>
              </a:rPr>
              <a:t>(1)</a:t>
            </a:r>
            <a:r>
              <a:rPr lang="zh-CN" altLang="en-US" sz="2800" b="1" dirty="0">
                <a:solidFill>
                  <a:srgbClr val="FF0000"/>
                </a:solidFill>
                <a:latin typeface="宋体" panose="02010600030101010101" pitchFamily="2" charset="-122"/>
              </a:rPr>
              <a:t>物质资本</a:t>
            </a:r>
            <a:r>
              <a:rPr lang="en-US" altLang="zh-CN" sz="2800" b="1">
                <a:solidFill>
                  <a:srgbClr val="000000"/>
                </a:solidFill>
                <a:latin typeface="宋体" panose="02010600030101010101" pitchFamily="2" charset="-122"/>
              </a:rPr>
              <a:t>:</a:t>
            </a:r>
            <a:r>
              <a:rPr lang="zh-CN" altLang="en-US" sz="2800" b="1" dirty="0">
                <a:solidFill>
                  <a:srgbClr val="000000"/>
                </a:solidFill>
                <a:latin typeface="宋体" panose="02010600030101010101" pitchFamily="2" charset="-122"/>
              </a:rPr>
              <a:t>用于生产物品与劳务的设备与建筑物存量。</a:t>
            </a:r>
            <a:endParaRPr lang="zh-CN" altLang="en-US" sz="2800" b="1" dirty="0">
              <a:solidFill>
                <a:srgbClr val="000000"/>
              </a:solidFill>
              <a:latin typeface="宋体" panose="02010600030101010101" pitchFamily="2" charset="-122"/>
            </a:endParaRPr>
          </a:p>
          <a:p>
            <a:pPr marL="0" indent="0">
              <a:lnSpc>
                <a:spcPct val="90000"/>
              </a:lnSpc>
              <a:buNone/>
            </a:pPr>
            <a:r>
              <a:rPr lang="en-US" altLang="zh-CN" sz="2800" b="1">
                <a:solidFill>
                  <a:srgbClr val="000000"/>
                </a:solidFill>
                <a:latin typeface="宋体" panose="02010600030101010101" pitchFamily="2" charset="-122"/>
              </a:rPr>
              <a:t>(2)</a:t>
            </a:r>
            <a:r>
              <a:rPr lang="zh-CN" altLang="en-US" sz="2800" b="1" dirty="0">
                <a:solidFill>
                  <a:srgbClr val="FF0000"/>
                </a:solidFill>
                <a:latin typeface="宋体" panose="02010600030101010101" pitchFamily="2" charset="-122"/>
              </a:rPr>
              <a:t>人力资本</a:t>
            </a:r>
            <a:r>
              <a:rPr lang="en-US" altLang="zh-CN" sz="2800" b="1">
                <a:solidFill>
                  <a:srgbClr val="000000"/>
                </a:solidFill>
                <a:latin typeface="宋体" panose="02010600030101010101" pitchFamily="2" charset="-122"/>
              </a:rPr>
              <a:t>:</a:t>
            </a:r>
            <a:r>
              <a:rPr lang="zh-CN" altLang="en-US" sz="2800" b="1" dirty="0">
                <a:solidFill>
                  <a:srgbClr val="000000"/>
                </a:solidFill>
                <a:latin typeface="宋体" panose="02010600030101010101" pitchFamily="2" charset="-122"/>
              </a:rPr>
              <a:t>通过教育、培训和经验而获得的知识与技能。</a:t>
            </a:r>
            <a:endParaRPr lang="zh-CN" altLang="en-US" sz="2800" b="1" dirty="0">
              <a:solidFill>
                <a:srgbClr val="000000"/>
              </a:solidFill>
              <a:latin typeface="宋体" panose="02010600030101010101" pitchFamily="2" charset="-122"/>
            </a:endParaRPr>
          </a:p>
          <a:p>
            <a:pPr marL="0" indent="0">
              <a:lnSpc>
                <a:spcPct val="90000"/>
              </a:lnSpc>
              <a:buNone/>
            </a:pPr>
            <a:r>
              <a:rPr lang="en-US" altLang="zh-CN" sz="2800" b="1">
                <a:solidFill>
                  <a:srgbClr val="000000"/>
                </a:solidFill>
                <a:latin typeface="宋体" panose="02010600030101010101" pitchFamily="2" charset="-122"/>
              </a:rPr>
              <a:t>(3)</a:t>
            </a:r>
            <a:r>
              <a:rPr lang="zh-CN" altLang="en-US" sz="2800" b="1" dirty="0">
                <a:solidFill>
                  <a:srgbClr val="FF0000"/>
                </a:solidFill>
                <a:latin typeface="宋体" panose="02010600030101010101" pitchFamily="2" charset="-122"/>
              </a:rPr>
              <a:t>自然资源</a:t>
            </a:r>
            <a:r>
              <a:rPr lang="en-US" altLang="zh-CN" sz="2800" b="1">
                <a:solidFill>
                  <a:srgbClr val="FF0000"/>
                </a:solidFill>
                <a:latin typeface="宋体" panose="02010600030101010101" pitchFamily="2" charset="-122"/>
              </a:rPr>
              <a:t>:</a:t>
            </a:r>
            <a:r>
              <a:rPr lang="zh-CN" altLang="en-US" sz="2800" b="1" dirty="0">
                <a:solidFill>
                  <a:srgbClr val="000000"/>
                </a:solidFill>
                <a:latin typeface="宋体" panose="02010600030101010101" pitchFamily="2" charset="-122"/>
              </a:rPr>
              <a:t>由自然界提供的用于生产物品与劳务的投入，如土地、河流和矿藏。</a:t>
            </a:r>
            <a:endParaRPr lang="zh-CN" altLang="en-US" sz="2800" b="1" dirty="0">
              <a:solidFill>
                <a:srgbClr val="000000"/>
              </a:solidFill>
              <a:latin typeface="宋体" panose="02010600030101010101" pitchFamily="2" charset="-122"/>
            </a:endParaRPr>
          </a:p>
          <a:p>
            <a:pPr marL="0" indent="0">
              <a:lnSpc>
                <a:spcPct val="90000"/>
              </a:lnSpc>
              <a:buNone/>
            </a:pPr>
            <a:r>
              <a:rPr lang="en-US" altLang="zh-CN" sz="2800" b="1">
                <a:solidFill>
                  <a:srgbClr val="000000"/>
                </a:solidFill>
                <a:latin typeface="宋体" panose="02010600030101010101" pitchFamily="2" charset="-122"/>
              </a:rPr>
              <a:t>(4)</a:t>
            </a:r>
            <a:r>
              <a:rPr lang="zh-CN" altLang="en-US" sz="2800" b="1" dirty="0">
                <a:solidFill>
                  <a:srgbClr val="FF0000"/>
                </a:solidFill>
                <a:latin typeface="宋体" panose="02010600030101010101" pitchFamily="2" charset="-122"/>
              </a:rPr>
              <a:t>技术知识</a:t>
            </a:r>
            <a:r>
              <a:rPr lang="en-US" altLang="zh-CN" sz="2800" b="1">
                <a:solidFill>
                  <a:srgbClr val="FF0000"/>
                </a:solidFill>
                <a:latin typeface="宋体" panose="02010600030101010101" pitchFamily="2" charset="-122"/>
              </a:rPr>
              <a:t>:</a:t>
            </a:r>
            <a:r>
              <a:rPr lang="zh-CN" altLang="en-US" sz="2800" b="1" dirty="0">
                <a:solidFill>
                  <a:srgbClr val="000000"/>
                </a:solidFill>
                <a:latin typeface="宋体" panose="02010600030101010101" pitchFamily="2" charset="-122"/>
              </a:rPr>
              <a:t>社会对生产物品与劳务的最好方法的了解。</a:t>
            </a:r>
            <a:endParaRPr lang="zh-CN" altLang="en-US" sz="2800" b="1" dirty="0">
              <a:solidFill>
                <a:srgbClr val="000000"/>
              </a:solidFill>
              <a:latin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1" name="文本占位符 48130"/>
          <p:cNvSpPr>
            <a:spLocks noGrp="1"/>
          </p:cNvSpPr>
          <p:nvPr>
            <p:ph type="body" idx="1"/>
          </p:nvPr>
        </p:nvSpPr>
        <p:spPr>
          <a:xfrm>
            <a:off x="609600" y="0"/>
            <a:ext cx="7772400" cy="4114800"/>
          </a:xfrm>
          <a:ln/>
        </p:spPr>
        <p:txBody>
          <a:bodyPr/>
          <a:p>
            <a:pPr marL="0" indent="0" algn="just">
              <a:lnSpc>
                <a:spcPct val="90000"/>
              </a:lnSpc>
              <a:buNone/>
            </a:pPr>
            <a:r>
              <a:rPr lang="en-US" altLang="zh-CN" sz="3600" b="1">
                <a:solidFill>
                  <a:srgbClr val="FF0000"/>
                </a:solidFill>
                <a:latin typeface="宋体" panose="02010600030101010101" pitchFamily="2" charset="-122"/>
              </a:rPr>
              <a:t>D</a:t>
            </a:r>
            <a:r>
              <a:rPr lang="zh-CN" altLang="en-US" sz="3600" b="1">
                <a:solidFill>
                  <a:srgbClr val="FF0000"/>
                </a:solidFill>
                <a:latin typeface="宋体" panose="02010600030101010101" pitchFamily="2" charset="-122"/>
              </a:rPr>
              <a:t>．</a:t>
            </a:r>
            <a:r>
              <a:rPr lang="zh-CN" altLang="en-US" sz="3600" b="1" dirty="0">
                <a:solidFill>
                  <a:srgbClr val="FF0000"/>
                </a:solidFill>
                <a:latin typeface="宋体" panose="02010600030101010101" pitchFamily="2" charset="-122"/>
              </a:rPr>
              <a:t>其他衡量指标</a:t>
            </a:r>
            <a:endParaRPr lang="zh-CN" altLang="en-US" sz="3600" b="1" dirty="0">
              <a:solidFill>
                <a:srgbClr val="FF0000"/>
              </a:solidFill>
              <a:latin typeface="宋体" panose="02010600030101010101" pitchFamily="2" charset="-122"/>
            </a:endParaRPr>
          </a:p>
          <a:p>
            <a:pPr marL="0" indent="0" algn="just">
              <a:lnSpc>
                <a:spcPct val="90000"/>
              </a:lnSpc>
              <a:buNone/>
            </a:pPr>
            <a:r>
              <a:rPr lang="en-US" altLang="zh-CN" sz="2400" b="1">
                <a:solidFill>
                  <a:srgbClr val="000000"/>
                </a:solidFill>
                <a:latin typeface="宋体" panose="02010600030101010101" pitchFamily="2" charset="-122"/>
              </a:rPr>
              <a:t>GNP</a:t>
            </a:r>
            <a:r>
              <a:rPr lang="zh-CN" altLang="en-US" sz="2400" b="1">
                <a:solidFill>
                  <a:srgbClr val="000000"/>
                </a:solidFill>
                <a:latin typeface="宋体" panose="02010600030101010101" pitchFamily="2" charset="-122"/>
              </a:rPr>
              <a:t>， </a:t>
            </a:r>
            <a:r>
              <a:rPr lang="en-US" altLang="zh-CN" sz="2400" b="1">
                <a:solidFill>
                  <a:srgbClr val="000000"/>
                </a:solidFill>
                <a:latin typeface="宋体" panose="02010600030101010101" pitchFamily="2" charset="-122"/>
              </a:rPr>
              <a:t>NNP</a:t>
            </a:r>
            <a:r>
              <a:rPr lang="zh-CN" altLang="en-US" sz="2400" b="1">
                <a:solidFill>
                  <a:srgbClr val="000000"/>
                </a:solidFill>
                <a:latin typeface="宋体" panose="02010600030101010101" pitchFamily="2" charset="-122"/>
              </a:rPr>
              <a:t>， </a:t>
            </a:r>
            <a:r>
              <a:rPr lang="en-US" altLang="zh-CN" sz="2400" b="1">
                <a:solidFill>
                  <a:srgbClr val="000000"/>
                </a:solidFill>
                <a:latin typeface="宋体" panose="02010600030101010101" pitchFamily="2" charset="-122"/>
              </a:rPr>
              <a:t>PI</a:t>
            </a:r>
            <a:r>
              <a:rPr lang="zh-CN" altLang="en-US" sz="2400" b="1">
                <a:solidFill>
                  <a:srgbClr val="000000"/>
                </a:solidFill>
                <a:latin typeface="宋体" panose="02010600030101010101" pitchFamily="2" charset="-122"/>
              </a:rPr>
              <a:t>， </a:t>
            </a:r>
            <a:r>
              <a:rPr lang="en-US" altLang="zh-CN" sz="2400" b="1">
                <a:solidFill>
                  <a:srgbClr val="000000"/>
                </a:solidFill>
                <a:latin typeface="宋体" panose="02010600030101010101" pitchFamily="2" charset="-122"/>
              </a:rPr>
              <a:t>DPI</a:t>
            </a:r>
            <a:endParaRPr lang="en-US" altLang="zh-CN" sz="2400" b="1">
              <a:solidFill>
                <a:srgbClr val="000000"/>
              </a:solidFill>
              <a:latin typeface="宋体" panose="02010600030101010101" pitchFamily="2" charset="-122"/>
            </a:endParaRPr>
          </a:p>
          <a:p>
            <a:pPr marL="0" indent="0" algn="just">
              <a:lnSpc>
                <a:spcPct val="90000"/>
              </a:lnSpc>
              <a:buNone/>
            </a:pPr>
            <a:r>
              <a:rPr lang="en-US" altLang="zh-CN" sz="2400" b="1">
                <a:solidFill>
                  <a:srgbClr val="FF0000"/>
                </a:solidFill>
                <a:latin typeface="宋体" panose="02010600030101010101" pitchFamily="2" charset="-122"/>
              </a:rPr>
              <a:t>GNP</a:t>
            </a:r>
            <a:r>
              <a:rPr lang="zh-CN" altLang="en-US" sz="2400" b="1">
                <a:solidFill>
                  <a:srgbClr val="FF0000"/>
                </a:solidFill>
                <a:latin typeface="宋体" panose="02010600030101010101" pitchFamily="2" charset="-122"/>
              </a:rPr>
              <a:t>：</a:t>
            </a:r>
            <a:r>
              <a:rPr lang="zh-CN" altLang="en-US" sz="2400" b="1" dirty="0">
                <a:solidFill>
                  <a:srgbClr val="FF0000"/>
                </a:solidFill>
                <a:latin typeface="宋体" panose="02010600030101010101" pitchFamily="2" charset="-122"/>
              </a:rPr>
              <a:t>国民生产总值</a:t>
            </a:r>
            <a:r>
              <a:rPr lang="zh-CN" altLang="en-US" sz="2400" b="1" dirty="0">
                <a:solidFill>
                  <a:srgbClr val="000000"/>
                </a:solidFill>
                <a:latin typeface="宋体" panose="02010600030101010101" pitchFamily="2" charset="-122"/>
              </a:rPr>
              <a:t>，在某一既定时期内由一国永久居民生产的所有最终物品和劳务的市场价值。</a:t>
            </a:r>
            <a:endParaRPr lang="zh-CN" altLang="en-US" sz="2400" b="1" dirty="0">
              <a:solidFill>
                <a:srgbClr val="000000"/>
              </a:solidFill>
              <a:latin typeface="宋体" panose="02010600030101010101" pitchFamily="2" charset="-122"/>
            </a:endParaRPr>
          </a:p>
          <a:p>
            <a:pPr marL="0" indent="0" algn="just">
              <a:lnSpc>
                <a:spcPct val="90000"/>
              </a:lnSpc>
              <a:buNone/>
            </a:pPr>
            <a:r>
              <a:rPr lang="en-US" altLang="zh-CN" sz="2400" b="1">
                <a:solidFill>
                  <a:srgbClr val="FF0000"/>
                </a:solidFill>
                <a:latin typeface="宋体" panose="02010600030101010101" pitchFamily="2" charset="-122"/>
              </a:rPr>
              <a:t>GNP=GDP+</a:t>
            </a:r>
            <a:r>
              <a:rPr lang="zh-CN" altLang="en-US" sz="2400" b="1" dirty="0">
                <a:solidFill>
                  <a:srgbClr val="FF0000"/>
                </a:solidFill>
                <a:latin typeface="宋体" panose="02010600030101010101" pitchFamily="2" charset="-122"/>
              </a:rPr>
              <a:t>本地居民生产要素参与外地生产的报酬</a:t>
            </a:r>
            <a:r>
              <a:rPr lang="en-US" altLang="zh-CN" sz="2400" b="1">
                <a:solidFill>
                  <a:srgbClr val="FF0000"/>
                </a:solidFill>
                <a:latin typeface="宋体" panose="02010600030101010101" pitchFamily="2" charset="-122"/>
              </a:rPr>
              <a:t>-</a:t>
            </a:r>
            <a:r>
              <a:rPr lang="zh-CN" altLang="en-US" sz="2400" b="1" dirty="0">
                <a:solidFill>
                  <a:srgbClr val="FF0000"/>
                </a:solidFill>
                <a:latin typeface="宋体" panose="02010600030101010101" pitchFamily="2" charset="-122"/>
              </a:rPr>
              <a:t>外地居民生产要素参与本地生产的报酬</a:t>
            </a:r>
            <a:endParaRPr lang="zh-CN" altLang="en-US" sz="2400" b="1" dirty="0">
              <a:solidFill>
                <a:srgbClr val="FF0000"/>
              </a:solidFill>
              <a:latin typeface="宋体" panose="02010600030101010101" pitchFamily="2" charset="-122"/>
            </a:endParaRPr>
          </a:p>
          <a:p>
            <a:pPr marL="0" indent="0" algn="just">
              <a:lnSpc>
                <a:spcPct val="90000"/>
              </a:lnSpc>
              <a:buNone/>
            </a:pPr>
            <a:r>
              <a:rPr lang="en-US" altLang="zh-CN" sz="2400" b="1">
                <a:solidFill>
                  <a:srgbClr val="FF0000"/>
                </a:solidFill>
                <a:latin typeface="宋体" panose="02010600030101010101" pitchFamily="2" charset="-122"/>
              </a:rPr>
              <a:t>GNP=GDP+</a:t>
            </a:r>
            <a:r>
              <a:rPr lang="zh-CN" altLang="en-US" sz="2400" b="1" dirty="0">
                <a:solidFill>
                  <a:srgbClr val="FF0000"/>
                </a:solidFill>
                <a:latin typeface="宋体" panose="02010600030101010101" pitchFamily="2" charset="-122"/>
              </a:rPr>
              <a:t>要素在外地收入净值</a:t>
            </a:r>
            <a:endParaRPr lang="zh-CN" altLang="en-US" sz="2400" b="1">
              <a:solidFill>
                <a:srgbClr val="FF0000"/>
              </a:solidFill>
              <a:latin typeface="宋体" panose="02010600030101010101" pitchFamily="2" charset="-122"/>
            </a:endParaRPr>
          </a:p>
          <a:p>
            <a:pPr marL="0" indent="0" algn="just">
              <a:lnSpc>
                <a:spcPct val="90000"/>
              </a:lnSpc>
              <a:buNone/>
            </a:pPr>
            <a:r>
              <a:rPr lang="en-US" altLang="zh-CN" sz="2400" b="1">
                <a:solidFill>
                  <a:srgbClr val="FF0000"/>
                </a:solidFill>
                <a:latin typeface="宋体" panose="02010600030101010101" pitchFamily="2" charset="-122"/>
              </a:rPr>
              <a:t>NNP</a:t>
            </a:r>
            <a:r>
              <a:rPr lang="zh-CN" altLang="en-US" sz="2400" b="1">
                <a:solidFill>
                  <a:srgbClr val="FF0000"/>
                </a:solidFill>
                <a:latin typeface="宋体" panose="02010600030101010101" pitchFamily="2" charset="-122"/>
              </a:rPr>
              <a:t>：</a:t>
            </a:r>
            <a:r>
              <a:rPr lang="zh-CN" altLang="en-US" sz="2400" b="1" dirty="0">
                <a:solidFill>
                  <a:srgbClr val="FF0000"/>
                </a:solidFill>
                <a:latin typeface="宋体" panose="02010600030101010101" pitchFamily="2" charset="-122"/>
              </a:rPr>
              <a:t>国民生产净值</a:t>
            </a:r>
            <a:r>
              <a:rPr lang="zh-CN" altLang="en-US" sz="2400" b="1" dirty="0">
                <a:solidFill>
                  <a:srgbClr val="000000"/>
                </a:solidFill>
                <a:latin typeface="宋体" panose="02010600030101010101" pitchFamily="2" charset="-122"/>
              </a:rPr>
              <a:t>，是扣除了折旧损失后一国居民的总收入</a:t>
            </a:r>
            <a:r>
              <a:rPr lang="zh-CN" altLang="en-US" sz="2400" b="1">
                <a:solidFill>
                  <a:srgbClr val="000000"/>
                </a:solidFill>
                <a:latin typeface="宋体" panose="02010600030101010101" pitchFamily="2" charset="-122"/>
              </a:rPr>
              <a:t>。</a:t>
            </a:r>
            <a:r>
              <a:rPr lang="en-US" altLang="zh-CN" sz="2400" b="1">
                <a:solidFill>
                  <a:srgbClr val="000000"/>
                </a:solidFill>
                <a:latin typeface="宋体" panose="02010600030101010101" pitchFamily="2" charset="-122"/>
              </a:rPr>
              <a:t>NNP=GNP-</a:t>
            </a:r>
            <a:r>
              <a:rPr lang="zh-CN" altLang="en-US" sz="2400" b="1" dirty="0">
                <a:solidFill>
                  <a:srgbClr val="000000"/>
                </a:solidFill>
                <a:latin typeface="宋体" panose="02010600030101010101" pitchFamily="2" charset="-122"/>
              </a:rPr>
              <a:t>折旧     </a:t>
            </a:r>
            <a:r>
              <a:rPr lang="en-US" altLang="zh-CN" sz="2400" b="1">
                <a:solidFill>
                  <a:srgbClr val="FF0000"/>
                </a:solidFill>
                <a:latin typeface="宋体" panose="02010600030101010101" pitchFamily="2" charset="-122"/>
              </a:rPr>
              <a:t>NDP=GDP-</a:t>
            </a:r>
            <a:r>
              <a:rPr lang="zh-CN" altLang="en-US" sz="2400" b="1" dirty="0">
                <a:solidFill>
                  <a:srgbClr val="FF0000"/>
                </a:solidFill>
                <a:latin typeface="宋体" panose="02010600030101010101" pitchFamily="2" charset="-122"/>
              </a:rPr>
              <a:t>折旧</a:t>
            </a:r>
            <a:endParaRPr lang="zh-CN" altLang="en-US" sz="2400" b="1" dirty="0">
              <a:solidFill>
                <a:srgbClr val="FF0000"/>
              </a:solidFill>
              <a:latin typeface="宋体" panose="02010600030101010101" pitchFamily="2" charset="-122"/>
            </a:endParaRPr>
          </a:p>
          <a:p>
            <a:pPr marL="0" indent="0" algn="just">
              <a:lnSpc>
                <a:spcPct val="90000"/>
              </a:lnSpc>
              <a:buNone/>
            </a:pPr>
            <a:r>
              <a:rPr lang="en-US" altLang="zh-CN" sz="2400" b="1">
                <a:solidFill>
                  <a:srgbClr val="FF0000"/>
                </a:solidFill>
                <a:latin typeface="宋体" panose="02010600030101010101" pitchFamily="2" charset="-122"/>
              </a:rPr>
              <a:t>PI</a:t>
            </a:r>
            <a:r>
              <a:rPr lang="zh-CN" altLang="en-US" sz="2400" b="1">
                <a:solidFill>
                  <a:srgbClr val="FF0000"/>
                </a:solidFill>
                <a:latin typeface="宋体" panose="02010600030101010101" pitchFamily="2" charset="-122"/>
              </a:rPr>
              <a:t>： </a:t>
            </a:r>
            <a:r>
              <a:rPr lang="zh-CN" altLang="en-US" sz="2400" b="1" dirty="0">
                <a:solidFill>
                  <a:srgbClr val="FF0000"/>
                </a:solidFill>
                <a:latin typeface="宋体" panose="02010600030101010101" pitchFamily="2" charset="-122"/>
              </a:rPr>
              <a:t>个人收入</a:t>
            </a:r>
            <a:r>
              <a:rPr lang="zh-CN" altLang="en-US" sz="2400" b="1" dirty="0">
                <a:solidFill>
                  <a:srgbClr val="000000"/>
                </a:solidFill>
                <a:latin typeface="宋体" panose="02010600030101010101" pitchFamily="2" charset="-122"/>
              </a:rPr>
              <a:t>，是居民和非公司企业得到的收入。</a:t>
            </a:r>
            <a:endParaRPr lang="zh-CN" altLang="en-US" sz="2400" b="1" dirty="0">
              <a:solidFill>
                <a:srgbClr val="000000"/>
              </a:solidFill>
              <a:latin typeface="宋体" panose="02010600030101010101" pitchFamily="2" charset="-122"/>
            </a:endParaRPr>
          </a:p>
          <a:p>
            <a:pPr marL="0" indent="0" algn="just">
              <a:lnSpc>
                <a:spcPct val="90000"/>
              </a:lnSpc>
              <a:buNone/>
            </a:pPr>
            <a:r>
              <a:rPr lang="zh-CN" altLang="en-US" sz="2400" b="1" dirty="0">
                <a:solidFill>
                  <a:srgbClr val="000000"/>
                </a:solidFill>
                <a:latin typeface="宋体" panose="02010600030101010101" pitchFamily="2" charset="-122"/>
              </a:rPr>
              <a:t> </a:t>
            </a:r>
            <a:r>
              <a:rPr lang="en-US" altLang="zh-CN" sz="2400" b="1">
                <a:solidFill>
                  <a:srgbClr val="000000"/>
                </a:solidFill>
                <a:latin typeface="宋体" panose="02010600030101010101" pitchFamily="2" charset="-122"/>
              </a:rPr>
              <a:t>PI=</a:t>
            </a:r>
            <a:r>
              <a:rPr lang="zh-CN" altLang="en-US" sz="2400" b="1" dirty="0">
                <a:solidFill>
                  <a:srgbClr val="000000"/>
                </a:solidFill>
                <a:latin typeface="宋体" panose="02010600030101010101" pitchFamily="2" charset="-122"/>
              </a:rPr>
              <a:t>本地居民要素收入</a:t>
            </a:r>
            <a:r>
              <a:rPr lang="en-US" altLang="zh-CN" sz="2400" b="1">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营利事业所得税</a:t>
            </a:r>
            <a:r>
              <a:rPr lang="en-US" altLang="zh-CN" sz="2400" b="1">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公司未分配盈余</a:t>
            </a:r>
            <a:r>
              <a:rPr lang="en-US" altLang="zh-CN" sz="2400" b="1">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政府财产与企业所得</a:t>
            </a:r>
            <a:r>
              <a:rPr lang="en-US" altLang="zh-CN" sz="2400" b="1">
                <a:solidFill>
                  <a:srgbClr val="000000"/>
                </a:solidFill>
                <a:latin typeface="宋体" panose="02010600030101010101" pitchFamily="2" charset="-122"/>
              </a:rPr>
              <a:t>)+</a:t>
            </a:r>
            <a:r>
              <a:rPr lang="zh-CN" altLang="en-US" sz="2400" b="1" dirty="0">
                <a:solidFill>
                  <a:srgbClr val="000000"/>
                </a:solidFill>
                <a:latin typeface="宋体" panose="02010600030101010101" pitchFamily="2" charset="-122"/>
              </a:rPr>
              <a:t>国内外的住户的转移支付</a:t>
            </a:r>
            <a:endParaRPr lang="zh-CN" altLang="en-US" sz="2400" b="1">
              <a:solidFill>
                <a:srgbClr val="000000"/>
              </a:solidFill>
              <a:latin typeface="宋体" panose="02010600030101010101" pitchFamily="2" charset="-122"/>
            </a:endParaRPr>
          </a:p>
          <a:p>
            <a:pPr marL="0" indent="0" algn="just">
              <a:lnSpc>
                <a:spcPct val="90000"/>
              </a:lnSpc>
              <a:buNone/>
            </a:pPr>
            <a:r>
              <a:rPr lang="en-US" altLang="zh-CN" sz="2400" b="1">
                <a:solidFill>
                  <a:srgbClr val="FF0000"/>
                </a:solidFill>
                <a:latin typeface="宋体" panose="02010600030101010101" pitchFamily="2" charset="-122"/>
              </a:rPr>
              <a:t>DPI</a:t>
            </a:r>
            <a:r>
              <a:rPr lang="zh-CN" altLang="en-US" sz="2400" b="1">
                <a:solidFill>
                  <a:srgbClr val="FF0000"/>
                </a:solidFill>
                <a:latin typeface="宋体" panose="02010600030101010101" pitchFamily="2" charset="-122"/>
              </a:rPr>
              <a:t>：</a:t>
            </a:r>
            <a:r>
              <a:rPr lang="zh-CN" altLang="en-US" sz="2400" b="1" dirty="0">
                <a:solidFill>
                  <a:srgbClr val="FF0000"/>
                </a:solidFill>
                <a:latin typeface="宋体" panose="02010600030101010101" pitchFamily="2" charset="-122"/>
              </a:rPr>
              <a:t>个人可支配收入</a:t>
            </a:r>
            <a:r>
              <a:rPr lang="zh-CN" altLang="en-US" sz="2400" b="1" dirty="0">
                <a:solidFill>
                  <a:srgbClr val="000000"/>
                </a:solidFill>
                <a:latin typeface="宋体" panose="02010600030101010101" pitchFamily="2" charset="-122"/>
              </a:rPr>
              <a:t>是家庭和非公司企业在缴税后的收入。</a:t>
            </a:r>
            <a:r>
              <a:rPr lang="zh-CN" altLang="en-US" sz="2400" b="1">
                <a:solidFill>
                  <a:srgbClr val="000000"/>
                </a:solidFill>
                <a:latin typeface="宋体" panose="02010600030101010101" pitchFamily="2" charset="-122"/>
              </a:rPr>
              <a:t>   </a:t>
            </a:r>
            <a:r>
              <a:rPr lang="en-US" altLang="zh-CN" sz="2400" b="1">
                <a:solidFill>
                  <a:srgbClr val="FF0000"/>
                </a:solidFill>
                <a:latin typeface="宋体" panose="02010600030101010101" pitchFamily="2" charset="-122"/>
              </a:rPr>
              <a:t>DPI=PI-</a:t>
            </a:r>
            <a:r>
              <a:rPr lang="zh-CN" altLang="en-US" sz="2400" b="1" dirty="0">
                <a:solidFill>
                  <a:srgbClr val="FF0000"/>
                </a:solidFill>
                <a:latin typeface="宋体" panose="02010600030101010101" pitchFamily="2" charset="-122"/>
              </a:rPr>
              <a:t>住户及民间非营利团体之直接税</a:t>
            </a:r>
            <a:endParaRPr lang="zh-CN" altLang="en-US" sz="2400" b="1" dirty="0">
              <a:solidFill>
                <a:srgbClr val="FF0000"/>
              </a:solidFill>
              <a:latin typeface="宋体" panose="02010600030101010101" pitchFamily="2" charset="-122"/>
            </a:endParaRPr>
          </a:p>
          <a:p>
            <a:pPr marL="0" indent="0" algn="just">
              <a:lnSpc>
                <a:spcPct val="90000"/>
              </a:lnSpc>
              <a:buNone/>
            </a:pPr>
            <a:r>
              <a:rPr lang="zh-CN" altLang="en-US" sz="2400" b="1" dirty="0">
                <a:solidFill>
                  <a:srgbClr val="FF0000"/>
                </a:solidFill>
                <a:latin typeface="宋体" panose="02010600030101010101" pitchFamily="2" charset="-122"/>
              </a:rPr>
              <a:t>名义利率</a:t>
            </a:r>
            <a:r>
              <a:rPr lang="en-US" altLang="zh-CN" sz="2400" b="1">
                <a:solidFill>
                  <a:srgbClr val="000000"/>
                </a:solidFill>
                <a:latin typeface="宋体" panose="02010600030101010101" pitchFamily="2" charset="-122"/>
              </a:rPr>
              <a:t>(nominal interest rate):</a:t>
            </a:r>
            <a:r>
              <a:rPr lang="zh-CN" altLang="en-US" sz="2400" b="1" dirty="0">
                <a:solidFill>
                  <a:srgbClr val="000000"/>
                </a:solidFill>
                <a:latin typeface="宋体" panose="02010600030101010101" pitchFamily="2" charset="-122"/>
              </a:rPr>
              <a:t>通常公布的，未根据通货膨胀的影响校正的利率。</a:t>
            </a:r>
            <a:endParaRPr lang="zh-CN" altLang="en-US" sz="2400" b="1" dirty="0">
              <a:solidFill>
                <a:srgbClr val="000000"/>
              </a:solidFill>
              <a:latin typeface="宋体" panose="02010600030101010101" pitchFamily="2" charset="-122"/>
            </a:endParaRPr>
          </a:p>
          <a:p>
            <a:pPr marL="0" indent="0" algn="just">
              <a:lnSpc>
                <a:spcPct val="90000"/>
              </a:lnSpc>
              <a:buNone/>
            </a:pPr>
            <a:r>
              <a:rPr lang="zh-CN" altLang="en-US" sz="2400" b="1" dirty="0">
                <a:solidFill>
                  <a:srgbClr val="FF0000"/>
                </a:solidFill>
                <a:latin typeface="宋体" panose="02010600030101010101" pitchFamily="2" charset="-122"/>
              </a:rPr>
              <a:t>实际利率</a:t>
            </a:r>
            <a:r>
              <a:rPr lang="en-US" altLang="zh-CN" sz="2400" b="1">
                <a:solidFill>
                  <a:srgbClr val="000000"/>
                </a:solidFill>
                <a:latin typeface="宋体" panose="02010600030101010101" pitchFamily="2" charset="-122"/>
              </a:rPr>
              <a:t>(real interest rate):</a:t>
            </a:r>
            <a:r>
              <a:rPr lang="zh-CN" altLang="en-US" sz="2400" b="1" dirty="0">
                <a:solidFill>
                  <a:srgbClr val="000000"/>
                </a:solidFill>
                <a:latin typeface="宋体" panose="02010600030101010101" pitchFamily="2" charset="-122"/>
              </a:rPr>
              <a:t>根据通货膨胀校正的利率。  </a:t>
            </a:r>
            <a:r>
              <a:rPr lang="zh-CN" altLang="en-US" sz="2400" b="1" dirty="0">
                <a:solidFill>
                  <a:srgbClr val="FF0000"/>
                </a:solidFill>
                <a:latin typeface="宋体" panose="02010600030101010101" pitchFamily="2" charset="-122"/>
              </a:rPr>
              <a:t>实际利率</a:t>
            </a:r>
            <a:r>
              <a:rPr lang="en-US" altLang="zh-CN" sz="2400" b="1">
                <a:solidFill>
                  <a:srgbClr val="FF0000"/>
                </a:solidFill>
                <a:latin typeface="宋体" panose="02010600030101010101" pitchFamily="2" charset="-122"/>
              </a:rPr>
              <a:t>=</a:t>
            </a:r>
            <a:r>
              <a:rPr lang="zh-CN" altLang="en-US" sz="2400" b="1" dirty="0">
                <a:solidFill>
                  <a:srgbClr val="FF0000"/>
                </a:solidFill>
                <a:latin typeface="宋体" panose="02010600030101010101" pitchFamily="2" charset="-122"/>
              </a:rPr>
              <a:t>名义利率</a:t>
            </a:r>
            <a:r>
              <a:rPr lang="en-US" altLang="zh-CN" sz="2400" b="1">
                <a:solidFill>
                  <a:srgbClr val="FF0000"/>
                </a:solidFill>
                <a:latin typeface="宋体" panose="02010600030101010101" pitchFamily="2" charset="-122"/>
              </a:rPr>
              <a:t>-</a:t>
            </a:r>
            <a:r>
              <a:rPr lang="zh-CN" altLang="en-US" sz="2400" b="1" dirty="0">
                <a:solidFill>
                  <a:srgbClr val="FF0000"/>
                </a:solidFill>
                <a:latin typeface="宋体" panose="02010600030101010101" pitchFamily="2" charset="-122"/>
              </a:rPr>
              <a:t>通货膨胀率</a:t>
            </a:r>
            <a:endParaRPr lang="zh-CN" altLang="en-US" sz="2400" b="1" dirty="0">
              <a:solidFill>
                <a:srgbClr val="FF0000"/>
              </a:solidFill>
              <a:latin typeface="宋体" panose="02010600030101010101" pitchFamily="2" charset="-122"/>
            </a:endParaRPr>
          </a:p>
          <a:p>
            <a:pPr marL="0" indent="0" algn="just">
              <a:lnSpc>
                <a:spcPct val="90000"/>
              </a:lnSpc>
              <a:buNone/>
            </a:pPr>
            <a:endParaRPr lang="zh-CN" altLang="en-US" sz="2400" b="1">
              <a:solidFill>
                <a:srgbClr val="FF0000"/>
              </a:solidFill>
              <a:latin typeface="宋体" panose="02010600030101010101" pitchFamily="2" charset="-122"/>
            </a:endParaRPr>
          </a:p>
          <a:p>
            <a:pPr marL="0" indent="0">
              <a:lnSpc>
                <a:spcPct val="90000"/>
              </a:lnSpc>
              <a:buNone/>
            </a:pPr>
            <a:endParaRPr lang="zh-CN" altLang="en-US" sz="2800" b="1">
              <a:solidFill>
                <a:srgbClr val="000000"/>
              </a:solidFill>
              <a:latin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标题 49153"/>
          <p:cNvSpPr>
            <a:spLocks noGrp="1"/>
          </p:cNvSpPr>
          <p:nvPr>
            <p:ph type="title"/>
          </p:nvPr>
        </p:nvSpPr>
        <p:spPr>
          <a:xfrm>
            <a:off x="762000" y="533400"/>
            <a:ext cx="7772400" cy="1143000"/>
          </a:xfrm>
          <a:ln/>
        </p:spPr>
        <p:txBody>
          <a:bodyPr anchor="ctr" anchorCtr="0"/>
          <a:p>
            <a:r>
              <a:rPr lang="en-US" altLang="zh-CN" sz="2000" b="1">
                <a:solidFill>
                  <a:srgbClr val="FF0000"/>
                </a:solidFill>
              </a:rPr>
              <a:t>E</a:t>
            </a:r>
            <a:r>
              <a:rPr lang="zh-CN" altLang="en-US" sz="2000" b="1">
                <a:solidFill>
                  <a:srgbClr val="FF0000"/>
                </a:solidFill>
              </a:rPr>
              <a:t>、</a:t>
            </a:r>
            <a:r>
              <a:rPr lang="zh-CN" altLang="en-US" sz="2000" b="1" dirty="0">
                <a:solidFill>
                  <a:srgbClr val="FF0000"/>
                </a:solidFill>
              </a:rPr>
              <a:t>住户收入分配</a:t>
            </a:r>
            <a:r>
              <a:rPr lang="en-US" altLang="zh-CN" sz="2000" b="1">
                <a:solidFill>
                  <a:srgbClr val="FF0000"/>
                </a:solidFill>
              </a:rPr>
              <a:t>(</a:t>
            </a:r>
            <a:r>
              <a:rPr lang="zh-CN" altLang="en-US" sz="2000" b="1" dirty="0">
                <a:solidFill>
                  <a:srgbClr val="FF0000"/>
                </a:solidFill>
              </a:rPr>
              <a:t>洛伦斯曲线</a:t>
            </a:r>
            <a:r>
              <a:rPr lang="en-US" altLang="zh-CN" sz="2000" b="1">
                <a:solidFill>
                  <a:srgbClr val="FF0000"/>
                </a:solidFill>
              </a:rPr>
              <a:t>)</a:t>
            </a:r>
            <a:br>
              <a:rPr lang="en-US" altLang="zh-CN" sz="2000" b="1"/>
            </a:br>
            <a:r>
              <a:rPr lang="zh-CN" altLang="en-US" sz="2000" b="1" dirty="0"/>
              <a:t>洛伦斯曲线</a:t>
            </a:r>
            <a:r>
              <a:rPr lang="en-US" altLang="zh-CN" sz="2000" b="1"/>
              <a:t>:</a:t>
            </a:r>
            <a:r>
              <a:rPr lang="zh-CN" altLang="en-US" sz="2000" b="1" dirty="0"/>
              <a:t>是用来反映社会收入分配平均程度的线。</a:t>
            </a:r>
            <a:br>
              <a:rPr lang="zh-CN" altLang="en-US" sz="2400" b="1" dirty="0"/>
            </a:br>
            <a:br>
              <a:rPr lang="zh-CN" altLang="en-US" sz="3200" b="1" dirty="0"/>
            </a:br>
            <a:endParaRPr lang="zh-CN" altLang="en-US" sz="3200" b="1"/>
          </a:p>
        </p:txBody>
      </p:sp>
      <p:sp>
        <p:nvSpPr>
          <p:cNvPr id="49155" name="文本占位符 49154"/>
          <p:cNvSpPr>
            <a:spLocks noGrp="1"/>
          </p:cNvSpPr>
          <p:nvPr>
            <p:ph type="body" idx="1"/>
          </p:nvPr>
        </p:nvSpPr>
        <p:spPr>
          <a:ln/>
        </p:spPr>
        <p:txBody>
          <a:bodyPr/>
          <a:p>
            <a:pPr>
              <a:lnSpc>
                <a:spcPct val="90000"/>
              </a:lnSpc>
            </a:pPr>
            <a:endParaRPr lang="en-US" altLang="zh-CN" sz="2800" dirty="0"/>
          </a:p>
          <a:p>
            <a:pPr>
              <a:lnSpc>
                <a:spcPct val="90000"/>
              </a:lnSpc>
            </a:pPr>
            <a:endParaRPr lang="en-US" altLang="zh-CN" sz="2800" dirty="0"/>
          </a:p>
          <a:p>
            <a:pPr>
              <a:lnSpc>
                <a:spcPct val="90000"/>
              </a:lnSpc>
            </a:pPr>
            <a:endParaRPr lang="en-US" altLang="zh-CN" sz="2800" dirty="0"/>
          </a:p>
          <a:p>
            <a:pPr>
              <a:lnSpc>
                <a:spcPct val="90000"/>
              </a:lnSpc>
            </a:pPr>
            <a:endParaRPr lang="en-US" altLang="zh-CN" sz="2800" dirty="0"/>
          </a:p>
          <a:p>
            <a:pPr>
              <a:lnSpc>
                <a:spcPct val="90000"/>
              </a:lnSpc>
            </a:pPr>
            <a:endParaRPr lang="en-US" altLang="zh-CN" sz="2800" dirty="0"/>
          </a:p>
          <a:p>
            <a:pPr>
              <a:lnSpc>
                <a:spcPct val="90000"/>
              </a:lnSpc>
            </a:pPr>
            <a:endParaRPr lang="en-US" altLang="zh-CN" sz="2800" dirty="0"/>
          </a:p>
          <a:p>
            <a:pPr>
              <a:lnSpc>
                <a:spcPct val="90000"/>
              </a:lnSpc>
            </a:pPr>
            <a:endParaRPr lang="en-US" altLang="zh-CN" sz="2800" dirty="0"/>
          </a:p>
          <a:p>
            <a:pPr>
              <a:lnSpc>
                <a:spcPct val="90000"/>
              </a:lnSpc>
            </a:pPr>
            <a:endParaRPr lang="en-US" altLang="zh-CN" sz="2800" dirty="0"/>
          </a:p>
          <a:p>
            <a:pPr>
              <a:lnSpc>
                <a:spcPct val="90000"/>
              </a:lnSpc>
            </a:pPr>
            <a:endParaRPr lang="en-US" altLang="zh-CN" sz="2800" dirty="0"/>
          </a:p>
          <a:p>
            <a:pPr>
              <a:lnSpc>
                <a:spcPct val="90000"/>
              </a:lnSpc>
            </a:pPr>
            <a:endParaRPr lang="en-US" altLang="zh-CN" sz="2800" dirty="0"/>
          </a:p>
          <a:p>
            <a:pPr>
              <a:lnSpc>
                <a:spcPct val="90000"/>
              </a:lnSpc>
            </a:pPr>
            <a:endParaRPr lang="en-US" altLang="zh-CN" sz="2800" dirty="0"/>
          </a:p>
          <a:p>
            <a:pPr>
              <a:lnSpc>
                <a:spcPct val="90000"/>
              </a:lnSpc>
            </a:pPr>
            <a:endParaRPr lang="en-US" altLang="zh-CN" sz="2800" dirty="0"/>
          </a:p>
          <a:p>
            <a:pPr>
              <a:lnSpc>
                <a:spcPct val="90000"/>
              </a:lnSpc>
            </a:pPr>
            <a:endParaRPr lang="en-US" altLang="zh-CN" sz="2800" dirty="0"/>
          </a:p>
          <a:p>
            <a:pPr>
              <a:lnSpc>
                <a:spcPct val="90000"/>
              </a:lnSpc>
            </a:pPr>
            <a:endParaRPr lang="en-US" altLang="zh-CN" sz="2800" dirty="0"/>
          </a:p>
          <a:p>
            <a:pPr>
              <a:lnSpc>
                <a:spcPct val="90000"/>
              </a:lnSpc>
            </a:pPr>
            <a:endParaRPr lang="en-US" altLang="zh-CN" sz="2800" dirty="0"/>
          </a:p>
          <a:p>
            <a:pPr>
              <a:lnSpc>
                <a:spcPct val="90000"/>
              </a:lnSpc>
            </a:pPr>
            <a:endParaRPr lang="en-US" altLang="zh-CN" sz="2800" dirty="0"/>
          </a:p>
          <a:p>
            <a:pPr>
              <a:lnSpc>
                <a:spcPct val="90000"/>
              </a:lnSpc>
            </a:pPr>
            <a:endParaRPr lang="en-US" altLang="zh-CN" sz="2800" dirty="0"/>
          </a:p>
          <a:p>
            <a:pPr>
              <a:lnSpc>
                <a:spcPct val="90000"/>
              </a:lnSpc>
            </a:pPr>
            <a:endParaRPr lang="en-US" altLang="zh-CN" sz="2800" dirty="0"/>
          </a:p>
          <a:p>
            <a:pPr>
              <a:lnSpc>
                <a:spcPct val="90000"/>
              </a:lnSpc>
            </a:pPr>
            <a:endParaRPr lang="en-US" altLang="zh-CN" sz="2800" dirty="0"/>
          </a:p>
          <a:p>
            <a:pPr>
              <a:lnSpc>
                <a:spcPct val="90000"/>
              </a:lnSpc>
            </a:pPr>
            <a:endParaRPr lang="en-US" altLang="zh-CN" sz="2800" dirty="0"/>
          </a:p>
          <a:p>
            <a:pPr>
              <a:lnSpc>
                <a:spcPct val="90000"/>
              </a:lnSpc>
            </a:pPr>
            <a:endParaRPr lang="en-US" altLang="zh-CN" sz="2800" dirty="0"/>
          </a:p>
          <a:p>
            <a:pPr>
              <a:lnSpc>
                <a:spcPct val="90000"/>
              </a:lnSpc>
            </a:pPr>
            <a:endParaRPr lang="en-US" altLang="zh-CN" sz="2800" dirty="0"/>
          </a:p>
        </p:txBody>
      </p:sp>
      <p:sp>
        <p:nvSpPr>
          <p:cNvPr id="49156" name="直接连接符 49155"/>
          <p:cNvSpPr/>
          <p:nvPr/>
        </p:nvSpPr>
        <p:spPr>
          <a:xfrm flipV="1">
            <a:off x="1524000" y="1066800"/>
            <a:ext cx="0" cy="4572000"/>
          </a:xfrm>
          <a:prstGeom prst="line">
            <a:avLst/>
          </a:prstGeom>
          <a:ln w="38100" cap="flat" cmpd="sng">
            <a:solidFill>
              <a:schemeClr val="tx1"/>
            </a:solidFill>
            <a:prstDash val="solid"/>
            <a:miter/>
            <a:headEnd type="none" w="med" len="med"/>
            <a:tailEnd type="triangle" w="med" len="med"/>
          </a:ln>
        </p:spPr>
      </p:sp>
      <p:sp>
        <p:nvSpPr>
          <p:cNvPr id="49157" name="直接连接符 49156"/>
          <p:cNvSpPr/>
          <p:nvPr/>
        </p:nvSpPr>
        <p:spPr>
          <a:xfrm>
            <a:off x="1524000" y="5638800"/>
            <a:ext cx="5943600" cy="0"/>
          </a:xfrm>
          <a:prstGeom prst="line">
            <a:avLst/>
          </a:prstGeom>
          <a:ln w="38100" cap="flat" cmpd="sng">
            <a:solidFill>
              <a:schemeClr val="tx1"/>
            </a:solidFill>
            <a:prstDash val="solid"/>
            <a:miter/>
            <a:headEnd type="none" w="med" len="med"/>
            <a:tailEnd type="triangle" w="med" len="med"/>
          </a:ln>
        </p:spPr>
      </p:sp>
      <p:sp>
        <p:nvSpPr>
          <p:cNvPr id="49158" name="文本框 49157"/>
          <p:cNvSpPr txBox="1"/>
          <p:nvPr/>
        </p:nvSpPr>
        <p:spPr>
          <a:xfrm>
            <a:off x="685800" y="762000"/>
            <a:ext cx="838200" cy="5426075"/>
          </a:xfrm>
          <a:prstGeom prst="rect">
            <a:avLst/>
          </a:prstGeom>
          <a:noFill/>
          <a:ln w="9525">
            <a:noFill/>
          </a:ln>
        </p:spPr>
        <p:txBody>
          <a:bodyPr>
            <a:spAutoFit/>
          </a:bodyPr>
          <a:p>
            <a:pPr>
              <a:lnSpc>
                <a:spcPct val="100000"/>
              </a:lnSpc>
              <a:spcBef>
                <a:spcPct val="50000"/>
              </a:spcBef>
            </a:pPr>
            <a:r>
              <a:rPr lang="en-US" altLang="zh-CN" b="0">
                <a:latin typeface="Tahoma" panose="020B0604030504040204" pitchFamily="34" charset="0"/>
              </a:rPr>
              <a:t>I(%)</a:t>
            </a:r>
            <a:endParaRPr lang="en-US" altLang="zh-CN" b="0">
              <a:latin typeface="Tahoma" panose="020B0604030504040204" pitchFamily="34" charset="0"/>
            </a:endParaRPr>
          </a:p>
          <a:p>
            <a:pPr>
              <a:lnSpc>
                <a:spcPct val="100000"/>
              </a:lnSpc>
              <a:spcBef>
                <a:spcPct val="50000"/>
              </a:spcBef>
            </a:pPr>
            <a:r>
              <a:rPr lang="en-US" altLang="zh-CN" b="0">
                <a:latin typeface="Tahoma" panose="020B0604030504040204" pitchFamily="34" charset="0"/>
              </a:rPr>
              <a:t>100</a:t>
            </a:r>
            <a:endParaRPr lang="en-US" altLang="zh-CN" b="0">
              <a:latin typeface="Tahoma" panose="020B0604030504040204" pitchFamily="34" charset="0"/>
            </a:endParaRPr>
          </a:p>
          <a:p>
            <a:pPr>
              <a:lnSpc>
                <a:spcPct val="100000"/>
              </a:lnSpc>
              <a:spcBef>
                <a:spcPct val="50000"/>
              </a:spcBef>
            </a:pPr>
            <a:r>
              <a:rPr lang="en-US" altLang="zh-CN" b="0">
                <a:latin typeface="Tahoma" panose="020B0604030504040204" pitchFamily="34" charset="0"/>
              </a:rPr>
              <a:t>90</a:t>
            </a:r>
            <a:endParaRPr lang="en-US" altLang="zh-CN" b="0">
              <a:latin typeface="Tahoma" panose="020B0604030504040204" pitchFamily="34" charset="0"/>
            </a:endParaRPr>
          </a:p>
          <a:p>
            <a:pPr>
              <a:lnSpc>
                <a:spcPct val="100000"/>
              </a:lnSpc>
              <a:spcBef>
                <a:spcPct val="50000"/>
              </a:spcBef>
            </a:pPr>
            <a:r>
              <a:rPr lang="en-US" altLang="zh-CN" b="0">
                <a:latin typeface="Tahoma" panose="020B0604030504040204" pitchFamily="34" charset="0"/>
              </a:rPr>
              <a:t>80</a:t>
            </a:r>
            <a:endParaRPr lang="en-US" altLang="zh-CN" b="0">
              <a:latin typeface="Tahoma" panose="020B0604030504040204" pitchFamily="34" charset="0"/>
            </a:endParaRPr>
          </a:p>
          <a:p>
            <a:pPr>
              <a:lnSpc>
                <a:spcPct val="100000"/>
              </a:lnSpc>
              <a:spcBef>
                <a:spcPct val="50000"/>
              </a:spcBef>
            </a:pPr>
            <a:r>
              <a:rPr lang="en-US" altLang="zh-CN" b="0">
                <a:latin typeface="Tahoma" panose="020B0604030504040204" pitchFamily="34" charset="0"/>
              </a:rPr>
              <a:t>70</a:t>
            </a:r>
            <a:endParaRPr lang="en-US" altLang="zh-CN" b="0">
              <a:latin typeface="Tahoma" panose="020B0604030504040204" pitchFamily="34" charset="0"/>
            </a:endParaRPr>
          </a:p>
          <a:p>
            <a:pPr>
              <a:lnSpc>
                <a:spcPct val="100000"/>
              </a:lnSpc>
              <a:spcBef>
                <a:spcPct val="50000"/>
              </a:spcBef>
            </a:pPr>
            <a:r>
              <a:rPr lang="en-US" altLang="zh-CN" b="0">
                <a:latin typeface="Tahoma" panose="020B0604030504040204" pitchFamily="34" charset="0"/>
              </a:rPr>
              <a:t>60</a:t>
            </a:r>
            <a:endParaRPr lang="en-US" altLang="zh-CN" b="0">
              <a:latin typeface="Tahoma" panose="020B0604030504040204" pitchFamily="34" charset="0"/>
            </a:endParaRPr>
          </a:p>
          <a:p>
            <a:pPr>
              <a:lnSpc>
                <a:spcPct val="100000"/>
              </a:lnSpc>
              <a:spcBef>
                <a:spcPct val="50000"/>
              </a:spcBef>
            </a:pPr>
            <a:r>
              <a:rPr lang="en-US" altLang="zh-CN" b="0">
                <a:latin typeface="Tahoma" panose="020B0604030504040204" pitchFamily="34" charset="0"/>
              </a:rPr>
              <a:t>50</a:t>
            </a:r>
            <a:endParaRPr lang="en-US" altLang="zh-CN" b="0">
              <a:latin typeface="Tahoma" panose="020B0604030504040204" pitchFamily="34" charset="0"/>
            </a:endParaRPr>
          </a:p>
          <a:p>
            <a:pPr>
              <a:lnSpc>
                <a:spcPct val="100000"/>
              </a:lnSpc>
              <a:spcBef>
                <a:spcPct val="50000"/>
              </a:spcBef>
            </a:pPr>
            <a:r>
              <a:rPr lang="en-US" altLang="zh-CN" b="0">
                <a:latin typeface="Tahoma" panose="020B0604030504040204" pitchFamily="34" charset="0"/>
              </a:rPr>
              <a:t>40</a:t>
            </a:r>
            <a:endParaRPr lang="en-US" altLang="zh-CN" b="0">
              <a:latin typeface="Tahoma" panose="020B0604030504040204" pitchFamily="34" charset="0"/>
            </a:endParaRPr>
          </a:p>
          <a:p>
            <a:pPr>
              <a:lnSpc>
                <a:spcPct val="100000"/>
              </a:lnSpc>
              <a:spcBef>
                <a:spcPct val="50000"/>
              </a:spcBef>
            </a:pPr>
            <a:r>
              <a:rPr lang="en-US" altLang="zh-CN" b="0">
                <a:latin typeface="Tahoma" panose="020B0604030504040204" pitchFamily="34" charset="0"/>
              </a:rPr>
              <a:t>30</a:t>
            </a:r>
            <a:endParaRPr lang="en-US" altLang="zh-CN" b="0">
              <a:latin typeface="Tahoma" panose="020B0604030504040204" pitchFamily="34" charset="0"/>
            </a:endParaRPr>
          </a:p>
          <a:p>
            <a:pPr>
              <a:lnSpc>
                <a:spcPct val="100000"/>
              </a:lnSpc>
              <a:spcBef>
                <a:spcPct val="50000"/>
              </a:spcBef>
            </a:pPr>
            <a:r>
              <a:rPr lang="en-US" altLang="zh-CN" b="0">
                <a:latin typeface="Tahoma" panose="020B0604030504040204" pitchFamily="34" charset="0"/>
              </a:rPr>
              <a:t>20</a:t>
            </a:r>
            <a:endParaRPr lang="en-US" altLang="zh-CN" b="0">
              <a:latin typeface="Tahoma" panose="020B0604030504040204" pitchFamily="34" charset="0"/>
            </a:endParaRPr>
          </a:p>
          <a:p>
            <a:pPr>
              <a:lnSpc>
                <a:spcPct val="100000"/>
              </a:lnSpc>
              <a:spcBef>
                <a:spcPct val="50000"/>
              </a:spcBef>
            </a:pPr>
            <a:r>
              <a:rPr lang="en-US" altLang="zh-CN" b="0">
                <a:latin typeface="Tahoma" panose="020B0604030504040204" pitchFamily="34" charset="0"/>
              </a:rPr>
              <a:t>10</a:t>
            </a:r>
            <a:endParaRPr lang="en-US" altLang="zh-CN" b="0">
              <a:latin typeface="Tahoma" panose="020B0604030504040204" pitchFamily="34" charset="0"/>
            </a:endParaRPr>
          </a:p>
          <a:p>
            <a:pPr>
              <a:lnSpc>
                <a:spcPct val="100000"/>
              </a:lnSpc>
              <a:spcBef>
                <a:spcPct val="50000"/>
              </a:spcBef>
            </a:pPr>
            <a:endParaRPr lang="en-US" altLang="zh-CN" b="0">
              <a:latin typeface="Tahoma" panose="020B0604030504040204" pitchFamily="34" charset="0"/>
            </a:endParaRPr>
          </a:p>
        </p:txBody>
      </p:sp>
      <p:sp>
        <p:nvSpPr>
          <p:cNvPr id="49159" name="文本框 49158"/>
          <p:cNvSpPr txBox="1"/>
          <p:nvPr/>
        </p:nvSpPr>
        <p:spPr>
          <a:xfrm>
            <a:off x="4572000" y="5867400"/>
            <a:ext cx="549275" cy="457200"/>
          </a:xfrm>
          <a:prstGeom prst="rect">
            <a:avLst/>
          </a:prstGeom>
          <a:noFill/>
          <a:ln w="9525">
            <a:noFill/>
          </a:ln>
        </p:spPr>
        <p:txBody>
          <a:bodyPr vert="eaVert">
            <a:spAutoFit/>
          </a:bodyPr>
          <a:p>
            <a:pPr>
              <a:lnSpc>
                <a:spcPct val="100000"/>
              </a:lnSpc>
              <a:spcBef>
                <a:spcPct val="50000"/>
              </a:spcBef>
            </a:pPr>
            <a:endParaRPr sz="2400" b="0" dirty="0">
              <a:latin typeface="Tahoma" panose="020B0604030504040204" pitchFamily="34" charset="0"/>
            </a:endParaRPr>
          </a:p>
        </p:txBody>
      </p:sp>
      <p:sp>
        <p:nvSpPr>
          <p:cNvPr id="49160" name="文本框 49159"/>
          <p:cNvSpPr txBox="1"/>
          <p:nvPr/>
        </p:nvSpPr>
        <p:spPr>
          <a:xfrm>
            <a:off x="1046163" y="5715000"/>
            <a:ext cx="6573837" cy="762000"/>
          </a:xfrm>
          <a:prstGeom prst="rect">
            <a:avLst/>
          </a:prstGeom>
          <a:noFill/>
          <a:ln w="9525">
            <a:noFill/>
          </a:ln>
        </p:spPr>
        <p:txBody>
          <a:bodyPr vert="eaVert">
            <a:spAutoFit/>
          </a:bodyPr>
          <a:p>
            <a:pPr>
              <a:lnSpc>
                <a:spcPct val="100000"/>
              </a:lnSpc>
              <a:spcBef>
                <a:spcPct val="50000"/>
              </a:spcBef>
            </a:pPr>
            <a:endParaRPr lang="en-US" altLang="zh-CN" sz="2400" b="0">
              <a:latin typeface="Tahoma" panose="020B0604030504040204" pitchFamily="34" charset="0"/>
            </a:endParaRPr>
          </a:p>
          <a:p>
            <a:pPr>
              <a:lnSpc>
                <a:spcPct val="100000"/>
              </a:lnSpc>
              <a:spcBef>
                <a:spcPct val="50000"/>
              </a:spcBef>
            </a:pPr>
            <a:endParaRPr lang="en-US" altLang="zh-CN" sz="2400" b="0" dirty="0">
              <a:latin typeface="Tahoma" panose="020B0604030504040204" pitchFamily="34" charset="0"/>
            </a:endParaRPr>
          </a:p>
          <a:p>
            <a:pPr>
              <a:lnSpc>
                <a:spcPct val="100000"/>
              </a:lnSpc>
              <a:spcBef>
                <a:spcPct val="50000"/>
              </a:spcBef>
            </a:pPr>
            <a:r>
              <a:rPr lang="en-US" altLang="zh-CN" sz="2400" b="0">
                <a:latin typeface="Tahoma" panose="020B0604030504040204" pitchFamily="34" charset="0"/>
              </a:rPr>
              <a:t>90</a:t>
            </a:r>
            <a:endParaRPr lang="en-US" altLang="zh-CN" sz="2400" b="0">
              <a:latin typeface="Tahoma" panose="020B0604030504040204" pitchFamily="34" charset="0"/>
            </a:endParaRPr>
          </a:p>
          <a:p>
            <a:pPr>
              <a:lnSpc>
                <a:spcPct val="100000"/>
              </a:lnSpc>
              <a:spcBef>
                <a:spcPct val="50000"/>
              </a:spcBef>
            </a:pPr>
            <a:r>
              <a:rPr lang="en-US" altLang="zh-CN" sz="2400" b="0">
                <a:latin typeface="Tahoma" panose="020B0604030504040204" pitchFamily="34" charset="0"/>
              </a:rPr>
              <a:t>80</a:t>
            </a:r>
            <a:endParaRPr lang="en-US" altLang="zh-CN" sz="2400" b="0">
              <a:latin typeface="Tahoma" panose="020B0604030504040204" pitchFamily="34" charset="0"/>
            </a:endParaRPr>
          </a:p>
          <a:p>
            <a:pPr>
              <a:lnSpc>
                <a:spcPct val="100000"/>
              </a:lnSpc>
              <a:spcBef>
                <a:spcPct val="50000"/>
              </a:spcBef>
            </a:pPr>
            <a:r>
              <a:rPr lang="en-US" altLang="zh-CN" sz="2400" b="0">
                <a:latin typeface="Tahoma" panose="020B0604030504040204" pitchFamily="34" charset="0"/>
              </a:rPr>
              <a:t>70</a:t>
            </a:r>
            <a:endParaRPr lang="en-US" altLang="zh-CN" sz="2400" b="0">
              <a:latin typeface="Tahoma" panose="020B0604030504040204" pitchFamily="34" charset="0"/>
            </a:endParaRPr>
          </a:p>
          <a:p>
            <a:pPr>
              <a:lnSpc>
                <a:spcPct val="100000"/>
              </a:lnSpc>
              <a:spcBef>
                <a:spcPct val="50000"/>
              </a:spcBef>
            </a:pPr>
            <a:r>
              <a:rPr lang="en-US" altLang="zh-CN" sz="2400" b="0">
                <a:latin typeface="Tahoma" panose="020B0604030504040204" pitchFamily="34" charset="0"/>
              </a:rPr>
              <a:t>60</a:t>
            </a:r>
            <a:endParaRPr lang="en-US" altLang="zh-CN" sz="2400" b="0">
              <a:latin typeface="Tahoma" panose="020B0604030504040204" pitchFamily="34" charset="0"/>
            </a:endParaRPr>
          </a:p>
          <a:p>
            <a:pPr>
              <a:lnSpc>
                <a:spcPct val="100000"/>
              </a:lnSpc>
              <a:spcBef>
                <a:spcPct val="50000"/>
              </a:spcBef>
            </a:pPr>
            <a:r>
              <a:rPr lang="en-US" altLang="zh-CN" sz="2400" b="0">
                <a:latin typeface="Tahoma" panose="020B0604030504040204" pitchFamily="34" charset="0"/>
              </a:rPr>
              <a:t>50</a:t>
            </a:r>
            <a:endParaRPr lang="en-US" altLang="zh-CN" sz="2400" b="0">
              <a:latin typeface="Tahoma" panose="020B0604030504040204" pitchFamily="34" charset="0"/>
            </a:endParaRPr>
          </a:p>
          <a:p>
            <a:pPr>
              <a:lnSpc>
                <a:spcPct val="100000"/>
              </a:lnSpc>
              <a:spcBef>
                <a:spcPct val="50000"/>
              </a:spcBef>
            </a:pPr>
            <a:r>
              <a:rPr lang="en-US" altLang="zh-CN" sz="2400" b="0">
                <a:latin typeface="Tahoma" panose="020B0604030504040204" pitchFamily="34" charset="0"/>
              </a:rPr>
              <a:t>40</a:t>
            </a:r>
            <a:endParaRPr lang="en-US" altLang="zh-CN" sz="2400" b="0">
              <a:latin typeface="Tahoma" panose="020B0604030504040204" pitchFamily="34" charset="0"/>
            </a:endParaRPr>
          </a:p>
          <a:p>
            <a:pPr>
              <a:lnSpc>
                <a:spcPct val="100000"/>
              </a:lnSpc>
              <a:spcBef>
                <a:spcPct val="50000"/>
              </a:spcBef>
            </a:pPr>
            <a:r>
              <a:rPr lang="en-US" altLang="zh-CN" sz="2400" b="0">
                <a:latin typeface="Tahoma" panose="020B0604030504040204" pitchFamily="34" charset="0"/>
              </a:rPr>
              <a:t>30</a:t>
            </a:r>
            <a:endParaRPr lang="en-US" altLang="zh-CN" sz="2400" b="0">
              <a:latin typeface="Tahoma" panose="020B0604030504040204" pitchFamily="34" charset="0"/>
            </a:endParaRPr>
          </a:p>
          <a:p>
            <a:pPr>
              <a:lnSpc>
                <a:spcPct val="100000"/>
              </a:lnSpc>
              <a:spcBef>
                <a:spcPct val="50000"/>
              </a:spcBef>
            </a:pPr>
            <a:r>
              <a:rPr lang="en-US" altLang="zh-CN" sz="2400" b="0">
                <a:latin typeface="Tahoma" panose="020B0604030504040204" pitchFamily="34" charset="0"/>
              </a:rPr>
              <a:t>20</a:t>
            </a:r>
            <a:endParaRPr lang="en-US" altLang="zh-CN" sz="2400" b="0">
              <a:latin typeface="Tahoma" panose="020B0604030504040204" pitchFamily="34" charset="0"/>
            </a:endParaRPr>
          </a:p>
          <a:p>
            <a:pPr>
              <a:lnSpc>
                <a:spcPct val="100000"/>
              </a:lnSpc>
              <a:spcBef>
                <a:spcPct val="50000"/>
              </a:spcBef>
            </a:pPr>
            <a:r>
              <a:rPr lang="en-US" altLang="zh-CN" sz="2400" b="0">
                <a:latin typeface="Tahoma" panose="020B0604030504040204" pitchFamily="34" charset="0"/>
              </a:rPr>
              <a:t>10</a:t>
            </a:r>
            <a:endParaRPr lang="en-US" altLang="zh-CN" sz="2400" b="0">
              <a:latin typeface="Tahoma" panose="020B0604030504040204" pitchFamily="34" charset="0"/>
            </a:endParaRPr>
          </a:p>
          <a:p>
            <a:pPr>
              <a:lnSpc>
                <a:spcPct val="100000"/>
              </a:lnSpc>
              <a:spcBef>
                <a:spcPct val="50000"/>
              </a:spcBef>
            </a:pPr>
            <a:r>
              <a:rPr lang="en-US" altLang="zh-CN" sz="2400" b="0">
                <a:latin typeface="Tahoma" panose="020B0604030504040204" pitchFamily="34" charset="0"/>
              </a:rPr>
              <a:t>0</a:t>
            </a:r>
            <a:endParaRPr lang="en-US" altLang="zh-CN" sz="2400" b="0">
              <a:latin typeface="Tahoma" panose="020B0604030504040204" pitchFamily="34" charset="0"/>
            </a:endParaRPr>
          </a:p>
        </p:txBody>
      </p:sp>
      <p:sp>
        <p:nvSpPr>
          <p:cNvPr id="49161" name="文本框 49160"/>
          <p:cNvSpPr txBox="1"/>
          <p:nvPr/>
        </p:nvSpPr>
        <p:spPr>
          <a:xfrm>
            <a:off x="6629400" y="5715000"/>
            <a:ext cx="1752600" cy="457200"/>
          </a:xfrm>
          <a:prstGeom prst="rect">
            <a:avLst/>
          </a:prstGeom>
          <a:noFill/>
          <a:ln w="9525">
            <a:noFill/>
          </a:ln>
        </p:spPr>
        <p:txBody>
          <a:bodyPr>
            <a:spAutoFit/>
          </a:bodyPr>
          <a:p>
            <a:pPr>
              <a:lnSpc>
                <a:spcPct val="100000"/>
              </a:lnSpc>
              <a:spcBef>
                <a:spcPct val="0"/>
              </a:spcBef>
            </a:pPr>
            <a:r>
              <a:rPr lang="en-US" altLang="zh-CN" sz="2400" b="0">
                <a:latin typeface="Tahoma" panose="020B0604030504040204" pitchFamily="34" charset="0"/>
              </a:rPr>
              <a:t>100 P(%)</a:t>
            </a:r>
            <a:endParaRPr lang="en-US" altLang="zh-CN" sz="2400" b="0">
              <a:latin typeface="Tahoma" panose="020B0604030504040204" pitchFamily="34" charset="0"/>
            </a:endParaRPr>
          </a:p>
        </p:txBody>
      </p:sp>
      <p:sp>
        <p:nvSpPr>
          <p:cNvPr id="49162" name="直接连接符 49161"/>
          <p:cNvSpPr/>
          <p:nvPr/>
        </p:nvSpPr>
        <p:spPr>
          <a:xfrm flipV="1">
            <a:off x="1524000" y="1143000"/>
            <a:ext cx="5257800" cy="4495800"/>
          </a:xfrm>
          <a:prstGeom prst="line">
            <a:avLst/>
          </a:prstGeom>
          <a:ln w="9525" cap="flat" cmpd="sng">
            <a:solidFill>
              <a:schemeClr val="tx1"/>
            </a:solidFill>
            <a:prstDash val="solid"/>
            <a:miter/>
            <a:headEnd type="none" w="med" len="med"/>
            <a:tailEnd type="none" w="med" len="med"/>
          </a:ln>
        </p:spPr>
      </p:sp>
      <p:sp>
        <p:nvSpPr>
          <p:cNvPr id="49163" name="直接连接符 49162"/>
          <p:cNvSpPr/>
          <p:nvPr/>
        </p:nvSpPr>
        <p:spPr>
          <a:xfrm>
            <a:off x="1524000" y="1143000"/>
            <a:ext cx="5257800" cy="0"/>
          </a:xfrm>
          <a:prstGeom prst="line">
            <a:avLst/>
          </a:prstGeom>
          <a:ln w="9525" cap="flat" cmpd="sng">
            <a:solidFill>
              <a:schemeClr val="tx1"/>
            </a:solidFill>
            <a:prstDash val="solid"/>
            <a:miter/>
            <a:headEnd type="none" w="med" len="med"/>
            <a:tailEnd type="none" w="med" len="med"/>
          </a:ln>
        </p:spPr>
      </p:sp>
      <p:sp>
        <p:nvSpPr>
          <p:cNvPr id="49164" name="直接连接符 49163"/>
          <p:cNvSpPr/>
          <p:nvPr/>
        </p:nvSpPr>
        <p:spPr>
          <a:xfrm>
            <a:off x="6781800" y="1143000"/>
            <a:ext cx="0" cy="4495800"/>
          </a:xfrm>
          <a:prstGeom prst="line">
            <a:avLst/>
          </a:prstGeom>
          <a:ln w="9525" cap="flat" cmpd="sng">
            <a:solidFill>
              <a:schemeClr val="tx1"/>
            </a:solidFill>
            <a:prstDash val="solid"/>
            <a:miter/>
            <a:headEnd type="none" w="med" len="med"/>
            <a:tailEnd type="none" w="med" len="med"/>
          </a:ln>
        </p:spPr>
      </p:sp>
      <p:sp>
        <p:nvSpPr>
          <p:cNvPr id="49165" name="文本框 49164"/>
          <p:cNvSpPr txBox="1"/>
          <p:nvPr/>
        </p:nvSpPr>
        <p:spPr>
          <a:xfrm>
            <a:off x="4038600" y="3657600"/>
            <a:ext cx="685800" cy="457200"/>
          </a:xfrm>
          <a:prstGeom prst="rect">
            <a:avLst/>
          </a:prstGeom>
          <a:noFill/>
          <a:ln w="9525">
            <a:noFill/>
          </a:ln>
        </p:spPr>
        <p:txBody>
          <a:bodyPr>
            <a:spAutoFit/>
          </a:bodyPr>
          <a:p>
            <a:pPr>
              <a:lnSpc>
                <a:spcPct val="100000"/>
              </a:lnSpc>
              <a:spcBef>
                <a:spcPct val="50000"/>
              </a:spcBef>
            </a:pPr>
            <a:r>
              <a:rPr lang="en-US" altLang="zh-CN" sz="2400" b="0">
                <a:latin typeface="Tahoma" panose="020B0604030504040204" pitchFamily="34" charset="0"/>
              </a:rPr>
              <a:t>A</a:t>
            </a:r>
            <a:endParaRPr lang="en-US" altLang="zh-CN" sz="2400" b="0">
              <a:latin typeface="Tahoma" panose="020B0604030504040204" pitchFamily="34" charset="0"/>
            </a:endParaRPr>
          </a:p>
        </p:txBody>
      </p:sp>
      <p:sp>
        <p:nvSpPr>
          <p:cNvPr id="49166" name="文本框 49165"/>
          <p:cNvSpPr txBox="1"/>
          <p:nvPr/>
        </p:nvSpPr>
        <p:spPr>
          <a:xfrm>
            <a:off x="5486400" y="4267200"/>
            <a:ext cx="762000" cy="457200"/>
          </a:xfrm>
          <a:prstGeom prst="rect">
            <a:avLst/>
          </a:prstGeom>
          <a:noFill/>
          <a:ln w="9525">
            <a:noFill/>
          </a:ln>
        </p:spPr>
        <p:txBody>
          <a:bodyPr>
            <a:spAutoFit/>
          </a:bodyPr>
          <a:p>
            <a:pPr>
              <a:lnSpc>
                <a:spcPct val="100000"/>
              </a:lnSpc>
              <a:spcBef>
                <a:spcPct val="50000"/>
              </a:spcBef>
            </a:pPr>
            <a:r>
              <a:rPr lang="en-US" altLang="zh-CN" sz="2400" b="0">
                <a:latin typeface="Tahoma" panose="020B0604030504040204" pitchFamily="34" charset="0"/>
              </a:rPr>
              <a:t>B</a:t>
            </a:r>
            <a:endParaRPr lang="en-US" altLang="zh-CN" sz="2400" b="0">
              <a:latin typeface="Tahoma" panose="020B0604030504040204" pitchFamily="34" charset="0"/>
            </a:endParaRPr>
          </a:p>
        </p:txBody>
      </p:sp>
      <p:sp>
        <p:nvSpPr>
          <p:cNvPr id="49167" name="文本框 49166"/>
          <p:cNvSpPr txBox="1"/>
          <p:nvPr/>
        </p:nvSpPr>
        <p:spPr>
          <a:xfrm>
            <a:off x="0" y="533400"/>
            <a:ext cx="609600" cy="1917700"/>
          </a:xfrm>
          <a:prstGeom prst="rect">
            <a:avLst/>
          </a:prstGeom>
          <a:noFill/>
          <a:ln w="9525">
            <a:noFill/>
          </a:ln>
        </p:spPr>
        <p:txBody>
          <a:bodyPr>
            <a:spAutoFit/>
          </a:bodyPr>
          <a:p>
            <a:pPr>
              <a:lnSpc>
                <a:spcPct val="100000"/>
              </a:lnSpc>
              <a:spcBef>
                <a:spcPct val="50000"/>
              </a:spcBef>
            </a:pPr>
            <a:r>
              <a:rPr lang="zh-CN" altLang="en-US" sz="2400" b="0" dirty="0">
                <a:latin typeface="Tahoma" panose="020B0604030504040204" pitchFamily="34" charset="0"/>
              </a:rPr>
              <a:t>收入百分比</a:t>
            </a:r>
            <a:endParaRPr lang="zh-CN" altLang="en-US" sz="2400" b="0">
              <a:latin typeface="Tahoma" panose="020B0604030504040204" pitchFamily="34" charset="0"/>
            </a:endParaRPr>
          </a:p>
        </p:txBody>
      </p:sp>
      <p:sp>
        <p:nvSpPr>
          <p:cNvPr id="49168" name="文本框 49167"/>
          <p:cNvSpPr txBox="1"/>
          <p:nvPr/>
        </p:nvSpPr>
        <p:spPr>
          <a:xfrm>
            <a:off x="4953000" y="6324600"/>
            <a:ext cx="2438400" cy="457200"/>
          </a:xfrm>
          <a:prstGeom prst="rect">
            <a:avLst/>
          </a:prstGeom>
          <a:noFill/>
          <a:ln w="9525">
            <a:noFill/>
          </a:ln>
        </p:spPr>
        <p:txBody>
          <a:bodyPr>
            <a:spAutoFit/>
          </a:bodyPr>
          <a:p>
            <a:pPr>
              <a:lnSpc>
                <a:spcPct val="100000"/>
              </a:lnSpc>
              <a:spcBef>
                <a:spcPct val="50000"/>
              </a:spcBef>
            </a:pPr>
            <a:r>
              <a:rPr lang="zh-CN" altLang="en-US" sz="2400" b="0" dirty="0">
                <a:latin typeface="Tahoma" panose="020B0604030504040204" pitchFamily="34" charset="0"/>
              </a:rPr>
              <a:t>人口百分比</a:t>
            </a:r>
            <a:endParaRPr lang="zh-CN" altLang="en-US" sz="2400" b="0">
              <a:latin typeface="Tahoma" panose="020B0604030504040204" pitchFamily="34" charset="0"/>
            </a:endParaRPr>
          </a:p>
        </p:txBody>
      </p:sp>
      <p:sp>
        <p:nvSpPr>
          <p:cNvPr id="49169" name="任意多边形 49168"/>
          <p:cNvSpPr/>
          <p:nvPr/>
        </p:nvSpPr>
        <p:spPr>
          <a:xfrm>
            <a:off x="1524000" y="1208088"/>
            <a:ext cx="5238750" cy="4430712"/>
          </a:xfrm>
          <a:custGeom>
            <a:avLst/>
            <a:gdLst/>
            <a:ahLst/>
            <a:cxnLst/>
            <a:pathLst>
              <a:path w="3300" h="2791">
                <a:moveTo>
                  <a:pt x="0" y="2791"/>
                </a:moveTo>
                <a:cubicBezTo>
                  <a:pt x="282" y="2690"/>
                  <a:pt x="1252" y="2426"/>
                  <a:pt x="1692" y="2184"/>
                </a:cubicBezTo>
                <a:cubicBezTo>
                  <a:pt x="2132" y="1942"/>
                  <a:pt x="2369" y="1701"/>
                  <a:pt x="2637" y="1337"/>
                </a:cubicBezTo>
                <a:cubicBezTo>
                  <a:pt x="2905" y="973"/>
                  <a:pt x="3162" y="278"/>
                  <a:pt x="3300" y="0"/>
                </a:cubicBezTo>
              </a:path>
            </a:pathLst>
          </a:custGeom>
          <a:noFill/>
          <a:ln w="9525" cap="flat" cmpd="sng">
            <a:solidFill>
              <a:schemeClr val="tx1">
                <a:alpha val="100000"/>
              </a:schemeClr>
            </a:solidFill>
            <a:prstDash val="solid"/>
            <a:miter lim="800000"/>
            <a:headEnd type="none" w="med" len="med"/>
            <a:tailEnd type="none" w="med" len="med"/>
          </a:ln>
        </p:spPr>
        <p:txBody>
          <a:bodyPr/>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9" name="文本占位符 50178"/>
          <p:cNvSpPr>
            <a:spLocks noGrp="1"/>
          </p:cNvSpPr>
          <p:nvPr>
            <p:ph type="body" idx="1"/>
          </p:nvPr>
        </p:nvSpPr>
        <p:spPr>
          <a:ln/>
        </p:spPr>
        <p:txBody>
          <a:bodyPr/>
          <a:p>
            <a:r>
              <a:rPr lang="zh-CN" altLang="en-US">
                <a:solidFill>
                  <a:srgbClr val="000000"/>
                </a:solidFill>
              </a:rPr>
              <a:t>基尼</a:t>
            </a:r>
            <a:r>
              <a:rPr lang="zh-CN" altLang="en-US" dirty="0">
                <a:solidFill>
                  <a:srgbClr val="000000"/>
                </a:solidFill>
              </a:rPr>
              <a:t>系数</a:t>
            </a:r>
            <a:r>
              <a:rPr lang="en-US" altLang="zh-CN">
                <a:solidFill>
                  <a:srgbClr val="000000"/>
                </a:solidFill>
              </a:rPr>
              <a:t>=A/(A+B)</a:t>
            </a:r>
            <a:endParaRPr lang="en-US" altLang="zh-CN">
              <a:solidFill>
                <a:srgbClr val="000000"/>
              </a:solidFill>
            </a:endParaRPr>
          </a:p>
          <a:p>
            <a:r>
              <a:rPr lang="en-US" altLang="zh-CN">
                <a:solidFill>
                  <a:srgbClr val="000000"/>
                </a:solidFill>
              </a:rPr>
              <a:t>A=0</a:t>
            </a:r>
            <a:r>
              <a:rPr lang="zh-CN" altLang="en-US" dirty="0">
                <a:solidFill>
                  <a:srgbClr val="000000"/>
                </a:solidFill>
              </a:rPr>
              <a:t>时，基尼系数等于零，这时收入绝对平均</a:t>
            </a:r>
            <a:r>
              <a:rPr lang="en-US" altLang="zh-CN">
                <a:solidFill>
                  <a:srgbClr val="000000"/>
                </a:solidFill>
              </a:rPr>
              <a:t>;</a:t>
            </a:r>
            <a:endParaRPr lang="en-US" altLang="zh-CN">
              <a:solidFill>
                <a:srgbClr val="000000"/>
              </a:solidFill>
            </a:endParaRPr>
          </a:p>
          <a:p>
            <a:r>
              <a:rPr lang="en-US" altLang="zh-CN">
                <a:solidFill>
                  <a:srgbClr val="000000"/>
                </a:solidFill>
              </a:rPr>
              <a:t>B=0</a:t>
            </a:r>
            <a:r>
              <a:rPr lang="zh-CN" altLang="en-US" dirty="0">
                <a:solidFill>
                  <a:srgbClr val="000000"/>
                </a:solidFill>
              </a:rPr>
              <a:t>时，基尼系数等于一，这时收入绝对不平均。</a:t>
            </a:r>
            <a:endParaRPr lang="zh-CN" altLang="en-US" dirty="0">
              <a:solidFill>
                <a:srgbClr val="000000"/>
              </a:solidFill>
            </a:endParaRPr>
          </a:p>
          <a:p>
            <a:r>
              <a:rPr lang="zh-CN" altLang="en-US" dirty="0">
                <a:solidFill>
                  <a:srgbClr val="000000"/>
                </a:solidFill>
              </a:rPr>
              <a:t>实际基尼系数总是大于零，而小于一。基尼系数越小，收入分配越平均。</a:t>
            </a:r>
            <a:endParaRPr lang="zh-CN" altLang="en-US" dirty="0">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标题 51201"/>
          <p:cNvSpPr>
            <a:spLocks noGrp="1"/>
          </p:cNvSpPr>
          <p:nvPr>
            <p:ph type="title"/>
          </p:nvPr>
        </p:nvSpPr>
        <p:spPr>
          <a:ln/>
        </p:spPr>
        <p:txBody>
          <a:bodyPr anchor="ctr" anchorCtr="0"/>
          <a:p>
            <a:endParaRPr dirty="0"/>
          </a:p>
        </p:txBody>
      </p:sp>
      <p:sp>
        <p:nvSpPr>
          <p:cNvPr id="51203" name="文本占位符 51202"/>
          <p:cNvSpPr>
            <a:spLocks noGrp="1"/>
          </p:cNvSpPr>
          <p:nvPr>
            <p:ph type="body" idx="1"/>
          </p:nvPr>
        </p:nvSpPr>
        <p:spPr>
          <a:ln/>
        </p:spPr>
        <p:txBody>
          <a:bodyPr/>
          <a:p>
            <a:pPr algn="just">
              <a:lnSpc>
                <a:spcPct val="90000"/>
              </a:lnSpc>
            </a:pPr>
            <a:r>
              <a:rPr lang="zh-CN" altLang="en-US" sz="3600" b="1" dirty="0">
                <a:solidFill>
                  <a:srgbClr val="FF0000"/>
                </a:solidFill>
                <a:latin typeface="宋体" panose="02010600030101010101" pitchFamily="2" charset="-122"/>
              </a:rPr>
              <a:t>第二节</a:t>
            </a:r>
            <a:r>
              <a:rPr lang="en-US" altLang="zh-CN" sz="3600" b="1" dirty="0">
                <a:solidFill>
                  <a:srgbClr val="FF0000"/>
                </a:solidFill>
                <a:latin typeface="宋体" panose="02010600030101010101" pitchFamily="2" charset="-122"/>
                <a:cs typeface="Times New Roman" panose="02020603050405020304" pitchFamily="18" charset="0"/>
              </a:rPr>
              <a:t>  </a:t>
            </a:r>
            <a:r>
              <a:rPr lang="zh-CN" altLang="en-US" sz="3600" b="1" dirty="0">
                <a:solidFill>
                  <a:srgbClr val="FF0000"/>
                </a:solidFill>
                <a:latin typeface="宋体" panose="02010600030101010101" pitchFamily="2" charset="-122"/>
              </a:rPr>
              <a:t>物价水平的衡量</a:t>
            </a:r>
            <a:endParaRPr lang="zh-CN" altLang="en-US" sz="3600" b="1" dirty="0">
              <a:solidFill>
                <a:srgbClr val="FF0000"/>
              </a:solidFill>
              <a:latin typeface="宋体" panose="02010600030101010101" pitchFamily="2" charset="-122"/>
            </a:endParaRPr>
          </a:p>
          <a:p>
            <a:pPr algn="just">
              <a:lnSpc>
                <a:spcPct val="90000"/>
              </a:lnSpc>
            </a:pPr>
            <a:r>
              <a:rPr lang="en-US" altLang="zh-CN" sz="2800" b="1">
                <a:solidFill>
                  <a:srgbClr val="000000"/>
                </a:solidFill>
                <a:latin typeface="宋体" panose="02010600030101010101" pitchFamily="2" charset="-122"/>
              </a:rPr>
              <a:t>A</a:t>
            </a:r>
            <a:r>
              <a:rPr lang="zh-CN" altLang="en-US" sz="2800" b="1">
                <a:solidFill>
                  <a:srgbClr val="000000"/>
                </a:solidFill>
                <a:latin typeface="宋体" panose="02010600030101010101" pitchFamily="2" charset="-122"/>
              </a:rPr>
              <a:t>．</a:t>
            </a:r>
            <a:r>
              <a:rPr lang="zh-CN" altLang="en-US" sz="2800" b="1" dirty="0">
                <a:solidFill>
                  <a:srgbClr val="000000"/>
                </a:solidFill>
                <a:latin typeface="宋体" panose="02010600030101010101" pitchFamily="2" charset="-122"/>
              </a:rPr>
              <a:t>消费物价指数（</a:t>
            </a:r>
            <a:r>
              <a:rPr lang="en-US" altLang="zh-CN" sz="2800" b="1">
                <a:solidFill>
                  <a:srgbClr val="000000"/>
                </a:solidFill>
                <a:latin typeface="宋体" panose="02010600030101010101" pitchFamily="2" charset="-122"/>
              </a:rPr>
              <a:t>CPI</a:t>
            </a:r>
            <a:r>
              <a:rPr lang="zh-CN" altLang="en-US" sz="2800" b="1">
                <a:solidFill>
                  <a:srgbClr val="000000"/>
                </a:solidFill>
                <a:latin typeface="宋体" panose="02010600030101010101" pitchFamily="2" charset="-122"/>
              </a:rPr>
              <a:t>）：</a:t>
            </a:r>
            <a:r>
              <a:rPr lang="zh-CN" altLang="en-US" sz="2800" b="1" dirty="0">
                <a:solidFill>
                  <a:srgbClr val="000000"/>
                </a:solidFill>
                <a:latin typeface="宋体" panose="02010600030101010101" pitchFamily="2" charset="-122"/>
              </a:rPr>
              <a:t>普通消费者购买的物品与劳务总费用的衡量指标。</a:t>
            </a:r>
            <a:endParaRPr lang="zh-CN" altLang="en-US" sz="2800" b="1" dirty="0">
              <a:solidFill>
                <a:srgbClr val="000000"/>
              </a:solidFill>
              <a:latin typeface="宋体" panose="02010600030101010101" pitchFamily="2" charset="-122"/>
            </a:endParaRPr>
          </a:p>
          <a:p>
            <a:pPr algn="just">
              <a:lnSpc>
                <a:spcPct val="90000"/>
              </a:lnSpc>
              <a:buNone/>
            </a:pPr>
            <a:r>
              <a:rPr lang="zh-CN" altLang="en-US" sz="2800" b="1" dirty="0">
                <a:solidFill>
                  <a:srgbClr val="000000"/>
                </a:solidFill>
                <a:latin typeface="宋体" panose="02010600030101010101" pitchFamily="2" charset="-122"/>
              </a:rPr>
              <a:t>	</a:t>
            </a:r>
            <a:r>
              <a:rPr lang="en-US" altLang="zh-CN" sz="2800" b="1">
                <a:solidFill>
                  <a:srgbClr val="000000"/>
                </a:solidFill>
                <a:latin typeface="宋体" panose="02010600030101010101" pitchFamily="2" charset="-122"/>
              </a:rPr>
              <a:t>t</a:t>
            </a:r>
            <a:r>
              <a:rPr lang="zh-CN" altLang="en-US" sz="2800" b="1" dirty="0">
                <a:solidFill>
                  <a:srgbClr val="000000"/>
                </a:solidFill>
                <a:latin typeface="宋体" panose="02010600030101010101" pitchFamily="2" charset="-122"/>
              </a:rPr>
              <a:t>期的</a:t>
            </a:r>
            <a:r>
              <a:rPr lang="en-US" altLang="zh-CN" sz="2800" b="1">
                <a:solidFill>
                  <a:srgbClr val="000000"/>
                </a:solidFill>
                <a:latin typeface="宋体" panose="02010600030101010101" pitchFamily="2" charset="-122"/>
              </a:rPr>
              <a:t>CPI:	</a:t>
            </a:r>
            <a:endParaRPr lang="en-US" altLang="zh-CN" sz="2800" b="1">
              <a:solidFill>
                <a:srgbClr val="000000"/>
              </a:solidFill>
              <a:latin typeface="宋体" panose="02010600030101010101" pitchFamily="2" charset="-122"/>
            </a:endParaRPr>
          </a:p>
          <a:p>
            <a:pPr algn="just">
              <a:lnSpc>
                <a:spcPct val="90000"/>
              </a:lnSpc>
              <a:buNone/>
            </a:pPr>
            <a:br>
              <a:rPr lang="en-US" altLang="zh-CN" sz="2800" b="1">
                <a:solidFill>
                  <a:srgbClr val="000000"/>
                </a:solidFill>
                <a:latin typeface="宋体" panose="02010600030101010101" pitchFamily="2" charset="-122"/>
              </a:rPr>
            </a:br>
            <a:r>
              <a:rPr lang="en-US" altLang="zh-CN" sz="2800" b="1">
                <a:solidFill>
                  <a:srgbClr val="000000"/>
                </a:solidFill>
                <a:latin typeface="宋体" panose="02010600030101010101" pitchFamily="2" charset="-122"/>
              </a:rPr>
              <a:t> </a:t>
            </a:r>
            <a:endParaRPr lang="en-US" altLang="zh-CN" sz="2800" b="1">
              <a:solidFill>
                <a:srgbClr val="000000"/>
              </a:solidFill>
              <a:latin typeface="宋体" panose="02010600030101010101" pitchFamily="2" charset="-122"/>
            </a:endParaRPr>
          </a:p>
          <a:p>
            <a:pPr algn="just">
              <a:lnSpc>
                <a:spcPct val="90000"/>
              </a:lnSpc>
              <a:buNone/>
            </a:pPr>
            <a:br>
              <a:rPr lang="en-US" altLang="zh-CN" sz="2800" b="1">
                <a:solidFill>
                  <a:srgbClr val="000000"/>
                </a:solidFill>
                <a:latin typeface="宋体" panose="02010600030101010101" pitchFamily="2" charset="-122"/>
              </a:rPr>
            </a:br>
            <a:r>
              <a:rPr lang="zh-CN" altLang="en-US" sz="2800" b="1" dirty="0">
                <a:solidFill>
                  <a:srgbClr val="000000"/>
                </a:solidFill>
                <a:latin typeface="宋体" panose="02010600030101010101" pitchFamily="2" charset="-122"/>
              </a:rPr>
              <a:t>其中</a:t>
            </a:r>
            <a:r>
              <a:rPr lang="en-US" altLang="zh-CN" sz="2800" b="1">
                <a:solidFill>
                  <a:srgbClr val="000000"/>
                </a:solidFill>
                <a:latin typeface="宋体" panose="02010600030101010101" pitchFamily="2" charset="-122"/>
              </a:rPr>
              <a:t>P</a:t>
            </a:r>
            <a:r>
              <a:rPr lang="en-US" altLang="zh-CN" sz="2800" b="1" baseline="-30000">
                <a:solidFill>
                  <a:srgbClr val="000000"/>
                </a:solidFill>
                <a:latin typeface="宋体" panose="02010600030101010101" pitchFamily="2" charset="-122"/>
              </a:rPr>
              <a:t>0 </a:t>
            </a:r>
            <a:r>
              <a:rPr lang="zh-CN" altLang="en-US" sz="2800" b="1">
                <a:solidFill>
                  <a:srgbClr val="000000"/>
                </a:solidFill>
                <a:latin typeface="宋体" panose="02010600030101010101" pitchFamily="2" charset="-122"/>
              </a:rPr>
              <a:t>和</a:t>
            </a:r>
            <a:r>
              <a:rPr lang="en-US" altLang="zh-CN" sz="2800" b="1">
                <a:solidFill>
                  <a:srgbClr val="000000"/>
                </a:solidFill>
                <a:latin typeface="宋体" panose="02010600030101010101" pitchFamily="2" charset="-122"/>
              </a:rPr>
              <a:t>Q</a:t>
            </a:r>
            <a:r>
              <a:rPr lang="en-US" altLang="zh-CN" sz="2800" b="1" baseline="-30000">
                <a:solidFill>
                  <a:srgbClr val="000000"/>
                </a:solidFill>
                <a:latin typeface="宋体" panose="02010600030101010101" pitchFamily="2" charset="-122"/>
              </a:rPr>
              <a:t>0</a:t>
            </a:r>
            <a:r>
              <a:rPr lang="zh-CN" altLang="en-US" sz="2800" b="1" dirty="0">
                <a:solidFill>
                  <a:srgbClr val="000000"/>
                </a:solidFill>
                <a:latin typeface="宋体" panose="02010600030101010101" pitchFamily="2" charset="-122"/>
              </a:rPr>
              <a:t>是基期的价格和数量，</a:t>
            </a:r>
            <a:r>
              <a:rPr lang="en-US" altLang="zh-CN" sz="2800" b="1">
                <a:solidFill>
                  <a:srgbClr val="000000"/>
                </a:solidFill>
                <a:latin typeface="宋体" panose="02010600030101010101" pitchFamily="2" charset="-122"/>
              </a:rPr>
              <a:t>P</a:t>
            </a:r>
            <a:r>
              <a:rPr lang="en-US" altLang="zh-CN" sz="2800" b="1" baseline="-30000">
                <a:solidFill>
                  <a:srgbClr val="000000"/>
                </a:solidFill>
                <a:latin typeface="宋体" panose="02010600030101010101" pitchFamily="2" charset="-122"/>
              </a:rPr>
              <a:t>t</a:t>
            </a:r>
            <a:r>
              <a:rPr lang="zh-CN" altLang="en-US" sz="2800" b="1">
                <a:solidFill>
                  <a:srgbClr val="000000"/>
                </a:solidFill>
                <a:latin typeface="宋体" panose="02010600030101010101" pitchFamily="2" charset="-122"/>
              </a:rPr>
              <a:t>是</a:t>
            </a:r>
            <a:r>
              <a:rPr lang="en-US" altLang="zh-CN" sz="2800" b="1">
                <a:solidFill>
                  <a:srgbClr val="000000"/>
                </a:solidFill>
                <a:latin typeface="宋体" panose="02010600030101010101" pitchFamily="2" charset="-122"/>
              </a:rPr>
              <a:t>t</a:t>
            </a:r>
            <a:r>
              <a:rPr lang="zh-CN" altLang="en-US" sz="2800" b="1" dirty="0">
                <a:solidFill>
                  <a:srgbClr val="000000"/>
                </a:solidFill>
                <a:latin typeface="宋体" panose="02010600030101010101" pitchFamily="2" charset="-122"/>
              </a:rPr>
              <a:t>期的价格。</a:t>
            </a:r>
            <a:endParaRPr lang="zh-CN" altLang="en-US" sz="2800" b="1" dirty="0">
              <a:solidFill>
                <a:srgbClr val="000000"/>
              </a:solidFill>
              <a:latin typeface="宋体" panose="02010600030101010101" pitchFamily="2" charset="-122"/>
            </a:endParaRPr>
          </a:p>
          <a:p>
            <a:pPr algn="just">
              <a:lnSpc>
                <a:spcPct val="90000"/>
              </a:lnSpc>
              <a:buNone/>
            </a:pPr>
            <a:endParaRPr lang="zh-CN" altLang="en-US" sz="2800" b="1" dirty="0">
              <a:solidFill>
                <a:srgbClr val="000000"/>
              </a:solidFill>
              <a:latin typeface="宋体" panose="02010600030101010101" pitchFamily="2" charset="-122"/>
            </a:endParaRPr>
          </a:p>
          <a:p>
            <a:pPr>
              <a:lnSpc>
                <a:spcPct val="90000"/>
              </a:lnSpc>
            </a:pPr>
            <a:endParaRPr lang="zh-CN" altLang="en-US" sz="2800">
              <a:latin typeface="宋体" panose="02010600030101010101" pitchFamily="2" charset="-122"/>
            </a:endParaRPr>
          </a:p>
        </p:txBody>
      </p:sp>
      <p:graphicFrame>
        <p:nvGraphicFramePr>
          <p:cNvPr id="51204" name="对象 51203"/>
          <p:cNvGraphicFramePr/>
          <p:nvPr/>
        </p:nvGraphicFramePr>
        <p:xfrm>
          <a:off x="3048000" y="3733800"/>
          <a:ext cx="3505200" cy="1062038"/>
        </p:xfrm>
        <a:graphic>
          <a:graphicData uri="http://schemas.openxmlformats.org/presentationml/2006/ole">
            <mc:AlternateContent xmlns:mc="http://schemas.openxmlformats.org/markup-compatibility/2006">
              <mc:Choice xmlns:v="urn:schemas-microsoft-com:vml" Requires="v">
                <p:oleObj spid="_x0000_s3076" name="" r:id="rId1" imgW="1510665" imgH="482600" progId="Equation.3">
                  <p:embed/>
                </p:oleObj>
              </mc:Choice>
              <mc:Fallback>
                <p:oleObj name="" r:id="rId1" imgW="1510665" imgH="482600" progId="Equation.3">
                  <p:embed/>
                  <p:pic>
                    <p:nvPicPr>
                      <p:cNvPr id="0" name="图片 3075"/>
                      <p:cNvPicPr/>
                      <p:nvPr/>
                    </p:nvPicPr>
                    <p:blipFill>
                      <a:blip r:embed="rId2"/>
                      <a:stretch>
                        <a:fillRect/>
                      </a:stretch>
                    </p:blipFill>
                    <p:spPr>
                      <a:xfrm>
                        <a:off x="3048000" y="3733800"/>
                        <a:ext cx="3505200" cy="1062038"/>
                      </a:xfrm>
                      <a:prstGeom prst="rect">
                        <a:avLst/>
                      </a:prstGeom>
                      <a:noFill/>
                      <a:ln w="38100">
                        <a:noFill/>
                        <a:miter/>
                      </a:ln>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标题 52225"/>
          <p:cNvSpPr>
            <a:spLocks noGrp="1"/>
          </p:cNvSpPr>
          <p:nvPr>
            <p:ph type="title"/>
          </p:nvPr>
        </p:nvSpPr>
        <p:spPr>
          <a:xfrm>
            <a:off x="685800" y="476250"/>
            <a:ext cx="7772400" cy="3486150"/>
          </a:xfrm>
          <a:ln/>
        </p:spPr>
        <p:txBody>
          <a:bodyPr anchor="ctr" anchorCtr="0"/>
          <a:p>
            <a:pPr algn="l"/>
            <a:r>
              <a:rPr lang="en-US" altLang="zh-CN" sz="2800" b="1">
                <a:latin typeface="宋体" panose="02010600030101010101" pitchFamily="2" charset="-122"/>
              </a:rPr>
              <a:t>B</a:t>
            </a:r>
            <a:r>
              <a:rPr lang="zh-CN" altLang="en-US" sz="2800" b="1" dirty="0">
                <a:latin typeface="宋体" panose="02010600030101010101" pitchFamily="2" charset="-122"/>
              </a:rPr>
              <a:t>．</a:t>
            </a:r>
            <a:r>
              <a:rPr lang="zh-CN" altLang="en-US" sz="2800" b="1" dirty="0">
                <a:solidFill>
                  <a:srgbClr val="000000"/>
                </a:solidFill>
                <a:latin typeface="宋体" panose="02010600030101010101" pitchFamily="2" charset="-122"/>
              </a:rPr>
              <a:t>生产物价指数（</a:t>
            </a:r>
            <a:r>
              <a:rPr lang="en-US" altLang="zh-CN" sz="2800" b="1">
                <a:solidFill>
                  <a:srgbClr val="000000"/>
                </a:solidFill>
                <a:latin typeface="宋体" panose="02010600030101010101" pitchFamily="2" charset="-122"/>
              </a:rPr>
              <a:t>PPI</a:t>
            </a:r>
            <a:r>
              <a:rPr lang="zh-CN" altLang="en-US" sz="2800" b="1">
                <a:solidFill>
                  <a:srgbClr val="000000"/>
                </a:solidFill>
                <a:latin typeface="宋体" panose="02010600030101010101" pitchFamily="2" charset="-122"/>
              </a:rPr>
              <a:t>）：</a:t>
            </a:r>
            <a:r>
              <a:rPr lang="zh-CN" altLang="en-US" sz="2800" b="1" dirty="0">
                <a:solidFill>
                  <a:srgbClr val="000000"/>
                </a:solidFill>
                <a:latin typeface="宋体" panose="02010600030101010101" pitchFamily="2" charset="-122"/>
              </a:rPr>
              <a:t>生产企业购买的篮子物品与劳务费用的衡量指标。计算方法和</a:t>
            </a:r>
            <a:r>
              <a:rPr lang="en-US" altLang="zh-CN" sz="2800" b="1">
                <a:solidFill>
                  <a:srgbClr val="000000"/>
                </a:solidFill>
                <a:latin typeface="宋体" panose="02010600030101010101" pitchFamily="2" charset="-122"/>
              </a:rPr>
              <a:t>CPI</a:t>
            </a:r>
            <a:r>
              <a:rPr lang="zh-CN" altLang="en-US" sz="2800" b="1" dirty="0">
                <a:solidFill>
                  <a:srgbClr val="000000"/>
                </a:solidFill>
                <a:latin typeface="宋体" panose="02010600030101010101" pitchFamily="2" charset="-122"/>
              </a:rPr>
              <a:t>相同，只是所选的物品篮子不同。</a:t>
            </a:r>
            <a:br>
              <a:rPr lang="zh-CN" altLang="en-US" sz="2800" b="1" dirty="0">
                <a:solidFill>
                  <a:srgbClr val="000000"/>
                </a:solidFill>
                <a:latin typeface="宋体" panose="02010600030101010101" pitchFamily="2" charset="-122"/>
              </a:rPr>
            </a:br>
            <a:r>
              <a:rPr lang="en-US" altLang="zh-CN" sz="2800" b="1" dirty="0">
                <a:solidFill>
                  <a:srgbClr val="000000"/>
                </a:solidFill>
                <a:latin typeface="宋体" panose="02010600030101010101" pitchFamily="2" charset="-122"/>
              </a:rPr>
              <a:t> </a:t>
            </a:r>
            <a:br>
              <a:rPr lang="en-US" altLang="zh-CN" sz="2800" b="1" dirty="0">
                <a:solidFill>
                  <a:srgbClr val="000000"/>
                </a:solidFill>
                <a:latin typeface="宋体" panose="02010600030101010101" pitchFamily="2" charset="-122"/>
              </a:rPr>
            </a:br>
            <a:r>
              <a:rPr lang="en-US" altLang="zh-CN" sz="2800" b="1">
                <a:solidFill>
                  <a:srgbClr val="000000"/>
                </a:solidFill>
                <a:latin typeface="宋体" panose="02010600030101010101" pitchFamily="2" charset="-122"/>
              </a:rPr>
              <a:t>C</a:t>
            </a:r>
            <a:r>
              <a:rPr lang="zh-CN" altLang="en-US" sz="2800" b="1" dirty="0">
                <a:solidFill>
                  <a:srgbClr val="000000"/>
                </a:solidFill>
                <a:latin typeface="宋体" panose="02010600030101010101" pitchFamily="2" charset="-122"/>
              </a:rPr>
              <a:t>．通货膨胀率：前一个时期以来物价指数变动的百分比。</a:t>
            </a:r>
            <a:endParaRPr lang="zh-CN" altLang="en-US" sz="2800">
              <a:latin typeface="宋体" panose="02010600030101010101" pitchFamily="2" charset="-122"/>
            </a:endParaRPr>
          </a:p>
        </p:txBody>
      </p:sp>
      <p:graphicFrame>
        <p:nvGraphicFramePr>
          <p:cNvPr id="52227" name="文本占位符 52226"/>
          <p:cNvGraphicFramePr/>
          <p:nvPr>
            <p:ph type="body" idx="1"/>
          </p:nvPr>
        </p:nvGraphicFramePr>
        <p:xfrm>
          <a:off x="2339975" y="4076700"/>
          <a:ext cx="4419600" cy="1189038"/>
        </p:xfrm>
        <a:graphic>
          <a:graphicData uri="http://schemas.openxmlformats.org/presentationml/2006/ole">
            <mc:AlternateContent xmlns:mc="http://schemas.openxmlformats.org/markup-compatibility/2006">
              <mc:Choice xmlns:v="urn:schemas-microsoft-com:vml" Requires="v">
                <p:oleObj spid="_x0000_s3079" name="" r:id="rId1" imgW="1650365" imgH="444500" progId="Equation.3">
                  <p:embed/>
                </p:oleObj>
              </mc:Choice>
              <mc:Fallback>
                <p:oleObj name="" r:id="rId1" imgW="1650365" imgH="444500" progId="Equation.3">
                  <p:embed/>
                  <p:pic>
                    <p:nvPicPr>
                      <p:cNvPr id="0" name="图片 3078"/>
                      <p:cNvPicPr/>
                      <p:nvPr/>
                    </p:nvPicPr>
                    <p:blipFill>
                      <a:blip r:embed="rId2"/>
                      <a:stretch>
                        <a:fillRect/>
                      </a:stretch>
                    </p:blipFill>
                    <p:spPr>
                      <a:xfrm>
                        <a:off x="2339975" y="4076700"/>
                        <a:ext cx="4419600" cy="1189038"/>
                      </a:xfrm>
                      <a:prstGeom prst="rect">
                        <a:avLst/>
                      </a:prstGeom>
                      <a:noFill/>
                      <a:ln w="38100">
                        <a:miter/>
                      </a:ln>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标题 53249"/>
          <p:cNvSpPr>
            <a:spLocks noGrp="1"/>
          </p:cNvSpPr>
          <p:nvPr>
            <p:ph type="title"/>
          </p:nvPr>
        </p:nvSpPr>
        <p:spPr>
          <a:ln/>
        </p:spPr>
        <p:txBody>
          <a:bodyPr anchor="ctr" anchorCtr="0"/>
          <a:p>
            <a:endParaRPr dirty="0"/>
          </a:p>
        </p:txBody>
      </p:sp>
      <p:sp>
        <p:nvSpPr>
          <p:cNvPr id="53251" name="文本占位符 53250"/>
          <p:cNvSpPr>
            <a:spLocks noGrp="1"/>
          </p:cNvSpPr>
          <p:nvPr>
            <p:ph type="body" idx="1"/>
          </p:nvPr>
        </p:nvSpPr>
        <p:spPr>
          <a:xfrm>
            <a:off x="533400" y="0"/>
            <a:ext cx="8610600" cy="5029200"/>
          </a:xfrm>
          <a:ln/>
        </p:spPr>
        <p:txBody>
          <a:bodyPr/>
          <a:p>
            <a:pPr marL="609600" indent="-609600" algn="ctr">
              <a:lnSpc>
                <a:spcPct val="90000"/>
              </a:lnSpc>
              <a:buNone/>
            </a:pPr>
            <a:r>
              <a:rPr lang="zh-CN" altLang="en-US" sz="2000" b="1" dirty="0">
                <a:solidFill>
                  <a:srgbClr val="FF0000"/>
                </a:solidFill>
              </a:rPr>
              <a:t>计</a:t>
            </a:r>
            <a:r>
              <a:rPr lang="zh-CN" altLang="en-US" sz="2000" b="1" dirty="0">
                <a:solidFill>
                  <a:srgbClr val="FF0000"/>
                </a:solidFill>
                <a:latin typeface="宋体" panose="02010600030101010101" pitchFamily="2" charset="-122"/>
              </a:rPr>
              <a:t>算</a:t>
            </a:r>
            <a:r>
              <a:rPr lang="zh-CN" altLang="en-US" sz="2000" b="1" dirty="0">
                <a:solidFill>
                  <a:srgbClr val="FF0000"/>
                </a:solidFill>
              </a:rPr>
              <a:t>消费物价指数和通货膨胀率的一个例子</a:t>
            </a:r>
            <a:endParaRPr lang="zh-CN" altLang="en-US" sz="2000" b="1" dirty="0">
              <a:solidFill>
                <a:srgbClr val="FF0000"/>
              </a:solidFill>
            </a:endParaRPr>
          </a:p>
          <a:p>
            <a:pPr marL="609600" indent="-609600">
              <a:lnSpc>
                <a:spcPct val="90000"/>
              </a:lnSpc>
              <a:buNone/>
            </a:pPr>
            <a:r>
              <a:rPr lang="zh-CN" altLang="en-US" sz="1800" b="1" dirty="0">
                <a:solidFill>
                  <a:srgbClr val="FF0000"/>
                </a:solidFill>
                <a:latin typeface="宋体" panose="02010600030101010101" pitchFamily="2" charset="-122"/>
              </a:rPr>
              <a:t>第一步</a:t>
            </a:r>
            <a:r>
              <a:rPr lang="en-US" altLang="zh-CN" sz="1800" b="1">
                <a:solidFill>
                  <a:srgbClr val="FF0000"/>
                </a:solidFill>
                <a:latin typeface="宋体" panose="02010600030101010101" pitchFamily="2" charset="-122"/>
              </a:rPr>
              <a:t>:</a:t>
            </a:r>
            <a:r>
              <a:rPr lang="zh-CN" altLang="en-US" sz="1800" b="1" dirty="0">
                <a:solidFill>
                  <a:srgbClr val="FF0000"/>
                </a:solidFill>
                <a:latin typeface="宋体" panose="02010600030101010101" pitchFamily="2" charset="-122"/>
              </a:rPr>
              <a:t>调查消费者以确定固定的一篮子物品</a:t>
            </a:r>
            <a:endParaRPr lang="zh-CN" altLang="en-US" sz="1800" b="1" dirty="0">
              <a:solidFill>
                <a:srgbClr val="FF0000"/>
              </a:solidFill>
              <a:latin typeface="宋体" panose="02010600030101010101" pitchFamily="2" charset="-122"/>
            </a:endParaRPr>
          </a:p>
          <a:p>
            <a:pPr marL="609600" indent="-609600">
              <a:lnSpc>
                <a:spcPct val="90000"/>
              </a:lnSpc>
              <a:buNone/>
            </a:pPr>
            <a:r>
              <a:rPr lang="en-US" altLang="zh-CN" sz="1800" b="1">
                <a:solidFill>
                  <a:srgbClr val="000000"/>
                </a:solidFill>
                <a:latin typeface="宋体" panose="02010600030101010101" pitchFamily="2" charset="-122"/>
              </a:rPr>
              <a:t>4</a:t>
            </a:r>
            <a:r>
              <a:rPr lang="zh-CN" altLang="en-US" sz="1800" b="1" dirty="0">
                <a:solidFill>
                  <a:srgbClr val="000000"/>
                </a:solidFill>
                <a:latin typeface="宋体" panose="02010600030101010101" pitchFamily="2" charset="-122"/>
              </a:rPr>
              <a:t>个热狗，</a:t>
            </a:r>
            <a:r>
              <a:rPr lang="en-US" altLang="zh-CN" sz="1800" b="1">
                <a:solidFill>
                  <a:srgbClr val="000000"/>
                </a:solidFill>
                <a:latin typeface="宋体" panose="02010600030101010101" pitchFamily="2" charset="-122"/>
              </a:rPr>
              <a:t>2</a:t>
            </a:r>
            <a:r>
              <a:rPr lang="zh-CN" altLang="en-US" sz="1800" b="1" dirty="0">
                <a:solidFill>
                  <a:srgbClr val="000000"/>
                </a:solidFill>
                <a:latin typeface="宋体" panose="02010600030101010101" pitchFamily="2" charset="-122"/>
              </a:rPr>
              <a:t>个汉堡包</a:t>
            </a:r>
            <a:endParaRPr lang="zh-CN" altLang="en-US" sz="1800" b="1" dirty="0">
              <a:solidFill>
                <a:srgbClr val="000000"/>
              </a:solidFill>
              <a:latin typeface="宋体" panose="02010600030101010101" pitchFamily="2" charset="-122"/>
            </a:endParaRPr>
          </a:p>
          <a:p>
            <a:pPr marL="609600" indent="-609600">
              <a:lnSpc>
                <a:spcPct val="90000"/>
              </a:lnSpc>
              <a:buNone/>
            </a:pPr>
            <a:r>
              <a:rPr lang="zh-CN" altLang="en-US" sz="1800" b="1" dirty="0">
                <a:solidFill>
                  <a:srgbClr val="FF0000"/>
                </a:solidFill>
                <a:latin typeface="宋体" panose="02010600030101010101" pitchFamily="2" charset="-122"/>
              </a:rPr>
              <a:t>第二步</a:t>
            </a:r>
            <a:r>
              <a:rPr lang="en-US" altLang="zh-CN" sz="1800" b="1">
                <a:solidFill>
                  <a:srgbClr val="FF0000"/>
                </a:solidFill>
                <a:latin typeface="宋体" panose="02010600030101010101" pitchFamily="2" charset="-122"/>
              </a:rPr>
              <a:t>:</a:t>
            </a:r>
            <a:r>
              <a:rPr lang="zh-CN" altLang="en-US" sz="1800" b="1" dirty="0">
                <a:solidFill>
                  <a:srgbClr val="FF0000"/>
                </a:solidFill>
                <a:latin typeface="宋体" panose="02010600030101010101" pitchFamily="2" charset="-122"/>
              </a:rPr>
              <a:t>找出每年每种物品的价格</a:t>
            </a:r>
            <a:endParaRPr lang="zh-CN" altLang="en-US" sz="1800" b="1" dirty="0">
              <a:solidFill>
                <a:srgbClr val="FF0000"/>
              </a:solidFill>
              <a:latin typeface="宋体" panose="02010600030101010101" pitchFamily="2" charset="-122"/>
            </a:endParaRPr>
          </a:p>
          <a:p>
            <a:pPr marL="609600" indent="-609600">
              <a:lnSpc>
                <a:spcPct val="90000"/>
              </a:lnSpc>
              <a:buNone/>
            </a:pPr>
            <a:r>
              <a:rPr lang="zh-CN" altLang="en-US" sz="1800" b="1" dirty="0">
                <a:solidFill>
                  <a:srgbClr val="000000"/>
                </a:solidFill>
                <a:latin typeface="宋体" panose="02010600030101010101" pitchFamily="2" charset="-122"/>
              </a:rPr>
              <a:t>年份   热狗的价格</a:t>
            </a:r>
            <a:r>
              <a:rPr lang="en-US" altLang="zh-CN" sz="1800" b="1">
                <a:solidFill>
                  <a:srgbClr val="000000"/>
                </a:solidFill>
                <a:latin typeface="宋体" panose="02010600030101010101" pitchFamily="2" charset="-122"/>
              </a:rPr>
              <a:t>(</a:t>
            </a:r>
            <a:r>
              <a:rPr lang="zh-CN" altLang="en-US" sz="1800" b="1" dirty="0">
                <a:solidFill>
                  <a:srgbClr val="000000"/>
                </a:solidFill>
                <a:latin typeface="宋体" panose="02010600030101010101" pitchFamily="2" charset="-122"/>
              </a:rPr>
              <a:t>美元</a:t>
            </a:r>
            <a:r>
              <a:rPr lang="en-US" altLang="zh-CN" sz="1800" b="1">
                <a:solidFill>
                  <a:srgbClr val="000000"/>
                </a:solidFill>
                <a:latin typeface="宋体" panose="02010600030101010101" pitchFamily="2" charset="-122"/>
              </a:rPr>
              <a:t>)       </a:t>
            </a:r>
            <a:r>
              <a:rPr lang="zh-CN" altLang="en-US" sz="1800" b="1" dirty="0">
                <a:solidFill>
                  <a:srgbClr val="000000"/>
                </a:solidFill>
                <a:latin typeface="宋体" panose="02010600030101010101" pitchFamily="2" charset="-122"/>
              </a:rPr>
              <a:t>汉堡包的价格</a:t>
            </a:r>
            <a:r>
              <a:rPr lang="en-US" altLang="zh-CN" sz="1800" b="1">
                <a:solidFill>
                  <a:srgbClr val="000000"/>
                </a:solidFill>
                <a:latin typeface="宋体" panose="02010600030101010101" pitchFamily="2" charset="-122"/>
              </a:rPr>
              <a:t>(</a:t>
            </a:r>
            <a:r>
              <a:rPr lang="zh-CN" altLang="en-US" sz="1800" b="1" dirty="0">
                <a:solidFill>
                  <a:srgbClr val="000000"/>
                </a:solidFill>
                <a:latin typeface="宋体" panose="02010600030101010101" pitchFamily="2" charset="-122"/>
              </a:rPr>
              <a:t>美元</a:t>
            </a:r>
            <a:r>
              <a:rPr lang="en-US" altLang="zh-CN" sz="1800" b="1">
                <a:solidFill>
                  <a:srgbClr val="000000"/>
                </a:solidFill>
                <a:latin typeface="宋体" panose="02010600030101010101" pitchFamily="2" charset="-122"/>
              </a:rPr>
              <a:t>)</a:t>
            </a:r>
            <a:endParaRPr lang="en-US" altLang="zh-CN" sz="1800" b="1">
              <a:solidFill>
                <a:srgbClr val="000000"/>
              </a:solidFill>
              <a:latin typeface="宋体" panose="02010600030101010101" pitchFamily="2" charset="-122"/>
            </a:endParaRPr>
          </a:p>
          <a:p>
            <a:pPr marL="609600" indent="-609600">
              <a:lnSpc>
                <a:spcPct val="90000"/>
              </a:lnSpc>
              <a:buFont typeface="Wingdings" panose="05000000000000000000" pitchFamily="2" charset="2"/>
              <a:buAutoNum type="arabicPlain" startAt="2001"/>
            </a:pPr>
            <a:r>
              <a:rPr lang="en-US" altLang="zh-CN" sz="1800" b="1">
                <a:solidFill>
                  <a:srgbClr val="000000"/>
                </a:solidFill>
                <a:latin typeface="宋体" panose="02010600030101010101" pitchFamily="2" charset="-122"/>
              </a:rPr>
              <a:t>        1                          2</a:t>
            </a:r>
            <a:endParaRPr lang="en-US" altLang="zh-CN" sz="1800" b="1">
              <a:solidFill>
                <a:srgbClr val="000000"/>
              </a:solidFill>
              <a:latin typeface="宋体" panose="02010600030101010101" pitchFamily="2" charset="-122"/>
            </a:endParaRPr>
          </a:p>
          <a:p>
            <a:pPr marL="609600" indent="-609600">
              <a:lnSpc>
                <a:spcPct val="90000"/>
              </a:lnSpc>
              <a:buFont typeface="Wingdings" panose="05000000000000000000" pitchFamily="2" charset="2"/>
              <a:buAutoNum type="arabicPlain" startAt="2001"/>
            </a:pPr>
            <a:r>
              <a:rPr lang="en-US" altLang="zh-CN" sz="1800" b="1">
                <a:solidFill>
                  <a:srgbClr val="000000"/>
                </a:solidFill>
                <a:latin typeface="宋体" panose="02010600030101010101" pitchFamily="2" charset="-122"/>
              </a:rPr>
              <a:t>        2                          3</a:t>
            </a:r>
            <a:endParaRPr lang="en-US" altLang="zh-CN" sz="1800" b="1">
              <a:solidFill>
                <a:srgbClr val="000000"/>
              </a:solidFill>
              <a:latin typeface="宋体" panose="02010600030101010101" pitchFamily="2" charset="-122"/>
            </a:endParaRPr>
          </a:p>
          <a:p>
            <a:pPr marL="609600" indent="-609600">
              <a:lnSpc>
                <a:spcPct val="90000"/>
              </a:lnSpc>
              <a:buFont typeface="Wingdings" panose="05000000000000000000" pitchFamily="2" charset="2"/>
              <a:buAutoNum type="arabicPlain" startAt="2001"/>
            </a:pPr>
            <a:r>
              <a:rPr lang="en-US" altLang="zh-CN" sz="1800" b="1">
                <a:solidFill>
                  <a:srgbClr val="000000"/>
                </a:solidFill>
                <a:latin typeface="宋体" panose="02010600030101010101" pitchFamily="2" charset="-122"/>
              </a:rPr>
              <a:t>        3                          4</a:t>
            </a:r>
            <a:endParaRPr lang="en-US" altLang="zh-CN" sz="1800" b="1">
              <a:solidFill>
                <a:srgbClr val="000000"/>
              </a:solidFill>
              <a:latin typeface="宋体" panose="02010600030101010101" pitchFamily="2" charset="-122"/>
            </a:endParaRPr>
          </a:p>
          <a:p>
            <a:pPr marL="609600" indent="-609600">
              <a:lnSpc>
                <a:spcPct val="90000"/>
              </a:lnSpc>
              <a:buFont typeface="Wingdings" panose="05000000000000000000" pitchFamily="2" charset="2"/>
              <a:buNone/>
            </a:pPr>
            <a:r>
              <a:rPr lang="zh-CN" altLang="en-US" sz="1800" b="1" dirty="0">
                <a:solidFill>
                  <a:srgbClr val="FF0000"/>
                </a:solidFill>
                <a:latin typeface="宋体" panose="02010600030101010101" pitchFamily="2" charset="-122"/>
              </a:rPr>
              <a:t>第三步</a:t>
            </a:r>
            <a:r>
              <a:rPr lang="en-US" altLang="zh-CN" sz="1800" b="1">
                <a:solidFill>
                  <a:srgbClr val="FF0000"/>
                </a:solidFill>
                <a:latin typeface="宋体" panose="02010600030101010101" pitchFamily="2" charset="-122"/>
              </a:rPr>
              <a:t>:</a:t>
            </a:r>
            <a:r>
              <a:rPr lang="zh-CN" altLang="en-US" sz="1800" b="1" dirty="0">
                <a:solidFill>
                  <a:srgbClr val="FF0000"/>
                </a:solidFill>
                <a:latin typeface="宋体" panose="02010600030101010101" pitchFamily="2" charset="-122"/>
              </a:rPr>
              <a:t>计算每年一篮子物品的费用</a:t>
            </a:r>
            <a:endParaRPr lang="zh-CN" altLang="en-US" sz="1800" b="1" dirty="0">
              <a:solidFill>
                <a:srgbClr val="FF0000"/>
              </a:solidFill>
              <a:latin typeface="宋体" panose="02010600030101010101" pitchFamily="2" charset="-122"/>
            </a:endParaRPr>
          </a:p>
          <a:p>
            <a:pPr marL="609600" indent="-609600">
              <a:lnSpc>
                <a:spcPct val="90000"/>
              </a:lnSpc>
              <a:buFont typeface="Wingdings" panose="05000000000000000000" pitchFamily="2" charset="2"/>
              <a:buNone/>
            </a:pPr>
            <a:r>
              <a:rPr lang="zh-CN" altLang="en-US" sz="1800" b="1" dirty="0">
                <a:solidFill>
                  <a:srgbClr val="000000"/>
                </a:solidFill>
                <a:latin typeface="宋体" panose="02010600030101010101" pitchFamily="2" charset="-122"/>
              </a:rPr>
              <a:t>年份           </a:t>
            </a:r>
            <a:r>
              <a:rPr lang="en-US" altLang="zh-CN" sz="1800" b="1">
                <a:solidFill>
                  <a:srgbClr val="000000"/>
                </a:solidFill>
                <a:latin typeface="Times New Roman" panose="02020603050405020304" pitchFamily="18" charset="0"/>
              </a:rPr>
              <a:t>—</a:t>
            </a:r>
            <a:r>
              <a:rPr lang="zh-CN" altLang="en-US" sz="1800" b="1" dirty="0">
                <a:solidFill>
                  <a:srgbClr val="000000"/>
                </a:solidFill>
                <a:latin typeface="宋体" panose="02010600030101010101" pitchFamily="2" charset="-122"/>
              </a:rPr>
              <a:t>篮子物品的费用</a:t>
            </a:r>
            <a:endParaRPr lang="zh-CN" altLang="en-US" sz="1800" b="1" dirty="0">
              <a:solidFill>
                <a:srgbClr val="000000"/>
              </a:solidFill>
              <a:latin typeface="宋体" panose="02010600030101010101" pitchFamily="2" charset="-122"/>
            </a:endParaRPr>
          </a:p>
          <a:p>
            <a:pPr marL="609600" indent="-609600">
              <a:lnSpc>
                <a:spcPct val="90000"/>
              </a:lnSpc>
              <a:buFont typeface="Wingdings" panose="05000000000000000000" pitchFamily="2" charset="2"/>
              <a:buAutoNum type="arabicPlain" startAt="2001"/>
            </a:pPr>
            <a:r>
              <a:rPr lang="zh-CN" altLang="en-US" sz="1800" b="1" dirty="0">
                <a:solidFill>
                  <a:srgbClr val="000000"/>
                </a:solidFill>
                <a:latin typeface="宋体" panose="02010600030101010101" pitchFamily="2" charset="-122"/>
              </a:rPr>
              <a:t> </a:t>
            </a:r>
            <a:r>
              <a:rPr lang="en-US" altLang="zh-CN" sz="1800" b="1">
                <a:solidFill>
                  <a:srgbClr val="000000"/>
                </a:solidFill>
                <a:latin typeface="宋体" panose="02010600030101010101" pitchFamily="2" charset="-122"/>
              </a:rPr>
              <a:t>(</a:t>
            </a:r>
            <a:r>
              <a:rPr lang="zh-CN" altLang="en-US" sz="1800" b="1" dirty="0">
                <a:solidFill>
                  <a:srgbClr val="000000"/>
                </a:solidFill>
                <a:latin typeface="宋体" panose="02010600030101010101" pitchFamily="2" charset="-122"/>
              </a:rPr>
              <a:t>每个热狗</a:t>
            </a:r>
            <a:r>
              <a:rPr lang="en-US" altLang="zh-CN" sz="1800" b="1">
                <a:solidFill>
                  <a:srgbClr val="000000"/>
                </a:solidFill>
                <a:latin typeface="宋体" panose="02010600030101010101" pitchFamily="2" charset="-122"/>
              </a:rPr>
              <a:t>1</a:t>
            </a:r>
            <a:r>
              <a:rPr lang="zh-CN" altLang="en-US" sz="1800" b="1" dirty="0">
                <a:solidFill>
                  <a:srgbClr val="000000"/>
                </a:solidFill>
                <a:latin typeface="宋体" panose="02010600030101010101" pitchFamily="2" charset="-122"/>
              </a:rPr>
              <a:t>美元</a:t>
            </a:r>
            <a:r>
              <a:rPr lang="en-US" altLang="zh-CN" sz="1800" b="1">
                <a:solidFill>
                  <a:srgbClr val="000000"/>
                </a:solidFill>
                <a:latin typeface="宋体" panose="02010600030101010101" pitchFamily="2" charset="-122"/>
              </a:rPr>
              <a:t>X4</a:t>
            </a:r>
            <a:r>
              <a:rPr lang="zh-CN" altLang="en-US" sz="1800" b="1" dirty="0">
                <a:solidFill>
                  <a:srgbClr val="000000"/>
                </a:solidFill>
                <a:latin typeface="宋体" panose="02010600030101010101" pitchFamily="2" charset="-122"/>
              </a:rPr>
              <a:t>个热狗</a:t>
            </a:r>
            <a:r>
              <a:rPr lang="en-US" altLang="zh-CN" sz="1800" b="1">
                <a:solidFill>
                  <a:srgbClr val="000000"/>
                </a:solidFill>
                <a:latin typeface="宋体" panose="02010600030101010101" pitchFamily="2" charset="-122"/>
              </a:rPr>
              <a:t>)+(</a:t>
            </a:r>
            <a:r>
              <a:rPr lang="zh-CN" altLang="en-US" sz="1800" b="1" dirty="0">
                <a:solidFill>
                  <a:srgbClr val="000000"/>
                </a:solidFill>
                <a:latin typeface="宋体" panose="02010600030101010101" pitchFamily="2" charset="-122"/>
              </a:rPr>
              <a:t>每个汉堡包</a:t>
            </a:r>
            <a:r>
              <a:rPr lang="en-US" altLang="zh-CN" sz="1800" b="1">
                <a:solidFill>
                  <a:srgbClr val="000000"/>
                </a:solidFill>
                <a:latin typeface="宋体" panose="02010600030101010101" pitchFamily="2" charset="-122"/>
              </a:rPr>
              <a:t>2</a:t>
            </a:r>
            <a:r>
              <a:rPr lang="zh-CN" altLang="en-US" sz="1800" b="1" dirty="0">
                <a:solidFill>
                  <a:srgbClr val="000000"/>
                </a:solidFill>
                <a:latin typeface="宋体" panose="02010600030101010101" pitchFamily="2" charset="-122"/>
              </a:rPr>
              <a:t>美元</a:t>
            </a:r>
            <a:r>
              <a:rPr lang="en-US" altLang="zh-CN" sz="1800" b="1">
                <a:solidFill>
                  <a:srgbClr val="000000"/>
                </a:solidFill>
                <a:latin typeface="宋体" panose="02010600030101010101" pitchFamily="2" charset="-122"/>
              </a:rPr>
              <a:t>X2</a:t>
            </a:r>
            <a:r>
              <a:rPr lang="zh-CN" altLang="en-US" sz="1800" b="1" dirty="0">
                <a:solidFill>
                  <a:srgbClr val="000000"/>
                </a:solidFill>
                <a:latin typeface="宋体" panose="02010600030101010101" pitchFamily="2" charset="-122"/>
              </a:rPr>
              <a:t>个汉堡包</a:t>
            </a:r>
            <a:r>
              <a:rPr lang="en-US" altLang="zh-CN" sz="1800" b="1">
                <a:solidFill>
                  <a:srgbClr val="000000"/>
                </a:solidFill>
                <a:latin typeface="宋体" panose="02010600030101010101" pitchFamily="2" charset="-122"/>
              </a:rPr>
              <a:t>)=8</a:t>
            </a:r>
            <a:r>
              <a:rPr lang="zh-CN" altLang="en-US" sz="1800" b="1" dirty="0">
                <a:solidFill>
                  <a:srgbClr val="000000"/>
                </a:solidFill>
                <a:latin typeface="宋体" panose="02010600030101010101" pitchFamily="2" charset="-122"/>
              </a:rPr>
              <a:t>美元</a:t>
            </a:r>
            <a:endParaRPr lang="zh-CN" altLang="en-US" sz="1800" b="1" dirty="0">
              <a:solidFill>
                <a:srgbClr val="000000"/>
              </a:solidFill>
              <a:latin typeface="宋体" panose="02010600030101010101" pitchFamily="2" charset="-122"/>
            </a:endParaRPr>
          </a:p>
          <a:p>
            <a:pPr marL="609600" indent="-609600">
              <a:lnSpc>
                <a:spcPct val="90000"/>
              </a:lnSpc>
              <a:buFont typeface="Wingdings" panose="05000000000000000000" pitchFamily="2" charset="2"/>
              <a:buAutoNum type="arabicPlain" startAt="2001"/>
            </a:pPr>
            <a:r>
              <a:rPr lang="zh-CN" altLang="en-US" sz="1800" b="1" dirty="0">
                <a:solidFill>
                  <a:srgbClr val="000000"/>
                </a:solidFill>
                <a:latin typeface="宋体" panose="02010600030101010101" pitchFamily="2" charset="-122"/>
              </a:rPr>
              <a:t> </a:t>
            </a:r>
            <a:r>
              <a:rPr lang="en-US" altLang="zh-CN" sz="1800" b="1">
                <a:solidFill>
                  <a:srgbClr val="000000"/>
                </a:solidFill>
                <a:latin typeface="宋体" panose="02010600030101010101" pitchFamily="2" charset="-122"/>
              </a:rPr>
              <a:t>(</a:t>
            </a:r>
            <a:r>
              <a:rPr lang="zh-CN" altLang="en-US" sz="1800" b="1" dirty="0">
                <a:solidFill>
                  <a:srgbClr val="000000"/>
                </a:solidFill>
                <a:latin typeface="宋体" panose="02010600030101010101" pitchFamily="2" charset="-122"/>
              </a:rPr>
              <a:t>每个热狗</a:t>
            </a:r>
            <a:r>
              <a:rPr lang="en-US" altLang="zh-CN" sz="1800" b="1">
                <a:solidFill>
                  <a:srgbClr val="000000"/>
                </a:solidFill>
                <a:latin typeface="宋体" panose="02010600030101010101" pitchFamily="2" charset="-122"/>
              </a:rPr>
              <a:t>2</a:t>
            </a:r>
            <a:r>
              <a:rPr lang="zh-CN" altLang="en-US" sz="1800" b="1" dirty="0">
                <a:solidFill>
                  <a:srgbClr val="000000"/>
                </a:solidFill>
                <a:latin typeface="宋体" panose="02010600030101010101" pitchFamily="2" charset="-122"/>
              </a:rPr>
              <a:t>美元</a:t>
            </a:r>
            <a:r>
              <a:rPr lang="en-US" altLang="zh-CN" sz="1800" b="1">
                <a:solidFill>
                  <a:srgbClr val="000000"/>
                </a:solidFill>
                <a:latin typeface="宋体" panose="02010600030101010101" pitchFamily="2" charset="-122"/>
              </a:rPr>
              <a:t>X4</a:t>
            </a:r>
            <a:r>
              <a:rPr lang="zh-CN" altLang="en-US" sz="1800" b="1" dirty="0">
                <a:solidFill>
                  <a:srgbClr val="000000"/>
                </a:solidFill>
                <a:latin typeface="宋体" panose="02010600030101010101" pitchFamily="2" charset="-122"/>
              </a:rPr>
              <a:t>个热狗</a:t>
            </a:r>
            <a:r>
              <a:rPr lang="en-US" altLang="zh-CN" sz="1800" b="1">
                <a:solidFill>
                  <a:srgbClr val="000000"/>
                </a:solidFill>
                <a:latin typeface="宋体" panose="02010600030101010101" pitchFamily="2" charset="-122"/>
              </a:rPr>
              <a:t>)+(</a:t>
            </a:r>
            <a:r>
              <a:rPr lang="zh-CN" altLang="en-US" sz="1800" b="1" dirty="0">
                <a:solidFill>
                  <a:srgbClr val="000000"/>
                </a:solidFill>
                <a:latin typeface="宋体" panose="02010600030101010101" pitchFamily="2" charset="-122"/>
              </a:rPr>
              <a:t>每个汉堡包</a:t>
            </a:r>
            <a:r>
              <a:rPr lang="en-US" altLang="zh-CN" sz="1800" b="1">
                <a:solidFill>
                  <a:srgbClr val="000000"/>
                </a:solidFill>
                <a:latin typeface="宋体" panose="02010600030101010101" pitchFamily="2" charset="-122"/>
              </a:rPr>
              <a:t>3</a:t>
            </a:r>
            <a:r>
              <a:rPr lang="zh-CN" altLang="en-US" sz="1800" b="1" dirty="0">
                <a:solidFill>
                  <a:srgbClr val="000000"/>
                </a:solidFill>
                <a:latin typeface="宋体" panose="02010600030101010101" pitchFamily="2" charset="-122"/>
              </a:rPr>
              <a:t>美元</a:t>
            </a:r>
            <a:r>
              <a:rPr lang="en-US" altLang="zh-CN" sz="1800" b="1">
                <a:solidFill>
                  <a:srgbClr val="000000"/>
                </a:solidFill>
                <a:latin typeface="宋体" panose="02010600030101010101" pitchFamily="2" charset="-122"/>
              </a:rPr>
              <a:t>X2</a:t>
            </a:r>
            <a:r>
              <a:rPr lang="zh-CN" altLang="en-US" sz="1800" b="1" dirty="0">
                <a:solidFill>
                  <a:srgbClr val="000000"/>
                </a:solidFill>
                <a:latin typeface="宋体" panose="02010600030101010101" pitchFamily="2" charset="-122"/>
              </a:rPr>
              <a:t>个汉堡包</a:t>
            </a:r>
            <a:r>
              <a:rPr lang="en-US" altLang="zh-CN" sz="1800" b="1">
                <a:solidFill>
                  <a:srgbClr val="000000"/>
                </a:solidFill>
                <a:latin typeface="宋体" panose="02010600030101010101" pitchFamily="2" charset="-122"/>
              </a:rPr>
              <a:t>)=14</a:t>
            </a:r>
            <a:r>
              <a:rPr lang="zh-CN" altLang="en-US" sz="1800" b="1" dirty="0">
                <a:solidFill>
                  <a:srgbClr val="000000"/>
                </a:solidFill>
                <a:latin typeface="宋体" panose="02010600030101010101" pitchFamily="2" charset="-122"/>
              </a:rPr>
              <a:t>美元</a:t>
            </a:r>
            <a:endParaRPr lang="zh-CN" altLang="en-US" sz="1800" b="1" dirty="0">
              <a:solidFill>
                <a:srgbClr val="000000"/>
              </a:solidFill>
              <a:latin typeface="宋体" panose="02010600030101010101" pitchFamily="2" charset="-122"/>
            </a:endParaRPr>
          </a:p>
          <a:p>
            <a:pPr marL="609600" indent="-609600">
              <a:lnSpc>
                <a:spcPct val="90000"/>
              </a:lnSpc>
              <a:buFont typeface="Wingdings" panose="05000000000000000000" pitchFamily="2" charset="2"/>
              <a:buAutoNum type="arabicPlain" startAt="2001"/>
            </a:pPr>
            <a:r>
              <a:rPr lang="zh-CN" altLang="en-US" sz="1800" b="1" dirty="0">
                <a:solidFill>
                  <a:srgbClr val="000000"/>
                </a:solidFill>
                <a:latin typeface="宋体" panose="02010600030101010101" pitchFamily="2" charset="-122"/>
              </a:rPr>
              <a:t> </a:t>
            </a:r>
            <a:r>
              <a:rPr lang="en-US" altLang="zh-CN" sz="1800" b="1">
                <a:solidFill>
                  <a:srgbClr val="000000"/>
                </a:solidFill>
                <a:latin typeface="宋体" panose="02010600030101010101" pitchFamily="2" charset="-122"/>
              </a:rPr>
              <a:t>(</a:t>
            </a:r>
            <a:r>
              <a:rPr lang="zh-CN" altLang="en-US" sz="1800" b="1" dirty="0">
                <a:solidFill>
                  <a:srgbClr val="000000"/>
                </a:solidFill>
                <a:latin typeface="宋体" panose="02010600030101010101" pitchFamily="2" charset="-122"/>
              </a:rPr>
              <a:t>每个热狗</a:t>
            </a:r>
            <a:r>
              <a:rPr lang="en-US" altLang="zh-CN" sz="1800" b="1">
                <a:solidFill>
                  <a:srgbClr val="000000"/>
                </a:solidFill>
                <a:latin typeface="宋体" panose="02010600030101010101" pitchFamily="2" charset="-122"/>
              </a:rPr>
              <a:t>3</a:t>
            </a:r>
            <a:r>
              <a:rPr lang="zh-CN" altLang="en-US" sz="1800" b="1" dirty="0">
                <a:solidFill>
                  <a:srgbClr val="000000"/>
                </a:solidFill>
                <a:latin typeface="宋体" panose="02010600030101010101" pitchFamily="2" charset="-122"/>
              </a:rPr>
              <a:t>美元</a:t>
            </a:r>
            <a:r>
              <a:rPr lang="en-US" altLang="zh-CN" sz="1800" b="1">
                <a:solidFill>
                  <a:srgbClr val="000000"/>
                </a:solidFill>
                <a:latin typeface="宋体" panose="02010600030101010101" pitchFamily="2" charset="-122"/>
              </a:rPr>
              <a:t>X4</a:t>
            </a:r>
            <a:r>
              <a:rPr lang="zh-CN" altLang="en-US" sz="1800" b="1" dirty="0">
                <a:solidFill>
                  <a:srgbClr val="000000"/>
                </a:solidFill>
                <a:latin typeface="宋体" panose="02010600030101010101" pitchFamily="2" charset="-122"/>
              </a:rPr>
              <a:t>个热狗</a:t>
            </a:r>
            <a:r>
              <a:rPr lang="en-US" altLang="zh-CN" sz="1800" b="1">
                <a:solidFill>
                  <a:srgbClr val="000000"/>
                </a:solidFill>
                <a:latin typeface="宋体" panose="02010600030101010101" pitchFamily="2" charset="-122"/>
              </a:rPr>
              <a:t>)+(</a:t>
            </a:r>
            <a:r>
              <a:rPr lang="zh-CN" altLang="en-US" sz="1800" b="1" dirty="0">
                <a:solidFill>
                  <a:srgbClr val="000000"/>
                </a:solidFill>
                <a:latin typeface="宋体" panose="02010600030101010101" pitchFamily="2" charset="-122"/>
              </a:rPr>
              <a:t>每个汉堡包</a:t>
            </a:r>
            <a:r>
              <a:rPr lang="en-US" altLang="zh-CN" sz="1800" b="1">
                <a:solidFill>
                  <a:srgbClr val="000000"/>
                </a:solidFill>
                <a:latin typeface="宋体" panose="02010600030101010101" pitchFamily="2" charset="-122"/>
              </a:rPr>
              <a:t>4</a:t>
            </a:r>
            <a:r>
              <a:rPr lang="zh-CN" altLang="en-US" sz="1800" b="1" dirty="0">
                <a:solidFill>
                  <a:srgbClr val="000000"/>
                </a:solidFill>
                <a:latin typeface="宋体" panose="02010600030101010101" pitchFamily="2" charset="-122"/>
              </a:rPr>
              <a:t>美元</a:t>
            </a:r>
            <a:r>
              <a:rPr lang="en-US" altLang="zh-CN" sz="1800" b="1">
                <a:solidFill>
                  <a:srgbClr val="000000"/>
                </a:solidFill>
                <a:latin typeface="宋体" panose="02010600030101010101" pitchFamily="2" charset="-122"/>
              </a:rPr>
              <a:t>X2</a:t>
            </a:r>
            <a:r>
              <a:rPr lang="zh-CN" altLang="en-US" sz="1800" b="1" dirty="0">
                <a:solidFill>
                  <a:srgbClr val="000000"/>
                </a:solidFill>
                <a:latin typeface="宋体" panose="02010600030101010101" pitchFamily="2" charset="-122"/>
              </a:rPr>
              <a:t>个汉堡包</a:t>
            </a:r>
            <a:r>
              <a:rPr lang="en-US" altLang="zh-CN" sz="1800" b="1">
                <a:solidFill>
                  <a:srgbClr val="000000"/>
                </a:solidFill>
                <a:latin typeface="宋体" panose="02010600030101010101" pitchFamily="2" charset="-122"/>
              </a:rPr>
              <a:t>)=14</a:t>
            </a:r>
            <a:r>
              <a:rPr lang="zh-CN" altLang="en-US" sz="1800" b="1" dirty="0">
                <a:solidFill>
                  <a:srgbClr val="000000"/>
                </a:solidFill>
                <a:latin typeface="宋体" panose="02010600030101010101" pitchFamily="2" charset="-122"/>
              </a:rPr>
              <a:t>美元</a:t>
            </a:r>
            <a:endParaRPr lang="zh-CN" altLang="en-US" sz="1800" b="1" dirty="0">
              <a:solidFill>
                <a:srgbClr val="000000"/>
              </a:solidFill>
              <a:latin typeface="宋体" panose="02010600030101010101" pitchFamily="2" charset="-122"/>
            </a:endParaRPr>
          </a:p>
          <a:p>
            <a:pPr marL="609600" indent="-609600">
              <a:lnSpc>
                <a:spcPct val="90000"/>
              </a:lnSpc>
              <a:buFont typeface="Wingdings" panose="05000000000000000000" pitchFamily="2" charset="2"/>
              <a:buNone/>
            </a:pPr>
            <a:r>
              <a:rPr lang="zh-CN" altLang="en-US" sz="1800" b="1" dirty="0">
                <a:solidFill>
                  <a:srgbClr val="FF0000"/>
                </a:solidFill>
                <a:latin typeface="宋体" panose="02010600030101010101" pitchFamily="2" charset="-122"/>
              </a:rPr>
              <a:t>第四步</a:t>
            </a:r>
            <a:r>
              <a:rPr lang="en-US" altLang="zh-CN" sz="1800" b="1">
                <a:solidFill>
                  <a:srgbClr val="FF0000"/>
                </a:solidFill>
                <a:latin typeface="宋体" panose="02010600030101010101" pitchFamily="2" charset="-122"/>
              </a:rPr>
              <a:t>:</a:t>
            </a:r>
            <a:r>
              <a:rPr lang="zh-CN" altLang="en-US" sz="1800" b="1" dirty="0">
                <a:solidFill>
                  <a:srgbClr val="FF0000"/>
                </a:solidFill>
                <a:latin typeface="宋体" panose="02010600030101010101" pitchFamily="2" charset="-122"/>
              </a:rPr>
              <a:t>选择一年作为基年</a:t>
            </a:r>
            <a:r>
              <a:rPr lang="en-US" altLang="zh-CN" sz="1800" b="1">
                <a:solidFill>
                  <a:srgbClr val="FF0000"/>
                </a:solidFill>
                <a:latin typeface="宋体" panose="02010600030101010101" pitchFamily="2" charset="-122"/>
              </a:rPr>
              <a:t>(2001</a:t>
            </a:r>
            <a:r>
              <a:rPr lang="zh-CN" altLang="en-US" sz="1800" b="1" dirty="0">
                <a:solidFill>
                  <a:srgbClr val="FF0000"/>
                </a:solidFill>
                <a:latin typeface="宋体" panose="02010600030101010101" pitchFamily="2" charset="-122"/>
              </a:rPr>
              <a:t>年</a:t>
            </a:r>
            <a:r>
              <a:rPr lang="en-US" altLang="zh-CN" sz="1800" b="1">
                <a:solidFill>
                  <a:srgbClr val="FF0000"/>
                </a:solidFill>
                <a:latin typeface="宋体" panose="02010600030101010101" pitchFamily="2" charset="-122"/>
              </a:rPr>
              <a:t>)</a:t>
            </a:r>
            <a:r>
              <a:rPr lang="zh-CN" altLang="en-US" sz="1800" b="1" dirty="0">
                <a:solidFill>
                  <a:srgbClr val="FF0000"/>
                </a:solidFill>
                <a:latin typeface="宋体" panose="02010600030101010101" pitchFamily="2" charset="-122"/>
              </a:rPr>
              <a:t>并计算每年的消费物价指数</a:t>
            </a:r>
            <a:endParaRPr lang="zh-CN" altLang="en-US" sz="1800" b="1" dirty="0">
              <a:solidFill>
                <a:srgbClr val="FF0000"/>
              </a:solidFill>
              <a:latin typeface="宋体" panose="02010600030101010101" pitchFamily="2" charset="-122"/>
            </a:endParaRPr>
          </a:p>
          <a:p>
            <a:pPr marL="609600" indent="-609600">
              <a:lnSpc>
                <a:spcPct val="90000"/>
              </a:lnSpc>
              <a:buFont typeface="Wingdings" panose="05000000000000000000" pitchFamily="2" charset="2"/>
              <a:buNone/>
            </a:pPr>
            <a:r>
              <a:rPr lang="zh-CN" altLang="en-US" sz="1800" b="1" dirty="0">
                <a:solidFill>
                  <a:srgbClr val="000000"/>
                </a:solidFill>
                <a:latin typeface="宋体" panose="02010600030101010101" pitchFamily="2" charset="-122"/>
              </a:rPr>
              <a:t>年份          消费物价指数</a:t>
            </a:r>
            <a:endParaRPr lang="zh-CN" altLang="en-US" sz="1800" b="1" dirty="0">
              <a:solidFill>
                <a:srgbClr val="000000"/>
              </a:solidFill>
              <a:latin typeface="宋体" panose="02010600030101010101" pitchFamily="2" charset="-122"/>
            </a:endParaRPr>
          </a:p>
          <a:p>
            <a:pPr marL="609600" indent="-609600">
              <a:lnSpc>
                <a:spcPct val="90000"/>
              </a:lnSpc>
              <a:buFont typeface="Wingdings" panose="05000000000000000000" pitchFamily="2" charset="2"/>
              <a:buAutoNum type="arabicPlain" startAt="2001"/>
            </a:pPr>
            <a:r>
              <a:rPr lang="zh-CN" altLang="en-US" sz="1800" b="1" dirty="0">
                <a:solidFill>
                  <a:srgbClr val="000000"/>
                </a:solidFill>
                <a:latin typeface="宋体" panose="02010600030101010101" pitchFamily="2" charset="-122"/>
              </a:rPr>
              <a:t>     </a:t>
            </a:r>
            <a:r>
              <a:rPr lang="en-US" altLang="zh-CN" sz="1800" b="1">
                <a:solidFill>
                  <a:srgbClr val="000000"/>
                </a:solidFill>
                <a:latin typeface="宋体" panose="02010600030101010101" pitchFamily="2" charset="-122"/>
              </a:rPr>
              <a:t>(8</a:t>
            </a:r>
            <a:r>
              <a:rPr lang="zh-CN" altLang="en-US" sz="1800" b="1" dirty="0">
                <a:solidFill>
                  <a:srgbClr val="000000"/>
                </a:solidFill>
                <a:latin typeface="宋体" panose="02010600030101010101" pitchFamily="2" charset="-122"/>
              </a:rPr>
              <a:t>美元</a:t>
            </a:r>
            <a:r>
              <a:rPr lang="en-US" altLang="zh-CN" sz="1800" b="1">
                <a:solidFill>
                  <a:srgbClr val="000000"/>
                </a:solidFill>
                <a:latin typeface="宋体" panose="02010600030101010101" pitchFamily="2" charset="-122"/>
              </a:rPr>
              <a:t>/8</a:t>
            </a:r>
            <a:r>
              <a:rPr lang="zh-CN" altLang="en-US" sz="1800" b="1" dirty="0">
                <a:solidFill>
                  <a:srgbClr val="000000"/>
                </a:solidFill>
                <a:latin typeface="宋体" panose="02010600030101010101" pitchFamily="2" charset="-122"/>
              </a:rPr>
              <a:t>美元</a:t>
            </a:r>
            <a:r>
              <a:rPr lang="en-US" altLang="zh-CN" sz="1800" b="1">
                <a:solidFill>
                  <a:srgbClr val="000000"/>
                </a:solidFill>
                <a:latin typeface="宋体" panose="02010600030101010101" pitchFamily="2" charset="-122"/>
              </a:rPr>
              <a:t>)X100=100</a:t>
            </a:r>
            <a:endParaRPr lang="en-US" altLang="zh-CN" sz="1800" b="1">
              <a:solidFill>
                <a:srgbClr val="000000"/>
              </a:solidFill>
              <a:latin typeface="宋体" panose="02010600030101010101" pitchFamily="2" charset="-122"/>
            </a:endParaRPr>
          </a:p>
          <a:p>
            <a:pPr marL="609600" indent="-609600">
              <a:lnSpc>
                <a:spcPct val="90000"/>
              </a:lnSpc>
              <a:buFont typeface="Wingdings" panose="05000000000000000000" pitchFamily="2" charset="2"/>
              <a:buAutoNum type="arabicPlain" startAt="2001"/>
            </a:pPr>
            <a:r>
              <a:rPr lang="en-US" altLang="zh-CN" sz="1800" b="1">
                <a:solidFill>
                  <a:srgbClr val="000000"/>
                </a:solidFill>
                <a:latin typeface="宋体" panose="02010600030101010101" pitchFamily="2" charset="-122"/>
              </a:rPr>
              <a:t>     (14</a:t>
            </a:r>
            <a:r>
              <a:rPr lang="zh-CN" altLang="en-US" sz="1800" b="1" dirty="0">
                <a:solidFill>
                  <a:srgbClr val="000000"/>
                </a:solidFill>
                <a:latin typeface="宋体" panose="02010600030101010101" pitchFamily="2" charset="-122"/>
              </a:rPr>
              <a:t>美元</a:t>
            </a:r>
            <a:r>
              <a:rPr lang="en-US" altLang="zh-CN" sz="1800" b="1">
                <a:solidFill>
                  <a:srgbClr val="000000"/>
                </a:solidFill>
                <a:latin typeface="宋体" panose="02010600030101010101" pitchFamily="2" charset="-122"/>
              </a:rPr>
              <a:t>/8</a:t>
            </a:r>
            <a:r>
              <a:rPr lang="zh-CN" altLang="en-US" sz="1800" b="1" dirty="0">
                <a:solidFill>
                  <a:srgbClr val="000000"/>
                </a:solidFill>
                <a:latin typeface="宋体" panose="02010600030101010101" pitchFamily="2" charset="-122"/>
              </a:rPr>
              <a:t>美元</a:t>
            </a:r>
            <a:r>
              <a:rPr lang="en-US" altLang="zh-CN" sz="1800" b="1">
                <a:solidFill>
                  <a:srgbClr val="000000"/>
                </a:solidFill>
                <a:latin typeface="宋体" panose="02010600030101010101" pitchFamily="2" charset="-122"/>
              </a:rPr>
              <a:t>)X100=175</a:t>
            </a:r>
            <a:endParaRPr lang="en-US" altLang="zh-CN" sz="1800" b="1">
              <a:solidFill>
                <a:srgbClr val="000000"/>
              </a:solidFill>
              <a:latin typeface="宋体" panose="02010600030101010101" pitchFamily="2" charset="-122"/>
            </a:endParaRPr>
          </a:p>
          <a:p>
            <a:pPr marL="609600" indent="-609600">
              <a:lnSpc>
                <a:spcPct val="90000"/>
              </a:lnSpc>
              <a:buFont typeface="Wingdings" panose="05000000000000000000" pitchFamily="2" charset="2"/>
              <a:buAutoNum type="arabicPlain" startAt="2001"/>
            </a:pPr>
            <a:r>
              <a:rPr lang="en-US" altLang="zh-CN" sz="1800" b="1">
                <a:solidFill>
                  <a:srgbClr val="000000"/>
                </a:solidFill>
                <a:latin typeface="宋体" panose="02010600030101010101" pitchFamily="2" charset="-122"/>
              </a:rPr>
              <a:t>     (20</a:t>
            </a:r>
            <a:r>
              <a:rPr lang="zh-CN" altLang="en-US" sz="1800" b="1" dirty="0">
                <a:solidFill>
                  <a:srgbClr val="000000"/>
                </a:solidFill>
                <a:latin typeface="宋体" panose="02010600030101010101" pitchFamily="2" charset="-122"/>
              </a:rPr>
              <a:t>美元</a:t>
            </a:r>
            <a:r>
              <a:rPr lang="en-US" altLang="zh-CN" sz="1800" b="1">
                <a:solidFill>
                  <a:srgbClr val="000000"/>
                </a:solidFill>
                <a:latin typeface="宋体" panose="02010600030101010101" pitchFamily="2" charset="-122"/>
              </a:rPr>
              <a:t>/8</a:t>
            </a:r>
            <a:r>
              <a:rPr lang="zh-CN" altLang="en-US" sz="1800" b="1" dirty="0">
                <a:solidFill>
                  <a:srgbClr val="000000"/>
                </a:solidFill>
                <a:latin typeface="宋体" panose="02010600030101010101" pitchFamily="2" charset="-122"/>
              </a:rPr>
              <a:t>美元</a:t>
            </a:r>
            <a:r>
              <a:rPr lang="en-US" altLang="zh-CN" sz="1800" b="1">
                <a:solidFill>
                  <a:srgbClr val="000000"/>
                </a:solidFill>
                <a:latin typeface="宋体" panose="02010600030101010101" pitchFamily="2" charset="-122"/>
              </a:rPr>
              <a:t>)X100=250</a:t>
            </a:r>
            <a:endParaRPr lang="en-US" altLang="zh-CN" sz="1800" b="1">
              <a:solidFill>
                <a:srgbClr val="000000"/>
              </a:solidFill>
              <a:latin typeface="宋体" panose="02010600030101010101" pitchFamily="2" charset="-122"/>
            </a:endParaRPr>
          </a:p>
          <a:p>
            <a:pPr marL="609600" indent="-609600">
              <a:lnSpc>
                <a:spcPct val="90000"/>
              </a:lnSpc>
              <a:buFont typeface="Wingdings" panose="05000000000000000000" pitchFamily="2" charset="2"/>
              <a:buNone/>
            </a:pPr>
            <a:r>
              <a:rPr lang="zh-CN" altLang="en-US" sz="1800" b="1" dirty="0">
                <a:solidFill>
                  <a:srgbClr val="FF0000"/>
                </a:solidFill>
                <a:latin typeface="宋体" panose="02010600030101010101" pitchFamily="2" charset="-122"/>
              </a:rPr>
              <a:t>第五步</a:t>
            </a:r>
            <a:r>
              <a:rPr lang="en-US" altLang="zh-CN" sz="1800" b="1">
                <a:solidFill>
                  <a:srgbClr val="FF0000"/>
                </a:solidFill>
                <a:latin typeface="宋体" panose="02010600030101010101" pitchFamily="2" charset="-122"/>
              </a:rPr>
              <a:t>:</a:t>
            </a:r>
            <a:r>
              <a:rPr lang="zh-CN" altLang="en-US" sz="1800" b="1" dirty="0">
                <a:solidFill>
                  <a:srgbClr val="FF0000"/>
                </a:solidFill>
                <a:latin typeface="宋体" panose="02010600030101010101" pitchFamily="2" charset="-122"/>
              </a:rPr>
              <a:t>用消费物价指数计算自上一年以来的通货膨胀率</a:t>
            </a:r>
            <a:endParaRPr lang="zh-CN" altLang="en-US" sz="1800" b="1" dirty="0">
              <a:solidFill>
                <a:srgbClr val="FF0000"/>
              </a:solidFill>
              <a:latin typeface="宋体" panose="02010600030101010101" pitchFamily="2" charset="-122"/>
            </a:endParaRPr>
          </a:p>
          <a:p>
            <a:pPr marL="609600" indent="-609600">
              <a:lnSpc>
                <a:spcPct val="90000"/>
              </a:lnSpc>
              <a:buFont typeface="Wingdings" panose="05000000000000000000" pitchFamily="2" charset="2"/>
              <a:buNone/>
            </a:pPr>
            <a:r>
              <a:rPr lang="zh-CN" altLang="en-US" sz="1800" b="1" dirty="0">
                <a:solidFill>
                  <a:srgbClr val="000000"/>
                </a:solidFill>
                <a:latin typeface="宋体" panose="02010600030101010101" pitchFamily="2" charset="-122"/>
              </a:rPr>
              <a:t>年份         通货膨胀率</a:t>
            </a:r>
            <a:r>
              <a:rPr lang="en-US" altLang="zh-CN" sz="1800" b="1">
                <a:solidFill>
                  <a:srgbClr val="000000"/>
                </a:solidFill>
                <a:latin typeface="宋体" panose="02010600030101010101" pitchFamily="2" charset="-122"/>
              </a:rPr>
              <a:t>(%)</a:t>
            </a:r>
            <a:endParaRPr lang="en-US" altLang="zh-CN" sz="1800" b="1">
              <a:solidFill>
                <a:srgbClr val="000000"/>
              </a:solidFill>
              <a:latin typeface="宋体" panose="02010600030101010101" pitchFamily="2" charset="-122"/>
            </a:endParaRPr>
          </a:p>
          <a:p>
            <a:pPr marL="609600" indent="-609600">
              <a:lnSpc>
                <a:spcPct val="90000"/>
              </a:lnSpc>
              <a:buFont typeface="Wingdings" panose="05000000000000000000" pitchFamily="2" charset="2"/>
              <a:buAutoNum type="arabicPlain" startAt="2002"/>
            </a:pPr>
            <a:r>
              <a:rPr lang="en-US" altLang="zh-CN" sz="1800" b="1">
                <a:solidFill>
                  <a:srgbClr val="000000"/>
                </a:solidFill>
                <a:latin typeface="宋体" panose="02010600030101010101" pitchFamily="2" charset="-122"/>
              </a:rPr>
              <a:t>     (175-100)/100=75 </a:t>
            </a:r>
            <a:endParaRPr lang="en-US" altLang="zh-CN" sz="1800" b="1">
              <a:solidFill>
                <a:srgbClr val="000000"/>
              </a:solidFill>
              <a:latin typeface="宋体" panose="02010600030101010101" pitchFamily="2" charset="-122"/>
            </a:endParaRPr>
          </a:p>
          <a:p>
            <a:pPr marL="609600" indent="-609600">
              <a:lnSpc>
                <a:spcPct val="90000"/>
              </a:lnSpc>
              <a:buFont typeface="Wingdings" panose="05000000000000000000" pitchFamily="2" charset="2"/>
              <a:buAutoNum type="arabicPlain" startAt="2002"/>
            </a:pPr>
            <a:r>
              <a:rPr lang="en-US" altLang="zh-CN" sz="1800" b="1">
                <a:solidFill>
                  <a:srgbClr val="000000"/>
                </a:solidFill>
                <a:latin typeface="宋体" panose="02010600030101010101" pitchFamily="2" charset="-122"/>
              </a:rPr>
              <a:t>     (250-175)/100=43 </a:t>
            </a:r>
            <a:endParaRPr lang="en-US" altLang="zh-CN" sz="1800" b="1">
              <a:solidFill>
                <a:srgbClr val="000000"/>
              </a:solidFill>
              <a:latin typeface="宋体" panose="02010600030101010101" pitchFamily="2" charset="-122"/>
            </a:endParaRPr>
          </a:p>
          <a:p>
            <a:pPr marL="609600" indent="-609600">
              <a:lnSpc>
                <a:spcPct val="90000"/>
              </a:lnSpc>
              <a:buNone/>
            </a:pPr>
            <a:endParaRPr lang="en-US" altLang="zh-CN" sz="1800" b="1">
              <a:solidFill>
                <a:srgbClr val="000000"/>
              </a:solidFill>
              <a:latin typeface="宋体" panose="02010600030101010101" pitchFamily="2" charset="-122"/>
            </a:endParaRPr>
          </a:p>
          <a:p>
            <a:pPr marL="609600" indent="-609600">
              <a:lnSpc>
                <a:spcPct val="90000"/>
              </a:lnSpc>
            </a:pPr>
            <a:endParaRPr lang="en-US" altLang="zh-CN" sz="1800" b="1">
              <a:solidFill>
                <a:srgbClr val="000000"/>
              </a:solidFill>
              <a:latin typeface="宋体" panose="02010600030101010101" pitchFamily="2" charset="-122"/>
            </a:endParaRPr>
          </a:p>
          <a:p>
            <a:pPr marL="609600" indent="-609600">
              <a:lnSpc>
                <a:spcPct val="90000"/>
              </a:lnSpc>
              <a:buNone/>
            </a:pPr>
            <a:endParaRPr lang="en-US" altLang="zh-CN" sz="1800" b="1">
              <a:solidFill>
                <a:srgbClr val="000000"/>
              </a:solidFill>
              <a:latin typeface="宋体" panose="02010600030101010101" pitchFamily="2" charset="-122"/>
            </a:endParaRPr>
          </a:p>
          <a:p>
            <a:pPr marL="609600" indent="-609600">
              <a:lnSpc>
                <a:spcPct val="90000"/>
              </a:lnSpc>
              <a:buNone/>
            </a:pPr>
            <a:endParaRPr lang="en-US" altLang="zh-CN" sz="2800" b="1">
              <a:solidFill>
                <a:srgbClr val="FF0000"/>
              </a:solidFill>
            </a:endParaRPr>
          </a:p>
          <a:p>
            <a:pPr marL="609600" indent="-609600">
              <a:lnSpc>
                <a:spcPct val="90000"/>
              </a:lnSpc>
              <a:buNone/>
            </a:pPr>
            <a:endParaRPr lang="en-US" altLang="zh-CN" sz="2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标题 54273"/>
          <p:cNvSpPr>
            <a:spLocks noGrp="1"/>
          </p:cNvSpPr>
          <p:nvPr>
            <p:ph type="title"/>
          </p:nvPr>
        </p:nvSpPr>
        <p:spPr>
          <a:xfrm>
            <a:off x="684213" y="333375"/>
            <a:ext cx="7772400" cy="1143000"/>
          </a:xfrm>
          <a:ln/>
        </p:spPr>
        <p:txBody>
          <a:bodyPr anchor="ctr" anchorCtr="0"/>
          <a:p>
            <a:pPr algn="l"/>
            <a:r>
              <a:rPr lang="zh-CN" altLang="en-US" sz="3600" b="1" dirty="0">
                <a:solidFill>
                  <a:srgbClr val="000000"/>
                </a:solidFill>
                <a:latin typeface="隶书" panose="02010509060101010101" pitchFamily="49" charset="-122"/>
                <a:ea typeface="隶书" panose="02010509060101010101" pitchFamily="49" charset="-122"/>
              </a:rPr>
              <a:t>计算物价指数时究竟出现什么弊端，导致通胀水平高估了呢</a:t>
            </a:r>
            <a:r>
              <a:rPr lang="en-US" altLang="zh-CN" sz="3600" b="1">
                <a:solidFill>
                  <a:srgbClr val="000000"/>
                </a:solidFill>
                <a:latin typeface="隶书" panose="02010509060101010101" pitchFamily="49" charset="-122"/>
                <a:ea typeface="隶书" panose="02010509060101010101" pitchFamily="49" charset="-122"/>
              </a:rPr>
              <a:t>?</a:t>
            </a:r>
            <a:r>
              <a:rPr lang="zh-CN" altLang="en-US" sz="3600" b="1" dirty="0">
                <a:solidFill>
                  <a:srgbClr val="000000"/>
                </a:solidFill>
                <a:latin typeface="隶书" panose="02010509060101010101" pitchFamily="49" charset="-122"/>
                <a:ea typeface="隶书" panose="02010509060101010101" pitchFamily="49" charset="-122"/>
              </a:rPr>
              <a:t>原因如下</a:t>
            </a:r>
            <a:r>
              <a:rPr lang="en-US" altLang="zh-CN" sz="3600" b="1">
                <a:solidFill>
                  <a:srgbClr val="000000"/>
                </a:solidFill>
                <a:latin typeface="隶书" panose="02010509060101010101" pitchFamily="49" charset="-122"/>
                <a:ea typeface="隶书" panose="02010509060101010101" pitchFamily="49" charset="-122"/>
              </a:rPr>
              <a:t>:</a:t>
            </a:r>
            <a:endParaRPr lang="en-US" altLang="zh-CN" sz="3600" b="1">
              <a:solidFill>
                <a:srgbClr val="000000"/>
              </a:solidFill>
              <a:latin typeface="隶书" panose="02010509060101010101" pitchFamily="49" charset="-122"/>
              <a:ea typeface="隶书" panose="02010509060101010101" pitchFamily="49" charset="-122"/>
            </a:endParaRPr>
          </a:p>
        </p:txBody>
      </p:sp>
      <p:sp>
        <p:nvSpPr>
          <p:cNvPr id="54275" name="文本占位符 54274"/>
          <p:cNvSpPr>
            <a:spLocks noGrp="1"/>
          </p:cNvSpPr>
          <p:nvPr>
            <p:ph type="body" idx="1"/>
          </p:nvPr>
        </p:nvSpPr>
        <p:spPr>
          <a:xfrm>
            <a:off x="304800" y="1524000"/>
            <a:ext cx="8610600" cy="4495800"/>
          </a:xfrm>
          <a:ln/>
        </p:spPr>
        <p:txBody>
          <a:bodyPr/>
          <a:p>
            <a:pPr>
              <a:buNone/>
            </a:pPr>
            <a:r>
              <a:rPr lang="en-US" altLang="zh-CN">
                <a:solidFill>
                  <a:srgbClr val="000000"/>
                </a:solidFill>
                <a:latin typeface="宋体" panose="02010600030101010101" pitchFamily="2" charset="-122"/>
              </a:rPr>
              <a:t>1</a:t>
            </a:r>
            <a:r>
              <a:rPr lang="zh-CN" altLang="en-US" dirty="0">
                <a:solidFill>
                  <a:srgbClr val="000000"/>
                </a:solidFill>
                <a:latin typeface="宋体" panose="02010600030101010101" pitchFamily="2" charset="-122"/>
              </a:rPr>
              <a:t>、计算物价指数时，假设了消费者在不同时期内消费同等数量的产品，但在现实生活中，这是不可能。</a:t>
            </a:r>
            <a:r>
              <a:rPr lang="en-US" altLang="zh-CN">
                <a:solidFill>
                  <a:srgbClr val="000000"/>
                </a:solidFill>
                <a:latin typeface="宋体" panose="02010600030101010101" pitchFamily="2" charset="-122"/>
              </a:rPr>
              <a:t>(</a:t>
            </a:r>
            <a:r>
              <a:rPr lang="zh-CN" altLang="en-US" dirty="0">
                <a:solidFill>
                  <a:srgbClr val="000000"/>
                </a:solidFill>
                <a:latin typeface="宋体" panose="02010600030101010101" pitchFamily="2" charset="-122"/>
              </a:rPr>
              <a:t>人们会减少购买昂贵的产品。</a:t>
            </a:r>
            <a:r>
              <a:rPr lang="en-US" altLang="zh-CN">
                <a:solidFill>
                  <a:srgbClr val="000000"/>
                </a:solidFill>
                <a:latin typeface="宋体" panose="02010600030101010101" pitchFamily="2" charset="-122"/>
              </a:rPr>
              <a:t>)</a:t>
            </a:r>
            <a:endParaRPr lang="en-US" altLang="zh-CN">
              <a:solidFill>
                <a:srgbClr val="000000"/>
              </a:solidFill>
              <a:latin typeface="宋体" panose="02010600030101010101" pitchFamily="2" charset="-122"/>
            </a:endParaRPr>
          </a:p>
          <a:p>
            <a:pPr>
              <a:buNone/>
            </a:pPr>
            <a:r>
              <a:rPr lang="en-US" altLang="zh-CN">
                <a:solidFill>
                  <a:srgbClr val="000000"/>
                </a:solidFill>
                <a:latin typeface="宋体" panose="02010600030101010101" pitchFamily="2" charset="-122"/>
              </a:rPr>
              <a:t>2</a:t>
            </a:r>
            <a:r>
              <a:rPr lang="zh-CN" altLang="en-US" dirty="0">
                <a:solidFill>
                  <a:srgbClr val="000000"/>
                </a:solidFill>
                <a:latin typeface="宋体" panose="02010600030101010101" pitchFamily="2" charset="-122"/>
              </a:rPr>
              <a:t>、当计算物价指数时，并没有考虑产品品质的变化。</a:t>
            </a:r>
            <a:r>
              <a:rPr lang="en-US" altLang="zh-CN">
                <a:solidFill>
                  <a:srgbClr val="000000"/>
                </a:solidFill>
                <a:latin typeface="宋体" panose="02010600030101010101" pitchFamily="2" charset="-122"/>
              </a:rPr>
              <a:t>(</a:t>
            </a:r>
            <a:r>
              <a:rPr lang="zh-CN" altLang="en-US" dirty="0">
                <a:solidFill>
                  <a:srgbClr val="000000"/>
                </a:solidFill>
                <a:latin typeface="宋体" panose="02010600030101010101" pitchFamily="2" charset="-122"/>
              </a:rPr>
              <a:t>新产品都更耐用。</a:t>
            </a:r>
            <a:r>
              <a:rPr lang="en-US" altLang="zh-CN">
                <a:solidFill>
                  <a:srgbClr val="000000"/>
                </a:solidFill>
                <a:latin typeface="宋体" panose="02010600030101010101" pitchFamily="2" charset="-122"/>
              </a:rPr>
              <a:t>)</a:t>
            </a:r>
            <a:endParaRPr lang="en-US" altLang="zh-CN">
              <a:solidFill>
                <a:srgbClr val="000000"/>
              </a:solidFill>
              <a:latin typeface="宋体" panose="02010600030101010101" pitchFamily="2" charset="-122"/>
            </a:endParaRPr>
          </a:p>
          <a:p>
            <a:pPr>
              <a:buNone/>
            </a:pPr>
            <a:r>
              <a:rPr lang="en-US" altLang="zh-CN">
                <a:solidFill>
                  <a:srgbClr val="000000"/>
                </a:solidFill>
                <a:latin typeface="宋体" panose="02010600030101010101" pitchFamily="2" charset="-122"/>
              </a:rPr>
              <a:t>3</a:t>
            </a:r>
            <a:r>
              <a:rPr lang="zh-CN" altLang="en-US" dirty="0">
                <a:solidFill>
                  <a:srgbClr val="000000"/>
                </a:solidFill>
                <a:latin typeface="宋体" panose="02010600030101010101" pitchFamily="2" charset="-122"/>
              </a:rPr>
              <a:t>、技术上的问题。计箅物价指数需要搜集大量的数据，在这个过程中，很容易会出现错误。</a:t>
            </a:r>
            <a:endParaRPr lang="zh-CN" altLang="en-US">
              <a:solidFill>
                <a:srgbClr val="000000"/>
              </a:solidFill>
              <a:latin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标题 55297"/>
          <p:cNvSpPr>
            <a:spLocks noGrp="1"/>
          </p:cNvSpPr>
          <p:nvPr>
            <p:ph type="title"/>
          </p:nvPr>
        </p:nvSpPr>
        <p:spPr>
          <a:xfrm>
            <a:off x="609600" y="404813"/>
            <a:ext cx="7696200" cy="5761037"/>
          </a:xfrm>
          <a:ln/>
        </p:spPr>
        <p:txBody>
          <a:bodyPr anchor="ctr" anchorCtr="0"/>
          <a:p>
            <a:pPr algn="l"/>
            <a:r>
              <a:rPr lang="zh-CN" altLang="en-US" sz="3600" b="1" dirty="0">
                <a:solidFill>
                  <a:srgbClr val="000000"/>
                </a:solidFill>
                <a:latin typeface="楷体" panose="02010609060101010101" pitchFamily="49" charset="-122"/>
                <a:ea typeface="楷体" panose="02010609060101010101" pitchFamily="49" charset="-122"/>
              </a:rPr>
              <a:t>平</a:t>
            </a:r>
            <a:r>
              <a:rPr lang="zh-CN" altLang="en-US" sz="3600" b="1">
                <a:solidFill>
                  <a:srgbClr val="000000"/>
                </a:solidFill>
                <a:latin typeface="楷体" panose="02010609060101010101" pitchFamily="49" charset="-122"/>
                <a:ea typeface="楷体" panose="02010609060101010101" pitchFamily="49" charset="-122"/>
              </a:rPr>
              <a:t>减</a:t>
            </a:r>
            <a:r>
              <a:rPr lang="zh-CN" altLang="en-US" sz="3600" b="1" dirty="0">
                <a:solidFill>
                  <a:srgbClr val="000000"/>
                </a:solidFill>
                <a:latin typeface="楷体" panose="02010609060101010101" pitchFamily="49" charset="-122"/>
                <a:ea typeface="楷体" panose="02010609060101010101" pitchFamily="49" charset="-122"/>
              </a:rPr>
              <a:t>指数与消费物价指数</a:t>
            </a:r>
            <a:r>
              <a:rPr lang="en-US" altLang="zh-CN" sz="3600" b="1">
                <a:solidFill>
                  <a:srgbClr val="000000"/>
                </a:solidFill>
                <a:latin typeface="楷体" panose="02010609060101010101" pitchFamily="49" charset="-122"/>
                <a:ea typeface="楷体" panose="02010609060101010101" pitchFamily="49" charset="-122"/>
              </a:rPr>
              <a:t>(CPI)</a:t>
            </a:r>
            <a:r>
              <a:rPr lang="zh-CN" altLang="en-US" sz="3600" b="1" dirty="0">
                <a:solidFill>
                  <a:srgbClr val="000000"/>
                </a:solidFill>
                <a:latin typeface="楷体" panose="02010609060101010101" pitchFamily="49" charset="-122"/>
                <a:ea typeface="楷体" panose="02010609060101010101" pitchFamily="49" charset="-122"/>
              </a:rPr>
              <a:t>不同</a:t>
            </a:r>
            <a:r>
              <a:rPr lang="en-US" altLang="zh-CN" sz="3600" b="1">
                <a:solidFill>
                  <a:srgbClr val="000000"/>
                </a:solidFill>
                <a:latin typeface="楷体" panose="02010609060101010101" pitchFamily="49" charset="-122"/>
                <a:ea typeface="楷体" panose="02010609060101010101" pitchFamily="49" charset="-122"/>
              </a:rPr>
              <a:t>:</a:t>
            </a:r>
            <a:br>
              <a:rPr lang="en-US" altLang="zh-CN" sz="3600" b="1">
                <a:solidFill>
                  <a:srgbClr val="000000"/>
                </a:solidFill>
                <a:latin typeface="楷体" panose="02010609060101010101" pitchFamily="49" charset="-122"/>
                <a:ea typeface="楷体" panose="02010609060101010101" pitchFamily="49" charset="-122"/>
              </a:rPr>
            </a:br>
            <a:br>
              <a:rPr lang="en-US" altLang="zh-CN" sz="3600" b="1">
                <a:solidFill>
                  <a:srgbClr val="000000"/>
                </a:solidFill>
                <a:latin typeface="楷体" panose="02010609060101010101" pitchFamily="49" charset="-122"/>
                <a:ea typeface="楷体" panose="02010609060101010101" pitchFamily="49" charset="-122"/>
              </a:rPr>
            </a:br>
            <a:br>
              <a:rPr lang="en-US" altLang="zh-CN" sz="3600" b="1">
                <a:solidFill>
                  <a:srgbClr val="000000"/>
                </a:solidFill>
                <a:latin typeface="楷体" panose="02010609060101010101" pitchFamily="49" charset="-122"/>
                <a:ea typeface="楷体" panose="02010609060101010101" pitchFamily="49" charset="-122"/>
              </a:rPr>
            </a:br>
            <a:br>
              <a:rPr lang="en-US" altLang="zh-CN" sz="3600" b="1">
                <a:solidFill>
                  <a:srgbClr val="000000"/>
                </a:solidFill>
                <a:latin typeface="楷体" panose="02010609060101010101" pitchFamily="49" charset="-122"/>
                <a:ea typeface="楷体" panose="02010609060101010101" pitchFamily="49" charset="-122"/>
              </a:rPr>
            </a:br>
            <a:br>
              <a:rPr lang="en-US" altLang="zh-CN" sz="3600" b="1">
                <a:solidFill>
                  <a:srgbClr val="000000"/>
                </a:solidFill>
                <a:latin typeface="楷体" panose="02010609060101010101" pitchFamily="49" charset="-122"/>
                <a:ea typeface="楷体" panose="02010609060101010101" pitchFamily="49" charset="-122"/>
              </a:rPr>
            </a:br>
            <a:r>
              <a:rPr lang="en-US" altLang="zh-CN" sz="2800">
                <a:solidFill>
                  <a:srgbClr val="000000"/>
                </a:solidFill>
                <a:latin typeface="楷体" panose="02010609060101010101" pitchFamily="49" charset="-122"/>
                <a:ea typeface="楷体" panose="02010609060101010101" pitchFamily="49" charset="-122"/>
              </a:rPr>
              <a:t>CPI</a:t>
            </a:r>
            <a:r>
              <a:rPr lang="zh-CN" altLang="en-US" sz="2800" dirty="0">
                <a:solidFill>
                  <a:srgbClr val="000000"/>
                </a:solidFill>
                <a:latin typeface="楷体" panose="02010609060101010101" pitchFamily="49" charset="-122"/>
                <a:ea typeface="楷体" panose="02010609060101010101" pitchFamily="49" charset="-122"/>
              </a:rPr>
              <a:t>涉及具有代表性消费品的总物价水平，而平减数则不单包含消费品，而且涵盖投资产品、政府消费产品及进出口产品的总平均物价水平，而</a:t>
            </a:r>
            <a:r>
              <a:rPr lang="en-US" altLang="zh-CN" sz="2800">
                <a:solidFill>
                  <a:srgbClr val="000000"/>
                </a:solidFill>
                <a:latin typeface="楷体" panose="02010609060101010101" pitchFamily="49" charset="-122"/>
                <a:ea typeface="楷体" panose="02010609060101010101" pitchFamily="49" charset="-122"/>
              </a:rPr>
              <a:t>GDP</a:t>
            </a:r>
            <a:r>
              <a:rPr lang="zh-CN" altLang="en-US" sz="2800">
                <a:solidFill>
                  <a:srgbClr val="000000"/>
                </a:solidFill>
                <a:latin typeface="楷体" panose="02010609060101010101" pitchFamily="49" charset="-122"/>
                <a:ea typeface="楷体" panose="02010609060101010101" pitchFamily="49" charset="-122"/>
              </a:rPr>
              <a:t>是指</a:t>
            </a:r>
            <a:r>
              <a:rPr lang="zh-CN" altLang="en-US" sz="2800" dirty="0">
                <a:solidFill>
                  <a:srgbClr val="000000"/>
                </a:solidFill>
                <a:latin typeface="楷体" panose="02010609060101010101" pitchFamily="49" charset="-122"/>
                <a:ea typeface="楷体" panose="02010609060101010101" pitchFamily="49" charset="-122"/>
              </a:rPr>
              <a:t>消费、投资、政府支出及进出口的总和。</a:t>
            </a:r>
            <a:br>
              <a:rPr lang="zh-CN" altLang="en-US" sz="2800" dirty="0">
                <a:solidFill>
                  <a:srgbClr val="000000"/>
                </a:solidFill>
                <a:latin typeface="楷体" panose="02010609060101010101" pitchFamily="49" charset="-122"/>
                <a:ea typeface="楷体" panose="02010609060101010101" pitchFamily="49" charset="-122"/>
              </a:rPr>
            </a:br>
            <a:br>
              <a:rPr lang="zh-CN" altLang="en-US" sz="2800" dirty="0">
                <a:solidFill>
                  <a:srgbClr val="000000"/>
                </a:solidFill>
                <a:latin typeface="楷体" panose="02010609060101010101" pitchFamily="49" charset="-122"/>
                <a:ea typeface="楷体" panose="02010609060101010101" pitchFamily="49" charset="-122"/>
              </a:rPr>
            </a:br>
            <a:endParaRPr lang="zh-CN" altLang="en-US" sz="2800" dirty="0">
              <a:solidFill>
                <a:srgbClr val="000000"/>
              </a:solidFill>
              <a:latin typeface="楷体" panose="02010609060101010101" pitchFamily="49" charset="-122"/>
              <a:ea typeface="楷体" panose="02010609060101010101" pitchFamily="49" charset="-122"/>
            </a:endParaRPr>
          </a:p>
        </p:txBody>
      </p:sp>
      <p:graphicFrame>
        <p:nvGraphicFramePr>
          <p:cNvPr id="55299" name="文本占位符 55298"/>
          <p:cNvGraphicFramePr/>
          <p:nvPr>
            <p:ph type="body" idx="1"/>
          </p:nvPr>
        </p:nvGraphicFramePr>
        <p:xfrm>
          <a:off x="1676400" y="1281113"/>
          <a:ext cx="6172200" cy="730250"/>
        </p:xfrm>
        <a:graphic>
          <a:graphicData uri="http://schemas.openxmlformats.org/presentationml/2006/ole">
            <mc:AlternateContent xmlns:mc="http://schemas.openxmlformats.org/markup-compatibility/2006">
              <mc:Choice xmlns:v="urn:schemas-microsoft-com:vml" Requires="v">
                <p:oleObj spid="_x0000_s3078" name="" r:id="rId1" imgW="2273300" imgH="419100" progId="Equation.3">
                  <p:embed/>
                </p:oleObj>
              </mc:Choice>
              <mc:Fallback>
                <p:oleObj name="" r:id="rId1" imgW="2273300" imgH="419100" progId="Equation.3">
                  <p:embed/>
                  <p:pic>
                    <p:nvPicPr>
                      <p:cNvPr id="0" name="图片 3077"/>
                      <p:cNvPicPr/>
                      <p:nvPr/>
                    </p:nvPicPr>
                    <p:blipFill>
                      <a:blip r:embed="rId2"/>
                      <a:stretch>
                        <a:fillRect/>
                      </a:stretch>
                    </p:blipFill>
                    <p:spPr>
                      <a:xfrm>
                        <a:off x="1676400" y="1281113"/>
                        <a:ext cx="6172200" cy="730250"/>
                      </a:xfrm>
                      <a:prstGeom prst="rect">
                        <a:avLst/>
                      </a:prstGeom>
                      <a:noFill/>
                      <a:ln w="38100">
                        <a:miter/>
                      </a:ln>
                    </p:spPr>
                  </p:pic>
                </p:oleObj>
              </mc:Fallback>
            </mc:AlternateContent>
          </a:graphicData>
        </a:graphic>
      </p:graphicFrame>
      <p:graphicFrame>
        <p:nvGraphicFramePr>
          <p:cNvPr id="55300" name="对象 55299"/>
          <p:cNvGraphicFramePr/>
          <p:nvPr/>
        </p:nvGraphicFramePr>
        <p:xfrm>
          <a:off x="1676400" y="2286000"/>
          <a:ext cx="4572000" cy="757238"/>
        </p:xfrm>
        <a:graphic>
          <a:graphicData uri="http://schemas.openxmlformats.org/presentationml/2006/ole">
            <mc:AlternateContent xmlns:mc="http://schemas.openxmlformats.org/markup-compatibility/2006">
              <mc:Choice xmlns:v="urn:schemas-microsoft-com:vml" Requires="v">
                <p:oleObj spid="_x0000_s3076" name="" r:id="rId3" imgW="1510665" imgH="482600" progId="Equation.3">
                  <p:embed/>
                </p:oleObj>
              </mc:Choice>
              <mc:Fallback>
                <p:oleObj name="" r:id="rId3" imgW="1510665" imgH="482600" progId="Equation.3">
                  <p:embed/>
                  <p:pic>
                    <p:nvPicPr>
                      <p:cNvPr id="0" name="图片 3075"/>
                      <p:cNvPicPr/>
                      <p:nvPr/>
                    </p:nvPicPr>
                    <p:blipFill>
                      <a:blip r:embed="rId4"/>
                      <a:stretch>
                        <a:fillRect/>
                      </a:stretch>
                    </p:blipFill>
                    <p:spPr>
                      <a:xfrm>
                        <a:off x="1676400" y="2286000"/>
                        <a:ext cx="4572000" cy="757238"/>
                      </a:xfrm>
                      <a:prstGeom prst="rect">
                        <a:avLst/>
                      </a:prstGeom>
                      <a:noFill/>
                      <a:ln w="38100">
                        <a:noFill/>
                        <a:miter/>
                      </a:ln>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标题 56321"/>
          <p:cNvSpPr>
            <a:spLocks noGrp="1"/>
          </p:cNvSpPr>
          <p:nvPr>
            <p:ph type="title"/>
          </p:nvPr>
        </p:nvSpPr>
        <p:spPr>
          <a:ln/>
        </p:spPr>
        <p:txBody>
          <a:bodyPr anchor="ctr" anchorCtr="0"/>
          <a:p>
            <a:endParaRPr sz="2800" dirty="0">
              <a:solidFill>
                <a:srgbClr val="000000"/>
              </a:solidFill>
              <a:latin typeface="楷体" panose="02010609060101010101" pitchFamily="49" charset="-122"/>
              <a:ea typeface="楷体" panose="02010609060101010101" pitchFamily="49" charset="-122"/>
            </a:endParaRPr>
          </a:p>
        </p:txBody>
      </p:sp>
      <p:sp>
        <p:nvSpPr>
          <p:cNvPr id="56323" name="文本占位符 56322"/>
          <p:cNvSpPr>
            <a:spLocks noGrp="1"/>
          </p:cNvSpPr>
          <p:nvPr>
            <p:ph type="body" idx="1"/>
          </p:nvPr>
        </p:nvSpPr>
        <p:spPr>
          <a:xfrm>
            <a:off x="457200" y="304800"/>
            <a:ext cx="8305800" cy="5715000"/>
          </a:xfrm>
          <a:ln/>
        </p:spPr>
        <p:txBody>
          <a:bodyPr/>
          <a:p>
            <a:pPr>
              <a:buNone/>
            </a:pPr>
            <a:r>
              <a:rPr lang="zh-CN" altLang="en-US" sz="2000" dirty="0">
                <a:solidFill>
                  <a:srgbClr val="000000"/>
                </a:solidFill>
              </a:rPr>
              <a:t>假设某个经济社会在</a:t>
            </a:r>
            <a:r>
              <a:rPr lang="en-US" altLang="zh-CN" sz="2000">
                <a:solidFill>
                  <a:srgbClr val="000000"/>
                </a:solidFill>
              </a:rPr>
              <a:t>2001</a:t>
            </a:r>
            <a:r>
              <a:rPr lang="zh-CN" altLang="en-US" sz="2000" dirty="0">
                <a:solidFill>
                  <a:srgbClr val="000000"/>
                </a:solidFill>
              </a:rPr>
              <a:t>至</a:t>
            </a:r>
            <a:r>
              <a:rPr lang="en-US" altLang="zh-CN" sz="2000">
                <a:solidFill>
                  <a:srgbClr val="000000"/>
                </a:solidFill>
              </a:rPr>
              <a:t>2003</a:t>
            </a:r>
            <a:r>
              <a:rPr lang="zh-CN" altLang="en-US" sz="2000" dirty="0">
                <a:solidFill>
                  <a:srgbClr val="000000"/>
                </a:solidFill>
              </a:rPr>
              <a:t>年期间，其名义与实质</a:t>
            </a:r>
            <a:r>
              <a:rPr lang="en-US" altLang="zh-CN" sz="2000">
                <a:solidFill>
                  <a:srgbClr val="000000"/>
                </a:solidFill>
              </a:rPr>
              <a:t>GDP</a:t>
            </a:r>
            <a:r>
              <a:rPr lang="zh-CN" altLang="en-US" sz="2000" dirty="0">
                <a:solidFill>
                  <a:srgbClr val="000000"/>
                </a:solidFill>
              </a:rPr>
              <a:t>如下</a:t>
            </a:r>
            <a:r>
              <a:rPr lang="en-US" altLang="zh-CN" sz="2000">
                <a:solidFill>
                  <a:srgbClr val="000000"/>
                </a:solidFill>
              </a:rPr>
              <a:t>:</a:t>
            </a:r>
            <a:endParaRPr lang="en-US" altLang="zh-CN" sz="2000">
              <a:solidFill>
                <a:srgbClr val="000000"/>
              </a:solidFill>
            </a:endParaRPr>
          </a:p>
          <a:p>
            <a:pPr>
              <a:buNone/>
            </a:pPr>
            <a:r>
              <a:rPr lang="en-US" altLang="zh-CN" sz="2000">
                <a:solidFill>
                  <a:srgbClr val="000000"/>
                </a:solidFill>
              </a:rPr>
              <a:t>                 </a:t>
            </a:r>
            <a:r>
              <a:rPr lang="zh-CN" altLang="en-US" sz="2000" dirty="0">
                <a:solidFill>
                  <a:srgbClr val="000000"/>
                </a:solidFill>
              </a:rPr>
              <a:t>实质</a:t>
            </a:r>
            <a:r>
              <a:rPr lang="en-US" altLang="zh-CN" sz="2000">
                <a:solidFill>
                  <a:srgbClr val="000000"/>
                </a:solidFill>
              </a:rPr>
              <a:t>GDP       </a:t>
            </a:r>
            <a:r>
              <a:rPr lang="zh-CN" altLang="en-US" sz="2000" dirty="0">
                <a:solidFill>
                  <a:srgbClr val="000000"/>
                </a:solidFill>
              </a:rPr>
              <a:t>名义</a:t>
            </a:r>
            <a:r>
              <a:rPr lang="en-US" altLang="zh-CN" sz="2000">
                <a:solidFill>
                  <a:srgbClr val="000000"/>
                </a:solidFill>
              </a:rPr>
              <a:t>GDP</a:t>
            </a:r>
            <a:endParaRPr lang="en-US" altLang="zh-CN" sz="2000">
              <a:solidFill>
                <a:srgbClr val="000000"/>
              </a:solidFill>
            </a:endParaRPr>
          </a:p>
          <a:p>
            <a:pPr>
              <a:buNone/>
            </a:pPr>
            <a:r>
              <a:rPr lang="en-US" altLang="zh-CN" sz="2000">
                <a:solidFill>
                  <a:srgbClr val="000000"/>
                </a:solidFill>
              </a:rPr>
              <a:t>2001</a:t>
            </a:r>
            <a:r>
              <a:rPr lang="zh-CN" altLang="en-US" sz="2000" dirty="0">
                <a:solidFill>
                  <a:srgbClr val="000000"/>
                </a:solidFill>
              </a:rPr>
              <a:t>年       </a:t>
            </a:r>
            <a:r>
              <a:rPr lang="en-US" altLang="zh-CN" sz="2000">
                <a:solidFill>
                  <a:srgbClr val="000000"/>
                </a:solidFill>
                <a:cs typeface="Tahoma" panose="020B0604030504040204" pitchFamily="34" charset="0"/>
              </a:rPr>
              <a:t>$100</a:t>
            </a:r>
            <a:r>
              <a:rPr lang="zh-CN" altLang="en-US" sz="2000" dirty="0">
                <a:solidFill>
                  <a:srgbClr val="000000"/>
                </a:solidFill>
                <a:cs typeface="Tahoma" panose="020B0604030504040204" pitchFamily="34" charset="0"/>
              </a:rPr>
              <a:t>亿            </a:t>
            </a:r>
            <a:r>
              <a:rPr lang="en-US" altLang="zh-CN" sz="2000">
                <a:solidFill>
                  <a:srgbClr val="000000"/>
                </a:solidFill>
                <a:cs typeface="Tahoma" panose="020B0604030504040204" pitchFamily="34" charset="0"/>
              </a:rPr>
              <a:t>$100</a:t>
            </a:r>
            <a:r>
              <a:rPr lang="zh-CN" altLang="en-US" sz="2000" dirty="0">
                <a:solidFill>
                  <a:srgbClr val="000000"/>
                </a:solidFill>
                <a:cs typeface="Tahoma" panose="020B0604030504040204" pitchFamily="34" charset="0"/>
              </a:rPr>
              <a:t>亿</a:t>
            </a:r>
            <a:endParaRPr lang="zh-CN" altLang="en-US" sz="2000" dirty="0">
              <a:solidFill>
                <a:srgbClr val="000000"/>
              </a:solidFill>
              <a:cs typeface="Tahoma" panose="020B0604030504040204" pitchFamily="34" charset="0"/>
            </a:endParaRPr>
          </a:p>
          <a:p>
            <a:pPr>
              <a:buNone/>
            </a:pPr>
            <a:r>
              <a:rPr lang="en-US" altLang="zh-CN" sz="2000">
                <a:solidFill>
                  <a:srgbClr val="000000"/>
                </a:solidFill>
              </a:rPr>
              <a:t>2002</a:t>
            </a:r>
            <a:r>
              <a:rPr lang="zh-CN" altLang="en-US" sz="2000" dirty="0">
                <a:solidFill>
                  <a:srgbClr val="000000"/>
                </a:solidFill>
              </a:rPr>
              <a:t>年       </a:t>
            </a:r>
            <a:r>
              <a:rPr lang="en-US" altLang="zh-CN" sz="2000">
                <a:solidFill>
                  <a:srgbClr val="000000"/>
                </a:solidFill>
                <a:cs typeface="Tahoma" panose="020B0604030504040204" pitchFamily="34" charset="0"/>
              </a:rPr>
              <a:t>$1050</a:t>
            </a:r>
            <a:r>
              <a:rPr lang="zh-CN" altLang="en-US" sz="2000" dirty="0">
                <a:solidFill>
                  <a:srgbClr val="000000"/>
                </a:solidFill>
                <a:cs typeface="Tahoma" panose="020B0604030504040204" pitchFamily="34" charset="0"/>
              </a:rPr>
              <a:t>亿          </a:t>
            </a:r>
            <a:r>
              <a:rPr lang="en-US" altLang="zh-CN" sz="2000">
                <a:solidFill>
                  <a:srgbClr val="000000"/>
                </a:solidFill>
                <a:cs typeface="Tahoma" panose="020B0604030504040204" pitchFamily="34" charset="0"/>
              </a:rPr>
              <a:t>$1200</a:t>
            </a:r>
            <a:r>
              <a:rPr lang="zh-CN" altLang="en-US" sz="2000" dirty="0">
                <a:solidFill>
                  <a:srgbClr val="000000"/>
                </a:solidFill>
                <a:cs typeface="Tahoma" panose="020B0604030504040204" pitchFamily="34" charset="0"/>
              </a:rPr>
              <a:t>亿</a:t>
            </a:r>
            <a:endParaRPr lang="zh-CN" altLang="en-US" sz="2000" dirty="0">
              <a:solidFill>
                <a:srgbClr val="000000"/>
              </a:solidFill>
              <a:cs typeface="Tahoma" panose="020B0604030504040204" pitchFamily="34" charset="0"/>
            </a:endParaRPr>
          </a:p>
          <a:p>
            <a:pPr>
              <a:buNone/>
            </a:pPr>
            <a:r>
              <a:rPr lang="en-US" altLang="zh-CN" sz="2000">
                <a:solidFill>
                  <a:srgbClr val="000000"/>
                </a:solidFill>
              </a:rPr>
              <a:t>2003</a:t>
            </a:r>
            <a:r>
              <a:rPr lang="zh-CN" altLang="en-US" sz="2000" dirty="0">
                <a:solidFill>
                  <a:srgbClr val="000000"/>
                </a:solidFill>
              </a:rPr>
              <a:t>年       </a:t>
            </a:r>
            <a:r>
              <a:rPr lang="en-US" altLang="zh-CN" sz="2000">
                <a:solidFill>
                  <a:srgbClr val="000000"/>
                </a:solidFill>
                <a:cs typeface="Tahoma" panose="020B0604030504040204" pitchFamily="34" charset="0"/>
              </a:rPr>
              <a:t>$1200</a:t>
            </a:r>
            <a:r>
              <a:rPr lang="zh-CN" altLang="en-US" sz="2000" dirty="0">
                <a:solidFill>
                  <a:srgbClr val="000000"/>
                </a:solidFill>
                <a:cs typeface="Tahoma" panose="020B0604030504040204" pitchFamily="34" charset="0"/>
              </a:rPr>
              <a:t>亿          </a:t>
            </a:r>
            <a:r>
              <a:rPr lang="en-US" altLang="zh-CN" sz="2000">
                <a:solidFill>
                  <a:srgbClr val="000000"/>
                </a:solidFill>
                <a:cs typeface="Tahoma" panose="020B0604030504040204" pitchFamily="34" charset="0"/>
              </a:rPr>
              <a:t>$1500</a:t>
            </a:r>
            <a:r>
              <a:rPr lang="zh-CN" altLang="en-US" sz="2000" dirty="0">
                <a:solidFill>
                  <a:srgbClr val="000000"/>
                </a:solidFill>
                <a:cs typeface="Tahoma" panose="020B0604030504040204" pitchFamily="34" charset="0"/>
              </a:rPr>
              <a:t>亿</a:t>
            </a:r>
            <a:endParaRPr lang="zh-CN" altLang="en-US" sz="2000" dirty="0">
              <a:solidFill>
                <a:srgbClr val="000000"/>
              </a:solidFill>
              <a:cs typeface="Tahoma" panose="020B0604030504040204" pitchFamily="34" charset="0"/>
            </a:endParaRPr>
          </a:p>
          <a:p>
            <a:pPr>
              <a:buNone/>
            </a:pPr>
            <a:r>
              <a:rPr lang="zh-CN" altLang="en-US" sz="2000" dirty="0">
                <a:solidFill>
                  <a:srgbClr val="000000"/>
                </a:solidFill>
                <a:cs typeface="Tahoma" panose="020B0604030504040204" pitchFamily="34" charset="0"/>
              </a:rPr>
              <a:t>请问</a:t>
            </a:r>
            <a:r>
              <a:rPr lang="en-US" altLang="zh-CN" sz="2000">
                <a:solidFill>
                  <a:srgbClr val="000000"/>
                </a:solidFill>
                <a:cs typeface="Tahoma" panose="020B0604030504040204" pitchFamily="34" charset="0"/>
              </a:rPr>
              <a:t>: (1) 2002</a:t>
            </a:r>
            <a:r>
              <a:rPr lang="zh-CN" altLang="en-US" sz="2000" dirty="0">
                <a:solidFill>
                  <a:srgbClr val="000000"/>
                </a:solidFill>
                <a:cs typeface="Tahoma" panose="020B0604030504040204" pitchFamily="34" charset="0"/>
              </a:rPr>
              <a:t>年的</a:t>
            </a:r>
            <a:r>
              <a:rPr lang="en-US" altLang="zh-CN" sz="2000">
                <a:solidFill>
                  <a:srgbClr val="000000"/>
                </a:solidFill>
                <a:cs typeface="Tahoma" panose="020B0604030504040204" pitchFamily="34" charset="0"/>
              </a:rPr>
              <a:t>GDP</a:t>
            </a:r>
            <a:r>
              <a:rPr lang="zh-CN" altLang="en-US" sz="2000" dirty="0">
                <a:solidFill>
                  <a:srgbClr val="000000"/>
                </a:solidFill>
                <a:cs typeface="Tahoma" panose="020B0604030504040204" pitchFamily="34" charset="0"/>
              </a:rPr>
              <a:t>平减指数是多少</a:t>
            </a:r>
            <a:r>
              <a:rPr lang="en-US" altLang="zh-CN" sz="2000">
                <a:solidFill>
                  <a:srgbClr val="000000"/>
                </a:solidFill>
                <a:cs typeface="Tahoma" panose="020B0604030504040204" pitchFamily="34" charset="0"/>
              </a:rPr>
              <a:t>?2003</a:t>
            </a:r>
            <a:r>
              <a:rPr lang="zh-CN" altLang="en-US" sz="2000" dirty="0">
                <a:solidFill>
                  <a:srgbClr val="000000"/>
                </a:solidFill>
                <a:cs typeface="Tahoma" panose="020B0604030504040204" pitchFamily="34" charset="0"/>
              </a:rPr>
              <a:t>年又如何</a:t>
            </a:r>
            <a:r>
              <a:rPr lang="en-US" altLang="zh-CN" sz="2000">
                <a:solidFill>
                  <a:srgbClr val="000000"/>
                </a:solidFill>
                <a:cs typeface="Tahoma" panose="020B0604030504040204" pitchFamily="34" charset="0"/>
              </a:rPr>
              <a:t>?</a:t>
            </a:r>
            <a:endParaRPr lang="en-US" altLang="zh-CN" sz="2000">
              <a:solidFill>
                <a:srgbClr val="000000"/>
              </a:solidFill>
              <a:cs typeface="Tahoma" panose="020B0604030504040204" pitchFamily="34" charset="0"/>
            </a:endParaRPr>
          </a:p>
          <a:p>
            <a:pPr>
              <a:buNone/>
            </a:pPr>
            <a:r>
              <a:rPr lang="en-US" altLang="zh-CN" sz="2000">
                <a:solidFill>
                  <a:srgbClr val="000000"/>
                </a:solidFill>
                <a:cs typeface="Tahoma" panose="020B0604030504040204" pitchFamily="34" charset="0"/>
              </a:rPr>
              <a:t>        (2) 2002</a:t>
            </a:r>
            <a:r>
              <a:rPr lang="zh-CN" altLang="en-US" sz="2000" dirty="0">
                <a:solidFill>
                  <a:srgbClr val="000000"/>
                </a:solidFill>
                <a:cs typeface="Tahoma" panose="020B0604030504040204" pitchFamily="34" charset="0"/>
              </a:rPr>
              <a:t>年至</a:t>
            </a:r>
            <a:r>
              <a:rPr lang="en-US" altLang="zh-CN" sz="2000">
                <a:solidFill>
                  <a:srgbClr val="000000"/>
                </a:solidFill>
                <a:cs typeface="Tahoma" panose="020B0604030504040204" pitchFamily="34" charset="0"/>
              </a:rPr>
              <a:t>2003</a:t>
            </a:r>
            <a:r>
              <a:rPr lang="zh-CN" altLang="en-US" sz="2000" dirty="0">
                <a:solidFill>
                  <a:srgbClr val="000000"/>
                </a:solidFill>
                <a:cs typeface="Tahoma" panose="020B0604030504040204" pitchFamily="34" charset="0"/>
              </a:rPr>
              <a:t>年的通货膨胀率为多少</a:t>
            </a:r>
            <a:r>
              <a:rPr lang="en-US" altLang="zh-CN" sz="2000">
                <a:solidFill>
                  <a:srgbClr val="000000"/>
                </a:solidFill>
                <a:cs typeface="Tahoma" panose="020B0604030504040204" pitchFamily="34" charset="0"/>
              </a:rPr>
              <a:t>?</a:t>
            </a:r>
            <a:endParaRPr lang="en-US" altLang="zh-CN" sz="2000">
              <a:solidFill>
                <a:srgbClr val="000000"/>
              </a:solidFill>
              <a:cs typeface="Tahoma" panose="020B0604030504040204" pitchFamily="34" charset="0"/>
            </a:endParaRPr>
          </a:p>
          <a:p>
            <a:pPr>
              <a:buNone/>
            </a:pPr>
            <a:r>
              <a:rPr lang="en-US" altLang="zh-CN" sz="2000">
                <a:solidFill>
                  <a:srgbClr val="000000"/>
                </a:solidFill>
                <a:cs typeface="Tahoma" panose="020B0604030504040204" pitchFamily="34" charset="0"/>
              </a:rPr>
              <a:t>        (3)2001</a:t>
            </a:r>
            <a:r>
              <a:rPr lang="zh-CN" altLang="en-US" sz="2000" dirty="0">
                <a:solidFill>
                  <a:srgbClr val="000000"/>
                </a:solidFill>
                <a:cs typeface="Tahoma" panose="020B0604030504040204" pitchFamily="34" charset="0"/>
              </a:rPr>
              <a:t>年至</a:t>
            </a:r>
            <a:r>
              <a:rPr lang="en-US" altLang="zh-CN" sz="2000">
                <a:solidFill>
                  <a:srgbClr val="000000"/>
                </a:solidFill>
                <a:cs typeface="Tahoma" panose="020B0604030504040204" pitchFamily="34" charset="0"/>
              </a:rPr>
              <a:t>2003</a:t>
            </a:r>
            <a:r>
              <a:rPr lang="zh-CN" altLang="en-US" sz="2000" dirty="0">
                <a:solidFill>
                  <a:srgbClr val="000000"/>
                </a:solidFill>
                <a:cs typeface="Tahoma" panose="020B0604030504040204" pitchFamily="34" charset="0"/>
              </a:rPr>
              <a:t>年的通货膨胀率为多少</a:t>
            </a:r>
            <a:r>
              <a:rPr lang="en-US" altLang="zh-CN" sz="2000">
                <a:solidFill>
                  <a:srgbClr val="000000"/>
                </a:solidFill>
                <a:cs typeface="Tahoma" panose="020B0604030504040204" pitchFamily="34" charset="0"/>
              </a:rPr>
              <a:t>?</a:t>
            </a:r>
            <a:endParaRPr lang="en-US" altLang="zh-CN" sz="2000">
              <a:solidFill>
                <a:srgbClr val="000000"/>
              </a:solidFill>
              <a:cs typeface="Tahoma" panose="020B0604030504040204" pitchFamily="34" charset="0"/>
            </a:endParaRPr>
          </a:p>
          <a:p>
            <a:pPr>
              <a:buNone/>
            </a:pPr>
            <a:endParaRPr lang="en-US" altLang="zh-CN" sz="2000">
              <a:solidFill>
                <a:srgbClr val="000000"/>
              </a:solidFill>
              <a:cs typeface="Tahoma" panose="020B0604030504040204" pitchFamily="34" charset="0"/>
            </a:endParaRPr>
          </a:p>
          <a:p>
            <a:pPr>
              <a:buNone/>
            </a:pPr>
            <a:r>
              <a:rPr lang="zh-CN" altLang="en-US" sz="2000" dirty="0">
                <a:solidFill>
                  <a:srgbClr val="000000"/>
                </a:solidFill>
                <a:cs typeface="Tahoma" panose="020B0604030504040204" pitchFamily="34" charset="0"/>
              </a:rPr>
              <a:t>解</a:t>
            </a:r>
            <a:r>
              <a:rPr lang="en-US" altLang="zh-CN" sz="2000">
                <a:solidFill>
                  <a:srgbClr val="000000"/>
                </a:solidFill>
                <a:cs typeface="Tahoma" panose="020B0604030504040204" pitchFamily="34" charset="0"/>
              </a:rPr>
              <a:t>: (1) 2002</a:t>
            </a:r>
            <a:r>
              <a:rPr lang="zh-CN" altLang="en-US" sz="2000" dirty="0">
                <a:solidFill>
                  <a:srgbClr val="000000"/>
                </a:solidFill>
                <a:cs typeface="Tahoma" panose="020B0604030504040204" pitchFamily="34" charset="0"/>
              </a:rPr>
              <a:t>年的</a:t>
            </a:r>
            <a:r>
              <a:rPr lang="en-US" altLang="zh-CN" sz="2000">
                <a:solidFill>
                  <a:srgbClr val="000000"/>
                </a:solidFill>
                <a:cs typeface="Tahoma" panose="020B0604030504040204" pitchFamily="34" charset="0"/>
              </a:rPr>
              <a:t>GDP</a:t>
            </a:r>
            <a:r>
              <a:rPr lang="zh-CN" altLang="en-US" sz="2000" dirty="0">
                <a:solidFill>
                  <a:srgbClr val="000000"/>
                </a:solidFill>
                <a:cs typeface="Tahoma" panose="020B0604030504040204" pitchFamily="34" charset="0"/>
              </a:rPr>
              <a:t>平减指数</a:t>
            </a:r>
            <a:r>
              <a:rPr lang="en-US" altLang="zh-CN" sz="2000">
                <a:solidFill>
                  <a:srgbClr val="000000"/>
                </a:solidFill>
                <a:cs typeface="Tahoma" panose="020B0604030504040204" pitchFamily="34" charset="0"/>
              </a:rPr>
              <a:t>=(1200/1050)X100=114.3</a:t>
            </a:r>
            <a:endParaRPr lang="en-US" altLang="zh-CN" sz="2000">
              <a:solidFill>
                <a:srgbClr val="000000"/>
              </a:solidFill>
              <a:cs typeface="Tahoma" panose="020B0604030504040204" pitchFamily="34" charset="0"/>
            </a:endParaRPr>
          </a:p>
          <a:p>
            <a:pPr>
              <a:buNone/>
            </a:pPr>
            <a:r>
              <a:rPr lang="en-US" altLang="zh-CN" sz="2000">
                <a:solidFill>
                  <a:srgbClr val="000000"/>
                </a:solidFill>
                <a:cs typeface="Tahoma" panose="020B0604030504040204" pitchFamily="34" charset="0"/>
              </a:rPr>
              <a:t>          2003</a:t>
            </a:r>
            <a:r>
              <a:rPr lang="zh-CN" altLang="en-US" sz="2000" dirty="0">
                <a:solidFill>
                  <a:srgbClr val="000000"/>
                </a:solidFill>
                <a:cs typeface="Tahoma" panose="020B0604030504040204" pitchFamily="34" charset="0"/>
              </a:rPr>
              <a:t>年的</a:t>
            </a:r>
            <a:r>
              <a:rPr lang="en-US" altLang="zh-CN" sz="2000">
                <a:solidFill>
                  <a:srgbClr val="000000"/>
                </a:solidFill>
                <a:cs typeface="Tahoma" panose="020B0604030504040204" pitchFamily="34" charset="0"/>
              </a:rPr>
              <a:t>GDP</a:t>
            </a:r>
            <a:r>
              <a:rPr lang="zh-CN" altLang="en-US" sz="2000" dirty="0">
                <a:solidFill>
                  <a:srgbClr val="000000"/>
                </a:solidFill>
                <a:cs typeface="Tahoma" panose="020B0604030504040204" pitchFamily="34" charset="0"/>
              </a:rPr>
              <a:t>平减指数</a:t>
            </a:r>
            <a:r>
              <a:rPr lang="en-US" altLang="zh-CN" sz="2000">
                <a:solidFill>
                  <a:srgbClr val="000000"/>
                </a:solidFill>
                <a:cs typeface="Tahoma" panose="020B0604030504040204" pitchFamily="34" charset="0"/>
              </a:rPr>
              <a:t>=(1500/1200)X100=125</a:t>
            </a:r>
            <a:endParaRPr lang="en-US" altLang="zh-CN" sz="2000">
              <a:solidFill>
                <a:srgbClr val="000000"/>
              </a:solidFill>
              <a:cs typeface="Tahoma" panose="020B0604030504040204" pitchFamily="34" charset="0"/>
            </a:endParaRPr>
          </a:p>
          <a:p>
            <a:pPr>
              <a:buNone/>
            </a:pPr>
            <a:r>
              <a:rPr lang="en-US" altLang="zh-CN" sz="2000">
                <a:solidFill>
                  <a:srgbClr val="000000"/>
                </a:solidFill>
                <a:cs typeface="Tahoma" panose="020B0604030504040204" pitchFamily="34" charset="0"/>
              </a:rPr>
              <a:t>(2) 2002</a:t>
            </a:r>
            <a:r>
              <a:rPr lang="zh-CN" altLang="en-US" sz="2000" dirty="0">
                <a:solidFill>
                  <a:srgbClr val="000000"/>
                </a:solidFill>
                <a:cs typeface="Tahoma" panose="020B0604030504040204" pitchFamily="34" charset="0"/>
              </a:rPr>
              <a:t>年至</a:t>
            </a:r>
            <a:r>
              <a:rPr lang="en-US" altLang="zh-CN" sz="2000">
                <a:solidFill>
                  <a:srgbClr val="000000"/>
                </a:solidFill>
                <a:cs typeface="Tahoma" panose="020B0604030504040204" pitchFamily="34" charset="0"/>
              </a:rPr>
              <a:t>2003</a:t>
            </a:r>
            <a:r>
              <a:rPr lang="zh-CN" altLang="en-US" sz="2000" dirty="0">
                <a:solidFill>
                  <a:srgbClr val="000000"/>
                </a:solidFill>
                <a:cs typeface="Tahoma" panose="020B0604030504040204" pitchFamily="34" charset="0"/>
              </a:rPr>
              <a:t>年的通货膨胀率</a:t>
            </a:r>
            <a:r>
              <a:rPr lang="en-US" altLang="zh-CN" sz="2000">
                <a:solidFill>
                  <a:srgbClr val="000000"/>
                </a:solidFill>
                <a:cs typeface="Tahoma" panose="020B0604030504040204" pitchFamily="34" charset="0"/>
              </a:rPr>
              <a:t>=[(125-114.3)/114.3]X100%=9.36%</a:t>
            </a:r>
            <a:endParaRPr lang="en-US" altLang="zh-CN" sz="2000">
              <a:solidFill>
                <a:srgbClr val="000000"/>
              </a:solidFill>
              <a:cs typeface="Tahoma" panose="020B0604030504040204" pitchFamily="34" charset="0"/>
            </a:endParaRPr>
          </a:p>
          <a:p>
            <a:pPr>
              <a:buNone/>
            </a:pPr>
            <a:r>
              <a:rPr lang="en-US" altLang="zh-CN" sz="2000">
                <a:solidFill>
                  <a:srgbClr val="000000"/>
                </a:solidFill>
                <a:cs typeface="Tahoma" panose="020B0604030504040204" pitchFamily="34" charset="0"/>
              </a:rPr>
              <a:t>(3)2001</a:t>
            </a:r>
            <a:r>
              <a:rPr lang="zh-CN" altLang="en-US" sz="2000" dirty="0">
                <a:solidFill>
                  <a:srgbClr val="000000"/>
                </a:solidFill>
                <a:cs typeface="Tahoma" panose="020B0604030504040204" pitchFamily="34" charset="0"/>
              </a:rPr>
              <a:t>年至</a:t>
            </a:r>
            <a:r>
              <a:rPr lang="en-US" altLang="zh-CN" sz="2000">
                <a:solidFill>
                  <a:srgbClr val="000000"/>
                </a:solidFill>
                <a:cs typeface="Tahoma" panose="020B0604030504040204" pitchFamily="34" charset="0"/>
              </a:rPr>
              <a:t>2003</a:t>
            </a:r>
            <a:r>
              <a:rPr lang="zh-CN" altLang="en-US" sz="2000" dirty="0">
                <a:solidFill>
                  <a:srgbClr val="000000"/>
                </a:solidFill>
                <a:cs typeface="Tahoma" panose="020B0604030504040204" pitchFamily="34" charset="0"/>
              </a:rPr>
              <a:t>年的通货膨胀率</a:t>
            </a:r>
            <a:r>
              <a:rPr lang="en-US" altLang="zh-CN" sz="2000">
                <a:solidFill>
                  <a:srgbClr val="000000"/>
                </a:solidFill>
                <a:cs typeface="Tahoma" panose="020B0604030504040204" pitchFamily="34" charset="0"/>
              </a:rPr>
              <a:t>=[(125-100)/100]X100%=25%</a:t>
            </a:r>
            <a:endParaRPr lang="en-US" altLang="zh-CN" sz="2000">
              <a:solidFill>
                <a:srgbClr val="000000"/>
              </a:solidFill>
              <a:cs typeface="Tahoma" panose="020B0604030504040204" pitchFamily="34" charset="0"/>
            </a:endParaRPr>
          </a:p>
          <a:p>
            <a:pPr>
              <a:buNone/>
            </a:pPr>
            <a:endParaRPr lang="en-US" altLang="zh-CN" sz="2000">
              <a:solidFill>
                <a:srgbClr val="000000"/>
              </a:solidFill>
            </a:endParaRPr>
          </a:p>
          <a:p>
            <a:pPr>
              <a:buNone/>
            </a:pPr>
            <a:endParaRPr lang="en-US" altLang="zh-CN" sz="2800">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7" name="文本占位符 57346"/>
          <p:cNvSpPr>
            <a:spLocks noGrp="1"/>
          </p:cNvSpPr>
          <p:nvPr>
            <p:ph type="body" idx="1"/>
          </p:nvPr>
        </p:nvSpPr>
        <p:spPr>
          <a:xfrm>
            <a:off x="914400" y="533400"/>
            <a:ext cx="7772400" cy="5029200"/>
          </a:xfrm>
          <a:ln/>
        </p:spPr>
        <p:txBody>
          <a:bodyPr/>
          <a:p>
            <a:pPr marL="0" indent="0">
              <a:lnSpc>
                <a:spcPct val="90000"/>
              </a:lnSpc>
              <a:buNone/>
            </a:pPr>
            <a:r>
              <a:rPr lang="zh-CN" altLang="en-US" sz="3600" b="1" dirty="0">
                <a:solidFill>
                  <a:srgbClr val="FF0000"/>
                </a:solidFill>
                <a:latin typeface="宋体" panose="02010600030101010101" pitchFamily="2" charset="-122"/>
              </a:rPr>
              <a:t>第三节 失业的衡量</a:t>
            </a:r>
            <a:endParaRPr lang="zh-CN" altLang="en-US" sz="3600" b="1" dirty="0">
              <a:solidFill>
                <a:srgbClr val="FF0000"/>
              </a:solidFill>
              <a:latin typeface="宋体" panose="02010600030101010101" pitchFamily="2" charset="-122"/>
            </a:endParaRPr>
          </a:p>
          <a:p>
            <a:pPr marL="0" indent="0">
              <a:lnSpc>
                <a:spcPct val="90000"/>
              </a:lnSpc>
              <a:buNone/>
            </a:pPr>
            <a:r>
              <a:rPr lang="en-US" altLang="zh-CN" sz="2800" dirty="0">
                <a:solidFill>
                  <a:srgbClr val="000000"/>
                </a:solidFill>
                <a:latin typeface="宋体" panose="02010600030101010101" pitchFamily="2" charset="-122"/>
              </a:rPr>
              <a:t> </a:t>
            </a:r>
            <a:endParaRPr lang="en-US" altLang="zh-CN" sz="2800" dirty="0">
              <a:solidFill>
                <a:srgbClr val="000000"/>
              </a:solidFill>
              <a:latin typeface="宋体" panose="02010600030101010101" pitchFamily="2" charset="-122"/>
            </a:endParaRPr>
          </a:p>
          <a:p>
            <a:pPr marL="0" indent="0">
              <a:lnSpc>
                <a:spcPct val="90000"/>
              </a:lnSpc>
              <a:buNone/>
            </a:pPr>
            <a:r>
              <a:rPr lang="en-US" altLang="zh-CN">
                <a:solidFill>
                  <a:srgbClr val="FF0000"/>
                </a:solidFill>
                <a:latin typeface="宋体" panose="02010600030101010101" pitchFamily="2" charset="-122"/>
              </a:rPr>
              <a:t>A.	</a:t>
            </a:r>
            <a:r>
              <a:rPr lang="zh-CN" altLang="en-US" dirty="0">
                <a:solidFill>
                  <a:srgbClr val="FF0000"/>
                </a:solidFill>
                <a:latin typeface="宋体" panose="02010600030101010101" pitchFamily="2" charset="-122"/>
              </a:rPr>
              <a:t>失业者的定义</a:t>
            </a:r>
            <a:r>
              <a:rPr lang="zh-CN" altLang="en-US" sz="2800" dirty="0">
                <a:solidFill>
                  <a:srgbClr val="000000"/>
                </a:solidFill>
                <a:latin typeface="宋体" panose="02010600030101010101" pitchFamily="2" charset="-122"/>
              </a:rPr>
              <a:t>：劳动力中没有工作但正在寻找工作或等待新工作的人。</a:t>
            </a:r>
            <a:endParaRPr lang="zh-CN" altLang="en-US" sz="2800" dirty="0">
              <a:solidFill>
                <a:srgbClr val="000000"/>
              </a:solidFill>
              <a:latin typeface="宋体" panose="02010600030101010101" pitchFamily="2" charset="-122"/>
            </a:endParaRPr>
          </a:p>
          <a:p>
            <a:pPr marL="0" indent="0">
              <a:lnSpc>
                <a:spcPct val="90000"/>
              </a:lnSpc>
              <a:buNone/>
            </a:pPr>
            <a:r>
              <a:rPr lang="en-US" altLang="zh-CN">
                <a:solidFill>
                  <a:srgbClr val="FF0000"/>
                </a:solidFill>
                <a:latin typeface="宋体" panose="02010600030101010101" pitchFamily="2" charset="-122"/>
              </a:rPr>
              <a:t>B.  </a:t>
            </a:r>
            <a:r>
              <a:rPr lang="zh-CN" altLang="en-US" dirty="0">
                <a:solidFill>
                  <a:srgbClr val="FF0000"/>
                </a:solidFill>
                <a:latin typeface="宋体" panose="02010600030101010101" pitchFamily="2" charset="-122"/>
              </a:rPr>
              <a:t>失业的类型（原因）</a:t>
            </a:r>
            <a:endParaRPr lang="zh-CN" altLang="en-US" dirty="0">
              <a:solidFill>
                <a:srgbClr val="FF0000"/>
              </a:solidFill>
              <a:latin typeface="宋体" panose="02010600030101010101" pitchFamily="2" charset="-122"/>
            </a:endParaRPr>
          </a:p>
          <a:p>
            <a:pPr marL="0" indent="0">
              <a:lnSpc>
                <a:spcPct val="90000"/>
              </a:lnSpc>
              <a:buNone/>
            </a:pPr>
            <a:r>
              <a:rPr lang="en-US" altLang="zh-CN" sz="2800">
                <a:solidFill>
                  <a:srgbClr val="000000"/>
                </a:solidFill>
                <a:latin typeface="宋体" panose="02010600030101010101" pitchFamily="2" charset="-122"/>
              </a:rPr>
              <a:t>(1)</a:t>
            </a:r>
            <a:r>
              <a:rPr lang="zh-CN" altLang="en-US" sz="2800" dirty="0">
                <a:solidFill>
                  <a:srgbClr val="000000"/>
                </a:solidFill>
                <a:latin typeface="宋体" panose="02010600030101010101" pitchFamily="2" charset="-122"/>
              </a:rPr>
              <a:t>摩擦性失业：因为变更工作等原因引起的失业。</a:t>
            </a:r>
            <a:endParaRPr lang="zh-CN" altLang="en-US" sz="2800" dirty="0">
              <a:solidFill>
                <a:srgbClr val="000000"/>
              </a:solidFill>
              <a:latin typeface="宋体" panose="02010600030101010101" pitchFamily="2" charset="-122"/>
            </a:endParaRPr>
          </a:p>
          <a:p>
            <a:pPr marL="0" indent="0">
              <a:lnSpc>
                <a:spcPct val="90000"/>
              </a:lnSpc>
              <a:buNone/>
            </a:pPr>
            <a:r>
              <a:rPr lang="en-US" altLang="zh-CN" sz="2800">
                <a:solidFill>
                  <a:srgbClr val="000000"/>
                </a:solidFill>
                <a:latin typeface="宋体" panose="02010600030101010101" pitchFamily="2" charset="-122"/>
              </a:rPr>
              <a:t>(2)</a:t>
            </a:r>
            <a:r>
              <a:rPr lang="zh-CN" altLang="en-US" sz="2800" dirty="0">
                <a:solidFill>
                  <a:srgbClr val="000000"/>
                </a:solidFill>
                <a:latin typeface="宋体" panose="02010600030101010101" pitchFamily="2" charset="-122"/>
              </a:rPr>
              <a:t>季节性失业：由于某些行业的季节性特征导致的失业。</a:t>
            </a:r>
            <a:endParaRPr lang="zh-CN" altLang="en-US" sz="2800" dirty="0">
              <a:solidFill>
                <a:srgbClr val="000000"/>
              </a:solidFill>
              <a:latin typeface="宋体" panose="02010600030101010101" pitchFamily="2" charset="-122"/>
            </a:endParaRPr>
          </a:p>
          <a:p>
            <a:pPr marL="0" indent="0">
              <a:lnSpc>
                <a:spcPct val="90000"/>
              </a:lnSpc>
              <a:buNone/>
            </a:pPr>
            <a:r>
              <a:rPr lang="en-US" altLang="zh-CN" sz="2800">
                <a:solidFill>
                  <a:srgbClr val="000000"/>
                </a:solidFill>
                <a:latin typeface="宋体" panose="02010600030101010101" pitchFamily="2" charset="-122"/>
              </a:rPr>
              <a:t>(3)</a:t>
            </a:r>
            <a:r>
              <a:rPr lang="zh-CN" altLang="en-US" sz="2800" dirty="0">
                <a:solidFill>
                  <a:srgbClr val="000000"/>
                </a:solidFill>
                <a:latin typeface="宋体" panose="02010600030101010101" pitchFamily="2" charset="-122"/>
              </a:rPr>
              <a:t>周期性失业：随着经济周期的波动（衰退）出现的失业。</a:t>
            </a:r>
            <a:endParaRPr lang="zh-CN" altLang="en-US" sz="2800" dirty="0">
              <a:solidFill>
                <a:srgbClr val="000000"/>
              </a:solidFill>
              <a:latin typeface="宋体" panose="02010600030101010101" pitchFamily="2" charset="-122"/>
            </a:endParaRPr>
          </a:p>
          <a:p>
            <a:pPr marL="0" indent="0">
              <a:lnSpc>
                <a:spcPct val="90000"/>
              </a:lnSpc>
              <a:buNone/>
            </a:pPr>
            <a:r>
              <a:rPr lang="en-US" altLang="zh-CN" sz="2800">
                <a:solidFill>
                  <a:srgbClr val="000000"/>
                </a:solidFill>
                <a:latin typeface="宋体" panose="02010600030101010101" pitchFamily="2" charset="-122"/>
              </a:rPr>
              <a:t>(4)</a:t>
            </a:r>
            <a:r>
              <a:rPr lang="zh-CN" altLang="en-US" sz="2800" dirty="0">
                <a:solidFill>
                  <a:srgbClr val="000000"/>
                </a:solidFill>
                <a:latin typeface="宋体" panose="02010600030101010101" pitchFamily="2" charset="-122"/>
              </a:rPr>
              <a:t>结构性失业：由于经济结构变化和行业的衰落引起的失业。 </a:t>
            </a:r>
            <a:endParaRPr lang="zh-CN" altLang="en-US" sz="2800" dirty="0">
              <a:solidFill>
                <a:srgbClr val="000000"/>
              </a:solidFill>
              <a:latin typeface="宋体" panose="02010600030101010101" pitchFamily="2" charset="-122"/>
            </a:endParaRPr>
          </a:p>
          <a:p>
            <a:pPr marL="0" indent="0">
              <a:lnSpc>
                <a:spcPct val="90000"/>
              </a:lnSpc>
              <a:buNone/>
            </a:pPr>
            <a:endParaRPr lang="zh-CN" altLang="en-US" sz="2800">
              <a:solidFill>
                <a:srgbClr val="000000"/>
              </a:solidFill>
              <a:latin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标题 58369"/>
          <p:cNvSpPr>
            <a:spLocks noGrp="1"/>
          </p:cNvSpPr>
          <p:nvPr>
            <p:ph type="title"/>
          </p:nvPr>
        </p:nvSpPr>
        <p:spPr>
          <a:xfrm>
            <a:off x="685800" y="476250"/>
            <a:ext cx="7772400" cy="5619750"/>
          </a:xfrm>
          <a:ln/>
        </p:spPr>
        <p:txBody>
          <a:bodyPr anchor="ctr" anchorCtr="0"/>
          <a:p>
            <a:pPr algn="l"/>
            <a:r>
              <a:rPr lang="en-US" altLang="zh-CN" sz="3600" b="1">
                <a:solidFill>
                  <a:srgbClr val="FF0000"/>
                </a:solidFill>
                <a:latin typeface="隶书" panose="02010509060101010101" pitchFamily="49" charset="-122"/>
                <a:ea typeface="隶书" panose="02010509060101010101" pitchFamily="49" charset="-122"/>
              </a:rPr>
              <a:t>C</a:t>
            </a:r>
            <a:r>
              <a:rPr lang="zh-CN" altLang="en-US" sz="3600" b="1">
                <a:solidFill>
                  <a:srgbClr val="FF0000"/>
                </a:solidFill>
                <a:latin typeface="隶书" panose="02010509060101010101" pitchFamily="49" charset="-122"/>
                <a:ea typeface="隶书" panose="02010509060101010101" pitchFamily="49" charset="-122"/>
              </a:rPr>
              <a:t>．</a:t>
            </a:r>
            <a:r>
              <a:rPr lang="zh-CN" altLang="en-US" sz="3600" b="1" dirty="0">
                <a:solidFill>
                  <a:srgbClr val="FF0000"/>
                </a:solidFill>
                <a:latin typeface="隶书" panose="02010509060101010101" pitchFamily="49" charset="-122"/>
                <a:ea typeface="隶书" panose="02010509060101010101" pitchFamily="49" charset="-122"/>
              </a:rPr>
              <a:t>失业的衡量</a:t>
            </a:r>
            <a:br>
              <a:rPr lang="zh-CN" altLang="en-US" sz="3200" b="1" dirty="0">
                <a:solidFill>
                  <a:srgbClr val="FF0000"/>
                </a:solidFill>
                <a:latin typeface="隶书" panose="02010509060101010101" pitchFamily="49" charset="-122"/>
                <a:ea typeface="隶书" panose="02010509060101010101" pitchFamily="49" charset="-122"/>
              </a:rPr>
            </a:br>
            <a:r>
              <a:rPr lang="zh-CN" altLang="en-US" sz="3200" b="1" dirty="0">
                <a:solidFill>
                  <a:srgbClr val="000000"/>
                </a:solidFill>
                <a:latin typeface="隶书" panose="02010509060101010101" pitchFamily="49" charset="-122"/>
                <a:ea typeface="隶书" panose="02010509060101010101" pitchFamily="49" charset="-122"/>
              </a:rPr>
              <a:t>劳动力：既包括就业者又包括失业者的工人总量。</a:t>
            </a:r>
            <a:br>
              <a:rPr lang="zh-CN" altLang="en-US" sz="3200" b="1" dirty="0">
                <a:solidFill>
                  <a:srgbClr val="000000"/>
                </a:solidFill>
                <a:latin typeface="隶书" panose="02010509060101010101" pitchFamily="49" charset="-122"/>
                <a:ea typeface="隶书" panose="02010509060101010101" pitchFamily="49" charset="-122"/>
              </a:rPr>
            </a:br>
            <a:r>
              <a:rPr lang="zh-CN" altLang="en-US" sz="3200" b="1" dirty="0">
                <a:solidFill>
                  <a:srgbClr val="000000"/>
                </a:solidFill>
                <a:latin typeface="隶书" panose="02010509060101010101" pitchFamily="49" charset="-122"/>
                <a:ea typeface="隶书" panose="02010509060101010101" pitchFamily="49" charset="-122"/>
              </a:rPr>
              <a:t>劳动力＝就业者人数＋失业者人数</a:t>
            </a:r>
            <a:br>
              <a:rPr lang="zh-CN" altLang="en-US" sz="3200" b="1" dirty="0">
                <a:solidFill>
                  <a:srgbClr val="000000"/>
                </a:solidFill>
                <a:latin typeface="隶书" panose="02010509060101010101" pitchFamily="49" charset="-122"/>
                <a:ea typeface="隶书" panose="02010509060101010101" pitchFamily="49" charset="-122"/>
              </a:rPr>
            </a:br>
            <a:r>
              <a:rPr lang="zh-CN" altLang="en-US" sz="3200" b="1" dirty="0">
                <a:solidFill>
                  <a:srgbClr val="000000"/>
                </a:solidFill>
                <a:latin typeface="隶书" panose="02010509060101010101" pitchFamily="49" charset="-122"/>
                <a:ea typeface="隶书" panose="02010509060101010101" pitchFamily="49" charset="-122"/>
              </a:rPr>
              <a:t>失业率：劳动力中失业者的百分比。</a:t>
            </a:r>
            <a:br>
              <a:rPr lang="zh-CN" altLang="en-US" sz="3200" b="1" dirty="0">
                <a:solidFill>
                  <a:srgbClr val="000000"/>
                </a:solidFill>
                <a:latin typeface="隶书" panose="02010509060101010101" pitchFamily="49" charset="-122"/>
                <a:ea typeface="隶书" panose="02010509060101010101" pitchFamily="49" charset="-122"/>
              </a:rPr>
            </a:br>
            <a:r>
              <a:rPr lang="en-US" altLang="zh-CN" dirty="0"/>
              <a:t> </a:t>
            </a:r>
            <a:br>
              <a:rPr lang="en-US" altLang="zh-CN" dirty="0"/>
            </a:br>
            <a:r>
              <a:rPr lang="en-US" altLang="zh-CN" dirty="0"/>
              <a:t> </a:t>
            </a:r>
            <a:br>
              <a:rPr lang="en-US" altLang="zh-CN" dirty="0"/>
            </a:br>
            <a:r>
              <a:rPr lang="en-US" altLang="zh-CN" dirty="0"/>
              <a:t> </a:t>
            </a:r>
            <a:br>
              <a:rPr lang="en-US" altLang="zh-CN" dirty="0"/>
            </a:br>
            <a:endParaRPr lang="en-US" altLang="zh-CN" dirty="0"/>
          </a:p>
        </p:txBody>
      </p:sp>
      <p:graphicFrame>
        <p:nvGraphicFramePr>
          <p:cNvPr id="58371" name="文本占位符 58370"/>
          <p:cNvGraphicFramePr/>
          <p:nvPr>
            <p:ph type="body" idx="1"/>
          </p:nvPr>
        </p:nvGraphicFramePr>
        <p:xfrm>
          <a:off x="971550" y="3644900"/>
          <a:ext cx="4419600" cy="1290638"/>
        </p:xfrm>
        <a:graphic>
          <a:graphicData uri="http://schemas.openxmlformats.org/presentationml/2006/ole">
            <mc:AlternateContent xmlns:mc="http://schemas.openxmlformats.org/markup-compatibility/2006">
              <mc:Choice xmlns:v="urn:schemas-microsoft-com:vml" Requires="v">
                <p:oleObj spid="_x0000_s3077" name="" r:id="rId1" imgW="1435100" imgH="419100" progId="Equation.3">
                  <p:embed/>
                </p:oleObj>
              </mc:Choice>
              <mc:Fallback>
                <p:oleObj name="" r:id="rId1" imgW="1435100" imgH="419100" progId="Equation.3">
                  <p:embed/>
                  <p:pic>
                    <p:nvPicPr>
                      <p:cNvPr id="0" name="图片 3076"/>
                      <p:cNvPicPr/>
                      <p:nvPr/>
                    </p:nvPicPr>
                    <p:blipFill>
                      <a:blip r:embed="rId2"/>
                      <a:stretch>
                        <a:fillRect/>
                      </a:stretch>
                    </p:blipFill>
                    <p:spPr>
                      <a:xfrm>
                        <a:off x="971550" y="3644900"/>
                        <a:ext cx="4419600" cy="1290638"/>
                      </a:xfrm>
                      <a:prstGeom prst="rect">
                        <a:avLst/>
                      </a:prstGeom>
                      <a:noFill/>
                      <a:ln w="38100">
                        <a:miter/>
                      </a:ln>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标题 59393"/>
          <p:cNvSpPr>
            <a:spLocks noGrp="1"/>
          </p:cNvSpPr>
          <p:nvPr>
            <p:ph type="title"/>
          </p:nvPr>
        </p:nvSpPr>
        <p:spPr>
          <a:xfrm>
            <a:off x="685800" y="0"/>
            <a:ext cx="7772400" cy="1143000"/>
          </a:xfrm>
          <a:ln/>
        </p:spPr>
        <p:txBody>
          <a:bodyPr anchor="ctr" anchorCtr="0"/>
          <a:p>
            <a:endParaRPr dirty="0"/>
          </a:p>
        </p:txBody>
      </p:sp>
      <p:sp>
        <p:nvSpPr>
          <p:cNvPr id="59395" name="文本占位符 59394"/>
          <p:cNvSpPr>
            <a:spLocks noGrp="1"/>
          </p:cNvSpPr>
          <p:nvPr>
            <p:ph type="body" idx="1"/>
          </p:nvPr>
        </p:nvSpPr>
        <p:spPr>
          <a:xfrm>
            <a:off x="838200" y="1219200"/>
            <a:ext cx="7772400" cy="4114800"/>
          </a:xfrm>
          <a:ln/>
        </p:spPr>
        <p:txBody>
          <a:bodyPr/>
          <a:p>
            <a:pPr marL="0" indent="0">
              <a:lnSpc>
                <a:spcPct val="90000"/>
              </a:lnSpc>
              <a:buNone/>
            </a:pPr>
            <a:r>
              <a:rPr lang="zh-CN" altLang="en-US" sz="2800" dirty="0">
                <a:solidFill>
                  <a:srgbClr val="000000"/>
                </a:solidFill>
                <a:latin typeface="宋体" panose="02010600030101010101" pitchFamily="2" charset="-122"/>
              </a:rPr>
              <a:t>思考题</a:t>
            </a:r>
            <a:r>
              <a:rPr lang="en-US" altLang="zh-CN" sz="2800">
                <a:solidFill>
                  <a:srgbClr val="000000"/>
                </a:solidFill>
                <a:latin typeface="宋体" panose="02010600030101010101" pitchFamily="2" charset="-122"/>
              </a:rPr>
              <a:t>:</a:t>
            </a:r>
            <a:endParaRPr lang="en-US" altLang="zh-CN" sz="2800">
              <a:solidFill>
                <a:srgbClr val="000000"/>
              </a:solidFill>
              <a:latin typeface="宋体" panose="02010600030101010101" pitchFamily="2" charset="-122"/>
            </a:endParaRPr>
          </a:p>
          <a:p>
            <a:pPr marL="0" indent="0">
              <a:lnSpc>
                <a:spcPct val="90000"/>
              </a:lnSpc>
              <a:buNone/>
            </a:pPr>
            <a:r>
              <a:rPr lang="en-US" altLang="zh-CN" sz="2800">
                <a:solidFill>
                  <a:srgbClr val="000000"/>
                </a:solidFill>
                <a:latin typeface="宋体" panose="02010600030101010101" pitchFamily="2" charset="-122"/>
              </a:rPr>
              <a:t>1</a:t>
            </a:r>
            <a:r>
              <a:rPr lang="zh-CN" altLang="en-US" sz="2800" dirty="0">
                <a:solidFill>
                  <a:srgbClr val="000000"/>
                </a:solidFill>
                <a:latin typeface="宋体" panose="02010600030101010101" pitchFamily="2" charset="-122"/>
              </a:rPr>
              <a:t>、当通货膨胀率低于预期的水平时为什么有人受益，有人受损失</a:t>
            </a:r>
            <a:r>
              <a:rPr lang="en-US" altLang="zh-CN" sz="2800">
                <a:solidFill>
                  <a:srgbClr val="000000"/>
                </a:solidFill>
                <a:latin typeface="宋体" panose="02010600030101010101" pitchFamily="2" charset="-122"/>
              </a:rPr>
              <a:t>?</a:t>
            </a:r>
            <a:r>
              <a:rPr lang="zh-CN" altLang="en-US" sz="2800" dirty="0">
                <a:solidFill>
                  <a:srgbClr val="000000"/>
                </a:solidFill>
                <a:latin typeface="宋体" panose="02010600030101010101" pitchFamily="2" charset="-122"/>
              </a:rPr>
              <a:t>试以债务人与债权人来解释这－点。</a:t>
            </a:r>
            <a:endParaRPr lang="zh-CN" altLang="en-US" sz="2800" dirty="0">
              <a:solidFill>
                <a:srgbClr val="000000"/>
              </a:solidFill>
              <a:latin typeface="宋体" panose="02010600030101010101" pitchFamily="2" charset="-122"/>
            </a:endParaRPr>
          </a:p>
          <a:p>
            <a:pPr marL="0" indent="0">
              <a:lnSpc>
                <a:spcPct val="90000"/>
              </a:lnSpc>
              <a:buNone/>
            </a:pPr>
            <a:endParaRPr lang="zh-CN" altLang="en-US" sz="2800" dirty="0">
              <a:solidFill>
                <a:srgbClr val="000000"/>
              </a:solidFill>
              <a:latin typeface="宋体" panose="02010600030101010101" pitchFamily="2" charset="-122"/>
            </a:endParaRPr>
          </a:p>
          <a:p>
            <a:pPr marL="0" indent="0">
              <a:lnSpc>
                <a:spcPct val="90000"/>
              </a:lnSpc>
              <a:buNone/>
            </a:pPr>
            <a:endParaRPr lang="zh-CN" altLang="en-US" sz="2800">
              <a:solidFill>
                <a:srgbClr val="000000"/>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395">
                                            <p:txEl>
                                              <p:charRg st="0" end="5"/>
                                            </p:txEl>
                                          </p:spTgt>
                                        </p:tgtEl>
                                        <p:attrNameLst>
                                          <p:attrName>style.visibility</p:attrName>
                                        </p:attrNameLst>
                                      </p:cBhvr>
                                      <p:to>
                                        <p:strVal val="visible"/>
                                      </p:to>
                                    </p:set>
                                    <p:anim calcmode="lin" valueType="num">
                                      <p:cBhvr additive="base">
                                        <p:cTn id="7" dur="500" fill="hold"/>
                                        <p:tgtEl>
                                          <p:spTgt spid="59395">
                                            <p:txEl>
                                              <p:charRg st="0" end="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9395">
                                            <p:txEl>
                                              <p:charRg st="0"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9395">
                                            <p:txEl>
                                              <p:charRg st="5" end="52"/>
                                            </p:txEl>
                                          </p:spTgt>
                                        </p:tgtEl>
                                        <p:attrNameLst>
                                          <p:attrName>style.visibility</p:attrName>
                                        </p:attrNameLst>
                                      </p:cBhvr>
                                      <p:to>
                                        <p:strVal val="visible"/>
                                      </p:to>
                                    </p:set>
                                    <p:anim calcmode="lin" valueType="num">
                                      <p:cBhvr additive="base">
                                        <p:cTn id="13" dur="500" fill="hold"/>
                                        <p:tgtEl>
                                          <p:spTgt spid="59395">
                                            <p:txEl>
                                              <p:charRg st="5" end="5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9395">
                                            <p:txEl>
                                              <p:charRg st="5" end="5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1"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标题 60417"/>
          <p:cNvSpPr>
            <a:spLocks noGrp="1"/>
          </p:cNvSpPr>
          <p:nvPr>
            <p:ph type="title"/>
          </p:nvPr>
        </p:nvSpPr>
        <p:spPr>
          <a:ln/>
        </p:spPr>
        <p:txBody>
          <a:bodyPr anchor="ctr" anchorCtr="0"/>
          <a:p>
            <a:endParaRPr dirty="0"/>
          </a:p>
        </p:txBody>
      </p:sp>
      <p:sp>
        <p:nvSpPr>
          <p:cNvPr id="60419" name="文本占位符 60418"/>
          <p:cNvSpPr>
            <a:spLocks noGrp="1"/>
          </p:cNvSpPr>
          <p:nvPr>
            <p:ph type="body" idx="1"/>
          </p:nvPr>
        </p:nvSpPr>
        <p:spPr>
          <a:xfrm>
            <a:off x="914400" y="1905000"/>
            <a:ext cx="7772400" cy="4114800"/>
          </a:xfrm>
          <a:ln/>
        </p:spPr>
        <p:txBody>
          <a:bodyPr/>
          <a:p>
            <a:pPr marL="0" indent="0">
              <a:buNone/>
            </a:pPr>
            <a:r>
              <a:rPr lang="en-US" altLang="zh-CN">
                <a:solidFill>
                  <a:srgbClr val="000000"/>
                </a:solidFill>
                <a:latin typeface="宋体" panose="02010600030101010101" pitchFamily="2" charset="-122"/>
              </a:rPr>
              <a:t>2</a:t>
            </a:r>
            <a:r>
              <a:rPr lang="zh-CN" altLang="en-US" dirty="0">
                <a:solidFill>
                  <a:srgbClr val="000000"/>
                </a:solidFill>
                <a:latin typeface="宋体" panose="02010600030101010101" pitchFamily="2" charset="-122"/>
              </a:rPr>
              <a:t>、实际国民生产总值与其趋势的背离说明了什么</a:t>
            </a:r>
            <a:r>
              <a:rPr lang="en-US" altLang="zh-CN">
                <a:solidFill>
                  <a:srgbClr val="000000"/>
                </a:solidFill>
                <a:latin typeface="宋体" panose="02010600030101010101" pitchFamily="2" charset="-122"/>
              </a:rPr>
              <a:t>?</a:t>
            </a:r>
            <a:r>
              <a:rPr lang="zh-CN" altLang="en-US" dirty="0">
                <a:solidFill>
                  <a:srgbClr val="000000"/>
                </a:solidFill>
                <a:latin typeface="宋体" panose="02010600030101010101" pitchFamily="2" charset="-122"/>
              </a:rPr>
              <a:t>在经济周期的各个阶段上失业率如何变动</a:t>
            </a:r>
            <a:r>
              <a:rPr lang="en-US" altLang="zh-CN" dirty="0">
                <a:solidFill>
                  <a:srgbClr val="000000"/>
                </a:solidFill>
                <a:latin typeface="宋体" panose="02010600030101010101" pitchFamily="2" charset="-122"/>
              </a:rPr>
              <a:t>?</a:t>
            </a:r>
            <a:endParaRPr lang="en-US" altLang="zh-CN">
              <a:solidFill>
                <a:srgbClr val="000000"/>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0419">
                                            <p:txEl>
                                              <p:charRg st="0" end="43"/>
                                            </p:txEl>
                                          </p:spTgt>
                                        </p:tgtEl>
                                        <p:attrNameLst>
                                          <p:attrName>style.visibility</p:attrName>
                                        </p:attrNameLst>
                                      </p:cBhvr>
                                      <p:to>
                                        <p:strVal val="visible"/>
                                      </p:to>
                                    </p:set>
                                    <p:anim calcmode="lin" valueType="num">
                                      <p:cBhvr additive="base">
                                        <p:cTn id="7" dur="500" fill="hold"/>
                                        <p:tgtEl>
                                          <p:spTgt spid="60419">
                                            <p:txEl>
                                              <p:charRg st="0" end="43"/>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0419">
                                            <p:txEl>
                                              <p:charRg st="0" end="4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7" name="文本占位符 62466"/>
          <p:cNvSpPr>
            <a:spLocks noGrp="1"/>
          </p:cNvSpPr>
          <p:nvPr>
            <p:ph type="body" idx="1"/>
          </p:nvPr>
        </p:nvSpPr>
        <p:spPr>
          <a:xfrm>
            <a:off x="990600" y="620713"/>
            <a:ext cx="7772400" cy="4713287"/>
          </a:xfrm>
          <a:ln/>
        </p:spPr>
        <p:txBody>
          <a:bodyPr/>
          <a:p>
            <a:pPr marL="0" indent="0">
              <a:buNone/>
            </a:pPr>
            <a:r>
              <a:rPr lang="en-US" altLang="zh-CN">
                <a:solidFill>
                  <a:srgbClr val="000000"/>
                </a:solidFill>
                <a:latin typeface="宋体" panose="02010600030101010101" pitchFamily="2" charset="-122"/>
              </a:rPr>
              <a:t>3</a:t>
            </a:r>
            <a:r>
              <a:rPr lang="zh-CN" altLang="en-US" dirty="0">
                <a:solidFill>
                  <a:srgbClr val="000000"/>
                </a:solidFill>
                <a:latin typeface="宋体" panose="02010600030101010101" pitchFamily="2" charset="-122"/>
              </a:rPr>
              <a:t>、假设在</a:t>
            </a:r>
            <a:r>
              <a:rPr lang="en-US" altLang="zh-CN">
                <a:solidFill>
                  <a:srgbClr val="000000"/>
                </a:solidFill>
                <a:latin typeface="宋体" panose="02010600030101010101" pitchFamily="2" charset="-122"/>
              </a:rPr>
              <a:t>1994</a:t>
            </a:r>
            <a:r>
              <a:rPr lang="zh-CN" altLang="en-US" dirty="0">
                <a:solidFill>
                  <a:srgbClr val="000000"/>
                </a:solidFill>
                <a:latin typeface="宋体" panose="02010600030101010101" pitchFamily="2" charset="-122"/>
              </a:rPr>
              <a:t>年与</a:t>
            </a:r>
            <a:r>
              <a:rPr lang="en-US" altLang="zh-CN">
                <a:solidFill>
                  <a:srgbClr val="000000"/>
                </a:solidFill>
                <a:latin typeface="宋体" panose="02010600030101010101" pitchFamily="2" charset="-122"/>
              </a:rPr>
              <a:t>1995</a:t>
            </a:r>
            <a:r>
              <a:rPr lang="zh-CN" altLang="en-US" dirty="0">
                <a:solidFill>
                  <a:srgbClr val="000000"/>
                </a:solidFill>
                <a:latin typeface="宋体" panose="02010600030101010101" pitchFamily="2" charset="-122"/>
              </a:rPr>
              <a:t>年间某国的名义国民生产总值增加了一倍。</a:t>
            </a:r>
            <a:endParaRPr lang="zh-CN" altLang="en-US" dirty="0">
              <a:solidFill>
                <a:srgbClr val="000000"/>
              </a:solidFill>
              <a:latin typeface="宋体" panose="02010600030101010101" pitchFamily="2" charset="-122"/>
            </a:endParaRPr>
          </a:p>
          <a:p>
            <a:pPr marL="0" indent="0">
              <a:buNone/>
            </a:pPr>
            <a:r>
              <a:rPr lang="en-US" altLang="zh-CN">
                <a:solidFill>
                  <a:srgbClr val="000000"/>
                </a:solidFill>
                <a:latin typeface="宋体" panose="02010600030101010101" pitchFamily="2" charset="-122"/>
              </a:rPr>
              <a:t>(1)</a:t>
            </a:r>
            <a:r>
              <a:rPr lang="zh-CN" altLang="en-US" dirty="0">
                <a:solidFill>
                  <a:srgbClr val="000000"/>
                </a:solidFill>
                <a:latin typeface="宋体" panose="02010600030101010101" pitchFamily="2" charset="-122"/>
              </a:rPr>
              <a:t>如果在这两年间平均物价水平上升了－倍，实际国民生产总值发生了什么变动</a:t>
            </a:r>
            <a:r>
              <a:rPr lang="en-US" altLang="zh-CN">
                <a:solidFill>
                  <a:srgbClr val="000000"/>
                </a:solidFill>
                <a:latin typeface="宋体" panose="02010600030101010101" pitchFamily="2" charset="-122"/>
              </a:rPr>
              <a:t>?</a:t>
            </a:r>
            <a:endParaRPr lang="en-US" altLang="zh-CN">
              <a:solidFill>
                <a:srgbClr val="000000"/>
              </a:solidFill>
              <a:latin typeface="宋体" panose="02010600030101010101" pitchFamily="2" charset="-122"/>
            </a:endParaRPr>
          </a:p>
          <a:p>
            <a:pPr marL="0" indent="0">
              <a:buNone/>
            </a:pPr>
            <a:r>
              <a:rPr lang="en-US" altLang="zh-CN">
                <a:solidFill>
                  <a:srgbClr val="000000"/>
                </a:solidFill>
                <a:latin typeface="宋体" panose="02010600030101010101" pitchFamily="2" charset="-122"/>
              </a:rPr>
              <a:t>(2)</a:t>
            </a:r>
            <a:r>
              <a:rPr lang="zh-CN" altLang="en-US" dirty="0">
                <a:solidFill>
                  <a:srgbClr val="000000"/>
                </a:solidFill>
                <a:latin typeface="宋体" panose="02010600030101010101" pitchFamily="2" charset="-122"/>
              </a:rPr>
              <a:t>如果在这两年间平均物价水平的上升小于一倍，实际国民生产总值增加了，还是减少了</a:t>
            </a:r>
            <a:r>
              <a:rPr lang="en-US" altLang="zh-CN">
                <a:solidFill>
                  <a:srgbClr val="000000"/>
                </a:solidFill>
                <a:latin typeface="宋体" panose="02010600030101010101" pitchFamily="2" charset="-122"/>
              </a:rPr>
              <a:t>?</a:t>
            </a:r>
            <a:endParaRPr lang="en-US" altLang="zh-CN">
              <a:solidFill>
                <a:srgbClr val="000000"/>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2467">
                                            <p:txEl>
                                              <p:charRg st="0" end="35"/>
                                            </p:txEl>
                                          </p:spTgt>
                                        </p:tgtEl>
                                        <p:attrNameLst>
                                          <p:attrName>style.visibility</p:attrName>
                                        </p:attrNameLst>
                                      </p:cBhvr>
                                      <p:to>
                                        <p:strVal val="visible"/>
                                      </p:to>
                                    </p:set>
                                    <p:anim calcmode="lin" valueType="num">
                                      <p:cBhvr additive="base">
                                        <p:cTn id="7" dur="500" fill="hold"/>
                                        <p:tgtEl>
                                          <p:spTgt spid="62467">
                                            <p:txEl>
                                              <p:charRg st="0" end="3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2467">
                                            <p:txEl>
                                              <p:charRg st="0" end="3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2467">
                                            <p:txEl>
                                              <p:charRg st="35" end="74"/>
                                            </p:txEl>
                                          </p:spTgt>
                                        </p:tgtEl>
                                        <p:attrNameLst>
                                          <p:attrName>style.visibility</p:attrName>
                                        </p:attrNameLst>
                                      </p:cBhvr>
                                      <p:to>
                                        <p:strVal val="visible"/>
                                      </p:to>
                                    </p:set>
                                    <p:anim calcmode="lin" valueType="num">
                                      <p:cBhvr additive="base">
                                        <p:cTn id="13" dur="500" fill="hold"/>
                                        <p:tgtEl>
                                          <p:spTgt spid="62467">
                                            <p:txEl>
                                              <p:charRg st="35" end="74"/>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2467">
                                            <p:txEl>
                                              <p:charRg st="35" end="7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1"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2467">
                                            <p:txEl>
                                              <p:charRg st="74" end="117"/>
                                            </p:txEl>
                                          </p:spTgt>
                                        </p:tgtEl>
                                        <p:attrNameLst>
                                          <p:attrName>style.visibility</p:attrName>
                                        </p:attrNameLst>
                                      </p:cBhvr>
                                      <p:to>
                                        <p:strVal val="visible"/>
                                      </p:to>
                                    </p:set>
                                    <p:anim calcmode="lin" valueType="num">
                                      <p:cBhvr additive="base">
                                        <p:cTn id="19" dur="500" fill="hold"/>
                                        <p:tgtEl>
                                          <p:spTgt spid="62467">
                                            <p:txEl>
                                              <p:charRg st="74" end="117"/>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2467">
                                            <p:txEl>
                                              <p:charRg st="74" end="11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1"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theme/theme1.xml><?xml version="1.0" encoding="utf-8"?>
<a:theme xmlns:a="http://schemas.openxmlformats.org/drawingml/2006/main" name="彩带型模板">
  <a:themeElements>
    <a:clrScheme name="">
      <a:dk1>
        <a:srgbClr val="663300"/>
      </a:dk1>
      <a:lt1>
        <a:srgbClr val="FFFFFF"/>
      </a:lt1>
      <a:dk2>
        <a:srgbClr val="000000"/>
      </a:dk2>
      <a:lt2>
        <a:srgbClr val="FFFF99"/>
      </a:lt2>
      <a:accent1>
        <a:srgbClr val="FFCC66"/>
      </a:accent1>
      <a:accent2>
        <a:srgbClr val="FFFFCC"/>
      </a:accent2>
      <a:accent3>
        <a:srgbClr val="FFFFFF"/>
      </a:accent3>
      <a:accent4>
        <a:srgbClr val="572A00"/>
      </a:accent4>
      <a:accent5>
        <a:srgbClr val="FFE2B9"/>
      </a:accent5>
      <a:accent6>
        <a:srgbClr val="E5E5B7"/>
      </a:accent6>
      <a:hlink>
        <a:srgbClr val="FFCC00"/>
      </a:hlink>
      <a:folHlink>
        <a:srgbClr val="FF7C80"/>
      </a:folHlink>
    </a:clrScheme>
    <a:fontScheme nam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CC"/>
        </a:dk1>
        <a:lt1>
          <a:srgbClr val="660033"/>
        </a:lt1>
        <a:dk2>
          <a:srgbClr val="FFCC00"/>
        </a:dk2>
        <a:lt2>
          <a:srgbClr val="220011"/>
        </a:lt2>
        <a:accent1>
          <a:srgbClr val="CC0099"/>
        </a:accent1>
        <a:accent2>
          <a:srgbClr val="56002B"/>
        </a:accent2>
        <a:accent3>
          <a:srgbClr val="B9AAAD"/>
        </a:accent3>
        <a:accent4>
          <a:srgbClr val="DCDCAF"/>
        </a:accent4>
        <a:accent5>
          <a:srgbClr val="E2AACA"/>
        </a:accent5>
        <a:accent6>
          <a:srgbClr val="4C0026"/>
        </a:accent6>
        <a:hlink>
          <a:srgbClr val="9C004E"/>
        </a:hlink>
        <a:folHlink>
          <a:srgbClr val="FF6600"/>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33CCCC"/>
        </a:dk2>
        <a:lt2>
          <a:srgbClr val="000F1E"/>
        </a:lt2>
        <a:accent1>
          <a:srgbClr val="006699"/>
        </a:accent1>
        <a:accent2>
          <a:srgbClr val="003366"/>
        </a:accent2>
        <a:accent3>
          <a:srgbClr val="AAADB9"/>
        </a:accent3>
        <a:accent4>
          <a:srgbClr val="DCDCDC"/>
        </a:accent4>
        <a:accent5>
          <a:srgbClr val="AAB9CA"/>
        </a:accent5>
        <a:accent6>
          <a:srgbClr val="002D5B"/>
        </a:accent6>
        <a:hlink>
          <a:srgbClr val="0099CC"/>
        </a:hlink>
        <a:folHlink>
          <a:srgbClr val="009999"/>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66FFCC"/>
        </a:dk2>
        <a:lt2>
          <a:srgbClr val="002F2E"/>
        </a:lt2>
        <a:accent1>
          <a:srgbClr val="0099CC"/>
        </a:accent1>
        <a:accent2>
          <a:srgbClr val="005250"/>
        </a:accent2>
        <a:accent3>
          <a:srgbClr val="AAC1C1"/>
        </a:accent3>
        <a:accent4>
          <a:srgbClr val="DCDCDC"/>
        </a:accent4>
        <a:accent5>
          <a:srgbClr val="AACAE2"/>
        </a:accent5>
        <a:accent6>
          <a:srgbClr val="004947"/>
        </a:accent6>
        <a:hlink>
          <a:srgbClr val="00CC99"/>
        </a:hlink>
        <a:folHlink>
          <a:srgbClr val="009999"/>
        </a:folHlink>
      </a:clrScheme>
      <a:clrMap bg1="lt1" tx1="dk1" bg2="lt2" tx2="dk2" accent1="accent1" accent2="accent2" accent3="accent3" accent4="accent4" accent5="accent5" accent6="accent6" hlink="hlink" folHlink="folHlink"/>
    </a:extraClrScheme>
    <a:extraClrScheme>
      <a:clrScheme name="">
        <a:dk1>
          <a:srgbClr val="FFFFFF"/>
        </a:dk1>
        <a:lt1>
          <a:srgbClr val="000066"/>
        </a:lt1>
        <a:dk2>
          <a:srgbClr val="FFCC00"/>
        </a:dk2>
        <a:lt2>
          <a:srgbClr val="000022"/>
        </a:lt2>
        <a:accent1>
          <a:srgbClr val="666699"/>
        </a:accent1>
        <a:accent2>
          <a:srgbClr val="000048"/>
        </a:accent2>
        <a:accent3>
          <a:srgbClr val="AAAAB9"/>
        </a:accent3>
        <a:accent4>
          <a:srgbClr val="DCDCDC"/>
        </a:accent4>
        <a:accent5>
          <a:srgbClr val="B9B9CA"/>
        </a:accent5>
        <a:accent6>
          <a:srgbClr val="000040"/>
        </a:accent6>
        <a:hlink>
          <a:srgbClr val="9999FF"/>
        </a:hlink>
        <a:folHlink>
          <a:srgbClr val="000099"/>
        </a:folHlink>
      </a:clrScheme>
      <a:clrMap bg1="lt1" tx1="dk1" bg2="lt2" tx2="dk2" accent1="accent1" accent2="accent2" accent3="accent3" accent4="accent4" accent5="accent5" accent6="accent6" hlink="hlink" folHlink="folHlink"/>
    </a:extraClrScheme>
    <a:extraClrScheme>
      <a:clrScheme name="">
        <a:dk1>
          <a:srgbClr val="663300"/>
        </a:dk1>
        <a:lt1>
          <a:srgbClr val="FFFFFF"/>
        </a:lt1>
        <a:dk2>
          <a:srgbClr val="000000"/>
        </a:dk2>
        <a:lt2>
          <a:srgbClr val="FFFF99"/>
        </a:lt2>
        <a:accent1>
          <a:srgbClr val="FFCC66"/>
        </a:accent1>
        <a:accent2>
          <a:srgbClr val="FFFFCC"/>
        </a:accent2>
        <a:accent3>
          <a:srgbClr val="FFFFFF"/>
        </a:accent3>
        <a:accent4>
          <a:srgbClr val="572A00"/>
        </a:accent4>
        <a:accent5>
          <a:srgbClr val="FFE2B9"/>
        </a:accent5>
        <a:accent6>
          <a:srgbClr val="E5E5B7"/>
        </a:accent6>
        <a:hlink>
          <a:srgbClr val="FFCC00"/>
        </a:hlink>
        <a:folHlink>
          <a:srgbClr val="FF7C8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C0C0C0"/>
        </a:lt2>
        <a:accent1>
          <a:srgbClr val="CBCBCB"/>
        </a:accent1>
        <a:accent2>
          <a:srgbClr val="EAEAEA"/>
        </a:accent2>
        <a:accent3>
          <a:srgbClr val="FFFFFF"/>
        </a:accent3>
        <a:accent4>
          <a:srgbClr val="000000"/>
        </a:accent4>
        <a:accent5>
          <a:srgbClr val="E1E1E1"/>
        </a:accent5>
        <a:accent6>
          <a:srgbClr val="D2D2D2"/>
        </a:accent6>
        <a:hlink>
          <a:srgbClr val="4D4D4D"/>
        </a:hlink>
        <a:folHlink>
          <a:srgbClr val="86868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Office\Templates\演示文稿设计\彩带型模板.pot</Template>
  <TotalTime>0</TotalTime>
  <Words>3916</Words>
  <Application>WPS 演示</Application>
  <PresentationFormat/>
  <Paragraphs>203</Paragraphs>
  <Slides>20</Slides>
  <Notes>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6</vt:i4>
      </vt:variant>
      <vt:variant>
        <vt:lpstr>幻灯片标题</vt:lpstr>
      </vt:variant>
      <vt:variant>
        <vt:i4>20</vt:i4>
      </vt:variant>
    </vt:vector>
  </HeadingPairs>
  <TitlesOfParts>
    <vt:vector size="37" baseType="lpstr">
      <vt:lpstr>Arial</vt:lpstr>
      <vt:lpstr>宋体</vt:lpstr>
      <vt:lpstr>Wingdings</vt:lpstr>
      <vt:lpstr>Times New Roman</vt:lpstr>
      <vt:lpstr>黑体</vt:lpstr>
      <vt:lpstr>隶书</vt:lpstr>
      <vt:lpstr>Tahoma</vt:lpstr>
      <vt:lpstr>楷体</vt:lpstr>
      <vt:lpstr>微软雅黑</vt:lpstr>
      <vt:lpstr>Arial Unicode MS</vt:lpstr>
      <vt:lpstr>彩带型模板</vt:lpstr>
      <vt:lpstr>Equation.3</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第一章微观经济学导论     1.基本经济问题  .三个重要概念  ）稀缺（scarcity）：社会资源的有限性，是指社会提供的东西少于人们想拥有的。 基本假设：  ①人类的欲望是无穷的   ②资源是有限的</dc:title>
  <dc:creator>aopen</dc:creator>
  <cp:lastModifiedBy>王瑞</cp:lastModifiedBy>
  <cp:revision>25</cp:revision>
  <dcterms:created xsi:type="dcterms:W3CDTF">2003-01-22T06:12:13Z</dcterms:created>
  <dcterms:modified xsi:type="dcterms:W3CDTF">2024-11-07T10:09:44Z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5B414B3F473349DA862845BA62397C77_13</vt:lpwstr>
  </property>
  <property fmtid="{D5CDD505-2E9C-101B-9397-08002B2CF9AE}" pid="3" name="KSOProductBuildVer">
    <vt:lpwstr>2052-12.1.0.18276</vt:lpwstr>
  </property>
</Properties>
</file>