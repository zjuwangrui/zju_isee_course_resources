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550" r:id="rId2"/>
    <p:sldId id="557" r:id="rId3"/>
    <p:sldId id="294" r:id="rId4"/>
    <p:sldId id="558" r:id="rId5"/>
    <p:sldId id="373" r:id="rId6"/>
    <p:sldId id="374" r:id="rId7"/>
    <p:sldId id="375" r:id="rId8"/>
    <p:sldId id="376" r:id="rId9"/>
    <p:sldId id="292" r:id="rId10"/>
    <p:sldId id="293" r:id="rId11"/>
    <p:sldId id="551" r:id="rId12"/>
    <p:sldId id="552" r:id="rId13"/>
    <p:sldId id="553" r:id="rId14"/>
    <p:sldId id="356" r:id="rId15"/>
    <p:sldId id="524" r:id="rId16"/>
    <p:sldId id="366" r:id="rId17"/>
    <p:sldId id="448" r:id="rId18"/>
    <p:sldId id="555" r:id="rId19"/>
    <p:sldId id="386" r:id="rId20"/>
    <p:sldId id="326" r:id="rId21"/>
    <p:sldId id="349" r:id="rId22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4" userDrawn="1">
          <p15:clr>
            <a:srgbClr val="A4A3A4"/>
          </p15:clr>
        </p15:guide>
        <p15:guide id="2" pos="380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JU" initials="Z" lastIdx="2" clrIdx="0"/>
  <p:cmAuthor id="2" name="个人用户" initials="个人用户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D7D31"/>
    <a:srgbClr val="F29E65"/>
    <a:srgbClr val="F0B8A6"/>
    <a:srgbClr val="EF8136"/>
    <a:srgbClr val="EE8137"/>
    <a:srgbClr val="C55A11"/>
    <a:srgbClr val="2F5597"/>
    <a:srgbClr val="A2A2A2"/>
    <a:srgbClr val="EBE9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05" autoAdjust="0"/>
    <p:restoredTop sz="87287" autoAdjust="0"/>
  </p:normalViewPr>
  <p:slideViewPr>
    <p:cSldViewPr snapToGrid="0" showGuides="1">
      <p:cViewPr varScale="1">
        <p:scale>
          <a:sx n="115" d="100"/>
          <a:sy n="115" d="100"/>
        </p:scale>
        <p:origin x="221" y="86"/>
      </p:cViewPr>
      <p:guideLst>
        <p:guide orient="horz" pos="2114"/>
        <p:guide pos="38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83AA3F-A82B-43BF-B18C-5608A05C57EB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30F0D-1A5A-4EA2-B28F-0EC912CB6B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4AAB2-09CE-424C-B2E6-4597091F7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0223D48-10C4-538C-0773-66CDEE0971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91C7037-BA25-E503-997F-3840C53D3D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solidFill>
                <a:schemeClr val="tx2"/>
              </a:solidFill>
              <a:latin typeface="宋体" panose="02010600030101010101" pitchFamily="2" charset="-122"/>
              <a:ea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733977-2F61-2414-690D-68D460931B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4966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dirty="0">
              <a:solidFill>
                <a:schemeClr val="tx2"/>
              </a:solidFill>
              <a:latin typeface="宋体" panose="02010600030101010101" pitchFamily="2" charset="-122"/>
              <a:ea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sz="1200" dirty="0">
              <a:solidFill>
                <a:schemeClr val="tx2"/>
              </a:solidFill>
              <a:latin typeface="宋体" panose="02010600030101010101" pitchFamily="2" charset="-122"/>
              <a:ea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sz="1200" dirty="0">
              <a:solidFill>
                <a:schemeClr val="tx2"/>
              </a:solidFill>
              <a:latin typeface="宋体" panose="02010600030101010101" pitchFamily="2" charset="-122"/>
              <a:ea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B3EF8-6704-43C3-8F75-DEFE5F5BF111}" type="datetime1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31A8-ED3E-4C2F-8A11-01DA33E8AA9F}" type="datetime1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2B3F5-254C-4FB2-B459-1E97057DBEBE}" type="datetime1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93B7A-F841-43D1-87B4-23314CEA1932}" type="datetime1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8F70B-9E30-40F6-BB2D-492DB8A20061}" type="datetime1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39D20-B6AE-409E-AE69-DF1C3E6493B0}" type="datetime1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997D8-1CC1-4D1D-AF9B-F3494A691C40}" type="datetime1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0E83B-EDA7-4322-8CA8-C73FECAEB8E3}" type="datetime1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0E2C6-59A5-43B5-9200-40EBBA2C2ED4}" type="datetime1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913B5-1C68-4AC6-B30B-B7D937B82F38}" type="datetime1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2" y="365127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2" y="365127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D71C6-9046-4CE9-A225-CEB1A658F8F9}" type="datetime1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D8A45-B5D6-47BE-9DA3-56E1A2FB3E55}" type="datetime1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4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0.png"/><Relationship Id="rId5" Type="http://schemas.openxmlformats.org/officeDocument/2006/relationships/image" Target="../media/image7.png"/><Relationship Id="rId4" Type="http://schemas.openxmlformats.org/officeDocument/2006/relationships/image" Target="../media/image6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190.png"/><Relationship Id="rId4" Type="http://schemas.openxmlformats.org/officeDocument/2006/relationships/image" Target="../media/image17.png"/><Relationship Id="rId9" Type="http://schemas.openxmlformats.org/officeDocument/2006/relationships/image" Target="../media/image18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9.png"/><Relationship Id="rId9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 78"/>
          <p:cNvSpPr/>
          <p:nvPr/>
        </p:nvSpPr>
        <p:spPr>
          <a:xfrm>
            <a:off x="-8551" y="4672004"/>
            <a:ext cx="12192000" cy="123425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1"/>
            <a:tileRect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 dirty="0"/>
          </a:p>
        </p:txBody>
      </p:sp>
      <p:sp>
        <p:nvSpPr>
          <p:cNvPr id="25" name="圆角矩形 24"/>
          <p:cNvSpPr/>
          <p:nvPr/>
        </p:nvSpPr>
        <p:spPr>
          <a:xfrm rot="10800000" flipV="1">
            <a:off x="5385470" y="4879759"/>
            <a:ext cx="38707" cy="369281"/>
          </a:xfrm>
          <a:prstGeom prst="roundRect">
            <a:avLst>
              <a:gd name="adj" fmla="val 5039"/>
            </a:avLst>
          </a:prstGeom>
          <a:solidFill>
            <a:srgbClr val="2F559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4243936" y="4833567"/>
            <a:ext cx="2763959" cy="430887"/>
            <a:chOff x="8683434" y="5760346"/>
            <a:chExt cx="2763960" cy="434414"/>
          </a:xfrm>
        </p:grpSpPr>
        <p:sp>
          <p:nvSpPr>
            <p:cNvPr id="42" name="文本框 41"/>
            <p:cNvSpPr txBox="1"/>
            <p:nvPr/>
          </p:nvSpPr>
          <p:spPr>
            <a:xfrm>
              <a:off x="8683434" y="5760346"/>
              <a:ext cx="1031051" cy="4344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zh-CN" altLang="en-US" sz="22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姜柏旭</a:t>
              </a:r>
              <a:endParaRPr lang="en-US" altLang="zh-CN" sz="22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10345809" y="5760346"/>
              <a:ext cx="1101585" cy="43441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altLang="zh-CN" sz="2200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2025.09</a:t>
              </a:r>
            </a:p>
          </p:txBody>
        </p:sp>
      </p:grpSp>
      <p:sp>
        <p:nvSpPr>
          <p:cNvPr id="44" name="文本框 43"/>
          <p:cNvSpPr txBox="1"/>
          <p:nvPr/>
        </p:nvSpPr>
        <p:spPr>
          <a:xfrm>
            <a:off x="1785034" y="3178727"/>
            <a:ext cx="8604829" cy="45910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2400" b="1" spc="600" dirty="0">
                <a:solidFill>
                  <a:schemeClr val="bg1">
                    <a:lumMod val="50000"/>
                    <a:alpha val="78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Polarization of Light</a:t>
            </a:r>
            <a:endParaRPr lang="en-US" altLang="zh-CN" sz="2400" b="1" dirty="0">
              <a:solidFill>
                <a:srgbClr val="40404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2140526" y="2054772"/>
            <a:ext cx="8084129" cy="101346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6000" dirty="0">
                <a:ln w="0"/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光的偏振研究</a:t>
            </a:r>
            <a:endParaRPr kumimoji="1" lang="zh-CN" altLang="en-US" sz="6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3398551" y="5314714"/>
            <a:ext cx="4653495" cy="40011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Segoe UI Semilight" panose="020B0402040204020203" pitchFamily="34" charset="0"/>
              </a:rPr>
              <a:t>浙江大学  物理学院</a:t>
            </a:r>
          </a:p>
        </p:txBody>
      </p:sp>
      <p:sp>
        <p:nvSpPr>
          <p:cNvPr id="10" name="圆角矩形 9"/>
          <p:cNvSpPr/>
          <p:nvPr/>
        </p:nvSpPr>
        <p:spPr>
          <a:xfrm rot="16200000" flipV="1">
            <a:off x="10447003" y="4634619"/>
            <a:ext cx="1282079" cy="1300156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 96"/>
          <p:cNvSpPr/>
          <p:nvPr/>
        </p:nvSpPr>
        <p:spPr bwMode="auto">
          <a:xfrm>
            <a:off x="10716633" y="4926395"/>
            <a:ext cx="742823" cy="716604"/>
          </a:xfrm>
          <a:custGeom>
            <a:avLst/>
            <a:gdLst>
              <a:gd name="T0" fmla="*/ 184 w 216"/>
              <a:gd name="T1" fmla="*/ 0 h 208"/>
              <a:gd name="T2" fmla="*/ 152 w 216"/>
              <a:gd name="T3" fmla="*/ 32 h 208"/>
              <a:gd name="T4" fmla="*/ 154 w 216"/>
              <a:gd name="T5" fmla="*/ 41 h 208"/>
              <a:gd name="T6" fmla="*/ 60 w 216"/>
              <a:gd name="T7" fmla="*/ 80 h 208"/>
              <a:gd name="T8" fmla="*/ 32 w 216"/>
              <a:gd name="T9" fmla="*/ 64 h 208"/>
              <a:gd name="T10" fmla="*/ 0 w 216"/>
              <a:gd name="T11" fmla="*/ 96 h 208"/>
              <a:gd name="T12" fmla="*/ 32 w 216"/>
              <a:gd name="T13" fmla="*/ 128 h 208"/>
              <a:gd name="T14" fmla="*/ 56 w 216"/>
              <a:gd name="T15" fmla="*/ 118 h 208"/>
              <a:gd name="T16" fmla="*/ 116 w 216"/>
              <a:gd name="T17" fmla="*/ 161 h 208"/>
              <a:gd name="T18" fmla="*/ 112 w 216"/>
              <a:gd name="T19" fmla="*/ 176 h 208"/>
              <a:gd name="T20" fmla="*/ 144 w 216"/>
              <a:gd name="T21" fmla="*/ 208 h 208"/>
              <a:gd name="T22" fmla="*/ 176 w 216"/>
              <a:gd name="T23" fmla="*/ 176 h 208"/>
              <a:gd name="T24" fmla="*/ 144 w 216"/>
              <a:gd name="T25" fmla="*/ 144 h 208"/>
              <a:gd name="T26" fmla="*/ 121 w 216"/>
              <a:gd name="T27" fmla="*/ 154 h 208"/>
              <a:gd name="T28" fmla="*/ 61 w 216"/>
              <a:gd name="T29" fmla="*/ 111 h 208"/>
              <a:gd name="T30" fmla="*/ 64 w 216"/>
              <a:gd name="T31" fmla="*/ 96 h 208"/>
              <a:gd name="T32" fmla="*/ 63 w 216"/>
              <a:gd name="T33" fmla="*/ 87 h 208"/>
              <a:gd name="T34" fmla="*/ 157 w 216"/>
              <a:gd name="T35" fmla="*/ 48 h 208"/>
              <a:gd name="T36" fmla="*/ 184 w 216"/>
              <a:gd name="T37" fmla="*/ 64 h 208"/>
              <a:gd name="T38" fmla="*/ 216 w 216"/>
              <a:gd name="T39" fmla="*/ 32 h 208"/>
              <a:gd name="T40" fmla="*/ 184 w 216"/>
              <a:gd name="T41" fmla="*/ 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6" h="208">
                <a:moveTo>
                  <a:pt x="184" y="0"/>
                </a:moveTo>
                <a:cubicBezTo>
                  <a:pt x="167" y="0"/>
                  <a:pt x="152" y="14"/>
                  <a:pt x="152" y="32"/>
                </a:cubicBezTo>
                <a:cubicBezTo>
                  <a:pt x="152" y="35"/>
                  <a:pt x="153" y="38"/>
                  <a:pt x="154" y="41"/>
                </a:cubicBezTo>
                <a:cubicBezTo>
                  <a:pt x="60" y="80"/>
                  <a:pt x="60" y="80"/>
                  <a:pt x="60" y="80"/>
                </a:cubicBezTo>
                <a:cubicBezTo>
                  <a:pt x="55" y="70"/>
                  <a:pt x="44" y="64"/>
                  <a:pt x="32" y="64"/>
                </a:cubicBezTo>
                <a:cubicBezTo>
                  <a:pt x="15" y="64"/>
                  <a:pt x="0" y="78"/>
                  <a:pt x="0" y="96"/>
                </a:cubicBezTo>
                <a:cubicBezTo>
                  <a:pt x="0" y="113"/>
                  <a:pt x="15" y="128"/>
                  <a:pt x="32" y="128"/>
                </a:cubicBezTo>
                <a:cubicBezTo>
                  <a:pt x="42" y="128"/>
                  <a:pt x="50" y="124"/>
                  <a:pt x="56" y="118"/>
                </a:cubicBezTo>
                <a:cubicBezTo>
                  <a:pt x="116" y="161"/>
                  <a:pt x="116" y="161"/>
                  <a:pt x="116" y="161"/>
                </a:cubicBezTo>
                <a:cubicBezTo>
                  <a:pt x="114" y="165"/>
                  <a:pt x="112" y="170"/>
                  <a:pt x="112" y="176"/>
                </a:cubicBezTo>
                <a:cubicBezTo>
                  <a:pt x="112" y="193"/>
                  <a:pt x="127" y="208"/>
                  <a:pt x="144" y="208"/>
                </a:cubicBezTo>
                <a:cubicBezTo>
                  <a:pt x="162" y="208"/>
                  <a:pt x="176" y="193"/>
                  <a:pt x="176" y="176"/>
                </a:cubicBezTo>
                <a:cubicBezTo>
                  <a:pt x="176" y="158"/>
                  <a:pt x="162" y="144"/>
                  <a:pt x="144" y="144"/>
                </a:cubicBezTo>
                <a:cubicBezTo>
                  <a:pt x="135" y="144"/>
                  <a:pt x="127" y="148"/>
                  <a:pt x="121" y="154"/>
                </a:cubicBezTo>
                <a:cubicBezTo>
                  <a:pt x="61" y="111"/>
                  <a:pt x="61" y="111"/>
                  <a:pt x="61" y="111"/>
                </a:cubicBezTo>
                <a:cubicBezTo>
                  <a:pt x="63" y="107"/>
                  <a:pt x="64" y="101"/>
                  <a:pt x="64" y="96"/>
                </a:cubicBezTo>
                <a:cubicBezTo>
                  <a:pt x="64" y="93"/>
                  <a:pt x="64" y="90"/>
                  <a:pt x="63" y="87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7"/>
                  <a:pt x="173" y="64"/>
                  <a:pt x="184" y="64"/>
                </a:cubicBezTo>
                <a:cubicBezTo>
                  <a:pt x="202" y="64"/>
                  <a:pt x="216" y="49"/>
                  <a:pt x="216" y="32"/>
                </a:cubicBezTo>
                <a:cubicBezTo>
                  <a:pt x="216" y="14"/>
                  <a:pt x="202" y="0"/>
                  <a:pt x="1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36" tIns="45718" rIns="91436" bIns="45718" numCol="1" anchor="t" anchorCtr="0" compatLnSpc="1"/>
          <a:lstStyle/>
          <a:p>
            <a:endParaRPr lang="zh-CN" altLang="en-US">
              <a:solidFill>
                <a:srgbClr val="AD1C2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49" y="209688"/>
            <a:ext cx="4712251" cy="813468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1</a:t>
            </a:fld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" name="直接连接符 82"/>
          <p:cNvCxnSpPr/>
          <p:nvPr/>
        </p:nvCxnSpPr>
        <p:spPr>
          <a:xfrm flipH="1">
            <a:off x="6763951" y="1365189"/>
            <a:ext cx="1" cy="5492811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6038455" y="0"/>
            <a:ext cx="0" cy="5643645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 rot="5400000">
            <a:off x="-2741856" y="2736809"/>
            <a:ext cx="6818603" cy="134499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28463" y="245327"/>
            <a:ext cx="1015655" cy="6450723"/>
          </a:xfrm>
          <a:prstGeom prst="rect">
            <a:avLst/>
          </a:prstGeom>
          <a:noFill/>
        </p:spPr>
        <p:txBody>
          <a:bodyPr vert="eaVert" wrap="square" lIns="91436" tIns="45718" rIns="91436" bIns="45718" rtlCol="0">
            <a:spAutoFit/>
          </a:bodyPr>
          <a:lstStyle/>
          <a:p>
            <a:r>
              <a:rPr lang="zh-CN" altLang="en-US" sz="5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目录</a:t>
            </a:r>
            <a:r>
              <a:rPr lang="zh-CN" altLang="en-US" sz="5400" dirty="0">
                <a:solidFill>
                  <a:schemeClr val="bg1"/>
                </a:solidFill>
                <a:latin typeface="Eras Light ITC" panose="020B0402030504020804" pitchFamily="34" charset="0"/>
              </a:rPr>
              <a:t> </a:t>
            </a:r>
            <a:r>
              <a:rPr lang="en-US" altLang="zh-CN" sz="5400" dirty="0">
                <a:solidFill>
                  <a:schemeClr val="bg1"/>
                </a:solidFill>
                <a:latin typeface="Eras Light ITC" panose="020B0402030504020804" pitchFamily="34" charset="0"/>
              </a:rPr>
              <a:t>CONTENTS</a:t>
            </a:r>
            <a:endParaRPr lang="zh-CN" altLang="en-US" sz="5400" dirty="0">
              <a:solidFill>
                <a:schemeClr val="bg1"/>
              </a:solidFill>
              <a:latin typeface="Eras Light ITC" panose="020B0402030504020804" pitchFamily="34" charset="0"/>
            </a:endParaRPr>
          </a:p>
        </p:txBody>
      </p:sp>
      <p:sp>
        <p:nvSpPr>
          <p:cNvPr id="74" name="圆角矩形 73"/>
          <p:cNvSpPr/>
          <p:nvPr/>
        </p:nvSpPr>
        <p:spPr>
          <a:xfrm rot="10800000" flipV="1">
            <a:off x="6521811" y="1867917"/>
            <a:ext cx="484287" cy="491115"/>
          </a:xfrm>
          <a:prstGeom prst="roundRect">
            <a:avLst>
              <a:gd name="adj" fmla="val 5039"/>
            </a:avLst>
          </a:prstGeom>
          <a:solidFill>
            <a:srgbClr val="2F559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75" name="圆角矩形 74"/>
          <p:cNvSpPr/>
          <p:nvPr/>
        </p:nvSpPr>
        <p:spPr>
          <a:xfrm rot="10800000" flipV="1">
            <a:off x="5797243" y="2531285"/>
            <a:ext cx="484287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76" name="圆角矩形 75"/>
          <p:cNvSpPr/>
          <p:nvPr/>
        </p:nvSpPr>
        <p:spPr>
          <a:xfrm rot="10800000" flipV="1">
            <a:off x="6521811" y="3137917"/>
            <a:ext cx="484287" cy="491115"/>
          </a:xfrm>
          <a:prstGeom prst="roundRect">
            <a:avLst>
              <a:gd name="adj" fmla="val 5039"/>
            </a:avLst>
          </a:prstGeom>
          <a:solidFill>
            <a:srgbClr val="2F559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77" name="圆角矩形 76"/>
          <p:cNvSpPr/>
          <p:nvPr/>
        </p:nvSpPr>
        <p:spPr>
          <a:xfrm rot="10800000" flipV="1">
            <a:off x="5797243" y="3801285"/>
            <a:ext cx="484287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88" name="文本框 87"/>
          <p:cNvSpPr txBox="1"/>
          <p:nvPr/>
        </p:nvSpPr>
        <p:spPr>
          <a:xfrm>
            <a:off x="7676173" y="1751805"/>
            <a:ext cx="2069789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latin typeface="+mj-ea"/>
                <a:ea typeface="+mj-ea"/>
              </a:rPr>
              <a:t>实验装置</a:t>
            </a:r>
          </a:p>
        </p:txBody>
      </p:sp>
      <p:sp>
        <p:nvSpPr>
          <p:cNvPr id="89" name="文本框 88"/>
          <p:cNvSpPr txBox="1"/>
          <p:nvPr/>
        </p:nvSpPr>
        <p:spPr>
          <a:xfrm>
            <a:off x="3250227" y="3730904"/>
            <a:ext cx="2069789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latin typeface="+mj-ea"/>
                <a:ea typeface="+mj-ea"/>
              </a:rPr>
              <a:t>实验目的</a:t>
            </a:r>
          </a:p>
        </p:txBody>
      </p:sp>
      <p:sp>
        <p:nvSpPr>
          <p:cNvPr id="90" name="文本框 89"/>
          <p:cNvSpPr txBox="1"/>
          <p:nvPr/>
        </p:nvSpPr>
        <p:spPr>
          <a:xfrm>
            <a:off x="7676173" y="3021805"/>
            <a:ext cx="2069789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latin typeface="+mj-ea"/>
                <a:ea typeface="+mj-ea"/>
              </a:rPr>
              <a:t>实验内容</a:t>
            </a:r>
          </a:p>
        </p:txBody>
      </p:sp>
      <p:sp>
        <p:nvSpPr>
          <p:cNvPr id="91" name="文本框 90"/>
          <p:cNvSpPr txBox="1"/>
          <p:nvPr/>
        </p:nvSpPr>
        <p:spPr>
          <a:xfrm>
            <a:off x="3250227" y="2465344"/>
            <a:ext cx="2069789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latin typeface="+mj-ea"/>
                <a:ea typeface="+mj-ea"/>
              </a:rPr>
              <a:t>实验原理</a:t>
            </a:r>
          </a:p>
        </p:txBody>
      </p:sp>
      <p:sp>
        <p:nvSpPr>
          <p:cNvPr id="105" name="矩形 104"/>
          <p:cNvSpPr/>
          <p:nvPr/>
        </p:nvSpPr>
        <p:spPr>
          <a:xfrm>
            <a:off x="3300197" y="4320367"/>
            <a:ext cx="1827736" cy="261606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1100" dirty="0">
                <a:solidFill>
                  <a:srgbClr val="A2A2A2"/>
                </a:solidFill>
                <a:latin typeface="+mj-ea"/>
                <a:ea typeface="+mj-ea"/>
                <a:cs typeface="Times New Roman" panose="02020603050405020304" pitchFamily="18" charset="0"/>
              </a:rPr>
              <a:t>EXPERIMENT OBJECTIVE</a:t>
            </a:r>
          </a:p>
        </p:txBody>
      </p:sp>
      <p:sp>
        <p:nvSpPr>
          <p:cNvPr id="106" name="矩形 105"/>
          <p:cNvSpPr/>
          <p:nvPr/>
        </p:nvSpPr>
        <p:spPr>
          <a:xfrm>
            <a:off x="3376980" y="3111671"/>
            <a:ext cx="1808499" cy="261606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1100" dirty="0">
                <a:solidFill>
                  <a:srgbClr val="A2A2A2"/>
                </a:solidFill>
                <a:latin typeface="+mj-ea"/>
                <a:ea typeface="+mj-ea"/>
                <a:cs typeface="Times New Roman" panose="02020603050405020304" pitchFamily="18" charset="0"/>
              </a:rPr>
              <a:t>EXPERIMENT PRINCIPLE</a:t>
            </a:r>
          </a:p>
        </p:txBody>
      </p:sp>
      <p:sp>
        <p:nvSpPr>
          <p:cNvPr id="107" name="矩形 106"/>
          <p:cNvSpPr/>
          <p:nvPr/>
        </p:nvSpPr>
        <p:spPr>
          <a:xfrm>
            <a:off x="7808419" y="2359032"/>
            <a:ext cx="1766821" cy="261606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1100" dirty="0">
                <a:solidFill>
                  <a:srgbClr val="A2A2A2"/>
                </a:solidFill>
                <a:latin typeface="+mj-ea"/>
                <a:ea typeface="+mj-ea"/>
                <a:cs typeface="Times New Roman" panose="02020603050405020304" pitchFamily="18" charset="0"/>
              </a:rPr>
              <a:t>EXPERIMENTAL DEVICE</a:t>
            </a:r>
          </a:p>
        </p:txBody>
      </p:sp>
      <p:sp>
        <p:nvSpPr>
          <p:cNvPr id="108" name="矩形 107"/>
          <p:cNvSpPr/>
          <p:nvPr/>
        </p:nvSpPr>
        <p:spPr>
          <a:xfrm>
            <a:off x="7731593" y="3629032"/>
            <a:ext cx="1779646" cy="261606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1100" dirty="0">
                <a:solidFill>
                  <a:srgbClr val="A2A2A2"/>
                </a:solidFill>
                <a:latin typeface="+mj-ea"/>
                <a:ea typeface="+mj-ea"/>
                <a:cs typeface="Times New Roman" panose="02020603050405020304" pitchFamily="18" charset="0"/>
              </a:rPr>
              <a:t>EXPERIMENT</a:t>
            </a:r>
            <a:r>
              <a:rPr lang="zh-CN" altLang="en-US" sz="1100" dirty="0">
                <a:solidFill>
                  <a:srgbClr val="A2A2A2"/>
                </a:solidFill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sz="1100" dirty="0">
                <a:solidFill>
                  <a:srgbClr val="A2A2A2"/>
                </a:solidFill>
                <a:latin typeface="+mj-ea"/>
                <a:ea typeface="+mj-ea"/>
                <a:cs typeface="Times New Roman" panose="02020603050405020304" pitchFamily="18" charset="0"/>
              </a:rPr>
              <a:t>CONTENT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0" y="2847434"/>
            <a:ext cx="12192001" cy="1291039"/>
            <a:chOff x="0" y="2847433"/>
            <a:chExt cx="12192000" cy="1291039"/>
          </a:xfrm>
        </p:grpSpPr>
        <p:sp>
          <p:nvSpPr>
            <p:cNvPr id="51" name="矩形 50"/>
            <p:cNvSpPr/>
            <p:nvPr/>
          </p:nvSpPr>
          <p:spPr>
            <a:xfrm flipH="1">
              <a:off x="0" y="2872348"/>
              <a:ext cx="12192000" cy="125206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451" y="2847433"/>
              <a:ext cx="1273995" cy="1291039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6000" dirty="0"/>
                <a:t>1</a:t>
              </a:r>
              <a:endParaRPr lang="zh-CN" altLang="en-US" sz="60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015674" y="3077396"/>
              <a:ext cx="2954651" cy="830995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实验原理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5173029" y="3264361"/>
              <a:ext cx="3821620" cy="461663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EXPERIMENT  PRINCIPLE</a:t>
              </a:r>
              <a:endPara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77D18-CA7E-4E95-82E2-7D876637B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>
            <a:extLst>
              <a:ext uri="{FF2B5EF4-FFF2-40B4-BE49-F238E27FC236}">
                <a16:creationId xmlns:a16="http://schemas.microsoft.com/office/drawing/2014/main" id="{CAB4E2D4-4EB5-FE7B-3DB8-B1052F3438C2}"/>
              </a:ext>
            </a:extLst>
          </p:cNvPr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>
            <a:extLst>
              <a:ext uri="{FF2B5EF4-FFF2-40B4-BE49-F238E27FC236}">
                <a16:creationId xmlns:a16="http://schemas.microsoft.com/office/drawing/2014/main" id="{0C5E46E3-EB5B-244E-0F1E-2D16E8AAC390}"/>
              </a:ext>
            </a:extLst>
          </p:cNvPr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396" name="文本框 395">
            <a:extLst>
              <a:ext uri="{FF2B5EF4-FFF2-40B4-BE49-F238E27FC236}">
                <a16:creationId xmlns:a16="http://schemas.microsoft.com/office/drawing/2014/main" id="{A69A6EDD-ACAA-D56B-D4FC-19203608E426}"/>
              </a:ext>
            </a:extLst>
          </p:cNvPr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</a:p>
        </p:txBody>
      </p:sp>
      <p:sp>
        <p:nvSpPr>
          <p:cNvPr id="397" name="矩形 396">
            <a:extLst>
              <a:ext uri="{FF2B5EF4-FFF2-40B4-BE49-F238E27FC236}">
                <a16:creationId xmlns:a16="http://schemas.microsoft.com/office/drawing/2014/main" id="{C8EA85B3-A54D-3936-EF93-5C3931E9AD97}"/>
              </a:ext>
            </a:extLst>
          </p:cNvPr>
          <p:cNvSpPr/>
          <p:nvPr/>
        </p:nvSpPr>
        <p:spPr>
          <a:xfrm>
            <a:off x="2633447" y="324999"/>
            <a:ext cx="3138543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PRINCIPLE</a:t>
            </a:r>
          </a:p>
        </p:txBody>
      </p:sp>
      <p:grpSp>
        <p:nvGrpSpPr>
          <p:cNvPr id="399" name="组 398">
            <a:extLst>
              <a:ext uri="{FF2B5EF4-FFF2-40B4-BE49-F238E27FC236}">
                <a16:creationId xmlns:a16="http://schemas.microsoft.com/office/drawing/2014/main" id="{A3E6CBB7-4498-BB71-AB6E-FB49424F1381}"/>
              </a:ext>
            </a:extLst>
          </p:cNvPr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>
              <a:extLst>
                <a:ext uri="{FF2B5EF4-FFF2-40B4-BE49-F238E27FC236}">
                  <a16:creationId xmlns:a16="http://schemas.microsoft.com/office/drawing/2014/main" id="{C5914DE2-B9BC-0DD6-405A-A5E259962B6D}"/>
                </a:ext>
              </a:extLst>
            </p:cNvPr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>
                <a:extLst>
                  <a:ext uri="{FF2B5EF4-FFF2-40B4-BE49-F238E27FC236}">
                    <a16:creationId xmlns:a16="http://schemas.microsoft.com/office/drawing/2014/main" id="{B7BFF3D7-419E-F09F-EFA3-5F212482B88A}"/>
                  </a:ext>
                </a:extLst>
              </p:cNvPr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>
                <a:extLst>
                  <a:ext uri="{FF2B5EF4-FFF2-40B4-BE49-F238E27FC236}">
                    <a16:creationId xmlns:a16="http://schemas.microsoft.com/office/drawing/2014/main" id="{AD66C86A-9067-6455-248E-D9379D95C021}"/>
                  </a:ext>
                </a:extLst>
              </p:cNvPr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>
                <a:extLst>
                  <a:ext uri="{FF2B5EF4-FFF2-40B4-BE49-F238E27FC236}">
                    <a16:creationId xmlns:a16="http://schemas.microsoft.com/office/drawing/2014/main" id="{5002DF45-A889-DA24-4245-EE46D1B25A66}"/>
                  </a:ext>
                </a:extLst>
              </p:cNvPr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>
                <a:extLst>
                  <a:ext uri="{FF2B5EF4-FFF2-40B4-BE49-F238E27FC236}">
                    <a16:creationId xmlns:a16="http://schemas.microsoft.com/office/drawing/2014/main" id="{D6BD1B39-C62C-85D8-260A-A43E4D49304A}"/>
                  </a:ext>
                </a:extLst>
              </p:cNvPr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>
                <a:extLst>
                  <a:ext uri="{FF2B5EF4-FFF2-40B4-BE49-F238E27FC236}">
                    <a16:creationId xmlns:a16="http://schemas.microsoft.com/office/drawing/2014/main" id="{227E16A2-F5B2-3D1E-3B9B-A225D56828B2}"/>
                  </a:ext>
                </a:extLst>
              </p:cNvPr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>
              <a:extLst>
                <a:ext uri="{FF2B5EF4-FFF2-40B4-BE49-F238E27FC236}">
                  <a16:creationId xmlns:a16="http://schemas.microsoft.com/office/drawing/2014/main" id="{D63D94FF-C508-39C7-791C-628076426FB6}"/>
                </a:ext>
              </a:extLst>
            </p:cNvPr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>
                <a:extLst>
                  <a:ext uri="{FF2B5EF4-FFF2-40B4-BE49-F238E27FC236}">
                    <a16:creationId xmlns:a16="http://schemas.microsoft.com/office/drawing/2014/main" id="{F4570F9B-C978-8E92-E41D-1267FF6C32EB}"/>
                  </a:ext>
                </a:extLst>
              </p:cNvPr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>
                <a:extLst>
                  <a:ext uri="{FF2B5EF4-FFF2-40B4-BE49-F238E27FC236}">
                    <a16:creationId xmlns:a16="http://schemas.microsoft.com/office/drawing/2014/main" id="{E52201FB-16D7-30FB-2A5C-7BB606810396}"/>
                  </a:ext>
                </a:extLst>
              </p:cNvPr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9A0FACBC-408C-95C0-9AD0-1ADDC792651A}"/>
              </a:ext>
            </a:extLst>
          </p:cNvPr>
          <p:cNvSpPr/>
          <p:nvPr/>
        </p:nvSpPr>
        <p:spPr>
          <a:xfrm>
            <a:off x="223949" y="931941"/>
            <a:ext cx="295402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光的偏振态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65D2BB9-33C3-9D28-AC2F-41E45045C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400" b="1" smtClean="0"/>
              <a:t>4</a:t>
            </a:fld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62F44B6-AACF-F0BA-3590-4838F3DA8090}"/>
                  </a:ext>
                </a:extLst>
              </p:cNvPr>
              <p:cNvSpPr txBox="1"/>
              <p:nvPr/>
            </p:nvSpPr>
            <p:spPr>
              <a:xfrm>
                <a:off x="2371259" y="1870364"/>
                <a:ext cx="7236868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/>
                  <a:t>*</a:t>
                </a:r>
                <a:r>
                  <a:rPr lang="zh-CN" altLang="en-US" sz="2800" dirty="0"/>
                  <a:t>横波：（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2800" dirty="0"/>
                  <a:t>）振动方向垂直于传播方向</a:t>
                </a:r>
                <a:endParaRPr lang="en-US" altLang="zh-CN" sz="2800" dirty="0"/>
              </a:p>
              <a:p>
                <a:endParaRPr lang="en-US" altLang="zh-CN" sz="2800" dirty="0"/>
              </a:p>
              <a:p>
                <a:r>
                  <a:rPr lang="en-US" altLang="zh-CN" sz="2800" dirty="0"/>
                  <a:t>*</a:t>
                </a:r>
                <a:r>
                  <a:rPr lang="zh-CN" altLang="en-US" sz="2800" dirty="0"/>
                  <a:t>偏振方向：</a:t>
                </a:r>
                <a:r>
                  <a:rPr lang="en-US" altLang="zh-CN" sz="2800" b="1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800" b="1" i="1">
                        <a:latin typeface="Cambria Math" panose="02040503050406030204" pitchFamily="18" charset="0"/>
                      </a:rPr>
                      <m:t>振动</m:t>
                    </m:r>
                  </m:oMath>
                </a14:m>
                <a:r>
                  <a:rPr lang="zh-CN" altLang="en-US" sz="2800" dirty="0"/>
                  <a:t>方向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C62F44B6-AACF-F0BA-3590-4838F3DA8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1259" y="1870364"/>
                <a:ext cx="7236868" cy="1384995"/>
              </a:xfrm>
              <a:prstGeom prst="rect">
                <a:avLst/>
              </a:prstGeom>
              <a:blipFill>
                <a:blip r:embed="rId4"/>
                <a:stretch>
                  <a:fillRect l="-1769" t="-5286" b="-114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【基于物理的渲染（PBR）白皮书】（二） PBR核心理论与渲染光学原理总结 - oayx - 博客园">
            <a:extLst>
              <a:ext uri="{FF2B5EF4-FFF2-40B4-BE49-F238E27FC236}">
                <a16:creationId xmlns:a16="http://schemas.microsoft.com/office/drawing/2014/main" id="{6F271230-657D-C40B-2EB0-204919984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2864" y="3375027"/>
            <a:ext cx="5715000" cy="298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7551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215903" y="4455797"/>
            <a:ext cx="4445000" cy="22656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33447" y="324999"/>
            <a:ext cx="3138543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PRINCIPLE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12" name="矩形 11"/>
          <p:cNvSpPr/>
          <p:nvPr/>
        </p:nvSpPr>
        <p:spPr>
          <a:xfrm>
            <a:off x="223949" y="931941"/>
            <a:ext cx="295402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光的偏振态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400" b="1" smtClean="0"/>
              <a:t>5</a:t>
            </a:fld>
            <a:endParaRPr lang="zh-CN" altLang="en-US" sz="1400" b="1" dirty="0"/>
          </a:p>
        </p:txBody>
      </p:sp>
      <p:pic>
        <p:nvPicPr>
          <p:cNvPr id="14" name="图片 13" descr="图片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740" y="1635125"/>
            <a:ext cx="9450705" cy="279019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88623" y="4799332"/>
            <a:ext cx="487680" cy="15684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圆</a:t>
            </a:r>
          </a:p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偏</a:t>
            </a:r>
          </a:p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振</a:t>
            </a:r>
          </a:p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光</a:t>
            </a:r>
          </a:p>
        </p:txBody>
      </p:sp>
      <p:pic>
        <p:nvPicPr>
          <p:cNvPr id="18" name="图片 17" descr="QQ录屏20220920151930 00_00_13-00_00_15 (1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3" y="4599307"/>
            <a:ext cx="2986667" cy="2016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6724CE3-2271-7A37-0B58-020C4ADDFE60}"/>
                  </a:ext>
                </a:extLst>
              </p:cNvPr>
              <p:cNvSpPr txBox="1"/>
              <p:nvPr/>
            </p:nvSpPr>
            <p:spPr>
              <a:xfrm>
                <a:off x="5043054" y="4921837"/>
                <a:ext cx="5299363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/>
                  <a:t>*</a:t>
                </a:r>
                <a:r>
                  <a:rPr lang="zh-CN" altLang="en-US" sz="2000" dirty="0"/>
                  <a:t>椭圆偏振光是两个振动方向垂直，相位差不为</a:t>
                </a:r>
                <a:r>
                  <a:rPr lang="en-US" altLang="zh-CN" sz="2000" dirty="0"/>
                  <a:t>0</a:t>
                </a:r>
                <a:r>
                  <a:rPr lang="zh-CN" altLang="en-US" sz="2000" dirty="0"/>
                  <a:t>的光矢量的合成（圆偏振光</a:t>
                </a:r>
                <a14:m>
                  <m:oMath xmlns:m="http://schemas.openxmlformats.org/officeDocument/2006/math">
                    <m:r>
                      <a:rPr lang="zh-CN" altLang="en-US" sz="2000" i="1" smtClean="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zh-CN" altLang="en-US" sz="20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zh-CN" altLang="en-US" sz="2000" dirty="0"/>
                  <a:t>）</a:t>
                </a:r>
                <a:endParaRPr lang="en-US" altLang="zh-CN" sz="2000" dirty="0"/>
              </a:p>
              <a:p>
                <a:endParaRPr lang="en-US" altLang="zh-CN" sz="2000" dirty="0"/>
              </a:p>
              <a:p>
                <a:r>
                  <a:rPr lang="en-US" altLang="zh-CN" sz="2000" dirty="0"/>
                  <a:t>*</a:t>
                </a:r>
                <a:r>
                  <a:rPr lang="zh-CN" altLang="en-US" sz="2000" dirty="0"/>
                  <a:t>自然光是大量相位差不同的矢量的合成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6724CE3-2271-7A37-0B58-020C4ADDFE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3054" y="4921837"/>
                <a:ext cx="5299363" cy="1323439"/>
              </a:xfrm>
              <a:prstGeom prst="rect">
                <a:avLst/>
              </a:prstGeom>
              <a:blipFill>
                <a:blip r:embed="rId5"/>
                <a:stretch>
                  <a:fillRect l="-1149" t="-2765" b="-73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矩形 140"/>
          <p:cNvSpPr/>
          <p:nvPr/>
        </p:nvSpPr>
        <p:spPr>
          <a:xfrm>
            <a:off x="5468620" y="1488440"/>
            <a:ext cx="6090920" cy="5130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矩形 139"/>
          <p:cNvSpPr/>
          <p:nvPr/>
        </p:nvSpPr>
        <p:spPr>
          <a:xfrm>
            <a:off x="220345" y="1541145"/>
            <a:ext cx="4724400" cy="5130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33447" y="324999"/>
            <a:ext cx="3138543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PRINCIPLE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400" b="1" smtClean="0"/>
              <a:t>6</a:t>
            </a:fld>
            <a:endParaRPr lang="zh-CN" altLang="en-US" sz="1400" b="1" dirty="0"/>
          </a:p>
        </p:txBody>
      </p:sp>
      <p:grpSp>
        <p:nvGrpSpPr>
          <p:cNvPr id="59" name="组合 58"/>
          <p:cNvGrpSpPr/>
          <p:nvPr/>
        </p:nvGrpSpPr>
        <p:grpSpPr>
          <a:xfrm>
            <a:off x="578773" y="2576511"/>
            <a:ext cx="3911600" cy="2503502"/>
            <a:chOff x="1067044" y="2177249"/>
            <a:chExt cx="3911600" cy="2503502"/>
          </a:xfrm>
        </p:grpSpPr>
        <p:pic>
          <p:nvPicPr>
            <p:cNvPr id="61" name="图片 6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7044" y="2177249"/>
              <a:ext cx="3655066" cy="2503502"/>
            </a:xfrm>
            <a:prstGeom prst="rect">
              <a:avLst/>
            </a:prstGeom>
          </p:spPr>
        </p:pic>
        <p:sp>
          <p:nvSpPr>
            <p:cNvPr id="70" name="椭圆 69"/>
            <p:cNvSpPr/>
            <p:nvPr/>
          </p:nvSpPr>
          <p:spPr>
            <a:xfrm>
              <a:off x="3212438" y="3959440"/>
              <a:ext cx="97655" cy="11541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椭圆 105"/>
            <p:cNvSpPr/>
            <p:nvPr/>
          </p:nvSpPr>
          <p:spPr>
            <a:xfrm>
              <a:off x="2993497" y="3596935"/>
              <a:ext cx="97655" cy="11541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椭圆 106"/>
            <p:cNvSpPr/>
            <p:nvPr/>
          </p:nvSpPr>
          <p:spPr>
            <a:xfrm>
              <a:off x="3426780" y="4287914"/>
              <a:ext cx="97655" cy="11541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文本框 107"/>
            <p:cNvSpPr txBox="1"/>
            <p:nvPr/>
          </p:nvSpPr>
          <p:spPr>
            <a:xfrm>
              <a:off x="1615736" y="2287728"/>
              <a:ext cx="11984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</a:rPr>
                <a:t>自然光</a:t>
              </a:r>
            </a:p>
          </p:txBody>
        </p:sp>
        <p:sp>
          <p:nvSpPr>
            <p:cNvPr id="109" name="文本框 108"/>
            <p:cNvSpPr txBox="1"/>
            <p:nvPr/>
          </p:nvSpPr>
          <p:spPr>
            <a:xfrm>
              <a:off x="3126713" y="2234460"/>
              <a:ext cx="11984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线偏振光</a:t>
              </a:r>
            </a:p>
          </p:txBody>
        </p:sp>
        <p:sp>
          <p:nvSpPr>
            <p:cNvPr id="110" name="文本框 109"/>
            <p:cNvSpPr txBox="1"/>
            <p:nvPr/>
          </p:nvSpPr>
          <p:spPr>
            <a:xfrm>
              <a:off x="3400669" y="3890479"/>
              <a:ext cx="1577975" cy="3835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0070C0"/>
                  </a:solidFill>
                </a:rPr>
                <a:t>部分偏振光</a:t>
              </a:r>
            </a:p>
          </p:txBody>
        </p:sp>
      </p:grpSp>
      <p:sp>
        <p:nvSpPr>
          <p:cNvPr id="123" name="文本框 122"/>
          <p:cNvSpPr txBox="1"/>
          <p:nvPr/>
        </p:nvSpPr>
        <p:spPr>
          <a:xfrm>
            <a:off x="647970" y="5615090"/>
            <a:ext cx="3844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反射法获得线偏振光</a:t>
            </a:r>
          </a:p>
        </p:txBody>
      </p:sp>
      <p:sp>
        <p:nvSpPr>
          <p:cNvPr id="124" name="矩形 123"/>
          <p:cNvSpPr/>
          <p:nvPr/>
        </p:nvSpPr>
        <p:spPr>
          <a:xfrm>
            <a:off x="223949" y="931941"/>
            <a:ext cx="380264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 </a:t>
            </a: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线偏振光的获得</a:t>
            </a:r>
          </a:p>
        </p:txBody>
      </p:sp>
      <p:pic>
        <p:nvPicPr>
          <p:cNvPr id="9218" name="Picture 2" descr="http://www.auyx.com/Uploads/collect/20200512/a5498acc043ca6934419a80d14d5313f.jpg"/>
          <p:cNvPicPr>
            <a:picLocks noChangeAspect="1" noChangeArrowheads="1" noCrop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83115" y="2542894"/>
            <a:ext cx="5871206" cy="2642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7" name="文本框 136"/>
          <p:cNvSpPr txBox="1"/>
          <p:nvPr/>
        </p:nvSpPr>
        <p:spPr>
          <a:xfrm>
            <a:off x="6649355" y="5615090"/>
            <a:ext cx="384403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透射法获得线偏振光</a:t>
            </a:r>
          </a:p>
        </p:txBody>
      </p:sp>
      <p:sp>
        <p:nvSpPr>
          <p:cNvPr id="138" name="文本框 137"/>
          <p:cNvSpPr txBox="1"/>
          <p:nvPr/>
        </p:nvSpPr>
        <p:spPr>
          <a:xfrm>
            <a:off x="567055" y="1842135"/>
            <a:ext cx="22142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布儒斯特角</a:t>
            </a:r>
          </a:p>
        </p:txBody>
      </p:sp>
      <p:sp>
        <p:nvSpPr>
          <p:cNvPr id="139" name="文本框 138"/>
          <p:cNvSpPr txBox="1"/>
          <p:nvPr/>
        </p:nvSpPr>
        <p:spPr>
          <a:xfrm>
            <a:off x="5772150" y="1842135"/>
            <a:ext cx="22142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偏振片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2340" y="3356610"/>
            <a:ext cx="205740" cy="2590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950656" y="3286061"/>
                <a:ext cx="669925" cy="38354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solidFill>
                    <a:srgbClr val="FF0000"/>
                  </a:solidFill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0656" y="3286061"/>
                <a:ext cx="669925" cy="383540"/>
              </a:xfrm>
              <a:prstGeom prst="rect">
                <a:avLst/>
              </a:prstGeom>
              <a:blipFill rotWithShape="1">
                <a:blip r:embed="rId6"/>
                <a:stretch>
                  <a:fillRect l="-85" t="-149" r="85" b="1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" y="1982470"/>
            <a:ext cx="5525135" cy="2809240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5528945" y="982345"/>
            <a:ext cx="6172200" cy="5435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33447" y="324999"/>
            <a:ext cx="3138543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PRINCIPLE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400" b="1" smtClean="0"/>
              <a:t>7</a:t>
            </a:fld>
            <a:endParaRPr lang="zh-CN" altLang="en-US" sz="1400" b="1" dirty="0"/>
          </a:p>
        </p:txBody>
      </p:sp>
      <p:sp>
        <p:nvSpPr>
          <p:cNvPr id="12" name="矩形 11"/>
          <p:cNvSpPr/>
          <p:nvPr/>
        </p:nvSpPr>
        <p:spPr>
          <a:xfrm>
            <a:off x="223949" y="931941"/>
            <a:ext cx="298190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 </a:t>
            </a: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菲涅尔公式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910258" y="5143807"/>
            <a:ext cx="3236595" cy="584835"/>
            <a:chOff x="12791" y="2983"/>
            <a:chExt cx="5097" cy="921"/>
          </a:xfrm>
        </p:grpSpPr>
        <p:sp>
          <p:nvSpPr>
            <p:cNvPr id="7" name="文本框 6"/>
            <p:cNvSpPr txBox="1"/>
            <p:nvPr/>
          </p:nvSpPr>
          <p:spPr>
            <a:xfrm>
              <a:off x="13513" y="2983"/>
              <a:ext cx="4375" cy="9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s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光，偏振方向垂直于入射面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r>
                <a:rPr lang="en-US" altLang="zh-CN" sz="1600" dirty="0">
                  <a:latin typeface="微软雅黑" panose="020B0503020204020204" pitchFamily="34" charset="-122"/>
                  <a:cs typeface="微软雅黑" panose="020B0503020204020204" pitchFamily="34" charset="-122"/>
                </a:rPr>
                <a:t>p</a:t>
              </a:r>
              <a:r>
                <a:rPr lang="zh-CN" altLang="en-US" sz="1600" dirty="0">
                  <a:latin typeface="微软雅黑" panose="020B0503020204020204" pitchFamily="34" charset="-122"/>
                  <a:cs typeface="微软雅黑" panose="020B0503020204020204" pitchFamily="34" charset="-122"/>
                </a:rPr>
                <a:t>光，偏振方向平行于入射面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cxnSp>
          <p:nvCxnSpPr>
            <p:cNvPr id="14" name="直接箭头连接符 13"/>
            <p:cNvCxnSpPr>
              <a:cxnSpLocks/>
            </p:cNvCxnSpPr>
            <p:nvPr/>
          </p:nvCxnSpPr>
          <p:spPr>
            <a:xfrm>
              <a:off x="13052" y="3513"/>
              <a:ext cx="0" cy="18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/>
            <p:nvPr/>
          </p:nvCxnSpPr>
          <p:spPr>
            <a:xfrm flipV="1">
              <a:off x="12791" y="3226"/>
              <a:ext cx="566" cy="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/>
            <p:nvPr/>
          </p:nvCxnSpPr>
          <p:spPr>
            <a:xfrm flipV="1">
              <a:off x="12791" y="3606"/>
              <a:ext cx="566" cy="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13002" y="3162"/>
              <a:ext cx="144" cy="1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0" name="组合 89"/>
          <p:cNvGrpSpPr/>
          <p:nvPr/>
        </p:nvGrpSpPr>
        <p:grpSpPr>
          <a:xfrm>
            <a:off x="5628005" y="1234440"/>
            <a:ext cx="5993764" cy="5326827"/>
            <a:chOff x="1821" y="5137"/>
            <a:chExt cx="7488" cy="62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文本框 115"/>
                <p:cNvSpPr txBox="1"/>
                <p:nvPr/>
              </p:nvSpPr>
              <p:spPr>
                <a:xfrm>
                  <a:off x="1821" y="5137"/>
                  <a:ext cx="7295" cy="51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indent="0"/>
                  <a:r>
                    <a:rPr lang="zh-CN" sz="2000" b="0" dirty="0">
                      <a:solidFill>
                        <a:schemeClr val="tx1"/>
                      </a:solidFill>
                      <a:uFillTx/>
                      <a:latin typeface="+mn-ea"/>
                      <a:cs typeface="+mn-ea"/>
                    </a:rPr>
                    <a:t>光矢量</a:t>
                  </a:r>
                  <a:r>
                    <a:rPr lang="en-US" altLang="zh-CN" sz="2000" b="0" dirty="0">
                      <a:solidFill>
                        <a:schemeClr val="tx1"/>
                      </a:solidFill>
                      <a:uFillTx/>
                      <a:latin typeface="+mn-ea"/>
                      <a:cs typeface="+mn-ea"/>
                    </a:rPr>
                    <a:t> </a:t>
                  </a:r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zh-CN" sz="2000" b="1" u="wavyHeavy" dirty="0">
                      <a:solidFill>
                        <a:srgbClr val="FF0000"/>
                      </a:solidFill>
                      <a:uFillTx/>
                      <a:latin typeface="+中文正文" charset="0"/>
                      <a:cs typeface="+mn-ea"/>
                      <a:sym typeface="+mn-ea"/>
                    </a:rPr>
                    <a:t>垂直于</a:t>
                  </a:r>
                  <a:r>
                    <a:rPr lang="zh-CN" sz="2000" dirty="0">
                      <a:solidFill>
                        <a:schemeClr val="tx1"/>
                      </a:solidFill>
                      <a:uFillTx/>
                      <a:latin typeface="+mn-ea"/>
                      <a:cs typeface="+mn-ea"/>
                      <a:sym typeface="+mn-ea"/>
                    </a:rPr>
                    <a:t>入射面的分量，如图1-1所示，有</a:t>
                  </a:r>
                  <a:endParaRPr lang="zh-CN" altLang="zh-CN" sz="2000" b="0" dirty="0">
                    <a:solidFill>
                      <a:schemeClr val="tx1"/>
                    </a:solidFill>
                    <a:uFillTx/>
                    <a:latin typeface="+mn-ea"/>
                    <a:cs typeface="+mn-ea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116" name="文本框 1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1" y="5137"/>
                  <a:ext cx="7295" cy="514"/>
                </a:xfrm>
                <a:prstGeom prst="rect">
                  <a:avLst/>
                </a:prstGeom>
                <a:blipFill>
                  <a:blip r:embed="rId4"/>
                  <a:stretch>
                    <a:fillRect l="-1044" b="-23944"/>
                  </a:stretch>
                </a:blipFill>
                <a:ln w="9525"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文本框 118"/>
                <p:cNvSpPr txBox="1"/>
                <p:nvPr/>
              </p:nvSpPr>
              <p:spPr>
                <a:xfrm>
                  <a:off x="1821" y="6686"/>
                  <a:ext cx="7295" cy="51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indent="0"/>
                  <a:r>
                    <a:rPr lang="zh-CN" sz="2000" dirty="0">
                      <a:latin typeface="+mn-ea"/>
                      <a:cs typeface="+mn-ea"/>
                      <a:sym typeface="+mn-ea"/>
                    </a:rPr>
                    <a:t>光矢量</a:t>
                  </a:r>
                  <a:r>
                    <a:rPr lang="en-US" altLang="zh-CN" sz="2000" dirty="0">
                      <a:latin typeface="+mn-ea"/>
                      <a:cs typeface="+mn-ea"/>
                      <a:sym typeface="+mn-ea"/>
                    </a:rPr>
                    <a:t> </a:t>
                  </a:r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en-US" altLang="zh-CN" sz="20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zh-CN" sz="2000" b="1" u="wavyHeavy" dirty="0">
                      <a:solidFill>
                        <a:srgbClr val="FF0000"/>
                      </a:solidFill>
                      <a:uFillTx/>
                      <a:latin typeface="+中文正文" charset="0"/>
                      <a:cs typeface="+mn-ea"/>
                    </a:rPr>
                    <a:t>平行于</a:t>
                  </a:r>
                  <a:r>
                    <a:rPr lang="zh-CN" sz="2000" b="0" dirty="0">
                      <a:latin typeface="+mn-ea"/>
                      <a:cs typeface="+mn-ea"/>
                    </a:rPr>
                    <a:t>入射面的分量，如图</a:t>
                  </a:r>
                  <a:r>
                    <a:rPr lang="en-US" sz="2000" b="0" dirty="0">
                      <a:latin typeface="+mn-ea"/>
                      <a:cs typeface="+mn-ea"/>
                    </a:rPr>
                    <a:t>1-2</a:t>
                  </a:r>
                  <a:r>
                    <a:rPr lang="zh-CN" sz="2000" b="0" dirty="0">
                      <a:latin typeface="+mn-ea"/>
                      <a:cs typeface="+mn-ea"/>
                    </a:rPr>
                    <a:t>所示，有</a:t>
                  </a:r>
                  <a:endParaRPr lang="zh-CN" altLang="en-US" sz="2000" b="0" dirty="0">
                    <a:latin typeface="+mn-ea"/>
                    <a:cs typeface="+mn-ea"/>
                  </a:endParaRPr>
                </a:p>
              </p:txBody>
            </p:sp>
          </mc:Choice>
          <mc:Fallback xmlns="">
            <p:sp>
              <p:nvSpPr>
                <p:cNvPr id="119" name="文本框 1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1" y="6686"/>
                  <a:ext cx="7295" cy="514"/>
                </a:xfrm>
                <a:prstGeom prst="rect">
                  <a:avLst/>
                </a:prstGeom>
                <a:blipFill>
                  <a:blip r:embed="rId5"/>
                  <a:stretch>
                    <a:fillRect l="-1044" b="-23611"/>
                  </a:stretch>
                </a:blipFill>
                <a:ln w="9525"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4" name="对象 83">
              <a:hlinkClick r:id="" action="ppaction://ole?verb=0"/>
            </p:cNvPr>
            <p:cNvSpPr txBox="1"/>
            <p:nvPr/>
          </p:nvSpPr>
          <p:spPr>
            <a:xfrm>
              <a:off x="1987" y="8254"/>
              <a:ext cx="1651" cy="510"/>
            </a:xfrm>
            <a:prstGeom prst="rect">
              <a:avLst/>
            </a:prstGeom>
          </p:spPr>
          <p:txBody>
            <a:bodyPr>
              <a:normAutofit/>
            </a:bodyPr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文本框 84"/>
                <p:cNvSpPr txBox="1"/>
                <p:nvPr/>
              </p:nvSpPr>
              <p:spPr>
                <a:xfrm>
                  <a:off x="1822" y="8386"/>
                  <a:ext cx="7292" cy="119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2000" dirty="0">
                      <a:latin typeface="+mn-ea"/>
                      <a:cs typeface="+mn-ea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=9</m:t>
                      </m:r>
                      <m:sSup>
                        <m:sSup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</m:oMath>
                  </a14:m>
                  <a:r>
                    <a:rPr lang="zh-CN" altLang="en-US" sz="2000" dirty="0">
                      <a:latin typeface="+mn-ea"/>
                      <a:cs typeface="+mn-ea"/>
                    </a:rPr>
                    <a:t>时，</a:t>
                  </a:r>
                  <a:r>
                    <a:rPr lang="zh-CN" altLang="en-US" sz="2000" dirty="0">
                      <a:latin typeface="+mn-ea"/>
                      <a:cs typeface="+mn-ea"/>
                      <a:sym typeface="+mn-ea"/>
                    </a:rPr>
                    <a:t>反射光中</a:t>
                  </a:r>
                  <a:r>
                    <a:rPr lang="zh-CN" altLang="en-US" sz="2000" dirty="0">
                      <a:latin typeface="+mn-ea"/>
                      <a:cs typeface="+mn-ea"/>
                    </a:rPr>
                    <a:t>平行于入射面的分量为</a:t>
                  </a:r>
                  <a:r>
                    <a:rPr lang="en-US" altLang="zh-CN" sz="2000" dirty="0">
                      <a:latin typeface="+mn-ea"/>
                      <a:cs typeface="+mn-ea"/>
                    </a:rPr>
                    <a:t>0</a:t>
                  </a:r>
                  <a:r>
                    <a:rPr lang="zh-CN" altLang="en-US" sz="2000" dirty="0">
                      <a:latin typeface="+mn-ea"/>
                      <a:cs typeface="+mn-ea"/>
                    </a:rPr>
                    <a:t>，反射光为</a:t>
                  </a:r>
                  <a:r>
                    <a:rPr lang="zh-CN" altLang="en-US" sz="2000" b="1" dirty="0">
                      <a:solidFill>
                        <a:srgbClr val="FF0000"/>
                      </a:solidFill>
                      <a:latin typeface="+mn-ea"/>
                      <a:cs typeface="+mn-ea"/>
                    </a:rPr>
                    <a:t>垂直于入射面的线偏振光</a:t>
                  </a:r>
                  <a:r>
                    <a:rPr lang="zh-CN" altLang="en-US" sz="2000" dirty="0">
                      <a:latin typeface="+mn-ea"/>
                      <a:cs typeface="+mn-ea"/>
                    </a:rPr>
                    <a:t>，</a:t>
                  </a:r>
                  <a:r>
                    <a:rPr lang="zh-CN" altLang="en-US" sz="2000" dirty="0"/>
                    <a:t>此时的入射角称为</a:t>
                  </a:r>
                  <a:r>
                    <a:rPr lang="zh-CN" altLang="en-US" sz="2000" b="1" dirty="0">
                      <a:solidFill>
                        <a:srgbClr val="FF0000"/>
                      </a:solidFill>
                    </a:rPr>
                    <a:t>布儒斯特角</a:t>
                  </a:r>
                  <a:r>
                    <a:rPr lang="zh-CN" altLang="en-US" sz="2000" dirty="0"/>
                    <a:t>。</a:t>
                  </a:r>
                </a:p>
              </p:txBody>
            </p:sp>
          </mc:Choice>
          <mc:Fallback xmlns="">
            <p:sp>
              <p:nvSpPr>
                <p:cNvPr id="85" name="文本框 8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2" y="8386"/>
                  <a:ext cx="7292" cy="1193"/>
                </a:xfrm>
                <a:prstGeom prst="rect">
                  <a:avLst/>
                </a:prstGeom>
                <a:blipFill>
                  <a:blip r:embed="rId6"/>
                  <a:stretch>
                    <a:fillRect l="-1044" t="-2994" b="-9581"/>
                  </a:stretch>
                </a:blipFill>
                <a:ln w="9525"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本框 87"/>
                <p:cNvSpPr txBox="1"/>
                <p:nvPr/>
              </p:nvSpPr>
              <p:spPr>
                <a:xfrm>
                  <a:off x="1821" y="9729"/>
                  <a:ext cx="7488" cy="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zh-CN" altLang="en-US" sz="2000" b="1" dirty="0"/>
                    <a:t>测量布儒斯特角即可得知材料（</a:t>
                  </a:r>
                  <a:r>
                    <a:rPr lang="en-US" altLang="zh-CN" sz="2000" b="1" dirty="0"/>
                    <a:t>n&gt;1</a:t>
                  </a:r>
                  <a:r>
                    <a:rPr lang="zh-CN" altLang="en-US" sz="2000" b="1" dirty="0"/>
                    <a:t>）的折射率。</a:t>
                  </a:r>
                  <a:endParaRPr lang="en-US" altLang="zh-CN" sz="2000" b="1" dirty="0"/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zh-CN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sub>
                            </m:sSub>
                          </m:e>
                        </m:func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/>
                </a:p>
                <a:p>
                  <a:pPr>
                    <a:lnSpc>
                      <a:spcPct val="150000"/>
                    </a:lnSpc>
                  </a:pPr>
                  <a:endParaRPr lang="zh-CN" altLang="en-US" sz="2000" b="1" dirty="0"/>
                </a:p>
              </p:txBody>
            </p:sp>
          </mc:Choice>
          <mc:Fallback xmlns="">
            <p:sp>
              <p:nvSpPr>
                <p:cNvPr id="88" name="文本框 8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1" y="9729"/>
                  <a:ext cx="7488" cy="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6216650" y="1514475"/>
                <a:ext cx="4001135" cy="96012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sz="1800" i="1" kern="50"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1800" i="1" kern="50"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50"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1800" kern="50"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zh-CN" sz="1800" i="1" kern="50"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50"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1800" kern="50"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altLang="zh-CN" sz="1800" kern="50"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1800" i="1" kern="50"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f>
                        <m:fPr>
                          <m:ctrlPr>
                            <a:rPr lang="zh-CN" altLang="zh-CN" sz="1800" i="1" kern="50"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zh-CN" altLang="zh-CN" sz="1800" i="1" kern="50"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800" kern="50"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zh-CN" altLang="zh-CN" sz="1800" i="1" kern="50">
                                      <a:effectLst/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1800" i="1" kern="50">
                                          <a:effectLst/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50">
                                          <a:effectLst/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50">
                                          <a:effectLst/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altLang="zh-CN" sz="1800" i="1" kern="50">
                                      <a:effectLst/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zh-CN" sz="1800" i="1" kern="50">
                                          <a:effectLst/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50">
                                          <a:effectLst/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50">
                                          <a:effectLst/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zh-CN" altLang="zh-CN" sz="1800" i="1" kern="50"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800" kern="50"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zh-CN" altLang="zh-CN" sz="1800" i="1" kern="50">
                                      <a:effectLst/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1800" i="1" kern="50">
                                          <a:effectLst/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50">
                                          <a:effectLst/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50">
                                          <a:effectLst/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altLang="zh-CN" sz="1800" i="1" kern="50">
                                      <a:effectLst/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zh-CN" altLang="zh-CN" sz="1800" i="1" kern="50">
                                          <a:effectLst/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50">
                                          <a:effectLst/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50">
                                          <a:effectLst/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US" altLang="zh-CN" sz="1800" i="1" kern="50" dirty="0">
                  <a:effectLst/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6650" y="1514475"/>
                <a:ext cx="4001135" cy="96012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6661150" y="2912110"/>
                <a:ext cx="2999105" cy="96012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sz="1800" i="1" kern="50"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1800" i="1" kern="50"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50"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1800" kern="50"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zh-CN" sz="1800" i="1" kern="50"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kern="50"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1800" kern="50"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altLang="zh-CN" sz="1800" kern="50"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1800" i="1" kern="50"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zh-CN" altLang="zh-CN" sz="1800" i="1" kern="50"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800" kern="50"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tan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zh-CN" altLang="zh-CN" sz="1800" i="1" kern="50">
                                      <a:effectLst/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1800" i="1" kern="50">
                                          <a:effectLst/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50">
                                          <a:effectLst/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50">
                                          <a:effectLst/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altLang="zh-CN" sz="1800" i="1" kern="50">
                                      <a:effectLst/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zh-CN" sz="1800" i="1" kern="50">
                                          <a:effectLst/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50">
                                          <a:effectLst/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50">
                                          <a:effectLst/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zh-CN" altLang="zh-CN" sz="1800" i="1" kern="50"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800" kern="50"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tan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zh-CN" altLang="zh-CN" sz="1800" i="1" kern="50">
                                      <a:effectLst/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1800" i="1" kern="50">
                                          <a:effectLst/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50">
                                          <a:effectLst/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50">
                                          <a:effectLst/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altLang="zh-CN" sz="1800" i="1" kern="50">
                                      <a:effectLst/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zh-CN" altLang="zh-CN" sz="1800" i="1" kern="50">
                                          <a:effectLst/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 kern="50">
                                          <a:effectLst/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CN" sz="1800" i="1" kern="50">
                                          <a:effectLst/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US" altLang="zh-CN" sz="1800" i="1" kern="50" dirty="0">
                  <a:effectLst/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1150" y="2912110"/>
                <a:ext cx="2999105" cy="960120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对象 3">
            <a:hlinkClick r:id="" action="ppaction://ole?verb=0"/>
          </p:cNvPr>
          <p:cNvSpPr txBox="1"/>
          <p:nvPr/>
        </p:nvSpPr>
        <p:spPr>
          <a:xfrm>
            <a:off x="6946900" y="6353175"/>
            <a:ext cx="2178050" cy="433388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C14BF63-6E55-67D6-CF2A-A9DE53861982}"/>
              </a:ext>
            </a:extLst>
          </p:cNvPr>
          <p:cNvSpPr txBox="1"/>
          <p:nvPr/>
        </p:nvSpPr>
        <p:spPr>
          <a:xfrm>
            <a:off x="945580" y="1520518"/>
            <a:ext cx="4499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通过电磁波性质得到，适用于非磁性介质</a:t>
            </a:r>
            <a:endParaRPr lang="zh-CN" alt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33447" y="324999"/>
            <a:ext cx="3138543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PRINCIPLE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400" b="1" smtClean="0"/>
              <a:t>8</a:t>
            </a:fld>
            <a:endParaRPr lang="zh-CN" altLang="en-US" sz="14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164465" y="866140"/>
            <a:ext cx="44951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 </a:t>
            </a: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马吕斯定律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/>
              <p:cNvSpPr txBox="1"/>
              <p:nvPr/>
            </p:nvSpPr>
            <p:spPr>
              <a:xfrm>
                <a:off x="3914122" y="5193702"/>
                <a:ext cx="5164571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>
                    <a:latin typeface="+mn-ea"/>
                  </a:rPr>
                  <a:t>马吕斯定律：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unc>
                      <m:funcPr>
                        <m:ctrlPr>
                          <a:rPr lang="zh-CN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argPr>
                          <m:argSz m:val="-1"/>
                        </m:argPr>
                        <m:sSup>
                          <m:sSupPr>
                            <m:ctrlPr>
                              <a:rPr lang="zh-CN" alt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rgPr>
                              <m:argSz m:val="-1"/>
                            </m:argPr>
                            <m:r>
                              <m:rPr>
                                <m:sty m:val="p"/>
                              </m:rPr>
                              <a:rPr lang="zh-CN" altLang="en-US" sz="28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argPr>
                              <m:argSz m:val="-1"/>
                            </m:argPr>
                            <m:r>
                              <a:rPr lang="zh-CN" alt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zh-CN" alt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func>
                  </m:oMath>
                </a14:m>
                <a:endParaRPr lang="zh-CN" altLang="en-US" sz="2800" dirty="0"/>
              </a:p>
              <a:p>
                <a:endParaRPr lang="zh-CN" altLang="en-US" sz="2800" dirty="0">
                  <a:latin typeface="+mn-ea"/>
                </a:endParaRPr>
              </a:p>
            </p:txBody>
          </p:sp>
        </mc:Choice>
        <mc:Fallback xmlns="">
          <p:sp>
            <p:nvSpPr>
              <p:cNvPr id="30" name="文本框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4122" y="5193702"/>
                <a:ext cx="5164571" cy="954107"/>
              </a:xfrm>
              <a:prstGeom prst="rect">
                <a:avLst/>
              </a:prstGeom>
              <a:blipFill>
                <a:blip r:embed="rId3"/>
                <a:stretch>
                  <a:fillRect l="-2361" t="-70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组合 46"/>
          <p:cNvGrpSpPr/>
          <p:nvPr/>
        </p:nvGrpSpPr>
        <p:grpSpPr>
          <a:xfrm>
            <a:off x="1652611" y="1843004"/>
            <a:ext cx="4634114" cy="2340668"/>
            <a:chOff x="2201669" y="1979721"/>
            <a:chExt cx="6826921" cy="3885101"/>
          </a:xfrm>
        </p:grpSpPr>
        <p:grpSp>
          <p:nvGrpSpPr>
            <p:cNvPr id="48" name="组合 47"/>
            <p:cNvGrpSpPr/>
            <p:nvPr/>
          </p:nvGrpSpPr>
          <p:grpSpPr>
            <a:xfrm>
              <a:off x="2201669" y="1979721"/>
              <a:ext cx="6826921" cy="3885101"/>
              <a:chOff x="2201669" y="1979721"/>
              <a:chExt cx="6826921" cy="3885101"/>
            </a:xfrm>
          </p:grpSpPr>
          <p:pic>
            <p:nvPicPr>
              <p:cNvPr id="49" name="图片 48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01669" y="1979721"/>
                <a:ext cx="6326868" cy="3885101"/>
              </a:xfrm>
              <a:prstGeom prst="rect">
                <a:avLst/>
              </a:prstGeom>
            </p:spPr>
          </p:pic>
          <p:cxnSp>
            <p:nvCxnSpPr>
              <p:cNvPr id="50" name="直接箭头连接符 49"/>
              <p:cNvCxnSpPr/>
              <p:nvPr/>
            </p:nvCxnSpPr>
            <p:spPr>
              <a:xfrm>
                <a:off x="5495277" y="4030462"/>
                <a:ext cx="3533313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箭头连接符 50"/>
              <p:cNvCxnSpPr/>
              <p:nvPr/>
            </p:nvCxnSpPr>
            <p:spPr>
              <a:xfrm>
                <a:off x="2201669" y="4030462"/>
                <a:ext cx="2974012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对象 52"/>
                <p:cNvSpPr txBox="1"/>
                <p:nvPr/>
              </p:nvSpPr>
              <p:spPr>
                <a:xfrm>
                  <a:off x="2956703" y="3277391"/>
                  <a:ext cx="336550" cy="550863"/>
                </a:xfrm>
                <a:prstGeom prst="rect">
                  <a:avLst/>
                </a:prstGeom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53" name="对象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6703" y="3277391"/>
                  <a:ext cx="336550" cy="550863"/>
                </a:xfrm>
                <a:prstGeom prst="rect">
                  <a:avLst/>
                </a:prstGeom>
                <a:blipFill>
                  <a:blip r:embed="rId5"/>
                  <a:stretch>
                    <a:fillRect r="-184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对象 53"/>
                <p:cNvSpPr txBox="1"/>
                <p:nvPr/>
              </p:nvSpPr>
              <p:spPr>
                <a:xfrm>
                  <a:off x="7346950" y="3276600"/>
                  <a:ext cx="366713" cy="550863"/>
                </a:xfrm>
                <a:prstGeom prst="rect">
                  <a:avLst/>
                </a:prstGeom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54" name="对象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6950" y="3276600"/>
                  <a:ext cx="366713" cy="550863"/>
                </a:xfrm>
                <a:prstGeom prst="rect">
                  <a:avLst/>
                </a:prstGeom>
                <a:blipFill>
                  <a:blip r:embed="rId6"/>
                  <a:stretch>
                    <a:fillRect r="-1219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" name="文本框 54"/>
            <p:cNvSpPr txBox="1"/>
            <p:nvPr/>
          </p:nvSpPr>
          <p:spPr>
            <a:xfrm>
              <a:off x="6438068" y="2196103"/>
              <a:ext cx="1497279" cy="13775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+mn-ea"/>
                </a:rPr>
                <a:t>偏振片偏振化方向</a:t>
              </a:r>
            </a:p>
          </p:txBody>
        </p:sp>
      </p:grp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C4C1283-76C1-83A0-9AC0-20EF3DA738A4}"/>
              </a:ext>
            </a:extLst>
          </p:cNvPr>
          <p:cNvCxnSpPr/>
          <p:nvPr/>
        </p:nvCxnSpPr>
        <p:spPr>
          <a:xfrm flipV="1">
            <a:off x="8035745" y="2234102"/>
            <a:ext cx="0" cy="128847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FAB98E3B-CAC6-D5D1-949D-DEC4799EC680}"/>
              </a:ext>
            </a:extLst>
          </p:cNvPr>
          <p:cNvCxnSpPr>
            <a:cxnSpLocks/>
          </p:cNvCxnSpPr>
          <p:nvPr/>
        </p:nvCxnSpPr>
        <p:spPr>
          <a:xfrm flipH="1" flipV="1">
            <a:off x="7453857" y="2638850"/>
            <a:ext cx="568034" cy="85935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1A1C50B-FED0-4FE9-0744-9158D005C6E7}"/>
              </a:ext>
            </a:extLst>
          </p:cNvPr>
          <p:cNvCxnSpPr>
            <a:cxnSpLocks/>
          </p:cNvCxnSpPr>
          <p:nvPr/>
        </p:nvCxnSpPr>
        <p:spPr>
          <a:xfrm flipV="1">
            <a:off x="8035745" y="3155430"/>
            <a:ext cx="568036" cy="3671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9290A185-324F-B467-0DD3-E26AD13AE7BF}"/>
              </a:ext>
            </a:extLst>
          </p:cNvPr>
          <p:cNvCxnSpPr/>
          <p:nvPr/>
        </p:nvCxnSpPr>
        <p:spPr>
          <a:xfrm flipH="1">
            <a:off x="7502345" y="2295122"/>
            <a:ext cx="533399" cy="33383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E0DD1120-6111-8649-EEFE-2055BC761F35}"/>
              </a:ext>
            </a:extLst>
          </p:cNvPr>
          <p:cNvCxnSpPr>
            <a:cxnSpLocks/>
          </p:cNvCxnSpPr>
          <p:nvPr/>
        </p:nvCxnSpPr>
        <p:spPr>
          <a:xfrm flipH="1" flipV="1">
            <a:off x="8063453" y="2295122"/>
            <a:ext cx="540328" cy="86030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71483FA3-9BCD-32AB-BB59-80265577F799}"/>
                  </a:ext>
                </a:extLst>
              </p:cNvPr>
              <p:cNvSpPr txBox="1"/>
              <p:nvPr/>
            </p:nvSpPr>
            <p:spPr>
              <a:xfrm>
                <a:off x="7385883" y="1742089"/>
                <a:ext cx="1355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71483FA3-9BCD-32AB-BB59-80265577F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5883" y="1742089"/>
                <a:ext cx="1355139" cy="400110"/>
              </a:xfrm>
              <a:prstGeom prst="rect">
                <a:avLst/>
              </a:prstGeom>
              <a:blipFill>
                <a:blip r:embed="rId7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5E958210-F505-61CC-FE4F-15E364243BAA}"/>
              </a:ext>
            </a:extLst>
          </p:cNvPr>
          <p:cNvCxnSpPr>
            <a:cxnSpLocks/>
          </p:cNvCxnSpPr>
          <p:nvPr/>
        </p:nvCxnSpPr>
        <p:spPr>
          <a:xfrm flipV="1">
            <a:off x="4099012" y="2250856"/>
            <a:ext cx="365841" cy="3734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53481564-5555-94F7-7B36-B093B40C7D43}"/>
                  </a:ext>
                </a:extLst>
              </p:cNvPr>
              <p:cNvSpPr txBox="1"/>
              <p:nvPr/>
            </p:nvSpPr>
            <p:spPr>
              <a:xfrm>
                <a:off x="3856336" y="2466707"/>
                <a:ext cx="441614" cy="3847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53481564-5555-94F7-7B36-B093B40C7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6336" y="2466707"/>
                <a:ext cx="441614" cy="384721"/>
              </a:xfrm>
              <a:prstGeom prst="rect">
                <a:avLst/>
              </a:prstGeom>
              <a:blipFill>
                <a:blip r:embed="rId8"/>
                <a:stretch>
                  <a:fillRect l="-4167"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44B0F704-EC2F-ACBB-FA54-418E60E000B2}"/>
                  </a:ext>
                </a:extLst>
              </p:cNvPr>
              <p:cNvSpPr txBox="1"/>
              <p:nvPr/>
            </p:nvSpPr>
            <p:spPr>
              <a:xfrm>
                <a:off x="7128166" y="3783562"/>
                <a:ext cx="195052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unc>
                        <m:funcPr>
                          <m:ctrlP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𝑐𝑜𝑠</m:t>
                          </m:r>
                        </m:fName>
                        <m:e>
                          <m:r>
                            <a:rPr lang="zh-CN" altLang="en-US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44B0F704-EC2F-ACBB-FA54-418E60E000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8166" y="3783562"/>
                <a:ext cx="1950527" cy="400110"/>
              </a:xfrm>
              <a:prstGeom prst="rect">
                <a:avLst/>
              </a:prstGeom>
              <a:blipFill>
                <a:blip r:embed="rId9"/>
                <a:stretch>
                  <a:fillRect b="-16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C1AEBB01-DFE0-99BC-CA40-7B7D7097FD65}"/>
                  </a:ext>
                </a:extLst>
              </p:cNvPr>
              <p:cNvSpPr txBox="1"/>
              <p:nvPr/>
            </p:nvSpPr>
            <p:spPr>
              <a:xfrm>
                <a:off x="8429799" y="2827662"/>
                <a:ext cx="60786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C1AEBB01-DFE0-99BC-CA40-7B7D7097F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9799" y="2827662"/>
                <a:ext cx="607869" cy="369332"/>
              </a:xfrm>
              <a:prstGeom prst="rect">
                <a:avLst/>
              </a:prstGeom>
              <a:blipFill>
                <a:blip r:embed="rId10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对象 51"/>
              <p:cNvSpPr txBox="1"/>
              <p:nvPr/>
            </p:nvSpPr>
            <p:spPr>
              <a:xfrm>
                <a:off x="8035745" y="3137661"/>
                <a:ext cx="208726" cy="295389"/>
              </a:xfrm>
              <a:prstGeom prst="rect">
                <a:avLst/>
              </a:prstGeom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5" name="对象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5745" y="3137661"/>
                <a:ext cx="208726" cy="295389"/>
              </a:xfrm>
              <a:prstGeom prst="rect">
                <a:avLst/>
              </a:prstGeom>
              <a:blipFill>
                <a:blip r:embed="rId11"/>
                <a:stretch>
                  <a:fillRect r="-35294" b="-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直接箭头连接符 45"/>
          <p:cNvCxnSpPr>
            <a:cxnSpLocks/>
          </p:cNvCxnSpPr>
          <p:nvPr/>
        </p:nvCxnSpPr>
        <p:spPr>
          <a:xfrm flipV="1">
            <a:off x="8429799" y="3173199"/>
            <a:ext cx="478782" cy="3250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0" y="2847434"/>
            <a:ext cx="12192001" cy="1291039"/>
            <a:chOff x="0" y="2847433"/>
            <a:chExt cx="12192000" cy="1291039"/>
          </a:xfrm>
        </p:grpSpPr>
        <p:sp>
          <p:nvSpPr>
            <p:cNvPr id="51" name="矩形 50"/>
            <p:cNvSpPr/>
            <p:nvPr/>
          </p:nvSpPr>
          <p:spPr>
            <a:xfrm flipH="1">
              <a:off x="0" y="2872348"/>
              <a:ext cx="12192000" cy="125206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451" y="2847433"/>
              <a:ext cx="1273995" cy="1291039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6000" dirty="0"/>
                <a:t>2</a:t>
              </a:r>
              <a:endParaRPr lang="zh-CN" altLang="en-US" sz="60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015674" y="3077396"/>
              <a:ext cx="2954651" cy="830995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实验目的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5139124" y="3264361"/>
              <a:ext cx="3775132" cy="461663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EXPERIMENT OBJECTIVE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034789" y="1424853"/>
            <a:ext cx="8442711" cy="3547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理解偏振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光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的特性和马吕斯定律</a:t>
            </a: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利用布儒斯特角测量材料折射率</a:t>
            </a:r>
          </a:p>
          <a:p>
            <a:pPr marL="457200" indent="-45720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了解</a:t>
            </a:r>
            <a:r>
              <a:rPr lang="zh-CN" altLang="en-US" sz="3200">
                <a:latin typeface="宋体" panose="02010600030101010101" pitchFamily="2" charset="-122"/>
                <a:ea typeface="宋体" panose="02010600030101010101" pitchFamily="2" charset="-122"/>
              </a:rPr>
              <a:t>硅光探测器的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光电流与光强的特性</a:t>
            </a:r>
          </a:p>
        </p:txBody>
      </p:sp>
      <p:cxnSp>
        <p:nvCxnSpPr>
          <p:cNvPr id="376" name="直接连接符 375"/>
          <p:cNvCxnSpPr/>
          <p:nvPr/>
        </p:nvCxnSpPr>
        <p:spPr>
          <a:xfrm>
            <a:off x="2518899" y="2567819"/>
            <a:ext cx="5928995" cy="127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直接连接符 380"/>
          <p:cNvCxnSpPr/>
          <p:nvPr/>
        </p:nvCxnSpPr>
        <p:spPr>
          <a:xfrm>
            <a:off x="2518901" y="3805627"/>
            <a:ext cx="6089015" cy="1905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实验目的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15814" y="324999"/>
            <a:ext cx="3173809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OBJECTIVE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400" b="1" smtClean="0"/>
              <a:t>10</a:t>
            </a:fld>
            <a:endParaRPr lang="zh-CN" altLang="en-US" sz="1400" b="1"/>
          </a:p>
        </p:txBody>
      </p:sp>
      <p:cxnSp>
        <p:nvCxnSpPr>
          <p:cNvPr id="4" name="直接连接符 3"/>
          <p:cNvCxnSpPr/>
          <p:nvPr/>
        </p:nvCxnSpPr>
        <p:spPr>
          <a:xfrm>
            <a:off x="2615421" y="5003237"/>
            <a:ext cx="6591935" cy="3175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0" y="2847434"/>
            <a:ext cx="12192001" cy="1291039"/>
            <a:chOff x="0" y="2847433"/>
            <a:chExt cx="12192000" cy="1291039"/>
          </a:xfrm>
        </p:grpSpPr>
        <p:sp>
          <p:nvSpPr>
            <p:cNvPr id="51" name="矩形 50"/>
            <p:cNvSpPr/>
            <p:nvPr/>
          </p:nvSpPr>
          <p:spPr>
            <a:xfrm flipH="1">
              <a:off x="0" y="2872348"/>
              <a:ext cx="12192000" cy="125206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451" y="2847433"/>
              <a:ext cx="1273995" cy="1291039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6000" dirty="0"/>
                <a:t>3</a:t>
              </a:r>
              <a:endParaRPr lang="zh-CN" altLang="en-US" sz="60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015674" y="3077396"/>
              <a:ext cx="2954651" cy="830995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实验装置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5085781" y="3264361"/>
              <a:ext cx="3618744" cy="461663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EXPERIMENTAL</a:t>
              </a:r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 </a:t>
              </a:r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DEVICE</a:t>
              </a:r>
              <a:endPara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实验装置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80702" y="324999"/>
            <a:ext cx="3044030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EXPERIMENTAL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DEVICE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039860" y="5970218"/>
            <a:ext cx="8224520" cy="5627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注意事项：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激光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光源</a:t>
            </a:r>
            <a:r>
              <a:rPr 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不能直视；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、不能触摸光学仪器表面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l="4989" t="6610"/>
          <a:stretch>
            <a:fillRect/>
          </a:stretch>
        </p:blipFill>
        <p:spPr>
          <a:xfrm>
            <a:off x="2228850" y="1223010"/>
            <a:ext cx="7606665" cy="4647565"/>
          </a:xfrm>
          <a:prstGeom prst="rect">
            <a:avLst/>
          </a:prstGeom>
        </p:spPr>
      </p:pic>
      <p:cxnSp>
        <p:nvCxnSpPr>
          <p:cNvPr id="5" name="直接箭头连接符 4"/>
          <p:cNvCxnSpPr/>
          <p:nvPr/>
        </p:nvCxnSpPr>
        <p:spPr>
          <a:xfrm flipH="1">
            <a:off x="5852160" y="1669415"/>
            <a:ext cx="57150" cy="157162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H="1">
            <a:off x="4309110" y="3221990"/>
            <a:ext cx="1514475" cy="97155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2886075" y="1807210"/>
            <a:ext cx="9061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万用表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4613275" y="1438910"/>
            <a:ext cx="9061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激光器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7216775" y="3429000"/>
            <a:ext cx="9061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偏振片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8769350" y="3362325"/>
            <a:ext cx="9061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白屏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4206875" y="4394835"/>
            <a:ext cx="11252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硅光电池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6091555" y="3222625"/>
            <a:ext cx="11252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待测样品</a:t>
            </a:r>
          </a:p>
        </p:txBody>
      </p:sp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0" y="2847434"/>
            <a:ext cx="12192001" cy="1291039"/>
            <a:chOff x="0" y="2847433"/>
            <a:chExt cx="12192000" cy="1291039"/>
          </a:xfrm>
        </p:grpSpPr>
        <p:sp>
          <p:nvSpPr>
            <p:cNvPr id="51" name="矩形 50"/>
            <p:cNvSpPr/>
            <p:nvPr/>
          </p:nvSpPr>
          <p:spPr>
            <a:xfrm flipH="1">
              <a:off x="0" y="2872348"/>
              <a:ext cx="12192000" cy="125206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451" y="2847433"/>
              <a:ext cx="1273995" cy="1291039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6000" dirty="0"/>
                <a:t>4</a:t>
              </a:r>
              <a:endParaRPr lang="zh-CN" altLang="en-US" sz="60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015674" y="3077396"/>
              <a:ext cx="2954651" cy="830995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实验内容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5062666" y="3264361"/>
              <a:ext cx="3664974" cy="461663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EXPERIMENT CONTENT</a:t>
              </a:r>
              <a:endPara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60923" y="324999"/>
            <a:ext cx="3083592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CONTENT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600" b="1" smtClean="0"/>
              <a:t>14</a:t>
            </a:fld>
            <a:endParaRPr lang="zh-CN" altLang="en-US" sz="1600" b="1"/>
          </a:p>
        </p:txBody>
      </p:sp>
      <p:sp>
        <p:nvSpPr>
          <p:cNvPr id="89" name="矩形 88"/>
          <p:cNvSpPr/>
          <p:nvPr/>
        </p:nvSpPr>
        <p:spPr>
          <a:xfrm>
            <a:off x="2141220" y="1613535"/>
            <a:ext cx="7435850" cy="3242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fontAlgn="base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测量黑色平板折射率</a:t>
            </a:r>
          </a:p>
          <a:p>
            <a:pPr marL="457200" indent="-457200" fontAlgn="base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测量偏振片的偏振化方向角度</a:t>
            </a:r>
          </a:p>
          <a:p>
            <a:pPr marL="457200" indent="-457200" fontAlgn="base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研究硅光电池的光电流和光强的关系</a:t>
            </a: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4550C321-60EA-E8B9-4895-D1445589A9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245"/>
          <a:stretch>
            <a:fillRect/>
          </a:stretch>
        </p:blipFill>
        <p:spPr>
          <a:xfrm>
            <a:off x="7192807" y="3858563"/>
            <a:ext cx="4088898" cy="2506677"/>
          </a:xfrm>
          <a:prstGeom prst="rect">
            <a:avLst/>
          </a:prstGeom>
        </p:spPr>
      </p:pic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60923" y="324999"/>
            <a:ext cx="3083592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CONTENT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18" name="矩形 17"/>
          <p:cNvSpPr/>
          <p:nvPr/>
        </p:nvSpPr>
        <p:spPr>
          <a:xfrm>
            <a:off x="402873" y="930414"/>
            <a:ext cx="376682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黑色平板折射率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400" b="1" smtClean="0"/>
              <a:t>15</a:t>
            </a:fld>
            <a:endParaRPr lang="zh-CN" altLang="en-US" sz="1400" b="1" dirty="0"/>
          </a:p>
        </p:txBody>
      </p:sp>
      <p:grpSp>
        <p:nvGrpSpPr>
          <p:cNvPr id="16" name="组合 15"/>
          <p:cNvGrpSpPr/>
          <p:nvPr/>
        </p:nvGrpSpPr>
        <p:grpSpPr>
          <a:xfrm>
            <a:off x="516255" y="1998345"/>
            <a:ext cx="3338830" cy="3463925"/>
            <a:chOff x="9176" y="2342"/>
            <a:chExt cx="4939" cy="5076"/>
          </a:xfrm>
        </p:grpSpPr>
        <p:pic>
          <p:nvPicPr>
            <p:cNvPr id="22" name="图片 22" descr="图片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76" y="2342"/>
              <a:ext cx="4939" cy="5076"/>
            </a:xfrm>
            <a:prstGeom prst="rect">
              <a:avLst/>
            </a:prstGeom>
          </p:spPr>
        </p:pic>
        <p:cxnSp>
          <p:nvCxnSpPr>
            <p:cNvPr id="5" name="直接连接符 4"/>
            <p:cNvCxnSpPr/>
            <p:nvPr/>
          </p:nvCxnSpPr>
          <p:spPr>
            <a:xfrm>
              <a:off x="9210" y="3981"/>
              <a:ext cx="1934" cy="807"/>
            </a:xfrm>
            <a:prstGeom prst="line">
              <a:avLst/>
            </a:prstGeom>
            <a:ln w="158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 flipV="1">
              <a:off x="9633" y="4790"/>
              <a:ext cx="1509" cy="1506"/>
            </a:xfrm>
            <a:prstGeom prst="line">
              <a:avLst/>
            </a:prstGeom>
            <a:ln w="158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弧形 8"/>
            <p:cNvSpPr/>
            <p:nvPr/>
          </p:nvSpPr>
          <p:spPr>
            <a:xfrm>
              <a:off x="10847" y="4475"/>
              <a:ext cx="594" cy="594"/>
            </a:xfrm>
            <a:prstGeom prst="arc">
              <a:avLst>
                <a:gd name="adj1" fmla="val 16200000"/>
                <a:gd name="adj2" fmla="val 20460742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11144" y="6658"/>
              <a:ext cx="0" cy="83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/>
            <p:cNvSpPr txBox="1"/>
            <p:nvPr/>
          </p:nvSpPr>
          <p:spPr>
            <a:xfrm>
              <a:off x="10927" y="6231"/>
              <a:ext cx="542" cy="4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°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2227" y="5647"/>
              <a:ext cx="524" cy="4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θ</a:t>
              </a:r>
              <a:r>
                <a:rPr lang="en-US" altLang="zh-CN" sz="1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9479" y="5647"/>
              <a:ext cx="524" cy="4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θ</a:t>
              </a:r>
              <a:r>
                <a:rPr lang="en-US" altLang="zh-CN" sz="1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cxnSp>
          <p:nvCxnSpPr>
            <p:cNvPr id="3" name="直接连接符 2"/>
            <p:cNvCxnSpPr/>
            <p:nvPr/>
          </p:nvCxnSpPr>
          <p:spPr>
            <a:xfrm>
              <a:off x="11041" y="3041"/>
              <a:ext cx="194" cy="0"/>
            </a:xfrm>
            <a:prstGeom prst="line">
              <a:avLst/>
            </a:prstGeom>
            <a:ln w="158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11041" y="3354"/>
              <a:ext cx="194" cy="0"/>
            </a:xfrm>
            <a:prstGeom prst="line">
              <a:avLst/>
            </a:prstGeom>
            <a:ln w="158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11041" y="3667"/>
              <a:ext cx="194" cy="0"/>
            </a:xfrm>
            <a:prstGeom prst="line">
              <a:avLst/>
            </a:prstGeom>
            <a:ln w="158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11041" y="3980"/>
              <a:ext cx="194" cy="0"/>
            </a:xfrm>
            <a:prstGeom prst="line">
              <a:avLst/>
            </a:prstGeom>
            <a:ln w="158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-2147482615"/>
              <p:cNvSpPr txBox="1"/>
              <p:nvPr/>
            </p:nvSpPr>
            <p:spPr>
              <a:xfrm>
                <a:off x="4029570" y="4008823"/>
                <a:ext cx="2988752" cy="1792636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zh-CN" alt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zh-CN" alt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/4</m:t>
                      </m:r>
                    </m:oMath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altLang="zh-CN" sz="240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4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r>
                        <m:rPr>
                          <m:sty m:val="p"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" name="对象 -21474826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9570" y="4008823"/>
                <a:ext cx="2988752" cy="1792636"/>
              </a:xfrm>
              <a:prstGeom prst="rect">
                <a:avLst/>
              </a:prstGeom>
              <a:blipFill>
                <a:blip r:embed="rId5"/>
                <a:stretch>
                  <a:fillRect l="-408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/>
          <p:cNvSpPr txBox="1"/>
          <p:nvPr/>
        </p:nvSpPr>
        <p:spPr>
          <a:xfrm>
            <a:off x="3478018" y="1514939"/>
            <a:ext cx="7740020" cy="23083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）使激光偏振方向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平行入射面入射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（较大角度入射时，旋转激光器至反射光光强最小）。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sym typeface="+mn-ea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sym typeface="+mn-ea"/>
              </a:rPr>
              <a:t>）调节各器件等高共轴，激光经过转动平台中心轴位置。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）转动载物台和探测器角度，找到反射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光强最小</a:t>
            </a:r>
            <a:r>
              <a:rPr lang="zh-CN" altLang="en-US" sz="24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的角度（二分法调节），此时的入射角为布儒斯特角。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sz="24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）两边分别测量</a:t>
            </a:r>
            <a:r>
              <a:rPr lang="en-US" altLang="zh-CN" sz="24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</a:t>
            </a:r>
            <a:r>
              <a:rPr lang="zh-CN" altLang="en-US" sz="24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次，并计算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及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不确定度</a:t>
            </a:r>
            <a:r>
              <a:rPr lang="zh-CN" altLang="en-US" sz="24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en-US" altLang="zh-CN" sz="2400" dirty="0"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60923" y="324999"/>
            <a:ext cx="3083592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CONTENT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18" name="矩形 17"/>
          <p:cNvSpPr/>
          <p:nvPr/>
        </p:nvSpPr>
        <p:spPr>
          <a:xfrm>
            <a:off x="326673" y="905014"/>
            <a:ext cx="539242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偏振片的偏振化方向角度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400" b="1" smtClean="0"/>
              <a:t>16</a:t>
            </a:fld>
            <a:endParaRPr lang="zh-CN" altLang="en-US" sz="1400" b="1" dirty="0"/>
          </a:p>
        </p:txBody>
      </p:sp>
      <p:grpSp>
        <p:nvGrpSpPr>
          <p:cNvPr id="35" name="组合 34"/>
          <p:cNvGrpSpPr/>
          <p:nvPr/>
        </p:nvGrpSpPr>
        <p:grpSpPr>
          <a:xfrm>
            <a:off x="81280" y="1774825"/>
            <a:ext cx="3417570" cy="3839845"/>
            <a:chOff x="7598" y="2514"/>
            <a:chExt cx="5382" cy="6047"/>
          </a:xfrm>
        </p:grpSpPr>
        <p:grpSp>
          <p:nvGrpSpPr>
            <p:cNvPr id="33" name="组合 32"/>
            <p:cNvGrpSpPr/>
            <p:nvPr/>
          </p:nvGrpSpPr>
          <p:grpSpPr>
            <a:xfrm>
              <a:off x="7598" y="3031"/>
              <a:ext cx="5382" cy="5530"/>
              <a:chOff x="7598" y="3031"/>
              <a:chExt cx="5382" cy="5530"/>
            </a:xfrm>
          </p:grpSpPr>
          <p:grpSp>
            <p:nvGrpSpPr>
              <p:cNvPr id="30" name="组合 29"/>
              <p:cNvGrpSpPr/>
              <p:nvPr/>
            </p:nvGrpSpPr>
            <p:grpSpPr>
              <a:xfrm>
                <a:off x="7598" y="3031"/>
                <a:ext cx="5382" cy="5530"/>
                <a:chOff x="7968" y="3031"/>
                <a:chExt cx="5382" cy="5530"/>
              </a:xfrm>
            </p:grpSpPr>
            <p:grpSp>
              <p:nvGrpSpPr>
                <p:cNvPr id="28" name="组合 27"/>
                <p:cNvGrpSpPr/>
                <p:nvPr/>
              </p:nvGrpSpPr>
              <p:grpSpPr>
                <a:xfrm>
                  <a:off x="7968" y="3031"/>
                  <a:ext cx="5382" cy="5531"/>
                  <a:chOff x="9775" y="2994"/>
                  <a:chExt cx="4939" cy="5076"/>
                </a:xfrm>
              </p:grpSpPr>
              <p:grpSp>
                <p:nvGrpSpPr>
                  <p:cNvPr id="29" name="组合 28"/>
                  <p:cNvGrpSpPr/>
                  <p:nvPr/>
                </p:nvGrpSpPr>
                <p:grpSpPr>
                  <a:xfrm>
                    <a:off x="9775" y="2994"/>
                    <a:ext cx="4939" cy="5076"/>
                    <a:chOff x="9176" y="2342"/>
                    <a:chExt cx="4939" cy="5076"/>
                  </a:xfrm>
                </p:grpSpPr>
                <p:pic>
                  <p:nvPicPr>
                    <p:cNvPr id="31" name="图片 22" descr="图片1"/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9176" y="2342"/>
                      <a:ext cx="4939" cy="5076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2" name="弧形 31"/>
                    <p:cNvSpPr/>
                    <p:nvPr/>
                  </p:nvSpPr>
                  <p:spPr>
                    <a:xfrm>
                      <a:off x="10847" y="4475"/>
                      <a:ext cx="594" cy="594"/>
                    </a:xfrm>
                    <a:prstGeom prst="arc">
                      <a:avLst>
                        <a:gd name="adj1" fmla="val 16200000"/>
                        <a:gd name="adj2" fmla="val 20460742"/>
                      </a:avLst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34" name="直接连接符 33"/>
                    <p:cNvCxnSpPr/>
                    <p:nvPr/>
                  </p:nvCxnSpPr>
                  <p:spPr>
                    <a:xfrm>
                      <a:off x="11144" y="6658"/>
                      <a:ext cx="0" cy="83"/>
                    </a:xfrm>
                    <a:prstGeom prst="line">
                      <a:avLst/>
                    </a:prstGeom>
                    <a:ln w="158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6" name="文本框 35"/>
                    <p:cNvSpPr txBox="1"/>
                    <p:nvPr/>
                  </p:nvSpPr>
                  <p:spPr>
                    <a:xfrm>
                      <a:off x="10927" y="6231"/>
                      <a:ext cx="542" cy="44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alt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°</a:t>
                      </a:r>
                    </a:p>
                  </p:txBody>
                </p:sp>
              </p:grpSp>
              <p:sp>
                <p:nvSpPr>
                  <p:cNvPr id="37" name="椭圆 36"/>
                  <p:cNvSpPr/>
                  <p:nvPr/>
                </p:nvSpPr>
                <p:spPr>
                  <a:xfrm>
                    <a:off x="11689" y="3759"/>
                    <a:ext cx="102" cy="102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8" name="椭圆 37"/>
                  <p:cNvSpPr/>
                  <p:nvPr/>
                </p:nvSpPr>
                <p:spPr>
                  <a:xfrm>
                    <a:off x="11689" y="4079"/>
                    <a:ext cx="102" cy="102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9" name="椭圆 38"/>
                  <p:cNvSpPr/>
                  <p:nvPr/>
                </p:nvSpPr>
                <p:spPr>
                  <a:xfrm>
                    <a:off x="11689" y="4719"/>
                    <a:ext cx="102" cy="102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0" name="椭圆 39"/>
                  <p:cNvSpPr/>
                  <p:nvPr/>
                </p:nvSpPr>
                <p:spPr>
                  <a:xfrm>
                    <a:off x="12145" y="5839"/>
                    <a:ext cx="102" cy="102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1" name="椭圆 40"/>
                  <p:cNvSpPr/>
                  <p:nvPr/>
                </p:nvSpPr>
                <p:spPr>
                  <a:xfrm>
                    <a:off x="12373" y="6069"/>
                    <a:ext cx="102" cy="102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2" name="椭圆 41"/>
                  <p:cNvSpPr/>
                  <p:nvPr/>
                </p:nvSpPr>
                <p:spPr>
                  <a:xfrm>
                    <a:off x="12600" y="6298"/>
                    <a:ext cx="102" cy="102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pic>
                <p:nvPicPr>
                  <p:cNvPr id="43" name="图片 42"/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1794" y="4554"/>
                    <a:ext cx="1095" cy="383"/>
                  </a:xfrm>
                  <a:prstGeom prst="rect">
                    <a:avLst/>
                  </a:prstGeom>
                </p:spPr>
              </p:pic>
              <p:sp>
                <p:nvSpPr>
                  <p:cNvPr id="44" name="文本框 43"/>
                  <p:cNvSpPr txBox="1"/>
                  <p:nvPr/>
                </p:nvSpPr>
                <p:spPr>
                  <a:xfrm>
                    <a:off x="11743" y="4408"/>
                    <a:ext cx="1375" cy="754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</a:extLst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1400" b="1">
                        <a:latin typeface="仿宋" panose="02010609060101010101" charset="-122"/>
                        <a:ea typeface="仿宋" panose="02010609060101010101" charset="-122"/>
                      </a:rPr>
                      <a:t>布儒斯特角</a:t>
                    </a:r>
                    <a:r>
                      <a:rPr lang="zh-CN" altLang="en-US" sz="1400" b="1" i="1">
                        <a:latin typeface="Times New Roman" panose="02020603050405020304" pitchFamily="18" charset="0"/>
                        <a:ea typeface="仿宋" panose="02010609060101010101" charset="-122"/>
                        <a:cs typeface="Times New Roman" panose="02020603050405020304" pitchFamily="18" charset="0"/>
                      </a:rPr>
                      <a:t>θ</a:t>
                    </a:r>
                  </a:p>
                </p:txBody>
              </p:sp>
            </p:grpSp>
            <p:sp>
              <p:nvSpPr>
                <p:cNvPr id="45" name="矩形 44"/>
                <p:cNvSpPr/>
                <p:nvPr/>
              </p:nvSpPr>
              <p:spPr>
                <a:xfrm rot="18900000">
                  <a:off x="11178" y="6998"/>
                  <a:ext cx="560" cy="85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6" name="文本框 45"/>
                <p:cNvSpPr txBox="1"/>
                <p:nvPr/>
              </p:nvSpPr>
              <p:spPr>
                <a:xfrm>
                  <a:off x="11046" y="6330"/>
                  <a:ext cx="1134" cy="4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 b="1">
                      <a:latin typeface="仿宋" panose="02010609060101010101" charset="-122"/>
                      <a:ea typeface="仿宋" panose="02010609060101010101" charset="-122"/>
                    </a:rPr>
                    <a:t>偏振片</a:t>
                  </a:r>
                </a:p>
              </p:txBody>
            </p:sp>
          </p:grpSp>
          <p:cxnSp>
            <p:nvCxnSpPr>
              <p:cNvPr id="47" name="直接连接符 46"/>
              <p:cNvCxnSpPr/>
              <p:nvPr/>
            </p:nvCxnSpPr>
            <p:spPr>
              <a:xfrm>
                <a:off x="9640" y="4618"/>
                <a:ext cx="194" cy="0"/>
              </a:xfrm>
              <a:prstGeom prst="line">
                <a:avLst/>
              </a:prstGeom>
              <a:ln w="158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" name="组合 47"/>
            <p:cNvGrpSpPr/>
            <p:nvPr/>
          </p:nvGrpSpPr>
          <p:grpSpPr>
            <a:xfrm>
              <a:off x="9547" y="2514"/>
              <a:ext cx="1023" cy="482"/>
              <a:chOff x="9547" y="2514"/>
              <a:chExt cx="1023" cy="482"/>
            </a:xfrm>
          </p:grpSpPr>
          <p:sp>
            <p:nvSpPr>
              <p:cNvPr id="49" name="弧形 48"/>
              <p:cNvSpPr/>
              <p:nvPr/>
            </p:nvSpPr>
            <p:spPr>
              <a:xfrm>
                <a:off x="9547" y="2604"/>
                <a:ext cx="380" cy="326"/>
              </a:xfrm>
              <a:prstGeom prst="arc">
                <a:avLst>
                  <a:gd name="adj1" fmla="val 16200000"/>
                  <a:gd name="adj2" fmla="val 10743648"/>
                </a:avLst>
              </a:prstGeom>
              <a:ln w="31750">
                <a:solidFill>
                  <a:schemeClr val="tx1"/>
                </a:solidFill>
                <a:headEnd type="none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9888" y="2514"/>
                <a:ext cx="683" cy="4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90</a:t>
                </a:r>
                <a:r>
                  <a:rPr lang="zh-CN" altLang="en-US" sz="1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°</a:t>
                </a:r>
              </a:p>
            </p:txBody>
          </p:sp>
        </p:grpSp>
      </p:grpSp>
      <p:sp>
        <p:nvSpPr>
          <p:cNvPr id="51" name="文本框 50"/>
          <p:cNvSpPr txBox="1"/>
          <p:nvPr/>
        </p:nvSpPr>
        <p:spPr>
          <a:xfrm>
            <a:off x="3713480" y="1511300"/>
            <a:ext cx="8474075" cy="22430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）转动激光光轴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90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°，使其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偏振方向垂直入射面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）调整至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布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儒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斯特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角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入射，在反射臂插入偏振片。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）转动偏振片两圈，测量光电流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四个极大值与极小值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的角度。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）计算偏振片的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偏振化角度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本框 51"/>
              <p:cNvSpPr txBox="1"/>
              <p:nvPr/>
            </p:nvSpPr>
            <p:spPr>
              <a:xfrm>
                <a:off x="4513580" y="4315686"/>
                <a:ext cx="670860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偏振方向测量值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:r>
                  <a:rPr lang="en-US" altLang="zh-CN" sz="2400" b="1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β</a:t>
                </a:r>
                <a:r>
                  <a:rPr lang="en-US" altLang="zh-CN" sz="2400" b="1" i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平均方法：</a:t>
                </a:r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将极大值（极小值）连续 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-90</a:t>
                </a:r>
                <a:r>
                  <a:rPr lang="zh-CN" altLang="en-US" sz="2400" dirty="0">
                    <a:latin typeface="微软雅黑" panose="020B0503020204020204" pitchFamily="34" charset="-122"/>
                    <a:cs typeface="微软雅黑" panose="020B0503020204020204" pitchFamily="34" charset="-122"/>
                  </a:rPr>
                  <a:t>° 直至其为锐角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algn="l"/>
                <a:r>
                  <a:rPr lang="zh-CN" altLang="en-US" sz="24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得到的八个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角度值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cs typeface="Cambria Math" panose="02040503050406030204" pitchFamily="18" charset="0"/>
                        <a:sym typeface="+mn-ea"/>
                      </a:rPr>
                      <m:t>∆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( &lt; 90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°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) 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做平均。</a:t>
                </a:r>
              </a:p>
            </p:txBody>
          </p:sp>
        </mc:Choice>
        <mc:Fallback>
          <p:sp>
            <p:nvSpPr>
              <p:cNvPr id="52" name="文本框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3580" y="4315686"/>
                <a:ext cx="6708602" cy="1200329"/>
              </a:xfrm>
              <a:prstGeom prst="rect">
                <a:avLst/>
              </a:prstGeom>
              <a:blipFill>
                <a:blip r:embed="rId5"/>
                <a:stretch>
                  <a:fillRect l="-1362" t="-4061" b="-10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2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60923" y="324999"/>
            <a:ext cx="3083592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CONTENT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400" b="1" smtClean="0"/>
              <a:t>17</a:t>
            </a:fld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4451350" y="1323340"/>
                <a:ext cx="7587615" cy="399641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1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）</a:t>
                </a:r>
                <a:r>
                  <a:rPr sz="2400" dirty="0" err="1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用万用表测量光电池在不同光强照射时的短路电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流</a:t>
                </a:r>
                <a:endParaRPr sz="24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2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）</a:t>
                </a:r>
                <a:r>
                  <a:rPr 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从</a:t>
                </a:r>
                <a:r>
                  <a:rPr lang="zh-CN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光电流最大值</a:t>
                </a:r>
                <a:r>
                  <a:rPr 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附近旋转偏振片，</a:t>
                </a:r>
                <a:r>
                  <a:rPr lang="zh-CN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每隔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10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°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测量一次光电流，共测量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10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个值。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3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）由马吕斯定律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unc>
                      <m:funcPr>
                        <m:ctrlP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argPr>
                          <m:argSz m:val="-1"/>
                        </m:argPr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rgPr>
                              <m:argSz m:val="-1"/>
                            </m:argPr>
                            <m:r>
                              <m:rPr>
                                <m:sty m:val="p"/>
                              </m:rPr>
                              <a:rPr lang="zh-CN" altLang="en-US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argPr>
                              <m:argSz m:val="-1"/>
                            </m:argPr>
                            <m:r>
                              <a:rPr lang="zh-CN" alt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func>
                  </m:oMath>
                </a14:m>
                <a:endParaRPr lang="zh-CN" altLang="en-US" sz="2400" dirty="0"/>
              </a:p>
              <a:p>
                <a:pPr algn="just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可知，硅光电池接收到的光强和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𝑐𝑜𝑠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成正比。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4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）绘制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  <a:sym typeface="+mn-ea"/>
                      </a:rPr>
                      <m:t>𝑖</m:t>
                    </m:r>
                    <m:r>
                      <a:rPr lang="en-US" altLang="zh-CN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  <a:sym typeface="+mn-ea"/>
                      </a:rPr>
                      <m:t>−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  <a:sym typeface="+mn-ea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  <a:sym typeface="+mn-ea"/>
                          </a:rPr>
                          <m:t>cos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Cambria Math" panose="02040503050406030204" pitchFamily="18" charset="0"/>
                            <a:sym typeface="+mn-ea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  <a:sym typeface="+mn-ea"/>
                      </a:rPr>
                      <m:t>𝜙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  <a:sym typeface="+mn-ea"/>
                      </a:rPr>
                      <m:t>（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𝜙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≡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𝛥𝛽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  <a:sym typeface="+mn-ea"/>
                      </a:rPr>
                      <m:t>）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  <a:sym typeface="+mn-ea"/>
                      </a:rPr>
                      <m:t> </m:t>
                    </m:r>
                    <m:r>
                      <a:rPr lang="zh-CN" altLang="en-US" sz="2400">
                        <a:latin typeface="Cambria Math" panose="02040503050406030204" pitchFamily="18" charset="0"/>
                        <a:ea typeface="微软雅黑" panose="020B0503020204020204" pitchFamily="34" charset="-122"/>
                        <a:sym typeface="+mn-ea"/>
                      </a:rPr>
                      <m:t>关系图</m:t>
                    </m:r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，判定光电流与光强关系。</a:t>
                </a: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1350" y="1323340"/>
                <a:ext cx="7587615" cy="3996415"/>
              </a:xfrm>
              <a:prstGeom prst="rect">
                <a:avLst/>
              </a:prstGeom>
              <a:blipFill>
                <a:blip r:embed="rId3"/>
                <a:stretch>
                  <a:fillRect l="-1205" r="-1285" b="-3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326673" y="905014"/>
            <a:ext cx="457962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光电流和光强的关系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214630" y="1633220"/>
            <a:ext cx="3417570" cy="3839845"/>
            <a:chOff x="7598" y="2514"/>
            <a:chExt cx="5382" cy="6047"/>
          </a:xfrm>
        </p:grpSpPr>
        <p:grpSp>
          <p:nvGrpSpPr>
            <p:cNvPr id="33" name="组合 32"/>
            <p:cNvGrpSpPr/>
            <p:nvPr/>
          </p:nvGrpSpPr>
          <p:grpSpPr>
            <a:xfrm>
              <a:off x="7598" y="3031"/>
              <a:ext cx="5382" cy="5530"/>
              <a:chOff x="7598" y="3031"/>
              <a:chExt cx="5382" cy="5530"/>
            </a:xfrm>
          </p:grpSpPr>
          <p:grpSp>
            <p:nvGrpSpPr>
              <p:cNvPr id="30" name="组合 29"/>
              <p:cNvGrpSpPr/>
              <p:nvPr/>
            </p:nvGrpSpPr>
            <p:grpSpPr>
              <a:xfrm>
                <a:off x="7598" y="3031"/>
                <a:ext cx="5382" cy="5530"/>
                <a:chOff x="7968" y="3031"/>
                <a:chExt cx="5382" cy="5530"/>
              </a:xfrm>
            </p:grpSpPr>
            <p:grpSp>
              <p:nvGrpSpPr>
                <p:cNvPr id="28" name="组合 27"/>
                <p:cNvGrpSpPr/>
                <p:nvPr/>
              </p:nvGrpSpPr>
              <p:grpSpPr>
                <a:xfrm>
                  <a:off x="7968" y="3031"/>
                  <a:ext cx="5382" cy="5531"/>
                  <a:chOff x="9775" y="2994"/>
                  <a:chExt cx="4939" cy="5076"/>
                </a:xfrm>
              </p:grpSpPr>
              <p:grpSp>
                <p:nvGrpSpPr>
                  <p:cNvPr id="29" name="组合 28"/>
                  <p:cNvGrpSpPr/>
                  <p:nvPr/>
                </p:nvGrpSpPr>
                <p:grpSpPr>
                  <a:xfrm>
                    <a:off x="9775" y="2994"/>
                    <a:ext cx="4939" cy="5076"/>
                    <a:chOff x="9176" y="2342"/>
                    <a:chExt cx="4939" cy="5076"/>
                  </a:xfrm>
                </p:grpSpPr>
                <p:pic>
                  <p:nvPicPr>
                    <p:cNvPr id="31" name="图片 22" descr="图片1"/>
                    <p:cNvPicPr>
                      <a:picLocks noChangeAspect="1"/>
                    </p:cNvPicPr>
                    <p:nvPr/>
                  </p:nvPicPr>
                  <p:blipFill>
                    <a:blip r:embed="rId4"/>
                    <a:stretch>
                      <a:fillRect/>
                    </a:stretch>
                  </p:blipFill>
                  <p:spPr>
                    <a:xfrm>
                      <a:off x="9176" y="2342"/>
                      <a:ext cx="4939" cy="5076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2" name="弧形 31"/>
                    <p:cNvSpPr/>
                    <p:nvPr/>
                  </p:nvSpPr>
                  <p:spPr>
                    <a:xfrm>
                      <a:off x="10847" y="4475"/>
                      <a:ext cx="594" cy="594"/>
                    </a:xfrm>
                    <a:prstGeom prst="arc">
                      <a:avLst>
                        <a:gd name="adj1" fmla="val 16200000"/>
                        <a:gd name="adj2" fmla="val 20460742"/>
                      </a:avLst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34" name="直接连接符 33"/>
                    <p:cNvCxnSpPr/>
                    <p:nvPr/>
                  </p:nvCxnSpPr>
                  <p:spPr>
                    <a:xfrm>
                      <a:off x="11144" y="6658"/>
                      <a:ext cx="0" cy="83"/>
                    </a:xfrm>
                    <a:prstGeom prst="line">
                      <a:avLst/>
                    </a:prstGeom>
                    <a:ln w="158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6" name="文本框 35"/>
                    <p:cNvSpPr txBox="1"/>
                    <p:nvPr/>
                  </p:nvSpPr>
                  <p:spPr>
                    <a:xfrm>
                      <a:off x="10927" y="6231"/>
                      <a:ext cx="542" cy="44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alt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°</a:t>
                      </a:r>
                    </a:p>
                  </p:txBody>
                </p:sp>
              </p:grpSp>
              <p:sp>
                <p:nvSpPr>
                  <p:cNvPr id="37" name="椭圆 36"/>
                  <p:cNvSpPr/>
                  <p:nvPr/>
                </p:nvSpPr>
                <p:spPr>
                  <a:xfrm>
                    <a:off x="11689" y="3759"/>
                    <a:ext cx="102" cy="102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8" name="椭圆 37"/>
                  <p:cNvSpPr/>
                  <p:nvPr/>
                </p:nvSpPr>
                <p:spPr>
                  <a:xfrm>
                    <a:off x="11689" y="4079"/>
                    <a:ext cx="102" cy="102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9" name="椭圆 38"/>
                  <p:cNvSpPr/>
                  <p:nvPr/>
                </p:nvSpPr>
                <p:spPr>
                  <a:xfrm>
                    <a:off x="11689" y="4719"/>
                    <a:ext cx="102" cy="102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0" name="椭圆 39"/>
                  <p:cNvSpPr/>
                  <p:nvPr/>
                </p:nvSpPr>
                <p:spPr>
                  <a:xfrm>
                    <a:off x="12145" y="5839"/>
                    <a:ext cx="102" cy="102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1" name="椭圆 40"/>
                  <p:cNvSpPr/>
                  <p:nvPr/>
                </p:nvSpPr>
                <p:spPr>
                  <a:xfrm>
                    <a:off x="12373" y="6069"/>
                    <a:ext cx="102" cy="102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2" name="椭圆 41"/>
                  <p:cNvSpPr/>
                  <p:nvPr/>
                </p:nvSpPr>
                <p:spPr>
                  <a:xfrm>
                    <a:off x="12600" y="6298"/>
                    <a:ext cx="102" cy="102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pic>
                <p:nvPicPr>
                  <p:cNvPr id="43" name="图片 42"/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1794" y="4554"/>
                    <a:ext cx="1095" cy="383"/>
                  </a:xfrm>
                  <a:prstGeom prst="rect">
                    <a:avLst/>
                  </a:prstGeom>
                </p:spPr>
              </p:pic>
              <p:sp>
                <p:nvSpPr>
                  <p:cNvPr id="44" name="文本框 43"/>
                  <p:cNvSpPr txBox="1"/>
                  <p:nvPr/>
                </p:nvSpPr>
                <p:spPr>
                  <a:xfrm>
                    <a:off x="11743" y="4408"/>
                    <a:ext cx="1375" cy="754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</a:extLst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1400" b="1">
                        <a:latin typeface="仿宋" panose="02010609060101010101" charset="-122"/>
                        <a:ea typeface="仿宋" panose="02010609060101010101" charset="-122"/>
                      </a:rPr>
                      <a:t>布儒斯特角</a:t>
                    </a:r>
                    <a:r>
                      <a:rPr lang="zh-CN" altLang="en-US" sz="1400" b="1" i="1">
                        <a:latin typeface="Times New Roman" panose="02020603050405020304" pitchFamily="18" charset="0"/>
                        <a:ea typeface="仿宋" panose="02010609060101010101" charset="-122"/>
                        <a:cs typeface="Times New Roman" panose="02020603050405020304" pitchFamily="18" charset="0"/>
                      </a:rPr>
                      <a:t>θ</a:t>
                    </a:r>
                  </a:p>
                </p:txBody>
              </p:sp>
            </p:grpSp>
            <p:sp>
              <p:nvSpPr>
                <p:cNvPr id="45" name="矩形 44"/>
                <p:cNvSpPr/>
                <p:nvPr/>
              </p:nvSpPr>
              <p:spPr>
                <a:xfrm rot="18900000">
                  <a:off x="11178" y="6998"/>
                  <a:ext cx="560" cy="85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6" name="文本框 45"/>
                <p:cNvSpPr txBox="1"/>
                <p:nvPr/>
              </p:nvSpPr>
              <p:spPr>
                <a:xfrm>
                  <a:off x="11046" y="6330"/>
                  <a:ext cx="1134" cy="4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 b="1">
                      <a:latin typeface="仿宋" panose="02010609060101010101" charset="-122"/>
                      <a:ea typeface="仿宋" panose="02010609060101010101" charset="-122"/>
                    </a:rPr>
                    <a:t>偏振片</a:t>
                  </a:r>
                </a:p>
              </p:txBody>
            </p:sp>
          </p:grpSp>
          <p:cxnSp>
            <p:nvCxnSpPr>
              <p:cNvPr id="47" name="直接连接符 46"/>
              <p:cNvCxnSpPr/>
              <p:nvPr/>
            </p:nvCxnSpPr>
            <p:spPr>
              <a:xfrm>
                <a:off x="9640" y="4618"/>
                <a:ext cx="194" cy="0"/>
              </a:xfrm>
              <a:prstGeom prst="line">
                <a:avLst/>
              </a:prstGeom>
              <a:ln w="15875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" name="组合 47"/>
            <p:cNvGrpSpPr/>
            <p:nvPr/>
          </p:nvGrpSpPr>
          <p:grpSpPr>
            <a:xfrm>
              <a:off x="9547" y="2514"/>
              <a:ext cx="1023" cy="482"/>
              <a:chOff x="9547" y="2514"/>
              <a:chExt cx="1023" cy="482"/>
            </a:xfrm>
          </p:grpSpPr>
          <p:sp>
            <p:nvSpPr>
              <p:cNvPr id="49" name="弧形 48"/>
              <p:cNvSpPr/>
              <p:nvPr/>
            </p:nvSpPr>
            <p:spPr>
              <a:xfrm>
                <a:off x="9547" y="2604"/>
                <a:ext cx="380" cy="326"/>
              </a:xfrm>
              <a:prstGeom prst="arc">
                <a:avLst>
                  <a:gd name="adj1" fmla="val 16200000"/>
                  <a:gd name="adj2" fmla="val 10743648"/>
                </a:avLst>
              </a:prstGeom>
              <a:ln w="31750">
                <a:solidFill>
                  <a:schemeClr val="tx1"/>
                </a:solidFill>
                <a:headEnd type="none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9888" y="2514"/>
                <a:ext cx="683" cy="4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90</a:t>
                </a:r>
                <a:r>
                  <a:rPr lang="zh-CN" altLang="en-US" sz="1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°</a:t>
                </a:r>
              </a:p>
            </p:txBody>
          </p:sp>
        </p:grpSp>
      </p:grpSp>
      <p:sp>
        <p:nvSpPr>
          <p:cNvPr id="62" name="对象 61"/>
          <p:cNvSpPr txBox="1"/>
          <p:nvPr/>
        </p:nvSpPr>
        <p:spPr bwMode="auto">
          <a:xfrm>
            <a:off x="6863322" y="3073830"/>
            <a:ext cx="1705288" cy="540544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1" y="298630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338820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思考题</a:t>
            </a:r>
          </a:p>
        </p:txBody>
      </p:sp>
      <p:sp>
        <p:nvSpPr>
          <p:cNvPr id="397" name="矩形 396"/>
          <p:cNvSpPr/>
          <p:nvPr/>
        </p:nvSpPr>
        <p:spPr>
          <a:xfrm>
            <a:off x="2527762" y="324999"/>
            <a:ext cx="3957444" cy="400105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EXPERIMENTAL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EXTENSTION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" name="圆角矩形 1"/>
          <p:cNvSpPr/>
          <p:nvPr/>
        </p:nvSpPr>
        <p:spPr>
          <a:xfrm rot="10800000" flipV="1">
            <a:off x="-5664" y="291645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04885" y="6178552"/>
            <a:ext cx="2743200" cy="365125"/>
          </a:xfrm>
        </p:spPr>
        <p:txBody>
          <a:bodyPr/>
          <a:lstStyle/>
          <a:p>
            <a:fld id="{888F8D02-9041-4C59-BC62-13DE0E5C6713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85520" y="1704340"/>
            <a:ext cx="10186670" cy="41481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请简述减小实验误差的方法。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在探究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光电流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光照强度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关系时背景光照的影响是怎样的？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列哪些波能发生偏振现象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 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A.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声波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B.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电磁波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地震波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波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水波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4.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如何调整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两块平行放置的偏振片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zh-CN" sz="2400" dirty="0">
                <a:latin typeface="微软雅黑" panose="020B0503020204020204" pitchFamily="34" charset="-122"/>
                <a:cs typeface="Times New Roman" panose="02020603050405020304" pitchFamily="18" charset="0"/>
              </a:rPr>
              <a:t>透振方向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让通过的</a:t>
            </a:r>
            <a:r>
              <a:rPr lang="zh-CN" altLang="zh-CN" sz="2400" dirty="0">
                <a:latin typeface="微软雅黑" panose="020B0503020204020204" pitchFamily="34" charset="-122"/>
                <a:cs typeface="Times New Roman" panose="02020603050405020304" pitchFamily="18" charset="0"/>
              </a:rPr>
              <a:t>太阳光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透射光强度获得最大值和最小值？</a:t>
            </a:r>
            <a:endParaRPr lang="zh-CN" altLang="zh-CN" sz="2800" dirty="0"/>
          </a:p>
          <a:p>
            <a:pPr marL="457200" lvl="0" indent="-457200"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B3CF98-7BC9-FCE1-2AFD-C7FC06A9D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70844"/>
          </a:xfrm>
        </p:spPr>
        <p:txBody>
          <a:bodyPr>
            <a:normAutofit/>
          </a:bodyPr>
          <a:lstStyle/>
          <a:p>
            <a:r>
              <a:rPr lang="zh-CN" altLang="en-US" dirty="0"/>
              <a:t>原始数据用</a:t>
            </a:r>
            <a:r>
              <a:rPr lang="en-US" altLang="zh-CN" dirty="0"/>
              <a:t>A4</a:t>
            </a:r>
            <a:r>
              <a:rPr lang="zh-CN" altLang="en-US" dirty="0"/>
              <a:t>纸记录（讲台上有）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原始数据需在每页都标记姓名、学号、实验桌号，并交由指导教师签字后方可离开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请提前绘制数据表格并填写表头，提高整洁度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0C9666-3620-2AD0-CC23-BB9B6DC2E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1984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文本框 52"/>
          <p:cNvSpPr txBox="1"/>
          <p:nvPr/>
        </p:nvSpPr>
        <p:spPr>
          <a:xfrm>
            <a:off x="3043283" y="4621256"/>
            <a:ext cx="6060791" cy="36703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1800" b="1" spc="600" dirty="0">
                <a:solidFill>
                  <a:schemeClr val="bg1">
                    <a:lumMod val="50000"/>
                    <a:alpha val="78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Polarization of Light</a:t>
            </a:r>
            <a:endParaRPr lang="zh-CN" altLang="en-US" sz="1800" b="1" spc="600" dirty="0">
              <a:solidFill>
                <a:schemeClr val="bg1">
                  <a:lumMod val="50000"/>
                  <a:alpha val="78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-8551" y="5623749"/>
            <a:ext cx="12192000" cy="123425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73" name="组合 60"/>
          <p:cNvGrpSpPr/>
          <p:nvPr/>
        </p:nvGrpSpPr>
        <p:grpSpPr>
          <a:xfrm rot="16200000">
            <a:off x="11436485" y="6057840"/>
            <a:ext cx="1271471" cy="363349"/>
            <a:chOff x="6507038" y="462977"/>
            <a:chExt cx="2430800" cy="471379"/>
          </a:xfrm>
        </p:grpSpPr>
        <p:grpSp>
          <p:nvGrpSpPr>
            <p:cNvPr id="74" name="组合 61"/>
            <p:cNvGrpSpPr/>
            <p:nvPr/>
          </p:nvGrpSpPr>
          <p:grpSpPr>
            <a:xfrm flipV="1">
              <a:off x="6507038" y="462977"/>
              <a:ext cx="1917435" cy="471379"/>
              <a:chOff x="810775" y="1533962"/>
              <a:chExt cx="7782374" cy="1913206"/>
            </a:xfrm>
          </p:grpSpPr>
          <p:sp>
            <p:nvSpPr>
              <p:cNvPr id="76" name="圆角矩形 75"/>
              <p:cNvSpPr/>
              <p:nvPr/>
            </p:nvSpPr>
            <p:spPr>
              <a:xfrm>
                <a:off x="2848247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圆角矩形 76"/>
              <p:cNvSpPr/>
              <p:nvPr/>
            </p:nvSpPr>
            <p:spPr>
              <a:xfrm>
                <a:off x="810775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圆角矩形 77"/>
              <p:cNvSpPr/>
              <p:nvPr/>
            </p:nvSpPr>
            <p:spPr>
              <a:xfrm>
                <a:off x="6848755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圆角矩形 78"/>
              <p:cNvSpPr/>
              <p:nvPr/>
            </p:nvSpPr>
            <p:spPr>
              <a:xfrm>
                <a:off x="4811283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5" name="圆角矩形 74"/>
            <p:cNvSpPr/>
            <p:nvPr/>
          </p:nvSpPr>
          <p:spPr>
            <a:xfrm flipV="1">
              <a:off x="8508051" y="462977"/>
              <a:ext cx="429787" cy="471379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0" name="文本框 79"/>
          <p:cNvSpPr txBox="1"/>
          <p:nvPr/>
        </p:nvSpPr>
        <p:spPr>
          <a:xfrm>
            <a:off x="403710" y="5713686"/>
            <a:ext cx="10034254" cy="1015659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en-US" altLang="zh-CN" sz="6000" dirty="0">
                <a:solidFill>
                  <a:schemeClr val="bg1"/>
                </a:solidFill>
                <a:latin typeface="微软雅黑" panose="020B0503020204020204" pitchFamily="34" charset="-122"/>
              </a:rPr>
              <a:t>MANY THANKS</a:t>
            </a:r>
            <a:endParaRPr lang="zh-CN" altLang="en-US" sz="60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81" name="圆角矩形 80"/>
          <p:cNvSpPr/>
          <p:nvPr/>
        </p:nvSpPr>
        <p:spPr>
          <a:xfrm rot="16200000" flipV="1">
            <a:off x="10447003" y="5586366"/>
            <a:ext cx="1282079" cy="1300156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82" name="Freeform 96"/>
          <p:cNvSpPr/>
          <p:nvPr/>
        </p:nvSpPr>
        <p:spPr bwMode="auto">
          <a:xfrm>
            <a:off x="10716633" y="5878142"/>
            <a:ext cx="742823" cy="716604"/>
          </a:xfrm>
          <a:custGeom>
            <a:avLst/>
            <a:gdLst>
              <a:gd name="T0" fmla="*/ 184 w 216"/>
              <a:gd name="T1" fmla="*/ 0 h 208"/>
              <a:gd name="T2" fmla="*/ 152 w 216"/>
              <a:gd name="T3" fmla="*/ 32 h 208"/>
              <a:gd name="T4" fmla="*/ 154 w 216"/>
              <a:gd name="T5" fmla="*/ 41 h 208"/>
              <a:gd name="T6" fmla="*/ 60 w 216"/>
              <a:gd name="T7" fmla="*/ 80 h 208"/>
              <a:gd name="T8" fmla="*/ 32 w 216"/>
              <a:gd name="T9" fmla="*/ 64 h 208"/>
              <a:gd name="T10" fmla="*/ 0 w 216"/>
              <a:gd name="T11" fmla="*/ 96 h 208"/>
              <a:gd name="T12" fmla="*/ 32 w 216"/>
              <a:gd name="T13" fmla="*/ 128 h 208"/>
              <a:gd name="T14" fmla="*/ 56 w 216"/>
              <a:gd name="T15" fmla="*/ 118 h 208"/>
              <a:gd name="T16" fmla="*/ 116 w 216"/>
              <a:gd name="T17" fmla="*/ 161 h 208"/>
              <a:gd name="T18" fmla="*/ 112 w 216"/>
              <a:gd name="T19" fmla="*/ 176 h 208"/>
              <a:gd name="T20" fmla="*/ 144 w 216"/>
              <a:gd name="T21" fmla="*/ 208 h 208"/>
              <a:gd name="T22" fmla="*/ 176 w 216"/>
              <a:gd name="T23" fmla="*/ 176 h 208"/>
              <a:gd name="T24" fmla="*/ 144 w 216"/>
              <a:gd name="T25" fmla="*/ 144 h 208"/>
              <a:gd name="T26" fmla="*/ 121 w 216"/>
              <a:gd name="T27" fmla="*/ 154 h 208"/>
              <a:gd name="T28" fmla="*/ 61 w 216"/>
              <a:gd name="T29" fmla="*/ 111 h 208"/>
              <a:gd name="T30" fmla="*/ 64 w 216"/>
              <a:gd name="T31" fmla="*/ 96 h 208"/>
              <a:gd name="T32" fmla="*/ 63 w 216"/>
              <a:gd name="T33" fmla="*/ 87 h 208"/>
              <a:gd name="T34" fmla="*/ 157 w 216"/>
              <a:gd name="T35" fmla="*/ 48 h 208"/>
              <a:gd name="T36" fmla="*/ 184 w 216"/>
              <a:gd name="T37" fmla="*/ 64 h 208"/>
              <a:gd name="T38" fmla="*/ 216 w 216"/>
              <a:gd name="T39" fmla="*/ 32 h 208"/>
              <a:gd name="T40" fmla="*/ 184 w 216"/>
              <a:gd name="T41" fmla="*/ 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6" h="208">
                <a:moveTo>
                  <a:pt x="184" y="0"/>
                </a:moveTo>
                <a:cubicBezTo>
                  <a:pt x="167" y="0"/>
                  <a:pt x="152" y="14"/>
                  <a:pt x="152" y="32"/>
                </a:cubicBezTo>
                <a:cubicBezTo>
                  <a:pt x="152" y="35"/>
                  <a:pt x="153" y="38"/>
                  <a:pt x="154" y="41"/>
                </a:cubicBezTo>
                <a:cubicBezTo>
                  <a:pt x="60" y="80"/>
                  <a:pt x="60" y="80"/>
                  <a:pt x="60" y="80"/>
                </a:cubicBezTo>
                <a:cubicBezTo>
                  <a:pt x="55" y="70"/>
                  <a:pt x="44" y="64"/>
                  <a:pt x="32" y="64"/>
                </a:cubicBezTo>
                <a:cubicBezTo>
                  <a:pt x="15" y="64"/>
                  <a:pt x="0" y="78"/>
                  <a:pt x="0" y="96"/>
                </a:cubicBezTo>
                <a:cubicBezTo>
                  <a:pt x="0" y="113"/>
                  <a:pt x="15" y="128"/>
                  <a:pt x="32" y="128"/>
                </a:cubicBezTo>
                <a:cubicBezTo>
                  <a:pt x="42" y="128"/>
                  <a:pt x="50" y="124"/>
                  <a:pt x="56" y="118"/>
                </a:cubicBezTo>
                <a:cubicBezTo>
                  <a:pt x="116" y="161"/>
                  <a:pt x="116" y="161"/>
                  <a:pt x="116" y="161"/>
                </a:cubicBezTo>
                <a:cubicBezTo>
                  <a:pt x="114" y="165"/>
                  <a:pt x="112" y="170"/>
                  <a:pt x="112" y="176"/>
                </a:cubicBezTo>
                <a:cubicBezTo>
                  <a:pt x="112" y="193"/>
                  <a:pt x="127" y="208"/>
                  <a:pt x="144" y="208"/>
                </a:cubicBezTo>
                <a:cubicBezTo>
                  <a:pt x="162" y="208"/>
                  <a:pt x="176" y="193"/>
                  <a:pt x="176" y="176"/>
                </a:cubicBezTo>
                <a:cubicBezTo>
                  <a:pt x="176" y="158"/>
                  <a:pt x="162" y="144"/>
                  <a:pt x="144" y="144"/>
                </a:cubicBezTo>
                <a:cubicBezTo>
                  <a:pt x="135" y="144"/>
                  <a:pt x="127" y="148"/>
                  <a:pt x="121" y="154"/>
                </a:cubicBezTo>
                <a:cubicBezTo>
                  <a:pt x="61" y="111"/>
                  <a:pt x="61" y="111"/>
                  <a:pt x="61" y="111"/>
                </a:cubicBezTo>
                <a:cubicBezTo>
                  <a:pt x="63" y="107"/>
                  <a:pt x="64" y="101"/>
                  <a:pt x="64" y="96"/>
                </a:cubicBezTo>
                <a:cubicBezTo>
                  <a:pt x="64" y="93"/>
                  <a:pt x="64" y="90"/>
                  <a:pt x="63" y="87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7"/>
                  <a:pt x="173" y="64"/>
                  <a:pt x="184" y="64"/>
                </a:cubicBezTo>
                <a:cubicBezTo>
                  <a:pt x="202" y="64"/>
                  <a:pt x="216" y="49"/>
                  <a:pt x="216" y="32"/>
                </a:cubicBezTo>
                <a:cubicBezTo>
                  <a:pt x="216" y="14"/>
                  <a:pt x="202" y="0"/>
                  <a:pt x="1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36" tIns="45718" rIns="91436" bIns="45718" numCol="1" anchor="t" anchorCtr="0" compatLnSpc="1"/>
          <a:lstStyle/>
          <a:p>
            <a:endParaRPr lang="zh-CN" altLang="en-US">
              <a:solidFill>
                <a:srgbClr val="AD1C21"/>
              </a:solidFill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816914" y="2790288"/>
            <a:ext cx="8621485" cy="1105535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zh-CN" altLang="en-US" sz="6600" b="1" dirty="0">
                <a:ln w="0"/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圆角矩形 18"/>
          <p:cNvSpPr/>
          <p:nvPr/>
        </p:nvSpPr>
        <p:spPr>
          <a:xfrm>
            <a:off x="2334135" y="2065436"/>
            <a:ext cx="9863532" cy="4170219"/>
          </a:xfrm>
          <a:prstGeom prst="roundRect">
            <a:avLst>
              <a:gd name="adj" fmla="val 0"/>
            </a:avLst>
          </a:prstGeom>
          <a:solidFill>
            <a:srgbClr val="4472C4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2329554" y="1876965"/>
            <a:ext cx="9863532" cy="4170219"/>
          </a:xfrm>
          <a:prstGeom prst="roundRect">
            <a:avLst>
              <a:gd name="adj" fmla="val 0"/>
            </a:avLst>
          </a:prstGeom>
          <a:solidFill>
            <a:srgbClr val="4472C4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sp>
        <p:nvSpPr>
          <p:cNvPr id="25" name="圆角矩形 24"/>
          <p:cNvSpPr/>
          <p:nvPr/>
        </p:nvSpPr>
        <p:spPr>
          <a:xfrm rot="16200000" flipV="1">
            <a:off x="-146012" y="4710883"/>
            <a:ext cx="770655" cy="47862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sp>
        <p:nvSpPr>
          <p:cNvPr id="26" name="圆角矩形 25"/>
          <p:cNvSpPr/>
          <p:nvPr/>
        </p:nvSpPr>
        <p:spPr>
          <a:xfrm rot="16200000" flipV="1">
            <a:off x="-146012" y="5611017"/>
            <a:ext cx="770655" cy="478620"/>
          </a:xfrm>
          <a:prstGeom prst="roundRect">
            <a:avLst>
              <a:gd name="adj" fmla="val 5039"/>
            </a:avLst>
          </a:prstGeom>
          <a:solidFill>
            <a:srgbClr val="20386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sp>
        <p:nvSpPr>
          <p:cNvPr id="27" name="圆角矩形 26"/>
          <p:cNvSpPr/>
          <p:nvPr/>
        </p:nvSpPr>
        <p:spPr>
          <a:xfrm rot="16200000" flipV="1">
            <a:off x="-146012" y="2943503"/>
            <a:ext cx="770655" cy="47862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sp>
        <p:nvSpPr>
          <p:cNvPr id="28" name="圆角矩形 27"/>
          <p:cNvSpPr/>
          <p:nvPr/>
        </p:nvSpPr>
        <p:spPr>
          <a:xfrm rot="16200000" flipV="1">
            <a:off x="-146012" y="3843635"/>
            <a:ext cx="770655" cy="478620"/>
          </a:xfrm>
          <a:prstGeom prst="roundRect">
            <a:avLst>
              <a:gd name="adj" fmla="val 5039"/>
            </a:avLst>
          </a:prstGeom>
          <a:solidFill>
            <a:srgbClr val="20386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sp>
        <p:nvSpPr>
          <p:cNvPr id="24" name="圆角矩形 23"/>
          <p:cNvSpPr/>
          <p:nvPr/>
        </p:nvSpPr>
        <p:spPr>
          <a:xfrm rot="16200000" flipV="1">
            <a:off x="-146012" y="2022983"/>
            <a:ext cx="770655" cy="478620"/>
          </a:xfrm>
          <a:prstGeom prst="roundRect">
            <a:avLst>
              <a:gd name="adj" fmla="val 5039"/>
            </a:avLst>
          </a:prstGeom>
          <a:solidFill>
            <a:srgbClr val="20386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786256" y="2190119"/>
            <a:ext cx="1215709" cy="3836944"/>
          </a:xfrm>
          <a:prstGeom prst="rect">
            <a:avLst/>
          </a:prstGeom>
          <a:noFill/>
        </p:spPr>
        <p:txBody>
          <a:bodyPr vert="eaVert" wrap="none" lIns="91436" tIns="45718" rIns="91436" bIns="45718" rtlCol="0">
            <a:spAutoFit/>
          </a:bodyPr>
          <a:lstStyle/>
          <a:p>
            <a:r>
              <a:rPr lang="zh-CN" altLang="en-US" sz="6700" spc="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参考文献</a:t>
            </a:r>
          </a:p>
        </p:txBody>
      </p:sp>
      <p:sp>
        <p:nvSpPr>
          <p:cNvPr id="29" name="矩形 28"/>
          <p:cNvSpPr/>
          <p:nvPr/>
        </p:nvSpPr>
        <p:spPr>
          <a:xfrm>
            <a:off x="2832735" y="2404110"/>
            <a:ext cx="8912225" cy="2009775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[ 1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］李海洋，等，大学物理实验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 [ M ] .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高等教育出版社（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2014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[ 2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］邱学军,姚文俊,曹振洲,等.光的偏振综合实验设计[J].大学物理实验,2020,33(05):52-55.</a:t>
            </a: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[ 3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］</a:t>
            </a:r>
            <a:r>
              <a:rPr lang="en-US" altLang="zh-CN" sz="1600">
                <a:solidFill>
                  <a:schemeClr val="bg1"/>
                </a:solidFill>
                <a:latin typeface="微软雅黑" panose="020B0503020204020204" pitchFamily="34" charset="-122"/>
              </a:rPr>
              <a:t>成建群,李杏莲,林立燕,等.“光的偏振”实验教学思路的优化设计[J].实验教学与仪器,2020,37(01):31-33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.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 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[ 4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］</a:t>
            </a:r>
            <a:r>
              <a:rPr lang="en-US" altLang="zh-CN" sz="1600">
                <a:solidFill>
                  <a:schemeClr val="bg1"/>
                </a:solidFill>
                <a:latin typeface="微软雅黑" panose="020B0503020204020204" pitchFamily="34" charset="-122"/>
              </a:rPr>
              <a:t>赵航,郝彦军,朱俊,等.光的偏振特性研究[J].实验科学与技术,2015,13(06):1-2.</a:t>
            </a: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[ 5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］</a:t>
            </a:r>
            <a:r>
              <a:rPr sz="1600">
                <a:solidFill>
                  <a:schemeClr val="bg1"/>
                </a:solidFill>
                <a:latin typeface="微软雅黑" panose="020B0503020204020204" pitchFamily="34" charset="-122"/>
              </a:rPr>
              <a:t>https://image.baidu.com/</a:t>
            </a:r>
            <a:r>
              <a:rPr lang="en-US" sz="1600">
                <a:solidFill>
                  <a:schemeClr val="bg1"/>
                </a:solidFill>
                <a:latin typeface="微软雅黑" panose="020B0503020204020204" pitchFamily="34" charset="-122"/>
              </a:rPr>
              <a:t>.</a:t>
            </a:r>
          </a:p>
        </p:txBody>
      </p:sp>
      <p:sp>
        <p:nvSpPr>
          <p:cNvPr id="44" name="矩形 43"/>
          <p:cNvSpPr/>
          <p:nvPr/>
        </p:nvSpPr>
        <p:spPr>
          <a:xfrm>
            <a:off x="2456365" y="252859"/>
            <a:ext cx="973563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5" name="圆角矩形 4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5</a:t>
            </a:r>
            <a:endParaRPr lang="zh-CN" altLang="en-US" sz="3600" dirty="0"/>
          </a:p>
        </p:txBody>
      </p:sp>
      <p:sp>
        <p:nvSpPr>
          <p:cNvPr id="46" name="文本框 45"/>
          <p:cNvSpPr txBox="1"/>
          <p:nvPr/>
        </p:nvSpPr>
        <p:spPr>
          <a:xfrm>
            <a:off x="647718" y="267582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文献目录</a:t>
            </a:r>
          </a:p>
        </p:txBody>
      </p:sp>
      <p:sp>
        <p:nvSpPr>
          <p:cNvPr id="47" name="矩形 46"/>
          <p:cNvSpPr/>
          <p:nvPr/>
        </p:nvSpPr>
        <p:spPr>
          <a:xfrm>
            <a:off x="2607675" y="324999"/>
            <a:ext cx="1953551" cy="38471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BIBLIOGRAPHY</a:t>
            </a:r>
          </a:p>
        </p:txBody>
      </p:sp>
      <p:grpSp>
        <p:nvGrpSpPr>
          <p:cNvPr id="49" name="组 4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51" name="组 5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55" name="圆角矩形 5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圆角矩形 5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圆角矩形 5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圆角矩形 5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圆角矩形 5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53" name="圆角矩形 5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400" b="1" smtClean="0"/>
              <a:t>21</a:t>
            </a:fld>
            <a:endParaRPr lang="zh-CN" altLang="en-US" sz="1400" b="1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Dc1NzExYTkyNTNjMWRmNDY1YTQ4ZjI4MTM4NmFiOWQ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</TotalTime>
  <Words>1004</Words>
  <Application>Microsoft Office PowerPoint</Application>
  <PresentationFormat>宽屏</PresentationFormat>
  <Paragraphs>204</Paragraphs>
  <Slides>21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6" baseType="lpstr">
      <vt:lpstr>+中文正文</vt:lpstr>
      <vt:lpstr>仿宋</vt:lpstr>
      <vt:lpstr>黑体</vt:lpstr>
      <vt:lpstr>楷体</vt:lpstr>
      <vt:lpstr>宋体</vt:lpstr>
      <vt:lpstr>微软雅黑</vt:lpstr>
      <vt:lpstr>Arial</vt:lpstr>
      <vt:lpstr>Calibri</vt:lpstr>
      <vt:lpstr>Cambria Math</vt:lpstr>
      <vt:lpstr>Century Gothic</vt:lpstr>
      <vt:lpstr>Eras Light ITC</vt:lpstr>
      <vt:lpstr>Segoe UI Semilight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原始数据用A4纸记录（讲台上有）  原始数据需在每页都标记姓名、学号、实验桌号，并交由指导教师签字后方可离开  请提前绘制数据表格并填写表头，提高整洁度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 PLUS</dc:creator>
  <cp:lastModifiedBy>BOXU JIANG</cp:lastModifiedBy>
  <cp:revision>926</cp:revision>
  <dcterms:created xsi:type="dcterms:W3CDTF">2015-04-07T16:28:00Z</dcterms:created>
  <dcterms:modified xsi:type="dcterms:W3CDTF">2025-10-10T13:59:19Z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40A654BF0685414FA0FBFD29EAFD8DCB_12</vt:lpwstr>
  </property>
  <property fmtid="{D5CDD505-2E9C-101B-9397-08002B2CF9AE}" pid="3" name="KSOProductBuildVer">
    <vt:lpwstr>2052-12.1.0.18276</vt:lpwstr>
  </property>
</Properties>
</file>