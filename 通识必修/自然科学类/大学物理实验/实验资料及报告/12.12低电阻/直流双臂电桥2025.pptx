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9" r:id="rId4"/>
    <p:sldId id="371" r:id="rId5"/>
    <p:sldId id="291" r:id="rId6"/>
    <p:sldId id="292" r:id="rId7"/>
    <p:sldId id="293" r:id="rId8"/>
    <p:sldId id="294" r:id="rId9"/>
    <p:sldId id="360" r:id="rId10"/>
    <p:sldId id="375" r:id="rId11"/>
    <p:sldId id="374" r:id="rId12"/>
    <p:sldId id="376" r:id="rId13"/>
    <p:sldId id="362" r:id="rId14"/>
    <p:sldId id="364" r:id="rId15"/>
    <p:sldId id="369" r:id="rId16"/>
    <p:sldId id="372" r:id="rId17"/>
    <p:sldId id="356" r:id="rId18"/>
    <p:sldId id="373" r:id="rId19"/>
    <p:sldId id="309" r:id="rId20"/>
    <p:sldId id="366" r:id="rId21"/>
    <p:sldId id="368" r:id="rId22"/>
    <p:sldId id="310" r:id="rId23"/>
    <p:sldId id="327" r:id="rId24"/>
    <p:sldId id="377" r:id="rId25"/>
    <p:sldId id="326" r:id="rId26"/>
  </p:sldIdLst>
  <p:sldSz cx="12192000" cy="6858000"/>
  <p:notesSz cx="6858000" cy="9144000"/>
  <p:custDataLst>
    <p:tags r:id="rId28"/>
  </p:custDataLst>
  <p:defaultTextStyle>
    <a:defPPr>
      <a:defRPr lang="zh-CN"/>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D7D31"/>
    <a:srgbClr val="F29E65"/>
    <a:srgbClr val="F0B8A6"/>
    <a:srgbClr val="EF8136"/>
    <a:srgbClr val="EE8137"/>
    <a:srgbClr val="C55A11"/>
    <a:srgbClr val="2F5597"/>
    <a:srgbClr val="A2A2A2"/>
    <a:srgbClr val="EBE9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26" autoAdjust="0"/>
    <p:restoredTop sz="86939" autoAdjust="0"/>
  </p:normalViewPr>
  <p:slideViewPr>
    <p:cSldViewPr snapToGrid="0" showGuides="1">
      <p:cViewPr varScale="1">
        <p:scale>
          <a:sx n="110" d="100"/>
          <a:sy n="110" d="100"/>
        </p:scale>
        <p:origin x="1120"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3AA3F-A82B-43BF-B18C-5608A05C57EB}" type="datetimeFigureOut">
              <a:rPr lang="zh-CN" altLang="en-US" smtClean="0"/>
              <a:t>2025/7/16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30F0D-1A5A-4EA2-B28F-0EC912CB6BA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4</a:t>
            </a:fld>
            <a:endParaRPr lang="zh-CN" altLang="en-US"/>
          </a:p>
        </p:txBody>
      </p:sp>
    </p:spTree>
    <p:extLst>
      <p:ext uri="{BB962C8B-B14F-4D97-AF65-F5344CB8AC3E}">
        <p14:creationId xmlns:p14="http://schemas.microsoft.com/office/powerpoint/2010/main" val="1201673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9</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10</a:t>
            </a:fld>
            <a:endParaRPr lang="zh-CN" altLang="en-US"/>
          </a:p>
        </p:txBody>
      </p:sp>
    </p:spTree>
    <p:extLst>
      <p:ext uri="{BB962C8B-B14F-4D97-AF65-F5344CB8AC3E}">
        <p14:creationId xmlns:p14="http://schemas.microsoft.com/office/powerpoint/2010/main" val="2691950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11</a:t>
            </a:fld>
            <a:endParaRPr lang="zh-CN" altLang="en-US"/>
          </a:p>
        </p:txBody>
      </p:sp>
    </p:spTree>
    <p:extLst>
      <p:ext uri="{BB962C8B-B14F-4D97-AF65-F5344CB8AC3E}">
        <p14:creationId xmlns:p14="http://schemas.microsoft.com/office/powerpoint/2010/main" val="1967065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12</a:t>
            </a:fld>
            <a:endParaRPr lang="zh-CN" altLang="en-US"/>
          </a:p>
        </p:txBody>
      </p:sp>
    </p:spTree>
    <p:extLst>
      <p:ext uri="{BB962C8B-B14F-4D97-AF65-F5344CB8AC3E}">
        <p14:creationId xmlns:p14="http://schemas.microsoft.com/office/powerpoint/2010/main" val="3184616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13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14</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15</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17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18</a:t>
            </a:fld>
            <a:endParaRPr lang="zh-CN" altLang="en-US"/>
          </a:p>
        </p:txBody>
      </p:sp>
    </p:spTree>
    <p:extLst>
      <p:ext uri="{BB962C8B-B14F-4D97-AF65-F5344CB8AC3E}">
        <p14:creationId xmlns:p14="http://schemas.microsoft.com/office/powerpoint/2010/main" val="2748475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CB530F0D-1A5A-4EA2-B28F-0EC912CB6BA5}" type="slidenum">
              <a:rPr lang="zh-CN" altLang="en-US" smtClean="0"/>
              <a:t>20</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21</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23</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24</a:t>
            </a:fld>
            <a:endParaRPr lang="zh-CN" altLang="en-US"/>
          </a:p>
        </p:txBody>
      </p:sp>
    </p:spTree>
    <p:extLst>
      <p:ext uri="{BB962C8B-B14F-4D97-AF65-F5344CB8AC3E}">
        <p14:creationId xmlns:p14="http://schemas.microsoft.com/office/powerpoint/2010/main" val="256323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71B3EF8-6704-43C3-8F75-DEFE5F5BF111}" type="datetime1">
              <a:rPr lang="zh-CN" altLang="en-US" smtClean="0"/>
              <a:t>2025/7/16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0B331A8-ED3E-4C2F-8A11-01DA33E8AA9F}" type="datetime1">
              <a:rPr lang="zh-CN" altLang="en-US" smtClean="0"/>
              <a:t>2025/7/16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162B3F5-254C-4FB2-B459-1E97057DBEBE}" type="datetime1">
              <a:rPr lang="zh-CN" altLang="en-US" smtClean="0"/>
              <a:t>2025/7/16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D393B7A-F841-43D1-87B4-23314CEA1932}" type="datetime1">
              <a:rPr lang="zh-CN" altLang="en-US" smtClean="0"/>
              <a:t>2025/7/16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2"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C18F70B-9E30-40F6-BB2D-492DB8A20061}" type="datetime1">
              <a:rPr lang="zh-CN" altLang="en-US" smtClean="0"/>
              <a:t>2025/7/16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F139D20-B6AE-409E-AE69-DF1C3E6493B0}" type="datetime1">
              <a:rPr lang="zh-CN" altLang="en-US" smtClean="0"/>
              <a:t>2025/7/16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3997D8-1CC1-4D1D-AF9B-F3494A691C40}" type="datetime1">
              <a:rPr lang="zh-CN" altLang="en-US" smtClean="0"/>
              <a:t>2025/7/16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930E83B-EDA7-4322-8CA8-C73FECAEB8E3}" type="datetime1">
              <a:rPr lang="zh-CN" altLang="en-US" smtClean="0"/>
              <a:t>2025/7/16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6D0E2C6-59A5-43B5-9200-40EBBA2C2ED4}" type="datetime1">
              <a:rPr lang="zh-CN" altLang="en-US" smtClean="0"/>
              <a:t>2025/7/16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49913B5-1C68-4AC6-B30B-B7D937B82F38}" type="datetime1">
              <a:rPr lang="zh-CN" altLang="en-US" smtClean="0"/>
              <a:t>2025/7/16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2" y="365127"/>
            <a:ext cx="7734300"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79D71C6-9046-4CE9-A225-CEB1A658F8F9}" type="datetime1">
              <a:rPr lang="zh-CN" altLang="en-US" smtClean="0"/>
              <a:t>2025/7/16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D90D8A45-B5D6-47BE-9DA3-56E1A2FB3E55}" type="datetime1">
              <a:rPr lang="zh-CN" altLang="en-US" smtClean="0"/>
              <a:t>2025/7/16</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888F8D02-9041-4C59-BC62-13DE0E5C671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13.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image" Target="../media/image12.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4"/>
            <a:ext cx="12192000" cy="123425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文本框 43"/>
          <p:cNvSpPr txBox="1"/>
          <p:nvPr/>
        </p:nvSpPr>
        <p:spPr>
          <a:xfrm>
            <a:off x="2675831" y="3620814"/>
            <a:ext cx="6823235" cy="461661"/>
          </a:xfrm>
          <a:prstGeom prst="rect">
            <a:avLst/>
          </a:prstGeom>
          <a:noFill/>
        </p:spPr>
        <p:txBody>
          <a:bodyPr wrap="square" lIns="91436" tIns="45718" rIns="91436" bIns="45718" rtlCol="0">
            <a:spAutoFit/>
          </a:bodyPr>
          <a:lstStyle/>
          <a:p>
            <a:pPr algn="ctr"/>
            <a:r>
              <a:rPr lang="en-US" altLang="zh-CN" sz="2400" b="1" spc="600" dirty="0">
                <a:solidFill>
                  <a:schemeClr val="bg1">
                    <a:lumMod val="50000"/>
                    <a:alpha val="78000"/>
                  </a:schemeClr>
                </a:solidFill>
                <a:latin typeface="Arial" panose="020B0604020202020204" pitchFamily="34" charset="0"/>
                <a:cs typeface="Arial" panose="020B0604020202020204" pitchFamily="34" charset="0"/>
              </a:rPr>
              <a:t>Kalvin Double Bridge</a:t>
            </a:r>
            <a:endParaRPr lang="zh-CN" altLang="en-US" sz="2400" b="1" spc="600" dirty="0">
              <a:solidFill>
                <a:schemeClr val="bg1">
                  <a:lumMod val="50000"/>
                  <a:alpha val="78000"/>
                </a:schemeClr>
              </a:solidFill>
              <a:latin typeface="Arial" panose="020B0604020202020204" pitchFamily="34" charset="0"/>
              <a:cs typeface="Arial" panose="020B0604020202020204" pitchFamily="34" charset="0"/>
            </a:endParaRPr>
          </a:p>
        </p:txBody>
      </p:sp>
      <p:sp>
        <p:nvSpPr>
          <p:cNvPr id="48" name="文本框 47"/>
          <p:cNvSpPr txBox="1"/>
          <p:nvPr/>
        </p:nvSpPr>
        <p:spPr>
          <a:xfrm>
            <a:off x="2609576" y="1964683"/>
            <a:ext cx="6955746" cy="1446548"/>
          </a:xfrm>
          <a:prstGeom prst="rect">
            <a:avLst/>
          </a:prstGeom>
          <a:noFill/>
        </p:spPr>
        <p:txBody>
          <a:bodyPr wrap="none" lIns="91438" tIns="45719" rIns="91438" bIns="45719" rtlCol="0">
            <a:spAutoFit/>
          </a:bodyPr>
          <a:lstStyle/>
          <a:p>
            <a:r>
              <a:rPr lang="zh-CN" altLang="en-US" sz="8800" dirty="0">
                <a:ln w="0"/>
                <a:solidFill>
                  <a:schemeClr val="tx2"/>
                </a:solidFill>
                <a:latin typeface="黑体" panose="02010609060101010101" pitchFamily="49" charset="-122"/>
                <a:ea typeface="黑体" panose="02010609060101010101" pitchFamily="49" charset="-122"/>
              </a:rPr>
              <a:t>直流双臂电桥</a:t>
            </a:r>
          </a:p>
        </p:txBody>
      </p:sp>
      <p:sp>
        <p:nvSpPr>
          <p:cNvPr id="10" name="圆角矩形 9"/>
          <p:cNvSpPr/>
          <p:nvPr/>
        </p:nvSpPr>
        <p:spPr>
          <a:xfrm rot="16200000" flipV="1">
            <a:off x="10447003" y="4634619"/>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1" name="Freeform 96"/>
          <p:cNvSpPr/>
          <p:nvPr/>
        </p:nvSpPr>
        <p:spPr bwMode="auto">
          <a:xfrm>
            <a:off x="10716633"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lstStyle/>
          <a:p>
            <a:endParaRPr lang="zh-CN" altLang="en-US">
              <a:solidFill>
                <a:srgbClr val="AD1C21"/>
              </a:solidFill>
            </a:endParaRPr>
          </a:p>
        </p:txBody>
      </p:sp>
      <p:pic>
        <p:nvPicPr>
          <p:cNvPr id="2" name="图片 1">
            <a:extLst>
              <a:ext uri="{FF2B5EF4-FFF2-40B4-BE49-F238E27FC236}">
                <a16:creationId xmlns:a16="http://schemas.microsoft.com/office/drawing/2014/main" id="{D72B45EE-7CBD-157A-CE12-4EC4B7F66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49" y="209688"/>
            <a:ext cx="4712251" cy="813468"/>
          </a:xfrm>
          <a:prstGeom prst="rect">
            <a:avLst/>
          </a:prstGeom>
        </p:spPr>
      </p:pic>
      <p:sp>
        <p:nvSpPr>
          <p:cNvPr id="3" name="文本框 2">
            <a:extLst>
              <a:ext uri="{FF2B5EF4-FFF2-40B4-BE49-F238E27FC236}">
                <a16:creationId xmlns:a16="http://schemas.microsoft.com/office/drawing/2014/main" id="{AAE18918-B3DB-C32C-0B83-C552C68DF6CC}"/>
              </a:ext>
            </a:extLst>
          </p:cNvPr>
          <p:cNvSpPr txBox="1"/>
          <p:nvPr/>
        </p:nvSpPr>
        <p:spPr>
          <a:xfrm>
            <a:off x="3398551" y="5314714"/>
            <a:ext cx="4653495" cy="400111"/>
          </a:xfrm>
          <a:prstGeom prst="rect">
            <a:avLst/>
          </a:prstGeom>
          <a:noFill/>
        </p:spPr>
        <p:txBody>
          <a:bodyPr wrap="square" lIns="91436" tIns="45718" rIns="91436" bIns="45718" rtlCol="0">
            <a:spAutoFit/>
          </a:bodyPr>
          <a:lstStyle/>
          <a:p>
            <a:pPr algn="ctr"/>
            <a:r>
              <a:rPr lang="zh-CN" altLang="en-US" sz="2000" dirty="0">
                <a:solidFill>
                  <a:schemeClr val="bg1"/>
                </a:solidFill>
                <a:latin typeface="宋体" panose="02010600030101010101" pitchFamily="2" charset="-122"/>
                <a:ea typeface="宋体" panose="02010600030101010101" pitchFamily="2" charset="-122"/>
                <a:cs typeface="Segoe UI Semilight" panose="020B0402040204020203" pitchFamily="34" charset="0"/>
              </a:rPr>
              <a:t>浙江大学  物理实验教学中心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
        <p:nvSpPr>
          <p:cNvPr id="44" name="圆角矩形 43"/>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0</a:t>
            </a:r>
            <a:endParaRPr lang="zh-CN" altLang="en-US" sz="3600" dirty="0"/>
          </a:p>
        </p:txBody>
      </p:sp>
      <p:sp>
        <p:nvSpPr>
          <p:cNvPr id="45" name="文本框 44"/>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预备实验</a:t>
            </a:r>
          </a:p>
        </p:txBody>
      </p:sp>
      <p:sp>
        <p:nvSpPr>
          <p:cNvPr id="46" name="矩形 45"/>
          <p:cNvSpPr/>
          <p:nvPr/>
        </p:nvSpPr>
        <p:spPr>
          <a:xfrm>
            <a:off x="2451431" y="324999"/>
            <a:ext cx="3457542" cy="384717"/>
          </a:xfrm>
          <a:prstGeom prst="rect">
            <a:avLst/>
          </a:prstGeom>
        </p:spPr>
        <p:txBody>
          <a:bodyPr wrap="none" lIns="91436" tIns="45718" rIns="91436" bIns="45718">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PREPARATORY EXPERIMENT</a:t>
            </a:r>
          </a:p>
        </p:txBody>
      </p:sp>
      <p:grpSp>
        <p:nvGrpSpPr>
          <p:cNvPr id="43" name="组 42"/>
          <p:cNvGrpSpPr/>
          <p:nvPr/>
        </p:nvGrpSpPr>
        <p:grpSpPr>
          <a:xfrm>
            <a:off x="11454106" y="252857"/>
            <a:ext cx="737892"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4" name="灯片编号占位符 3"/>
          <p:cNvSpPr>
            <a:spLocks noGrp="1"/>
          </p:cNvSpPr>
          <p:nvPr>
            <p:ph type="sldNum" sz="quarter" idx="12"/>
          </p:nvPr>
        </p:nvSpPr>
        <p:spPr/>
        <p:txBody>
          <a:bodyPr/>
          <a:lstStyle/>
          <a:p>
            <a:fld id="{888F8D02-9041-4C59-BC62-13DE0E5C6713}" type="slidenum">
              <a:rPr lang="zh-CN" altLang="en-US" sz="1400" b="1" smtClean="0"/>
              <a:t>2</a:t>
            </a:fld>
            <a:endParaRPr lang="zh-CN" altLang="en-US" b="1" dirty="0"/>
          </a:p>
        </p:txBody>
      </p:sp>
      <p:sp>
        <p:nvSpPr>
          <p:cNvPr id="12" name="AutoShape 2" descr="https://timgsa.baidu.com/timg?image&amp;quality=80&amp;size=b9999_10000&amp;sec=1555591435233&amp;di=3b938dc0d6caaa0601a59eed1669c242&amp;imgtype=0&amp;src=http%3A%2F%2Fimg009.hc360.cn%2Fm2%2FM04%2F6A%2FD9%2FwKhQcVQ_0A2EM2O0AAAAAJE9nEE324.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文本框 4"/>
          <p:cNvSpPr txBox="1"/>
          <p:nvPr/>
        </p:nvSpPr>
        <p:spPr>
          <a:xfrm>
            <a:off x="2537014" y="1292772"/>
            <a:ext cx="7246614" cy="646331"/>
          </a:xfrm>
          <a:prstGeom prst="rect">
            <a:avLst/>
          </a:prstGeom>
          <a:noFill/>
        </p:spPr>
        <p:txBody>
          <a:bodyPr wrap="square" rtlCol="0">
            <a:spAutoFit/>
          </a:bodyPr>
          <a:lstStyle/>
          <a:p>
            <a:r>
              <a:rPr lang="zh-CN" altLang="en-US" sz="3600" b="1" dirty="0">
                <a:latin typeface="楷体" panose="02010609060101010101" pitchFamily="49" charset="-122"/>
                <a:ea typeface="楷体" panose="02010609060101010101" pitchFamily="49" charset="-122"/>
              </a:rPr>
              <a:t>用直流双臂电桥测量金属导体电阻</a:t>
            </a:r>
          </a:p>
        </p:txBody>
      </p:sp>
      <p:sp>
        <p:nvSpPr>
          <p:cNvPr id="19" name="文本框 18"/>
          <p:cNvSpPr txBox="1"/>
          <p:nvPr/>
        </p:nvSpPr>
        <p:spPr>
          <a:xfrm>
            <a:off x="6548588" y="2378901"/>
            <a:ext cx="4571180" cy="3323987"/>
          </a:xfrm>
          <a:prstGeom prst="rect">
            <a:avLst/>
          </a:prstGeom>
          <a:noFill/>
        </p:spPr>
        <p:txBody>
          <a:bodyPr wrap="square" rtlCol="0">
            <a:spAutoFit/>
          </a:bodyPr>
          <a:lstStyle/>
          <a:p>
            <a:pPr indent="0" fontAlgn="auto">
              <a:lnSpc>
                <a:spcPct val="150000"/>
              </a:lnSpc>
            </a:pPr>
            <a:r>
              <a:rPr lang="zh-CN" altLang="en-US" sz="2800" b="1" dirty="0">
                <a:latin typeface="楷体" panose="02010609060101010101" pitchFamily="49" charset="-122"/>
                <a:ea typeface="楷体" panose="02010609060101010101" pitchFamily="49" charset="-122"/>
                <a:cs typeface="黑体" panose="02010609060101010101" pitchFamily="49" charset="-122"/>
              </a:rPr>
              <a:t>实验要求：</a:t>
            </a:r>
            <a:endParaRPr lang="en-US" altLang="zh-CN" sz="2800" b="1" dirty="0">
              <a:latin typeface="楷体" panose="02010609060101010101" pitchFamily="49" charset="-122"/>
              <a:ea typeface="楷体" panose="02010609060101010101" pitchFamily="49" charset="-122"/>
              <a:cs typeface="黑体" panose="02010609060101010101" pitchFamily="49" charset="-122"/>
            </a:endParaRPr>
          </a:p>
          <a:p>
            <a:pPr indent="0" fontAlgn="auto">
              <a:lnSpc>
                <a:spcPct val="150000"/>
              </a:lnSpc>
            </a:pPr>
            <a:r>
              <a:rPr lang="en-US" altLang="zh-CN" sz="2800" b="1" dirty="0">
                <a:latin typeface="楷体" panose="02010609060101010101" pitchFamily="49" charset="-122"/>
                <a:ea typeface="楷体" panose="02010609060101010101" pitchFamily="49" charset="-122"/>
                <a:cs typeface="黑体" panose="02010609060101010101" pitchFamily="49" charset="-122"/>
              </a:rPr>
              <a:t>1</a:t>
            </a:r>
            <a:r>
              <a:rPr lang="zh-CN" altLang="en-US" sz="2800" b="1" dirty="0">
                <a:latin typeface="楷体" panose="02010609060101010101" pitchFamily="49" charset="-122"/>
                <a:ea typeface="楷体" panose="02010609060101010101" pitchFamily="49" charset="-122"/>
                <a:cs typeface="黑体" panose="02010609060101010101" pitchFamily="49" charset="-122"/>
              </a:rPr>
              <a:t>、熟悉双臂电桥按钮功能；</a:t>
            </a:r>
          </a:p>
          <a:p>
            <a:pPr indent="0" fontAlgn="auto">
              <a:lnSpc>
                <a:spcPct val="150000"/>
              </a:lnSpc>
            </a:pPr>
            <a:r>
              <a:rPr lang="en-US" altLang="zh-CN" sz="2800" b="1" dirty="0">
                <a:latin typeface="楷体" panose="02010609060101010101" pitchFamily="49" charset="-122"/>
                <a:ea typeface="楷体" panose="02010609060101010101" pitchFamily="49" charset="-122"/>
                <a:cs typeface="黑体" panose="02010609060101010101" pitchFamily="49" charset="-122"/>
                <a:sym typeface="+mn-ea"/>
              </a:rPr>
              <a:t>2</a:t>
            </a:r>
            <a:r>
              <a:rPr lang="zh-CN" altLang="en-US" sz="2800" b="1" dirty="0">
                <a:latin typeface="楷体" panose="02010609060101010101" pitchFamily="49" charset="-122"/>
                <a:ea typeface="楷体" panose="02010609060101010101" pitchFamily="49" charset="-122"/>
                <a:cs typeface="黑体" panose="02010609060101010101" pitchFamily="49" charset="-122"/>
                <a:sym typeface="+mn-ea"/>
              </a:rPr>
              <a:t>、根据电路图，接入待测金属导体，选择适当倍率，测量其</a:t>
            </a:r>
            <a:r>
              <a:rPr lang="zh-CN" altLang="en-US" sz="2800" b="1" dirty="0">
                <a:latin typeface="楷体" panose="02010609060101010101" pitchFamily="49" charset="-122"/>
                <a:ea typeface="楷体" panose="02010609060101010101" pitchFamily="49" charset="-122"/>
                <a:cs typeface="黑体" panose="02010609060101010101" pitchFamily="49" charset="-122"/>
                <a:sym typeface="Symbol" panose="05050102010706020507" pitchFamily="18" charset="2"/>
              </a:rPr>
              <a:t>阻值。</a:t>
            </a:r>
            <a:endParaRPr lang="en-US" altLang="zh-CN" sz="2800" b="1" dirty="0">
              <a:latin typeface="楷体" panose="02010609060101010101" pitchFamily="49" charset="-122"/>
              <a:ea typeface="楷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5982" y="2378901"/>
            <a:ext cx="4040501" cy="34978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1</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实验背景</a:t>
              </a:r>
            </a:p>
          </p:txBody>
        </p:sp>
        <p:sp>
          <p:nvSpPr>
            <p:cNvPr id="53" name="矩形 52"/>
            <p:cNvSpPr/>
            <p:nvPr/>
          </p:nvSpPr>
          <p:spPr>
            <a:xfrm>
              <a:off x="4608643" y="3264361"/>
              <a:ext cx="4371641"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rPr>
                <a:t>EXPERIMENT BACKGROUND</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45" name="文本框 44"/>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实验背景</a:t>
            </a:r>
          </a:p>
        </p:txBody>
      </p:sp>
      <p:sp>
        <p:nvSpPr>
          <p:cNvPr id="46" name="矩形 45"/>
          <p:cNvSpPr/>
          <p:nvPr/>
        </p:nvSpPr>
        <p:spPr>
          <a:xfrm>
            <a:off x="2450736" y="324999"/>
            <a:ext cx="3503964" cy="384717"/>
          </a:xfrm>
          <a:prstGeom prst="rect">
            <a:avLst/>
          </a:prstGeom>
        </p:spPr>
        <p:txBody>
          <a:bodyPr wrap="none" lIns="91436" tIns="45718" rIns="91436" bIns="45718">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EXPERIMENT BACKGROUND</a:t>
            </a:r>
          </a:p>
        </p:txBody>
      </p:sp>
      <p:grpSp>
        <p:nvGrpSpPr>
          <p:cNvPr id="43" name="组 42"/>
          <p:cNvGrpSpPr/>
          <p:nvPr/>
        </p:nvGrpSpPr>
        <p:grpSpPr>
          <a:xfrm>
            <a:off x="11454106" y="252857"/>
            <a:ext cx="737892"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4" name="灯片编号占位符 3"/>
          <p:cNvSpPr>
            <a:spLocks noGrp="1"/>
          </p:cNvSpPr>
          <p:nvPr>
            <p:ph type="sldNum" sz="quarter" idx="12"/>
          </p:nvPr>
        </p:nvSpPr>
        <p:spPr/>
        <p:txBody>
          <a:bodyPr/>
          <a:lstStyle/>
          <a:p>
            <a:fld id="{888F8D02-9041-4C59-BC62-13DE0E5C6713}" type="slidenum">
              <a:rPr lang="zh-CN" altLang="en-US" sz="1400" b="1" smtClean="0"/>
              <a:t>4</a:t>
            </a:fld>
            <a:endParaRPr lang="zh-CN" altLang="en-US" b="1" dirty="0"/>
          </a:p>
        </p:txBody>
      </p:sp>
      <p:sp>
        <p:nvSpPr>
          <p:cNvPr id="12" name="AutoShape 2" descr="https://timgsa.baidu.com/timg?image&amp;quality=80&amp;size=b9999_10000&amp;sec=1555591435233&amp;di=3b938dc0d6caaa0601a59eed1669c242&amp;imgtype=0&amp;src=http%3A%2F%2Fimg009.hc360.cn%2Fm2%2FM04%2F6A%2FD9%2FwKhQcVQ_0A2EM2O0AAAAAJE9nEE324.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36"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3630" y="1939007"/>
            <a:ext cx="1945028" cy="2435946"/>
          </a:xfrm>
          <a:prstGeom prst="rect">
            <a:avLst/>
          </a:prstGeom>
        </p:spPr>
      </p:pic>
      <p:sp>
        <p:nvSpPr>
          <p:cNvPr id="40" name="矩形 39"/>
          <p:cNvSpPr/>
          <p:nvPr/>
        </p:nvSpPr>
        <p:spPr>
          <a:xfrm>
            <a:off x="3785727" y="4880862"/>
            <a:ext cx="1765420" cy="769441"/>
          </a:xfrm>
          <a:prstGeom prst="rect">
            <a:avLst/>
          </a:prstGeom>
        </p:spPr>
        <p:txBody>
          <a:bodyPr wrap="none">
            <a:spAutoFit/>
          </a:bodyPr>
          <a:lstStyle/>
          <a:p>
            <a:pPr algn="ctr"/>
            <a:r>
              <a:rPr lang="en-US" altLang="zh-CN" sz="2200" dirty="0">
                <a:latin typeface="Arial" panose="020B0604020202020204" pitchFamily="34" charset="0"/>
                <a:cs typeface="Arial" panose="020B0604020202020204" pitchFamily="34" charset="0"/>
              </a:rPr>
              <a:t>W. Thomson</a:t>
            </a:r>
          </a:p>
          <a:p>
            <a:pPr algn="ctr"/>
            <a:r>
              <a:rPr lang="en-US" altLang="zh-CN" sz="2200" dirty="0">
                <a:latin typeface="Arial" panose="020B0604020202020204" pitchFamily="34" charset="0"/>
                <a:cs typeface="Arial" panose="020B0604020202020204" pitchFamily="34" charset="0"/>
              </a:rPr>
              <a:t>1824-1907</a:t>
            </a:r>
          </a:p>
        </p:txBody>
      </p:sp>
      <p:sp>
        <p:nvSpPr>
          <p:cNvPr id="42" name="矩形 41"/>
          <p:cNvSpPr/>
          <p:nvPr/>
        </p:nvSpPr>
        <p:spPr>
          <a:xfrm>
            <a:off x="4046703" y="4366298"/>
            <a:ext cx="1261884" cy="523220"/>
          </a:xfrm>
          <a:prstGeom prst="rect">
            <a:avLst/>
          </a:prstGeom>
        </p:spPr>
        <p:txBody>
          <a:bodyPr wrap="none">
            <a:spAutoFit/>
          </a:bodyPr>
          <a:lstStyle/>
          <a:p>
            <a:r>
              <a:rPr lang="zh-CN" altLang="en-US" sz="2800" dirty="0">
                <a:latin typeface="楷体" panose="02010609060101010101" pitchFamily="49" charset="-122"/>
                <a:ea typeface="楷体" panose="02010609060101010101" pitchFamily="49" charset="-122"/>
                <a:cs typeface="Times New Roman" panose="02020603050405020304" pitchFamily="18" charset="0"/>
              </a:rPr>
              <a:t>开尔文</a:t>
            </a:r>
          </a:p>
        </p:txBody>
      </p:sp>
      <p:sp>
        <p:nvSpPr>
          <p:cNvPr id="47" name="文本框 46"/>
          <p:cNvSpPr txBox="1"/>
          <p:nvPr/>
        </p:nvSpPr>
        <p:spPr>
          <a:xfrm>
            <a:off x="6419489" y="1939290"/>
            <a:ext cx="5034617" cy="3713517"/>
          </a:xfrm>
          <a:prstGeom prst="rect">
            <a:avLst/>
          </a:prstGeom>
          <a:noFill/>
        </p:spPr>
        <p:txBody>
          <a:bodyPr wrap="square" rtlCol="0">
            <a:spAutoFit/>
          </a:bodyPr>
          <a:lstStyle/>
          <a:p>
            <a:pPr indent="457200" fontAlgn="auto">
              <a:lnSpc>
                <a:spcPct val="150000"/>
              </a:lnSpc>
            </a:pPr>
            <a:r>
              <a:rPr lang="zh-CN" altLang="en-US" sz="2000" dirty="0">
                <a:latin typeface="楷体" panose="02010609060101010101" pitchFamily="49" charset="-122"/>
                <a:ea typeface="楷体" panose="02010609060101010101" pitchFamily="49" charset="-122"/>
              </a:rPr>
              <a:t>1862年英国的W.汤姆孙在研究利用单臂电桥测量小电阻遇到困难时，发现引起测量产生较大误差的原因是引线电阻和连接点处的接触电阻。这些电阻值可能远大于被测电阻值。因此,他提出了新的桥路，想办法消除或减小接线电阻和接触电阻对测量结果的影响，被称为汤姆孙电桥。后因他晋封为开尔文勋爵，故又称开尔文电桥。</a:t>
            </a:r>
          </a:p>
        </p:txBody>
      </p:sp>
      <p:pic>
        <p:nvPicPr>
          <p:cNvPr id="24" name="Picture 2" descr="Wheatstone Charles drawing 1868.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3729" y="1935424"/>
            <a:ext cx="2201398" cy="2432544"/>
          </a:xfrm>
          <a:prstGeom prst="rect">
            <a:avLst/>
          </a:prstGeom>
          <a:noFill/>
          <a:extLst>
            <a:ext uri="{909E8E84-426E-40DD-AFC4-6F175D3DCCD1}">
              <a14:hiddenFill xmlns:a14="http://schemas.microsoft.com/office/drawing/2010/main">
                <a:solidFill>
                  <a:srgbClr val="FFFFFF"/>
                </a:solidFill>
              </a14:hiddenFill>
            </a:ext>
          </a:extLst>
        </p:spPr>
      </p:pic>
      <p:sp>
        <p:nvSpPr>
          <p:cNvPr id="25" name="矩形 24"/>
          <p:cNvSpPr/>
          <p:nvPr/>
        </p:nvSpPr>
        <p:spPr>
          <a:xfrm>
            <a:off x="1028345" y="4873877"/>
            <a:ext cx="2052165" cy="769441"/>
          </a:xfrm>
          <a:prstGeom prst="rect">
            <a:avLst/>
          </a:prstGeom>
        </p:spPr>
        <p:txBody>
          <a:bodyPr wrap="none">
            <a:spAutoFit/>
          </a:bodyPr>
          <a:lstStyle/>
          <a:p>
            <a:pPr algn="ctr"/>
            <a:r>
              <a:rPr lang="en-US" altLang="zh-CN" sz="2200" dirty="0">
                <a:latin typeface="Arial" panose="020B0604020202020204" pitchFamily="34" charset="0"/>
                <a:cs typeface="Arial" panose="020B0604020202020204" pitchFamily="34" charset="0"/>
              </a:rPr>
              <a:t>C. Wheatstone</a:t>
            </a:r>
          </a:p>
          <a:p>
            <a:pPr algn="ctr"/>
            <a:r>
              <a:rPr lang="en-US" altLang="zh-CN" sz="2200" dirty="0">
                <a:latin typeface="Arial" panose="020B0604020202020204" pitchFamily="34" charset="0"/>
                <a:cs typeface="Arial" panose="020B0604020202020204" pitchFamily="34" charset="0"/>
              </a:rPr>
              <a:t>1802-1875</a:t>
            </a:r>
          </a:p>
        </p:txBody>
      </p:sp>
      <p:sp>
        <p:nvSpPr>
          <p:cNvPr id="26" name="矩形 25"/>
          <p:cNvSpPr/>
          <p:nvPr/>
        </p:nvSpPr>
        <p:spPr>
          <a:xfrm>
            <a:off x="1432693" y="4359313"/>
            <a:ext cx="1261884" cy="523220"/>
          </a:xfrm>
          <a:prstGeom prst="rect">
            <a:avLst/>
          </a:prstGeom>
        </p:spPr>
        <p:txBody>
          <a:bodyPr wrap="none">
            <a:spAutoFit/>
          </a:bodyPr>
          <a:lstStyle/>
          <a:p>
            <a:r>
              <a:rPr lang="zh-CN" altLang="en-US" sz="2800" dirty="0">
                <a:latin typeface="楷体" panose="02010609060101010101" pitchFamily="49" charset="-122"/>
                <a:ea typeface="楷体" panose="02010609060101010101" pitchFamily="49" charset="-122"/>
                <a:cs typeface="Times New Roman" panose="02020603050405020304" pitchFamily="18" charset="0"/>
              </a:rPr>
              <a:t>惠斯登</a:t>
            </a:r>
          </a:p>
        </p:txBody>
      </p:sp>
    </p:spTree>
    <p:extLst>
      <p:ext uri="{BB962C8B-B14F-4D97-AF65-F5344CB8AC3E}">
        <p14:creationId xmlns:p14="http://schemas.microsoft.com/office/powerpoint/2010/main" val="3142493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45" name="文本框 44"/>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实验背景</a:t>
            </a:r>
          </a:p>
        </p:txBody>
      </p:sp>
      <p:sp>
        <p:nvSpPr>
          <p:cNvPr id="46" name="矩形 45"/>
          <p:cNvSpPr/>
          <p:nvPr/>
        </p:nvSpPr>
        <p:spPr>
          <a:xfrm>
            <a:off x="2450736" y="324999"/>
            <a:ext cx="3503964" cy="384717"/>
          </a:xfrm>
          <a:prstGeom prst="rect">
            <a:avLst/>
          </a:prstGeom>
        </p:spPr>
        <p:txBody>
          <a:bodyPr wrap="none" lIns="91436" tIns="45718" rIns="91436" bIns="45718">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EXPERIMENT BACKGROUND</a:t>
            </a:r>
          </a:p>
        </p:txBody>
      </p:sp>
      <p:grpSp>
        <p:nvGrpSpPr>
          <p:cNvPr id="43" name="组 42"/>
          <p:cNvGrpSpPr/>
          <p:nvPr/>
        </p:nvGrpSpPr>
        <p:grpSpPr>
          <a:xfrm>
            <a:off x="11454106" y="252857"/>
            <a:ext cx="737892"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0" name="灯片编号占位符 3"/>
          <p:cNvSpPr>
            <a:spLocks noGrp="1"/>
          </p:cNvSpPr>
          <p:nvPr>
            <p:ph type="sldNum" sz="quarter" idx="12"/>
          </p:nvPr>
        </p:nvSpPr>
        <p:spPr>
          <a:xfrm>
            <a:off x="8610600" y="6356352"/>
            <a:ext cx="2743200" cy="365125"/>
          </a:xfrm>
        </p:spPr>
        <p:txBody>
          <a:bodyPr/>
          <a:lstStyle/>
          <a:p>
            <a:fld id="{888F8D02-9041-4C59-BC62-13DE0E5C6713}" type="slidenum">
              <a:rPr lang="zh-CN" altLang="en-US" sz="1400" b="1" smtClean="0"/>
              <a:t>5</a:t>
            </a:fld>
            <a:endParaRPr lang="zh-CN" altLang="en-US" b="1" dirty="0"/>
          </a:p>
        </p:txBody>
      </p:sp>
      <p:cxnSp>
        <p:nvCxnSpPr>
          <p:cNvPr id="69" name="直接箭头连接符 68"/>
          <p:cNvCxnSpPr/>
          <p:nvPr/>
        </p:nvCxnSpPr>
        <p:spPr>
          <a:xfrm>
            <a:off x="484860" y="2456323"/>
            <a:ext cx="11080745" cy="0"/>
          </a:xfrm>
          <a:prstGeom prst="straightConnector1">
            <a:avLst/>
          </a:prstGeom>
          <a:ln w="76200">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2" name="文本框 1"/>
          <p:cNvSpPr txBox="1"/>
          <p:nvPr/>
        </p:nvSpPr>
        <p:spPr>
          <a:xfrm>
            <a:off x="11628702" y="2102380"/>
            <a:ext cx="327334" cy="707886"/>
          </a:xfrm>
          <a:prstGeom prst="rect">
            <a:avLst/>
          </a:prstGeom>
          <a:noFill/>
        </p:spPr>
        <p:txBody>
          <a:bodyPr wrap="none" rtlCol="0">
            <a:spAutoFit/>
          </a:bodyPr>
          <a:lstStyle/>
          <a:p>
            <a:r>
              <a:rPr lang="en-US" altLang="zh-CN" sz="4000" b="1" i="1" dirty="0">
                <a:latin typeface="Times New Roman" panose="02020603050405020304" pitchFamily="18" charset="0"/>
                <a:cs typeface="Times New Roman" panose="02020603050405020304" pitchFamily="18" charset="0"/>
              </a:rPr>
              <a:t>t</a:t>
            </a:r>
            <a:endParaRPr lang="zh-CN" altLang="en-US" sz="2000" b="1" i="1" dirty="0">
              <a:latin typeface="Times New Roman" panose="02020603050405020304" pitchFamily="18" charset="0"/>
              <a:cs typeface="Times New Roman" panose="02020603050405020304" pitchFamily="18" charset="0"/>
            </a:endParaRPr>
          </a:p>
        </p:txBody>
      </p:sp>
      <p:sp>
        <p:nvSpPr>
          <p:cNvPr id="26" name="矩形 25"/>
          <p:cNvSpPr/>
          <p:nvPr/>
        </p:nvSpPr>
        <p:spPr>
          <a:xfrm>
            <a:off x="962592" y="5574385"/>
            <a:ext cx="3037616" cy="461665"/>
          </a:xfrm>
          <a:prstGeom prst="rect">
            <a:avLst/>
          </a:prstGeom>
        </p:spPr>
        <p:txBody>
          <a:bodyPr wrap="square">
            <a:spAutoFit/>
          </a:bodyPr>
          <a:lstStyle/>
          <a:p>
            <a:pPr algn="ctr"/>
            <a:r>
              <a:rPr lang="en-US" altLang="zh-CN" sz="2400" dirty="0">
                <a:latin typeface="宋体" panose="02010600030101010101" pitchFamily="2" charset="-122"/>
                <a:ea typeface="宋体" panose="02010600030101010101" pitchFamily="2" charset="-122"/>
                <a:cs typeface="Times New Roman" panose="02020603050405020304" pitchFamily="18" charset="0"/>
              </a:rPr>
              <a:t>… …</a:t>
            </a:r>
            <a:endParaRPr lang="zh-CN" altLang="en-US" sz="2400" dirty="0">
              <a:latin typeface="宋体" panose="02010600030101010101" pitchFamily="2" charset="-122"/>
              <a:ea typeface="宋体" panose="02010600030101010101" pitchFamily="2" charset="-122"/>
              <a:cs typeface="Times New Roman" panose="02020603050405020304" pitchFamily="18" charset="0"/>
            </a:endParaRPr>
          </a:p>
        </p:txBody>
      </p:sp>
      <p:grpSp>
        <p:nvGrpSpPr>
          <p:cNvPr id="7" name="组合 6"/>
          <p:cNvGrpSpPr/>
          <p:nvPr/>
        </p:nvGrpSpPr>
        <p:grpSpPr>
          <a:xfrm>
            <a:off x="800100" y="2492350"/>
            <a:ext cx="3641270" cy="1544871"/>
            <a:chOff x="800100" y="2492350"/>
            <a:chExt cx="3641270" cy="1544871"/>
          </a:xfrm>
        </p:grpSpPr>
        <p:sp>
          <p:nvSpPr>
            <p:cNvPr id="5" name="矩形 4"/>
            <p:cNvSpPr/>
            <p:nvPr/>
          </p:nvSpPr>
          <p:spPr>
            <a:xfrm>
              <a:off x="1264919" y="2492350"/>
              <a:ext cx="3176451" cy="355600"/>
            </a:xfrm>
            <a:prstGeom prst="rect">
              <a:avLst/>
            </a:prstGeom>
            <a:gradFill flip="none" rotWithShape="1">
              <a:gsLst>
                <a:gs pos="83700">
                  <a:srgbClr val="E9E9E9"/>
                </a:gs>
                <a:gs pos="50000">
                  <a:srgbClr val="BABABA"/>
                </a:gs>
                <a:gs pos="0">
                  <a:schemeClr val="tx1">
                    <a:lumMod val="85000"/>
                    <a:lumOff val="15000"/>
                  </a:schemeClr>
                </a:gs>
                <a:gs pos="100000">
                  <a:schemeClr val="bg1">
                    <a:alpha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800100" y="3575556"/>
              <a:ext cx="1549400" cy="461665"/>
            </a:xfrm>
            <a:prstGeom prst="rect">
              <a:avLst/>
            </a:prstGeom>
          </p:spPr>
          <p:txBody>
            <a:bodyPr wrap="square">
              <a:spAutoFit/>
            </a:bodyPr>
            <a:lstStyle/>
            <a:p>
              <a:pPr algn="ctr"/>
              <a:r>
                <a:rPr lang="zh-CN" altLang="en-US" sz="2400" dirty="0">
                  <a:latin typeface="楷体" panose="02010609060101010101" pitchFamily="49" charset="-122"/>
                  <a:ea typeface="楷体" panose="02010609060101010101" pitchFamily="49" charset="-122"/>
                  <a:cs typeface="Times New Roman" panose="02020603050405020304" pitchFamily="18" charset="0"/>
                </a:rPr>
                <a:t>电线电报</a:t>
              </a:r>
            </a:p>
          </p:txBody>
        </p:sp>
        <p:grpSp>
          <p:nvGrpSpPr>
            <p:cNvPr id="11" name="组合 10"/>
            <p:cNvGrpSpPr/>
            <p:nvPr/>
          </p:nvGrpSpPr>
          <p:grpSpPr>
            <a:xfrm>
              <a:off x="1264920" y="2847950"/>
              <a:ext cx="3176450" cy="976063"/>
              <a:chOff x="1264920" y="2847950"/>
              <a:chExt cx="3176450" cy="976063"/>
            </a:xfrm>
          </p:grpSpPr>
          <p:cxnSp>
            <p:nvCxnSpPr>
              <p:cNvPr id="29" name="直接连接符 28"/>
              <p:cNvCxnSpPr/>
              <p:nvPr/>
            </p:nvCxnSpPr>
            <p:spPr>
              <a:xfrm flipH="1">
                <a:off x="1264920" y="2852436"/>
                <a:ext cx="31764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2277836" y="3824013"/>
                <a:ext cx="21635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441370" y="2847950"/>
                <a:ext cx="0" cy="976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4" name="组合 13"/>
          <p:cNvGrpSpPr/>
          <p:nvPr/>
        </p:nvGrpSpPr>
        <p:grpSpPr>
          <a:xfrm>
            <a:off x="3864033" y="2045501"/>
            <a:ext cx="1989371" cy="1284506"/>
            <a:chOff x="3864033" y="2045501"/>
            <a:chExt cx="1989371" cy="1284506"/>
          </a:xfrm>
        </p:grpSpPr>
        <p:cxnSp>
          <p:nvCxnSpPr>
            <p:cNvPr id="37" name="直接连接符 36"/>
            <p:cNvCxnSpPr/>
            <p:nvPr/>
          </p:nvCxnSpPr>
          <p:spPr>
            <a:xfrm>
              <a:off x="4200148" y="2456323"/>
              <a:ext cx="2570" cy="5484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4703031" y="2868342"/>
              <a:ext cx="1150373" cy="461665"/>
            </a:xfrm>
            <a:prstGeom prst="rect">
              <a:avLst/>
            </a:prstGeom>
          </p:spPr>
          <p:txBody>
            <a:bodyPr wrap="square">
              <a:spAutoFit/>
            </a:bodyPr>
            <a:lstStyle/>
            <a:p>
              <a:pPr algn="ctr"/>
              <a:r>
                <a:rPr lang="zh-CN" altLang="en-US" sz="2400" dirty="0">
                  <a:latin typeface="楷体" panose="02010609060101010101" pitchFamily="49" charset="-122"/>
                  <a:ea typeface="楷体" panose="02010609060101010101" pitchFamily="49" charset="-122"/>
                  <a:cs typeface="Times New Roman" panose="02020603050405020304" pitchFamily="18" charset="0"/>
                </a:rPr>
                <a:t>放大器</a:t>
              </a:r>
            </a:p>
          </p:txBody>
        </p:sp>
        <p:cxnSp>
          <p:nvCxnSpPr>
            <p:cNvPr id="40" name="直接连接符 39"/>
            <p:cNvCxnSpPr/>
            <p:nvPr/>
          </p:nvCxnSpPr>
          <p:spPr>
            <a:xfrm flipH="1">
              <a:off x="4200148" y="3004775"/>
              <a:ext cx="505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864033" y="2045501"/>
              <a:ext cx="697627" cy="400110"/>
            </a:xfrm>
            <a:prstGeom prst="rect">
              <a:avLst/>
            </a:prstGeom>
          </p:spPr>
          <p:txBody>
            <a:bodyPr wrap="none">
              <a:spAutoFit/>
            </a:bodyPr>
            <a:lstStyle/>
            <a:p>
              <a:r>
                <a:rPr lang="en-US" altLang="zh-CN" sz="2000" b="1" dirty="0">
                  <a:latin typeface="宋体" panose="02010600030101010101" pitchFamily="2" charset="-122"/>
                  <a:ea typeface="宋体" panose="02010600030101010101" pitchFamily="2" charset="-122"/>
                  <a:cs typeface="Times New Roman" panose="02020603050405020304" pitchFamily="18" charset="0"/>
                </a:rPr>
                <a:t>1912</a:t>
              </a:r>
              <a:endParaRPr lang="zh-CN" altLang="en-US" sz="2000" b="1" dirty="0"/>
            </a:p>
          </p:txBody>
        </p:sp>
      </p:grpSp>
      <p:grpSp>
        <p:nvGrpSpPr>
          <p:cNvPr id="6" name="组合 5"/>
          <p:cNvGrpSpPr/>
          <p:nvPr/>
        </p:nvGrpSpPr>
        <p:grpSpPr>
          <a:xfrm>
            <a:off x="431370" y="2045501"/>
            <a:ext cx="3618116" cy="1514842"/>
            <a:chOff x="431370" y="2045501"/>
            <a:chExt cx="3618116" cy="1514842"/>
          </a:xfrm>
        </p:grpSpPr>
        <p:grpSp>
          <p:nvGrpSpPr>
            <p:cNvPr id="3" name="组合 2"/>
            <p:cNvGrpSpPr/>
            <p:nvPr/>
          </p:nvGrpSpPr>
          <p:grpSpPr>
            <a:xfrm>
              <a:off x="431370" y="2456323"/>
              <a:ext cx="3618116" cy="1104020"/>
              <a:chOff x="431370" y="2456323"/>
              <a:chExt cx="3618116" cy="1104020"/>
            </a:xfrm>
          </p:grpSpPr>
          <p:sp>
            <p:nvSpPr>
              <p:cNvPr id="70" name="矩形 69"/>
              <p:cNvSpPr/>
              <p:nvPr/>
            </p:nvSpPr>
            <p:spPr>
              <a:xfrm>
                <a:off x="431370" y="3098678"/>
                <a:ext cx="3618116" cy="461665"/>
              </a:xfrm>
              <a:prstGeom prst="rect">
                <a:avLst/>
              </a:prstGeom>
            </p:spPr>
            <p:txBody>
              <a:bodyPr wrap="square">
                <a:spAutoFit/>
              </a:bodyPr>
              <a:lstStyle/>
              <a:p>
                <a:pPr algn="ctr"/>
                <a:r>
                  <a:rPr lang="zh-CN" altLang="en-US" sz="2400" dirty="0">
                    <a:latin typeface="楷体" panose="02010609060101010101" pitchFamily="49" charset="-122"/>
                    <a:ea typeface="楷体" panose="02010609060101010101" pitchFamily="49" charset="-122"/>
                    <a:cs typeface="Times New Roman" panose="02020603050405020304" pitchFamily="18" charset="0"/>
                  </a:rPr>
                  <a:t>惠斯登电桥：</a:t>
                </a:r>
                <a:r>
                  <a:rPr lang="en-US" altLang="zh-CN" sz="2400" dirty="0">
                    <a:latin typeface="楷体" panose="02010609060101010101" pitchFamily="49" charset="-122"/>
                    <a:ea typeface="楷体" panose="02010609060101010101" pitchFamily="49" charset="-122"/>
                    <a:cs typeface="Times New Roman" panose="02020603050405020304" pitchFamily="18" charset="0"/>
                  </a:rPr>
                  <a:t>140</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微欧</a:t>
                </a:r>
              </a:p>
            </p:txBody>
          </p:sp>
          <p:cxnSp>
            <p:nvCxnSpPr>
              <p:cNvPr id="4" name="直接连接符 3"/>
              <p:cNvCxnSpPr/>
              <p:nvPr/>
            </p:nvCxnSpPr>
            <p:spPr>
              <a:xfrm>
                <a:off x="1371600" y="2456323"/>
                <a:ext cx="0" cy="6278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7" name="矩形 46"/>
            <p:cNvSpPr/>
            <p:nvPr/>
          </p:nvSpPr>
          <p:spPr>
            <a:xfrm>
              <a:off x="1010334" y="2045501"/>
              <a:ext cx="697627" cy="400110"/>
            </a:xfrm>
            <a:prstGeom prst="rect">
              <a:avLst/>
            </a:prstGeom>
          </p:spPr>
          <p:txBody>
            <a:bodyPr wrap="none">
              <a:spAutoFit/>
            </a:bodyPr>
            <a:lstStyle/>
            <a:p>
              <a:r>
                <a:rPr lang="en-US" altLang="zh-CN" sz="2000" b="1" dirty="0">
                  <a:latin typeface="宋体" panose="02010600030101010101" pitchFamily="2" charset="-122"/>
                  <a:ea typeface="宋体" panose="02010600030101010101" pitchFamily="2" charset="-122"/>
                  <a:cs typeface="Times New Roman" panose="02020603050405020304" pitchFamily="18" charset="0"/>
                </a:rPr>
                <a:t>1843</a:t>
              </a:r>
              <a:endParaRPr lang="zh-CN" altLang="en-US" sz="2000" b="1" dirty="0"/>
            </a:p>
          </p:txBody>
        </p:sp>
      </p:grpSp>
      <p:grpSp>
        <p:nvGrpSpPr>
          <p:cNvPr id="9" name="组合 8"/>
          <p:cNvGrpSpPr/>
          <p:nvPr/>
        </p:nvGrpSpPr>
        <p:grpSpPr>
          <a:xfrm>
            <a:off x="647718" y="2045501"/>
            <a:ext cx="3448262" cy="2518504"/>
            <a:chOff x="647718" y="2045501"/>
            <a:chExt cx="3448262" cy="2518504"/>
          </a:xfrm>
        </p:grpSpPr>
        <p:sp>
          <p:nvSpPr>
            <p:cNvPr id="64" name="矩形 63"/>
            <p:cNvSpPr/>
            <p:nvPr/>
          </p:nvSpPr>
          <p:spPr>
            <a:xfrm>
              <a:off x="1809669" y="2045501"/>
              <a:ext cx="697627" cy="400110"/>
            </a:xfrm>
            <a:prstGeom prst="rect">
              <a:avLst/>
            </a:prstGeom>
          </p:spPr>
          <p:txBody>
            <a:bodyPr wrap="none">
              <a:spAutoFit/>
            </a:bodyPr>
            <a:lstStyle/>
            <a:p>
              <a:r>
                <a:rPr lang="en-US" altLang="zh-CN" sz="2000" b="1" dirty="0">
                  <a:latin typeface="宋体" panose="02010600030101010101" pitchFamily="2" charset="-122"/>
                  <a:ea typeface="宋体" panose="02010600030101010101" pitchFamily="2" charset="-122"/>
                  <a:cs typeface="Times New Roman" panose="02020603050405020304" pitchFamily="18" charset="0"/>
                </a:rPr>
                <a:t>1865</a:t>
              </a:r>
              <a:endParaRPr lang="zh-CN" altLang="en-US" sz="2000" b="1" dirty="0"/>
            </a:p>
          </p:txBody>
        </p:sp>
        <p:grpSp>
          <p:nvGrpSpPr>
            <p:cNvPr id="8" name="组合 7"/>
            <p:cNvGrpSpPr/>
            <p:nvPr/>
          </p:nvGrpSpPr>
          <p:grpSpPr>
            <a:xfrm>
              <a:off x="647718" y="2492350"/>
              <a:ext cx="3448262" cy="2071655"/>
              <a:chOff x="647718" y="2492350"/>
              <a:chExt cx="3448262" cy="2071655"/>
            </a:xfrm>
          </p:grpSpPr>
          <p:sp>
            <p:nvSpPr>
              <p:cNvPr id="75" name="矩形 74"/>
              <p:cNvSpPr/>
              <p:nvPr/>
            </p:nvSpPr>
            <p:spPr>
              <a:xfrm>
                <a:off x="647718" y="4040785"/>
                <a:ext cx="3352490" cy="523220"/>
              </a:xfrm>
              <a:prstGeom prst="rect">
                <a:avLst/>
              </a:prstGeom>
            </p:spPr>
            <p:txBody>
              <a:bodyPr wrap="square">
                <a:spAutoFit/>
              </a:bodyPr>
              <a:lstStyle/>
              <a:p>
                <a:pPr algn="ctr"/>
                <a:r>
                  <a:rPr lang="zh-CN" altLang="en-US" sz="28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开尔文电桥：</a:t>
                </a:r>
                <a:r>
                  <a:rPr lang="en-US" altLang="zh-CN" sz="28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1</a:t>
                </a:r>
                <a:r>
                  <a:rPr lang="zh-CN" altLang="en-US" sz="28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微欧</a:t>
                </a:r>
              </a:p>
            </p:txBody>
          </p:sp>
          <p:grpSp>
            <p:nvGrpSpPr>
              <p:cNvPr id="57" name="组合 56"/>
              <p:cNvGrpSpPr/>
              <p:nvPr/>
            </p:nvGrpSpPr>
            <p:grpSpPr>
              <a:xfrm>
                <a:off x="2057400" y="2969940"/>
                <a:ext cx="2038580" cy="1362947"/>
                <a:chOff x="512941" y="2461066"/>
                <a:chExt cx="2038580" cy="1362947"/>
              </a:xfrm>
            </p:grpSpPr>
            <p:cxnSp>
              <p:nvCxnSpPr>
                <p:cNvPr id="58" name="直接连接符 57"/>
                <p:cNvCxnSpPr/>
                <p:nvPr/>
              </p:nvCxnSpPr>
              <p:spPr>
                <a:xfrm flipH="1">
                  <a:off x="512941" y="2461066"/>
                  <a:ext cx="20385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2277836" y="3824013"/>
                  <a:ext cx="27368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2551521" y="2461066"/>
                  <a:ext cx="0" cy="13629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9" name="直接连接符 78"/>
              <p:cNvCxnSpPr/>
              <p:nvPr/>
            </p:nvCxnSpPr>
            <p:spPr>
              <a:xfrm>
                <a:off x="2057400" y="2492350"/>
                <a:ext cx="0" cy="477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 name="组合 9"/>
          <p:cNvGrpSpPr/>
          <p:nvPr/>
        </p:nvGrpSpPr>
        <p:grpSpPr>
          <a:xfrm>
            <a:off x="725666" y="2492350"/>
            <a:ext cx="3481815" cy="2562158"/>
            <a:chOff x="725666" y="2492350"/>
            <a:chExt cx="3481815" cy="2562158"/>
          </a:xfrm>
        </p:grpSpPr>
        <p:sp>
          <p:nvSpPr>
            <p:cNvPr id="76" name="矩形 75"/>
            <p:cNvSpPr/>
            <p:nvPr/>
          </p:nvSpPr>
          <p:spPr>
            <a:xfrm>
              <a:off x="725666" y="4592843"/>
              <a:ext cx="3037616" cy="461665"/>
            </a:xfrm>
            <a:prstGeom prst="rect">
              <a:avLst/>
            </a:prstGeom>
          </p:spPr>
          <p:txBody>
            <a:bodyPr wrap="square">
              <a:spAutoFit/>
            </a:bodyPr>
            <a:lstStyle/>
            <a:p>
              <a:pPr algn="ctr"/>
              <a:r>
                <a:rPr lang="zh-CN" altLang="en-US" sz="2400" dirty="0">
                  <a:latin typeface="楷体" panose="02010609060101010101" pitchFamily="49" charset="-122"/>
                  <a:ea typeface="楷体" panose="02010609060101010101" pitchFamily="49" charset="-122"/>
                  <a:cs typeface="Times New Roman" panose="02020603050405020304" pitchFamily="18" charset="0"/>
                </a:rPr>
                <a:t>麦克斯韦电桥</a:t>
              </a:r>
            </a:p>
          </p:txBody>
        </p:sp>
        <p:grpSp>
          <p:nvGrpSpPr>
            <p:cNvPr id="49" name="组合 48"/>
            <p:cNvGrpSpPr/>
            <p:nvPr/>
          </p:nvGrpSpPr>
          <p:grpSpPr>
            <a:xfrm>
              <a:off x="2168901" y="2492350"/>
              <a:ext cx="2038580" cy="2366872"/>
              <a:chOff x="2164138" y="2492350"/>
              <a:chExt cx="2038580" cy="2366872"/>
            </a:xfrm>
          </p:grpSpPr>
          <p:grpSp>
            <p:nvGrpSpPr>
              <p:cNvPr id="66" name="组合 65"/>
              <p:cNvGrpSpPr/>
              <p:nvPr/>
            </p:nvGrpSpPr>
            <p:grpSpPr>
              <a:xfrm>
                <a:off x="2164138" y="3084164"/>
                <a:ext cx="2038580" cy="1775058"/>
                <a:chOff x="1167591" y="2048955"/>
                <a:chExt cx="2038580" cy="1775058"/>
              </a:xfrm>
            </p:grpSpPr>
            <p:cxnSp>
              <p:nvCxnSpPr>
                <p:cNvPr id="67" name="直接连接符 66"/>
                <p:cNvCxnSpPr/>
                <p:nvPr/>
              </p:nvCxnSpPr>
              <p:spPr>
                <a:xfrm flipH="1">
                  <a:off x="1167591" y="2048955"/>
                  <a:ext cx="20385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2277837" y="3824013"/>
                  <a:ext cx="9257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3203601" y="2048955"/>
                  <a:ext cx="0" cy="177505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0" name="直接连接符 79"/>
              <p:cNvCxnSpPr/>
              <p:nvPr/>
            </p:nvCxnSpPr>
            <p:spPr>
              <a:xfrm>
                <a:off x="2167313" y="2492350"/>
                <a:ext cx="0" cy="5918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2" name="组合 11"/>
          <p:cNvGrpSpPr/>
          <p:nvPr/>
        </p:nvGrpSpPr>
        <p:grpSpPr>
          <a:xfrm>
            <a:off x="725666" y="2045501"/>
            <a:ext cx="3590373" cy="3489770"/>
            <a:chOff x="725666" y="2045501"/>
            <a:chExt cx="3590373" cy="3489770"/>
          </a:xfrm>
        </p:grpSpPr>
        <p:sp>
          <p:nvSpPr>
            <p:cNvPr id="77" name="矩形 76"/>
            <p:cNvSpPr/>
            <p:nvPr/>
          </p:nvSpPr>
          <p:spPr>
            <a:xfrm>
              <a:off x="725666" y="5073606"/>
              <a:ext cx="3037616" cy="461665"/>
            </a:xfrm>
            <a:prstGeom prst="rect">
              <a:avLst/>
            </a:prstGeom>
          </p:spPr>
          <p:txBody>
            <a:bodyPr wrap="square">
              <a:spAutoFit/>
            </a:bodyPr>
            <a:lstStyle/>
            <a:p>
              <a:pPr algn="ctr"/>
              <a:r>
                <a:rPr lang="zh-CN" altLang="en-US" sz="2400" dirty="0">
                  <a:latin typeface="楷体" panose="02010609060101010101" pitchFamily="49" charset="-122"/>
                  <a:ea typeface="楷体" panose="02010609060101010101" pitchFamily="49" charset="-122"/>
                  <a:cs typeface="Times New Roman" panose="02020603050405020304" pitchFamily="18" charset="0"/>
                </a:rPr>
                <a:t>维恩电桥</a:t>
              </a:r>
            </a:p>
          </p:txBody>
        </p:sp>
        <p:sp>
          <p:nvSpPr>
            <p:cNvPr id="81" name="矩形 80"/>
            <p:cNvSpPr/>
            <p:nvPr/>
          </p:nvSpPr>
          <p:spPr>
            <a:xfrm>
              <a:off x="3165081" y="2045501"/>
              <a:ext cx="697627" cy="400110"/>
            </a:xfrm>
            <a:prstGeom prst="rect">
              <a:avLst/>
            </a:prstGeom>
          </p:spPr>
          <p:txBody>
            <a:bodyPr wrap="none">
              <a:spAutoFit/>
            </a:bodyPr>
            <a:lstStyle/>
            <a:p>
              <a:r>
                <a:rPr lang="en-US" altLang="zh-CN" sz="2000" b="1" dirty="0">
                  <a:latin typeface="宋体" panose="02010600030101010101" pitchFamily="2" charset="-122"/>
                  <a:ea typeface="宋体" panose="02010600030101010101" pitchFamily="2" charset="-122"/>
                  <a:cs typeface="Times New Roman" panose="02020603050405020304" pitchFamily="18" charset="0"/>
                </a:rPr>
                <a:t>1891</a:t>
              </a:r>
              <a:endParaRPr lang="zh-CN" altLang="en-US" sz="2000" b="1" dirty="0"/>
            </a:p>
          </p:txBody>
        </p:sp>
        <p:grpSp>
          <p:nvGrpSpPr>
            <p:cNvPr id="82" name="组合 81"/>
            <p:cNvGrpSpPr/>
            <p:nvPr/>
          </p:nvGrpSpPr>
          <p:grpSpPr>
            <a:xfrm>
              <a:off x="2952751" y="2456323"/>
              <a:ext cx="1363288" cy="2875703"/>
              <a:chOff x="2839430" y="2345750"/>
              <a:chExt cx="1363288" cy="2875703"/>
            </a:xfrm>
          </p:grpSpPr>
          <p:grpSp>
            <p:nvGrpSpPr>
              <p:cNvPr id="83" name="组合 82"/>
              <p:cNvGrpSpPr/>
              <p:nvPr/>
            </p:nvGrpSpPr>
            <p:grpSpPr>
              <a:xfrm>
                <a:off x="2839430" y="3084164"/>
                <a:ext cx="1363288" cy="2137289"/>
                <a:chOff x="1842883" y="2048955"/>
                <a:chExt cx="1363288" cy="2137289"/>
              </a:xfrm>
            </p:grpSpPr>
            <p:cxnSp>
              <p:nvCxnSpPr>
                <p:cNvPr id="85" name="直接连接符 84"/>
                <p:cNvCxnSpPr/>
                <p:nvPr/>
              </p:nvCxnSpPr>
              <p:spPr>
                <a:xfrm flipH="1">
                  <a:off x="2403778" y="2048955"/>
                  <a:ext cx="80239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1842883" y="4186244"/>
                  <a:ext cx="136328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3203601" y="2048955"/>
                  <a:ext cx="0" cy="21372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4" name="直接连接符 83"/>
              <p:cNvCxnSpPr/>
              <p:nvPr/>
            </p:nvCxnSpPr>
            <p:spPr>
              <a:xfrm>
                <a:off x="3400325" y="2345750"/>
                <a:ext cx="0" cy="7384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graphicFrame>
            <p:nvGraphicFramePr>
              <p:cNvPr id="27" name="表格 26"/>
              <p:cNvGraphicFramePr>
                <a:graphicFrameLocks noGrp="1"/>
              </p:cNvGraphicFramePr>
              <p:nvPr/>
            </p:nvGraphicFramePr>
            <p:xfrm>
              <a:off x="4878896" y="4865826"/>
              <a:ext cx="6490144" cy="1058541"/>
            </p:xfrm>
            <a:graphic>
              <a:graphicData uri="http://schemas.openxmlformats.org/drawingml/2006/table">
                <a:tbl>
                  <a:tblPr firstRow="1" bandRow="1">
                    <a:tableStyleId>{F5AB1C69-6EDB-4FF4-983F-18BD219EF322}</a:tableStyleId>
                  </a:tblPr>
                  <a:tblGrid>
                    <a:gridCol w="3496573">
                      <a:extLst>
                        <a:ext uri="{9D8B030D-6E8A-4147-A177-3AD203B41FA5}">
                          <a16:colId xmlns:a16="http://schemas.microsoft.com/office/drawing/2014/main" val="20000"/>
                        </a:ext>
                      </a:extLst>
                    </a:gridCol>
                    <a:gridCol w="2993571">
                      <a:extLst>
                        <a:ext uri="{9D8B030D-6E8A-4147-A177-3AD203B41FA5}">
                          <a16:colId xmlns:a16="http://schemas.microsoft.com/office/drawing/2014/main" val="20001"/>
                        </a:ext>
                      </a:extLst>
                    </a:gridCol>
                  </a:tblGrid>
                  <a:tr h="352847">
                    <a:tc>
                      <a:txBody>
                        <a:bodyPr/>
                        <a:lstStyle/>
                        <a:p>
                          <a:pPr algn="ct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1E-4 – 99.99999E6 </a:t>
                          </a:r>
                          <a14:m>
                            <m:oMath xmlns:m="http://schemas.openxmlformats.org/officeDocument/2006/math">
                              <m:r>
                                <a:rPr lang="zh-CN" altLang="en-US" sz="1600" b="1" kern="1200" smtClean="0">
                                  <a:solidFill>
                                    <a:schemeClr val="tx1"/>
                                  </a:solidFill>
                                  <a:latin typeface="Cambria Math" panose="02040503050406030204" pitchFamily="18" charset="0"/>
                                  <a:ea typeface="+mn-ea"/>
                                  <a:cs typeface="+mn-cs"/>
                                </a:rPr>
                                <m:t>𝛀</m:t>
                              </m:r>
                            </m:oMath>
                          </a14:m>
                          <a:endParaRPr lang="zh-CN" altLang="en-US" sz="1600" b="1"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1.00000E-18 – 999.9999E18 </a:t>
                          </a:r>
                          <a14:m>
                            <m:oMath xmlns:m="http://schemas.openxmlformats.org/officeDocument/2006/math">
                              <m:r>
                                <a:rPr lang="zh-CN" altLang="en-US" sz="1600" b="1" kern="1200" smtClean="0">
                                  <a:solidFill>
                                    <a:schemeClr val="tx1"/>
                                  </a:solidFill>
                                  <a:latin typeface="Cambria Math" panose="02040503050406030204" pitchFamily="18" charset="0"/>
                                  <a:ea typeface="+mn-ea"/>
                                  <a:cs typeface="+mn-cs"/>
                                </a:rPr>
                                <m:t>𝛀</m:t>
                              </m:r>
                            </m:oMath>
                          </a14:m>
                          <a:endParaRPr lang="zh-CN" altLang="en-US" sz="1600" b="1"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0"/>
                      </a:ext>
                    </a:extLst>
                  </a:tr>
                  <a:tr h="352847">
                    <a:tc>
                      <a:txBody>
                        <a:bodyPr/>
                        <a:lstStyle/>
                        <a:p>
                          <a:pPr algn="ct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1E-17</a:t>
                          </a:r>
                          <a:r>
                            <a:rPr lang="en-US" altLang="zh-CN" sz="1600" b="1" kern="1200" baseline="0" dirty="0">
                              <a:solidFill>
                                <a:schemeClr val="tx1"/>
                              </a:solidFill>
                              <a:latin typeface="Times New Roman" panose="02020603050405020304" pitchFamily="18" charset="0"/>
                              <a:ea typeface="+mn-ea"/>
                              <a:cs typeface="Times New Roman" panose="02020603050405020304" pitchFamily="18" charset="0"/>
                            </a:rPr>
                            <a:t> – 9.999999 F</a:t>
                          </a:r>
                          <a:endParaRPr lang="zh-CN" altLang="en-US" sz="1600" b="1"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1.00000E-18 – 999.9999E18 F</a:t>
                          </a:r>
                          <a:endParaRPr lang="zh-CN" altLang="en-US" sz="1600" b="1"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52847">
                    <a:tc>
                      <a:txBody>
                        <a:bodyPr/>
                        <a:lstStyle/>
                        <a:p>
                          <a:pPr algn="ct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1E-12</a:t>
                          </a:r>
                          <a:r>
                            <a:rPr lang="en-US" altLang="zh-CN" sz="1600" b="1" kern="1200" baseline="0" dirty="0">
                              <a:solidFill>
                                <a:schemeClr val="tx1"/>
                              </a:solidFill>
                              <a:latin typeface="Times New Roman" panose="02020603050405020304" pitchFamily="18" charset="0"/>
                              <a:ea typeface="+mn-ea"/>
                              <a:cs typeface="Times New Roman" panose="02020603050405020304" pitchFamily="18" charset="0"/>
                            </a:rPr>
                            <a:t> – 99.99999 H</a:t>
                          </a:r>
                          <a:endParaRPr lang="zh-CN" altLang="en-US" sz="1600" b="1"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1.00000E-18 – 999.9999E18 H</a:t>
                          </a:r>
                        </a:p>
                      </a:txBody>
                      <a:tcPr/>
                    </a:tc>
                    <a:extLst>
                      <a:ext uri="{0D108BD9-81ED-4DB2-BD59-A6C34878D82A}">
                        <a16:rowId xmlns:a16="http://schemas.microsoft.com/office/drawing/2014/main" val="10002"/>
                      </a:ext>
                    </a:extLst>
                  </a:tr>
                </a:tbl>
              </a:graphicData>
            </a:graphic>
          </p:graphicFrame>
        </mc:Choice>
        <mc:Fallback xmlns="">
          <p:graphicFrame>
            <p:nvGraphicFramePr>
              <p:cNvPr id="27" name="表格 26"/>
              <p:cNvGraphicFramePr>
                <a:graphicFrameLocks noGrp="1"/>
              </p:cNvGraphicFramePr>
              <p:nvPr/>
            </p:nvGraphicFramePr>
            <p:xfrm>
              <a:off x="4878896" y="4865826"/>
              <a:ext cx="6490144" cy="1058541"/>
            </p:xfrm>
            <a:graphic>
              <a:graphicData uri="http://schemas.openxmlformats.org/drawingml/2006/table">
                <a:tbl>
                  <a:tblPr firstRow="1" bandRow="1">
                    <a:tableStyleId>{F5AB1C69-6EDB-4FF4-983F-18BD219EF322}</a:tableStyleId>
                  </a:tblPr>
                  <a:tblGrid>
                    <a:gridCol w="3496573"/>
                    <a:gridCol w="2993571"/>
                  </a:tblGrid>
                  <a:tr h="353060">
                    <a:tc>
                      <a:txBody>
                        <a:bodyPr/>
                        <a:lstStyle/>
                        <a:p>
                          <a:endParaRPr lang="zh-CN"/>
                        </a:p>
                      </a:txBody>
                      <a:tcPr>
                        <a:blipFill>
                          <a:blip r:embed="rId3"/>
                        </a:blipFill>
                      </a:tcPr>
                    </a:tc>
                    <a:tc>
                      <a:txBody>
                        <a:bodyPr/>
                        <a:lstStyle/>
                        <a:p>
                          <a:endParaRPr lang="zh-CN"/>
                        </a:p>
                      </a:txBody>
                      <a:tcPr>
                        <a:blipFill>
                          <a:blip r:embed="rId3"/>
                        </a:blipFill>
                      </a:tcPr>
                    </a:tc>
                  </a:tr>
                  <a:tr h="352847">
                    <a:tc>
                      <a:txBody>
                        <a:bodyPr/>
                        <a:lstStyle/>
                        <a:p>
                          <a:pPr algn="ct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1E-17</a:t>
                          </a:r>
                          <a:r>
                            <a:rPr lang="en-US" altLang="zh-CN" sz="1600" b="1" kern="1200" baseline="0" dirty="0">
                              <a:solidFill>
                                <a:schemeClr val="tx1"/>
                              </a:solidFill>
                              <a:latin typeface="Times New Roman" panose="02020603050405020304" pitchFamily="18" charset="0"/>
                              <a:ea typeface="+mn-ea"/>
                              <a:cs typeface="Times New Roman" panose="02020603050405020304" pitchFamily="18" charset="0"/>
                            </a:rPr>
                            <a:t> – 9.999999 F</a:t>
                          </a:r>
                          <a:endParaRPr lang="zh-CN" altLang="en-US" sz="1600" b="1"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1.00000E-18 – 999.9999E18 F</a:t>
                          </a:r>
                          <a:endParaRPr lang="zh-CN" altLang="en-US" sz="1600" b="1" kern="1200" dirty="0">
                            <a:solidFill>
                              <a:schemeClr val="tx1"/>
                            </a:solidFill>
                            <a:latin typeface="Times New Roman" panose="02020603050405020304" pitchFamily="18" charset="0"/>
                            <a:ea typeface="+mn-ea"/>
                            <a:cs typeface="Times New Roman" panose="02020603050405020304" pitchFamily="18" charset="0"/>
                          </a:endParaRPr>
                        </a:p>
                      </a:txBody>
                      <a:tcPr/>
                    </a:tc>
                  </a:tr>
                  <a:tr h="352847">
                    <a:tc>
                      <a:txBody>
                        <a:bodyPr/>
                        <a:lstStyle/>
                        <a:p>
                          <a:pPr algn="ct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1E-12</a:t>
                          </a:r>
                          <a:r>
                            <a:rPr lang="en-US" altLang="zh-CN" sz="1600" b="1" kern="1200" baseline="0" dirty="0">
                              <a:solidFill>
                                <a:schemeClr val="tx1"/>
                              </a:solidFill>
                              <a:latin typeface="Times New Roman" panose="02020603050405020304" pitchFamily="18" charset="0"/>
                              <a:ea typeface="+mn-ea"/>
                              <a:cs typeface="Times New Roman" panose="02020603050405020304" pitchFamily="18" charset="0"/>
                            </a:rPr>
                            <a:t> – 99.99999 H</a:t>
                          </a:r>
                          <a:endParaRPr lang="zh-CN" altLang="en-US" sz="1600" b="1"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1600" b="1" kern="1200" dirty="0">
                              <a:solidFill>
                                <a:schemeClr val="tx1"/>
                              </a:solidFill>
                              <a:latin typeface="Times New Roman" panose="02020603050405020304" pitchFamily="18" charset="0"/>
                              <a:ea typeface="+mn-ea"/>
                              <a:cs typeface="Times New Roman" panose="02020603050405020304" pitchFamily="18" charset="0"/>
                            </a:rPr>
                            <a:t>1.00000E-18 – 999.9999E18 H</a:t>
                          </a:r>
                          <a:endParaRPr lang="en-US" altLang="zh-CN" sz="1600" b="1" kern="1200" dirty="0">
                            <a:solidFill>
                              <a:schemeClr val="tx1"/>
                            </a:solidFill>
                            <a:latin typeface="Times New Roman" panose="02020603050405020304" pitchFamily="18" charset="0"/>
                            <a:ea typeface="+mn-ea"/>
                            <a:cs typeface="Times New Roman" panose="02020603050405020304" pitchFamily="18" charset="0"/>
                          </a:endParaRPr>
                        </a:p>
                      </a:txBody>
                      <a:tcPr/>
                    </a:tc>
                  </a:tr>
                </a:tbl>
              </a:graphicData>
            </a:graphic>
          </p:graphicFrame>
        </mc:Fallback>
      </mc:AlternateContent>
      <p:grpSp>
        <p:nvGrpSpPr>
          <p:cNvPr id="48" name="组合 47"/>
          <p:cNvGrpSpPr/>
          <p:nvPr/>
        </p:nvGrpSpPr>
        <p:grpSpPr>
          <a:xfrm>
            <a:off x="4856845" y="2045501"/>
            <a:ext cx="6570517" cy="2769452"/>
            <a:chOff x="4856845" y="2045501"/>
            <a:chExt cx="6570517" cy="2769452"/>
          </a:xfrm>
        </p:grpSpPr>
        <p:grpSp>
          <p:nvGrpSpPr>
            <p:cNvPr id="42" name="组合 41"/>
            <p:cNvGrpSpPr/>
            <p:nvPr/>
          </p:nvGrpSpPr>
          <p:grpSpPr>
            <a:xfrm>
              <a:off x="4856845" y="2045501"/>
              <a:ext cx="6570517" cy="2769452"/>
              <a:chOff x="4856845" y="2045501"/>
              <a:chExt cx="6570517" cy="2769452"/>
            </a:xfrm>
          </p:grpSpPr>
          <p:sp>
            <p:nvSpPr>
              <p:cNvPr id="88" name="矩形 87"/>
              <p:cNvSpPr/>
              <p:nvPr/>
            </p:nvSpPr>
            <p:spPr>
              <a:xfrm>
                <a:off x="5221943" y="2045501"/>
                <a:ext cx="825867" cy="400110"/>
              </a:xfrm>
              <a:prstGeom prst="rect">
                <a:avLst/>
              </a:prstGeom>
            </p:spPr>
            <p:txBody>
              <a:bodyPr wrap="none">
                <a:spAutoFit/>
              </a:bodyPr>
              <a:lstStyle/>
              <a:p>
                <a:r>
                  <a:rPr lang="en-US" altLang="zh-CN" sz="2000" b="1" dirty="0">
                    <a:latin typeface="宋体" panose="02010600030101010101" pitchFamily="2" charset="-122"/>
                    <a:ea typeface="宋体" panose="02010600030101010101" pitchFamily="2" charset="-122"/>
                    <a:cs typeface="Times New Roman" panose="02020603050405020304" pitchFamily="18" charset="0"/>
                  </a:rPr>
                  <a:t>1940s</a:t>
                </a:r>
                <a:endParaRPr lang="zh-CN" altLang="en-US" sz="2000" b="1" dirty="0"/>
              </a:p>
            </p:txBody>
          </p:sp>
          <p:grpSp>
            <p:nvGrpSpPr>
              <p:cNvPr id="39" name="组合 38"/>
              <p:cNvGrpSpPr/>
              <p:nvPr/>
            </p:nvGrpSpPr>
            <p:grpSpPr>
              <a:xfrm>
                <a:off x="4856845" y="2492350"/>
                <a:ext cx="6570517" cy="2322603"/>
                <a:chOff x="4856845" y="2492350"/>
                <a:chExt cx="6570517" cy="2322603"/>
              </a:xfrm>
            </p:grpSpPr>
            <p:grpSp>
              <p:nvGrpSpPr>
                <p:cNvPr id="33" name="组合 32"/>
                <p:cNvGrpSpPr/>
                <p:nvPr/>
              </p:nvGrpSpPr>
              <p:grpSpPr>
                <a:xfrm>
                  <a:off x="4856845" y="3372695"/>
                  <a:ext cx="6570517" cy="1442258"/>
                  <a:chOff x="4856845" y="3372695"/>
                  <a:chExt cx="6570517" cy="1442258"/>
                </a:xfrm>
              </p:grpSpPr>
              <p:pic>
                <p:nvPicPr>
                  <p:cNvPr id="15" name="图片 14"/>
                  <p:cNvPicPr>
                    <a:picLocks noChangeAspect="1"/>
                  </p:cNvPicPr>
                  <p:nvPr/>
                </p:nvPicPr>
                <p:blipFill rotWithShape="1">
                  <a:blip r:embed="rId4"/>
                  <a:srcRect l="36146" t="40385" r="8333" b="17307"/>
                  <a:stretch>
                    <a:fillRect/>
                  </a:stretch>
                </p:blipFill>
                <p:spPr>
                  <a:xfrm>
                    <a:off x="4856845" y="3372695"/>
                    <a:ext cx="3494199" cy="1442258"/>
                  </a:xfrm>
                  <a:prstGeom prst="rect">
                    <a:avLst/>
                  </a:prstGeom>
                  <a:ln>
                    <a:noFill/>
                  </a:ln>
                  <a:effectLst>
                    <a:outerShdw blurRad="190500" algn="tl" rotWithShape="0">
                      <a:srgbClr val="000000">
                        <a:alpha val="70000"/>
                      </a:srgbClr>
                    </a:outerShdw>
                  </a:effectLst>
                </p:spPr>
              </p:pic>
              <p:pic>
                <p:nvPicPr>
                  <p:cNvPr id="17" name="图片 16"/>
                  <p:cNvPicPr>
                    <a:picLocks noChangeAspect="1"/>
                  </p:cNvPicPr>
                  <p:nvPr/>
                </p:nvPicPr>
                <p:blipFill rotWithShape="1">
                  <a:blip r:embed="rId5"/>
                  <a:srcRect l="23118" t="29380" r="16075" b="16725"/>
                  <a:stretch>
                    <a:fillRect/>
                  </a:stretch>
                </p:blipFill>
                <p:spPr>
                  <a:xfrm>
                    <a:off x="8423323" y="3372695"/>
                    <a:ext cx="3004039" cy="1442258"/>
                  </a:xfrm>
                  <a:prstGeom prst="rect">
                    <a:avLst/>
                  </a:prstGeom>
                  <a:ln>
                    <a:noFill/>
                  </a:ln>
                  <a:effectLst>
                    <a:outerShdw blurRad="190500" algn="tl" rotWithShape="0">
                      <a:srgbClr val="000000">
                        <a:alpha val="70000"/>
                      </a:srgbClr>
                    </a:outerShdw>
                  </a:effectLst>
                </p:spPr>
              </p:pic>
            </p:grpSp>
            <p:grpSp>
              <p:nvGrpSpPr>
                <p:cNvPr id="36" name="组合 35"/>
                <p:cNvGrpSpPr/>
                <p:nvPr/>
              </p:nvGrpSpPr>
              <p:grpSpPr>
                <a:xfrm>
                  <a:off x="4995189" y="2492350"/>
                  <a:ext cx="5872836" cy="796057"/>
                  <a:chOff x="4995189" y="2492350"/>
                  <a:chExt cx="5872836" cy="796057"/>
                </a:xfrm>
              </p:grpSpPr>
              <p:grpSp>
                <p:nvGrpSpPr>
                  <p:cNvPr id="35" name="组合 34"/>
                  <p:cNvGrpSpPr/>
                  <p:nvPr/>
                </p:nvGrpSpPr>
                <p:grpSpPr>
                  <a:xfrm>
                    <a:off x="4995189" y="2492350"/>
                    <a:ext cx="5872836" cy="767074"/>
                    <a:chOff x="4995189" y="2492350"/>
                    <a:chExt cx="5872836" cy="767074"/>
                  </a:xfrm>
                </p:grpSpPr>
                <p:sp>
                  <p:nvSpPr>
                    <p:cNvPr id="89" name="矩形 88"/>
                    <p:cNvSpPr/>
                    <p:nvPr/>
                  </p:nvSpPr>
                  <p:spPr>
                    <a:xfrm>
                      <a:off x="4995189" y="2492350"/>
                      <a:ext cx="5872836" cy="355600"/>
                    </a:xfrm>
                    <a:prstGeom prst="rect">
                      <a:avLst/>
                    </a:prstGeom>
                    <a:gradFill flip="none" rotWithShape="1">
                      <a:gsLst>
                        <a:gs pos="83700">
                          <a:srgbClr val="E9E9E9"/>
                        </a:gs>
                        <a:gs pos="50000">
                          <a:srgbClr val="BABABA"/>
                        </a:gs>
                        <a:gs pos="0">
                          <a:schemeClr val="tx1">
                            <a:lumMod val="85000"/>
                            <a:lumOff val="15000"/>
                          </a:schemeClr>
                        </a:gs>
                        <a:gs pos="100000">
                          <a:schemeClr val="bg1">
                            <a:alpha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4995189" y="2847950"/>
                      <a:ext cx="5872836" cy="411474"/>
                      <a:chOff x="4995189" y="2847950"/>
                      <a:chExt cx="5872836" cy="411474"/>
                    </a:xfrm>
                  </p:grpSpPr>
                  <p:cxnSp>
                    <p:nvCxnSpPr>
                      <p:cNvPr id="95" name="直接连接符 94"/>
                      <p:cNvCxnSpPr/>
                      <p:nvPr/>
                    </p:nvCxnSpPr>
                    <p:spPr>
                      <a:xfrm flipH="1">
                        <a:off x="4995189" y="2847950"/>
                        <a:ext cx="58728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7981951" y="3259424"/>
                        <a:ext cx="73818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8363752" y="2847950"/>
                        <a:ext cx="0" cy="4114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8" name="矩形 97"/>
                  <p:cNvSpPr/>
                  <p:nvPr/>
                </p:nvSpPr>
                <p:spPr>
                  <a:xfrm>
                    <a:off x="6466865" y="2826742"/>
                    <a:ext cx="3528035" cy="461665"/>
                  </a:xfrm>
                  <a:prstGeom prst="rect">
                    <a:avLst/>
                  </a:prstGeom>
                </p:spPr>
                <p:txBody>
                  <a:bodyPr wrap="square">
                    <a:spAutoFit/>
                  </a:bodyPr>
                  <a:lstStyle/>
                  <a:p>
                    <a:pPr algn="ctr"/>
                    <a:r>
                      <a:rPr lang="zh-CN" altLang="en-US" sz="2400" dirty="0">
                        <a:latin typeface="楷体" panose="02010609060101010101" pitchFamily="49" charset="-122"/>
                        <a:ea typeface="楷体" panose="02010609060101010101" pitchFamily="49" charset="-122"/>
                        <a:cs typeface="Times New Roman" panose="02020603050405020304" pitchFamily="18" charset="0"/>
                      </a:rPr>
                      <a:t>阻抗分析仪（</a:t>
                    </a:r>
                    <a:r>
                      <a:rPr lang="en-US" altLang="zh-CN" sz="2400" dirty="0">
                        <a:latin typeface="楷体" panose="02010609060101010101" pitchFamily="49" charset="-122"/>
                        <a:ea typeface="楷体" panose="02010609060101010101" pitchFamily="49" charset="-122"/>
                        <a:cs typeface="Times New Roman" panose="02020603050405020304" pitchFamily="18" charset="0"/>
                      </a:rPr>
                      <a:t>LCR</a:t>
                    </a:r>
                    <a:r>
                      <a:rPr lang="zh-CN" altLang="en-US" sz="2400" dirty="0">
                        <a:latin typeface="楷体" panose="02010609060101010101" pitchFamily="49" charset="-122"/>
                        <a:ea typeface="楷体" panose="02010609060101010101" pitchFamily="49" charset="-122"/>
                        <a:cs typeface="Times New Roman" panose="02020603050405020304" pitchFamily="18" charset="0"/>
                      </a:rPr>
                      <a:t>表）</a:t>
                    </a:r>
                  </a:p>
                </p:txBody>
              </p:sp>
            </p:grpSp>
          </p:grpSp>
        </p:grpSp>
        <p:sp>
          <p:nvSpPr>
            <p:cNvPr id="99" name="矩形 98"/>
            <p:cNvSpPr/>
            <p:nvPr/>
          </p:nvSpPr>
          <p:spPr>
            <a:xfrm>
              <a:off x="10308922" y="2045501"/>
              <a:ext cx="697627" cy="400110"/>
            </a:xfrm>
            <a:prstGeom prst="rect">
              <a:avLst/>
            </a:prstGeom>
          </p:spPr>
          <p:txBody>
            <a:bodyPr wrap="none">
              <a:spAutoFit/>
            </a:bodyPr>
            <a:lstStyle/>
            <a:p>
              <a:r>
                <a:rPr lang="zh-CN" altLang="en-US" sz="2000" b="1" dirty="0">
                  <a:latin typeface="楷体" panose="02010609060101010101" pitchFamily="49" charset="-122"/>
                  <a:ea typeface="楷体" panose="02010609060101010101" pitchFamily="49" charset="-122"/>
                </a:rPr>
                <a:t>如今</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500"/>
                                        <p:tgtEl>
                                          <p:spTgt spid="6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250"/>
                                        <p:tgtEl>
                                          <p:spTgt spid="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up)">
                                      <p:cBhvr>
                                        <p:cTn id="40" dur="5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wipe(up)">
                                      <p:cBhvr>
                                        <p:cTn id="50" dur="500"/>
                                        <p:tgtEl>
                                          <p:spTgt spid="48"/>
                                        </p:tgtEl>
                                      </p:cBhvr>
                                    </p:animEffect>
                                  </p:childTnLst>
                                </p:cTn>
                              </p:par>
                            </p:childTnLst>
                          </p:cTn>
                        </p:par>
                        <p:par>
                          <p:cTn id="51" fill="hold">
                            <p:stCondLst>
                              <p:cond delay="500"/>
                            </p:stCondLst>
                            <p:childTnLst>
                              <p:par>
                                <p:cTn id="52" presetID="22" presetClass="entr" presetSubtype="1" fill="hold"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up)">
                                      <p:cBhvr>
                                        <p:cTn id="5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2</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实验目的</a:t>
              </a:r>
            </a:p>
          </p:txBody>
        </p:sp>
        <p:sp>
          <p:nvSpPr>
            <p:cNvPr id="53" name="矩形 52"/>
            <p:cNvSpPr/>
            <p:nvPr/>
          </p:nvSpPr>
          <p:spPr>
            <a:xfrm>
              <a:off x="5139124" y="3264361"/>
              <a:ext cx="3775132"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rPr>
                <a:t>EXPERIMENT OBJECTIVE</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89711" y="2015403"/>
            <a:ext cx="8493011" cy="2062103"/>
          </a:xfrm>
          <a:prstGeom prst="rect">
            <a:avLst/>
          </a:prstGeom>
        </p:spPr>
        <p:txBody>
          <a:bodyPr wrap="square">
            <a:spAutoFit/>
          </a:bodyPr>
          <a:lstStyle/>
          <a:p>
            <a:pPr marL="457200" indent="-457200">
              <a:lnSpc>
                <a:spcPct val="200000"/>
              </a:lnSpc>
              <a:buFont typeface="Wingdings" panose="05000000000000000000" pitchFamily="2" charset="2"/>
              <a:buChar char="Ø"/>
            </a:pPr>
            <a:r>
              <a:rPr lang="zh-CN" altLang="en-US" sz="3200" dirty="0">
                <a:latin typeface="宋体" panose="02010600030101010101" pitchFamily="2" charset="-122"/>
                <a:ea typeface="宋体" panose="02010600030101010101" pitchFamily="2" charset="-122"/>
              </a:rPr>
              <a:t>掌握双臂电桥测量低电阻的原理和使用方法</a:t>
            </a:r>
            <a:endParaRPr lang="en-US" altLang="zh-CN" sz="3200" dirty="0">
              <a:latin typeface="宋体" panose="02010600030101010101" pitchFamily="2" charset="-122"/>
              <a:ea typeface="宋体" panose="02010600030101010101" pitchFamily="2" charset="-122"/>
            </a:endParaRPr>
          </a:p>
          <a:p>
            <a:pPr marL="457200" indent="-457200">
              <a:lnSpc>
                <a:spcPct val="200000"/>
              </a:lnSpc>
              <a:buFont typeface="Wingdings" panose="05000000000000000000" pitchFamily="2" charset="2"/>
              <a:buChar char="Ø"/>
            </a:pPr>
            <a:r>
              <a:rPr lang="zh-CN" altLang="en-US" sz="3200" dirty="0">
                <a:latin typeface="宋体" panose="02010600030101010101" pitchFamily="2" charset="-122"/>
                <a:ea typeface="宋体" panose="02010600030101010101" pitchFamily="2" charset="-122"/>
              </a:rPr>
              <a:t>了解单臂电桥与双臂电桥的关系和区别</a:t>
            </a:r>
          </a:p>
        </p:txBody>
      </p:sp>
      <p:cxnSp>
        <p:nvCxnSpPr>
          <p:cNvPr id="376" name="直接连接符 375"/>
          <p:cNvCxnSpPr/>
          <p:nvPr/>
        </p:nvCxnSpPr>
        <p:spPr>
          <a:xfrm>
            <a:off x="2373822" y="2959614"/>
            <a:ext cx="7756652" cy="0"/>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381" name="直接连接符 380"/>
          <p:cNvCxnSpPr/>
          <p:nvPr/>
        </p:nvCxnSpPr>
        <p:spPr>
          <a:xfrm>
            <a:off x="2373824" y="3919927"/>
            <a:ext cx="6905312" cy="0"/>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实验目的</a:t>
            </a:r>
          </a:p>
        </p:txBody>
      </p:sp>
      <p:sp>
        <p:nvSpPr>
          <p:cNvPr id="397" name="矩形 396"/>
          <p:cNvSpPr/>
          <p:nvPr/>
        </p:nvSpPr>
        <p:spPr>
          <a:xfrm>
            <a:off x="2453656" y="324999"/>
            <a:ext cx="3173809"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OBJECTIVE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灯片编号占位符 2"/>
          <p:cNvSpPr>
            <a:spLocks noGrp="1"/>
          </p:cNvSpPr>
          <p:nvPr>
            <p:ph type="sldNum" sz="quarter" idx="12"/>
          </p:nvPr>
        </p:nvSpPr>
        <p:spPr/>
        <p:txBody>
          <a:bodyPr/>
          <a:lstStyle/>
          <a:p>
            <a:fld id="{888F8D02-9041-4C59-BC62-13DE0E5C6713}" type="slidenum">
              <a:rPr lang="zh-CN" altLang="en-US" sz="1400" b="1" smtClean="0"/>
              <a:t>7</a:t>
            </a:fld>
            <a:endParaRPr lang="zh-CN" altLang="en-US" sz="14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3</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实验原理</a:t>
              </a:r>
            </a:p>
          </p:txBody>
        </p:sp>
        <p:sp>
          <p:nvSpPr>
            <p:cNvPr id="53" name="矩形 52"/>
            <p:cNvSpPr/>
            <p:nvPr/>
          </p:nvSpPr>
          <p:spPr>
            <a:xfrm>
              <a:off x="5173029" y="3264361"/>
              <a:ext cx="3821620"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  PRINCIPLE</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453269"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5" name="灯片编号占位符 4"/>
          <p:cNvSpPr>
            <a:spLocks noGrp="1"/>
          </p:cNvSpPr>
          <p:nvPr>
            <p:ph type="sldNum" sz="quarter" idx="12"/>
          </p:nvPr>
        </p:nvSpPr>
        <p:spPr/>
        <p:txBody>
          <a:bodyPr/>
          <a:lstStyle/>
          <a:p>
            <a:fld id="{888F8D02-9041-4C59-BC62-13DE0E5C6713}" type="slidenum">
              <a:rPr lang="zh-CN" altLang="en-US" sz="1400" b="1" smtClean="0"/>
              <a:t>9</a:t>
            </a:fld>
            <a:endParaRPr lang="zh-CN" altLang="en-US" sz="1400" b="1" dirty="0"/>
          </a:p>
        </p:txBody>
      </p:sp>
      <p:grpSp>
        <p:nvGrpSpPr>
          <p:cNvPr id="84" name="Group 40">
            <a:extLst>
              <a:ext uri="{FF2B5EF4-FFF2-40B4-BE49-F238E27FC236}">
                <a16:creationId xmlns:a16="http://schemas.microsoft.com/office/drawing/2014/main" id="{A3C8F82D-2A9B-4AEF-86BF-18ACC6408386}"/>
              </a:ext>
            </a:extLst>
          </p:cNvPr>
          <p:cNvGrpSpPr>
            <a:grpSpLocks/>
          </p:cNvGrpSpPr>
          <p:nvPr/>
        </p:nvGrpSpPr>
        <p:grpSpPr bwMode="auto">
          <a:xfrm>
            <a:off x="2995863" y="4007579"/>
            <a:ext cx="6054731" cy="1132175"/>
            <a:chOff x="192" y="1755"/>
            <a:chExt cx="3814" cy="659"/>
          </a:xfrm>
        </p:grpSpPr>
        <p:sp>
          <p:nvSpPr>
            <p:cNvPr id="85" name="Rectangle 4">
              <a:extLst>
                <a:ext uri="{FF2B5EF4-FFF2-40B4-BE49-F238E27FC236}">
                  <a16:creationId xmlns:a16="http://schemas.microsoft.com/office/drawing/2014/main" id="{266D9F99-D0B7-420B-A4C6-9C68284A9C2F}"/>
                </a:ext>
              </a:extLst>
            </p:cNvPr>
            <p:cNvSpPr>
              <a:spLocks noChangeArrowheads="1"/>
            </p:cNvSpPr>
            <p:nvPr/>
          </p:nvSpPr>
          <p:spPr bwMode="auto">
            <a:xfrm>
              <a:off x="1332" y="2174"/>
              <a:ext cx="1536" cy="240"/>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86" name="Line 10">
              <a:extLst>
                <a:ext uri="{FF2B5EF4-FFF2-40B4-BE49-F238E27FC236}">
                  <a16:creationId xmlns:a16="http://schemas.microsoft.com/office/drawing/2014/main" id="{B538CA2E-0FAB-4398-B719-6DFC68F1FA80}"/>
                </a:ext>
              </a:extLst>
            </p:cNvPr>
            <p:cNvSpPr>
              <a:spLocks noChangeShapeType="1"/>
            </p:cNvSpPr>
            <p:nvPr/>
          </p:nvSpPr>
          <p:spPr bwMode="auto">
            <a:xfrm>
              <a:off x="192" y="2302"/>
              <a:ext cx="1134"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Times New Roman" panose="02020603050405020304" pitchFamily="18" charset="0"/>
                <a:cs typeface="Times New Roman" panose="02020603050405020304" pitchFamily="18" charset="0"/>
              </a:endParaRPr>
            </a:p>
          </p:txBody>
        </p:sp>
        <p:sp>
          <p:nvSpPr>
            <p:cNvPr id="87" name="Line 11">
              <a:extLst>
                <a:ext uri="{FF2B5EF4-FFF2-40B4-BE49-F238E27FC236}">
                  <a16:creationId xmlns:a16="http://schemas.microsoft.com/office/drawing/2014/main" id="{FC9DB7EF-01E7-4916-99AC-FC93BB292A98}"/>
                </a:ext>
              </a:extLst>
            </p:cNvPr>
            <p:cNvSpPr>
              <a:spLocks noChangeShapeType="1"/>
            </p:cNvSpPr>
            <p:nvPr/>
          </p:nvSpPr>
          <p:spPr bwMode="auto">
            <a:xfrm>
              <a:off x="2872" y="2302"/>
              <a:ext cx="1134"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Times New Roman" panose="02020603050405020304" pitchFamily="18" charset="0"/>
                <a:cs typeface="Times New Roman" panose="02020603050405020304" pitchFamily="18" charset="0"/>
              </a:endParaRPr>
            </a:p>
          </p:txBody>
        </p:sp>
        <p:sp>
          <p:nvSpPr>
            <p:cNvPr id="88" name="Text Box 28">
              <a:extLst>
                <a:ext uri="{FF2B5EF4-FFF2-40B4-BE49-F238E27FC236}">
                  <a16:creationId xmlns:a16="http://schemas.microsoft.com/office/drawing/2014/main" id="{12CD341F-9969-469F-AF17-A0772BF8B033}"/>
                </a:ext>
              </a:extLst>
            </p:cNvPr>
            <p:cNvSpPr txBox="1">
              <a:spLocks noChangeArrowheads="1"/>
            </p:cNvSpPr>
            <p:nvPr/>
          </p:nvSpPr>
          <p:spPr bwMode="auto">
            <a:xfrm>
              <a:off x="1956" y="1755"/>
              <a:ext cx="351"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1" dirty="0">
                  <a:latin typeface="Times New Roman" panose="02020603050405020304" pitchFamily="18" charset="0"/>
                  <a:cs typeface="Times New Roman" panose="02020603050405020304" pitchFamily="18" charset="0"/>
                </a:rPr>
                <a:t>R</a:t>
              </a:r>
              <a:r>
                <a:rPr lang="en-US" altLang="zh-CN" sz="3200" i="1" baseline="-25000" dirty="0">
                  <a:latin typeface="Times New Roman" panose="02020603050405020304" pitchFamily="18" charset="0"/>
                  <a:cs typeface="Times New Roman" panose="02020603050405020304" pitchFamily="18" charset="0"/>
                </a:rPr>
                <a:t>x</a:t>
              </a:r>
            </a:p>
          </p:txBody>
        </p:sp>
        <p:sp>
          <p:nvSpPr>
            <p:cNvPr id="89" name="Text Box 29">
              <a:extLst>
                <a:ext uri="{FF2B5EF4-FFF2-40B4-BE49-F238E27FC236}">
                  <a16:creationId xmlns:a16="http://schemas.microsoft.com/office/drawing/2014/main" id="{F39B89DD-46A1-43E6-80CB-A630E4BA95DF}"/>
                </a:ext>
              </a:extLst>
            </p:cNvPr>
            <p:cNvSpPr txBox="1">
              <a:spLocks noChangeArrowheads="1"/>
            </p:cNvSpPr>
            <p:nvPr/>
          </p:nvSpPr>
          <p:spPr bwMode="auto">
            <a:xfrm>
              <a:off x="680" y="1765"/>
              <a:ext cx="30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1" dirty="0">
                  <a:latin typeface="Times New Roman" panose="02020603050405020304" pitchFamily="18" charset="0"/>
                  <a:cs typeface="Times New Roman" panose="02020603050405020304" pitchFamily="18" charset="0"/>
                </a:rPr>
                <a:t>r</a:t>
              </a:r>
              <a:r>
                <a:rPr lang="en-US" altLang="zh-CN" sz="3200" baseline="-25000" dirty="0">
                  <a:latin typeface="Times New Roman" panose="02020603050405020304" pitchFamily="18" charset="0"/>
                  <a:cs typeface="Times New Roman" panose="02020603050405020304" pitchFamily="18" charset="0"/>
                </a:rPr>
                <a:t>1</a:t>
              </a:r>
              <a:endParaRPr lang="en-US" altLang="zh-CN" sz="3200" dirty="0">
                <a:latin typeface="Times New Roman" panose="02020603050405020304" pitchFamily="18" charset="0"/>
                <a:cs typeface="Times New Roman" panose="02020603050405020304" pitchFamily="18" charset="0"/>
              </a:endParaRPr>
            </a:p>
          </p:txBody>
        </p:sp>
        <p:sp>
          <p:nvSpPr>
            <p:cNvPr id="90" name="Text Box 30">
              <a:extLst>
                <a:ext uri="{FF2B5EF4-FFF2-40B4-BE49-F238E27FC236}">
                  <a16:creationId xmlns:a16="http://schemas.microsoft.com/office/drawing/2014/main" id="{65ABC22D-91D1-4A32-96B8-55B8BE0F5252}"/>
                </a:ext>
              </a:extLst>
            </p:cNvPr>
            <p:cNvSpPr txBox="1">
              <a:spLocks noChangeArrowheads="1"/>
            </p:cNvSpPr>
            <p:nvPr/>
          </p:nvSpPr>
          <p:spPr bwMode="auto">
            <a:xfrm>
              <a:off x="3302" y="1766"/>
              <a:ext cx="30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1" dirty="0">
                  <a:latin typeface="Times New Roman" panose="02020603050405020304" pitchFamily="18" charset="0"/>
                  <a:cs typeface="Times New Roman" panose="02020603050405020304" pitchFamily="18" charset="0"/>
                </a:rPr>
                <a:t>r</a:t>
              </a:r>
              <a:r>
                <a:rPr lang="en-US" altLang="zh-CN" sz="3200" baseline="-25000" dirty="0">
                  <a:latin typeface="Times New Roman" panose="02020603050405020304" pitchFamily="18" charset="0"/>
                  <a:cs typeface="Times New Roman" panose="02020603050405020304" pitchFamily="18" charset="0"/>
                </a:rPr>
                <a:t>2</a:t>
              </a:r>
              <a:endParaRPr lang="en-US" altLang="zh-CN" sz="3200" dirty="0">
                <a:latin typeface="Times New Roman" panose="02020603050405020304" pitchFamily="18" charset="0"/>
                <a:cs typeface="Times New Roman" panose="02020603050405020304" pitchFamily="18" charset="0"/>
              </a:endParaRPr>
            </a:p>
          </p:txBody>
        </p:sp>
        <p:sp>
          <p:nvSpPr>
            <p:cNvPr id="91" name="Rectangle 35">
              <a:extLst>
                <a:ext uri="{FF2B5EF4-FFF2-40B4-BE49-F238E27FC236}">
                  <a16:creationId xmlns:a16="http://schemas.microsoft.com/office/drawing/2014/main" id="{EE3D116A-E51E-484D-9E0E-6982D195C2A0}"/>
                </a:ext>
              </a:extLst>
            </p:cNvPr>
            <p:cNvSpPr>
              <a:spLocks noChangeArrowheads="1"/>
            </p:cNvSpPr>
            <p:nvPr/>
          </p:nvSpPr>
          <p:spPr bwMode="auto">
            <a:xfrm>
              <a:off x="667" y="2254"/>
              <a:ext cx="240" cy="96"/>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92" name="Rectangle 36">
              <a:extLst>
                <a:ext uri="{FF2B5EF4-FFF2-40B4-BE49-F238E27FC236}">
                  <a16:creationId xmlns:a16="http://schemas.microsoft.com/office/drawing/2014/main" id="{74E0EB0D-7D28-4B94-9F11-A90E184D98BF}"/>
                </a:ext>
              </a:extLst>
            </p:cNvPr>
            <p:cNvSpPr>
              <a:spLocks noChangeArrowheads="1"/>
            </p:cNvSpPr>
            <p:nvPr/>
          </p:nvSpPr>
          <p:spPr bwMode="auto">
            <a:xfrm>
              <a:off x="3312" y="2254"/>
              <a:ext cx="240" cy="96"/>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sz="2400">
                <a:latin typeface="Times New Roman" panose="02020603050405020304" pitchFamily="18" charset="0"/>
                <a:cs typeface="Times New Roman" panose="02020603050405020304" pitchFamily="18" charset="0"/>
              </a:endParaRPr>
            </a:p>
          </p:txBody>
        </p:sp>
      </p:grpSp>
      <p:sp>
        <p:nvSpPr>
          <p:cNvPr id="93" name="矩形 92">
            <a:extLst>
              <a:ext uri="{FF2B5EF4-FFF2-40B4-BE49-F238E27FC236}">
                <a16:creationId xmlns:a16="http://schemas.microsoft.com/office/drawing/2014/main" id="{FB26EE58-48F9-41B8-9EBB-68D28619299E}"/>
              </a:ext>
            </a:extLst>
          </p:cNvPr>
          <p:cNvSpPr/>
          <p:nvPr/>
        </p:nvSpPr>
        <p:spPr>
          <a:xfrm>
            <a:off x="1063987" y="1257212"/>
            <a:ext cx="10021669" cy="2492990"/>
          </a:xfrm>
          <a:prstGeom prst="rect">
            <a:avLst/>
          </a:prstGeom>
        </p:spPr>
        <p:txBody>
          <a:bodyPr wrap="square">
            <a:spAutoFit/>
          </a:bodyPr>
          <a:lstStyle/>
          <a:p>
            <a:pPr algn="just">
              <a:lnSpc>
                <a:spcPct val="150000"/>
              </a:lnSpc>
            </a:pPr>
            <a:r>
              <a:rPr lang="zh-CN" altLang="en-US" sz="3200" dirty="0">
                <a:latin typeface="楷体" panose="02010609060101010101" pitchFamily="49" charset="-122"/>
                <a:ea typeface="楷体" panose="02010609060101010101" pitchFamily="49" charset="-122"/>
              </a:rPr>
              <a:t>接触电阻与导线电阻的影响</a:t>
            </a:r>
          </a:p>
          <a:p>
            <a:pPr algn="just">
              <a:lnSpc>
                <a:spcPct val="150000"/>
              </a:lnSpc>
            </a:pPr>
            <a:r>
              <a:rPr lang="en-US" altLang="zh-CN" sz="2400" i="1" dirty="0">
                <a:latin typeface="楷体" panose="02010609060101010101" pitchFamily="49" charset="-122"/>
                <a:ea typeface="楷体" panose="02010609060101010101" pitchFamily="49" charset="-122"/>
                <a:cs typeface="Times New Roman" panose="02020603050405020304" pitchFamily="18" charset="0"/>
              </a:rPr>
              <a:t>    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和</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代表接触电阻和导线电阻，一般在</a:t>
            </a:r>
            <a:r>
              <a:rPr lang="en-US" altLang="zh-CN" sz="2400" dirty="0">
                <a:latin typeface="楷体" panose="02010609060101010101" pitchFamily="49" charset="-122"/>
                <a:ea typeface="楷体" panose="02010609060101010101" pitchFamily="49" charset="-122"/>
                <a:cs typeface="Times New Roman" panose="02020603050405020304" pitchFamily="18" charset="0"/>
              </a:rPr>
              <a:t>0.01-1 Ω</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的数量级。由图可见，当测量电阻时</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和</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会包含于内，实际测得的阻值为</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i="1" baseline="-25000" dirty="0">
                <a:latin typeface="楷体" panose="02010609060101010101" pitchFamily="49" charset="-122"/>
                <a:ea typeface="楷体" panose="02010609060101010101" pitchFamily="49" charset="-122"/>
                <a:cs typeface="Times New Roman" panose="02020603050405020304" pitchFamily="18" charset="0"/>
              </a:rPr>
              <a:t>x</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，当</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i="1" baseline="-25000" dirty="0">
                <a:latin typeface="楷体" panose="02010609060101010101" pitchFamily="49" charset="-122"/>
                <a:ea typeface="楷体" panose="02010609060101010101" pitchFamily="49" charset="-122"/>
                <a:cs typeface="Times New Roman" panose="02020603050405020304" pitchFamily="18" charset="0"/>
              </a:rPr>
              <a:t>x</a:t>
            </a:r>
            <a:r>
              <a:rPr lang="zh-CN" altLang="en-US" sz="2400" dirty="0">
                <a:latin typeface="楷体" panose="02010609060101010101" pitchFamily="49" charset="-122"/>
                <a:ea typeface="楷体" panose="02010609060101010101" pitchFamily="49" charset="-122"/>
                <a:cs typeface="Times New Roman" panose="02020603050405020304" pitchFamily="18" charset="0"/>
              </a:rPr>
              <a:t>与</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zh-CN" altLang="en-US"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同数量级时引入的误差就很大。</a:t>
            </a:r>
            <a:endParaRPr lang="zh-CN" altLang="en-US" sz="2000"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453269"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5" name="灯片编号占位符 4"/>
          <p:cNvSpPr>
            <a:spLocks noGrp="1"/>
          </p:cNvSpPr>
          <p:nvPr>
            <p:ph type="sldNum" sz="quarter" idx="12"/>
          </p:nvPr>
        </p:nvSpPr>
        <p:spPr/>
        <p:txBody>
          <a:bodyPr/>
          <a:lstStyle/>
          <a:p>
            <a:fld id="{888F8D02-9041-4C59-BC62-13DE0E5C6713}" type="slidenum">
              <a:rPr lang="zh-CN" altLang="en-US" sz="1400" b="1" smtClean="0"/>
              <a:t>10</a:t>
            </a:fld>
            <a:endParaRPr lang="zh-CN" altLang="en-US" sz="1400" b="1" dirty="0"/>
          </a:p>
        </p:txBody>
      </p:sp>
      <p:sp>
        <p:nvSpPr>
          <p:cNvPr id="29" name="矩形 28"/>
          <p:cNvSpPr/>
          <p:nvPr/>
        </p:nvSpPr>
        <p:spPr>
          <a:xfrm>
            <a:off x="1054038" y="971117"/>
            <a:ext cx="10269370" cy="3354765"/>
          </a:xfrm>
          <a:prstGeom prst="rect">
            <a:avLst/>
          </a:prstGeom>
        </p:spPr>
        <p:txBody>
          <a:bodyPr wrap="square">
            <a:spAutoFit/>
          </a:bodyPr>
          <a:lstStyle/>
          <a:p>
            <a:r>
              <a:rPr lang="zh-CN" altLang="en-US" sz="3200" dirty="0">
                <a:latin typeface="楷体" panose="02010609060101010101" pitchFamily="49" charset="-122"/>
                <a:ea typeface="楷体" panose="02010609060101010101" pitchFamily="49" charset="-122"/>
              </a:rPr>
              <a:t>四端接入法减小误差</a:t>
            </a:r>
            <a:endParaRPr lang="en-US" altLang="zh-CN" sz="32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cs typeface="Times New Roman" panose="02020603050405020304" pitchFamily="18" charset="0"/>
              </a:rPr>
              <a:t>    为了消除（或减小）接线电阻对测量结果的影响，用四端接入法进行电阻连接。与两端接入法相比，四端接入法“转移”了附加电阻相对于待测电阻的位置。如图所示，</a:t>
            </a:r>
            <a:r>
              <a:rPr lang="en-US" altLang="zh-CN" sz="2400" dirty="0">
                <a:latin typeface="楷体" panose="02010609060101010101" pitchFamily="49" charset="-122"/>
                <a:ea typeface="楷体" panose="02010609060101010101" pitchFamily="49" charset="-122"/>
                <a:cs typeface="Times New Roman" panose="02020603050405020304" pitchFamily="18" charset="0"/>
              </a:rPr>
              <a:t>C</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’P</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’P</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en-US" altLang="zh-CN" sz="2400" dirty="0">
                <a:latin typeface="楷体" panose="02010609060101010101" pitchFamily="49" charset="-122"/>
                <a:ea typeface="楷体" panose="02010609060101010101" pitchFamily="49" charset="-122"/>
                <a:cs typeface="Times New Roman" panose="02020603050405020304" pitchFamily="18" charset="0"/>
              </a:rPr>
              <a:t>’C</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是一个完整的低值电阻，其中</a:t>
            </a:r>
            <a:r>
              <a:rPr lang="en-US" altLang="zh-CN" sz="2400" dirty="0">
                <a:latin typeface="楷体" panose="02010609060101010101" pitchFamily="49" charset="-122"/>
                <a:ea typeface="楷体" panose="02010609060101010101" pitchFamily="49" charset="-122"/>
                <a:cs typeface="Times New Roman" panose="02020603050405020304" pitchFamily="18" charset="0"/>
              </a:rPr>
              <a:t>C</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和</a:t>
            </a:r>
            <a:r>
              <a:rPr lang="en-US" altLang="zh-CN" sz="2400" dirty="0">
                <a:latin typeface="楷体" panose="02010609060101010101" pitchFamily="49" charset="-122"/>
                <a:ea typeface="楷体" panose="02010609060101010101" pitchFamily="49" charset="-122"/>
                <a:cs typeface="Times New Roman" panose="02020603050405020304" pitchFamily="18" charset="0"/>
              </a:rPr>
              <a:t>C</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称为电流接头，</a:t>
            </a:r>
            <a:r>
              <a:rPr lang="en-US" altLang="zh-CN" sz="2400" dirty="0">
                <a:latin typeface="楷体" panose="02010609060101010101" pitchFamily="49" charset="-122"/>
                <a:ea typeface="楷体" panose="02010609060101010101" pitchFamily="49" charset="-122"/>
                <a:cs typeface="Times New Roman" panose="02020603050405020304" pitchFamily="18" charset="0"/>
              </a:rPr>
              <a:t>P</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和</a:t>
            </a:r>
            <a:r>
              <a:rPr lang="en-US" altLang="zh-CN" sz="2400" dirty="0">
                <a:latin typeface="楷体" panose="02010609060101010101" pitchFamily="49" charset="-122"/>
                <a:ea typeface="楷体" panose="02010609060101010101" pitchFamily="49" charset="-122"/>
                <a:cs typeface="Times New Roman" panose="02020603050405020304" pitchFamily="18" charset="0"/>
              </a:rPr>
              <a:t>P</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称为电位接头，介于电位接头间</a:t>
            </a:r>
            <a:r>
              <a:rPr lang="zh-CN" altLang="en-US" sz="2400" b="1" dirty="0">
                <a:solidFill>
                  <a:srgbClr val="70AD47"/>
                </a:solidFill>
                <a:latin typeface="楷体" panose="02010609060101010101" pitchFamily="49" charset="-122"/>
                <a:ea typeface="楷体" panose="02010609060101010101" pitchFamily="49" charset="-122"/>
                <a:cs typeface="Times New Roman" panose="02020603050405020304" pitchFamily="18" charset="0"/>
              </a:rPr>
              <a:t>绿色的部分</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才是实测电阻</a:t>
            </a:r>
            <a:r>
              <a:rPr lang="en-US" altLang="zh-CN" sz="2400" i="1" dirty="0">
                <a:solidFill>
                  <a:schemeClr val="accent6"/>
                </a:solidFill>
                <a:latin typeface="楷体" panose="02010609060101010101" pitchFamily="49" charset="-122"/>
                <a:ea typeface="楷体" panose="02010609060101010101" pitchFamily="49" charset="-122"/>
                <a:cs typeface="Times New Roman" panose="02020603050405020304" pitchFamily="18" charset="0"/>
              </a:rPr>
              <a:t>R</a:t>
            </a:r>
            <a:r>
              <a:rPr lang="en-US" altLang="zh-CN" sz="2400" i="1" baseline="-25000" dirty="0">
                <a:solidFill>
                  <a:schemeClr val="accent6"/>
                </a:solidFill>
                <a:latin typeface="楷体" panose="02010609060101010101" pitchFamily="49" charset="-122"/>
                <a:ea typeface="楷体" panose="02010609060101010101" pitchFamily="49" charset="-122"/>
                <a:cs typeface="Times New Roman" panose="02020603050405020304" pitchFamily="18" charset="0"/>
              </a:rPr>
              <a:t>x</a:t>
            </a:r>
            <a:r>
              <a:rPr lang="zh-CN" altLang="en-US" sz="2400" dirty="0">
                <a:latin typeface="楷体" panose="02010609060101010101" pitchFamily="49" charset="-122"/>
                <a:ea typeface="楷体" panose="02010609060101010101" pitchFamily="49" charset="-122"/>
                <a:cs typeface="Times New Roman" panose="02020603050405020304" pitchFamily="18" charset="0"/>
              </a:rPr>
              <a:t>，附加电阻</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zh-CN" altLang="en-US"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已被“转移”到被测电阻之外，而新增的附加电阻</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3</a:t>
            </a:r>
            <a:r>
              <a:rPr lang="zh-CN" altLang="en-US"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并不与</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i="1" baseline="-25000" dirty="0">
                <a:latin typeface="楷体" panose="02010609060101010101" pitchFamily="49" charset="-122"/>
                <a:ea typeface="楷体" panose="02010609060101010101" pitchFamily="49" charset="-122"/>
                <a:cs typeface="Times New Roman" panose="02020603050405020304" pitchFamily="18" charset="0"/>
              </a:rPr>
              <a:t>x</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直接串联，因此不会改变待测电阻的阻值。</a:t>
            </a:r>
          </a:p>
          <a:p>
            <a:endParaRPr lang="zh-CN" altLang="en-US" sz="3600" dirty="0">
              <a:solidFill>
                <a:srgbClr val="7B1216"/>
              </a:solidFill>
              <a:latin typeface="黑体" panose="02010609060101010101" pitchFamily="49" charset="-122"/>
              <a:ea typeface="黑体" panose="02010609060101010101" pitchFamily="49" charset="-122"/>
            </a:endParaRPr>
          </a:p>
        </p:txBody>
      </p:sp>
      <p:grpSp>
        <p:nvGrpSpPr>
          <p:cNvPr id="2" name="组合 1"/>
          <p:cNvGrpSpPr/>
          <p:nvPr/>
        </p:nvGrpSpPr>
        <p:grpSpPr>
          <a:xfrm>
            <a:off x="2887117" y="3737369"/>
            <a:ext cx="6603211" cy="2551510"/>
            <a:chOff x="2887866" y="4124753"/>
            <a:chExt cx="6603211" cy="2551510"/>
          </a:xfrm>
        </p:grpSpPr>
        <p:sp>
          <p:nvSpPr>
            <p:cNvPr id="27" name="Rectangle 4">
              <a:extLst>
                <a:ext uri="{FF2B5EF4-FFF2-40B4-BE49-F238E27FC236}">
                  <a16:creationId xmlns:a16="http://schemas.microsoft.com/office/drawing/2014/main" id="{266D9F99-D0B7-420B-A4C6-9C68284A9C2F}"/>
                </a:ext>
              </a:extLst>
            </p:cNvPr>
            <p:cNvSpPr>
              <a:spLocks noChangeArrowheads="1"/>
            </p:cNvSpPr>
            <p:nvPr/>
          </p:nvSpPr>
          <p:spPr bwMode="auto">
            <a:xfrm>
              <a:off x="4930775" y="5683655"/>
              <a:ext cx="2438400" cy="412325"/>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28" name="Rectangle 4">
              <a:extLst>
                <a:ext uri="{FF2B5EF4-FFF2-40B4-BE49-F238E27FC236}">
                  <a16:creationId xmlns:a16="http://schemas.microsoft.com/office/drawing/2014/main" id="{680B433F-642F-4C41-B8F2-D1B794DE55B3}"/>
                </a:ext>
              </a:extLst>
            </p:cNvPr>
            <p:cNvSpPr>
              <a:spLocks noChangeArrowheads="1"/>
            </p:cNvSpPr>
            <p:nvPr/>
          </p:nvSpPr>
          <p:spPr bwMode="auto">
            <a:xfrm>
              <a:off x="5280681" y="5676133"/>
              <a:ext cx="1736077" cy="412325"/>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30" name="Line 10">
              <a:extLst>
                <a:ext uri="{FF2B5EF4-FFF2-40B4-BE49-F238E27FC236}">
                  <a16:creationId xmlns:a16="http://schemas.microsoft.com/office/drawing/2014/main" id="{B538CA2E-0FAB-4398-B719-6DFC68F1FA80}"/>
                </a:ext>
              </a:extLst>
            </p:cNvPr>
            <p:cNvSpPr>
              <a:spLocks noChangeShapeType="1"/>
            </p:cNvSpPr>
            <p:nvPr/>
          </p:nvSpPr>
          <p:spPr bwMode="auto">
            <a:xfrm>
              <a:off x="3130371" y="5903562"/>
              <a:ext cx="1800000"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Times New Roman" panose="02020603050405020304" pitchFamily="18" charset="0"/>
                <a:cs typeface="Times New Roman" panose="02020603050405020304" pitchFamily="18" charset="0"/>
              </a:endParaRPr>
            </a:p>
          </p:txBody>
        </p:sp>
        <p:sp>
          <p:nvSpPr>
            <p:cNvPr id="31" name="Line 11">
              <a:extLst>
                <a:ext uri="{FF2B5EF4-FFF2-40B4-BE49-F238E27FC236}">
                  <a16:creationId xmlns:a16="http://schemas.microsoft.com/office/drawing/2014/main" id="{FC9DB7EF-01E7-4916-99AC-FC93BB292A98}"/>
                </a:ext>
              </a:extLst>
            </p:cNvPr>
            <p:cNvSpPr>
              <a:spLocks noChangeShapeType="1"/>
            </p:cNvSpPr>
            <p:nvPr/>
          </p:nvSpPr>
          <p:spPr bwMode="auto">
            <a:xfrm>
              <a:off x="7375525" y="5903562"/>
              <a:ext cx="1800000" cy="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Times New Roman" panose="02020603050405020304" pitchFamily="18" charset="0"/>
                <a:cs typeface="Times New Roman" panose="02020603050405020304" pitchFamily="18" charset="0"/>
              </a:endParaRPr>
            </a:p>
          </p:txBody>
        </p:sp>
        <p:sp>
          <p:nvSpPr>
            <p:cNvPr id="32" name="Text Box 28">
              <a:extLst>
                <a:ext uri="{FF2B5EF4-FFF2-40B4-BE49-F238E27FC236}">
                  <a16:creationId xmlns:a16="http://schemas.microsoft.com/office/drawing/2014/main" id="{12CD341F-9969-469F-AF17-A0772BF8B033}"/>
                </a:ext>
              </a:extLst>
            </p:cNvPr>
            <p:cNvSpPr txBox="1">
              <a:spLocks noChangeArrowheads="1"/>
            </p:cNvSpPr>
            <p:nvPr/>
          </p:nvSpPr>
          <p:spPr bwMode="auto">
            <a:xfrm>
              <a:off x="5921375" y="4963805"/>
              <a:ext cx="557213" cy="584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1" dirty="0">
                  <a:solidFill>
                    <a:schemeClr val="accent6"/>
                  </a:solidFill>
                  <a:latin typeface="Times New Roman" panose="02020603050405020304" pitchFamily="18" charset="0"/>
                  <a:cs typeface="Times New Roman" panose="02020603050405020304" pitchFamily="18" charset="0"/>
                </a:rPr>
                <a:t>R</a:t>
              </a:r>
              <a:r>
                <a:rPr lang="en-US" altLang="zh-CN" sz="3200" i="1" baseline="-25000" dirty="0">
                  <a:solidFill>
                    <a:schemeClr val="accent6"/>
                  </a:solidFill>
                  <a:latin typeface="Times New Roman" panose="02020603050405020304" pitchFamily="18" charset="0"/>
                  <a:cs typeface="Times New Roman" panose="02020603050405020304" pitchFamily="18" charset="0"/>
                </a:rPr>
                <a:t>x</a:t>
              </a:r>
            </a:p>
          </p:txBody>
        </p:sp>
        <p:sp>
          <p:nvSpPr>
            <p:cNvPr id="33" name="Text Box 29">
              <a:extLst>
                <a:ext uri="{FF2B5EF4-FFF2-40B4-BE49-F238E27FC236}">
                  <a16:creationId xmlns:a16="http://schemas.microsoft.com/office/drawing/2014/main" id="{F39B89DD-46A1-43E6-80CB-A630E4BA95DF}"/>
                </a:ext>
              </a:extLst>
            </p:cNvPr>
            <p:cNvSpPr txBox="1">
              <a:spLocks noChangeArrowheads="1"/>
            </p:cNvSpPr>
            <p:nvPr/>
          </p:nvSpPr>
          <p:spPr bwMode="auto">
            <a:xfrm>
              <a:off x="3856688" y="5211043"/>
              <a:ext cx="481013" cy="632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1" dirty="0">
                  <a:latin typeface="Times New Roman" panose="02020603050405020304" pitchFamily="18" charset="0"/>
                  <a:cs typeface="Times New Roman" panose="02020603050405020304" pitchFamily="18" charset="0"/>
                </a:rPr>
                <a:t>r</a:t>
              </a:r>
              <a:r>
                <a:rPr lang="en-US" altLang="zh-CN" sz="3200" baseline="-25000" dirty="0">
                  <a:latin typeface="Times New Roman" panose="02020603050405020304" pitchFamily="18" charset="0"/>
                  <a:cs typeface="Times New Roman" panose="02020603050405020304" pitchFamily="18" charset="0"/>
                </a:rPr>
                <a:t>1</a:t>
              </a:r>
              <a:endParaRPr lang="en-US" altLang="zh-CN" sz="3200" dirty="0">
                <a:latin typeface="Times New Roman" panose="02020603050405020304" pitchFamily="18" charset="0"/>
                <a:cs typeface="Times New Roman" panose="02020603050405020304" pitchFamily="18" charset="0"/>
              </a:endParaRPr>
            </a:p>
          </p:txBody>
        </p:sp>
        <p:sp>
          <p:nvSpPr>
            <p:cNvPr id="34" name="Text Box 30">
              <a:extLst>
                <a:ext uri="{FF2B5EF4-FFF2-40B4-BE49-F238E27FC236}">
                  <a16:creationId xmlns:a16="http://schemas.microsoft.com/office/drawing/2014/main" id="{65ABC22D-91D1-4A32-96B8-55B8BE0F5252}"/>
                </a:ext>
              </a:extLst>
            </p:cNvPr>
            <p:cNvSpPr txBox="1">
              <a:spLocks noChangeArrowheads="1"/>
            </p:cNvSpPr>
            <p:nvPr/>
          </p:nvSpPr>
          <p:spPr bwMode="auto">
            <a:xfrm>
              <a:off x="8079856" y="5230098"/>
              <a:ext cx="481013" cy="632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1" dirty="0">
                  <a:latin typeface="Times New Roman" panose="02020603050405020304" pitchFamily="18" charset="0"/>
                  <a:cs typeface="Times New Roman" panose="02020603050405020304" pitchFamily="18" charset="0"/>
                </a:rPr>
                <a:t>r</a:t>
              </a:r>
              <a:r>
                <a:rPr lang="en-US" altLang="zh-CN" sz="3200" baseline="-25000" dirty="0">
                  <a:latin typeface="Times New Roman" panose="02020603050405020304" pitchFamily="18" charset="0"/>
                  <a:cs typeface="Times New Roman" panose="02020603050405020304" pitchFamily="18" charset="0"/>
                </a:rPr>
                <a:t>2</a:t>
              </a:r>
              <a:endParaRPr lang="en-US" altLang="zh-CN" sz="3200" dirty="0">
                <a:latin typeface="Times New Roman" panose="02020603050405020304" pitchFamily="18" charset="0"/>
                <a:cs typeface="Times New Roman" panose="02020603050405020304" pitchFamily="18" charset="0"/>
              </a:endParaRPr>
            </a:p>
          </p:txBody>
        </p:sp>
        <p:sp>
          <p:nvSpPr>
            <p:cNvPr id="35" name="Rectangle 35">
              <a:extLst>
                <a:ext uri="{FF2B5EF4-FFF2-40B4-BE49-F238E27FC236}">
                  <a16:creationId xmlns:a16="http://schemas.microsoft.com/office/drawing/2014/main" id="{EE3D116A-E51E-484D-9E0E-6982D195C2A0}"/>
                </a:ext>
              </a:extLst>
            </p:cNvPr>
            <p:cNvSpPr>
              <a:spLocks noChangeArrowheads="1"/>
            </p:cNvSpPr>
            <p:nvPr/>
          </p:nvSpPr>
          <p:spPr bwMode="auto">
            <a:xfrm>
              <a:off x="3873226" y="5821097"/>
              <a:ext cx="381000" cy="164930"/>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36" name="Rectangle 36">
              <a:extLst>
                <a:ext uri="{FF2B5EF4-FFF2-40B4-BE49-F238E27FC236}">
                  <a16:creationId xmlns:a16="http://schemas.microsoft.com/office/drawing/2014/main" id="{74E0EB0D-7D28-4B94-9F11-A90E184D98BF}"/>
                </a:ext>
              </a:extLst>
            </p:cNvPr>
            <p:cNvSpPr>
              <a:spLocks noChangeArrowheads="1"/>
            </p:cNvSpPr>
            <p:nvPr/>
          </p:nvSpPr>
          <p:spPr bwMode="auto">
            <a:xfrm>
              <a:off x="8091760" y="5821097"/>
              <a:ext cx="381000" cy="164930"/>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37" name="Text Box 29">
              <a:extLst>
                <a:ext uri="{FF2B5EF4-FFF2-40B4-BE49-F238E27FC236}">
                  <a16:creationId xmlns:a16="http://schemas.microsoft.com/office/drawing/2014/main" id="{C464709E-D2EA-4986-BC32-99C849F1D2CA}"/>
                </a:ext>
              </a:extLst>
            </p:cNvPr>
            <p:cNvSpPr txBox="1">
              <a:spLocks noChangeArrowheads="1"/>
            </p:cNvSpPr>
            <p:nvPr/>
          </p:nvSpPr>
          <p:spPr bwMode="auto">
            <a:xfrm>
              <a:off x="2887866" y="5353147"/>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9pPr>
            </a:lstStyle>
            <a:p>
              <a:r>
                <a:rPr lang="en-US" altLang="zh-CN" sz="2800" dirty="0"/>
                <a:t>C</a:t>
              </a:r>
              <a:r>
                <a:rPr lang="en-US" altLang="zh-CN" sz="2800" baseline="-25000" dirty="0"/>
                <a:t>1</a:t>
              </a:r>
              <a:endParaRPr lang="en-US" altLang="zh-CN" sz="2800" dirty="0"/>
            </a:p>
          </p:txBody>
        </p:sp>
        <p:sp>
          <p:nvSpPr>
            <p:cNvPr id="38" name="Text Box 29">
              <a:extLst>
                <a:ext uri="{FF2B5EF4-FFF2-40B4-BE49-F238E27FC236}">
                  <a16:creationId xmlns:a16="http://schemas.microsoft.com/office/drawing/2014/main" id="{3083EDC7-7EE8-4761-9001-00BA6367B410}"/>
                </a:ext>
              </a:extLst>
            </p:cNvPr>
            <p:cNvSpPr txBox="1">
              <a:spLocks noChangeArrowheads="1"/>
            </p:cNvSpPr>
            <p:nvPr/>
          </p:nvSpPr>
          <p:spPr bwMode="auto">
            <a:xfrm>
              <a:off x="8947338" y="5372557"/>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9pPr>
            </a:lstStyle>
            <a:p>
              <a:r>
                <a:rPr lang="en-US" altLang="zh-CN" sz="2800" dirty="0"/>
                <a:t>C</a:t>
              </a:r>
              <a:r>
                <a:rPr lang="en-US" altLang="zh-CN" sz="2800" baseline="-25000" dirty="0"/>
                <a:t>2</a:t>
              </a:r>
              <a:endParaRPr lang="en-US" altLang="zh-CN" sz="2800" dirty="0"/>
            </a:p>
          </p:txBody>
        </p:sp>
        <p:sp>
          <p:nvSpPr>
            <p:cNvPr id="39" name="Text Box 29">
              <a:extLst>
                <a:ext uri="{FF2B5EF4-FFF2-40B4-BE49-F238E27FC236}">
                  <a16:creationId xmlns:a16="http://schemas.microsoft.com/office/drawing/2014/main" id="{CD2C0A32-49DB-4123-897A-C03180929E9E}"/>
                </a:ext>
              </a:extLst>
            </p:cNvPr>
            <p:cNvSpPr txBox="1">
              <a:spLocks noChangeArrowheads="1"/>
            </p:cNvSpPr>
            <p:nvPr/>
          </p:nvSpPr>
          <p:spPr bwMode="auto">
            <a:xfrm>
              <a:off x="4841194" y="412475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9pPr>
            </a:lstStyle>
            <a:p>
              <a:r>
                <a:rPr lang="en-US" altLang="zh-CN" sz="2800" dirty="0"/>
                <a:t>P</a:t>
              </a:r>
              <a:r>
                <a:rPr lang="en-US" altLang="zh-CN" sz="2800" baseline="-25000" dirty="0"/>
                <a:t>1</a:t>
              </a:r>
              <a:endParaRPr lang="en-US" altLang="zh-CN" sz="2800" dirty="0"/>
            </a:p>
          </p:txBody>
        </p:sp>
        <p:sp>
          <p:nvSpPr>
            <p:cNvPr id="40" name="Text Box 29">
              <a:extLst>
                <a:ext uri="{FF2B5EF4-FFF2-40B4-BE49-F238E27FC236}">
                  <a16:creationId xmlns:a16="http://schemas.microsoft.com/office/drawing/2014/main" id="{C8DC85EA-15A9-485D-8CF8-F04FF837F1D3}"/>
                </a:ext>
              </a:extLst>
            </p:cNvPr>
            <p:cNvSpPr txBox="1">
              <a:spLocks noChangeArrowheads="1"/>
            </p:cNvSpPr>
            <p:nvPr/>
          </p:nvSpPr>
          <p:spPr bwMode="auto">
            <a:xfrm>
              <a:off x="7046215" y="4124753"/>
              <a:ext cx="5052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9pPr>
            </a:lstStyle>
            <a:p>
              <a:r>
                <a:rPr lang="en-US" altLang="zh-CN" sz="2800" dirty="0"/>
                <a:t>P</a:t>
              </a:r>
              <a:r>
                <a:rPr lang="en-US" altLang="zh-CN" sz="2800" baseline="-25000" dirty="0"/>
                <a:t>2</a:t>
              </a:r>
              <a:endParaRPr lang="en-US" altLang="zh-CN" sz="2800" dirty="0"/>
            </a:p>
          </p:txBody>
        </p:sp>
        <p:sp>
          <p:nvSpPr>
            <p:cNvPr id="41" name="Line 10">
              <a:extLst>
                <a:ext uri="{FF2B5EF4-FFF2-40B4-BE49-F238E27FC236}">
                  <a16:creationId xmlns:a16="http://schemas.microsoft.com/office/drawing/2014/main" id="{F256D8B6-94B7-4611-81A3-5E0890295B08}"/>
                </a:ext>
              </a:extLst>
            </p:cNvPr>
            <p:cNvSpPr>
              <a:spLocks noChangeShapeType="1"/>
            </p:cNvSpPr>
            <p:nvPr/>
          </p:nvSpPr>
          <p:spPr bwMode="auto">
            <a:xfrm>
              <a:off x="7023109" y="4640274"/>
              <a:ext cx="0" cy="126000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Times New Roman" panose="02020603050405020304" pitchFamily="18" charset="0"/>
                <a:cs typeface="Times New Roman" panose="02020603050405020304" pitchFamily="18" charset="0"/>
              </a:endParaRPr>
            </a:p>
          </p:txBody>
        </p:sp>
        <p:sp>
          <p:nvSpPr>
            <p:cNvPr id="42" name="Rectangle 36">
              <a:extLst>
                <a:ext uri="{FF2B5EF4-FFF2-40B4-BE49-F238E27FC236}">
                  <a16:creationId xmlns:a16="http://schemas.microsoft.com/office/drawing/2014/main" id="{C4E7FF73-258D-49EF-B31F-D8B3A4C7F912}"/>
                </a:ext>
              </a:extLst>
            </p:cNvPr>
            <p:cNvSpPr>
              <a:spLocks noChangeArrowheads="1"/>
            </p:cNvSpPr>
            <p:nvPr/>
          </p:nvSpPr>
          <p:spPr bwMode="auto">
            <a:xfrm rot="5400000">
              <a:off x="6832980" y="5140642"/>
              <a:ext cx="381000" cy="164930"/>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43" name="Text Box 29">
              <a:extLst>
                <a:ext uri="{FF2B5EF4-FFF2-40B4-BE49-F238E27FC236}">
                  <a16:creationId xmlns:a16="http://schemas.microsoft.com/office/drawing/2014/main" id="{B7AABE73-3E71-4F89-BDB0-EB7D9BE931E2}"/>
                </a:ext>
              </a:extLst>
            </p:cNvPr>
            <p:cNvSpPr txBox="1">
              <a:spLocks noChangeArrowheads="1"/>
            </p:cNvSpPr>
            <p:nvPr/>
          </p:nvSpPr>
          <p:spPr bwMode="auto">
            <a:xfrm>
              <a:off x="4710027" y="4817650"/>
              <a:ext cx="4812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1" dirty="0">
                  <a:latin typeface="Times New Roman" panose="02020603050405020304" pitchFamily="18" charset="0"/>
                  <a:cs typeface="Times New Roman" panose="02020603050405020304" pitchFamily="18" charset="0"/>
                </a:rPr>
                <a:t>r</a:t>
              </a:r>
              <a:r>
                <a:rPr lang="en-US" altLang="zh-CN" sz="3200" baseline="-25000" dirty="0">
                  <a:latin typeface="Times New Roman" panose="02020603050405020304" pitchFamily="18" charset="0"/>
                  <a:cs typeface="Times New Roman" panose="02020603050405020304" pitchFamily="18" charset="0"/>
                </a:rPr>
                <a:t>3</a:t>
              </a:r>
              <a:endParaRPr lang="en-US" altLang="zh-CN" sz="3200" dirty="0">
                <a:latin typeface="Times New Roman" panose="02020603050405020304" pitchFamily="18" charset="0"/>
                <a:cs typeface="Times New Roman" panose="02020603050405020304" pitchFamily="18" charset="0"/>
              </a:endParaRPr>
            </a:p>
          </p:txBody>
        </p:sp>
        <p:sp>
          <p:nvSpPr>
            <p:cNvPr id="44" name="Text Box 29">
              <a:extLst>
                <a:ext uri="{FF2B5EF4-FFF2-40B4-BE49-F238E27FC236}">
                  <a16:creationId xmlns:a16="http://schemas.microsoft.com/office/drawing/2014/main" id="{0050E4E7-E274-40F0-AC69-EC5B3942C047}"/>
                </a:ext>
              </a:extLst>
            </p:cNvPr>
            <p:cNvSpPr txBox="1">
              <a:spLocks noChangeArrowheads="1"/>
            </p:cNvSpPr>
            <p:nvPr/>
          </p:nvSpPr>
          <p:spPr bwMode="auto">
            <a:xfrm>
              <a:off x="7120524" y="4817702"/>
              <a:ext cx="4812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i="1" dirty="0">
                  <a:latin typeface="Times New Roman" panose="02020603050405020304" pitchFamily="18" charset="0"/>
                  <a:cs typeface="Times New Roman" panose="02020603050405020304" pitchFamily="18" charset="0"/>
                </a:rPr>
                <a:t>r</a:t>
              </a:r>
              <a:r>
                <a:rPr lang="en-US" altLang="zh-CN" sz="3200" baseline="-25000" dirty="0">
                  <a:latin typeface="Times New Roman" panose="02020603050405020304" pitchFamily="18" charset="0"/>
                  <a:cs typeface="Times New Roman" panose="02020603050405020304" pitchFamily="18" charset="0"/>
                </a:rPr>
                <a:t>4</a:t>
              </a:r>
              <a:endParaRPr lang="en-US" altLang="zh-CN" sz="3200" dirty="0">
                <a:latin typeface="Times New Roman" panose="02020603050405020304" pitchFamily="18" charset="0"/>
                <a:cs typeface="Times New Roman" panose="02020603050405020304" pitchFamily="18" charset="0"/>
              </a:endParaRPr>
            </a:p>
          </p:txBody>
        </p:sp>
        <p:sp>
          <p:nvSpPr>
            <p:cNvPr id="45" name="Line 10">
              <a:extLst>
                <a:ext uri="{FF2B5EF4-FFF2-40B4-BE49-F238E27FC236}">
                  <a16:creationId xmlns:a16="http://schemas.microsoft.com/office/drawing/2014/main" id="{94E23D64-B80A-4EA6-9EE4-2BE14DEB432B}"/>
                </a:ext>
              </a:extLst>
            </p:cNvPr>
            <p:cNvSpPr>
              <a:spLocks noChangeShapeType="1"/>
            </p:cNvSpPr>
            <p:nvPr/>
          </p:nvSpPr>
          <p:spPr bwMode="auto">
            <a:xfrm>
              <a:off x="5280681" y="4638288"/>
              <a:ext cx="0" cy="1260000"/>
            </a:xfrm>
            <a:prstGeom prst="line">
              <a:avLst/>
            </a:prstGeom>
            <a:noFill/>
            <a:ln w="28575">
              <a:solidFill>
                <a:schemeClr val="tx1"/>
              </a:solidFill>
              <a:miter lim="800000"/>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latin typeface="Times New Roman" panose="02020603050405020304" pitchFamily="18" charset="0"/>
                <a:cs typeface="Times New Roman" panose="02020603050405020304" pitchFamily="18" charset="0"/>
              </a:endParaRPr>
            </a:p>
          </p:txBody>
        </p:sp>
        <p:sp>
          <p:nvSpPr>
            <p:cNvPr id="46" name="Rectangle 36">
              <a:extLst>
                <a:ext uri="{FF2B5EF4-FFF2-40B4-BE49-F238E27FC236}">
                  <a16:creationId xmlns:a16="http://schemas.microsoft.com/office/drawing/2014/main" id="{579CD395-07C0-4459-8C53-B267D226900A}"/>
                </a:ext>
              </a:extLst>
            </p:cNvPr>
            <p:cNvSpPr>
              <a:spLocks noChangeArrowheads="1"/>
            </p:cNvSpPr>
            <p:nvPr/>
          </p:nvSpPr>
          <p:spPr bwMode="auto">
            <a:xfrm rot="5400000">
              <a:off x="5103376" y="5145473"/>
              <a:ext cx="381000" cy="164930"/>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47" name="Text Box 29">
              <a:extLst>
                <a:ext uri="{FF2B5EF4-FFF2-40B4-BE49-F238E27FC236}">
                  <a16:creationId xmlns:a16="http://schemas.microsoft.com/office/drawing/2014/main" id="{805F44F7-61C8-4A30-BB28-462B37CE9348}"/>
                </a:ext>
              </a:extLst>
            </p:cNvPr>
            <p:cNvSpPr txBox="1">
              <a:spLocks noChangeArrowheads="1"/>
            </p:cNvSpPr>
            <p:nvPr/>
          </p:nvSpPr>
          <p:spPr bwMode="auto">
            <a:xfrm>
              <a:off x="4541880" y="6136702"/>
              <a:ext cx="6639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9pPr>
            </a:lstStyle>
            <a:p>
              <a:r>
                <a:rPr lang="en-US" altLang="zh-CN" sz="2800" dirty="0"/>
                <a:t>C</a:t>
              </a:r>
              <a:r>
                <a:rPr lang="en-US" altLang="zh-CN" sz="2800" baseline="-25000" dirty="0"/>
                <a:t>1</a:t>
              </a:r>
              <a:r>
                <a:rPr lang="en-US" altLang="zh-CN" sz="2800" dirty="0"/>
                <a:t>’</a:t>
              </a:r>
            </a:p>
          </p:txBody>
        </p:sp>
        <p:sp>
          <p:nvSpPr>
            <p:cNvPr id="48" name="Text Box 29">
              <a:extLst>
                <a:ext uri="{FF2B5EF4-FFF2-40B4-BE49-F238E27FC236}">
                  <a16:creationId xmlns:a16="http://schemas.microsoft.com/office/drawing/2014/main" id="{B92393EE-D45A-4096-8935-EC9A3FF8A93A}"/>
                </a:ext>
              </a:extLst>
            </p:cNvPr>
            <p:cNvSpPr txBox="1">
              <a:spLocks noChangeArrowheads="1"/>
            </p:cNvSpPr>
            <p:nvPr/>
          </p:nvSpPr>
          <p:spPr bwMode="auto">
            <a:xfrm>
              <a:off x="5191249" y="6055221"/>
              <a:ext cx="6254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9pPr>
            </a:lstStyle>
            <a:p>
              <a:r>
                <a:rPr lang="en-US" altLang="zh-CN" sz="2800" dirty="0"/>
                <a:t>P</a:t>
              </a:r>
              <a:r>
                <a:rPr lang="en-US" altLang="zh-CN" sz="2800" baseline="-25000" dirty="0"/>
                <a:t>1</a:t>
              </a:r>
              <a:r>
                <a:rPr lang="en-US" altLang="zh-CN" sz="2800" dirty="0"/>
                <a:t>’</a:t>
              </a:r>
            </a:p>
          </p:txBody>
        </p:sp>
        <p:sp>
          <p:nvSpPr>
            <p:cNvPr id="49" name="Text Box 29">
              <a:extLst>
                <a:ext uri="{FF2B5EF4-FFF2-40B4-BE49-F238E27FC236}">
                  <a16:creationId xmlns:a16="http://schemas.microsoft.com/office/drawing/2014/main" id="{4DCB1689-102E-4FA8-8D67-41C110E5B60A}"/>
                </a:ext>
              </a:extLst>
            </p:cNvPr>
            <p:cNvSpPr txBox="1">
              <a:spLocks noChangeArrowheads="1"/>
            </p:cNvSpPr>
            <p:nvPr/>
          </p:nvSpPr>
          <p:spPr bwMode="auto">
            <a:xfrm>
              <a:off x="6556054" y="6048990"/>
              <a:ext cx="6254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9pPr>
            </a:lstStyle>
            <a:p>
              <a:r>
                <a:rPr lang="en-US" altLang="zh-CN" sz="2800" dirty="0"/>
                <a:t>P</a:t>
              </a:r>
              <a:r>
                <a:rPr lang="en-US" altLang="zh-CN" sz="2800" baseline="-25000" dirty="0"/>
                <a:t>2</a:t>
              </a:r>
              <a:r>
                <a:rPr lang="en-US" altLang="zh-CN" sz="2800" dirty="0"/>
                <a:t>’</a:t>
              </a:r>
            </a:p>
          </p:txBody>
        </p:sp>
        <p:sp>
          <p:nvSpPr>
            <p:cNvPr id="50" name="Text Box 29">
              <a:extLst>
                <a:ext uri="{FF2B5EF4-FFF2-40B4-BE49-F238E27FC236}">
                  <a16:creationId xmlns:a16="http://schemas.microsoft.com/office/drawing/2014/main" id="{78B9593B-740C-493E-8BE1-51D09F7BE3AD}"/>
                </a:ext>
              </a:extLst>
            </p:cNvPr>
            <p:cNvSpPr txBox="1">
              <a:spLocks noChangeArrowheads="1"/>
            </p:cNvSpPr>
            <p:nvPr/>
          </p:nvSpPr>
          <p:spPr bwMode="auto">
            <a:xfrm>
              <a:off x="7131230" y="6153043"/>
              <a:ext cx="6639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kern="1200">
                  <a:solidFill>
                    <a:schemeClr val="tx1"/>
                  </a:solidFill>
                  <a:latin typeface="Times New Roman" panose="02020603050405020304" pitchFamily="18" charset="0"/>
                  <a:ea typeface="宋体" panose="02010600030101010101" pitchFamily="2" charset="-122"/>
                  <a:cs typeface="+mn-cs"/>
                </a:defRPr>
              </a:lvl9pPr>
            </a:lstStyle>
            <a:p>
              <a:r>
                <a:rPr lang="en-US" altLang="zh-CN" sz="2800" dirty="0"/>
                <a:t>C</a:t>
              </a:r>
              <a:r>
                <a:rPr lang="en-US" altLang="zh-CN" sz="2800" baseline="-25000" dirty="0"/>
                <a:t>2</a:t>
              </a:r>
              <a:r>
                <a:rPr lang="en-US" altLang="zh-CN" sz="2800" dirty="0"/>
                <a:t>’</a:t>
              </a:r>
            </a:p>
          </p:txBody>
        </p:sp>
      </p:grpSp>
    </p:spTree>
    <p:extLst>
      <p:ext uri="{BB962C8B-B14F-4D97-AF65-F5344CB8AC3E}">
        <p14:creationId xmlns:p14="http://schemas.microsoft.com/office/powerpoint/2010/main" val="2649660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453269"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5" name="灯片编号占位符 4"/>
          <p:cNvSpPr>
            <a:spLocks noGrp="1"/>
          </p:cNvSpPr>
          <p:nvPr>
            <p:ph type="sldNum" sz="quarter" idx="12"/>
          </p:nvPr>
        </p:nvSpPr>
        <p:spPr/>
        <p:txBody>
          <a:bodyPr/>
          <a:lstStyle/>
          <a:p>
            <a:fld id="{888F8D02-9041-4C59-BC62-13DE0E5C6713}" type="slidenum">
              <a:rPr lang="zh-CN" altLang="en-US" sz="1400" b="1" smtClean="0"/>
              <a:t>11</a:t>
            </a:fld>
            <a:endParaRPr lang="zh-CN" altLang="en-US" sz="1400" b="1" dirty="0"/>
          </a:p>
        </p:txBody>
      </p:sp>
      <p:sp>
        <p:nvSpPr>
          <p:cNvPr id="83" name="矩形 82"/>
          <p:cNvSpPr/>
          <p:nvPr/>
        </p:nvSpPr>
        <p:spPr>
          <a:xfrm>
            <a:off x="781476" y="949129"/>
            <a:ext cx="2646878" cy="584775"/>
          </a:xfrm>
          <a:prstGeom prst="rect">
            <a:avLst/>
          </a:prstGeom>
        </p:spPr>
        <p:txBody>
          <a:bodyPr wrap="none">
            <a:spAutoFit/>
          </a:bodyPr>
          <a:lstStyle/>
          <a:p>
            <a:r>
              <a:rPr lang="zh-CN" altLang="en-US" sz="3200" dirty="0">
                <a:latin typeface="楷体" panose="02010609060101010101" pitchFamily="49" charset="-122"/>
                <a:ea typeface="楷体" panose="02010609060101010101" pitchFamily="49" charset="-122"/>
              </a:rPr>
              <a:t>双臂电桥原理</a:t>
            </a:r>
          </a:p>
        </p:txBody>
      </p:sp>
      <p:grpSp>
        <p:nvGrpSpPr>
          <p:cNvPr id="3" name="组合 2"/>
          <p:cNvGrpSpPr/>
          <p:nvPr/>
        </p:nvGrpSpPr>
        <p:grpSpPr>
          <a:xfrm>
            <a:off x="478623" y="1930730"/>
            <a:ext cx="6204476" cy="3938622"/>
            <a:chOff x="369469" y="2056854"/>
            <a:chExt cx="6204476" cy="3938622"/>
          </a:xfrm>
        </p:grpSpPr>
        <p:grpSp>
          <p:nvGrpSpPr>
            <p:cNvPr id="84" name="组合 83">
              <a:extLst>
                <a:ext uri="{FF2B5EF4-FFF2-40B4-BE49-F238E27FC236}">
                  <a16:creationId xmlns:a16="http://schemas.microsoft.com/office/drawing/2014/main" id="{68A04B80-D088-4F17-9E93-1E5252E41794}"/>
                </a:ext>
              </a:extLst>
            </p:cNvPr>
            <p:cNvGrpSpPr/>
            <p:nvPr/>
          </p:nvGrpSpPr>
          <p:grpSpPr>
            <a:xfrm>
              <a:off x="369469" y="2056854"/>
              <a:ext cx="6204476" cy="3938622"/>
              <a:chOff x="542218" y="2308364"/>
              <a:chExt cx="5884508" cy="3735505"/>
            </a:xfrm>
          </p:grpSpPr>
          <p:sp>
            <p:nvSpPr>
              <p:cNvPr id="85" name="AutoShape 4">
                <a:extLst>
                  <a:ext uri="{FF2B5EF4-FFF2-40B4-BE49-F238E27FC236}">
                    <a16:creationId xmlns:a16="http://schemas.microsoft.com/office/drawing/2014/main" id="{ABBBE458-2E0C-460B-97B0-4E469EA2E964}"/>
                  </a:ext>
                </a:extLst>
              </p:cNvPr>
              <p:cNvSpPr>
                <a:spLocks noChangeArrowheads="1"/>
              </p:cNvSpPr>
              <p:nvPr/>
            </p:nvSpPr>
            <p:spPr bwMode="auto">
              <a:xfrm>
                <a:off x="2566880" y="3991231"/>
                <a:ext cx="1828800" cy="139223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AutoShape 5">
                <a:extLst>
                  <a:ext uri="{FF2B5EF4-FFF2-40B4-BE49-F238E27FC236}">
                    <a16:creationId xmlns:a16="http://schemas.microsoft.com/office/drawing/2014/main" id="{80A068C1-F651-4E6E-9955-F54DA8F547D5}"/>
                  </a:ext>
                </a:extLst>
              </p:cNvPr>
              <p:cNvSpPr>
                <a:spLocks noChangeArrowheads="1"/>
              </p:cNvSpPr>
              <p:nvPr/>
            </p:nvSpPr>
            <p:spPr bwMode="auto">
              <a:xfrm>
                <a:off x="1692168" y="2635506"/>
                <a:ext cx="3579813" cy="2749550"/>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6">
                <a:extLst>
                  <a:ext uri="{FF2B5EF4-FFF2-40B4-BE49-F238E27FC236}">
                    <a16:creationId xmlns:a16="http://schemas.microsoft.com/office/drawing/2014/main" id="{ECF54E07-EF17-4DE5-9A46-ABB35EB33748}"/>
                  </a:ext>
                </a:extLst>
              </p:cNvPr>
              <p:cNvSpPr>
                <a:spLocks noChangeShapeType="1"/>
              </p:cNvSpPr>
              <p:nvPr/>
            </p:nvSpPr>
            <p:spPr bwMode="auto">
              <a:xfrm>
                <a:off x="3481280" y="2635506"/>
                <a:ext cx="0" cy="135572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8" name="Oval 7">
                <a:extLst>
                  <a:ext uri="{FF2B5EF4-FFF2-40B4-BE49-F238E27FC236}">
                    <a16:creationId xmlns:a16="http://schemas.microsoft.com/office/drawing/2014/main" id="{68B2315F-40FD-43A3-9B5F-904DDE439472}"/>
                  </a:ext>
                </a:extLst>
              </p:cNvPr>
              <p:cNvSpPr>
                <a:spLocks noChangeArrowheads="1"/>
              </p:cNvSpPr>
              <p:nvPr/>
            </p:nvSpPr>
            <p:spPr bwMode="auto">
              <a:xfrm>
                <a:off x="3335230" y="3253044"/>
                <a:ext cx="284163" cy="284163"/>
              </a:xfrm>
              <a:prstGeom prst="ellipse">
                <a:avLst/>
              </a:prstGeom>
              <a:solidFill>
                <a:schemeClr val="bg1"/>
              </a:solidFill>
              <a:ln w="9525">
                <a:solidFill>
                  <a:schemeClr val="tx1"/>
                </a:solidFill>
                <a:miter lim="800000"/>
                <a:headEnd/>
                <a:tailEnd/>
              </a:ln>
              <a:effectLst/>
            </p:spPr>
            <p:txBody>
              <a:bodyPr wrap="none" anchor="ctr"/>
              <a:lstStyle/>
              <a:p>
                <a:endParaRPr lang="zh-CN" altLang="en-US"/>
              </a:p>
            </p:txBody>
          </p:sp>
          <p:sp>
            <p:nvSpPr>
              <p:cNvPr id="89" name="Text Box 8">
                <a:extLst>
                  <a:ext uri="{FF2B5EF4-FFF2-40B4-BE49-F238E27FC236}">
                    <a16:creationId xmlns:a16="http://schemas.microsoft.com/office/drawing/2014/main" id="{D69727C7-AF9B-459F-BCDF-732FDFD8C488}"/>
                  </a:ext>
                </a:extLst>
              </p:cNvPr>
              <p:cNvSpPr txBox="1">
                <a:spLocks noChangeArrowheads="1"/>
              </p:cNvSpPr>
              <p:nvPr/>
            </p:nvSpPr>
            <p:spPr bwMode="auto">
              <a:xfrm>
                <a:off x="3301258" y="3195894"/>
                <a:ext cx="28575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Times New Roman" panose="02020603050405020304" pitchFamily="18" charset="0"/>
                    <a:cs typeface="Times New Roman" panose="02020603050405020304" pitchFamily="18" charset="0"/>
                  </a:rPr>
                  <a:t>G</a:t>
                </a:r>
              </a:p>
            </p:txBody>
          </p:sp>
          <p:sp>
            <p:nvSpPr>
              <p:cNvPr id="90" name="Rectangle 10">
                <a:extLst>
                  <a:ext uri="{FF2B5EF4-FFF2-40B4-BE49-F238E27FC236}">
                    <a16:creationId xmlns:a16="http://schemas.microsoft.com/office/drawing/2014/main" id="{1CAF4C84-DD8A-4D2B-97E3-A467872E5CB3}"/>
                  </a:ext>
                </a:extLst>
              </p:cNvPr>
              <p:cNvSpPr>
                <a:spLocks noChangeArrowheads="1"/>
              </p:cNvSpPr>
              <p:nvPr/>
            </p:nvSpPr>
            <p:spPr bwMode="auto">
              <a:xfrm rot="19492583">
                <a:off x="3941655" y="3291144"/>
                <a:ext cx="93663" cy="2444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zh-CN" altLang="en-US"/>
              </a:p>
            </p:txBody>
          </p:sp>
          <p:sp>
            <p:nvSpPr>
              <p:cNvPr id="91" name="Rectangle 12">
                <a:extLst>
                  <a:ext uri="{FF2B5EF4-FFF2-40B4-BE49-F238E27FC236}">
                    <a16:creationId xmlns:a16="http://schemas.microsoft.com/office/drawing/2014/main" id="{122E29AB-61D9-42C5-AD19-D07602AAB207}"/>
                  </a:ext>
                </a:extLst>
              </p:cNvPr>
              <p:cNvSpPr>
                <a:spLocks noChangeArrowheads="1"/>
              </p:cNvSpPr>
              <p:nvPr/>
            </p:nvSpPr>
            <p:spPr bwMode="auto">
              <a:xfrm rot="1988136">
                <a:off x="2928830" y="3284794"/>
                <a:ext cx="93663" cy="2444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zh-CN" altLang="en-US"/>
              </a:p>
            </p:txBody>
          </p:sp>
          <p:sp>
            <p:nvSpPr>
              <p:cNvPr id="92" name="Rectangle 13">
                <a:extLst>
                  <a:ext uri="{FF2B5EF4-FFF2-40B4-BE49-F238E27FC236}">
                    <a16:creationId xmlns:a16="http://schemas.microsoft.com/office/drawing/2014/main" id="{5506E5D2-932B-4292-BBAB-167918F5720A}"/>
                  </a:ext>
                </a:extLst>
              </p:cNvPr>
              <p:cNvSpPr>
                <a:spLocks noChangeArrowheads="1"/>
              </p:cNvSpPr>
              <p:nvPr/>
            </p:nvSpPr>
            <p:spPr bwMode="auto">
              <a:xfrm rot="1988136">
                <a:off x="3230455" y="4173794"/>
                <a:ext cx="93663" cy="244475"/>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zh-CN" altLang="en-US"/>
              </a:p>
            </p:txBody>
          </p:sp>
          <p:sp>
            <p:nvSpPr>
              <p:cNvPr id="93" name="Rectangle 20">
                <a:extLst>
                  <a:ext uri="{FF2B5EF4-FFF2-40B4-BE49-F238E27FC236}">
                    <a16:creationId xmlns:a16="http://schemas.microsoft.com/office/drawing/2014/main" id="{53CD9FBA-1B24-4BF4-B2D7-0BAB27A92507}"/>
                  </a:ext>
                </a:extLst>
              </p:cNvPr>
              <p:cNvSpPr>
                <a:spLocks noChangeArrowheads="1"/>
              </p:cNvSpPr>
              <p:nvPr/>
            </p:nvSpPr>
            <p:spPr bwMode="auto">
              <a:xfrm rot="19533070">
                <a:off x="3636855" y="4170619"/>
                <a:ext cx="93663" cy="244475"/>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zh-CN" altLang="en-US"/>
              </a:p>
            </p:txBody>
          </p:sp>
          <p:sp>
            <p:nvSpPr>
              <p:cNvPr id="94" name="Line 25">
                <a:extLst>
                  <a:ext uri="{FF2B5EF4-FFF2-40B4-BE49-F238E27FC236}">
                    <a16:creationId xmlns:a16="http://schemas.microsoft.com/office/drawing/2014/main" id="{6B5B9731-E564-4E13-AF90-F74057AE4CEE}"/>
                  </a:ext>
                </a:extLst>
              </p:cNvPr>
              <p:cNvSpPr>
                <a:spLocks noChangeShapeType="1"/>
              </p:cNvSpPr>
              <p:nvPr/>
            </p:nvSpPr>
            <p:spPr bwMode="auto">
              <a:xfrm>
                <a:off x="2609743" y="5918456"/>
                <a:ext cx="19621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 name="Rectangle 28">
                <a:extLst>
                  <a:ext uri="{FF2B5EF4-FFF2-40B4-BE49-F238E27FC236}">
                    <a16:creationId xmlns:a16="http://schemas.microsoft.com/office/drawing/2014/main" id="{71133F23-21D3-4B55-86D7-558C43EF020E}"/>
                  </a:ext>
                </a:extLst>
              </p:cNvPr>
              <p:cNvSpPr>
                <a:spLocks noChangeArrowheads="1"/>
              </p:cNvSpPr>
              <p:nvPr/>
            </p:nvSpPr>
            <p:spPr bwMode="auto">
              <a:xfrm>
                <a:off x="1646130" y="5345369"/>
                <a:ext cx="1027113" cy="80963"/>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a:p>
            </p:txBody>
          </p:sp>
          <p:sp>
            <p:nvSpPr>
              <p:cNvPr id="96" name="Rectangle 29">
                <a:extLst>
                  <a:ext uri="{FF2B5EF4-FFF2-40B4-BE49-F238E27FC236}">
                    <a16:creationId xmlns:a16="http://schemas.microsoft.com/office/drawing/2014/main" id="{FD0C4C25-0E79-4AED-AE74-D3AD312FD528}"/>
                  </a:ext>
                </a:extLst>
              </p:cNvPr>
              <p:cNvSpPr>
                <a:spLocks noChangeArrowheads="1"/>
              </p:cNvSpPr>
              <p:nvPr/>
            </p:nvSpPr>
            <p:spPr bwMode="auto">
              <a:xfrm>
                <a:off x="4289318" y="5342194"/>
                <a:ext cx="1027113" cy="80963"/>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zh-CN" altLang="en-US"/>
              </a:p>
            </p:txBody>
          </p:sp>
          <p:sp>
            <p:nvSpPr>
              <p:cNvPr id="97" name="Oval 30">
                <a:extLst>
                  <a:ext uri="{FF2B5EF4-FFF2-40B4-BE49-F238E27FC236}">
                    <a16:creationId xmlns:a16="http://schemas.microsoft.com/office/drawing/2014/main" id="{6FBC0115-F2FB-4306-8472-0BBD9BC4A744}"/>
                  </a:ext>
                </a:extLst>
              </p:cNvPr>
              <p:cNvSpPr>
                <a:spLocks noChangeArrowheads="1"/>
              </p:cNvSpPr>
              <p:nvPr/>
            </p:nvSpPr>
            <p:spPr bwMode="auto">
              <a:xfrm>
                <a:off x="1014305" y="5364419"/>
                <a:ext cx="39688"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Oval 31">
                <a:extLst>
                  <a:ext uri="{FF2B5EF4-FFF2-40B4-BE49-F238E27FC236}">
                    <a16:creationId xmlns:a16="http://schemas.microsoft.com/office/drawing/2014/main" id="{85EDA718-53B3-41A9-8532-C24F28C702CE}"/>
                  </a:ext>
                </a:extLst>
              </p:cNvPr>
              <p:cNvSpPr>
                <a:spLocks noChangeArrowheads="1"/>
              </p:cNvSpPr>
              <p:nvPr/>
            </p:nvSpPr>
            <p:spPr bwMode="auto">
              <a:xfrm>
                <a:off x="2517668" y="4061081"/>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Oval 32">
                <a:extLst>
                  <a:ext uri="{FF2B5EF4-FFF2-40B4-BE49-F238E27FC236}">
                    <a16:creationId xmlns:a16="http://schemas.microsoft.com/office/drawing/2014/main" id="{7E09DC93-208A-4AFC-B0AC-4789A7C40E35}"/>
                  </a:ext>
                </a:extLst>
              </p:cNvPr>
              <p:cNvSpPr>
                <a:spLocks noChangeArrowheads="1"/>
              </p:cNvSpPr>
              <p:nvPr/>
            </p:nvSpPr>
            <p:spPr bwMode="auto">
              <a:xfrm>
                <a:off x="3039955" y="4613531"/>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Oval 33">
                <a:extLst>
                  <a:ext uri="{FF2B5EF4-FFF2-40B4-BE49-F238E27FC236}">
                    <a16:creationId xmlns:a16="http://schemas.microsoft.com/office/drawing/2014/main" id="{A99C4EE1-E745-482E-AE08-5D0C9BC217DC}"/>
                  </a:ext>
                </a:extLst>
              </p:cNvPr>
              <p:cNvSpPr>
                <a:spLocks noChangeArrowheads="1"/>
              </p:cNvSpPr>
              <p:nvPr/>
            </p:nvSpPr>
            <p:spPr bwMode="auto">
              <a:xfrm>
                <a:off x="3168543" y="5362831"/>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Oval 34">
                <a:extLst>
                  <a:ext uri="{FF2B5EF4-FFF2-40B4-BE49-F238E27FC236}">
                    <a16:creationId xmlns:a16="http://schemas.microsoft.com/office/drawing/2014/main" id="{BC9623D0-05DC-429E-B2BE-F80D931DE9BA}"/>
                  </a:ext>
                </a:extLst>
              </p:cNvPr>
              <p:cNvSpPr>
                <a:spLocks noChangeArrowheads="1"/>
              </p:cNvSpPr>
              <p:nvPr/>
            </p:nvSpPr>
            <p:spPr bwMode="auto">
              <a:xfrm>
                <a:off x="3768618" y="5359656"/>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Oval 35">
                <a:extLst>
                  <a:ext uri="{FF2B5EF4-FFF2-40B4-BE49-F238E27FC236}">
                    <a16:creationId xmlns:a16="http://schemas.microsoft.com/office/drawing/2014/main" id="{11547983-E35C-4D04-8297-CDFB9B59D33F}"/>
                  </a:ext>
                </a:extLst>
              </p:cNvPr>
              <p:cNvSpPr>
                <a:spLocks noChangeArrowheads="1"/>
              </p:cNvSpPr>
              <p:nvPr/>
            </p:nvSpPr>
            <p:spPr bwMode="auto">
              <a:xfrm>
                <a:off x="3884505" y="4613531"/>
                <a:ext cx="39688"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Oval 36">
                <a:extLst>
                  <a:ext uri="{FF2B5EF4-FFF2-40B4-BE49-F238E27FC236}">
                    <a16:creationId xmlns:a16="http://schemas.microsoft.com/office/drawing/2014/main" id="{11D18D6C-9A33-484C-A140-1D60B948D790}"/>
                  </a:ext>
                </a:extLst>
              </p:cNvPr>
              <p:cNvSpPr>
                <a:spLocks noChangeArrowheads="1"/>
              </p:cNvSpPr>
              <p:nvPr/>
            </p:nvSpPr>
            <p:spPr bwMode="auto">
              <a:xfrm>
                <a:off x="4397268" y="4051556"/>
                <a:ext cx="38100" cy="41275"/>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Oval 37">
                <a:extLst>
                  <a:ext uri="{FF2B5EF4-FFF2-40B4-BE49-F238E27FC236}">
                    <a16:creationId xmlns:a16="http://schemas.microsoft.com/office/drawing/2014/main" id="{48BCDE8C-1654-46F2-A79A-903987F53771}"/>
                  </a:ext>
                </a:extLst>
              </p:cNvPr>
              <p:cNvSpPr>
                <a:spLocks noChangeArrowheads="1"/>
              </p:cNvSpPr>
              <p:nvPr/>
            </p:nvSpPr>
            <p:spPr bwMode="auto">
              <a:xfrm>
                <a:off x="5906980" y="5369181"/>
                <a:ext cx="38100" cy="41275"/>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Line 42">
                <a:extLst>
                  <a:ext uri="{FF2B5EF4-FFF2-40B4-BE49-F238E27FC236}">
                    <a16:creationId xmlns:a16="http://schemas.microsoft.com/office/drawing/2014/main" id="{52740DA4-65FC-4D88-925E-2BA87B64DC9F}"/>
                  </a:ext>
                </a:extLst>
              </p:cNvPr>
              <p:cNvSpPr>
                <a:spLocks noChangeShapeType="1"/>
              </p:cNvSpPr>
              <p:nvPr/>
            </p:nvSpPr>
            <p:spPr bwMode="auto">
              <a:xfrm flipH="1">
                <a:off x="1034943" y="5385056"/>
                <a:ext cx="61118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 name="Line 44">
                <a:extLst>
                  <a:ext uri="{FF2B5EF4-FFF2-40B4-BE49-F238E27FC236}">
                    <a16:creationId xmlns:a16="http://schemas.microsoft.com/office/drawing/2014/main" id="{BA4A718C-297C-4374-8C60-FDEFC5E2D3D6}"/>
                  </a:ext>
                </a:extLst>
              </p:cNvPr>
              <p:cNvSpPr>
                <a:spLocks noChangeShapeType="1"/>
              </p:cNvSpPr>
              <p:nvPr/>
            </p:nvSpPr>
            <p:spPr bwMode="auto">
              <a:xfrm flipH="1">
                <a:off x="5316430" y="5383469"/>
                <a:ext cx="61118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 name="Line 46">
                <a:extLst>
                  <a:ext uri="{FF2B5EF4-FFF2-40B4-BE49-F238E27FC236}">
                    <a16:creationId xmlns:a16="http://schemas.microsoft.com/office/drawing/2014/main" id="{7AE61920-0F74-4169-8F4F-AFDE9E14998B}"/>
                  </a:ext>
                </a:extLst>
              </p:cNvPr>
              <p:cNvSpPr>
                <a:spLocks noChangeShapeType="1"/>
              </p:cNvSpPr>
              <p:nvPr/>
            </p:nvSpPr>
            <p:spPr bwMode="auto">
              <a:xfrm>
                <a:off x="1034943" y="5389819"/>
                <a:ext cx="0" cy="5334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 name="Line 47">
                <a:extLst>
                  <a:ext uri="{FF2B5EF4-FFF2-40B4-BE49-F238E27FC236}">
                    <a16:creationId xmlns:a16="http://schemas.microsoft.com/office/drawing/2014/main" id="{1CEB1FCE-3660-4286-9E85-0BCBD2A5A95E}"/>
                  </a:ext>
                </a:extLst>
              </p:cNvPr>
              <p:cNvSpPr>
                <a:spLocks noChangeShapeType="1"/>
              </p:cNvSpPr>
              <p:nvPr/>
            </p:nvSpPr>
            <p:spPr bwMode="auto">
              <a:xfrm>
                <a:off x="5927618" y="5383469"/>
                <a:ext cx="0" cy="5349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 name="Line 48">
                <a:extLst>
                  <a:ext uri="{FF2B5EF4-FFF2-40B4-BE49-F238E27FC236}">
                    <a16:creationId xmlns:a16="http://schemas.microsoft.com/office/drawing/2014/main" id="{4431A283-5577-4638-8C12-9F4586255FC0}"/>
                  </a:ext>
                </a:extLst>
              </p:cNvPr>
              <p:cNvSpPr>
                <a:spLocks noChangeShapeType="1"/>
              </p:cNvSpPr>
              <p:nvPr/>
            </p:nvSpPr>
            <p:spPr bwMode="auto">
              <a:xfrm>
                <a:off x="1034943" y="5918456"/>
                <a:ext cx="1482725"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 name="Line 49">
                <a:extLst>
                  <a:ext uri="{FF2B5EF4-FFF2-40B4-BE49-F238E27FC236}">
                    <a16:creationId xmlns:a16="http://schemas.microsoft.com/office/drawing/2014/main" id="{5B3CD369-F1AF-497F-9D9F-B5390C7A9ABD}"/>
                  </a:ext>
                </a:extLst>
              </p:cNvPr>
              <p:cNvSpPr>
                <a:spLocks noChangeShapeType="1"/>
              </p:cNvSpPr>
              <p:nvPr/>
            </p:nvSpPr>
            <p:spPr bwMode="auto">
              <a:xfrm>
                <a:off x="2525605" y="5799394"/>
                <a:ext cx="0" cy="24447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 name="Line 50">
                <a:extLst>
                  <a:ext uri="{FF2B5EF4-FFF2-40B4-BE49-F238E27FC236}">
                    <a16:creationId xmlns:a16="http://schemas.microsoft.com/office/drawing/2014/main" id="{EF63AFD4-CC9D-4097-972B-108C32D3EEDF}"/>
                  </a:ext>
                </a:extLst>
              </p:cNvPr>
              <p:cNvSpPr>
                <a:spLocks noChangeShapeType="1"/>
              </p:cNvSpPr>
              <p:nvPr/>
            </p:nvSpPr>
            <p:spPr bwMode="auto">
              <a:xfrm>
                <a:off x="2609743" y="5829556"/>
                <a:ext cx="0" cy="1793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 name="Line 51">
                <a:extLst>
                  <a:ext uri="{FF2B5EF4-FFF2-40B4-BE49-F238E27FC236}">
                    <a16:creationId xmlns:a16="http://schemas.microsoft.com/office/drawing/2014/main" id="{7F87A9DE-194B-45A4-B783-180CFE4B2143}"/>
                  </a:ext>
                </a:extLst>
              </p:cNvPr>
              <p:cNvSpPr>
                <a:spLocks noChangeShapeType="1"/>
              </p:cNvSpPr>
              <p:nvPr/>
            </p:nvSpPr>
            <p:spPr bwMode="auto">
              <a:xfrm flipH="1">
                <a:off x="4798905" y="5918456"/>
                <a:ext cx="1128713"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 name="Line 52">
                <a:extLst>
                  <a:ext uri="{FF2B5EF4-FFF2-40B4-BE49-F238E27FC236}">
                    <a16:creationId xmlns:a16="http://schemas.microsoft.com/office/drawing/2014/main" id="{4D1DC393-7263-427F-87D9-41E03F6A192E}"/>
                  </a:ext>
                </a:extLst>
              </p:cNvPr>
              <p:cNvSpPr>
                <a:spLocks noChangeShapeType="1"/>
              </p:cNvSpPr>
              <p:nvPr/>
            </p:nvSpPr>
            <p:spPr bwMode="auto">
              <a:xfrm flipV="1">
                <a:off x="4571893" y="5799394"/>
                <a:ext cx="227013" cy="119063"/>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 name="Text Box 53">
                <a:extLst>
                  <a:ext uri="{FF2B5EF4-FFF2-40B4-BE49-F238E27FC236}">
                    <a16:creationId xmlns:a16="http://schemas.microsoft.com/office/drawing/2014/main" id="{244B6960-011C-425D-86E8-862AA5EC6544}"/>
                  </a:ext>
                </a:extLst>
              </p:cNvPr>
              <p:cNvSpPr txBox="1">
                <a:spLocks noChangeArrowheads="1"/>
              </p:cNvSpPr>
              <p:nvPr/>
            </p:nvSpPr>
            <p:spPr bwMode="auto">
              <a:xfrm>
                <a:off x="3333643" y="2308364"/>
                <a:ext cx="28575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Times New Roman" panose="02020603050405020304" pitchFamily="18" charset="0"/>
                    <a:cs typeface="Times New Roman" panose="02020603050405020304" pitchFamily="18" charset="0"/>
                  </a:rPr>
                  <a:t>B</a:t>
                </a:r>
              </a:p>
            </p:txBody>
          </p:sp>
          <p:sp>
            <p:nvSpPr>
              <p:cNvPr id="115" name="Text Box 54">
                <a:extLst>
                  <a:ext uri="{FF2B5EF4-FFF2-40B4-BE49-F238E27FC236}">
                    <a16:creationId xmlns:a16="http://schemas.microsoft.com/office/drawing/2014/main" id="{6DCB250B-9BED-4D5D-9E8B-8E696847B374}"/>
                  </a:ext>
                </a:extLst>
              </p:cNvPr>
              <p:cNvSpPr txBox="1">
                <a:spLocks noChangeArrowheads="1"/>
              </p:cNvSpPr>
              <p:nvPr/>
            </p:nvSpPr>
            <p:spPr bwMode="auto">
              <a:xfrm>
                <a:off x="2776113" y="4061081"/>
                <a:ext cx="48260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3</a:t>
                </a:r>
                <a:endParaRPr lang="en-US" altLang="zh-CN" dirty="0">
                  <a:latin typeface="Times New Roman" panose="02020603050405020304" pitchFamily="18" charset="0"/>
                  <a:cs typeface="Times New Roman" panose="02020603050405020304" pitchFamily="18" charset="0"/>
                </a:endParaRPr>
              </a:p>
            </p:txBody>
          </p:sp>
          <p:sp>
            <p:nvSpPr>
              <p:cNvPr id="116" name="Text Box 55">
                <a:extLst>
                  <a:ext uri="{FF2B5EF4-FFF2-40B4-BE49-F238E27FC236}">
                    <a16:creationId xmlns:a16="http://schemas.microsoft.com/office/drawing/2014/main" id="{244EA0E3-C5E4-4EC4-BE10-CFEA80252595}"/>
                  </a:ext>
                </a:extLst>
              </p:cNvPr>
              <p:cNvSpPr txBox="1">
                <a:spLocks noChangeArrowheads="1"/>
              </p:cNvSpPr>
              <p:nvPr/>
            </p:nvSpPr>
            <p:spPr bwMode="auto">
              <a:xfrm>
                <a:off x="4034441" y="3149310"/>
                <a:ext cx="582613"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cs typeface="Times New Roman" panose="02020603050405020304" pitchFamily="18" charset="0"/>
                </a:endParaRPr>
              </a:p>
            </p:txBody>
          </p:sp>
          <p:sp>
            <p:nvSpPr>
              <p:cNvPr id="118" name="Text Box 56">
                <a:extLst>
                  <a:ext uri="{FF2B5EF4-FFF2-40B4-BE49-F238E27FC236}">
                    <a16:creationId xmlns:a16="http://schemas.microsoft.com/office/drawing/2014/main" id="{ED7D9252-3486-41F9-87CB-7A83F3508D26}"/>
                  </a:ext>
                </a:extLst>
              </p:cNvPr>
              <p:cNvSpPr txBox="1">
                <a:spLocks noChangeArrowheads="1"/>
              </p:cNvSpPr>
              <p:nvPr/>
            </p:nvSpPr>
            <p:spPr bwMode="auto">
              <a:xfrm>
                <a:off x="2506555" y="3137156"/>
                <a:ext cx="45479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121" name="Text Box 57">
                <a:extLst>
                  <a:ext uri="{FF2B5EF4-FFF2-40B4-BE49-F238E27FC236}">
                    <a16:creationId xmlns:a16="http://schemas.microsoft.com/office/drawing/2014/main" id="{9D2B72D8-B048-40B9-B71D-FA972BF8584C}"/>
                  </a:ext>
                </a:extLst>
              </p:cNvPr>
              <p:cNvSpPr txBox="1">
                <a:spLocks noChangeArrowheads="1"/>
              </p:cNvSpPr>
              <p:nvPr/>
            </p:nvSpPr>
            <p:spPr bwMode="auto">
              <a:xfrm>
                <a:off x="3758140" y="4061716"/>
                <a:ext cx="491172"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4</a:t>
                </a:r>
                <a:endParaRPr lang="en-US" altLang="zh-CN" dirty="0">
                  <a:latin typeface="Times New Roman" panose="02020603050405020304" pitchFamily="18" charset="0"/>
                  <a:cs typeface="Times New Roman" panose="02020603050405020304" pitchFamily="18" charset="0"/>
                </a:endParaRPr>
              </a:p>
            </p:txBody>
          </p:sp>
          <p:sp>
            <p:nvSpPr>
              <p:cNvPr id="125" name="Text Box 58">
                <a:extLst>
                  <a:ext uri="{FF2B5EF4-FFF2-40B4-BE49-F238E27FC236}">
                    <a16:creationId xmlns:a16="http://schemas.microsoft.com/office/drawing/2014/main" id="{5476CA93-5B35-4E81-9B18-C81812AFAE4E}"/>
                  </a:ext>
                </a:extLst>
              </p:cNvPr>
              <p:cNvSpPr txBox="1">
                <a:spLocks noChangeArrowheads="1"/>
              </p:cNvSpPr>
              <p:nvPr/>
            </p:nvSpPr>
            <p:spPr bwMode="auto">
              <a:xfrm>
                <a:off x="2560099" y="4391281"/>
                <a:ext cx="547688"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cs typeface="Times New Roman" panose="02020603050405020304" pitchFamily="18" charset="0"/>
                </a:endParaRPr>
              </a:p>
            </p:txBody>
          </p:sp>
          <p:sp>
            <p:nvSpPr>
              <p:cNvPr id="126" name="Text Box 59">
                <a:extLst>
                  <a:ext uri="{FF2B5EF4-FFF2-40B4-BE49-F238E27FC236}">
                    <a16:creationId xmlns:a16="http://schemas.microsoft.com/office/drawing/2014/main" id="{11D7B8A5-3C6F-4E5B-BD93-01F923E04135}"/>
                  </a:ext>
                </a:extLst>
              </p:cNvPr>
              <p:cNvSpPr txBox="1">
                <a:spLocks noChangeArrowheads="1"/>
              </p:cNvSpPr>
              <p:nvPr/>
            </p:nvSpPr>
            <p:spPr bwMode="auto">
              <a:xfrm>
                <a:off x="2088408" y="3815654"/>
                <a:ext cx="656984"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127" name="Text Box 62">
                <a:extLst>
                  <a:ext uri="{FF2B5EF4-FFF2-40B4-BE49-F238E27FC236}">
                    <a16:creationId xmlns:a16="http://schemas.microsoft.com/office/drawing/2014/main" id="{FD4C34DE-11C2-445C-9A04-1C87FCD5557A}"/>
                  </a:ext>
                </a:extLst>
              </p:cNvPr>
              <p:cNvSpPr txBox="1">
                <a:spLocks noChangeArrowheads="1"/>
              </p:cNvSpPr>
              <p:nvPr/>
            </p:nvSpPr>
            <p:spPr bwMode="auto">
              <a:xfrm>
                <a:off x="4423146" y="3845852"/>
                <a:ext cx="736599"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P</a:t>
                </a:r>
                <a:r>
                  <a:rPr lang="en-US" altLang="zh-CN" baseline="-25000" dirty="0">
                    <a:latin typeface="Times New Roman" panose="02020603050405020304" pitchFamily="18" charset="0"/>
                    <a:cs typeface="Times New Roman" panose="02020603050405020304" pitchFamily="18" charset="0"/>
                  </a:rPr>
                  <a:t>s1</a:t>
                </a:r>
                <a:endParaRPr lang="en-US" altLang="zh-CN" dirty="0">
                  <a:latin typeface="Times New Roman" panose="02020603050405020304" pitchFamily="18" charset="0"/>
                  <a:cs typeface="Times New Roman" panose="02020603050405020304" pitchFamily="18" charset="0"/>
                </a:endParaRPr>
              </a:p>
            </p:txBody>
          </p:sp>
          <p:sp>
            <p:nvSpPr>
              <p:cNvPr id="130" name="Text Box 65">
                <a:extLst>
                  <a:ext uri="{FF2B5EF4-FFF2-40B4-BE49-F238E27FC236}">
                    <a16:creationId xmlns:a16="http://schemas.microsoft.com/office/drawing/2014/main" id="{81D07F6B-8060-4FB0-BE90-1069DAD10D65}"/>
                  </a:ext>
                </a:extLst>
              </p:cNvPr>
              <p:cNvSpPr txBox="1">
                <a:spLocks noChangeArrowheads="1"/>
              </p:cNvSpPr>
              <p:nvPr/>
            </p:nvSpPr>
            <p:spPr bwMode="auto">
              <a:xfrm>
                <a:off x="3876568" y="4415094"/>
                <a:ext cx="59189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a:latin typeface="Times New Roman" panose="02020603050405020304" pitchFamily="18" charset="0"/>
                    <a:cs typeface="Times New Roman" panose="02020603050405020304" pitchFamily="18" charset="0"/>
                  </a:rPr>
                  <a:t>P</a:t>
                </a:r>
                <a:r>
                  <a:rPr lang="en-US" altLang="zh-CN" baseline="-25000">
                    <a:latin typeface="Times New Roman" panose="02020603050405020304" pitchFamily="18" charset="0"/>
                    <a:cs typeface="Times New Roman" panose="02020603050405020304" pitchFamily="18" charset="0"/>
                  </a:rPr>
                  <a:t>s2</a:t>
                </a:r>
                <a:endParaRPr lang="en-US" altLang="zh-CN">
                  <a:latin typeface="Times New Roman" panose="02020603050405020304" pitchFamily="18" charset="0"/>
                  <a:cs typeface="Times New Roman" panose="02020603050405020304" pitchFamily="18" charset="0"/>
                </a:endParaRPr>
              </a:p>
            </p:txBody>
          </p:sp>
          <p:sp>
            <p:nvSpPr>
              <p:cNvPr id="131" name="Text Box 68">
                <a:extLst>
                  <a:ext uri="{FF2B5EF4-FFF2-40B4-BE49-F238E27FC236}">
                    <a16:creationId xmlns:a16="http://schemas.microsoft.com/office/drawing/2014/main" id="{180EE6B1-9ADB-4502-933D-B05CC4A087DE}"/>
                  </a:ext>
                </a:extLst>
              </p:cNvPr>
              <p:cNvSpPr txBox="1">
                <a:spLocks noChangeArrowheads="1"/>
              </p:cNvSpPr>
              <p:nvPr/>
            </p:nvSpPr>
            <p:spPr bwMode="auto">
              <a:xfrm>
                <a:off x="2041417" y="4955241"/>
                <a:ext cx="47942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i="1" baseline="-25000" dirty="0">
                    <a:latin typeface="Times New Roman" panose="02020603050405020304" pitchFamily="18" charset="0"/>
                    <a:cs typeface="Times New Roman" panose="02020603050405020304" pitchFamily="18" charset="0"/>
                  </a:rPr>
                  <a:t>x</a:t>
                </a:r>
                <a:endParaRPr lang="en-US" altLang="zh-CN" i="1" dirty="0">
                  <a:latin typeface="Times New Roman" panose="02020603050405020304" pitchFamily="18" charset="0"/>
                  <a:cs typeface="Times New Roman" panose="02020603050405020304" pitchFamily="18" charset="0"/>
                </a:endParaRPr>
              </a:p>
            </p:txBody>
          </p:sp>
          <p:sp>
            <p:nvSpPr>
              <p:cNvPr id="132" name="Text Box 69">
                <a:extLst>
                  <a:ext uri="{FF2B5EF4-FFF2-40B4-BE49-F238E27FC236}">
                    <a16:creationId xmlns:a16="http://schemas.microsoft.com/office/drawing/2014/main" id="{922AC087-798E-4C8F-89DC-A1321BF2D912}"/>
                  </a:ext>
                </a:extLst>
              </p:cNvPr>
              <p:cNvSpPr txBox="1">
                <a:spLocks noChangeArrowheads="1"/>
              </p:cNvSpPr>
              <p:nvPr/>
            </p:nvSpPr>
            <p:spPr bwMode="auto">
              <a:xfrm>
                <a:off x="4605229" y="4965111"/>
                <a:ext cx="415925"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err="1">
                    <a:latin typeface="Times New Roman" panose="02020603050405020304" pitchFamily="18" charset="0"/>
                    <a:cs typeface="Times New Roman" panose="02020603050405020304" pitchFamily="18" charset="0"/>
                  </a:rPr>
                  <a:t>R</a:t>
                </a:r>
                <a:r>
                  <a:rPr lang="en-US" altLang="zh-CN" baseline="-25000" dirty="0" err="1">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133" name="Text Box 72">
                <a:extLst>
                  <a:ext uri="{FF2B5EF4-FFF2-40B4-BE49-F238E27FC236}">
                    <a16:creationId xmlns:a16="http://schemas.microsoft.com/office/drawing/2014/main" id="{FB2D605B-04E0-424E-9DC2-5CA3BDFA934E}"/>
                  </a:ext>
                </a:extLst>
              </p:cNvPr>
              <p:cNvSpPr txBox="1">
                <a:spLocks noChangeArrowheads="1"/>
              </p:cNvSpPr>
              <p:nvPr/>
            </p:nvSpPr>
            <p:spPr bwMode="auto">
              <a:xfrm>
                <a:off x="3301887" y="4034341"/>
                <a:ext cx="28575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latin typeface="Times New Roman" panose="02020603050405020304" pitchFamily="18" charset="0"/>
                    <a:cs typeface="Times New Roman" panose="02020603050405020304" pitchFamily="18" charset="0"/>
                  </a:rPr>
                  <a:t>D</a:t>
                </a:r>
              </a:p>
            </p:txBody>
          </p:sp>
          <p:grpSp>
            <p:nvGrpSpPr>
              <p:cNvPr id="134" name="组合 133">
                <a:extLst>
                  <a:ext uri="{FF2B5EF4-FFF2-40B4-BE49-F238E27FC236}">
                    <a16:creationId xmlns:a16="http://schemas.microsoft.com/office/drawing/2014/main" id="{565CFA84-C7C6-404E-9BCB-E6CB13623B56}"/>
                  </a:ext>
                </a:extLst>
              </p:cNvPr>
              <p:cNvGrpSpPr/>
              <p:nvPr/>
            </p:nvGrpSpPr>
            <p:grpSpPr>
              <a:xfrm>
                <a:off x="1285768" y="4610356"/>
                <a:ext cx="4368800" cy="809625"/>
                <a:chOff x="1547653" y="3958299"/>
                <a:chExt cx="4368800" cy="809625"/>
              </a:xfrm>
            </p:grpSpPr>
            <p:sp>
              <p:nvSpPr>
                <p:cNvPr id="194" name="Rectangle 19">
                  <a:extLst>
                    <a:ext uri="{FF2B5EF4-FFF2-40B4-BE49-F238E27FC236}">
                      <a16:creationId xmlns:a16="http://schemas.microsoft.com/office/drawing/2014/main" id="{4CB963AF-D8E6-414E-A706-9BC6AFEC5BD1}"/>
                    </a:ext>
                  </a:extLst>
                </p:cNvPr>
                <p:cNvSpPr>
                  <a:spLocks noChangeArrowheads="1"/>
                </p:cNvSpPr>
                <p:nvPr/>
              </p:nvSpPr>
              <p:spPr bwMode="auto">
                <a:xfrm rot="19612327">
                  <a:off x="5060790" y="3966237"/>
                  <a:ext cx="69850" cy="182563"/>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95" name="Rectangle 23">
                  <a:extLst>
                    <a:ext uri="{FF2B5EF4-FFF2-40B4-BE49-F238E27FC236}">
                      <a16:creationId xmlns:a16="http://schemas.microsoft.com/office/drawing/2014/main" id="{96D31A43-2739-4849-B1E6-2CCD8B1C42DD}"/>
                    </a:ext>
                  </a:extLst>
                </p:cNvPr>
                <p:cNvSpPr>
                  <a:spLocks noChangeArrowheads="1"/>
                </p:cNvSpPr>
                <p:nvPr/>
              </p:nvSpPr>
              <p:spPr bwMode="auto">
                <a:xfrm rot="19573042">
                  <a:off x="4387690" y="4282149"/>
                  <a:ext cx="68263" cy="176213"/>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96" name="Rectangle 24">
                  <a:extLst>
                    <a:ext uri="{FF2B5EF4-FFF2-40B4-BE49-F238E27FC236}">
                      <a16:creationId xmlns:a16="http://schemas.microsoft.com/office/drawing/2014/main" id="{CB69A8B3-E9BD-4146-BD62-0820F572E46E}"/>
                    </a:ext>
                  </a:extLst>
                </p:cNvPr>
                <p:cNvSpPr>
                  <a:spLocks noChangeArrowheads="1"/>
                </p:cNvSpPr>
                <p:nvPr/>
              </p:nvSpPr>
              <p:spPr bwMode="auto">
                <a:xfrm>
                  <a:off x="3614578" y="4688549"/>
                  <a:ext cx="252413" cy="79375"/>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zh-CN" altLang="en-US"/>
                </a:p>
              </p:txBody>
            </p:sp>
            <p:sp>
              <p:nvSpPr>
                <p:cNvPr id="197" name="Rectangle 26">
                  <a:extLst>
                    <a:ext uri="{FF2B5EF4-FFF2-40B4-BE49-F238E27FC236}">
                      <a16:creationId xmlns:a16="http://schemas.microsoft.com/office/drawing/2014/main" id="{BD98A971-4C58-40A7-BFBD-C411256DC76F}"/>
                    </a:ext>
                  </a:extLst>
                </p:cNvPr>
                <p:cNvSpPr>
                  <a:spLocks noChangeArrowheads="1"/>
                </p:cNvSpPr>
                <p:nvPr/>
              </p:nvSpPr>
              <p:spPr bwMode="auto">
                <a:xfrm>
                  <a:off x="3104990" y="4713949"/>
                  <a:ext cx="179388"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98" name="Rectangle 27">
                  <a:extLst>
                    <a:ext uri="{FF2B5EF4-FFF2-40B4-BE49-F238E27FC236}">
                      <a16:creationId xmlns:a16="http://schemas.microsoft.com/office/drawing/2014/main" id="{A9FE8BAB-A5DD-46EB-95DB-EC8493500561}"/>
                    </a:ext>
                  </a:extLst>
                </p:cNvPr>
                <p:cNvSpPr>
                  <a:spLocks noChangeArrowheads="1"/>
                </p:cNvSpPr>
                <p:nvPr/>
              </p:nvSpPr>
              <p:spPr bwMode="auto">
                <a:xfrm>
                  <a:off x="4208303" y="4713949"/>
                  <a:ext cx="179388"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99" name="Rectangle 40">
                  <a:extLst>
                    <a:ext uri="{FF2B5EF4-FFF2-40B4-BE49-F238E27FC236}">
                      <a16:creationId xmlns:a16="http://schemas.microsoft.com/office/drawing/2014/main" id="{BE5FF0DA-7711-4CA2-BEF3-0BACC3C936DD}"/>
                    </a:ext>
                  </a:extLst>
                </p:cNvPr>
                <p:cNvSpPr>
                  <a:spLocks noChangeArrowheads="1"/>
                </p:cNvSpPr>
                <p:nvPr/>
              </p:nvSpPr>
              <p:spPr bwMode="auto">
                <a:xfrm rot="1988136">
                  <a:off x="2363628" y="3958299"/>
                  <a:ext cx="73025" cy="187325"/>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200" name="Rectangle 41">
                  <a:extLst>
                    <a:ext uri="{FF2B5EF4-FFF2-40B4-BE49-F238E27FC236}">
                      <a16:creationId xmlns:a16="http://schemas.microsoft.com/office/drawing/2014/main" id="{4CA7E9D2-E223-40CB-B8BA-DE62A6A09C02}"/>
                    </a:ext>
                  </a:extLst>
                </p:cNvPr>
                <p:cNvSpPr>
                  <a:spLocks noChangeArrowheads="1"/>
                </p:cNvSpPr>
                <p:nvPr/>
              </p:nvSpPr>
              <p:spPr bwMode="auto">
                <a:xfrm rot="1988136">
                  <a:off x="3036728" y="4267862"/>
                  <a:ext cx="68263" cy="177800"/>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201" name="Rectangle 43">
                  <a:extLst>
                    <a:ext uri="{FF2B5EF4-FFF2-40B4-BE49-F238E27FC236}">
                      <a16:creationId xmlns:a16="http://schemas.microsoft.com/office/drawing/2014/main" id="{570C987E-F057-4DB4-820D-6D3A04174F85}"/>
                    </a:ext>
                  </a:extLst>
                </p:cNvPr>
                <p:cNvSpPr>
                  <a:spLocks noChangeArrowheads="1"/>
                </p:cNvSpPr>
                <p:nvPr/>
              </p:nvSpPr>
              <p:spPr bwMode="auto">
                <a:xfrm>
                  <a:off x="1547653" y="4713949"/>
                  <a:ext cx="177800"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202" name="Rectangle 45">
                  <a:extLst>
                    <a:ext uri="{FF2B5EF4-FFF2-40B4-BE49-F238E27FC236}">
                      <a16:creationId xmlns:a16="http://schemas.microsoft.com/office/drawing/2014/main" id="{5C09B7E0-1647-41E7-ABE6-6134D7BC3DDE}"/>
                    </a:ext>
                  </a:extLst>
                </p:cNvPr>
                <p:cNvSpPr>
                  <a:spLocks noChangeArrowheads="1"/>
                </p:cNvSpPr>
                <p:nvPr/>
              </p:nvSpPr>
              <p:spPr bwMode="auto">
                <a:xfrm>
                  <a:off x="5738653" y="4710774"/>
                  <a:ext cx="177800"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203" name="Text Box 73">
                  <a:extLst>
                    <a:ext uri="{FF2B5EF4-FFF2-40B4-BE49-F238E27FC236}">
                      <a16:creationId xmlns:a16="http://schemas.microsoft.com/office/drawing/2014/main" id="{A6AA6E03-E77A-4238-ABF3-69C78F31FFDC}"/>
                    </a:ext>
                  </a:extLst>
                </p:cNvPr>
                <p:cNvSpPr txBox="1">
                  <a:spLocks noChangeArrowheads="1"/>
                </p:cNvSpPr>
                <p:nvPr/>
              </p:nvSpPr>
              <p:spPr bwMode="auto">
                <a:xfrm>
                  <a:off x="3616348" y="4346483"/>
                  <a:ext cx="285750" cy="364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p>
              </p:txBody>
            </p:sp>
          </p:grpSp>
          <p:sp>
            <p:nvSpPr>
              <p:cNvPr id="139" name="Text Box 75">
                <a:extLst>
                  <a:ext uri="{FF2B5EF4-FFF2-40B4-BE49-F238E27FC236}">
                    <a16:creationId xmlns:a16="http://schemas.microsoft.com/office/drawing/2014/main" id="{5937435E-7B13-4AE7-A4BB-70CED2758BAD}"/>
                  </a:ext>
                </a:extLst>
              </p:cNvPr>
              <p:cNvSpPr txBox="1">
                <a:spLocks noChangeArrowheads="1"/>
              </p:cNvSpPr>
              <p:nvPr/>
            </p:nvSpPr>
            <p:spPr bwMode="auto">
              <a:xfrm>
                <a:off x="2595455" y="5532694"/>
                <a:ext cx="287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40" name="Text Box 76">
                <a:extLst>
                  <a:ext uri="{FF2B5EF4-FFF2-40B4-BE49-F238E27FC236}">
                    <a16:creationId xmlns:a16="http://schemas.microsoft.com/office/drawing/2014/main" id="{782767B1-42D3-4524-A3E3-A56B849E0FB0}"/>
                  </a:ext>
                </a:extLst>
              </p:cNvPr>
              <p:cNvSpPr txBox="1">
                <a:spLocks noChangeArrowheads="1"/>
              </p:cNvSpPr>
              <p:nvPr/>
            </p:nvSpPr>
            <p:spPr bwMode="auto">
              <a:xfrm>
                <a:off x="542218" y="5065968"/>
                <a:ext cx="566703"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141" name="Text Box 77">
                <a:extLst>
                  <a:ext uri="{FF2B5EF4-FFF2-40B4-BE49-F238E27FC236}">
                    <a16:creationId xmlns:a16="http://schemas.microsoft.com/office/drawing/2014/main" id="{58AEC462-F0AC-4168-B027-4C9FC6ECEC45}"/>
                  </a:ext>
                </a:extLst>
              </p:cNvPr>
              <p:cNvSpPr txBox="1">
                <a:spLocks noChangeArrowheads="1"/>
              </p:cNvSpPr>
              <p:nvPr/>
            </p:nvSpPr>
            <p:spPr bwMode="auto">
              <a:xfrm>
                <a:off x="5790140" y="5032630"/>
                <a:ext cx="636586"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baseline="-25000" dirty="0">
                    <a:latin typeface="Times New Roman" panose="02020603050405020304" pitchFamily="18" charset="0"/>
                    <a:cs typeface="Times New Roman" panose="02020603050405020304" pitchFamily="18" charset="0"/>
                  </a:rPr>
                  <a:t>s1</a:t>
                </a:r>
                <a:endParaRPr lang="en-US" altLang="zh-CN" dirty="0">
                  <a:latin typeface="Times New Roman" panose="02020603050405020304" pitchFamily="18" charset="0"/>
                  <a:cs typeface="Times New Roman" panose="02020603050405020304" pitchFamily="18" charset="0"/>
                </a:endParaRPr>
              </a:p>
            </p:txBody>
          </p:sp>
          <p:sp>
            <p:nvSpPr>
              <p:cNvPr id="142" name="Text Box 78">
                <a:extLst>
                  <a:ext uri="{FF2B5EF4-FFF2-40B4-BE49-F238E27FC236}">
                    <a16:creationId xmlns:a16="http://schemas.microsoft.com/office/drawing/2014/main" id="{CE7FD1B5-2BF5-44F6-B6E2-15D3D8C4B2D7}"/>
                  </a:ext>
                </a:extLst>
              </p:cNvPr>
              <p:cNvSpPr txBox="1">
                <a:spLocks noChangeArrowheads="1"/>
              </p:cNvSpPr>
              <p:nvPr/>
            </p:nvSpPr>
            <p:spPr bwMode="auto">
              <a:xfrm>
                <a:off x="2955660" y="5374288"/>
                <a:ext cx="60086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cs typeface="Times New Roman" panose="02020603050405020304" pitchFamily="18" charset="0"/>
                </a:endParaRPr>
              </a:p>
            </p:txBody>
          </p:sp>
          <p:sp>
            <p:nvSpPr>
              <p:cNvPr id="144" name="Text Box 79">
                <a:extLst>
                  <a:ext uri="{FF2B5EF4-FFF2-40B4-BE49-F238E27FC236}">
                    <a16:creationId xmlns:a16="http://schemas.microsoft.com/office/drawing/2014/main" id="{3FECD7B0-5BE2-4D6C-8298-6EEBF0322344}"/>
                  </a:ext>
                </a:extLst>
              </p:cNvPr>
              <p:cNvSpPr txBox="1">
                <a:spLocks noChangeArrowheads="1"/>
              </p:cNvSpPr>
              <p:nvPr/>
            </p:nvSpPr>
            <p:spPr bwMode="auto">
              <a:xfrm>
                <a:off x="3624154" y="5387402"/>
                <a:ext cx="596901"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baseline="-25000" dirty="0">
                    <a:latin typeface="Times New Roman" panose="02020603050405020304" pitchFamily="18" charset="0"/>
                    <a:cs typeface="Times New Roman" panose="02020603050405020304" pitchFamily="18" charset="0"/>
                  </a:rPr>
                  <a:t>s2</a:t>
                </a:r>
                <a:endParaRPr lang="en-US" altLang="zh-CN" dirty="0">
                  <a:latin typeface="Times New Roman" panose="02020603050405020304" pitchFamily="18" charset="0"/>
                  <a:cs typeface="Times New Roman" panose="02020603050405020304" pitchFamily="18" charset="0"/>
                </a:endParaRPr>
              </a:p>
            </p:txBody>
          </p:sp>
          <p:sp>
            <p:nvSpPr>
              <p:cNvPr id="168" name="矩形 167">
                <a:extLst>
                  <a:ext uri="{FF2B5EF4-FFF2-40B4-BE49-F238E27FC236}">
                    <a16:creationId xmlns:a16="http://schemas.microsoft.com/office/drawing/2014/main" id="{C0460229-B8BA-4EFE-9C29-DCCAE850D775}"/>
                  </a:ext>
                </a:extLst>
              </p:cNvPr>
              <p:cNvSpPr/>
              <p:nvPr/>
            </p:nvSpPr>
            <p:spPr>
              <a:xfrm>
                <a:off x="3413899" y="3729633"/>
                <a:ext cx="142553" cy="12220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90" name="椭圆 189">
                <a:extLst>
                  <a:ext uri="{FF2B5EF4-FFF2-40B4-BE49-F238E27FC236}">
                    <a16:creationId xmlns:a16="http://schemas.microsoft.com/office/drawing/2014/main" id="{96518152-168F-4108-889A-9625C10F70B0}"/>
                  </a:ext>
                </a:extLst>
              </p:cNvPr>
              <p:cNvSpPr/>
              <p:nvPr/>
            </p:nvSpPr>
            <p:spPr>
              <a:xfrm>
                <a:off x="3454645" y="3684324"/>
                <a:ext cx="49215" cy="45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000"/>
              </a:p>
            </p:txBody>
          </p:sp>
          <p:sp>
            <p:nvSpPr>
              <p:cNvPr id="191" name="椭圆 190">
                <a:extLst>
                  <a:ext uri="{FF2B5EF4-FFF2-40B4-BE49-F238E27FC236}">
                    <a16:creationId xmlns:a16="http://schemas.microsoft.com/office/drawing/2014/main" id="{CF6BE53D-C08E-40F8-8F20-E7AA59C29EC0}"/>
                  </a:ext>
                </a:extLst>
              </p:cNvPr>
              <p:cNvSpPr/>
              <p:nvPr/>
            </p:nvSpPr>
            <p:spPr>
              <a:xfrm>
                <a:off x="3456672" y="3847233"/>
                <a:ext cx="49215" cy="45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000"/>
              </a:p>
            </p:txBody>
          </p:sp>
          <p:cxnSp>
            <p:nvCxnSpPr>
              <p:cNvPr id="192" name="直接连接符 191">
                <a:extLst>
                  <a:ext uri="{FF2B5EF4-FFF2-40B4-BE49-F238E27FC236}">
                    <a16:creationId xmlns:a16="http://schemas.microsoft.com/office/drawing/2014/main" id="{77BDAE99-2D69-4FEC-8D21-8F9E44805C4F}"/>
                  </a:ext>
                </a:extLst>
              </p:cNvPr>
              <p:cNvCxnSpPr/>
              <p:nvPr/>
            </p:nvCxnSpPr>
            <p:spPr>
              <a:xfrm>
                <a:off x="3389947" y="3681326"/>
                <a:ext cx="0" cy="2265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60ADEE9E-5512-4AA3-89C3-DCBD28771230}"/>
                  </a:ext>
                </a:extLst>
              </p:cNvPr>
              <p:cNvCxnSpPr/>
              <p:nvPr/>
            </p:nvCxnSpPr>
            <p:spPr>
              <a:xfrm rot="16200000">
                <a:off x="3316124" y="3720462"/>
                <a:ext cx="0" cy="1476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4" name="椭圆 203">
              <a:extLst>
                <a:ext uri="{FF2B5EF4-FFF2-40B4-BE49-F238E27FC236}">
                  <a16:creationId xmlns:a16="http://schemas.microsoft.com/office/drawing/2014/main" id="{C7F6A94C-51CA-42D1-8E4F-259E2473630B}"/>
                </a:ext>
              </a:extLst>
            </p:cNvPr>
            <p:cNvSpPr/>
            <p:nvPr/>
          </p:nvSpPr>
          <p:spPr>
            <a:xfrm>
              <a:off x="896136" y="4357979"/>
              <a:ext cx="2389758" cy="1264559"/>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a:extLst>
                <a:ext uri="{FF2B5EF4-FFF2-40B4-BE49-F238E27FC236}">
                  <a16:creationId xmlns:a16="http://schemas.microsoft.com/office/drawing/2014/main" id="{E59878EF-5BCB-42EA-A231-3A2870525264}"/>
                </a:ext>
              </a:extLst>
            </p:cNvPr>
            <p:cNvSpPr/>
            <p:nvPr/>
          </p:nvSpPr>
          <p:spPr>
            <a:xfrm>
              <a:off x="3654290" y="4359441"/>
              <a:ext cx="2389758" cy="1264559"/>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6" name="矩形 205">
            <a:extLst>
              <a:ext uri="{FF2B5EF4-FFF2-40B4-BE49-F238E27FC236}">
                <a16:creationId xmlns:a16="http://schemas.microsoft.com/office/drawing/2014/main" id="{C2219980-D7B8-409D-BA11-9B3C9C50C847}"/>
              </a:ext>
            </a:extLst>
          </p:cNvPr>
          <p:cNvSpPr/>
          <p:nvPr/>
        </p:nvSpPr>
        <p:spPr>
          <a:xfrm>
            <a:off x="6515809" y="1384402"/>
            <a:ext cx="4916092" cy="4893647"/>
          </a:xfrm>
          <a:prstGeom prst="rect">
            <a:avLst/>
          </a:prstGeom>
        </p:spPr>
        <p:txBody>
          <a:bodyPr wrap="square">
            <a:spAutoFit/>
          </a:bodyPr>
          <a:lstStyle/>
          <a:p>
            <a:pPr algn="just"/>
            <a:r>
              <a:rPr lang="zh-CN" altLang="en-US" sz="2400" dirty="0">
                <a:latin typeface="楷体" panose="02010609060101010101" pitchFamily="49" charset="-122"/>
                <a:ea typeface="楷体" panose="02010609060101010101" pitchFamily="49" charset="-122"/>
                <a:cs typeface="Times New Roman" panose="02020603050405020304" pitchFamily="18" charset="0"/>
              </a:rPr>
              <a:t>    把采用四端接入法的低电阻接入原惠斯登（单臂）电桥，演变成双臂电桥，其等效电路如左图所示。为了消除附加电阻的影响，分别接入阻值均大于</a:t>
            </a:r>
            <a:r>
              <a:rPr lang="en-US" altLang="zh-CN" sz="2400" dirty="0">
                <a:latin typeface="楷体" panose="02010609060101010101" pitchFamily="49" charset="-122"/>
                <a:ea typeface="楷体" panose="02010609060101010101" pitchFamily="49" charset="-122"/>
                <a:cs typeface="Times New Roman" panose="02020603050405020304" pitchFamily="18" charset="0"/>
              </a:rPr>
              <a:t>10 </a:t>
            </a:r>
            <a:r>
              <a:rPr lang="en-US" altLang="zh-CN"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的标准电阻</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3</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和</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，且为考虑电桥平衡时</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与</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3</a:t>
            </a:r>
            <a:r>
              <a:rPr lang="en-US" altLang="zh-CN"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的差别对测量结果的影响，用阻值小于</a:t>
            </a:r>
            <a:r>
              <a:rPr lang="en-US" altLang="zh-CN"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0.001 </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的粗导线</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来连接电阻</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i="1"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x</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和</a:t>
            </a:r>
            <a:r>
              <a:rPr lang="en-US" altLang="zh-CN" sz="2400" i="1" dirty="0" err="1">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baseline="-25000" dirty="0" err="1">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s</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。此外，电路中加接一放大电路，用以增加灵敏度，使不平衡电流</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I</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G</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通过放大后再由检流计指示。</a:t>
            </a:r>
            <a:endParaRPr lang="zh-CN" altLang="en-US" sz="2000" dirty="0">
              <a:latin typeface="楷体" panose="02010609060101010101" pitchFamily="49" charset="-122"/>
              <a:ea typeface="楷体" panose="02010609060101010101" pitchFamily="49" charset="-122"/>
            </a:endParaRPr>
          </a:p>
          <a:p>
            <a:pPr algn="just"/>
            <a:endPar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649244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453269"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5" name="灯片编号占位符 4"/>
          <p:cNvSpPr>
            <a:spLocks noGrp="1"/>
          </p:cNvSpPr>
          <p:nvPr>
            <p:ph type="sldNum" sz="quarter" idx="12"/>
          </p:nvPr>
        </p:nvSpPr>
        <p:spPr/>
        <p:txBody>
          <a:bodyPr/>
          <a:lstStyle/>
          <a:p>
            <a:fld id="{888F8D02-9041-4C59-BC62-13DE0E5C6713}" type="slidenum">
              <a:rPr lang="zh-CN" altLang="en-US" sz="1400" b="1" smtClean="0"/>
              <a:t>12</a:t>
            </a:fld>
            <a:endParaRPr lang="zh-CN" altLang="en-US" sz="1400" b="1" dirty="0"/>
          </a:p>
        </p:txBody>
      </p:sp>
      <p:grpSp>
        <p:nvGrpSpPr>
          <p:cNvPr id="3" name="组合 2"/>
          <p:cNvGrpSpPr/>
          <p:nvPr/>
        </p:nvGrpSpPr>
        <p:grpSpPr>
          <a:xfrm>
            <a:off x="341555" y="1676646"/>
            <a:ext cx="6204476" cy="3938622"/>
            <a:chOff x="236479" y="1830361"/>
            <a:chExt cx="6204476" cy="3938622"/>
          </a:xfrm>
        </p:grpSpPr>
        <p:grpSp>
          <p:nvGrpSpPr>
            <p:cNvPr id="83" name="组合 82">
              <a:extLst>
                <a:ext uri="{FF2B5EF4-FFF2-40B4-BE49-F238E27FC236}">
                  <a16:creationId xmlns:a16="http://schemas.microsoft.com/office/drawing/2014/main" id="{68A04B80-D088-4F17-9E93-1E5252E41794}"/>
                </a:ext>
              </a:extLst>
            </p:cNvPr>
            <p:cNvGrpSpPr/>
            <p:nvPr/>
          </p:nvGrpSpPr>
          <p:grpSpPr>
            <a:xfrm>
              <a:off x="236479" y="1830361"/>
              <a:ext cx="6204476" cy="3938622"/>
              <a:chOff x="542218" y="2308364"/>
              <a:chExt cx="5884508" cy="3735505"/>
            </a:xfrm>
          </p:grpSpPr>
          <p:sp>
            <p:nvSpPr>
              <p:cNvPr id="84" name="AutoShape 4">
                <a:extLst>
                  <a:ext uri="{FF2B5EF4-FFF2-40B4-BE49-F238E27FC236}">
                    <a16:creationId xmlns:a16="http://schemas.microsoft.com/office/drawing/2014/main" id="{ABBBE458-2E0C-460B-97B0-4E469EA2E964}"/>
                  </a:ext>
                </a:extLst>
              </p:cNvPr>
              <p:cNvSpPr>
                <a:spLocks noChangeArrowheads="1"/>
              </p:cNvSpPr>
              <p:nvPr/>
            </p:nvSpPr>
            <p:spPr bwMode="auto">
              <a:xfrm>
                <a:off x="2566880" y="3991231"/>
                <a:ext cx="1828800" cy="139223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AutoShape 5">
                <a:extLst>
                  <a:ext uri="{FF2B5EF4-FFF2-40B4-BE49-F238E27FC236}">
                    <a16:creationId xmlns:a16="http://schemas.microsoft.com/office/drawing/2014/main" id="{80A068C1-F651-4E6E-9955-F54DA8F547D5}"/>
                  </a:ext>
                </a:extLst>
              </p:cNvPr>
              <p:cNvSpPr>
                <a:spLocks noChangeArrowheads="1"/>
              </p:cNvSpPr>
              <p:nvPr/>
            </p:nvSpPr>
            <p:spPr bwMode="auto">
              <a:xfrm>
                <a:off x="1692168" y="2635506"/>
                <a:ext cx="3579813" cy="2749550"/>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6">
                <a:extLst>
                  <a:ext uri="{FF2B5EF4-FFF2-40B4-BE49-F238E27FC236}">
                    <a16:creationId xmlns:a16="http://schemas.microsoft.com/office/drawing/2014/main" id="{ECF54E07-EF17-4DE5-9A46-ABB35EB33748}"/>
                  </a:ext>
                </a:extLst>
              </p:cNvPr>
              <p:cNvSpPr>
                <a:spLocks noChangeShapeType="1"/>
              </p:cNvSpPr>
              <p:nvPr/>
            </p:nvSpPr>
            <p:spPr bwMode="auto">
              <a:xfrm>
                <a:off x="3481280" y="2635506"/>
                <a:ext cx="0" cy="135572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 name="Oval 7">
                <a:extLst>
                  <a:ext uri="{FF2B5EF4-FFF2-40B4-BE49-F238E27FC236}">
                    <a16:creationId xmlns:a16="http://schemas.microsoft.com/office/drawing/2014/main" id="{68B2315F-40FD-43A3-9B5F-904DDE439472}"/>
                  </a:ext>
                </a:extLst>
              </p:cNvPr>
              <p:cNvSpPr>
                <a:spLocks noChangeArrowheads="1"/>
              </p:cNvSpPr>
              <p:nvPr/>
            </p:nvSpPr>
            <p:spPr bwMode="auto">
              <a:xfrm>
                <a:off x="3335230" y="3253044"/>
                <a:ext cx="284163" cy="284163"/>
              </a:xfrm>
              <a:prstGeom prst="ellipse">
                <a:avLst/>
              </a:prstGeom>
              <a:solidFill>
                <a:schemeClr val="bg1"/>
              </a:solidFill>
              <a:ln w="9525">
                <a:solidFill>
                  <a:schemeClr val="tx1"/>
                </a:solidFill>
                <a:miter lim="800000"/>
                <a:headEnd/>
                <a:tailEnd/>
              </a:ln>
              <a:effectLst/>
            </p:spPr>
            <p:txBody>
              <a:bodyPr wrap="none" anchor="ctr"/>
              <a:lstStyle/>
              <a:p>
                <a:endParaRPr lang="zh-CN" altLang="en-US"/>
              </a:p>
            </p:txBody>
          </p:sp>
          <p:sp>
            <p:nvSpPr>
              <p:cNvPr id="88" name="Text Box 8">
                <a:extLst>
                  <a:ext uri="{FF2B5EF4-FFF2-40B4-BE49-F238E27FC236}">
                    <a16:creationId xmlns:a16="http://schemas.microsoft.com/office/drawing/2014/main" id="{D69727C7-AF9B-459F-BCDF-732FDFD8C488}"/>
                  </a:ext>
                </a:extLst>
              </p:cNvPr>
              <p:cNvSpPr txBox="1">
                <a:spLocks noChangeArrowheads="1"/>
              </p:cNvSpPr>
              <p:nvPr/>
            </p:nvSpPr>
            <p:spPr bwMode="auto">
              <a:xfrm>
                <a:off x="3301258" y="3195894"/>
                <a:ext cx="28575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Times New Roman" panose="02020603050405020304" pitchFamily="18" charset="0"/>
                    <a:cs typeface="Times New Roman" panose="02020603050405020304" pitchFamily="18" charset="0"/>
                  </a:rPr>
                  <a:t>G</a:t>
                </a:r>
              </a:p>
            </p:txBody>
          </p:sp>
          <p:sp>
            <p:nvSpPr>
              <p:cNvPr id="89" name="Rectangle 10">
                <a:extLst>
                  <a:ext uri="{FF2B5EF4-FFF2-40B4-BE49-F238E27FC236}">
                    <a16:creationId xmlns:a16="http://schemas.microsoft.com/office/drawing/2014/main" id="{1CAF4C84-DD8A-4D2B-97E3-A467872E5CB3}"/>
                  </a:ext>
                </a:extLst>
              </p:cNvPr>
              <p:cNvSpPr>
                <a:spLocks noChangeArrowheads="1"/>
              </p:cNvSpPr>
              <p:nvPr/>
            </p:nvSpPr>
            <p:spPr bwMode="auto">
              <a:xfrm rot="19492583">
                <a:off x="3941655" y="3291144"/>
                <a:ext cx="93663" cy="2444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zh-CN" altLang="en-US"/>
              </a:p>
            </p:txBody>
          </p:sp>
          <p:sp>
            <p:nvSpPr>
              <p:cNvPr id="90" name="Rectangle 12">
                <a:extLst>
                  <a:ext uri="{FF2B5EF4-FFF2-40B4-BE49-F238E27FC236}">
                    <a16:creationId xmlns:a16="http://schemas.microsoft.com/office/drawing/2014/main" id="{122E29AB-61D9-42C5-AD19-D07602AAB207}"/>
                  </a:ext>
                </a:extLst>
              </p:cNvPr>
              <p:cNvSpPr>
                <a:spLocks noChangeArrowheads="1"/>
              </p:cNvSpPr>
              <p:nvPr/>
            </p:nvSpPr>
            <p:spPr bwMode="auto">
              <a:xfrm rot="1988136">
                <a:off x="2928830" y="3284794"/>
                <a:ext cx="93663" cy="2444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zh-CN" altLang="en-US"/>
              </a:p>
            </p:txBody>
          </p:sp>
          <p:sp>
            <p:nvSpPr>
              <p:cNvPr id="91" name="Rectangle 13">
                <a:extLst>
                  <a:ext uri="{FF2B5EF4-FFF2-40B4-BE49-F238E27FC236}">
                    <a16:creationId xmlns:a16="http://schemas.microsoft.com/office/drawing/2014/main" id="{5506E5D2-932B-4292-BBAB-167918F5720A}"/>
                  </a:ext>
                </a:extLst>
              </p:cNvPr>
              <p:cNvSpPr>
                <a:spLocks noChangeArrowheads="1"/>
              </p:cNvSpPr>
              <p:nvPr/>
            </p:nvSpPr>
            <p:spPr bwMode="auto">
              <a:xfrm rot="1988136">
                <a:off x="3230455" y="4173794"/>
                <a:ext cx="93663" cy="244475"/>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zh-CN" altLang="en-US"/>
              </a:p>
            </p:txBody>
          </p:sp>
          <p:sp>
            <p:nvSpPr>
              <p:cNvPr id="92" name="Rectangle 20">
                <a:extLst>
                  <a:ext uri="{FF2B5EF4-FFF2-40B4-BE49-F238E27FC236}">
                    <a16:creationId xmlns:a16="http://schemas.microsoft.com/office/drawing/2014/main" id="{53CD9FBA-1B24-4BF4-B2D7-0BAB27A92507}"/>
                  </a:ext>
                </a:extLst>
              </p:cNvPr>
              <p:cNvSpPr>
                <a:spLocks noChangeArrowheads="1"/>
              </p:cNvSpPr>
              <p:nvPr/>
            </p:nvSpPr>
            <p:spPr bwMode="auto">
              <a:xfrm rot="19533070">
                <a:off x="3636855" y="4170619"/>
                <a:ext cx="93663" cy="244475"/>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zh-CN" altLang="en-US"/>
              </a:p>
            </p:txBody>
          </p:sp>
          <p:sp>
            <p:nvSpPr>
              <p:cNvPr id="93" name="Line 25">
                <a:extLst>
                  <a:ext uri="{FF2B5EF4-FFF2-40B4-BE49-F238E27FC236}">
                    <a16:creationId xmlns:a16="http://schemas.microsoft.com/office/drawing/2014/main" id="{6B5B9731-E564-4E13-AF90-F74057AE4CEE}"/>
                  </a:ext>
                </a:extLst>
              </p:cNvPr>
              <p:cNvSpPr>
                <a:spLocks noChangeShapeType="1"/>
              </p:cNvSpPr>
              <p:nvPr/>
            </p:nvSpPr>
            <p:spPr bwMode="auto">
              <a:xfrm>
                <a:off x="2609743" y="5918456"/>
                <a:ext cx="19621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4" name="Rectangle 28">
                <a:extLst>
                  <a:ext uri="{FF2B5EF4-FFF2-40B4-BE49-F238E27FC236}">
                    <a16:creationId xmlns:a16="http://schemas.microsoft.com/office/drawing/2014/main" id="{71133F23-21D3-4B55-86D7-558C43EF020E}"/>
                  </a:ext>
                </a:extLst>
              </p:cNvPr>
              <p:cNvSpPr>
                <a:spLocks noChangeArrowheads="1"/>
              </p:cNvSpPr>
              <p:nvPr/>
            </p:nvSpPr>
            <p:spPr bwMode="auto">
              <a:xfrm>
                <a:off x="1646130" y="5345369"/>
                <a:ext cx="1027113" cy="80963"/>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a:p>
            </p:txBody>
          </p:sp>
          <p:sp>
            <p:nvSpPr>
              <p:cNvPr id="95" name="Rectangle 29">
                <a:extLst>
                  <a:ext uri="{FF2B5EF4-FFF2-40B4-BE49-F238E27FC236}">
                    <a16:creationId xmlns:a16="http://schemas.microsoft.com/office/drawing/2014/main" id="{FD0C4C25-0E79-4AED-AE74-D3AD312FD528}"/>
                  </a:ext>
                </a:extLst>
              </p:cNvPr>
              <p:cNvSpPr>
                <a:spLocks noChangeArrowheads="1"/>
              </p:cNvSpPr>
              <p:nvPr/>
            </p:nvSpPr>
            <p:spPr bwMode="auto">
              <a:xfrm>
                <a:off x="4289318" y="5342194"/>
                <a:ext cx="1027113" cy="80963"/>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zh-CN" altLang="en-US"/>
              </a:p>
            </p:txBody>
          </p:sp>
          <p:sp>
            <p:nvSpPr>
              <p:cNvPr id="96" name="Oval 30">
                <a:extLst>
                  <a:ext uri="{FF2B5EF4-FFF2-40B4-BE49-F238E27FC236}">
                    <a16:creationId xmlns:a16="http://schemas.microsoft.com/office/drawing/2014/main" id="{6FBC0115-F2FB-4306-8472-0BBD9BC4A744}"/>
                  </a:ext>
                </a:extLst>
              </p:cNvPr>
              <p:cNvSpPr>
                <a:spLocks noChangeArrowheads="1"/>
              </p:cNvSpPr>
              <p:nvPr/>
            </p:nvSpPr>
            <p:spPr bwMode="auto">
              <a:xfrm>
                <a:off x="1014305" y="5364419"/>
                <a:ext cx="39688"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Oval 31">
                <a:extLst>
                  <a:ext uri="{FF2B5EF4-FFF2-40B4-BE49-F238E27FC236}">
                    <a16:creationId xmlns:a16="http://schemas.microsoft.com/office/drawing/2014/main" id="{85EDA718-53B3-41A9-8532-C24F28C702CE}"/>
                  </a:ext>
                </a:extLst>
              </p:cNvPr>
              <p:cNvSpPr>
                <a:spLocks noChangeArrowheads="1"/>
              </p:cNvSpPr>
              <p:nvPr/>
            </p:nvSpPr>
            <p:spPr bwMode="auto">
              <a:xfrm>
                <a:off x="2517668" y="4061081"/>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Oval 32">
                <a:extLst>
                  <a:ext uri="{FF2B5EF4-FFF2-40B4-BE49-F238E27FC236}">
                    <a16:creationId xmlns:a16="http://schemas.microsoft.com/office/drawing/2014/main" id="{7E09DC93-208A-4AFC-B0AC-4789A7C40E35}"/>
                  </a:ext>
                </a:extLst>
              </p:cNvPr>
              <p:cNvSpPr>
                <a:spLocks noChangeArrowheads="1"/>
              </p:cNvSpPr>
              <p:nvPr/>
            </p:nvSpPr>
            <p:spPr bwMode="auto">
              <a:xfrm>
                <a:off x="3039955" y="4613531"/>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Oval 33">
                <a:extLst>
                  <a:ext uri="{FF2B5EF4-FFF2-40B4-BE49-F238E27FC236}">
                    <a16:creationId xmlns:a16="http://schemas.microsoft.com/office/drawing/2014/main" id="{A99C4EE1-E745-482E-AE08-5D0C9BC217DC}"/>
                  </a:ext>
                </a:extLst>
              </p:cNvPr>
              <p:cNvSpPr>
                <a:spLocks noChangeArrowheads="1"/>
              </p:cNvSpPr>
              <p:nvPr/>
            </p:nvSpPr>
            <p:spPr bwMode="auto">
              <a:xfrm>
                <a:off x="3168543" y="5362831"/>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Oval 34">
                <a:extLst>
                  <a:ext uri="{FF2B5EF4-FFF2-40B4-BE49-F238E27FC236}">
                    <a16:creationId xmlns:a16="http://schemas.microsoft.com/office/drawing/2014/main" id="{BC9623D0-05DC-429E-B2BE-F80D931DE9BA}"/>
                  </a:ext>
                </a:extLst>
              </p:cNvPr>
              <p:cNvSpPr>
                <a:spLocks noChangeArrowheads="1"/>
              </p:cNvSpPr>
              <p:nvPr/>
            </p:nvSpPr>
            <p:spPr bwMode="auto">
              <a:xfrm>
                <a:off x="3768618" y="5359656"/>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Oval 35">
                <a:extLst>
                  <a:ext uri="{FF2B5EF4-FFF2-40B4-BE49-F238E27FC236}">
                    <a16:creationId xmlns:a16="http://schemas.microsoft.com/office/drawing/2014/main" id="{11547983-E35C-4D04-8297-CDFB9B59D33F}"/>
                  </a:ext>
                </a:extLst>
              </p:cNvPr>
              <p:cNvSpPr>
                <a:spLocks noChangeArrowheads="1"/>
              </p:cNvSpPr>
              <p:nvPr/>
            </p:nvSpPr>
            <p:spPr bwMode="auto">
              <a:xfrm>
                <a:off x="3884505" y="4613531"/>
                <a:ext cx="39688"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Oval 36">
                <a:extLst>
                  <a:ext uri="{FF2B5EF4-FFF2-40B4-BE49-F238E27FC236}">
                    <a16:creationId xmlns:a16="http://schemas.microsoft.com/office/drawing/2014/main" id="{11D18D6C-9A33-484C-A140-1D60B948D790}"/>
                  </a:ext>
                </a:extLst>
              </p:cNvPr>
              <p:cNvSpPr>
                <a:spLocks noChangeArrowheads="1"/>
              </p:cNvSpPr>
              <p:nvPr/>
            </p:nvSpPr>
            <p:spPr bwMode="auto">
              <a:xfrm>
                <a:off x="4397268" y="4051556"/>
                <a:ext cx="38100" cy="41275"/>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Oval 37">
                <a:extLst>
                  <a:ext uri="{FF2B5EF4-FFF2-40B4-BE49-F238E27FC236}">
                    <a16:creationId xmlns:a16="http://schemas.microsoft.com/office/drawing/2014/main" id="{48BCDE8C-1654-46F2-A79A-903987F53771}"/>
                  </a:ext>
                </a:extLst>
              </p:cNvPr>
              <p:cNvSpPr>
                <a:spLocks noChangeArrowheads="1"/>
              </p:cNvSpPr>
              <p:nvPr/>
            </p:nvSpPr>
            <p:spPr bwMode="auto">
              <a:xfrm>
                <a:off x="5906980" y="5369181"/>
                <a:ext cx="38100" cy="41275"/>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42">
                <a:extLst>
                  <a:ext uri="{FF2B5EF4-FFF2-40B4-BE49-F238E27FC236}">
                    <a16:creationId xmlns:a16="http://schemas.microsoft.com/office/drawing/2014/main" id="{52740DA4-65FC-4D88-925E-2BA87B64DC9F}"/>
                  </a:ext>
                </a:extLst>
              </p:cNvPr>
              <p:cNvSpPr>
                <a:spLocks noChangeShapeType="1"/>
              </p:cNvSpPr>
              <p:nvPr/>
            </p:nvSpPr>
            <p:spPr bwMode="auto">
              <a:xfrm flipH="1">
                <a:off x="1034943" y="5385056"/>
                <a:ext cx="61118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 name="Line 44">
                <a:extLst>
                  <a:ext uri="{FF2B5EF4-FFF2-40B4-BE49-F238E27FC236}">
                    <a16:creationId xmlns:a16="http://schemas.microsoft.com/office/drawing/2014/main" id="{BA4A718C-297C-4374-8C60-FDEFC5E2D3D6}"/>
                  </a:ext>
                </a:extLst>
              </p:cNvPr>
              <p:cNvSpPr>
                <a:spLocks noChangeShapeType="1"/>
              </p:cNvSpPr>
              <p:nvPr/>
            </p:nvSpPr>
            <p:spPr bwMode="auto">
              <a:xfrm flipH="1">
                <a:off x="5316430" y="5383469"/>
                <a:ext cx="61118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 name="Line 46">
                <a:extLst>
                  <a:ext uri="{FF2B5EF4-FFF2-40B4-BE49-F238E27FC236}">
                    <a16:creationId xmlns:a16="http://schemas.microsoft.com/office/drawing/2014/main" id="{7AE61920-0F74-4169-8F4F-AFDE9E14998B}"/>
                  </a:ext>
                </a:extLst>
              </p:cNvPr>
              <p:cNvSpPr>
                <a:spLocks noChangeShapeType="1"/>
              </p:cNvSpPr>
              <p:nvPr/>
            </p:nvSpPr>
            <p:spPr bwMode="auto">
              <a:xfrm>
                <a:off x="1034943" y="5389819"/>
                <a:ext cx="0" cy="5334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 name="Line 47">
                <a:extLst>
                  <a:ext uri="{FF2B5EF4-FFF2-40B4-BE49-F238E27FC236}">
                    <a16:creationId xmlns:a16="http://schemas.microsoft.com/office/drawing/2014/main" id="{1CEB1FCE-3660-4286-9E85-0BCBD2A5A95E}"/>
                  </a:ext>
                </a:extLst>
              </p:cNvPr>
              <p:cNvSpPr>
                <a:spLocks noChangeShapeType="1"/>
              </p:cNvSpPr>
              <p:nvPr/>
            </p:nvSpPr>
            <p:spPr bwMode="auto">
              <a:xfrm>
                <a:off x="5927618" y="5383469"/>
                <a:ext cx="0" cy="5349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 name="Line 48">
                <a:extLst>
                  <a:ext uri="{FF2B5EF4-FFF2-40B4-BE49-F238E27FC236}">
                    <a16:creationId xmlns:a16="http://schemas.microsoft.com/office/drawing/2014/main" id="{4431A283-5577-4638-8C12-9F4586255FC0}"/>
                  </a:ext>
                </a:extLst>
              </p:cNvPr>
              <p:cNvSpPr>
                <a:spLocks noChangeShapeType="1"/>
              </p:cNvSpPr>
              <p:nvPr/>
            </p:nvSpPr>
            <p:spPr bwMode="auto">
              <a:xfrm>
                <a:off x="1034943" y="5918456"/>
                <a:ext cx="1482725"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 name="Line 49">
                <a:extLst>
                  <a:ext uri="{FF2B5EF4-FFF2-40B4-BE49-F238E27FC236}">
                    <a16:creationId xmlns:a16="http://schemas.microsoft.com/office/drawing/2014/main" id="{5B3CD369-F1AF-497F-9D9F-B5390C7A9ABD}"/>
                  </a:ext>
                </a:extLst>
              </p:cNvPr>
              <p:cNvSpPr>
                <a:spLocks noChangeShapeType="1"/>
              </p:cNvSpPr>
              <p:nvPr/>
            </p:nvSpPr>
            <p:spPr bwMode="auto">
              <a:xfrm>
                <a:off x="2525605" y="5799394"/>
                <a:ext cx="0" cy="24447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 name="Line 50">
                <a:extLst>
                  <a:ext uri="{FF2B5EF4-FFF2-40B4-BE49-F238E27FC236}">
                    <a16:creationId xmlns:a16="http://schemas.microsoft.com/office/drawing/2014/main" id="{EF63AFD4-CC9D-4097-972B-108C32D3EEDF}"/>
                  </a:ext>
                </a:extLst>
              </p:cNvPr>
              <p:cNvSpPr>
                <a:spLocks noChangeShapeType="1"/>
              </p:cNvSpPr>
              <p:nvPr/>
            </p:nvSpPr>
            <p:spPr bwMode="auto">
              <a:xfrm>
                <a:off x="2609743" y="5829556"/>
                <a:ext cx="0" cy="1793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 name="Line 51">
                <a:extLst>
                  <a:ext uri="{FF2B5EF4-FFF2-40B4-BE49-F238E27FC236}">
                    <a16:creationId xmlns:a16="http://schemas.microsoft.com/office/drawing/2014/main" id="{7F87A9DE-194B-45A4-B783-180CFE4B2143}"/>
                  </a:ext>
                </a:extLst>
              </p:cNvPr>
              <p:cNvSpPr>
                <a:spLocks noChangeShapeType="1"/>
              </p:cNvSpPr>
              <p:nvPr/>
            </p:nvSpPr>
            <p:spPr bwMode="auto">
              <a:xfrm flipH="1">
                <a:off x="4798905" y="5918456"/>
                <a:ext cx="1128713"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 name="Line 52">
                <a:extLst>
                  <a:ext uri="{FF2B5EF4-FFF2-40B4-BE49-F238E27FC236}">
                    <a16:creationId xmlns:a16="http://schemas.microsoft.com/office/drawing/2014/main" id="{4D1DC393-7263-427F-87D9-41E03F6A192E}"/>
                  </a:ext>
                </a:extLst>
              </p:cNvPr>
              <p:cNvSpPr>
                <a:spLocks noChangeShapeType="1"/>
              </p:cNvSpPr>
              <p:nvPr/>
            </p:nvSpPr>
            <p:spPr bwMode="auto">
              <a:xfrm flipV="1">
                <a:off x="4571893" y="5799394"/>
                <a:ext cx="227013" cy="119063"/>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 name="Text Box 53">
                <a:extLst>
                  <a:ext uri="{FF2B5EF4-FFF2-40B4-BE49-F238E27FC236}">
                    <a16:creationId xmlns:a16="http://schemas.microsoft.com/office/drawing/2014/main" id="{244B6960-011C-425D-86E8-862AA5EC6544}"/>
                  </a:ext>
                </a:extLst>
              </p:cNvPr>
              <p:cNvSpPr txBox="1">
                <a:spLocks noChangeArrowheads="1"/>
              </p:cNvSpPr>
              <p:nvPr/>
            </p:nvSpPr>
            <p:spPr bwMode="auto">
              <a:xfrm>
                <a:off x="3333643" y="2308364"/>
                <a:ext cx="28575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Times New Roman" panose="02020603050405020304" pitchFamily="18" charset="0"/>
                    <a:cs typeface="Times New Roman" panose="02020603050405020304" pitchFamily="18" charset="0"/>
                  </a:rPr>
                  <a:t>B</a:t>
                </a:r>
              </a:p>
            </p:txBody>
          </p:sp>
          <p:sp>
            <p:nvSpPr>
              <p:cNvPr id="114" name="Text Box 54">
                <a:extLst>
                  <a:ext uri="{FF2B5EF4-FFF2-40B4-BE49-F238E27FC236}">
                    <a16:creationId xmlns:a16="http://schemas.microsoft.com/office/drawing/2014/main" id="{6DCB250B-9BED-4D5D-9E8B-8E696847B374}"/>
                  </a:ext>
                </a:extLst>
              </p:cNvPr>
              <p:cNvSpPr txBox="1">
                <a:spLocks noChangeArrowheads="1"/>
              </p:cNvSpPr>
              <p:nvPr/>
            </p:nvSpPr>
            <p:spPr bwMode="auto">
              <a:xfrm>
                <a:off x="2776113" y="4061081"/>
                <a:ext cx="48260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3</a:t>
                </a:r>
                <a:endParaRPr lang="en-US" altLang="zh-CN" dirty="0">
                  <a:latin typeface="Times New Roman" panose="02020603050405020304" pitchFamily="18" charset="0"/>
                  <a:cs typeface="Times New Roman" panose="02020603050405020304" pitchFamily="18" charset="0"/>
                </a:endParaRPr>
              </a:p>
            </p:txBody>
          </p:sp>
          <p:sp>
            <p:nvSpPr>
              <p:cNvPr id="115" name="Text Box 55">
                <a:extLst>
                  <a:ext uri="{FF2B5EF4-FFF2-40B4-BE49-F238E27FC236}">
                    <a16:creationId xmlns:a16="http://schemas.microsoft.com/office/drawing/2014/main" id="{244EA0E3-C5E4-4EC4-BE10-CFEA80252595}"/>
                  </a:ext>
                </a:extLst>
              </p:cNvPr>
              <p:cNvSpPr txBox="1">
                <a:spLocks noChangeArrowheads="1"/>
              </p:cNvSpPr>
              <p:nvPr/>
            </p:nvSpPr>
            <p:spPr bwMode="auto">
              <a:xfrm>
                <a:off x="4034441" y="3149310"/>
                <a:ext cx="582613"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cs typeface="Times New Roman" panose="02020603050405020304" pitchFamily="18" charset="0"/>
                </a:endParaRPr>
              </a:p>
            </p:txBody>
          </p:sp>
          <p:sp>
            <p:nvSpPr>
              <p:cNvPr id="116" name="Text Box 56">
                <a:extLst>
                  <a:ext uri="{FF2B5EF4-FFF2-40B4-BE49-F238E27FC236}">
                    <a16:creationId xmlns:a16="http://schemas.microsoft.com/office/drawing/2014/main" id="{ED7D9252-3486-41F9-87CB-7A83F3508D26}"/>
                  </a:ext>
                </a:extLst>
              </p:cNvPr>
              <p:cNvSpPr txBox="1">
                <a:spLocks noChangeArrowheads="1"/>
              </p:cNvSpPr>
              <p:nvPr/>
            </p:nvSpPr>
            <p:spPr bwMode="auto">
              <a:xfrm>
                <a:off x="2506555" y="3137156"/>
                <a:ext cx="45479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118" name="Text Box 57">
                <a:extLst>
                  <a:ext uri="{FF2B5EF4-FFF2-40B4-BE49-F238E27FC236}">
                    <a16:creationId xmlns:a16="http://schemas.microsoft.com/office/drawing/2014/main" id="{9D2B72D8-B048-40B9-B71D-FA972BF8584C}"/>
                  </a:ext>
                </a:extLst>
              </p:cNvPr>
              <p:cNvSpPr txBox="1">
                <a:spLocks noChangeArrowheads="1"/>
              </p:cNvSpPr>
              <p:nvPr/>
            </p:nvSpPr>
            <p:spPr bwMode="auto">
              <a:xfrm>
                <a:off x="3758140" y="4061716"/>
                <a:ext cx="491172"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4</a:t>
                </a:r>
                <a:endParaRPr lang="en-US" altLang="zh-CN" dirty="0">
                  <a:latin typeface="Times New Roman" panose="02020603050405020304" pitchFamily="18" charset="0"/>
                  <a:cs typeface="Times New Roman" panose="02020603050405020304" pitchFamily="18" charset="0"/>
                </a:endParaRPr>
              </a:p>
            </p:txBody>
          </p:sp>
          <p:sp>
            <p:nvSpPr>
              <p:cNvPr id="121" name="Text Box 58">
                <a:extLst>
                  <a:ext uri="{FF2B5EF4-FFF2-40B4-BE49-F238E27FC236}">
                    <a16:creationId xmlns:a16="http://schemas.microsoft.com/office/drawing/2014/main" id="{5476CA93-5B35-4E81-9B18-C81812AFAE4E}"/>
                  </a:ext>
                </a:extLst>
              </p:cNvPr>
              <p:cNvSpPr txBox="1">
                <a:spLocks noChangeArrowheads="1"/>
              </p:cNvSpPr>
              <p:nvPr/>
            </p:nvSpPr>
            <p:spPr bwMode="auto">
              <a:xfrm>
                <a:off x="2560099" y="4391281"/>
                <a:ext cx="547688"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cs typeface="Times New Roman" panose="02020603050405020304" pitchFamily="18" charset="0"/>
                </a:endParaRPr>
              </a:p>
            </p:txBody>
          </p:sp>
          <p:sp>
            <p:nvSpPr>
              <p:cNvPr id="125" name="Text Box 59">
                <a:extLst>
                  <a:ext uri="{FF2B5EF4-FFF2-40B4-BE49-F238E27FC236}">
                    <a16:creationId xmlns:a16="http://schemas.microsoft.com/office/drawing/2014/main" id="{11D7B8A5-3C6F-4E5B-BD93-01F923E04135}"/>
                  </a:ext>
                </a:extLst>
              </p:cNvPr>
              <p:cNvSpPr txBox="1">
                <a:spLocks noChangeArrowheads="1"/>
              </p:cNvSpPr>
              <p:nvPr/>
            </p:nvSpPr>
            <p:spPr bwMode="auto">
              <a:xfrm>
                <a:off x="2088408" y="3815654"/>
                <a:ext cx="656984"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126" name="Text Box 62">
                <a:extLst>
                  <a:ext uri="{FF2B5EF4-FFF2-40B4-BE49-F238E27FC236}">
                    <a16:creationId xmlns:a16="http://schemas.microsoft.com/office/drawing/2014/main" id="{FD4C34DE-11C2-445C-9A04-1C87FCD5557A}"/>
                  </a:ext>
                </a:extLst>
              </p:cNvPr>
              <p:cNvSpPr txBox="1">
                <a:spLocks noChangeArrowheads="1"/>
              </p:cNvSpPr>
              <p:nvPr/>
            </p:nvSpPr>
            <p:spPr bwMode="auto">
              <a:xfrm>
                <a:off x="4423146" y="3845852"/>
                <a:ext cx="736599"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P</a:t>
                </a:r>
                <a:r>
                  <a:rPr lang="en-US" altLang="zh-CN" baseline="-25000" dirty="0">
                    <a:latin typeface="Times New Roman" panose="02020603050405020304" pitchFamily="18" charset="0"/>
                    <a:cs typeface="Times New Roman" panose="02020603050405020304" pitchFamily="18" charset="0"/>
                  </a:rPr>
                  <a:t>s1</a:t>
                </a:r>
                <a:endParaRPr lang="en-US" altLang="zh-CN" dirty="0">
                  <a:latin typeface="Times New Roman" panose="02020603050405020304" pitchFamily="18" charset="0"/>
                  <a:cs typeface="Times New Roman" panose="02020603050405020304" pitchFamily="18" charset="0"/>
                </a:endParaRPr>
              </a:p>
            </p:txBody>
          </p:sp>
          <p:sp>
            <p:nvSpPr>
              <p:cNvPr id="127" name="Text Box 65">
                <a:extLst>
                  <a:ext uri="{FF2B5EF4-FFF2-40B4-BE49-F238E27FC236}">
                    <a16:creationId xmlns:a16="http://schemas.microsoft.com/office/drawing/2014/main" id="{81D07F6B-8060-4FB0-BE90-1069DAD10D65}"/>
                  </a:ext>
                </a:extLst>
              </p:cNvPr>
              <p:cNvSpPr txBox="1">
                <a:spLocks noChangeArrowheads="1"/>
              </p:cNvSpPr>
              <p:nvPr/>
            </p:nvSpPr>
            <p:spPr bwMode="auto">
              <a:xfrm>
                <a:off x="3876568" y="4415094"/>
                <a:ext cx="59189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a:latin typeface="Times New Roman" panose="02020603050405020304" pitchFamily="18" charset="0"/>
                    <a:cs typeface="Times New Roman" panose="02020603050405020304" pitchFamily="18" charset="0"/>
                  </a:rPr>
                  <a:t>P</a:t>
                </a:r>
                <a:r>
                  <a:rPr lang="en-US" altLang="zh-CN" baseline="-25000">
                    <a:latin typeface="Times New Roman" panose="02020603050405020304" pitchFamily="18" charset="0"/>
                    <a:cs typeface="Times New Roman" panose="02020603050405020304" pitchFamily="18" charset="0"/>
                  </a:rPr>
                  <a:t>s2</a:t>
                </a:r>
                <a:endParaRPr lang="en-US" altLang="zh-CN">
                  <a:latin typeface="Times New Roman" panose="02020603050405020304" pitchFamily="18" charset="0"/>
                  <a:cs typeface="Times New Roman" panose="02020603050405020304" pitchFamily="18" charset="0"/>
                </a:endParaRPr>
              </a:p>
            </p:txBody>
          </p:sp>
          <p:sp>
            <p:nvSpPr>
              <p:cNvPr id="130" name="Text Box 68">
                <a:extLst>
                  <a:ext uri="{FF2B5EF4-FFF2-40B4-BE49-F238E27FC236}">
                    <a16:creationId xmlns:a16="http://schemas.microsoft.com/office/drawing/2014/main" id="{180EE6B1-9ADB-4502-933D-B05CC4A087DE}"/>
                  </a:ext>
                </a:extLst>
              </p:cNvPr>
              <p:cNvSpPr txBox="1">
                <a:spLocks noChangeArrowheads="1"/>
              </p:cNvSpPr>
              <p:nvPr/>
            </p:nvSpPr>
            <p:spPr bwMode="auto">
              <a:xfrm>
                <a:off x="2041417" y="4955241"/>
                <a:ext cx="47942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i="1" baseline="-25000" dirty="0">
                    <a:latin typeface="Times New Roman" panose="02020603050405020304" pitchFamily="18" charset="0"/>
                    <a:cs typeface="Times New Roman" panose="02020603050405020304" pitchFamily="18" charset="0"/>
                  </a:rPr>
                  <a:t>x</a:t>
                </a:r>
                <a:endParaRPr lang="en-US" altLang="zh-CN" i="1" dirty="0">
                  <a:latin typeface="Times New Roman" panose="02020603050405020304" pitchFamily="18" charset="0"/>
                  <a:cs typeface="Times New Roman" panose="02020603050405020304" pitchFamily="18" charset="0"/>
                </a:endParaRPr>
              </a:p>
            </p:txBody>
          </p:sp>
          <p:sp>
            <p:nvSpPr>
              <p:cNvPr id="131" name="Text Box 69">
                <a:extLst>
                  <a:ext uri="{FF2B5EF4-FFF2-40B4-BE49-F238E27FC236}">
                    <a16:creationId xmlns:a16="http://schemas.microsoft.com/office/drawing/2014/main" id="{922AC087-798E-4C8F-89DC-A1321BF2D912}"/>
                  </a:ext>
                </a:extLst>
              </p:cNvPr>
              <p:cNvSpPr txBox="1">
                <a:spLocks noChangeArrowheads="1"/>
              </p:cNvSpPr>
              <p:nvPr/>
            </p:nvSpPr>
            <p:spPr bwMode="auto">
              <a:xfrm>
                <a:off x="4605229" y="4965111"/>
                <a:ext cx="415925"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err="1">
                    <a:latin typeface="Times New Roman" panose="02020603050405020304" pitchFamily="18" charset="0"/>
                    <a:cs typeface="Times New Roman" panose="02020603050405020304" pitchFamily="18" charset="0"/>
                  </a:rPr>
                  <a:t>R</a:t>
                </a:r>
                <a:r>
                  <a:rPr lang="en-US" altLang="zh-CN" baseline="-25000" dirty="0" err="1">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132" name="Text Box 72">
                <a:extLst>
                  <a:ext uri="{FF2B5EF4-FFF2-40B4-BE49-F238E27FC236}">
                    <a16:creationId xmlns:a16="http://schemas.microsoft.com/office/drawing/2014/main" id="{FB2D605B-04E0-424E-9DC2-5CA3BDFA934E}"/>
                  </a:ext>
                </a:extLst>
              </p:cNvPr>
              <p:cNvSpPr txBox="1">
                <a:spLocks noChangeArrowheads="1"/>
              </p:cNvSpPr>
              <p:nvPr/>
            </p:nvSpPr>
            <p:spPr bwMode="auto">
              <a:xfrm>
                <a:off x="3301887" y="4034341"/>
                <a:ext cx="28575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latin typeface="Times New Roman" panose="02020603050405020304" pitchFamily="18" charset="0"/>
                    <a:cs typeface="Times New Roman" panose="02020603050405020304" pitchFamily="18" charset="0"/>
                  </a:rPr>
                  <a:t>D</a:t>
                </a:r>
              </a:p>
            </p:txBody>
          </p:sp>
          <p:grpSp>
            <p:nvGrpSpPr>
              <p:cNvPr id="133" name="组合 132">
                <a:extLst>
                  <a:ext uri="{FF2B5EF4-FFF2-40B4-BE49-F238E27FC236}">
                    <a16:creationId xmlns:a16="http://schemas.microsoft.com/office/drawing/2014/main" id="{565CFA84-C7C6-404E-9BCB-E6CB13623B56}"/>
                  </a:ext>
                </a:extLst>
              </p:cNvPr>
              <p:cNvGrpSpPr/>
              <p:nvPr/>
            </p:nvGrpSpPr>
            <p:grpSpPr>
              <a:xfrm>
                <a:off x="1285768" y="4610356"/>
                <a:ext cx="4368800" cy="809625"/>
                <a:chOff x="1547653" y="3958299"/>
                <a:chExt cx="4368800" cy="809625"/>
              </a:xfrm>
            </p:grpSpPr>
            <p:sp>
              <p:nvSpPr>
                <p:cNvPr id="193" name="Rectangle 19">
                  <a:extLst>
                    <a:ext uri="{FF2B5EF4-FFF2-40B4-BE49-F238E27FC236}">
                      <a16:creationId xmlns:a16="http://schemas.microsoft.com/office/drawing/2014/main" id="{4CB963AF-D8E6-414E-A706-9BC6AFEC5BD1}"/>
                    </a:ext>
                  </a:extLst>
                </p:cNvPr>
                <p:cNvSpPr>
                  <a:spLocks noChangeArrowheads="1"/>
                </p:cNvSpPr>
                <p:nvPr/>
              </p:nvSpPr>
              <p:spPr bwMode="auto">
                <a:xfrm rot="19612327">
                  <a:off x="5060790" y="3966237"/>
                  <a:ext cx="69850" cy="182563"/>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94" name="Rectangle 23">
                  <a:extLst>
                    <a:ext uri="{FF2B5EF4-FFF2-40B4-BE49-F238E27FC236}">
                      <a16:creationId xmlns:a16="http://schemas.microsoft.com/office/drawing/2014/main" id="{96D31A43-2739-4849-B1E6-2CCD8B1C42DD}"/>
                    </a:ext>
                  </a:extLst>
                </p:cNvPr>
                <p:cNvSpPr>
                  <a:spLocks noChangeArrowheads="1"/>
                </p:cNvSpPr>
                <p:nvPr/>
              </p:nvSpPr>
              <p:spPr bwMode="auto">
                <a:xfrm rot="19573042">
                  <a:off x="4387690" y="4282149"/>
                  <a:ext cx="68263" cy="176213"/>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95" name="Rectangle 24">
                  <a:extLst>
                    <a:ext uri="{FF2B5EF4-FFF2-40B4-BE49-F238E27FC236}">
                      <a16:creationId xmlns:a16="http://schemas.microsoft.com/office/drawing/2014/main" id="{CB69A8B3-E9BD-4146-BD62-0820F572E46E}"/>
                    </a:ext>
                  </a:extLst>
                </p:cNvPr>
                <p:cNvSpPr>
                  <a:spLocks noChangeArrowheads="1"/>
                </p:cNvSpPr>
                <p:nvPr/>
              </p:nvSpPr>
              <p:spPr bwMode="auto">
                <a:xfrm>
                  <a:off x="3614578" y="4688549"/>
                  <a:ext cx="252413" cy="79375"/>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zh-CN" altLang="en-US"/>
                </a:p>
              </p:txBody>
            </p:sp>
            <p:sp>
              <p:nvSpPr>
                <p:cNvPr id="196" name="Rectangle 26">
                  <a:extLst>
                    <a:ext uri="{FF2B5EF4-FFF2-40B4-BE49-F238E27FC236}">
                      <a16:creationId xmlns:a16="http://schemas.microsoft.com/office/drawing/2014/main" id="{BD98A971-4C58-40A7-BFBD-C411256DC76F}"/>
                    </a:ext>
                  </a:extLst>
                </p:cNvPr>
                <p:cNvSpPr>
                  <a:spLocks noChangeArrowheads="1"/>
                </p:cNvSpPr>
                <p:nvPr/>
              </p:nvSpPr>
              <p:spPr bwMode="auto">
                <a:xfrm>
                  <a:off x="3104990" y="4713949"/>
                  <a:ext cx="179388"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97" name="Rectangle 27">
                  <a:extLst>
                    <a:ext uri="{FF2B5EF4-FFF2-40B4-BE49-F238E27FC236}">
                      <a16:creationId xmlns:a16="http://schemas.microsoft.com/office/drawing/2014/main" id="{A9FE8BAB-A5DD-46EB-95DB-EC8493500561}"/>
                    </a:ext>
                  </a:extLst>
                </p:cNvPr>
                <p:cNvSpPr>
                  <a:spLocks noChangeArrowheads="1"/>
                </p:cNvSpPr>
                <p:nvPr/>
              </p:nvSpPr>
              <p:spPr bwMode="auto">
                <a:xfrm>
                  <a:off x="4208303" y="4713949"/>
                  <a:ext cx="179388"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98" name="Rectangle 40">
                  <a:extLst>
                    <a:ext uri="{FF2B5EF4-FFF2-40B4-BE49-F238E27FC236}">
                      <a16:creationId xmlns:a16="http://schemas.microsoft.com/office/drawing/2014/main" id="{BE5FF0DA-7711-4CA2-BEF3-0BACC3C936DD}"/>
                    </a:ext>
                  </a:extLst>
                </p:cNvPr>
                <p:cNvSpPr>
                  <a:spLocks noChangeArrowheads="1"/>
                </p:cNvSpPr>
                <p:nvPr/>
              </p:nvSpPr>
              <p:spPr bwMode="auto">
                <a:xfrm rot="1988136">
                  <a:off x="2363628" y="3958299"/>
                  <a:ext cx="73025" cy="187325"/>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99" name="Rectangle 41">
                  <a:extLst>
                    <a:ext uri="{FF2B5EF4-FFF2-40B4-BE49-F238E27FC236}">
                      <a16:creationId xmlns:a16="http://schemas.microsoft.com/office/drawing/2014/main" id="{4CA7E9D2-E223-40CB-B8BA-DE62A6A09C02}"/>
                    </a:ext>
                  </a:extLst>
                </p:cNvPr>
                <p:cNvSpPr>
                  <a:spLocks noChangeArrowheads="1"/>
                </p:cNvSpPr>
                <p:nvPr/>
              </p:nvSpPr>
              <p:spPr bwMode="auto">
                <a:xfrm rot="1988136">
                  <a:off x="3036728" y="4267862"/>
                  <a:ext cx="68263" cy="177800"/>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200" name="Rectangle 43">
                  <a:extLst>
                    <a:ext uri="{FF2B5EF4-FFF2-40B4-BE49-F238E27FC236}">
                      <a16:creationId xmlns:a16="http://schemas.microsoft.com/office/drawing/2014/main" id="{570C987E-F057-4DB4-820D-6D3A04174F85}"/>
                    </a:ext>
                  </a:extLst>
                </p:cNvPr>
                <p:cNvSpPr>
                  <a:spLocks noChangeArrowheads="1"/>
                </p:cNvSpPr>
                <p:nvPr/>
              </p:nvSpPr>
              <p:spPr bwMode="auto">
                <a:xfrm>
                  <a:off x="1547653" y="4713949"/>
                  <a:ext cx="177800"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201" name="Rectangle 45">
                  <a:extLst>
                    <a:ext uri="{FF2B5EF4-FFF2-40B4-BE49-F238E27FC236}">
                      <a16:creationId xmlns:a16="http://schemas.microsoft.com/office/drawing/2014/main" id="{5C09B7E0-1647-41E7-ABE6-6134D7BC3DDE}"/>
                    </a:ext>
                  </a:extLst>
                </p:cNvPr>
                <p:cNvSpPr>
                  <a:spLocks noChangeArrowheads="1"/>
                </p:cNvSpPr>
                <p:nvPr/>
              </p:nvSpPr>
              <p:spPr bwMode="auto">
                <a:xfrm>
                  <a:off x="5738653" y="4710774"/>
                  <a:ext cx="177800"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202" name="Text Box 73">
                  <a:extLst>
                    <a:ext uri="{FF2B5EF4-FFF2-40B4-BE49-F238E27FC236}">
                      <a16:creationId xmlns:a16="http://schemas.microsoft.com/office/drawing/2014/main" id="{A6AA6E03-E77A-4238-ABF3-69C78F31FFDC}"/>
                    </a:ext>
                  </a:extLst>
                </p:cNvPr>
                <p:cNvSpPr txBox="1">
                  <a:spLocks noChangeArrowheads="1"/>
                </p:cNvSpPr>
                <p:nvPr/>
              </p:nvSpPr>
              <p:spPr bwMode="auto">
                <a:xfrm>
                  <a:off x="3616348" y="4346483"/>
                  <a:ext cx="285750" cy="364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p>
              </p:txBody>
            </p:sp>
          </p:grpSp>
          <p:sp>
            <p:nvSpPr>
              <p:cNvPr id="134" name="Text Box 75">
                <a:extLst>
                  <a:ext uri="{FF2B5EF4-FFF2-40B4-BE49-F238E27FC236}">
                    <a16:creationId xmlns:a16="http://schemas.microsoft.com/office/drawing/2014/main" id="{5937435E-7B13-4AE7-A4BB-70CED2758BAD}"/>
                  </a:ext>
                </a:extLst>
              </p:cNvPr>
              <p:cNvSpPr txBox="1">
                <a:spLocks noChangeArrowheads="1"/>
              </p:cNvSpPr>
              <p:nvPr/>
            </p:nvSpPr>
            <p:spPr bwMode="auto">
              <a:xfrm>
                <a:off x="2595455" y="5532694"/>
                <a:ext cx="287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39" name="Text Box 76">
                <a:extLst>
                  <a:ext uri="{FF2B5EF4-FFF2-40B4-BE49-F238E27FC236}">
                    <a16:creationId xmlns:a16="http://schemas.microsoft.com/office/drawing/2014/main" id="{782767B1-42D3-4524-A3E3-A56B849E0FB0}"/>
                  </a:ext>
                </a:extLst>
              </p:cNvPr>
              <p:cNvSpPr txBox="1">
                <a:spLocks noChangeArrowheads="1"/>
              </p:cNvSpPr>
              <p:nvPr/>
            </p:nvSpPr>
            <p:spPr bwMode="auto">
              <a:xfrm>
                <a:off x="542218" y="5065968"/>
                <a:ext cx="566703"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140" name="Text Box 77">
                <a:extLst>
                  <a:ext uri="{FF2B5EF4-FFF2-40B4-BE49-F238E27FC236}">
                    <a16:creationId xmlns:a16="http://schemas.microsoft.com/office/drawing/2014/main" id="{58AEC462-F0AC-4168-B027-4C9FC6ECEC45}"/>
                  </a:ext>
                </a:extLst>
              </p:cNvPr>
              <p:cNvSpPr txBox="1">
                <a:spLocks noChangeArrowheads="1"/>
              </p:cNvSpPr>
              <p:nvPr/>
            </p:nvSpPr>
            <p:spPr bwMode="auto">
              <a:xfrm>
                <a:off x="5790140" y="5032630"/>
                <a:ext cx="636586"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baseline="-25000" dirty="0">
                    <a:latin typeface="Times New Roman" panose="02020603050405020304" pitchFamily="18" charset="0"/>
                    <a:cs typeface="Times New Roman" panose="02020603050405020304" pitchFamily="18" charset="0"/>
                  </a:rPr>
                  <a:t>s1</a:t>
                </a:r>
                <a:endParaRPr lang="en-US" altLang="zh-CN" dirty="0">
                  <a:latin typeface="Times New Roman" panose="02020603050405020304" pitchFamily="18" charset="0"/>
                  <a:cs typeface="Times New Roman" panose="02020603050405020304" pitchFamily="18" charset="0"/>
                </a:endParaRPr>
              </a:p>
            </p:txBody>
          </p:sp>
          <p:sp>
            <p:nvSpPr>
              <p:cNvPr id="141" name="Text Box 78">
                <a:extLst>
                  <a:ext uri="{FF2B5EF4-FFF2-40B4-BE49-F238E27FC236}">
                    <a16:creationId xmlns:a16="http://schemas.microsoft.com/office/drawing/2014/main" id="{CE7FD1B5-2BF5-44F6-B6E2-15D3D8C4B2D7}"/>
                  </a:ext>
                </a:extLst>
              </p:cNvPr>
              <p:cNvSpPr txBox="1">
                <a:spLocks noChangeArrowheads="1"/>
              </p:cNvSpPr>
              <p:nvPr/>
            </p:nvSpPr>
            <p:spPr bwMode="auto">
              <a:xfrm>
                <a:off x="2955660" y="5374288"/>
                <a:ext cx="60086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cs typeface="Times New Roman" panose="02020603050405020304" pitchFamily="18" charset="0"/>
                </a:endParaRPr>
              </a:p>
            </p:txBody>
          </p:sp>
          <p:sp>
            <p:nvSpPr>
              <p:cNvPr id="142" name="Text Box 79">
                <a:extLst>
                  <a:ext uri="{FF2B5EF4-FFF2-40B4-BE49-F238E27FC236}">
                    <a16:creationId xmlns:a16="http://schemas.microsoft.com/office/drawing/2014/main" id="{3FECD7B0-5BE2-4D6C-8298-6EEBF0322344}"/>
                  </a:ext>
                </a:extLst>
              </p:cNvPr>
              <p:cNvSpPr txBox="1">
                <a:spLocks noChangeArrowheads="1"/>
              </p:cNvSpPr>
              <p:nvPr/>
            </p:nvSpPr>
            <p:spPr bwMode="auto">
              <a:xfrm>
                <a:off x="3624154" y="5387402"/>
                <a:ext cx="596901"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baseline="-25000" dirty="0">
                    <a:latin typeface="Times New Roman" panose="02020603050405020304" pitchFamily="18" charset="0"/>
                    <a:cs typeface="Times New Roman" panose="02020603050405020304" pitchFamily="18" charset="0"/>
                  </a:rPr>
                  <a:t>s2</a:t>
                </a:r>
                <a:endParaRPr lang="en-US" altLang="zh-CN" dirty="0">
                  <a:latin typeface="Times New Roman" panose="02020603050405020304" pitchFamily="18" charset="0"/>
                  <a:cs typeface="Times New Roman" panose="02020603050405020304" pitchFamily="18" charset="0"/>
                </a:endParaRPr>
              </a:p>
            </p:txBody>
          </p:sp>
          <p:sp>
            <p:nvSpPr>
              <p:cNvPr id="144" name="矩形 143">
                <a:extLst>
                  <a:ext uri="{FF2B5EF4-FFF2-40B4-BE49-F238E27FC236}">
                    <a16:creationId xmlns:a16="http://schemas.microsoft.com/office/drawing/2014/main" id="{C0460229-B8BA-4EFE-9C29-DCCAE850D775}"/>
                  </a:ext>
                </a:extLst>
              </p:cNvPr>
              <p:cNvSpPr/>
              <p:nvPr/>
            </p:nvSpPr>
            <p:spPr>
              <a:xfrm>
                <a:off x="3413899" y="3729633"/>
                <a:ext cx="142553" cy="12220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68" name="椭圆 167">
                <a:extLst>
                  <a:ext uri="{FF2B5EF4-FFF2-40B4-BE49-F238E27FC236}">
                    <a16:creationId xmlns:a16="http://schemas.microsoft.com/office/drawing/2014/main" id="{96518152-168F-4108-889A-9625C10F70B0}"/>
                  </a:ext>
                </a:extLst>
              </p:cNvPr>
              <p:cNvSpPr/>
              <p:nvPr/>
            </p:nvSpPr>
            <p:spPr>
              <a:xfrm>
                <a:off x="3454645" y="3684324"/>
                <a:ext cx="49215" cy="45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000"/>
              </a:p>
            </p:txBody>
          </p:sp>
          <p:sp>
            <p:nvSpPr>
              <p:cNvPr id="190" name="椭圆 189">
                <a:extLst>
                  <a:ext uri="{FF2B5EF4-FFF2-40B4-BE49-F238E27FC236}">
                    <a16:creationId xmlns:a16="http://schemas.microsoft.com/office/drawing/2014/main" id="{CF6BE53D-C08E-40F8-8F20-E7AA59C29EC0}"/>
                  </a:ext>
                </a:extLst>
              </p:cNvPr>
              <p:cNvSpPr/>
              <p:nvPr/>
            </p:nvSpPr>
            <p:spPr>
              <a:xfrm>
                <a:off x="3456672" y="3847233"/>
                <a:ext cx="49215" cy="45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000"/>
              </a:p>
            </p:txBody>
          </p:sp>
          <p:cxnSp>
            <p:nvCxnSpPr>
              <p:cNvPr id="191" name="直接连接符 190">
                <a:extLst>
                  <a:ext uri="{FF2B5EF4-FFF2-40B4-BE49-F238E27FC236}">
                    <a16:creationId xmlns:a16="http://schemas.microsoft.com/office/drawing/2014/main" id="{77BDAE99-2D69-4FEC-8D21-8F9E44805C4F}"/>
                  </a:ext>
                </a:extLst>
              </p:cNvPr>
              <p:cNvCxnSpPr/>
              <p:nvPr/>
            </p:nvCxnSpPr>
            <p:spPr>
              <a:xfrm>
                <a:off x="3389947" y="3681326"/>
                <a:ext cx="0" cy="2265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60ADEE9E-5512-4AA3-89C3-DCBD28771230}"/>
                  </a:ext>
                </a:extLst>
              </p:cNvPr>
              <p:cNvCxnSpPr/>
              <p:nvPr/>
            </p:nvCxnSpPr>
            <p:spPr>
              <a:xfrm rot="16200000">
                <a:off x="3316124" y="3720462"/>
                <a:ext cx="0" cy="1476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3" name="组合 202">
              <a:extLst>
                <a:ext uri="{FF2B5EF4-FFF2-40B4-BE49-F238E27FC236}">
                  <a16:creationId xmlns:a16="http://schemas.microsoft.com/office/drawing/2014/main" id="{CD25270E-2330-4085-9961-21D007644D7E}"/>
                </a:ext>
              </a:extLst>
            </p:cNvPr>
            <p:cNvGrpSpPr/>
            <p:nvPr/>
          </p:nvGrpSpPr>
          <p:grpSpPr>
            <a:xfrm>
              <a:off x="1058332" y="3234029"/>
              <a:ext cx="2833687" cy="2344447"/>
              <a:chOff x="1312703" y="2897849"/>
              <a:chExt cx="2833687" cy="2344447"/>
            </a:xfrm>
          </p:grpSpPr>
          <p:grpSp>
            <p:nvGrpSpPr>
              <p:cNvPr id="204" name="组合 203">
                <a:extLst>
                  <a:ext uri="{FF2B5EF4-FFF2-40B4-BE49-F238E27FC236}">
                    <a16:creationId xmlns:a16="http://schemas.microsoft.com/office/drawing/2014/main" id="{CD4D0E6C-D04C-41A6-BBC3-5FC2134579AD}"/>
                  </a:ext>
                </a:extLst>
              </p:cNvPr>
              <p:cNvGrpSpPr/>
              <p:nvPr/>
            </p:nvGrpSpPr>
            <p:grpSpPr>
              <a:xfrm>
                <a:off x="1312703" y="2897849"/>
                <a:ext cx="2833687" cy="2344447"/>
                <a:chOff x="1312703" y="2897849"/>
                <a:chExt cx="2833687" cy="2344447"/>
              </a:xfrm>
            </p:grpSpPr>
            <p:sp>
              <p:nvSpPr>
                <p:cNvPr id="206" name="Line 80">
                  <a:extLst>
                    <a:ext uri="{FF2B5EF4-FFF2-40B4-BE49-F238E27FC236}">
                      <a16:creationId xmlns:a16="http://schemas.microsoft.com/office/drawing/2014/main" id="{F61BBAD3-22AE-453E-88C8-A0AC402D437A}"/>
                    </a:ext>
                  </a:extLst>
                </p:cNvPr>
                <p:cNvSpPr>
                  <a:spLocks noChangeShapeType="1"/>
                </p:cNvSpPr>
                <p:nvPr/>
              </p:nvSpPr>
              <p:spPr bwMode="auto">
                <a:xfrm>
                  <a:off x="2055653" y="4872699"/>
                  <a:ext cx="539750" cy="0"/>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sp>
              <p:nvSpPr>
                <p:cNvPr id="207" name="Line 81">
                  <a:extLst>
                    <a:ext uri="{FF2B5EF4-FFF2-40B4-BE49-F238E27FC236}">
                      <a16:creationId xmlns:a16="http://schemas.microsoft.com/office/drawing/2014/main" id="{9E16FF4A-09CF-4D69-BAE2-C7B5E8BB2819}"/>
                    </a:ext>
                  </a:extLst>
                </p:cNvPr>
                <p:cNvSpPr>
                  <a:spLocks noChangeShapeType="1"/>
                </p:cNvSpPr>
                <p:nvPr/>
              </p:nvSpPr>
              <p:spPr bwMode="auto">
                <a:xfrm flipH="1">
                  <a:off x="1312703" y="5190199"/>
                  <a:ext cx="493713" cy="0"/>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sp>
              <p:nvSpPr>
                <p:cNvPr id="208" name="Line 84">
                  <a:extLst>
                    <a:ext uri="{FF2B5EF4-FFF2-40B4-BE49-F238E27FC236}">
                      <a16:creationId xmlns:a16="http://schemas.microsoft.com/office/drawing/2014/main" id="{91CC2082-1C9A-4A60-8333-7467DF086619}"/>
                    </a:ext>
                  </a:extLst>
                </p:cNvPr>
                <p:cNvSpPr>
                  <a:spLocks noChangeShapeType="1"/>
                </p:cNvSpPr>
                <p:nvPr/>
              </p:nvSpPr>
              <p:spPr bwMode="auto">
                <a:xfrm flipV="1">
                  <a:off x="3106578" y="3893212"/>
                  <a:ext cx="196850" cy="311150"/>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sp>
              <p:nvSpPr>
                <p:cNvPr id="209" name="Line 85">
                  <a:extLst>
                    <a:ext uri="{FF2B5EF4-FFF2-40B4-BE49-F238E27FC236}">
                      <a16:creationId xmlns:a16="http://schemas.microsoft.com/office/drawing/2014/main" id="{F5343D57-FCBF-4E13-BC57-ED1C89D002C8}"/>
                    </a:ext>
                  </a:extLst>
                </p:cNvPr>
                <p:cNvSpPr>
                  <a:spLocks noChangeShapeType="1"/>
                </p:cNvSpPr>
                <p:nvPr/>
              </p:nvSpPr>
              <p:spPr bwMode="auto">
                <a:xfrm flipV="1">
                  <a:off x="2822415" y="2897849"/>
                  <a:ext cx="290513" cy="452438"/>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sp>
              <p:nvSpPr>
                <p:cNvPr id="210" name="Text Box 86">
                  <a:extLst>
                    <a:ext uri="{FF2B5EF4-FFF2-40B4-BE49-F238E27FC236}">
                      <a16:creationId xmlns:a16="http://schemas.microsoft.com/office/drawing/2014/main" id="{4D4BFB0F-E4AE-4B14-90BD-F0679742899D}"/>
                    </a:ext>
                  </a:extLst>
                </p:cNvPr>
                <p:cNvSpPr txBox="1">
                  <a:spLocks noChangeArrowheads="1"/>
                </p:cNvSpPr>
                <p:nvPr/>
              </p:nvSpPr>
              <p:spPr bwMode="auto">
                <a:xfrm>
                  <a:off x="1452061" y="4857575"/>
                  <a:ext cx="471488"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p>
              </p:txBody>
            </p:sp>
            <p:sp>
              <p:nvSpPr>
                <p:cNvPr id="211" name="Text Box 87">
                  <a:extLst>
                    <a:ext uri="{FF2B5EF4-FFF2-40B4-BE49-F238E27FC236}">
                      <a16:creationId xmlns:a16="http://schemas.microsoft.com/office/drawing/2014/main" id="{EA126B8A-5B7C-49D6-A3A2-77A54253BDF9}"/>
                    </a:ext>
                  </a:extLst>
                </p:cNvPr>
                <p:cNvSpPr txBox="1">
                  <a:spLocks noChangeArrowheads="1"/>
                </p:cNvSpPr>
                <p:nvPr/>
              </p:nvSpPr>
              <p:spPr bwMode="auto">
                <a:xfrm>
                  <a:off x="3225640" y="3936074"/>
                  <a:ext cx="46990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baseline="-25000" dirty="0">
                      <a:solidFill>
                        <a:srgbClr val="FF0000"/>
                      </a:solidFill>
                      <a:latin typeface="Times New Roman" panose="02020603050405020304" pitchFamily="18" charset="0"/>
                      <a:cs typeface="Times New Roman" panose="02020603050405020304" pitchFamily="18" charset="0"/>
                    </a:rPr>
                    <a:t>2</a:t>
                  </a:r>
                  <a:endParaRPr lang="en-US" altLang="zh-CN" dirty="0">
                    <a:solidFill>
                      <a:srgbClr val="FF0000"/>
                    </a:solidFill>
                    <a:latin typeface="Times New Roman" panose="02020603050405020304" pitchFamily="18" charset="0"/>
                    <a:cs typeface="Times New Roman" panose="02020603050405020304" pitchFamily="18" charset="0"/>
                  </a:endParaRPr>
                </a:p>
              </p:txBody>
            </p:sp>
            <p:sp>
              <p:nvSpPr>
                <p:cNvPr id="212" name="Text Box 88">
                  <a:extLst>
                    <a:ext uri="{FF2B5EF4-FFF2-40B4-BE49-F238E27FC236}">
                      <a16:creationId xmlns:a16="http://schemas.microsoft.com/office/drawing/2014/main" id="{1E3A3EA7-5ADD-4D00-8756-A66556909BB2}"/>
                    </a:ext>
                  </a:extLst>
                </p:cNvPr>
                <p:cNvSpPr txBox="1">
                  <a:spLocks noChangeArrowheads="1"/>
                </p:cNvSpPr>
                <p:nvPr/>
              </p:nvSpPr>
              <p:spPr bwMode="auto">
                <a:xfrm>
                  <a:off x="3676490" y="2915312"/>
                  <a:ext cx="46990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baseline="-25000" dirty="0">
                      <a:solidFill>
                        <a:srgbClr val="FF0000"/>
                      </a:solidFill>
                      <a:latin typeface="Times New Roman" panose="02020603050405020304" pitchFamily="18" charset="0"/>
                      <a:cs typeface="Times New Roman" panose="02020603050405020304" pitchFamily="18" charset="0"/>
                    </a:rPr>
                    <a:t>G</a:t>
                  </a:r>
                  <a:endParaRPr lang="en-US" altLang="zh-CN" dirty="0">
                    <a:solidFill>
                      <a:srgbClr val="FF0000"/>
                    </a:solidFill>
                    <a:latin typeface="Times New Roman" panose="02020603050405020304" pitchFamily="18" charset="0"/>
                    <a:cs typeface="Times New Roman" panose="02020603050405020304" pitchFamily="18" charset="0"/>
                  </a:endParaRPr>
                </a:p>
              </p:txBody>
            </p:sp>
            <p:sp>
              <p:nvSpPr>
                <p:cNvPr id="213" name="Text Box 89">
                  <a:extLst>
                    <a:ext uri="{FF2B5EF4-FFF2-40B4-BE49-F238E27FC236}">
                      <a16:creationId xmlns:a16="http://schemas.microsoft.com/office/drawing/2014/main" id="{C7695498-81D4-4150-948A-54ADFCCB8D34}"/>
                    </a:ext>
                  </a:extLst>
                </p:cNvPr>
                <p:cNvSpPr txBox="1">
                  <a:spLocks noChangeArrowheads="1"/>
                </p:cNvSpPr>
                <p:nvPr/>
              </p:nvSpPr>
              <p:spPr bwMode="auto">
                <a:xfrm>
                  <a:off x="2981165" y="3002624"/>
                  <a:ext cx="46990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baseline="-25000" dirty="0">
                      <a:solidFill>
                        <a:srgbClr val="FF0000"/>
                      </a:solidFill>
                      <a:latin typeface="Times New Roman" panose="02020603050405020304" pitchFamily="18" charset="0"/>
                      <a:cs typeface="Times New Roman" panose="02020603050405020304" pitchFamily="18" charset="0"/>
                    </a:rPr>
                    <a:t>1</a:t>
                  </a:r>
                  <a:endParaRPr lang="en-US" altLang="zh-CN" dirty="0">
                    <a:solidFill>
                      <a:srgbClr val="FF0000"/>
                    </a:solidFill>
                    <a:latin typeface="Times New Roman" panose="02020603050405020304" pitchFamily="18" charset="0"/>
                    <a:cs typeface="Times New Roman" panose="02020603050405020304" pitchFamily="18" charset="0"/>
                  </a:endParaRPr>
                </a:p>
              </p:txBody>
            </p:sp>
            <p:sp>
              <p:nvSpPr>
                <p:cNvPr id="214" name="Text Box 90">
                  <a:extLst>
                    <a:ext uri="{FF2B5EF4-FFF2-40B4-BE49-F238E27FC236}">
                      <a16:creationId xmlns:a16="http://schemas.microsoft.com/office/drawing/2014/main" id="{71C01AF1-E033-4265-9F7B-8C5EEC3AC8D2}"/>
                    </a:ext>
                  </a:extLst>
                </p:cNvPr>
                <p:cNvSpPr txBox="1">
                  <a:spLocks noChangeArrowheads="1"/>
                </p:cNvSpPr>
                <p:nvPr/>
              </p:nvSpPr>
              <p:spPr bwMode="auto">
                <a:xfrm>
                  <a:off x="2187415" y="4815549"/>
                  <a:ext cx="471488"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baseline="-25000" dirty="0">
                      <a:solidFill>
                        <a:srgbClr val="FF0000"/>
                      </a:solidFill>
                      <a:latin typeface="Times New Roman" panose="02020603050405020304" pitchFamily="18" charset="0"/>
                      <a:cs typeface="Times New Roman" panose="02020603050405020304" pitchFamily="18" charset="0"/>
                    </a:rPr>
                    <a:t>3</a:t>
                  </a:r>
                  <a:endParaRPr lang="en-US" altLang="zh-CN" dirty="0">
                    <a:solidFill>
                      <a:srgbClr val="FF0000"/>
                    </a:solidFill>
                    <a:latin typeface="Times New Roman" panose="02020603050405020304" pitchFamily="18" charset="0"/>
                    <a:cs typeface="Times New Roman" panose="02020603050405020304" pitchFamily="18" charset="0"/>
                  </a:endParaRPr>
                </a:p>
              </p:txBody>
            </p:sp>
          </p:grpSp>
          <p:sp>
            <p:nvSpPr>
              <p:cNvPr id="205" name="Line 83">
                <a:extLst>
                  <a:ext uri="{FF2B5EF4-FFF2-40B4-BE49-F238E27FC236}">
                    <a16:creationId xmlns:a16="http://schemas.microsoft.com/office/drawing/2014/main" id="{0640D6A0-CEC5-496F-8136-F6865200545E}"/>
                  </a:ext>
                </a:extLst>
              </p:cNvPr>
              <p:cNvSpPr>
                <a:spLocks noChangeShapeType="1"/>
              </p:cNvSpPr>
              <p:nvPr/>
            </p:nvSpPr>
            <p:spPr bwMode="auto">
              <a:xfrm>
                <a:off x="3681253" y="2897849"/>
                <a:ext cx="0" cy="403225"/>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grpSp>
      <p:sp>
        <p:nvSpPr>
          <p:cNvPr id="215" name="Text Box 382">
            <a:extLst>
              <a:ext uri="{FF2B5EF4-FFF2-40B4-BE49-F238E27FC236}">
                <a16:creationId xmlns:a16="http://schemas.microsoft.com/office/drawing/2014/main" id="{E4D109E5-4803-4A37-929A-C1B710417100}"/>
              </a:ext>
            </a:extLst>
          </p:cNvPr>
          <p:cNvSpPr txBox="1">
            <a:spLocks noChangeArrowheads="1"/>
          </p:cNvSpPr>
          <p:nvPr/>
        </p:nvSpPr>
        <p:spPr bwMode="auto">
          <a:xfrm>
            <a:off x="6453956" y="392392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sz="2400"/>
          </a:p>
        </p:txBody>
      </p:sp>
      <p:sp>
        <p:nvSpPr>
          <p:cNvPr id="222" name="矩形 221">
            <a:extLst>
              <a:ext uri="{FF2B5EF4-FFF2-40B4-BE49-F238E27FC236}">
                <a16:creationId xmlns:a16="http://schemas.microsoft.com/office/drawing/2014/main" id="{A1ACFDA4-43E1-413F-A525-02274A1657CD}"/>
              </a:ext>
            </a:extLst>
          </p:cNvPr>
          <p:cNvSpPr/>
          <p:nvPr/>
        </p:nvSpPr>
        <p:spPr>
          <a:xfrm>
            <a:off x="5781097" y="1058564"/>
            <a:ext cx="5786279" cy="2221762"/>
          </a:xfrm>
          <a:prstGeom prst="rect">
            <a:avLst/>
          </a:prstGeom>
        </p:spPr>
        <p:txBody>
          <a:bodyPr wrap="square">
            <a:spAutoFit/>
          </a:bodyPr>
          <a:lstStyle/>
          <a:p>
            <a:pPr algn="just">
              <a:lnSpc>
                <a:spcPct val="150000"/>
              </a:lnSpc>
            </a:pPr>
            <a:r>
              <a:rPr lang="zh-CN" altLang="en-US" sz="2400" dirty="0">
                <a:latin typeface="楷体" panose="02010609060101010101" pitchFamily="49" charset="-122"/>
                <a:ea typeface="楷体" panose="02010609060101010101" pitchFamily="49" charset="-122"/>
                <a:cs typeface="Times New Roman" panose="02020603050405020304" pitchFamily="18" charset="0"/>
              </a:rPr>
              <a:t>    当电桥平衡时，检流计指示为零，</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I</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G</a:t>
            </a:r>
            <a:r>
              <a:rPr lang="en-US" altLang="zh-CN" sz="2400" dirty="0">
                <a:latin typeface="楷体" panose="02010609060101010101" pitchFamily="49" charset="-122"/>
                <a:ea typeface="楷体" panose="02010609060101010101" pitchFamily="49" charset="-122"/>
                <a:cs typeface="Times New Roman" panose="02020603050405020304" pitchFamily="18" charset="0"/>
              </a:rPr>
              <a:t>=0</a:t>
            </a:r>
            <a:r>
              <a:rPr lang="zh-CN" altLang="en-US" sz="2400" dirty="0">
                <a:latin typeface="楷体" panose="02010609060101010101" pitchFamily="49" charset="-122"/>
                <a:ea typeface="楷体" panose="02010609060101010101" pitchFamily="49" charset="-122"/>
                <a:cs typeface="Times New Roman" panose="02020603050405020304" pitchFamily="18" charset="0"/>
              </a:rPr>
              <a:t>。这时通过</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和</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的电流相等，记为</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I</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zh-CN" altLang="en-US" sz="2400" dirty="0">
                <a:latin typeface="楷体" panose="02010609060101010101" pitchFamily="49" charset="-122"/>
                <a:ea typeface="楷体" panose="02010609060101010101" pitchFamily="49" charset="-122"/>
                <a:cs typeface="Times New Roman" panose="02020603050405020304" pitchFamily="18" charset="0"/>
              </a:rPr>
              <a:t>，通过</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3</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和</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的电流也相等，记为</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I</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，忽略附加电阻的影响，根据基尔霍夫定律，有：</a:t>
            </a:r>
          </a:p>
        </p:txBody>
      </p:sp>
      <p:grpSp>
        <p:nvGrpSpPr>
          <p:cNvPr id="4" name="组合 3"/>
          <p:cNvGrpSpPr/>
          <p:nvPr/>
        </p:nvGrpSpPr>
        <p:grpSpPr>
          <a:xfrm>
            <a:off x="7422784" y="3699292"/>
            <a:ext cx="2869621" cy="1790320"/>
            <a:chOff x="6784736" y="1660525"/>
            <a:chExt cx="2869621" cy="1790320"/>
          </a:xfrm>
        </p:grpSpPr>
        <p:graphicFrame>
          <p:nvGraphicFramePr>
            <p:cNvPr id="223" name="Object 331"/>
            <p:cNvGraphicFramePr>
              <a:graphicFrameLocks noChangeAspect="1"/>
            </p:cNvGraphicFramePr>
            <p:nvPr>
              <p:extLst>
                <p:ext uri="{D42A27DB-BD31-4B8C-83A1-F6EECF244321}">
                  <p14:modId xmlns:p14="http://schemas.microsoft.com/office/powerpoint/2010/main" val="3825697235"/>
                </p:ext>
              </p:extLst>
            </p:nvPr>
          </p:nvGraphicFramePr>
          <p:xfrm>
            <a:off x="7502525" y="1660525"/>
            <a:ext cx="1878013" cy="498475"/>
          </p:xfrm>
          <a:graphic>
            <a:graphicData uri="http://schemas.openxmlformats.org/presentationml/2006/ole">
              <mc:AlternateContent xmlns:mc="http://schemas.openxmlformats.org/markup-compatibility/2006">
                <mc:Choice xmlns:v="urn:schemas-microsoft-com:vml" Requires="v">
                  <p:oleObj name="Equation" r:id="rId3" imgW="25908000" imgH="5486400" progId="Equation.DSMT4">
                    <p:embed/>
                  </p:oleObj>
                </mc:Choice>
                <mc:Fallback>
                  <p:oleObj name="Equation" r:id="rId3" imgW="25908000" imgH="5486400" progId="Equation.DSMT4">
                    <p:embed/>
                    <p:pic>
                      <p:nvPicPr>
                        <p:cNvPr id="113" name="Object 331"/>
                        <p:cNvPicPr>
                          <a:picLocks noChangeAspect="1" noChangeArrowheads="1"/>
                        </p:cNvPicPr>
                        <p:nvPr/>
                      </p:nvPicPr>
                      <p:blipFill>
                        <a:blip r:embed="rId4"/>
                        <a:srcRect/>
                        <a:stretch>
                          <a:fillRect/>
                        </a:stretch>
                      </p:blipFill>
                      <p:spPr bwMode="auto">
                        <a:xfrm>
                          <a:off x="7502525" y="1660525"/>
                          <a:ext cx="1878013"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 name="Object 332"/>
            <p:cNvGraphicFramePr>
              <a:graphicFrameLocks noChangeAspect="1"/>
            </p:cNvGraphicFramePr>
            <p:nvPr>
              <p:extLst>
                <p:ext uri="{D42A27DB-BD31-4B8C-83A1-F6EECF244321}">
                  <p14:modId xmlns:p14="http://schemas.microsoft.com/office/powerpoint/2010/main" val="2881592453"/>
                </p:ext>
              </p:extLst>
            </p:nvPr>
          </p:nvGraphicFramePr>
          <p:xfrm>
            <a:off x="7458844" y="2336420"/>
            <a:ext cx="1930400" cy="457200"/>
          </p:xfrm>
          <a:graphic>
            <a:graphicData uri="http://schemas.openxmlformats.org/presentationml/2006/ole">
              <mc:AlternateContent xmlns:mc="http://schemas.openxmlformats.org/markup-compatibility/2006">
                <mc:Choice xmlns:v="urn:schemas-microsoft-com:vml" Requires="v">
                  <p:oleObj name="公式" r:id="rId5" imgW="1117600" imgH="228600" progId="Equation.3">
                    <p:embed/>
                  </p:oleObj>
                </mc:Choice>
                <mc:Fallback>
                  <p:oleObj name="公式" r:id="rId5" imgW="1117600" imgH="228600" progId="Equation.3">
                    <p:embed/>
                    <p:pic>
                      <p:nvPicPr>
                        <p:cNvPr id="111" name="Object 3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8844" y="2336420"/>
                          <a:ext cx="1930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 name="Text Box 299"/>
            <p:cNvSpPr txBox="1">
              <a:spLocks noChangeArrowheads="1"/>
            </p:cNvSpPr>
            <p:nvPr/>
          </p:nvSpPr>
          <p:spPr bwMode="auto">
            <a:xfrm>
              <a:off x="7671569" y="2993645"/>
              <a:ext cx="241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t> </a:t>
              </a:r>
              <a:endParaRPr lang="en-US" altLang="zh-CN" sz="1000"/>
            </a:p>
          </p:txBody>
        </p:sp>
        <p:graphicFrame>
          <p:nvGraphicFramePr>
            <p:cNvPr id="226" name="Object 335"/>
            <p:cNvGraphicFramePr>
              <a:graphicFrameLocks noChangeAspect="1"/>
            </p:cNvGraphicFramePr>
            <p:nvPr>
              <p:extLst>
                <p:ext uri="{D42A27DB-BD31-4B8C-83A1-F6EECF244321}">
                  <p14:modId xmlns:p14="http://schemas.microsoft.com/office/powerpoint/2010/main" val="2797391221"/>
                </p:ext>
              </p:extLst>
            </p:nvPr>
          </p:nvGraphicFramePr>
          <p:xfrm>
            <a:off x="7211194" y="2993645"/>
            <a:ext cx="2443163" cy="457200"/>
          </p:xfrm>
          <a:graphic>
            <a:graphicData uri="http://schemas.openxmlformats.org/presentationml/2006/ole">
              <mc:AlternateContent xmlns:mc="http://schemas.openxmlformats.org/markup-compatibility/2006">
                <mc:Choice xmlns:v="urn:schemas-microsoft-com:vml" Requires="v">
                  <p:oleObj name="公式" r:id="rId7" imgW="1435100" imgH="228600" progId="Equation.3">
                    <p:embed/>
                  </p:oleObj>
                </mc:Choice>
                <mc:Fallback>
                  <p:oleObj name="公式" r:id="rId7" imgW="1435100" imgH="228600" progId="Equation.3">
                    <p:embed/>
                    <p:pic>
                      <p:nvPicPr>
                        <p:cNvPr id="109" name="Object 3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11194" y="2993645"/>
                          <a:ext cx="24431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7" name="左大括号 226"/>
            <p:cNvSpPr/>
            <p:nvPr/>
          </p:nvSpPr>
          <p:spPr>
            <a:xfrm>
              <a:off x="6784736" y="1693440"/>
              <a:ext cx="301625" cy="1743159"/>
            </a:xfrm>
            <a:prstGeom prst="leftBrace">
              <a:avLst>
                <a:gd name="adj1" fmla="val 66963"/>
                <a:gd name="adj2" fmla="val 48543"/>
              </a:avLst>
            </a:prstGeom>
            <a:ln w="31750">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2143551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457783"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5" name="灯片编号占位符 4"/>
          <p:cNvSpPr>
            <a:spLocks noGrp="1"/>
          </p:cNvSpPr>
          <p:nvPr>
            <p:ph type="sldNum" sz="quarter" idx="12"/>
          </p:nvPr>
        </p:nvSpPr>
        <p:spPr/>
        <p:txBody>
          <a:bodyPr/>
          <a:lstStyle/>
          <a:p>
            <a:fld id="{888F8D02-9041-4C59-BC62-13DE0E5C6713}" type="slidenum">
              <a:rPr lang="zh-CN" altLang="en-US" sz="1400" b="1" smtClean="0"/>
              <a:t>13</a:t>
            </a:fld>
            <a:endParaRPr lang="zh-CN" altLang="en-US" sz="1400" b="1" dirty="0"/>
          </a:p>
        </p:txBody>
      </p:sp>
      <p:grpSp>
        <p:nvGrpSpPr>
          <p:cNvPr id="7" name="组合 6"/>
          <p:cNvGrpSpPr/>
          <p:nvPr/>
        </p:nvGrpSpPr>
        <p:grpSpPr>
          <a:xfrm>
            <a:off x="366756" y="1781231"/>
            <a:ext cx="6204476" cy="3938622"/>
            <a:chOff x="236479" y="1830361"/>
            <a:chExt cx="6204476" cy="3938622"/>
          </a:xfrm>
        </p:grpSpPr>
        <p:grpSp>
          <p:nvGrpSpPr>
            <p:cNvPr id="86" name="组合 85">
              <a:extLst>
                <a:ext uri="{FF2B5EF4-FFF2-40B4-BE49-F238E27FC236}">
                  <a16:creationId xmlns:a16="http://schemas.microsoft.com/office/drawing/2014/main" id="{68A04B80-D088-4F17-9E93-1E5252E41794}"/>
                </a:ext>
              </a:extLst>
            </p:cNvPr>
            <p:cNvGrpSpPr/>
            <p:nvPr/>
          </p:nvGrpSpPr>
          <p:grpSpPr>
            <a:xfrm>
              <a:off x="236479" y="1830361"/>
              <a:ext cx="6204476" cy="3938622"/>
              <a:chOff x="542218" y="2308364"/>
              <a:chExt cx="5884508" cy="3735505"/>
            </a:xfrm>
          </p:grpSpPr>
          <p:sp>
            <p:nvSpPr>
              <p:cNvPr id="87" name="AutoShape 4">
                <a:extLst>
                  <a:ext uri="{FF2B5EF4-FFF2-40B4-BE49-F238E27FC236}">
                    <a16:creationId xmlns:a16="http://schemas.microsoft.com/office/drawing/2014/main" id="{ABBBE458-2E0C-460B-97B0-4E469EA2E964}"/>
                  </a:ext>
                </a:extLst>
              </p:cNvPr>
              <p:cNvSpPr>
                <a:spLocks noChangeArrowheads="1"/>
              </p:cNvSpPr>
              <p:nvPr/>
            </p:nvSpPr>
            <p:spPr bwMode="auto">
              <a:xfrm>
                <a:off x="2566880" y="3991231"/>
                <a:ext cx="1828800" cy="139223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AutoShape 5">
                <a:extLst>
                  <a:ext uri="{FF2B5EF4-FFF2-40B4-BE49-F238E27FC236}">
                    <a16:creationId xmlns:a16="http://schemas.microsoft.com/office/drawing/2014/main" id="{80A068C1-F651-4E6E-9955-F54DA8F547D5}"/>
                  </a:ext>
                </a:extLst>
              </p:cNvPr>
              <p:cNvSpPr>
                <a:spLocks noChangeArrowheads="1"/>
              </p:cNvSpPr>
              <p:nvPr/>
            </p:nvSpPr>
            <p:spPr bwMode="auto">
              <a:xfrm>
                <a:off x="1692168" y="2635506"/>
                <a:ext cx="3579813" cy="2749550"/>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6">
                <a:extLst>
                  <a:ext uri="{FF2B5EF4-FFF2-40B4-BE49-F238E27FC236}">
                    <a16:creationId xmlns:a16="http://schemas.microsoft.com/office/drawing/2014/main" id="{ECF54E07-EF17-4DE5-9A46-ABB35EB33748}"/>
                  </a:ext>
                </a:extLst>
              </p:cNvPr>
              <p:cNvSpPr>
                <a:spLocks noChangeShapeType="1"/>
              </p:cNvSpPr>
              <p:nvPr/>
            </p:nvSpPr>
            <p:spPr bwMode="auto">
              <a:xfrm>
                <a:off x="3481280" y="2635506"/>
                <a:ext cx="0" cy="135572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0" name="Oval 7">
                <a:extLst>
                  <a:ext uri="{FF2B5EF4-FFF2-40B4-BE49-F238E27FC236}">
                    <a16:creationId xmlns:a16="http://schemas.microsoft.com/office/drawing/2014/main" id="{68B2315F-40FD-43A3-9B5F-904DDE439472}"/>
                  </a:ext>
                </a:extLst>
              </p:cNvPr>
              <p:cNvSpPr>
                <a:spLocks noChangeArrowheads="1"/>
              </p:cNvSpPr>
              <p:nvPr/>
            </p:nvSpPr>
            <p:spPr bwMode="auto">
              <a:xfrm>
                <a:off x="3335230" y="3253044"/>
                <a:ext cx="284163" cy="284163"/>
              </a:xfrm>
              <a:prstGeom prst="ellipse">
                <a:avLst/>
              </a:prstGeom>
              <a:solidFill>
                <a:schemeClr val="bg1"/>
              </a:solidFill>
              <a:ln w="9525">
                <a:solidFill>
                  <a:schemeClr val="tx1"/>
                </a:solidFill>
                <a:miter lim="800000"/>
                <a:headEnd/>
                <a:tailEnd/>
              </a:ln>
              <a:effectLst/>
            </p:spPr>
            <p:txBody>
              <a:bodyPr wrap="none" anchor="ctr"/>
              <a:lstStyle/>
              <a:p>
                <a:endParaRPr lang="zh-CN" altLang="en-US"/>
              </a:p>
            </p:txBody>
          </p:sp>
          <p:sp>
            <p:nvSpPr>
              <p:cNvPr id="91" name="Text Box 8">
                <a:extLst>
                  <a:ext uri="{FF2B5EF4-FFF2-40B4-BE49-F238E27FC236}">
                    <a16:creationId xmlns:a16="http://schemas.microsoft.com/office/drawing/2014/main" id="{D69727C7-AF9B-459F-BCDF-732FDFD8C488}"/>
                  </a:ext>
                </a:extLst>
              </p:cNvPr>
              <p:cNvSpPr txBox="1">
                <a:spLocks noChangeArrowheads="1"/>
              </p:cNvSpPr>
              <p:nvPr/>
            </p:nvSpPr>
            <p:spPr bwMode="auto">
              <a:xfrm>
                <a:off x="3301258" y="3195894"/>
                <a:ext cx="28575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Times New Roman" panose="02020603050405020304" pitchFamily="18" charset="0"/>
                    <a:cs typeface="Times New Roman" panose="02020603050405020304" pitchFamily="18" charset="0"/>
                  </a:rPr>
                  <a:t>G</a:t>
                </a:r>
              </a:p>
            </p:txBody>
          </p:sp>
          <p:sp>
            <p:nvSpPr>
              <p:cNvPr id="92" name="Rectangle 10">
                <a:extLst>
                  <a:ext uri="{FF2B5EF4-FFF2-40B4-BE49-F238E27FC236}">
                    <a16:creationId xmlns:a16="http://schemas.microsoft.com/office/drawing/2014/main" id="{1CAF4C84-DD8A-4D2B-97E3-A467872E5CB3}"/>
                  </a:ext>
                </a:extLst>
              </p:cNvPr>
              <p:cNvSpPr>
                <a:spLocks noChangeArrowheads="1"/>
              </p:cNvSpPr>
              <p:nvPr/>
            </p:nvSpPr>
            <p:spPr bwMode="auto">
              <a:xfrm rot="19492583">
                <a:off x="3941655" y="3291144"/>
                <a:ext cx="93663" cy="2444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zh-CN" altLang="en-US"/>
              </a:p>
            </p:txBody>
          </p:sp>
          <p:sp>
            <p:nvSpPr>
              <p:cNvPr id="93" name="Rectangle 12">
                <a:extLst>
                  <a:ext uri="{FF2B5EF4-FFF2-40B4-BE49-F238E27FC236}">
                    <a16:creationId xmlns:a16="http://schemas.microsoft.com/office/drawing/2014/main" id="{122E29AB-61D9-42C5-AD19-D07602AAB207}"/>
                  </a:ext>
                </a:extLst>
              </p:cNvPr>
              <p:cNvSpPr>
                <a:spLocks noChangeArrowheads="1"/>
              </p:cNvSpPr>
              <p:nvPr/>
            </p:nvSpPr>
            <p:spPr bwMode="auto">
              <a:xfrm rot="1988136">
                <a:off x="2928830" y="3284794"/>
                <a:ext cx="93663" cy="2444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zh-CN" altLang="en-US"/>
              </a:p>
            </p:txBody>
          </p:sp>
          <p:sp>
            <p:nvSpPr>
              <p:cNvPr id="94" name="Rectangle 13">
                <a:extLst>
                  <a:ext uri="{FF2B5EF4-FFF2-40B4-BE49-F238E27FC236}">
                    <a16:creationId xmlns:a16="http://schemas.microsoft.com/office/drawing/2014/main" id="{5506E5D2-932B-4292-BBAB-167918F5720A}"/>
                  </a:ext>
                </a:extLst>
              </p:cNvPr>
              <p:cNvSpPr>
                <a:spLocks noChangeArrowheads="1"/>
              </p:cNvSpPr>
              <p:nvPr/>
            </p:nvSpPr>
            <p:spPr bwMode="auto">
              <a:xfrm rot="1988136">
                <a:off x="3230455" y="4173794"/>
                <a:ext cx="93663" cy="244475"/>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zh-CN" altLang="en-US"/>
              </a:p>
            </p:txBody>
          </p:sp>
          <p:sp>
            <p:nvSpPr>
              <p:cNvPr id="95" name="Rectangle 20">
                <a:extLst>
                  <a:ext uri="{FF2B5EF4-FFF2-40B4-BE49-F238E27FC236}">
                    <a16:creationId xmlns:a16="http://schemas.microsoft.com/office/drawing/2014/main" id="{53CD9FBA-1B24-4BF4-B2D7-0BAB27A92507}"/>
                  </a:ext>
                </a:extLst>
              </p:cNvPr>
              <p:cNvSpPr>
                <a:spLocks noChangeArrowheads="1"/>
              </p:cNvSpPr>
              <p:nvPr/>
            </p:nvSpPr>
            <p:spPr bwMode="auto">
              <a:xfrm rot="19533070">
                <a:off x="3636855" y="4170619"/>
                <a:ext cx="93663" cy="244475"/>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zh-CN" altLang="en-US"/>
              </a:p>
            </p:txBody>
          </p:sp>
          <p:sp>
            <p:nvSpPr>
              <p:cNvPr id="96" name="Line 25">
                <a:extLst>
                  <a:ext uri="{FF2B5EF4-FFF2-40B4-BE49-F238E27FC236}">
                    <a16:creationId xmlns:a16="http://schemas.microsoft.com/office/drawing/2014/main" id="{6B5B9731-E564-4E13-AF90-F74057AE4CEE}"/>
                  </a:ext>
                </a:extLst>
              </p:cNvPr>
              <p:cNvSpPr>
                <a:spLocks noChangeShapeType="1"/>
              </p:cNvSpPr>
              <p:nvPr/>
            </p:nvSpPr>
            <p:spPr bwMode="auto">
              <a:xfrm>
                <a:off x="2609743" y="5918456"/>
                <a:ext cx="19621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 name="Rectangle 28">
                <a:extLst>
                  <a:ext uri="{FF2B5EF4-FFF2-40B4-BE49-F238E27FC236}">
                    <a16:creationId xmlns:a16="http://schemas.microsoft.com/office/drawing/2014/main" id="{71133F23-21D3-4B55-86D7-558C43EF020E}"/>
                  </a:ext>
                </a:extLst>
              </p:cNvPr>
              <p:cNvSpPr>
                <a:spLocks noChangeArrowheads="1"/>
              </p:cNvSpPr>
              <p:nvPr/>
            </p:nvSpPr>
            <p:spPr bwMode="auto">
              <a:xfrm>
                <a:off x="1646130" y="5345369"/>
                <a:ext cx="1027113" cy="80963"/>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a:p>
            </p:txBody>
          </p:sp>
          <p:sp>
            <p:nvSpPr>
              <p:cNvPr id="98" name="Rectangle 29">
                <a:extLst>
                  <a:ext uri="{FF2B5EF4-FFF2-40B4-BE49-F238E27FC236}">
                    <a16:creationId xmlns:a16="http://schemas.microsoft.com/office/drawing/2014/main" id="{FD0C4C25-0E79-4AED-AE74-D3AD312FD528}"/>
                  </a:ext>
                </a:extLst>
              </p:cNvPr>
              <p:cNvSpPr>
                <a:spLocks noChangeArrowheads="1"/>
              </p:cNvSpPr>
              <p:nvPr/>
            </p:nvSpPr>
            <p:spPr bwMode="auto">
              <a:xfrm>
                <a:off x="4289318" y="5342194"/>
                <a:ext cx="1027113" cy="80963"/>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zh-CN" altLang="en-US"/>
              </a:p>
            </p:txBody>
          </p:sp>
          <p:sp>
            <p:nvSpPr>
              <p:cNvPr id="99" name="Oval 30">
                <a:extLst>
                  <a:ext uri="{FF2B5EF4-FFF2-40B4-BE49-F238E27FC236}">
                    <a16:creationId xmlns:a16="http://schemas.microsoft.com/office/drawing/2014/main" id="{6FBC0115-F2FB-4306-8472-0BBD9BC4A744}"/>
                  </a:ext>
                </a:extLst>
              </p:cNvPr>
              <p:cNvSpPr>
                <a:spLocks noChangeArrowheads="1"/>
              </p:cNvSpPr>
              <p:nvPr/>
            </p:nvSpPr>
            <p:spPr bwMode="auto">
              <a:xfrm>
                <a:off x="1014305" y="5364419"/>
                <a:ext cx="39688"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Oval 31">
                <a:extLst>
                  <a:ext uri="{FF2B5EF4-FFF2-40B4-BE49-F238E27FC236}">
                    <a16:creationId xmlns:a16="http://schemas.microsoft.com/office/drawing/2014/main" id="{85EDA718-53B3-41A9-8532-C24F28C702CE}"/>
                  </a:ext>
                </a:extLst>
              </p:cNvPr>
              <p:cNvSpPr>
                <a:spLocks noChangeArrowheads="1"/>
              </p:cNvSpPr>
              <p:nvPr/>
            </p:nvSpPr>
            <p:spPr bwMode="auto">
              <a:xfrm>
                <a:off x="2517668" y="4061081"/>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Oval 32">
                <a:extLst>
                  <a:ext uri="{FF2B5EF4-FFF2-40B4-BE49-F238E27FC236}">
                    <a16:creationId xmlns:a16="http://schemas.microsoft.com/office/drawing/2014/main" id="{7E09DC93-208A-4AFC-B0AC-4789A7C40E35}"/>
                  </a:ext>
                </a:extLst>
              </p:cNvPr>
              <p:cNvSpPr>
                <a:spLocks noChangeArrowheads="1"/>
              </p:cNvSpPr>
              <p:nvPr/>
            </p:nvSpPr>
            <p:spPr bwMode="auto">
              <a:xfrm>
                <a:off x="3039955" y="4613531"/>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Oval 33">
                <a:extLst>
                  <a:ext uri="{FF2B5EF4-FFF2-40B4-BE49-F238E27FC236}">
                    <a16:creationId xmlns:a16="http://schemas.microsoft.com/office/drawing/2014/main" id="{A99C4EE1-E745-482E-AE08-5D0C9BC217DC}"/>
                  </a:ext>
                </a:extLst>
              </p:cNvPr>
              <p:cNvSpPr>
                <a:spLocks noChangeArrowheads="1"/>
              </p:cNvSpPr>
              <p:nvPr/>
            </p:nvSpPr>
            <p:spPr bwMode="auto">
              <a:xfrm>
                <a:off x="3168543" y="5362831"/>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Oval 34">
                <a:extLst>
                  <a:ext uri="{FF2B5EF4-FFF2-40B4-BE49-F238E27FC236}">
                    <a16:creationId xmlns:a16="http://schemas.microsoft.com/office/drawing/2014/main" id="{BC9623D0-05DC-429E-B2BE-F80D931DE9BA}"/>
                  </a:ext>
                </a:extLst>
              </p:cNvPr>
              <p:cNvSpPr>
                <a:spLocks noChangeArrowheads="1"/>
              </p:cNvSpPr>
              <p:nvPr/>
            </p:nvSpPr>
            <p:spPr bwMode="auto">
              <a:xfrm>
                <a:off x="3768618" y="5359656"/>
                <a:ext cx="38100"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Oval 35">
                <a:extLst>
                  <a:ext uri="{FF2B5EF4-FFF2-40B4-BE49-F238E27FC236}">
                    <a16:creationId xmlns:a16="http://schemas.microsoft.com/office/drawing/2014/main" id="{11547983-E35C-4D04-8297-CDFB9B59D33F}"/>
                  </a:ext>
                </a:extLst>
              </p:cNvPr>
              <p:cNvSpPr>
                <a:spLocks noChangeArrowheads="1"/>
              </p:cNvSpPr>
              <p:nvPr/>
            </p:nvSpPr>
            <p:spPr bwMode="auto">
              <a:xfrm>
                <a:off x="3884505" y="4613531"/>
                <a:ext cx="39688" cy="39688"/>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Oval 36">
                <a:extLst>
                  <a:ext uri="{FF2B5EF4-FFF2-40B4-BE49-F238E27FC236}">
                    <a16:creationId xmlns:a16="http://schemas.microsoft.com/office/drawing/2014/main" id="{11D18D6C-9A33-484C-A140-1D60B948D790}"/>
                  </a:ext>
                </a:extLst>
              </p:cNvPr>
              <p:cNvSpPr>
                <a:spLocks noChangeArrowheads="1"/>
              </p:cNvSpPr>
              <p:nvPr/>
            </p:nvSpPr>
            <p:spPr bwMode="auto">
              <a:xfrm>
                <a:off x="4397268" y="4051556"/>
                <a:ext cx="38100" cy="41275"/>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 name="Oval 37">
                <a:extLst>
                  <a:ext uri="{FF2B5EF4-FFF2-40B4-BE49-F238E27FC236}">
                    <a16:creationId xmlns:a16="http://schemas.microsoft.com/office/drawing/2014/main" id="{48BCDE8C-1654-46F2-A79A-903987F53771}"/>
                  </a:ext>
                </a:extLst>
              </p:cNvPr>
              <p:cNvSpPr>
                <a:spLocks noChangeArrowheads="1"/>
              </p:cNvSpPr>
              <p:nvPr/>
            </p:nvSpPr>
            <p:spPr bwMode="auto">
              <a:xfrm>
                <a:off x="5906980" y="5369181"/>
                <a:ext cx="38100" cy="41275"/>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 name="Line 42">
                <a:extLst>
                  <a:ext uri="{FF2B5EF4-FFF2-40B4-BE49-F238E27FC236}">
                    <a16:creationId xmlns:a16="http://schemas.microsoft.com/office/drawing/2014/main" id="{52740DA4-65FC-4D88-925E-2BA87B64DC9F}"/>
                  </a:ext>
                </a:extLst>
              </p:cNvPr>
              <p:cNvSpPr>
                <a:spLocks noChangeShapeType="1"/>
              </p:cNvSpPr>
              <p:nvPr/>
            </p:nvSpPr>
            <p:spPr bwMode="auto">
              <a:xfrm flipH="1">
                <a:off x="1034943" y="5385056"/>
                <a:ext cx="61118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 name="Line 44">
                <a:extLst>
                  <a:ext uri="{FF2B5EF4-FFF2-40B4-BE49-F238E27FC236}">
                    <a16:creationId xmlns:a16="http://schemas.microsoft.com/office/drawing/2014/main" id="{BA4A718C-297C-4374-8C60-FDEFC5E2D3D6}"/>
                  </a:ext>
                </a:extLst>
              </p:cNvPr>
              <p:cNvSpPr>
                <a:spLocks noChangeShapeType="1"/>
              </p:cNvSpPr>
              <p:nvPr/>
            </p:nvSpPr>
            <p:spPr bwMode="auto">
              <a:xfrm flipH="1">
                <a:off x="5316430" y="5383469"/>
                <a:ext cx="61118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 name="Line 46">
                <a:extLst>
                  <a:ext uri="{FF2B5EF4-FFF2-40B4-BE49-F238E27FC236}">
                    <a16:creationId xmlns:a16="http://schemas.microsoft.com/office/drawing/2014/main" id="{7AE61920-0F74-4169-8F4F-AFDE9E14998B}"/>
                  </a:ext>
                </a:extLst>
              </p:cNvPr>
              <p:cNvSpPr>
                <a:spLocks noChangeShapeType="1"/>
              </p:cNvSpPr>
              <p:nvPr/>
            </p:nvSpPr>
            <p:spPr bwMode="auto">
              <a:xfrm>
                <a:off x="1034943" y="5389819"/>
                <a:ext cx="0" cy="5334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 name="Line 47">
                <a:extLst>
                  <a:ext uri="{FF2B5EF4-FFF2-40B4-BE49-F238E27FC236}">
                    <a16:creationId xmlns:a16="http://schemas.microsoft.com/office/drawing/2014/main" id="{1CEB1FCE-3660-4286-9E85-0BCBD2A5A95E}"/>
                  </a:ext>
                </a:extLst>
              </p:cNvPr>
              <p:cNvSpPr>
                <a:spLocks noChangeShapeType="1"/>
              </p:cNvSpPr>
              <p:nvPr/>
            </p:nvSpPr>
            <p:spPr bwMode="auto">
              <a:xfrm>
                <a:off x="5927618" y="5383469"/>
                <a:ext cx="0" cy="5349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 name="Line 48">
                <a:extLst>
                  <a:ext uri="{FF2B5EF4-FFF2-40B4-BE49-F238E27FC236}">
                    <a16:creationId xmlns:a16="http://schemas.microsoft.com/office/drawing/2014/main" id="{4431A283-5577-4638-8C12-9F4586255FC0}"/>
                  </a:ext>
                </a:extLst>
              </p:cNvPr>
              <p:cNvSpPr>
                <a:spLocks noChangeShapeType="1"/>
              </p:cNvSpPr>
              <p:nvPr/>
            </p:nvSpPr>
            <p:spPr bwMode="auto">
              <a:xfrm>
                <a:off x="1034943" y="5918456"/>
                <a:ext cx="1482725"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 name="Line 49">
                <a:extLst>
                  <a:ext uri="{FF2B5EF4-FFF2-40B4-BE49-F238E27FC236}">
                    <a16:creationId xmlns:a16="http://schemas.microsoft.com/office/drawing/2014/main" id="{5B3CD369-F1AF-497F-9D9F-B5390C7A9ABD}"/>
                  </a:ext>
                </a:extLst>
              </p:cNvPr>
              <p:cNvSpPr>
                <a:spLocks noChangeShapeType="1"/>
              </p:cNvSpPr>
              <p:nvPr/>
            </p:nvSpPr>
            <p:spPr bwMode="auto">
              <a:xfrm>
                <a:off x="2525605" y="5799394"/>
                <a:ext cx="0" cy="24447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 name="Line 50">
                <a:extLst>
                  <a:ext uri="{FF2B5EF4-FFF2-40B4-BE49-F238E27FC236}">
                    <a16:creationId xmlns:a16="http://schemas.microsoft.com/office/drawing/2014/main" id="{EF63AFD4-CC9D-4097-972B-108C32D3EEDF}"/>
                  </a:ext>
                </a:extLst>
              </p:cNvPr>
              <p:cNvSpPr>
                <a:spLocks noChangeShapeType="1"/>
              </p:cNvSpPr>
              <p:nvPr/>
            </p:nvSpPr>
            <p:spPr bwMode="auto">
              <a:xfrm>
                <a:off x="2609743" y="5829556"/>
                <a:ext cx="0" cy="1793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 name="Line 51">
                <a:extLst>
                  <a:ext uri="{FF2B5EF4-FFF2-40B4-BE49-F238E27FC236}">
                    <a16:creationId xmlns:a16="http://schemas.microsoft.com/office/drawing/2014/main" id="{7F87A9DE-194B-45A4-B783-180CFE4B2143}"/>
                  </a:ext>
                </a:extLst>
              </p:cNvPr>
              <p:cNvSpPr>
                <a:spLocks noChangeShapeType="1"/>
              </p:cNvSpPr>
              <p:nvPr/>
            </p:nvSpPr>
            <p:spPr bwMode="auto">
              <a:xfrm flipH="1">
                <a:off x="4798905" y="5918456"/>
                <a:ext cx="1128713"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 name="Line 52">
                <a:extLst>
                  <a:ext uri="{FF2B5EF4-FFF2-40B4-BE49-F238E27FC236}">
                    <a16:creationId xmlns:a16="http://schemas.microsoft.com/office/drawing/2014/main" id="{4D1DC393-7263-427F-87D9-41E03F6A192E}"/>
                  </a:ext>
                </a:extLst>
              </p:cNvPr>
              <p:cNvSpPr>
                <a:spLocks noChangeShapeType="1"/>
              </p:cNvSpPr>
              <p:nvPr/>
            </p:nvSpPr>
            <p:spPr bwMode="auto">
              <a:xfrm flipV="1">
                <a:off x="4571893" y="5799394"/>
                <a:ext cx="227013" cy="119063"/>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 name="Text Box 53">
                <a:extLst>
                  <a:ext uri="{FF2B5EF4-FFF2-40B4-BE49-F238E27FC236}">
                    <a16:creationId xmlns:a16="http://schemas.microsoft.com/office/drawing/2014/main" id="{244B6960-011C-425D-86E8-862AA5EC6544}"/>
                  </a:ext>
                </a:extLst>
              </p:cNvPr>
              <p:cNvSpPr txBox="1">
                <a:spLocks noChangeArrowheads="1"/>
              </p:cNvSpPr>
              <p:nvPr/>
            </p:nvSpPr>
            <p:spPr bwMode="auto">
              <a:xfrm>
                <a:off x="3333643" y="2308364"/>
                <a:ext cx="28575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Times New Roman" panose="02020603050405020304" pitchFamily="18" charset="0"/>
                    <a:cs typeface="Times New Roman" panose="02020603050405020304" pitchFamily="18" charset="0"/>
                  </a:rPr>
                  <a:t>B</a:t>
                </a:r>
              </a:p>
            </p:txBody>
          </p:sp>
          <p:sp>
            <p:nvSpPr>
              <p:cNvPr id="138" name="Text Box 54">
                <a:extLst>
                  <a:ext uri="{FF2B5EF4-FFF2-40B4-BE49-F238E27FC236}">
                    <a16:creationId xmlns:a16="http://schemas.microsoft.com/office/drawing/2014/main" id="{6DCB250B-9BED-4D5D-9E8B-8E696847B374}"/>
                  </a:ext>
                </a:extLst>
              </p:cNvPr>
              <p:cNvSpPr txBox="1">
                <a:spLocks noChangeArrowheads="1"/>
              </p:cNvSpPr>
              <p:nvPr/>
            </p:nvSpPr>
            <p:spPr bwMode="auto">
              <a:xfrm>
                <a:off x="2776113" y="4061081"/>
                <a:ext cx="48260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3</a:t>
                </a:r>
                <a:endParaRPr lang="en-US" altLang="zh-CN" dirty="0">
                  <a:latin typeface="Times New Roman" panose="02020603050405020304" pitchFamily="18" charset="0"/>
                  <a:cs typeface="Times New Roman" panose="02020603050405020304" pitchFamily="18" charset="0"/>
                </a:endParaRPr>
              </a:p>
            </p:txBody>
          </p:sp>
          <p:sp>
            <p:nvSpPr>
              <p:cNvPr id="139" name="Text Box 55">
                <a:extLst>
                  <a:ext uri="{FF2B5EF4-FFF2-40B4-BE49-F238E27FC236}">
                    <a16:creationId xmlns:a16="http://schemas.microsoft.com/office/drawing/2014/main" id="{244EA0E3-C5E4-4EC4-BE10-CFEA80252595}"/>
                  </a:ext>
                </a:extLst>
              </p:cNvPr>
              <p:cNvSpPr txBox="1">
                <a:spLocks noChangeArrowheads="1"/>
              </p:cNvSpPr>
              <p:nvPr/>
            </p:nvSpPr>
            <p:spPr bwMode="auto">
              <a:xfrm>
                <a:off x="4034441" y="3149310"/>
                <a:ext cx="582613"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cs typeface="Times New Roman" panose="02020603050405020304" pitchFamily="18" charset="0"/>
                </a:endParaRPr>
              </a:p>
            </p:txBody>
          </p:sp>
          <p:sp>
            <p:nvSpPr>
              <p:cNvPr id="140" name="Text Box 56">
                <a:extLst>
                  <a:ext uri="{FF2B5EF4-FFF2-40B4-BE49-F238E27FC236}">
                    <a16:creationId xmlns:a16="http://schemas.microsoft.com/office/drawing/2014/main" id="{ED7D9252-3486-41F9-87CB-7A83F3508D26}"/>
                  </a:ext>
                </a:extLst>
              </p:cNvPr>
              <p:cNvSpPr txBox="1">
                <a:spLocks noChangeArrowheads="1"/>
              </p:cNvSpPr>
              <p:nvPr/>
            </p:nvSpPr>
            <p:spPr bwMode="auto">
              <a:xfrm>
                <a:off x="2506555" y="3137156"/>
                <a:ext cx="45479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152" name="Text Box 57">
                <a:extLst>
                  <a:ext uri="{FF2B5EF4-FFF2-40B4-BE49-F238E27FC236}">
                    <a16:creationId xmlns:a16="http://schemas.microsoft.com/office/drawing/2014/main" id="{9D2B72D8-B048-40B9-B71D-FA972BF8584C}"/>
                  </a:ext>
                </a:extLst>
              </p:cNvPr>
              <p:cNvSpPr txBox="1">
                <a:spLocks noChangeArrowheads="1"/>
              </p:cNvSpPr>
              <p:nvPr/>
            </p:nvSpPr>
            <p:spPr bwMode="auto">
              <a:xfrm>
                <a:off x="3758140" y="4061716"/>
                <a:ext cx="491172"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baseline="-25000" dirty="0">
                    <a:latin typeface="Times New Roman" panose="02020603050405020304" pitchFamily="18" charset="0"/>
                    <a:cs typeface="Times New Roman" panose="02020603050405020304" pitchFamily="18" charset="0"/>
                  </a:rPr>
                  <a:t>4</a:t>
                </a:r>
                <a:endParaRPr lang="en-US" altLang="zh-CN" dirty="0">
                  <a:latin typeface="Times New Roman" panose="02020603050405020304" pitchFamily="18" charset="0"/>
                  <a:cs typeface="Times New Roman" panose="02020603050405020304" pitchFamily="18" charset="0"/>
                </a:endParaRPr>
              </a:p>
            </p:txBody>
          </p:sp>
          <p:sp>
            <p:nvSpPr>
              <p:cNvPr id="153" name="Text Box 58">
                <a:extLst>
                  <a:ext uri="{FF2B5EF4-FFF2-40B4-BE49-F238E27FC236}">
                    <a16:creationId xmlns:a16="http://schemas.microsoft.com/office/drawing/2014/main" id="{5476CA93-5B35-4E81-9B18-C81812AFAE4E}"/>
                  </a:ext>
                </a:extLst>
              </p:cNvPr>
              <p:cNvSpPr txBox="1">
                <a:spLocks noChangeArrowheads="1"/>
              </p:cNvSpPr>
              <p:nvPr/>
            </p:nvSpPr>
            <p:spPr bwMode="auto">
              <a:xfrm>
                <a:off x="2560099" y="4391281"/>
                <a:ext cx="547688"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cs typeface="Times New Roman" panose="02020603050405020304" pitchFamily="18" charset="0"/>
                </a:endParaRPr>
              </a:p>
            </p:txBody>
          </p:sp>
          <p:sp>
            <p:nvSpPr>
              <p:cNvPr id="154" name="Text Box 59">
                <a:extLst>
                  <a:ext uri="{FF2B5EF4-FFF2-40B4-BE49-F238E27FC236}">
                    <a16:creationId xmlns:a16="http://schemas.microsoft.com/office/drawing/2014/main" id="{11D7B8A5-3C6F-4E5B-BD93-01F923E04135}"/>
                  </a:ext>
                </a:extLst>
              </p:cNvPr>
              <p:cNvSpPr txBox="1">
                <a:spLocks noChangeArrowheads="1"/>
              </p:cNvSpPr>
              <p:nvPr/>
            </p:nvSpPr>
            <p:spPr bwMode="auto">
              <a:xfrm>
                <a:off x="2088408" y="3815654"/>
                <a:ext cx="656984"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155" name="Text Box 62">
                <a:extLst>
                  <a:ext uri="{FF2B5EF4-FFF2-40B4-BE49-F238E27FC236}">
                    <a16:creationId xmlns:a16="http://schemas.microsoft.com/office/drawing/2014/main" id="{FD4C34DE-11C2-445C-9A04-1C87FCD5557A}"/>
                  </a:ext>
                </a:extLst>
              </p:cNvPr>
              <p:cNvSpPr txBox="1">
                <a:spLocks noChangeArrowheads="1"/>
              </p:cNvSpPr>
              <p:nvPr/>
            </p:nvSpPr>
            <p:spPr bwMode="auto">
              <a:xfrm>
                <a:off x="4423146" y="3845852"/>
                <a:ext cx="736599"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P</a:t>
                </a:r>
                <a:r>
                  <a:rPr lang="en-US" altLang="zh-CN" baseline="-25000" dirty="0">
                    <a:latin typeface="Times New Roman" panose="02020603050405020304" pitchFamily="18" charset="0"/>
                    <a:cs typeface="Times New Roman" panose="02020603050405020304" pitchFamily="18" charset="0"/>
                  </a:rPr>
                  <a:t>s1</a:t>
                </a:r>
                <a:endParaRPr lang="en-US" altLang="zh-CN" dirty="0">
                  <a:latin typeface="Times New Roman" panose="02020603050405020304" pitchFamily="18" charset="0"/>
                  <a:cs typeface="Times New Roman" panose="02020603050405020304" pitchFamily="18" charset="0"/>
                </a:endParaRPr>
              </a:p>
            </p:txBody>
          </p:sp>
          <p:sp>
            <p:nvSpPr>
              <p:cNvPr id="156" name="Text Box 65">
                <a:extLst>
                  <a:ext uri="{FF2B5EF4-FFF2-40B4-BE49-F238E27FC236}">
                    <a16:creationId xmlns:a16="http://schemas.microsoft.com/office/drawing/2014/main" id="{81D07F6B-8060-4FB0-BE90-1069DAD10D65}"/>
                  </a:ext>
                </a:extLst>
              </p:cNvPr>
              <p:cNvSpPr txBox="1">
                <a:spLocks noChangeArrowheads="1"/>
              </p:cNvSpPr>
              <p:nvPr/>
            </p:nvSpPr>
            <p:spPr bwMode="auto">
              <a:xfrm>
                <a:off x="3876568" y="4415094"/>
                <a:ext cx="59189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a:latin typeface="Times New Roman" panose="02020603050405020304" pitchFamily="18" charset="0"/>
                    <a:cs typeface="Times New Roman" panose="02020603050405020304" pitchFamily="18" charset="0"/>
                  </a:rPr>
                  <a:t>P</a:t>
                </a:r>
                <a:r>
                  <a:rPr lang="en-US" altLang="zh-CN" baseline="-25000">
                    <a:latin typeface="Times New Roman" panose="02020603050405020304" pitchFamily="18" charset="0"/>
                    <a:cs typeface="Times New Roman" panose="02020603050405020304" pitchFamily="18" charset="0"/>
                  </a:rPr>
                  <a:t>s2</a:t>
                </a:r>
                <a:endParaRPr lang="en-US" altLang="zh-CN">
                  <a:latin typeface="Times New Roman" panose="02020603050405020304" pitchFamily="18" charset="0"/>
                  <a:cs typeface="Times New Roman" panose="02020603050405020304" pitchFamily="18" charset="0"/>
                </a:endParaRPr>
              </a:p>
            </p:txBody>
          </p:sp>
          <p:sp>
            <p:nvSpPr>
              <p:cNvPr id="157" name="Text Box 68">
                <a:extLst>
                  <a:ext uri="{FF2B5EF4-FFF2-40B4-BE49-F238E27FC236}">
                    <a16:creationId xmlns:a16="http://schemas.microsoft.com/office/drawing/2014/main" id="{180EE6B1-9ADB-4502-933D-B05CC4A087DE}"/>
                  </a:ext>
                </a:extLst>
              </p:cNvPr>
              <p:cNvSpPr txBox="1">
                <a:spLocks noChangeArrowheads="1"/>
              </p:cNvSpPr>
              <p:nvPr/>
            </p:nvSpPr>
            <p:spPr bwMode="auto">
              <a:xfrm>
                <a:off x="2041417" y="4955241"/>
                <a:ext cx="47942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r>
                  <a:rPr lang="en-US" altLang="zh-CN" i="1" baseline="-25000" dirty="0">
                    <a:latin typeface="Times New Roman" panose="02020603050405020304" pitchFamily="18" charset="0"/>
                    <a:cs typeface="Times New Roman" panose="02020603050405020304" pitchFamily="18" charset="0"/>
                  </a:rPr>
                  <a:t>x</a:t>
                </a:r>
                <a:endParaRPr lang="en-US" altLang="zh-CN" i="1" dirty="0">
                  <a:latin typeface="Times New Roman" panose="02020603050405020304" pitchFamily="18" charset="0"/>
                  <a:cs typeface="Times New Roman" panose="02020603050405020304" pitchFamily="18" charset="0"/>
                </a:endParaRPr>
              </a:p>
            </p:txBody>
          </p:sp>
          <p:sp>
            <p:nvSpPr>
              <p:cNvPr id="158" name="Text Box 69">
                <a:extLst>
                  <a:ext uri="{FF2B5EF4-FFF2-40B4-BE49-F238E27FC236}">
                    <a16:creationId xmlns:a16="http://schemas.microsoft.com/office/drawing/2014/main" id="{922AC087-798E-4C8F-89DC-A1321BF2D912}"/>
                  </a:ext>
                </a:extLst>
              </p:cNvPr>
              <p:cNvSpPr txBox="1">
                <a:spLocks noChangeArrowheads="1"/>
              </p:cNvSpPr>
              <p:nvPr/>
            </p:nvSpPr>
            <p:spPr bwMode="auto">
              <a:xfrm>
                <a:off x="4605229" y="4965111"/>
                <a:ext cx="415925"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err="1">
                    <a:latin typeface="Times New Roman" panose="02020603050405020304" pitchFamily="18" charset="0"/>
                    <a:cs typeface="Times New Roman" panose="02020603050405020304" pitchFamily="18" charset="0"/>
                  </a:rPr>
                  <a:t>R</a:t>
                </a:r>
                <a:r>
                  <a:rPr lang="en-US" altLang="zh-CN" baseline="-25000" dirty="0" err="1">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159" name="Text Box 72">
                <a:extLst>
                  <a:ext uri="{FF2B5EF4-FFF2-40B4-BE49-F238E27FC236}">
                    <a16:creationId xmlns:a16="http://schemas.microsoft.com/office/drawing/2014/main" id="{FB2D605B-04E0-424E-9DC2-5CA3BDFA934E}"/>
                  </a:ext>
                </a:extLst>
              </p:cNvPr>
              <p:cNvSpPr txBox="1">
                <a:spLocks noChangeArrowheads="1"/>
              </p:cNvSpPr>
              <p:nvPr/>
            </p:nvSpPr>
            <p:spPr bwMode="auto">
              <a:xfrm>
                <a:off x="3301887" y="4034341"/>
                <a:ext cx="28575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latin typeface="Times New Roman" panose="02020603050405020304" pitchFamily="18" charset="0"/>
                    <a:cs typeface="Times New Roman" panose="02020603050405020304" pitchFamily="18" charset="0"/>
                  </a:rPr>
                  <a:t>D</a:t>
                </a:r>
              </a:p>
            </p:txBody>
          </p:sp>
          <p:grpSp>
            <p:nvGrpSpPr>
              <p:cNvPr id="160" name="组合 159">
                <a:extLst>
                  <a:ext uri="{FF2B5EF4-FFF2-40B4-BE49-F238E27FC236}">
                    <a16:creationId xmlns:a16="http://schemas.microsoft.com/office/drawing/2014/main" id="{565CFA84-C7C6-404E-9BCB-E6CB13623B56}"/>
                  </a:ext>
                </a:extLst>
              </p:cNvPr>
              <p:cNvGrpSpPr/>
              <p:nvPr/>
            </p:nvGrpSpPr>
            <p:grpSpPr>
              <a:xfrm>
                <a:off x="1285768" y="4610356"/>
                <a:ext cx="4368800" cy="809625"/>
                <a:chOff x="1547653" y="3958299"/>
                <a:chExt cx="4368800" cy="809625"/>
              </a:xfrm>
            </p:grpSpPr>
            <p:sp>
              <p:nvSpPr>
                <p:cNvPr id="171" name="Rectangle 19">
                  <a:extLst>
                    <a:ext uri="{FF2B5EF4-FFF2-40B4-BE49-F238E27FC236}">
                      <a16:creationId xmlns:a16="http://schemas.microsoft.com/office/drawing/2014/main" id="{4CB963AF-D8E6-414E-A706-9BC6AFEC5BD1}"/>
                    </a:ext>
                  </a:extLst>
                </p:cNvPr>
                <p:cNvSpPr>
                  <a:spLocks noChangeArrowheads="1"/>
                </p:cNvSpPr>
                <p:nvPr/>
              </p:nvSpPr>
              <p:spPr bwMode="auto">
                <a:xfrm rot="19612327">
                  <a:off x="5060790" y="3966237"/>
                  <a:ext cx="69850" cy="182563"/>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72" name="Rectangle 23">
                  <a:extLst>
                    <a:ext uri="{FF2B5EF4-FFF2-40B4-BE49-F238E27FC236}">
                      <a16:creationId xmlns:a16="http://schemas.microsoft.com/office/drawing/2014/main" id="{96D31A43-2739-4849-B1E6-2CCD8B1C42DD}"/>
                    </a:ext>
                  </a:extLst>
                </p:cNvPr>
                <p:cNvSpPr>
                  <a:spLocks noChangeArrowheads="1"/>
                </p:cNvSpPr>
                <p:nvPr/>
              </p:nvSpPr>
              <p:spPr bwMode="auto">
                <a:xfrm rot="19573042">
                  <a:off x="4387690" y="4282149"/>
                  <a:ext cx="68263" cy="176213"/>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73" name="Rectangle 24">
                  <a:extLst>
                    <a:ext uri="{FF2B5EF4-FFF2-40B4-BE49-F238E27FC236}">
                      <a16:creationId xmlns:a16="http://schemas.microsoft.com/office/drawing/2014/main" id="{CB69A8B3-E9BD-4146-BD62-0820F572E46E}"/>
                    </a:ext>
                  </a:extLst>
                </p:cNvPr>
                <p:cNvSpPr>
                  <a:spLocks noChangeArrowheads="1"/>
                </p:cNvSpPr>
                <p:nvPr/>
              </p:nvSpPr>
              <p:spPr bwMode="auto">
                <a:xfrm>
                  <a:off x="3614578" y="4688549"/>
                  <a:ext cx="252413" cy="79375"/>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zh-CN" altLang="en-US"/>
                </a:p>
              </p:txBody>
            </p:sp>
            <p:sp>
              <p:nvSpPr>
                <p:cNvPr id="174" name="Rectangle 26">
                  <a:extLst>
                    <a:ext uri="{FF2B5EF4-FFF2-40B4-BE49-F238E27FC236}">
                      <a16:creationId xmlns:a16="http://schemas.microsoft.com/office/drawing/2014/main" id="{BD98A971-4C58-40A7-BFBD-C411256DC76F}"/>
                    </a:ext>
                  </a:extLst>
                </p:cNvPr>
                <p:cNvSpPr>
                  <a:spLocks noChangeArrowheads="1"/>
                </p:cNvSpPr>
                <p:nvPr/>
              </p:nvSpPr>
              <p:spPr bwMode="auto">
                <a:xfrm>
                  <a:off x="3104990" y="4713949"/>
                  <a:ext cx="179388"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75" name="Rectangle 27">
                  <a:extLst>
                    <a:ext uri="{FF2B5EF4-FFF2-40B4-BE49-F238E27FC236}">
                      <a16:creationId xmlns:a16="http://schemas.microsoft.com/office/drawing/2014/main" id="{A9FE8BAB-A5DD-46EB-95DB-EC8493500561}"/>
                    </a:ext>
                  </a:extLst>
                </p:cNvPr>
                <p:cNvSpPr>
                  <a:spLocks noChangeArrowheads="1"/>
                </p:cNvSpPr>
                <p:nvPr/>
              </p:nvSpPr>
              <p:spPr bwMode="auto">
                <a:xfrm>
                  <a:off x="4208303" y="4713949"/>
                  <a:ext cx="179388"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76" name="Rectangle 40">
                  <a:extLst>
                    <a:ext uri="{FF2B5EF4-FFF2-40B4-BE49-F238E27FC236}">
                      <a16:creationId xmlns:a16="http://schemas.microsoft.com/office/drawing/2014/main" id="{BE5FF0DA-7711-4CA2-BEF3-0BACC3C936DD}"/>
                    </a:ext>
                  </a:extLst>
                </p:cNvPr>
                <p:cNvSpPr>
                  <a:spLocks noChangeArrowheads="1"/>
                </p:cNvSpPr>
                <p:nvPr/>
              </p:nvSpPr>
              <p:spPr bwMode="auto">
                <a:xfrm rot="1988136">
                  <a:off x="2363628" y="3958299"/>
                  <a:ext cx="73025" cy="187325"/>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77" name="Rectangle 41">
                  <a:extLst>
                    <a:ext uri="{FF2B5EF4-FFF2-40B4-BE49-F238E27FC236}">
                      <a16:creationId xmlns:a16="http://schemas.microsoft.com/office/drawing/2014/main" id="{4CA7E9D2-E223-40CB-B8BA-DE62A6A09C02}"/>
                    </a:ext>
                  </a:extLst>
                </p:cNvPr>
                <p:cNvSpPr>
                  <a:spLocks noChangeArrowheads="1"/>
                </p:cNvSpPr>
                <p:nvPr/>
              </p:nvSpPr>
              <p:spPr bwMode="auto">
                <a:xfrm rot="1988136">
                  <a:off x="3036728" y="4267862"/>
                  <a:ext cx="68263" cy="177800"/>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78" name="Rectangle 43">
                  <a:extLst>
                    <a:ext uri="{FF2B5EF4-FFF2-40B4-BE49-F238E27FC236}">
                      <a16:creationId xmlns:a16="http://schemas.microsoft.com/office/drawing/2014/main" id="{570C987E-F057-4DB4-820D-6D3A04174F85}"/>
                    </a:ext>
                  </a:extLst>
                </p:cNvPr>
                <p:cNvSpPr>
                  <a:spLocks noChangeArrowheads="1"/>
                </p:cNvSpPr>
                <p:nvPr/>
              </p:nvSpPr>
              <p:spPr bwMode="auto">
                <a:xfrm>
                  <a:off x="1547653" y="4713949"/>
                  <a:ext cx="177800"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79" name="Rectangle 45">
                  <a:extLst>
                    <a:ext uri="{FF2B5EF4-FFF2-40B4-BE49-F238E27FC236}">
                      <a16:creationId xmlns:a16="http://schemas.microsoft.com/office/drawing/2014/main" id="{5C09B7E0-1647-41E7-ABE6-6134D7BC3DDE}"/>
                    </a:ext>
                  </a:extLst>
                </p:cNvPr>
                <p:cNvSpPr>
                  <a:spLocks noChangeArrowheads="1"/>
                </p:cNvSpPr>
                <p:nvPr/>
              </p:nvSpPr>
              <p:spPr bwMode="auto">
                <a:xfrm>
                  <a:off x="5738653" y="4710774"/>
                  <a:ext cx="177800" cy="39688"/>
                </a:xfrm>
                <a:prstGeom prst="rect">
                  <a:avLst/>
                </a:prstGeom>
                <a:ln>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zh-CN" altLang="en-US"/>
                </a:p>
              </p:txBody>
            </p:sp>
            <p:sp>
              <p:nvSpPr>
                <p:cNvPr id="180" name="Text Box 73">
                  <a:extLst>
                    <a:ext uri="{FF2B5EF4-FFF2-40B4-BE49-F238E27FC236}">
                      <a16:creationId xmlns:a16="http://schemas.microsoft.com/office/drawing/2014/main" id="{A6AA6E03-E77A-4238-ABF3-69C78F31FFDC}"/>
                    </a:ext>
                  </a:extLst>
                </p:cNvPr>
                <p:cNvSpPr txBox="1">
                  <a:spLocks noChangeArrowheads="1"/>
                </p:cNvSpPr>
                <p:nvPr/>
              </p:nvSpPr>
              <p:spPr bwMode="auto">
                <a:xfrm>
                  <a:off x="3616348" y="4346483"/>
                  <a:ext cx="285750" cy="364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latin typeface="Times New Roman" panose="02020603050405020304" pitchFamily="18" charset="0"/>
                      <a:cs typeface="Times New Roman" panose="02020603050405020304" pitchFamily="18" charset="0"/>
                    </a:rPr>
                    <a:t>r</a:t>
                  </a:r>
                </a:p>
              </p:txBody>
            </p:sp>
          </p:grpSp>
          <p:sp>
            <p:nvSpPr>
              <p:cNvPr id="161" name="Text Box 75">
                <a:extLst>
                  <a:ext uri="{FF2B5EF4-FFF2-40B4-BE49-F238E27FC236}">
                    <a16:creationId xmlns:a16="http://schemas.microsoft.com/office/drawing/2014/main" id="{5937435E-7B13-4AE7-A4BB-70CED2758BAD}"/>
                  </a:ext>
                </a:extLst>
              </p:cNvPr>
              <p:cNvSpPr txBox="1">
                <a:spLocks noChangeArrowheads="1"/>
              </p:cNvSpPr>
              <p:nvPr/>
            </p:nvSpPr>
            <p:spPr bwMode="auto">
              <a:xfrm>
                <a:off x="2595455" y="5532694"/>
                <a:ext cx="287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62" name="Text Box 76">
                <a:extLst>
                  <a:ext uri="{FF2B5EF4-FFF2-40B4-BE49-F238E27FC236}">
                    <a16:creationId xmlns:a16="http://schemas.microsoft.com/office/drawing/2014/main" id="{782767B1-42D3-4524-A3E3-A56B849E0FB0}"/>
                  </a:ext>
                </a:extLst>
              </p:cNvPr>
              <p:cNvSpPr txBox="1">
                <a:spLocks noChangeArrowheads="1"/>
              </p:cNvSpPr>
              <p:nvPr/>
            </p:nvSpPr>
            <p:spPr bwMode="auto">
              <a:xfrm>
                <a:off x="542218" y="5065968"/>
                <a:ext cx="566703"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sp>
            <p:nvSpPr>
              <p:cNvPr id="163" name="Text Box 77">
                <a:extLst>
                  <a:ext uri="{FF2B5EF4-FFF2-40B4-BE49-F238E27FC236}">
                    <a16:creationId xmlns:a16="http://schemas.microsoft.com/office/drawing/2014/main" id="{58AEC462-F0AC-4168-B027-4C9FC6ECEC45}"/>
                  </a:ext>
                </a:extLst>
              </p:cNvPr>
              <p:cNvSpPr txBox="1">
                <a:spLocks noChangeArrowheads="1"/>
              </p:cNvSpPr>
              <p:nvPr/>
            </p:nvSpPr>
            <p:spPr bwMode="auto">
              <a:xfrm>
                <a:off x="5790140" y="5032630"/>
                <a:ext cx="636586"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baseline="-25000" dirty="0">
                    <a:latin typeface="Times New Roman" panose="02020603050405020304" pitchFamily="18" charset="0"/>
                    <a:cs typeface="Times New Roman" panose="02020603050405020304" pitchFamily="18" charset="0"/>
                  </a:rPr>
                  <a:t>s1</a:t>
                </a:r>
                <a:endParaRPr lang="en-US" altLang="zh-CN" dirty="0">
                  <a:latin typeface="Times New Roman" panose="02020603050405020304" pitchFamily="18" charset="0"/>
                  <a:cs typeface="Times New Roman" panose="02020603050405020304" pitchFamily="18" charset="0"/>
                </a:endParaRPr>
              </a:p>
            </p:txBody>
          </p:sp>
          <p:sp>
            <p:nvSpPr>
              <p:cNvPr id="164" name="Text Box 78">
                <a:extLst>
                  <a:ext uri="{FF2B5EF4-FFF2-40B4-BE49-F238E27FC236}">
                    <a16:creationId xmlns:a16="http://schemas.microsoft.com/office/drawing/2014/main" id="{CE7FD1B5-2BF5-44F6-B6E2-15D3D8C4B2D7}"/>
                  </a:ext>
                </a:extLst>
              </p:cNvPr>
              <p:cNvSpPr txBox="1">
                <a:spLocks noChangeArrowheads="1"/>
              </p:cNvSpPr>
              <p:nvPr/>
            </p:nvSpPr>
            <p:spPr bwMode="auto">
              <a:xfrm>
                <a:off x="2955660" y="5374288"/>
                <a:ext cx="60086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cs typeface="Times New Roman" panose="02020603050405020304" pitchFamily="18" charset="0"/>
                </a:endParaRPr>
              </a:p>
            </p:txBody>
          </p:sp>
          <p:sp>
            <p:nvSpPr>
              <p:cNvPr id="165" name="Text Box 79">
                <a:extLst>
                  <a:ext uri="{FF2B5EF4-FFF2-40B4-BE49-F238E27FC236}">
                    <a16:creationId xmlns:a16="http://schemas.microsoft.com/office/drawing/2014/main" id="{3FECD7B0-5BE2-4D6C-8298-6EEBF0322344}"/>
                  </a:ext>
                </a:extLst>
              </p:cNvPr>
              <p:cNvSpPr txBox="1">
                <a:spLocks noChangeArrowheads="1"/>
              </p:cNvSpPr>
              <p:nvPr/>
            </p:nvSpPr>
            <p:spPr bwMode="auto">
              <a:xfrm>
                <a:off x="3624154" y="5387402"/>
                <a:ext cx="596901"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latin typeface="Times New Roman" panose="02020603050405020304" pitchFamily="18" charset="0"/>
                    <a:cs typeface="Times New Roman" panose="02020603050405020304" pitchFamily="18" charset="0"/>
                  </a:rPr>
                  <a:t>C</a:t>
                </a:r>
                <a:r>
                  <a:rPr lang="en-US" altLang="zh-CN" baseline="-25000" dirty="0">
                    <a:latin typeface="Times New Roman" panose="02020603050405020304" pitchFamily="18" charset="0"/>
                    <a:cs typeface="Times New Roman" panose="02020603050405020304" pitchFamily="18" charset="0"/>
                  </a:rPr>
                  <a:t>s2</a:t>
                </a:r>
                <a:endParaRPr lang="en-US" altLang="zh-CN" dirty="0">
                  <a:latin typeface="Times New Roman" panose="02020603050405020304" pitchFamily="18" charset="0"/>
                  <a:cs typeface="Times New Roman" panose="02020603050405020304" pitchFamily="18" charset="0"/>
                </a:endParaRPr>
              </a:p>
            </p:txBody>
          </p:sp>
          <p:sp>
            <p:nvSpPr>
              <p:cNvPr id="166" name="矩形 165">
                <a:extLst>
                  <a:ext uri="{FF2B5EF4-FFF2-40B4-BE49-F238E27FC236}">
                    <a16:creationId xmlns:a16="http://schemas.microsoft.com/office/drawing/2014/main" id="{C0460229-B8BA-4EFE-9C29-DCCAE850D775}"/>
                  </a:ext>
                </a:extLst>
              </p:cNvPr>
              <p:cNvSpPr/>
              <p:nvPr/>
            </p:nvSpPr>
            <p:spPr>
              <a:xfrm>
                <a:off x="3413899" y="3729633"/>
                <a:ext cx="142553" cy="12220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sp>
            <p:nvSpPr>
              <p:cNvPr id="167" name="椭圆 166">
                <a:extLst>
                  <a:ext uri="{FF2B5EF4-FFF2-40B4-BE49-F238E27FC236}">
                    <a16:creationId xmlns:a16="http://schemas.microsoft.com/office/drawing/2014/main" id="{96518152-168F-4108-889A-9625C10F70B0}"/>
                  </a:ext>
                </a:extLst>
              </p:cNvPr>
              <p:cNvSpPr/>
              <p:nvPr/>
            </p:nvSpPr>
            <p:spPr>
              <a:xfrm>
                <a:off x="3454645" y="3684324"/>
                <a:ext cx="49215" cy="45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000"/>
              </a:p>
            </p:txBody>
          </p:sp>
          <p:sp>
            <p:nvSpPr>
              <p:cNvPr id="168" name="椭圆 167">
                <a:extLst>
                  <a:ext uri="{FF2B5EF4-FFF2-40B4-BE49-F238E27FC236}">
                    <a16:creationId xmlns:a16="http://schemas.microsoft.com/office/drawing/2014/main" id="{CF6BE53D-C08E-40F8-8F20-E7AA59C29EC0}"/>
                  </a:ext>
                </a:extLst>
              </p:cNvPr>
              <p:cNvSpPr/>
              <p:nvPr/>
            </p:nvSpPr>
            <p:spPr>
              <a:xfrm>
                <a:off x="3456672" y="3847233"/>
                <a:ext cx="49215" cy="45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000"/>
              </a:p>
            </p:txBody>
          </p:sp>
          <p:cxnSp>
            <p:nvCxnSpPr>
              <p:cNvPr id="169" name="直接连接符 168">
                <a:extLst>
                  <a:ext uri="{FF2B5EF4-FFF2-40B4-BE49-F238E27FC236}">
                    <a16:creationId xmlns:a16="http://schemas.microsoft.com/office/drawing/2014/main" id="{77BDAE99-2D69-4FEC-8D21-8F9E44805C4F}"/>
                  </a:ext>
                </a:extLst>
              </p:cNvPr>
              <p:cNvCxnSpPr/>
              <p:nvPr/>
            </p:nvCxnSpPr>
            <p:spPr>
              <a:xfrm>
                <a:off x="3389947" y="3681326"/>
                <a:ext cx="0" cy="2265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60ADEE9E-5512-4AA3-89C3-DCBD28771230}"/>
                  </a:ext>
                </a:extLst>
              </p:cNvPr>
              <p:cNvCxnSpPr/>
              <p:nvPr/>
            </p:nvCxnSpPr>
            <p:spPr>
              <a:xfrm rot="16200000">
                <a:off x="3316124" y="3720462"/>
                <a:ext cx="0" cy="1476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1" name="组合 180">
              <a:extLst>
                <a:ext uri="{FF2B5EF4-FFF2-40B4-BE49-F238E27FC236}">
                  <a16:creationId xmlns:a16="http://schemas.microsoft.com/office/drawing/2014/main" id="{CD25270E-2330-4085-9961-21D007644D7E}"/>
                </a:ext>
              </a:extLst>
            </p:cNvPr>
            <p:cNvGrpSpPr/>
            <p:nvPr/>
          </p:nvGrpSpPr>
          <p:grpSpPr>
            <a:xfrm>
              <a:off x="1058332" y="3234029"/>
              <a:ext cx="2833687" cy="2344447"/>
              <a:chOff x="1312703" y="2897849"/>
              <a:chExt cx="2833687" cy="2344447"/>
            </a:xfrm>
          </p:grpSpPr>
          <p:grpSp>
            <p:nvGrpSpPr>
              <p:cNvPr id="182" name="组合 181">
                <a:extLst>
                  <a:ext uri="{FF2B5EF4-FFF2-40B4-BE49-F238E27FC236}">
                    <a16:creationId xmlns:a16="http://schemas.microsoft.com/office/drawing/2014/main" id="{CD4D0E6C-D04C-41A6-BBC3-5FC2134579AD}"/>
                  </a:ext>
                </a:extLst>
              </p:cNvPr>
              <p:cNvGrpSpPr/>
              <p:nvPr/>
            </p:nvGrpSpPr>
            <p:grpSpPr>
              <a:xfrm>
                <a:off x="1312703" y="2897849"/>
                <a:ext cx="2833687" cy="2344447"/>
                <a:chOff x="1312703" y="2897849"/>
                <a:chExt cx="2833687" cy="2344447"/>
              </a:xfrm>
            </p:grpSpPr>
            <p:sp>
              <p:nvSpPr>
                <p:cNvPr id="184" name="Line 80">
                  <a:extLst>
                    <a:ext uri="{FF2B5EF4-FFF2-40B4-BE49-F238E27FC236}">
                      <a16:creationId xmlns:a16="http://schemas.microsoft.com/office/drawing/2014/main" id="{F61BBAD3-22AE-453E-88C8-A0AC402D437A}"/>
                    </a:ext>
                  </a:extLst>
                </p:cNvPr>
                <p:cNvSpPr>
                  <a:spLocks noChangeShapeType="1"/>
                </p:cNvSpPr>
                <p:nvPr/>
              </p:nvSpPr>
              <p:spPr bwMode="auto">
                <a:xfrm>
                  <a:off x="2055653" y="4872699"/>
                  <a:ext cx="539750" cy="0"/>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sp>
              <p:nvSpPr>
                <p:cNvPr id="185" name="Line 81">
                  <a:extLst>
                    <a:ext uri="{FF2B5EF4-FFF2-40B4-BE49-F238E27FC236}">
                      <a16:creationId xmlns:a16="http://schemas.microsoft.com/office/drawing/2014/main" id="{9E16FF4A-09CF-4D69-BAE2-C7B5E8BB2819}"/>
                    </a:ext>
                  </a:extLst>
                </p:cNvPr>
                <p:cNvSpPr>
                  <a:spLocks noChangeShapeType="1"/>
                </p:cNvSpPr>
                <p:nvPr/>
              </p:nvSpPr>
              <p:spPr bwMode="auto">
                <a:xfrm flipH="1">
                  <a:off x="1312703" y="5190199"/>
                  <a:ext cx="493713" cy="0"/>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sp>
              <p:nvSpPr>
                <p:cNvPr id="186" name="Line 84">
                  <a:extLst>
                    <a:ext uri="{FF2B5EF4-FFF2-40B4-BE49-F238E27FC236}">
                      <a16:creationId xmlns:a16="http://schemas.microsoft.com/office/drawing/2014/main" id="{91CC2082-1C9A-4A60-8333-7467DF086619}"/>
                    </a:ext>
                  </a:extLst>
                </p:cNvPr>
                <p:cNvSpPr>
                  <a:spLocks noChangeShapeType="1"/>
                </p:cNvSpPr>
                <p:nvPr/>
              </p:nvSpPr>
              <p:spPr bwMode="auto">
                <a:xfrm flipV="1">
                  <a:off x="3106578" y="3893212"/>
                  <a:ext cx="196850" cy="311150"/>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sp>
              <p:nvSpPr>
                <p:cNvPr id="187" name="Line 85">
                  <a:extLst>
                    <a:ext uri="{FF2B5EF4-FFF2-40B4-BE49-F238E27FC236}">
                      <a16:creationId xmlns:a16="http://schemas.microsoft.com/office/drawing/2014/main" id="{F5343D57-FCBF-4E13-BC57-ED1C89D002C8}"/>
                    </a:ext>
                  </a:extLst>
                </p:cNvPr>
                <p:cNvSpPr>
                  <a:spLocks noChangeShapeType="1"/>
                </p:cNvSpPr>
                <p:nvPr/>
              </p:nvSpPr>
              <p:spPr bwMode="auto">
                <a:xfrm flipV="1">
                  <a:off x="2822415" y="2897849"/>
                  <a:ext cx="290513" cy="452438"/>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sp>
              <p:nvSpPr>
                <p:cNvPr id="188" name="Text Box 86">
                  <a:extLst>
                    <a:ext uri="{FF2B5EF4-FFF2-40B4-BE49-F238E27FC236}">
                      <a16:creationId xmlns:a16="http://schemas.microsoft.com/office/drawing/2014/main" id="{4D4BFB0F-E4AE-4B14-90BD-F0679742899D}"/>
                    </a:ext>
                  </a:extLst>
                </p:cNvPr>
                <p:cNvSpPr txBox="1">
                  <a:spLocks noChangeArrowheads="1"/>
                </p:cNvSpPr>
                <p:nvPr/>
              </p:nvSpPr>
              <p:spPr bwMode="auto">
                <a:xfrm>
                  <a:off x="1452061" y="4857575"/>
                  <a:ext cx="471488"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p>
              </p:txBody>
            </p:sp>
            <p:sp>
              <p:nvSpPr>
                <p:cNvPr id="189" name="Text Box 87">
                  <a:extLst>
                    <a:ext uri="{FF2B5EF4-FFF2-40B4-BE49-F238E27FC236}">
                      <a16:creationId xmlns:a16="http://schemas.microsoft.com/office/drawing/2014/main" id="{EA126B8A-5B7C-49D6-A3A2-77A54253BDF9}"/>
                    </a:ext>
                  </a:extLst>
                </p:cNvPr>
                <p:cNvSpPr txBox="1">
                  <a:spLocks noChangeArrowheads="1"/>
                </p:cNvSpPr>
                <p:nvPr/>
              </p:nvSpPr>
              <p:spPr bwMode="auto">
                <a:xfrm>
                  <a:off x="3225640" y="3936074"/>
                  <a:ext cx="46990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baseline="-25000" dirty="0">
                      <a:solidFill>
                        <a:srgbClr val="FF0000"/>
                      </a:solidFill>
                      <a:latin typeface="Times New Roman" panose="02020603050405020304" pitchFamily="18" charset="0"/>
                      <a:cs typeface="Times New Roman" panose="02020603050405020304" pitchFamily="18" charset="0"/>
                    </a:rPr>
                    <a:t>2</a:t>
                  </a:r>
                  <a:endParaRPr lang="en-US" altLang="zh-CN" dirty="0">
                    <a:solidFill>
                      <a:srgbClr val="FF0000"/>
                    </a:solidFill>
                    <a:latin typeface="Times New Roman" panose="02020603050405020304" pitchFamily="18" charset="0"/>
                    <a:cs typeface="Times New Roman" panose="02020603050405020304" pitchFamily="18" charset="0"/>
                  </a:endParaRPr>
                </a:p>
              </p:txBody>
            </p:sp>
            <p:sp>
              <p:nvSpPr>
                <p:cNvPr id="190" name="Text Box 88">
                  <a:extLst>
                    <a:ext uri="{FF2B5EF4-FFF2-40B4-BE49-F238E27FC236}">
                      <a16:creationId xmlns:a16="http://schemas.microsoft.com/office/drawing/2014/main" id="{1E3A3EA7-5ADD-4D00-8756-A66556909BB2}"/>
                    </a:ext>
                  </a:extLst>
                </p:cNvPr>
                <p:cNvSpPr txBox="1">
                  <a:spLocks noChangeArrowheads="1"/>
                </p:cNvSpPr>
                <p:nvPr/>
              </p:nvSpPr>
              <p:spPr bwMode="auto">
                <a:xfrm>
                  <a:off x="3676490" y="2915312"/>
                  <a:ext cx="46990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baseline="-25000" dirty="0">
                      <a:solidFill>
                        <a:srgbClr val="FF0000"/>
                      </a:solidFill>
                      <a:latin typeface="Times New Roman" panose="02020603050405020304" pitchFamily="18" charset="0"/>
                      <a:cs typeface="Times New Roman" panose="02020603050405020304" pitchFamily="18" charset="0"/>
                    </a:rPr>
                    <a:t>G</a:t>
                  </a:r>
                  <a:endParaRPr lang="en-US" altLang="zh-CN" dirty="0">
                    <a:solidFill>
                      <a:srgbClr val="FF0000"/>
                    </a:solidFill>
                    <a:latin typeface="Times New Roman" panose="02020603050405020304" pitchFamily="18" charset="0"/>
                    <a:cs typeface="Times New Roman" panose="02020603050405020304" pitchFamily="18" charset="0"/>
                  </a:endParaRPr>
                </a:p>
              </p:txBody>
            </p:sp>
            <p:sp>
              <p:nvSpPr>
                <p:cNvPr id="191" name="Text Box 89">
                  <a:extLst>
                    <a:ext uri="{FF2B5EF4-FFF2-40B4-BE49-F238E27FC236}">
                      <a16:creationId xmlns:a16="http://schemas.microsoft.com/office/drawing/2014/main" id="{C7695498-81D4-4150-948A-54ADFCCB8D34}"/>
                    </a:ext>
                  </a:extLst>
                </p:cNvPr>
                <p:cNvSpPr txBox="1">
                  <a:spLocks noChangeArrowheads="1"/>
                </p:cNvSpPr>
                <p:nvPr/>
              </p:nvSpPr>
              <p:spPr bwMode="auto">
                <a:xfrm>
                  <a:off x="2981165" y="3002624"/>
                  <a:ext cx="46990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baseline="-25000" dirty="0">
                      <a:solidFill>
                        <a:srgbClr val="FF0000"/>
                      </a:solidFill>
                      <a:latin typeface="Times New Roman" panose="02020603050405020304" pitchFamily="18" charset="0"/>
                      <a:cs typeface="Times New Roman" panose="02020603050405020304" pitchFamily="18" charset="0"/>
                    </a:rPr>
                    <a:t>1</a:t>
                  </a:r>
                  <a:endParaRPr lang="en-US" altLang="zh-CN" dirty="0">
                    <a:solidFill>
                      <a:srgbClr val="FF0000"/>
                    </a:solidFill>
                    <a:latin typeface="Times New Roman" panose="02020603050405020304" pitchFamily="18" charset="0"/>
                    <a:cs typeface="Times New Roman" panose="02020603050405020304" pitchFamily="18" charset="0"/>
                  </a:endParaRPr>
                </a:p>
              </p:txBody>
            </p:sp>
            <p:sp>
              <p:nvSpPr>
                <p:cNvPr id="192" name="Text Box 90">
                  <a:extLst>
                    <a:ext uri="{FF2B5EF4-FFF2-40B4-BE49-F238E27FC236}">
                      <a16:creationId xmlns:a16="http://schemas.microsoft.com/office/drawing/2014/main" id="{71C01AF1-E033-4265-9F7B-8C5EEC3AC8D2}"/>
                    </a:ext>
                  </a:extLst>
                </p:cNvPr>
                <p:cNvSpPr txBox="1">
                  <a:spLocks noChangeArrowheads="1"/>
                </p:cNvSpPr>
                <p:nvPr/>
              </p:nvSpPr>
              <p:spPr bwMode="auto">
                <a:xfrm>
                  <a:off x="2187415" y="4815549"/>
                  <a:ext cx="471488"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baseline="-25000" dirty="0">
                      <a:solidFill>
                        <a:srgbClr val="FF0000"/>
                      </a:solidFill>
                      <a:latin typeface="Times New Roman" panose="02020603050405020304" pitchFamily="18" charset="0"/>
                      <a:cs typeface="Times New Roman" panose="02020603050405020304" pitchFamily="18" charset="0"/>
                    </a:rPr>
                    <a:t>3</a:t>
                  </a:r>
                  <a:endParaRPr lang="en-US" altLang="zh-CN" dirty="0">
                    <a:solidFill>
                      <a:srgbClr val="FF0000"/>
                    </a:solidFill>
                    <a:latin typeface="Times New Roman" panose="02020603050405020304" pitchFamily="18" charset="0"/>
                    <a:cs typeface="Times New Roman" panose="02020603050405020304" pitchFamily="18" charset="0"/>
                  </a:endParaRPr>
                </a:p>
              </p:txBody>
            </p:sp>
          </p:grpSp>
          <p:sp>
            <p:nvSpPr>
              <p:cNvPr id="183" name="Line 83">
                <a:extLst>
                  <a:ext uri="{FF2B5EF4-FFF2-40B4-BE49-F238E27FC236}">
                    <a16:creationId xmlns:a16="http://schemas.microsoft.com/office/drawing/2014/main" id="{0640D6A0-CEC5-496F-8136-F6865200545E}"/>
                  </a:ext>
                </a:extLst>
              </p:cNvPr>
              <p:cNvSpPr>
                <a:spLocks noChangeShapeType="1"/>
              </p:cNvSpPr>
              <p:nvPr/>
            </p:nvSpPr>
            <p:spPr bwMode="auto">
              <a:xfrm>
                <a:off x="3681253" y="2897849"/>
                <a:ext cx="0" cy="403225"/>
              </a:xfrm>
              <a:prstGeom prst="line">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grpSp>
      <p:sp>
        <p:nvSpPr>
          <p:cNvPr id="193" name="Text Box 382">
            <a:extLst>
              <a:ext uri="{FF2B5EF4-FFF2-40B4-BE49-F238E27FC236}">
                <a16:creationId xmlns:a16="http://schemas.microsoft.com/office/drawing/2014/main" id="{E4D109E5-4803-4A37-929A-C1B710417100}"/>
              </a:ext>
            </a:extLst>
          </p:cNvPr>
          <p:cNvSpPr txBox="1">
            <a:spLocks noChangeArrowheads="1"/>
          </p:cNvSpPr>
          <p:nvPr/>
        </p:nvSpPr>
        <p:spPr bwMode="auto">
          <a:xfrm>
            <a:off x="6453956" y="392392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sz="2400"/>
          </a:p>
        </p:txBody>
      </p:sp>
      <p:grpSp>
        <p:nvGrpSpPr>
          <p:cNvPr id="8" name="组合 7"/>
          <p:cNvGrpSpPr/>
          <p:nvPr/>
        </p:nvGrpSpPr>
        <p:grpSpPr>
          <a:xfrm>
            <a:off x="6292432" y="924695"/>
            <a:ext cx="5425270" cy="5262979"/>
            <a:chOff x="6292432" y="924695"/>
            <a:chExt cx="5425270" cy="5262979"/>
          </a:xfrm>
        </p:grpSpPr>
        <p:sp>
          <p:nvSpPr>
            <p:cNvPr id="194" name="矩形 193">
              <a:extLst>
                <a:ext uri="{FF2B5EF4-FFF2-40B4-BE49-F238E27FC236}">
                  <a16:creationId xmlns:a16="http://schemas.microsoft.com/office/drawing/2014/main" id="{63417D7E-30EE-4BAB-93D9-0FBAB8CC802A}"/>
                </a:ext>
              </a:extLst>
            </p:cNvPr>
            <p:cNvSpPr/>
            <p:nvPr/>
          </p:nvSpPr>
          <p:spPr>
            <a:xfrm>
              <a:off x="6292432" y="924695"/>
              <a:ext cx="5425270" cy="5262979"/>
            </a:xfrm>
            <a:prstGeom prst="rect">
              <a:avLst/>
            </a:prstGeom>
          </p:spPr>
          <p:txBody>
            <a:bodyPr wrap="square">
              <a:spAutoFit/>
            </a:bodyPr>
            <a:lstStyle/>
            <a:p>
              <a:pPr>
                <a:spcBef>
                  <a:spcPct val="50000"/>
                </a:spcBef>
              </a:pPr>
              <a:r>
                <a:rPr lang="zh-CN" altLang="en-US" sz="2400" dirty="0">
                  <a:latin typeface="楷体" panose="02010609060101010101" pitchFamily="49" charset="-122"/>
                  <a:ea typeface="楷体" panose="02010609060101010101" pitchFamily="49" charset="-122"/>
                  <a:cs typeface="Times New Roman" panose="02020603050405020304" pitchFamily="18" charset="0"/>
                </a:rPr>
                <a:t>解放程组得：</a:t>
              </a:r>
              <a:endParaRPr lang="zh-CN" altLang="en-US" sz="2400" baseline="-25000" dirty="0">
                <a:latin typeface="楷体" panose="02010609060101010101" pitchFamily="49" charset="-122"/>
                <a:ea typeface="楷体" panose="02010609060101010101" pitchFamily="49" charset="-122"/>
                <a:cs typeface="Times New Roman" panose="02020603050405020304" pitchFamily="18" charset="0"/>
              </a:endParaRPr>
            </a:p>
            <a:p>
              <a:pPr>
                <a:spcBef>
                  <a:spcPct val="50000"/>
                </a:spcBef>
              </a:pP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a:spcBef>
                  <a:spcPct val="50000"/>
                </a:spcBef>
              </a:pP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a:spcBef>
                  <a:spcPct val="50000"/>
                </a:spcBef>
              </a:pPr>
              <a:r>
                <a:rPr lang="zh-CN" altLang="en-US" sz="2400" dirty="0">
                  <a:latin typeface="楷体" panose="02010609060101010101" pitchFamily="49" charset="-122"/>
                  <a:ea typeface="楷体" panose="02010609060101010101" pitchFamily="49" charset="-122"/>
                  <a:cs typeface="Times New Roman" panose="02020603050405020304" pitchFamily="18" charset="0"/>
                </a:rPr>
                <a:t>若在电桥使用过程中始终确保</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3</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成立，则上式中第二项为零，公式转化为：</a:t>
              </a:r>
            </a:p>
            <a:p>
              <a:pPr>
                <a:spcBef>
                  <a:spcPct val="50000"/>
                </a:spcBef>
              </a:pP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a:spcBef>
                  <a:spcPct val="50000"/>
                </a:spcBef>
              </a:pPr>
              <a:endParaRPr lang="zh-CN" altLang="en-US" sz="2400" dirty="0">
                <a:latin typeface="楷体" panose="02010609060101010101" pitchFamily="49" charset="-122"/>
                <a:ea typeface="楷体" panose="02010609060101010101" pitchFamily="49" charset="-122"/>
                <a:cs typeface="Times New Roman" panose="02020603050405020304" pitchFamily="18" charset="0"/>
              </a:endParaRPr>
            </a:p>
            <a:p>
              <a:pPr>
                <a:spcBef>
                  <a:spcPct val="50000"/>
                </a:spcBef>
              </a:pPr>
              <a:r>
                <a:rPr lang="zh-CN" altLang="en-US" sz="2400" dirty="0">
                  <a:latin typeface="楷体" panose="02010609060101010101" pitchFamily="49" charset="-122"/>
                  <a:ea typeface="楷体" panose="02010609060101010101" pitchFamily="49" charset="-122"/>
                  <a:cs typeface="Times New Roman" panose="02020603050405020304" pitchFamily="18" charset="0"/>
                </a:rPr>
                <a:t>可见，当双臂电桥调节平衡时，由比较臂电阻</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s</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和比率臂</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示数的乘积，便可求得待测低电阻</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i="1" baseline="-25000" dirty="0">
                  <a:latin typeface="楷体" panose="02010609060101010101" pitchFamily="49" charset="-122"/>
                  <a:ea typeface="楷体" panose="02010609060101010101" pitchFamily="49" charset="-122"/>
                  <a:cs typeface="Times New Roman" panose="02020603050405020304" pitchFamily="18" charset="0"/>
                </a:rPr>
                <a:t>x</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的值。</a:t>
              </a:r>
              <a:endParaRPr lang="zh-CN" altLang="en-US" sz="2000" dirty="0">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195" name="Object 384">
              <a:extLst>
                <a:ext uri="{FF2B5EF4-FFF2-40B4-BE49-F238E27FC236}">
                  <a16:creationId xmlns:a16="http://schemas.microsoft.com/office/drawing/2014/main" id="{A258BF24-A02B-4BF4-98A3-12658D97B0F9}"/>
                </a:ext>
              </a:extLst>
            </p:cNvPr>
            <p:cNvGraphicFramePr>
              <a:graphicFrameLocks noChangeAspect="1"/>
            </p:cNvGraphicFramePr>
            <p:nvPr>
              <p:extLst>
                <p:ext uri="{D42A27DB-BD31-4B8C-83A1-F6EECF244321}">
                  <p14:modId xmlns:p14="http://schemas.microsoft.com/office/powerpoint/2010/main" val="4293401002"/>
                </p:ext>
              </p:extLst>
            </p:nvPr>
          </p:nvGraphicFramePr>
          <p:xfrm>
            <a:off x="6913091" y="1357819"/>
            <a:ext cx="4010025" cy="1008063"/>
          </p:xfrm>
          <a:graphic>
            <a:graphicData uri="http://schemas.openxmlformats.org/presentationml/2006/ole">
              <mc:AlternateContent xmlns:mc="http://schemas.openxmlformats.org/markup-compatibility/2006">
                <mc:Choice xmlns:v="urn:schemas-microsoft-com:vml" Requires="v">
                  <p:oleObj name="Equation" r:id="rId3" imgW="2158920" imgH="482400" progId="Equation.DSMT4">
                    <p:embed/>
                  </p:oleObj>
                </mc:Choice>
                <mc:Fallback>
                  <p:oleObj name="Equation" r:id="rId3" imgW="2158920" imgH="482400" progId="Equation.DSMT4">
                    <p:embed/>
                    <p:pic>
                      <p:nvPicPr>
                        <p:cNvPr id="117" name="Object 384">
                          <a:extLst>
                            <a:ext uri="{FF2B5EF4-FFF2-40B4-BE49-F238E27FC236}">
                              <a16:creationId xmlns:a16="http://schemas.microsoft.com/office/drawing/2014/main" id="{A258BF24-A02B-4BF4-98A3-12658D97B0F9}"/>
                            </a:ext>
                          </a:extLst>
                        </p:cNvPr>
                        <p:cNvPicPr>
                          <a:picLocks noChangeAspect="1" noChangeArrowheads="1"/>
                        </p:cNvPicPr>
                        <p:nvPr/>
                      </p:nvPicPr>
                      <p:blipFill>
                        <a:blip r:embed="rId4"/>
                        <a:srcRect/>
                        <a:stretch>
                          <a:fillRect/>
                        </a:stretch>
                      </p:blipFill>
                      <p:spPr bwMode="auto">
                        <a:xfrm>
                          <a:off x="6913091" y="1357819"/>
                          <a:ext cx="4010025" cy="100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 name="Object 387">
              <a:extLst>
                <a:ext uri="{FF2B5EF4-FFF2-40B4-BE49-F238E27FC236}">
                  <a16:creationId xmlns:a16="http://schemas.microsoft.com/office/drawing/2014/main" id="{E464D8BD-C095-47AC-9E76-FE011ACAA44C}"/>
                </a:ext>
              </a:extLst>
            </p:cNvPr>
            <p:cNvGraphicFramePr>
              <a:graphicFrameLocks noChangeAspect="1"/>
            </p:cNvGraphicFramePr>
            <p:nvPr>
              <p:extLst>
                <p:ext uri="{D42A27DB-BD31-4B8C-83A1-F6EECF244321}">
                  <p14:modId xmlns:p14="http://schemas.microsoft.com/office/powerpoint/2010/main" val="461111671"/>
                </p:ext>
              </p:extLst>
            </p:nvPr>
          </p:nvGraphicFramePr>
          <p:xfrm>
            <a:off x="8952194" y="3864674"/>
            <a:ext cx="1284412" cy="881725"/>
          </p:xfrm>
          <a:graphic>
            <a:graphicData uri="http://schemas.openxmlformats.org/presentationml/2006/ole">
              <mc:AlternateContent xmlns:mc="http://schemas.openxmlformats.org/markup-compatibility/2006">
                <mc:Choice xmlns:v="urn:schemas-microsoft-com:vml" Requires="v">
                  <p:oleObj name="Equation" r:id="rId5" imgW="698400" imgH="431640" progId="Equation.DSMT4">
                    <p:embed/>
                  </p:oleObj>
                </mc:Choice>
                <mc:Fallback>
                  <p:oleObj name="Equation" r:id="rId5" imgW="698400" imgH="431640" progId="Equation.DSMT4">
                    <p:embed/>
                    <p:pic>
                      <p:nvPicPr>
                        <p:cNvPr id="128" name="Object 387">
                          <a:extLst>
                            <a:ext uri="{FF2B5EF4-FFF2-40B4-BE49-F238E27FC236}">
                              <a16:creationId xmlns:a16="http://schemas.microsoft.com/office/drawing/2014/main" id="{E464D8BD-C095-47AC-9E76-FE011ACAA4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52194" y="3864674"/>
                          <a:ext cx="1284412" cy="881725"/>
                        </a:xfrm>
                        <a:prstGeom prst="rect">
                          <a:avLst/>
                        </a:prstGeom>
                        <a:noFill/>
                        <a:ln>
                          <a:noFill/>
                        </a:ln>
                        <a:effectLst/>
                      </p:spPr>
                    </p:pic>
                  </p:oleObj>
                </mc:Fallback>
              </mc:AlternateContent>
            </a:graphicData>
          </a:graphic>
        </p:graphicFrame>
        <p:graphicFrame>
          <p:nvGraphicFramePr>
            <p:cNvPr id="197" name="Object 387">
              <a:extLst>
                <a:ext uri="{FF2B5EF4-FFF2-40B4-BE49-F238E27FC236}">
                  <a16:creationId xmlns:a16="http://schemas.microsoft.com/office/drawing/2014/main" id="{6B46DDA8-EC8F-4CE6-B028-B635FDC4FC7D}"/>
                </a:ext>
              </a:extLst>
            </p:cNvPr>
            <p:cNvGraphicFramePr>
              <a:graphicFrameLocks noChangeAspect="1"/>
            </p:cNvGraphicFramePr>
            <p:nvPr>
              <p:extLst>
                <p:ext uri="{D42A27DB-BD31-4B8C-83A1-F6EECF244321}">
                  <p14:modId xmlns:p14="http://schemas.microsoft.com/office/powerpoint/2010/main" val="745646663"/>
                </p:ext>
              </p:extLst>
            </p:nvPr>
          </p:nvGraphicFramePr>
          <p:xfrm>
            <a:off x="7661841" y="3864129"/>
            <a:ext cx="1027112" cy="882650"/>
          </p:xfrm>
          <a:graphic>
            <a:graphicData uri="http://schemas.openxmlformats.org/presentationml/2006/ole">
              <mc:AlternateContent xmlns:mc="http://schemas.openxmlformats.org/markup-compatibility/2006">
                <mc:Choice xmlns:v="urn:schemas-microsoft-com:vml" Requires="v">
                  <p:oleObj name="Equation" r:id="rId7" imgW="558720" imgH="431640" progId="Equation.DSMT4">
                    <p:embed/>
                  </p:oleObj>
                </mc:Choice>
                <mc:Fallback>
                  <p:oleObj name="Equation" r:id="rId7" imgW="558720" imgH="431640" progId="Equation.DSMT4">
                    <p:embed/>
                    <p:pic>
                      <p:nvPicPr>
                        <p:cNvPr id="129" name="Object 387">
                          <a:extLst>
                            <a:ext uri="{FF2B5EF4-FFF2-40B4-BE49-F238E27FC236}">
                              <a16:creationId xmlns:a16="http://schemas.microsoft.com/office/drawing/2014/main" id="{6B46DDA8-EC8F-4CE6-B028-B635FDC4FC7D}"/>
                            </a:ext>
                          </a:extLst>
                        </p:cNvPr>
                        <p:cNvPicPr>
                          <a:picLocks noChangeAspect="1" noChangeArrowheads="1"/>
                        </p:cNvPicPr>
                        <p:nvPr/>
                      </p:nvPicPr>
                      <p:blipFill>
                        <a:blip r:embed="rId8"/>
                        <a:srcRect/>
                        <a:stretch>
                          <a:fillRect/>
                        </a:stretch>
                      </p:blipFill>
                      <p:spPr bwMode="auto">
                        <a:xfrm>
                          <a:off x="7661841" y="3864129"/>
                          <a:ext cx="1027112" cy="882650"/>
                        </a:xfrm>
                        <a:prstGeom prst="rect">
                          <a:avLst/>
                        </a:prstGeom>
                        <a:noFill/>
                        <a:ln>
                          <a:noFill/>
                        </a:ln>
                        <a:effectLst/>
                      </p:spPr>
                    </p:pic>
                  </p:oleObj>
                </mc:Fallback>
              </mc:AlternateContent>
            </a:graphicData>
          </a:graphic>
        </p:graphicFrame>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457783"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5" name="灯片编号占位符 4"/>
          <p:cNvSpPr>
            <a:spLocks noGrp="1"/>
          </p:cNvSpPr>
          <p:nvPr>
            <p:ph type="sldNum" sz="quarter" idx="12"/>
          </p:nvPr>
        </p:nvSpPr>
        <p:spPr/>
        <p:txBody>
          <a:bodyPr/>
          <a:lstStyle/>
          <a:p>
            <a:fld id="{888F8D02-9041-4C59-BC62-13DE0E5C6713}" type="slidenum">
              <a:rPr lang="zh-CN" altLang="en-US" sz="1400" b="1" smtClean="0"/>
              <a:t>14</a:t>
            </a:fld>
            <a:endParaRPr lang="zh-CN" altLang="en-US" sz="1400" b="1" dirty="0"/>
          </a:p>
        </p:txBody>
      </p:sp>
      <p:sp>
        <p:nvSpPr>
          <p:cNvPr id="146" name="矩形 145">
            <a:extLst>
              <a:ext uri="{FF2B5EF4-FFF2-40B4-BE49-F238E27FC236}">
                <a16:creationId xmlns:a16="http://schemas.microsoft.com/office/drawing/2014/main" id="{76FBA0AE-9A22-41F2-9799-31D36BAD14F7}"/>
              </a:ext>
            </a:extLst>
          </p:cNvPr>
          <p:cNvSpPr/>
          <p:nvPr/>
        </p:nvSpPr>
        <p:spPr>
          <a:xfrm>
            <a:off x="1353105" y="1838588"/>
            <a:ext cx="9574652" cy="3416320"/>
          </a:xfrm>
          <a:prstGeom prst="rect">
            <a:avLst/>
          </a:prstGeom>
        </p:spPr>
        <p:txBody>
          <a:bodyPr wrap="square">
            <a:spAutoFit/>
          </a:bodyPr>
          <a:lstStyle/>
          <a:p>
            <a:pPr algn="just">
              <a:lnSpc>
                <a:spcPct val="150000"/>
              </a:lnSpc>
              <a:spcBef>
                <a:spcPct val="50000"/>
              </a:spcBef>
            </a:pPr>
            <a:r>
              <a:rPr lang="en-US" altLang="zh-CN" sz="2400" dirty="0">
                <a:latin typeface="楷体" panose="02010609060101010101" pitchFamily="49" charset="-122"/>
                <a:ea typeface="楷体" panose="02010609060101010101" pitchFamily="49" charset="-122"/>
                <a:cs typeface="Times New Roman" panose="02020603050405020304" pitchFamily="18" charset="0"/>
              </a:rPr>
              <a:t>    </a:t>
            </a:r>
            <a:r>
              <a:rPr lang="zh-CN" altLang="en-US" sz="2400" dirty="0">
                <a:latin typeface="楷体" panose="02010609060101010101" pitchFamily="49" charset="-122"/>
                <a:ea typeface="楷体" panose="02010609060101010101" pitchFamily="49" charset="-122"/>
                <a:cs typeface="Times New Roman" panose="02020603050405020304" pitchFamily="18" charset="0"/>
              </a:rPr>
              <a:t>为确保</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3</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在电桥使用过程中始终成立，通常将两对比率臂（</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3</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rPr>
              <a:t>）选用双十进制电阻箱。它的基本原理是将两个相同十进制电阻器的转臂连接在同一转轴上，这样在转臂的任一位置都将保持</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和</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3</a:t>
            </a:r>
            <a:r>
              <a:rPr lang="zh-CN" altLang="en-US"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和</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分别相等。在实际双臂电桥中，很难做到</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1</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2</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3</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rPr>
              <a:t>，为了减小误差，要求电阻</a:t>
            </a:r>
            <a:r>
              <a:rPr lang="en-US" altLang="zh-CN" sz="2400" i="1" dirty="0">
                <a:latin typeface="楷体" panose="02010609060101010101" pitchFamily="49" charset="-122"/>
                <a:ea typeface="楷体" panose="02010609060101010101" pitchFamily="49" charset="-122"/>
                <a:cs typeface="Times New Roman" panose="02020603050405020304" pitchFamily="18" charset="0"/>
              </a:rPr>
              <a:t>r</a:t>
            </a:r>
            <a:r>
              <a:rPr lang="zh-CN" altLang="en-US" sz="2400" dirty="0">
                <a:latin typeface="楷体" panose="02010609060101010101" pitchFamily="49" charset="-122"/>
                <a:ea typeface="楷体" panose="02010609060101010101" pitchFamily="49" charset="-122"/>
                <a:cs typeface="Times New Roman" panose="02020603050405020304" pitchFamily="18" charset="0"/>
              </a:rPr>
              <a:t>越小越好，因此使用阻值小于</a:t>
            </a:r>
            <a:r>
              <a:rPr lang="en-US" altLang="zh-CN" sz="2400" dirty="0">
                <a:latin typeface="楷体" panose="02010609060101010101" pitchFamily="49" charset="-122"/>
                <a:ea typeface="楷体" panose="02010609060101010101" pitchFamily="49" charset="-122"/>
                <a:cs typeface="Times New Roman" panose="02020603050405020304" pitchFamily="18" charset="0"/>
              </a:rPr>
              <a:t>0.001 </a:t>
            </a:r>
            <a:r>
              <a:rPr lang="en-US" altLang="zh-CN"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的粗导线来连接</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i="1"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x</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和</a:t>
            </a:r>
            <a:r>
              <a:rPr lang="en-US" altLang="zh-CN" sz="24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R</a:t>
            </a:r>
            <a:r>
              <a:rPr lang="en-US" altLang="zh-CN" sz="2400" baseline="-250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s</a:t>
            </a:r>
            <a:r>
              <a:rPr lang="zh-CN" altLang="en-US" sz="24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a:t>
            </a:r>
            <a:endParaRPr lang="zh-CN" altLang="en-US" sz="2000"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397" name="矩形 396"/>
          <p:cNvSpPr/>
          <p:nvPr/>
        </p:nvSpPr>
        <p:spPr>
          <a:xfrm>
            <a:off x="2466785"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5" name="灯片编号占位符 4"/>
          <p:cNvSpPr>
            <a:spLocks noGrp="1"/>
          </p:cNvSpPr>
          <p:nvPr>
            <p:ph type="sldNum" sz="quarter" idx="12"/>
          </p:nvPr>
        </p:nvSpPr>
        <p:spPr/>
        <p:txBody>
          <a:bodyPr/>
          <a:lstStyle/>
          <a:p>
            <a:fld id="{888F8D02-9041-4C59-BC62-13DE0E5C6713}" type="slidenum">
              <a:rPr lang="zh-CN" altLang="en-US" sz="1400" b="1" smtClean="0"/>
              <a:t>15</a:t>
            </a:fld>
            <a:endParaRPr lang="zh-CN" altLang="en-US" sz="1400" b="1" dirty="0"/>
          </a:p>
        </p:txBody>
      </p:sp>
      <p:sp>
        <p:nvSpPr>
          <p:cNvPr id="26" name="Rectangle 3"/>
          <p:cNvSpPr>
            <a:spLocks noChangeArrowheads="1"/>
          </p:cNvSpPr>
          <p:nvPr/>
        </p:nvSpPr>
        <p:spPr bwMode="auto">
          <a:xfrm>
            <a:off x="1504950" y="1936999"/>
            <a:ext cx="7924800" cy="3230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spcBef>
                <a:spcPct val="50000"/>
              </a:spcBef>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cs typeface="Times New Roman" panose="02020603050405020304" pitchFamily="18" charset="0"/>
              </a:rPr>
              <a:t>金属电阻随温度变化的特性：</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marL="800100" lvl="1" indent="-342900">
              <a:spcBef>
                <a:spcPct val="50000"/>
              </a:spcBef>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cs typeface="Times New Roman" panose="02020603050405020304" pitchFamily="18" charset="0"/>
              </a:rPr>
              <a:t>高温（线性）：电子声子相互作用主导</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marL="800100" lvl="1" indent="-342900">
              <a:spcBef>
                <a:spcPct val="50000"/>
              </a:spcBef>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cs typeface="Times New Roman" panose="02020603050405020304" pitchFamily="18" charset="0"/>
              </a:rPr>
              <a:t>低温（幂次）：电声、电电、轨道电子</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a:spcBef>
                <a:spcPct val="50000"/>
              </a:spcBef>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Font typeface="Arial" panose="020B0604020202020204" pitchFamily="34" charset="0"/>
              <a:buChar char="•"/>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cs typeface="Times New Roman" panose="02020603050405020304" pitchFamily="18" charset="0"/>
              </a:rPr>
              <a:t>室温下，温度变化不大时，金属温阻表现为线性：</a:t>
            </a:r>
            <a:endParaRPr lang="zh-CN" altLang="en-US" sz="2400" dirty="0">
              <a:solidFill>
                <a:srgbClr val="2A3D7A"/>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27" name="Picture 68" descr="File:Resistivity Cu-Ag-Au.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2765" y="2436817"/>
            <a:ext cx="3321803" cy="217194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8" name="矩形 27"/>
          <p:cNvSpPr/>
          <p:nvPr/>
        </p:nvSpPr>
        <p:spPr>
          <a:xfrm>
            <a:off x="4226781" y="1261379"/>
            <a:ext cx="3416320" cy="523220"/>
          </a:xfrm>
          <a:prstGeom prst="rect">
            <a:avLst/>
          </a:prstGeom>
        </p:spPr>
        <p:txBody>
          <a:bodyPr wrap="none">
            <a:spAutoFit/>
          </a:bodyPr>
          <a:lstStyle/>
          <a:p>
            <a:r>
              <a:rPr lang="zh-CN" altLang="en-US" sz="2800" dirty="0">
                <a:latin typeface="楷体" panose="02010609060101010101" pitchFamily="49" charset="-122"/>
                <a:ea typeface="楷体" panose="02010609060101010101" pitchFamily="49" charset="-122"/>
              </a:rPr>
              <a:t>金属电阻与温度系数</a:t>
            </a:r>
          </a:p>
        </p:txBody>
      </p:sp>
      <mc:AlternateContent xmlns:mc="http://schemas.openxmlformats.org/markup-compatibility/2006" xmlns:a14="http://schemas.microsoft.com/office/drawing/2010/main">
        <mc:Choice Requires="a14">
          <p:sp>
            <p:nvSpPr>
              <p:cNvPr id="29" name="TextBox 24"/>
              <p:cNvSpPr txBox="1"/>
              <p:nvPr/>
            </p:nvSpPr>
            <p:spPr>
              <a:xfrm>
                <a:off x="2346838" y="3807083"/>
                <a:ext cx="5467394" cy="716735"/>
              </a:xfrm>
              <a:prstGeom prst="rect">
                <a:avLst/>
              </a:prstGeom>
              <a:noFill/>
            </p:spPr>
            <p:txBody>
              <a:bodyPr wrap="none" rtlCol="0">
                <a:spAutoFit/>
              </a:bodyPr>
              <a:lstStyle/>
              <a:p>
                <a14:m>
                  <m:oMath xmlns:m="http://schemas.openxmlformats.org/officeDocument/2006/math">
                    <m:r>
                      <a:rPr lang="en-US" altLang="zh-CN" sz="2400" b="0" i="1" smtClean="0">
                        <a:latin typeface="Cambria Math" panose="02040503050406030204"/>
                      </a:rPr>
                      <m:t>𝜌</m:t>
                    </m:r>
                    <m:d>
                      <m:dPr>
                        <m:ctrlPr>
                          <a:rPr lang="en-US" altLang="zh-CN" sz="2400" b="0" i="1" smtClean="0">
                            <a:latin typeface="Cambria Math" panose="02040503050406030204" pitchFamily="18" charset="0"/>
                          </a:rPr>
                        </m:ctrlPr>
                      </m:dPr>
                      <m:e>
                        <m:r>
                          <a:rPr lang="en-US" altLang="zh-CN" sz="2400" b="0" i="1" smtClean="0">
                            <a:latin typeface="Cambria Math" panose="02040503050406030204"/>
                          </a:rPr>
                          <m:t>𝑡</m:t>
                        </m:r>
                      </m:e>
                    </m:d>
                    <m:r>
                      <a:rPr lang="en-US" altLang="zh-CN" sz="2400" b="0" i="1" smtClean="0">
                        <a:latin typeface="Cambria Math" panose="02040503050406030204"/>
                      </a:rPr>
                      <m:t>=</m:t>
                    </m:r>
                    <m:sSub>
                      <m:sSubPr>
                        <m:ctrlPr>
                          <a:rPr lang="en-US" altLang="zh-CN" sz="2400" b="0" i="1" smtClean="0">
                            <a:latin typeface="Cambria Math" panose="02040503050406030204" pitchFamily="18" charset="0"/>
                          </a:rPr>
                        </m:ctrlPr>
                      </m:sSubPr>
                      <m:e>
                        <m:r>
                          <a:rPr lang="en-US" altLang="zh-CN" sz="2400" i="1">
                            <a:latin typeface="Cambria Math" panose="02040503050406030204"/>
                          </a:rPr>
                          <m:t>𝜌</m:t>
                        </m:r>
                      </m:e>
                      <m:sub>
                        <m:r>
                          <a:rPr lang="en-US" altLang="zh-CN" sz="2400" b="0" i="1" smtClean="0">
                            <a:latin typeface="Cambria Math" panose="02040503050406030204"/>
                          </a:rPr>
                          <m:t>0</m:t>
                        </m:r>
                      </m:sub>
                    </m:sSub>
                    <m:r>
                      <a:rPr lang="en-US" altLang="zh-CN" sz="2400" b="0" i="1" smtClean="0">
                        <a:latin typeface="Cambria Math" panose="02040503050406030204"/>
                      </a:rPr>
                      <m:t>+</m:t>
                    </m:r>
                    <m:r>
                      <a:rPr lang="en-US" altLang="zh-CN" sz="2400" b="0" i="1" smtClean="0">
                        <a:latin typeface="Cambria Math" panose="02040503050406030204"/>
                      </a:rPr>
                      <m:t>𝐴</m:t>
                    </m:r>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f>
                              <m:fPr>
                                <m:ctrlPr>
                                  <a:rPr lang="en-US" altLang="zh-CN" sz="2400" b="0" i="1" smtClean="0">
                                    <a:latin typeface="Cambria Math" panose="02040503050406030204" pitchFamily="18" charset="0"/>
                                  </a:rPr>
                                </m:ctrlPr>
                              </m:fPr>
                              <m:num>
                                <m:r>
                                  <a:rPr lang="en-US" altLang="zh-CN" sz="2400" b="0" i="1" smtClean="0">
                                    <a:latin typeface="Cambria Math" panose="02040503050406030204"/>
                                  </a:rPr>
                                  <m:t>𝑡</m:t>
                                </m:r>
                              </m:num>
                              <m:den>
                                <m:r>
                                  <m:rPr>
                                    <m:sty m:val="p"/>
                                  </m:rPr>
                                  <a:rPr lang="en-US" altLang="zh-CN" sz="2400" b="0" i="0" smtClean="0">
                                    <a:latin typeface="Cambria Math" panose="02040503050406030204"/>
                                  </a:rPr>
                                  <m:t>Θ</m:t>
                                </m:r>
                              </m:den>
                            </m:f>
                          </m:e>
                        </m:d>
                      </m:e>
                      <m:sup>
                        <m:r>
                          <a:rPr lang="en-US" altLang="zh-CN" sz="2400" b="0" i="1" smtClean="0">
                            <a:latin typeface="Cambria Math" panose="02040503050406030204"/>
                          </a:rPr>
                          <m:t>𝑛</m:t>
                        </m:r>
                      </m:sup>
                    </m:sSup>
                    <m:nary>
                      <m:naryPr>
                        <m:ctrlPr>
                          <a:rPr lang="en-US" altLang="zh-CN" sz="2400" b="0" i="1" smtClean="0">
                            <a:latin typeface="Cambria Math" panose="02040503050406030204" pitchFamily="18" charset="0"/>
                          </a:rPr>
                        </m:ctrlPr>
                      </m:naryPr>
                      <m:sub>
                        <m:r>
                          <a:rPr lang="en-US" altLang="zh-CN" sz="2400" i="1">
                            <a:latin typeface="Cambria Math" panose="02040503050406030204"/>
                          </a:rPr>
                          <m:t>0</m:t>
                        </m:r>
                      </m:sub>
                      <m:sup>
                        <m:r>
                          <m:rPr>
                            <m:sty m:val="p"/>
                          </m:rPr>
                          <a:rPr lang="en-US" altLang="zh-CN" sz="2400">
                            <a:latin typeface="Cambria Math" panose="02040503050406030204"/>
                          </a:rPr>
                          <m:t>Θ</m:t>
                        </m:r>
                        <m:r>
                          <a:rPr lang="en-US" altLang="zh-CN" sz="2400">
                            <a:latin typeface="Cambria Math" panose="02040503050406030204"/>
                          </a:rPr>
                          <m:t>/</m:t>
                        </m:r>
                        <m:r>
                          <a:rPr lang="en-US" altLang="zh-CN" sz="2400" b="0" i="1" smtClean="0">
                            <a:latin typeface="Cambria Math" panose="02040503050406030204"/>
                          </a:rPr>
                          <m:t>𝑡</m:t>
                        </m:r>
                      </m:sup>
                      <m:e>
                        <m:f>
                          <m:fPr>
                            <m:ctrlPr>
                              <a:rPr lang="en-US" altLang="zh-CN" sz="2400" b="0" i="1" smtClean="0">
                                <a:latin typeface="Cambria Math" panose="02040503050406030204" pitchFamily="18" charset="0"/>
                              </a:rPr>
                            </m:ctrlPr>
                          </m:fPr>
                          <m:num>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a:rPr>
                                  <m:t>𝑥</m:t>
                                </m:r>
                              </m:e>
                              <m:sup>
                                <m:r>
                                  <a:rPr lang="en-US" altLang="zh-CN" sz="2400" b="0" i="1" smtClean="0">
                                    <a:latin typeface="Cambria Math" panose="02040503050406030204"/>
                                  </a:rPr>
                                  <m:t>𝑛</m:t>
                                </m:r>
                              </m:sup>
                            </m:sSup>
                          </m:num>
                          <m:den>
                            <m:d>
                              <m:dPr>
                                <m:ctrlPr>
                                  <a:rPr lang="en-US" altLang="zh-CN" sz="2400" b="0" i="1" smtClean="0">
                                    <a:latin typeface="Cambria Math" panose="02040503050406030204" pitchFamily="18" charset="0"/>
                                  </a:rPr>
                                </m:ctrlPr>
                              </m:dPr>
                              <m:e>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a:rPr>
                                      <m:t>𝑒</m:t>
                                    </m:r>
                                  </m:e>
                                  <m:sup>
                                    <m:r>
                                      <a:rPr lang="en-US" altLang="zh-CN" sz="2400" b="0" i="1" smtClean="0">
                                        <a:latin typeface="Cambria Math" panose="02040503050406030204"/>
                                      </a:rPr>
                                      <m:t>𝑥</m:t>
                                    </m:r>
                                  </m:sup>
                                </m:sSup>
                                <m:r>
                                  <a:rPr lang="en-US" altLang="zh-CN" sz="2400" b="0" i="1" smtClean="0">
                                    <a:latin typeface="Cambria Math" panose="02040503050406030204"/>
                                  </a:rPr>
                                  <m:t>−1</m:t>
                                </m:r>
                              </m:e>
                            </m:d>
                            <m:d>
                              <m:dPr>
                                <m:ctrlPr>
                                  <a:rPr lang="en-US" altLang="zh-CN" sz="2400" b="0" i="1" smtClean="0">
                                    <a:latin typeface="Cambria Math" panose="02040503050406030204" pitchFamily="18" charset="0"/>
                                  </a:rPr>
                                </m:ctrlPr>
                              </m:dPr>
                              <m:e>
                                <m:r>
                                  <a:rPr lang="en-US" altLang="zh-CN" sz="2400" b="0" i="1" smtClean="0">
                                    <a:latin typeface="Cambria Math" panose="02040503050406030204"/>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a:rPr>
                                      <m:t>𝑒</m:t>
                                    </m:r>
                                  </m:e>
                                  <m:sup>
                                    <m:r>
                                      <a:rPr lang="en-US" altLang="zh-CN" sz="2400" b="0" i="1" smtClean="0">
                                        <a:latin typeface="Cambria Math" panose="02040503050406030204"/>
                                      </a:rPr>
                                      <m:t>−</m:t>
                                    </m:r>
                                    <m:r>
                                      <a:rPr lang="en-US" altLang="zh-CN" sz="2400" b="0" i="1" smtClean="0">
                                        <a:latin typeface="Cambria Math" panose="02040503050406030204"/>
                                      </a:rPr>
                                      <m:t>𝑥</m:t>
                                    </m:r>
                                  </m:sup>
                                </m:sSup>
                              </m:e>
                            </m:d>
                          </m:den>
                        </m:f>
                        <m:r>
                          <a:rPr lang="en-US" altLang="zh-CN" sz="2400" b="0" i="1" smtClean="0">
                            <a:latin typeface="Cambria Math" panose="02040503050406030204"/>
                          </a:rPr>
                          <m:t>𝑑𝑥</m:t>
                        </m:r>
                      </m:e>
                    </m:nary>
                  </m:oMath>
                </a14:m>
                <a:r>
                  <a:rPr lang="zh-CN" altLang="en-US" sz="2400" dirty="0"/>
                  <a:t> </a:t>
                </a:r>
              </a:p>
            </p:txBody>
          </p:sp>
        </mc:Choice>
        <mc:Fallback xmlns="">
          <p:sp>
            <p:nvSpPr>
              <p:cNvPr id="29" name="TextBox 24"/>
              <p:cNvSpPr txBox="1">
                <a:spLocks noRot="1" noChangeAspect="1" noMove="1" noResize="1" noEditPoints="1" noAdjustHandles="1" noChangeArrowheads="1" noChangeShapeType="1" noTextEdit="1"/>
              </p:cNvSpPr>
              <p:nvPr/>
            </p:nvSpPr>
            <p:spPr>
              <a:xfrm>
                <a:off x="2346838" y="3807083"/>
                <a:ext cx="5467394" cy="71673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矩形 29"/>
              <p:cNvSpPr/>
              <p:nvPr/>
            </p:nvSpPr>
            <p:spPr>
              <a:xfrm>
                <a:off x="2005264" y="5807907"/>
                <a:ext cx="7001468" cy="463525"/>
              </a:xfrm>
              <a:prstGeom prst="rect">
                <a:avLst/>
              </a:prstGeom>
            </p:spPr>
            <p:txBody>
              <a:bodyPr wrap="none">
                <a:spAutoFit/>
              </a:bodyPr>
              <a:lstStyle/>
              <a:p>
                <a14:m>
                  <m:oMath xmlns:m="http://schemas.openxmlformats.org/officeDocument/2006/math">
                    <m:sSub>
                      <m:sSubPr>
                        <m:ctrlPr>
                          <a:rPr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𝑅</m:t>
                        </m:r>
                      </m:e>
                      <m:sub>
                        <m:r>
                          <a:rPr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0</m:t>
                        </m:r>
                      </m:sub>
                    </m:sSub>
                    <m:r>
                      <a:rPr lang="en-US" altLang="zh-CN" sz="2400" i="1" smtClean="0">
                        <a:solidFill>
                          <a:schemeClr val="tx1"/>
                        </a:solidFill>
                        <a:latin typeface="Cambria Math" panose="02040503050406030204" pitchFamily="18" charset="0"/>
                        <a:ea typeface="MS Mincho" charset="0"/>
                        <a:cs typeface="Cambria Math" panose="02040503050406030204" pitchFamily="18" charset="0"/>
                      </a:rPr>
                      <m:t>为变温电阻</m:t>
                    </m:r>
                    <m:sSup>
                      <m:sSupPr>
                        <m:ctrlPr>
                          <a:rPr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smtClean="0">
                            <a:solidFill>
                              <a:schemeClr val="tx1"/>
                            </a:solidFill>
                            <a:latin typeface="Cambria Math" panose="02040503050406030204" pitchFamily="18" charset="0"/>
                            <a:ea typeface="MS Mincho" charset="0"/>
                            <a:cs typeface="Cambria Math" panose="02040503050406030204" pitchFamily="18" charset="0"/>
                          </a:rPr>
                          <m:t>0</m:t>
                        </m:r>
                      </m:e>
                      <m:sup>
                        <m:r>
                          <a:rPr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𝑜</m:t>
                        </m:r>
                      </m:sup>
                    </m:sSup>
                    <m:r>
                      <a:rPr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𝐶</m:t>
                    </m:r>
                    <m:r>
                      <a:rPr lang="en-US" altLang="zh-CN" sz="2400" i="1" smtClean="0">
                        <a:solidFill>
                          <a:schemeClr val="tx1"/>
                        </a:solidFill>
                        <a:latin typeface="Cambria Math" panose="02040503050406030204" pitchFamily="18" charset="0"/>
                        <a:ea typeface="MS Mincho" charset="0"/>
                        <a:cs typeface="Cambria Math" panose="02040503050406030204" pitchFamily="18" charset="0"/>
                      </a:rPr>
                      <m:t>时的阻值</m:t>
                    </m:r>
                    <m:r>
                      <a:rPr lang="en-US" altLang="zh-CN" sz="2400"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400" i="1" smtClean="0">
                        <a:solidFill>
                          <a:schemeClr val="tx1"/>
                        </a:solidFill>
                        <a:latin typeface="Cambria Math" panose="02040503050406030204"/>
                      </a:rPr>
                      <m:t>𝛼</m:t>
                    </m:r>
                  </m:oMath>
                </a14:m>
                <a:r>
                  <a:rPr lang="zh-CN" altLang="en-US" sz="2400" dirty="0">
                    <a:latin typeface="楷体" panose="02010609060101010101" pitchFamily="49" charset="-122"/>
                    <a:ea typeface="楷体" panose="02010609060101010101" pitchFamily="49" charset="-122"/>
                  </a:rPr>
                  <a:t>为温度系数（</a:t>
                </a:r>
                <a14:m>
                  <m:oMath xmlns:m="http://schemas.openxmlformats.org/officeDocument/2006/math">
                    <m:r>
                      <m:rPr>
                        <m:sty m:val="p"/>
                      </m:rPr>
                      <a:rPr lang="en-US" altLang="zh-CN" sz="2400" b="0" i="0" smtClean="0">
                        <a:latin typeface="Cambria Math" panose="02040503050406030204"/>
                        <a:ea typeface="宋体" panose="02010600030101010101" pitchFamily="2" charset="-122"/>
                      </a:rPr>
                      <m:t>Ω</m:t>
                    </m:r>
                    <m:r>
                      <a:rPr lang="en-US" altLang="zh-CN" sz="2400" b="0" i="1" smtClean="0">
                        <a:latin typeface="Cambria Math" panose="02040503050406030204"/>
                        <a:ea typeface="宋体" panose="02010600030101010101" pitchFamily="2" charset="-122"/>
                      </a:rPr>
                      <m:t>/</m:t>
                    </m:r>
                    <m:r>
                      <m:rPr>
                        <m:sty m:val="p"/>
                      </m:rPr>
                      <a:rPr lang="en-US" altLang="zh-CN" sz="2400" b="0" i="0" smtClean="0">
                        <a:latin typeface="Cambria Math" panose="02040503050406030204"/>
                        <a:ea typeface="宋体" panose="02010600030101010101" pitchFamily="2" charset="-122"/>
                      </a:rPr>
                      <m:t>K</m:t>
                    </m:r>
                  </m:oMath>
                </a14:m>
                <a:r>
                  <a:rPr lang="zh-CN" altLang="en-US" sz="2400" dirty="0">
                    <a:latin typeface="楷体" panose="02010609060101010101" pitchFamily="49" charset="-122"/>
                    <a:ea typeface="楷体" panose="02010609060101010101" pitchFamily="49" charset="-122"/>
                  </a:rPr>
                  <a:t>）</a:t>
                </a:r>
              </a:p>
            </p:txBody>
          </p:sp>
        </mc:Choice>
        <mc:Fallback>
          <p:sp>
            <p:nvSpPr>
              <p:cNvPr id="30" name="矩形 29"/>
              <p:cNvSpPr>
                <a:spLocks noRot="1" noChangeAspect="1" noMove="1" noResize="1" noEditPoints="1" noAdjustHandles="1" noChangeArrowheads="1" noChangeShapeType="1" noTextEdit="1"/>
              </p:cNvSpPr>
              <p:nvPr/>
            </p:nvSpPr>
            <p:spPr>
              <a:xfrm>
                <a:off x="2005264" y="5807907"/>
                <a:ext cx="7001468" cy="463525"/>
              </a:xfrm>
              <a:prstGeom prst="rect">
                <a:avLst/>
              </a:prstGeom>
              <a:blipFill>
                <a:blip r:embed="rId5"/>
                <a:stretch>
                  <a:fillRect l="-181" t="-13514" r="-543" b="-27027"/>
                </a:stretch>
              </a:blipFill>
            </p:spPr>
            <p:txBody>
              <a:bodyPr/>
              <a:lstStyle/>
              <a:p>
                <a:r>
                  <a:rPr lang="zh-CN" altLang="en-US">
                    <a:noFill/>
                  </a:rPr>
                  <a:t> </a:t>
                </a:r>
              </a:p>
            </p:txBody>
          </p:sp>
        </mc:Fallback>
      </mc:AlternateContent>
      <p:sp>
        <p:nvSpPr>
          <p:cNvPr id="31" name="矩形 30"/>
          <p:cNvSpPr/>
          <p:nvPr/>
        </p:nvSpPr>
        <p:spPr>
          <a:xfrm>
            <a:off x="9340284" y="4599491"/>
            <a:ext cx="1963999" cy="400110"/>
          </a:xfrm>
          <a:prstGeom prst="rect">
            <a:avLst/>
          </a:prstGeom>
        </p:spPr>
        <p:txBody>
          <a:bodyPr wrap="none">
            <a:spAutoFit/>
          </a:bodyPr>
          <a:lstStyle/>
          <a:p>
            <a:r>
              <a:rPr lang="zh-CN" altLang="en-US" sz="2000" dirty="0">
                <a:latin typeface="楷体" panose="02010609060101010101" pitchFamily="49" charset="-122"/>
                <a:ea typeface="楷体" panose="02010609060101010101" pitchFamily="49" charset="-122"/>
                <a:cs typeface="Times New Roman" panose="02020603050405020304" pitchFamily="18" charset="0"/>
              </a:rPr>
              <a:t>来源：</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wikipedia</a:t>
            </a:r>
            <a:endParaRPr lang="zh-CN" altLang="en-US" dirty="0"/>
          </a:p>
        </p:txBody>
      </p:sp>
      <p:sp>
        <p:nvSpPr>
          <p:cNvPr id="32" name="矩形 31"/>
          <p:cNvSpPr/>
          <p:nvPr/>
        </p:nvSpPr>
        <p:spPr>
          <a:xfrm>
            <a:off x="2352211" y="3501882"/>
            <a:ext cx="2576346" cy="369332"/>
          </a:xfrm>
          <a:prstGeom prst="rect">
            <a:avLst/>
          </a:prstGeom>
        </p:spPr>
        <p:txBody>
          <a:bodyPr wrap="none">
            <a:spAutoFit/>
          </a:bodyPr>
          <a:lstStyle/>
          <a:p>
            <a:r>
              <a:rPr lang="en-US" altLang="zh-CN" sz="1800" dirty="0">
                <a:solidFill>
                  <a:srgbClr val="0000FF"/>
                </a:solidFill>
                <a:latin typeface="Times New Roman" panose="02020603050405020304" pitchFamily="18" charset="0"/>
                <a:cs typeface="Times New Roman" panose="02020603050405020304" pitchFamily="18" charset="0"/>
              </a:rPr>
              <a:t>Bloch-</a:t>
            </a:r>
            <a:r>
              <a:rPr lang="en-US" altLang="zh-CN" sz="1800" dirty="0" err="1">
                <a:solidFill>
                  <a:srgbClr val="0000FF"/>
                </a:solidFill>
                <a:latin typeface="Times New Roman" panose="02020603050405020304" pitchFamily="18" charset="0"/>
                <a:cs typeface="Times New Roman" panose="02020603050405020304" pitchFamily="18" charset="0"/>
              </a:rPr>
              <a:t>Grüneisen</a:t>
            </a:r>
            <a:r>
              <a:rPr lang="en-US" altLang="zh-CN" sz="1800" dirty="0">
                <a:solidFill>
                  <a:srgbClr val="0000FF"/>
                </a:solidFill>
                <a:latin typeface="Times New Roman" panose="02020603050405020304" pitchFamily="18" charset="0"/>
                <a:cs typeface="Times New Roman" panose="02020603050405020304" pitchFamily="18" charset="0"/>
              </a:rPr>
              <a:t> theorem</a:t>
            </a:r>
            <a:endParaRPr lang="zh-CN" altLang="en-US" sz="1800"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3" name="文本框 32"/>
              <p:cNvSpPr txBox="1"/>
              <p:nvPr/>
            </p:nvSpPr>
            <p:spPr>
              <a:xfrm>
                <a:off x="4623435" y="5283835"/>
                <a:ext cx="2621915" cy="485775"/>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𝑅</m:t>
                          </m:r>
                        </m:e>
                        <m:sub>
                          <m:r>
                            <a:rPr lang="en-US" altLang="zh-CN" sz="2400" i="1">
                              <a:latin typeface="Cambria Math" panose="02040503050406030204" pitchFamily="18" charset="0"/>
                              <a:cs typeface="Cambria Math" panose="02040503050406030204" pitchFamily="18" charset="0"/>
                            </a:rPr>
                            <m:t>𝑡</m:t>
                          </m:r>
                        </m:sub>
                      </m:sSub>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𝑅</m:t>
                          </m:r>
                        </m:e>
                        <m:sub>
                          <m:r>
                            <a:rPr lang="en-US" altLang="zh-CN" sz="2400" i="1">
                              <a:latin typeface="Cambria Math" panose="02040503050406030204" pitchFamily="18" charset="0"/>
                              <a:cs typeface="Cambria Math" panose="02040503050406030204" pitchFamily="18" charset="0"/>
                            </a:rPr>
                            <m:t>0</m:t>
                          </m:r>
                        </m:sub>
                      </m:sSub>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r>
                            <a:rPr lang="en-US" altLang="zh-CN" sz="2400" i="1">
                              <a:latin typeface="Cambria Math" panose="02040503050406030204" pitchFamily="18" charset="0"/>
                              <a:cs typeface="Cambria Math" panose="02040503050406030204" pitchFamily="18" charset="0"/>
                            </a:rPr>
                            <m:t>𝛼</m:t>
                          </m:r>
                          <m:r>
                            <a:rPr lang="en-US" altLang="zh-CN" sz="2400" i="1">
                              <a:latin typeface="Cambria Math" panose="02040503050406030204" pitchFamily="18" charset="0"/>
                              <a:cs typeface="Cambria Math" panose="02040503050406030204" pitchFamily="18" charset="0"/>
                            </a:rPr>
                            <m:t>𝑡</m:t>
                          </m:r>
                        </m:e>
                      </m:d>
                    </m:oMath>
                  </m:oMathPara>
                </a14:m>
                <a:endParaRPr lang="zh-CN" altLang="en-US" sz="2400"/>
              </a:p>
            </p:txBody>
          </p:sp>
        </mc:Choice>
        <mc:Fallback xmlns="">
          <p:sp>
            <p:nvSpPr>
              <p:cNvPr id="33" name="文本框 32"/>
              <p:cNvSpPr txBox="1">
                <a:spLocks noRot="1" noChangeAspect="1" noMove="1" noResize="1" noEditPoints="1" noAdjustHandles="1" noChangeArrowheads="1" noChangeShapeType="1" noTextEdit="1"/>
              </p:cNvSpPr>
              <p:nvPr/>
            </p:nvSpPr>
            <p:spPr>
              <a:xfrm>
                <a:off x="4623435" y="5283835"/>
                <a:ext cx="2621915" cy="485775"/>
              </a:xfrm>
              <a:prstGeom prst="rect">
                <a:avLst/>
              </a:prstGeom>
              <a:blipFill>
                <a:blip r:embed="rId6"/>
                <a:stretch>
                  <a:fillRect/>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4</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实验仪器</a:t>
              </a:r>
            </a:p>
          </p:txBody>
        </p:sp>
        <p:sp>
          <p:nvSpPr>
            <p:cNvPr id="53" name="矩形 52"/>
            <p:cNvSpPr/>
            <p:nvPr/>
          </p:nvSpPr>
          <p:spPr>
            <a:xfrm>
              <a:off x="5558154" y="3264361"/>
              <a:ext cx="3268583"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 DEVICE</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524816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实验仪器</a:t>
            </a:r>
          </a:p>
        </p:txBody>
      </p:sp>
      <p:sp>
        <p:nvSpPr>
          <p:cNvPr id="397" name="矩形 396"/>
          <p:cNvSpPr/>
          <p:nvPr/>
        </p:nvSpPr>
        <p:spPr>
          <a:xfrm>
            <a:off x="2452740" y="324999"/>
            <a:ext cx="2752220"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DEVICE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 name="灯片编号占位符 1"/>
          <p:cNvSpPr>
            <a:spLocks noGrp="1"/>
          </p:cNvSpPr>
          <p:nvPr>
            <p:ph type="sldNum" sz="quarter" idx="12"/>
          </p:nvPr>
        </p:nvSpPr>
        <p:spPr/>
        <p:txBody>
          <a:bodyPr/>
          <a:lstStyle/>
          <a:p>
            <a:fld id="{888F8D02-9041-4C59-BC62-13DE0E5C6713}" type="slidenum">
              <a:rPr lang="zh-CN" altLang="en-US" sz="1600" b="1" smtClean="0"/>
              <a:t>17</a:t>
            </a:fld>
            <a:endParaRPr lang="zh-CN" altLang="en-US" sz="1600" b="1"/>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6851" y="1969840"/>
            <a:ext cx="4691330" cy="3527824"/>
          </a:xfrm>
          <a:prstGeom prst="rect">
            <a:avLst/>
          </a:prstGeom>
        </p:spPr>
      </p:pic>
      <p:sp>
        <p:nvSpPr>
          <p:cNvPr id="4" name="文本框 3"/>
          <p:cNvSpPr txBox="1"/>
          <p:nvPr/>
        </p:nvSpPr>
        <p:spPr>
          <a:xfrm>
            <a:off x="4360292" y="1004494"/>
            <a:ext cx="3504449" cy="523220"/>
          </a:xfrm>
          <a:prstGeom prst="rect">
            <a:avLst/>
          </a:prstGeom>
          <a:noFill/>
        </p:spPr>
        <p:txBody>
          <a:bodyPr wrap="square" rtlCol="0">
            <a:spAutoFit/>
          </a:bodyPr>
          <a:lstStyle/>
          <a:p>
            <a:r>
              <a:rPr lang="en-US" altLang="zh-CN" sz="2800" dirty="0">
                <a:latin typeface="楷体" panose="02010609060101010101" pitchFamily="49" charset="-122"/>
                <a:ea typeface="楷体" panose="02010609060101010101" pitchFamily="49" charset="-122"/>
              </a:rPr>
              <a:t>QJ44</a:t>
            </a:r>
            <a:r>
              <a:rPr lang="zh-CN" altLang="en-US" sz="2800" dirty="0">
                <a:latin typeface="楷体" panose="02010609060101010101" pitchFamily="49" charset="-122"/>
                <a:ea typeface="楷体" panose="02010609060101010101" pitchFamily="49" charset="-122"/>
              </a:rPr>
              <a:t>型直流双臂电桥</a:t>
            </a:r>
          </a:p>
        </p:txBody>
      </p:sp>
      <p:sp>
        <p:nvSpPr>
          <p:cNvPr id="5" name="矩形 4"/>
          <p:cNvSpPr/>
          <p:nvPr/>
        </p:nvSpPr>
        <p:spPr>
          <a:xfrm>
            <a:off x="3707147" y="2526992"/>
            <a:ext cx="729719" cy="2058525"/>
          </a:xfrm>
          <a:prstGeom prst="rect">
            <a:avLst/>
          </a:prstGeom>
          <a:noFill/>
          <a:ln w="190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stCxn id="5" idx="1"/>
          </p:cNvCxnSpPr>
          <p:nvPr/>
        </p:nvCxnSpPr>
        <p:spPr>
          <a:xfrm flipH="1">
            <a:off x="3405352" y="3556255"/>
            <a:ext cx="301795" cy="225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2225191" y="3351310"/>
            <a:ext cx="1207190"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四端接入</a:t>
            </a:r>
          </a:p>
        </p:txBody>
      </p:sp>
      <p:cxnSp>
        <p:nvCxnSpPr>
          <p:cNvPr id="10" name="直接连接符 9"/>
          <p:cNvCxnSpPr/>
          <p:nvPr/>
        </p:nvCxnSpPr>
        <p:spPr>
          <a:xfrm flipH="1">
            <a:off x="3432381" y="4743174"/>
            <a:ext cx="1162141" cy="35134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716173" y="4894465"/>
            <a:ext cx="716208"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倍率</a:t>
            </a:r>
          </a:p>
        </p:txBody>
      </p:sp>
      <p:sp>
        <p:nvSpPr>
          <p:cNvPr id="11" name="圆角矩形 10"/>
          <p:cNvSpPr/>
          <p:nvPr/>
        </p:nvSpPr>
        <p:spPr>
          <a:xfrm>
            <a:off x="7941316" y="2490957"/>
            <a:ext cx="409904" cy="626116"/>
          </a:xfrm>
          <a:prstGeom prst="roundRect">
            <a:avLst/>
          </a:prstGeom>
          <a:noFill/>
          <a:ln w="190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1" idx="3"/>
          </p:cNvCxnSpPr>
          <p:nvPr/>
        </p:nvCxnSpPr>
        <p:spPr>
          <a:xfrm flipV="1">
            <a:off x="8351220" y="2797259"/>
            <a:ext cx="450443" cy="675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8801663" y="2444050"/>
            <a:ext cx="1130613" cy="707886"/>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检流计开关</a:t>
            </a:r>
          </a:p>
        </p:txBody>
      </p:sp>
      <p:cxnSp>
        <p:nvCxnSpPr>
          <p:cNvPr id="33" name="直接连接符 32"/>
          <p:cNvCxnSpPr/>
          <p:nvPr/>
        </p:nvCxnSpPr>
        <p:spPr>
          <a:xfrm>
            <a:off x="8146268" y="4303990"/>
            <a:ext cx="65481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8801663" y="3955660"/>
            <a:ext cx="1130613" cy="707886"/>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阻值细调盘</a:t>
            </a:r>
          </a:p>
        </p:txBody>
      </p:sp>
      <p:cxnSp>
        <p:nvCxnSpPr>
          <p:cNvPr id="19" name="直接连接符 18"/>
          <p:cNvCxnSpPr/>
          <p:nvPr/>
        </p:nvCxnSpPr>
        <p:spPr>
          <a:xfrm>
            <a:off x="5968374" y="4783715"/>
            <a:ext cx="0" cy="950435"/>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5488649" y="5692218"/>
            <a:ext cx="1130613" cy="707886"/>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阻值粗调盘</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1308" y="2412615"/>
            <a:ext cx="6707101" cy="3339947"/>
          </a:xfrm>
          <a:prstGeom prst="rect">
            <a:avLst/>
          </a:prstGeom>
        </p:spPr>
      </p:pic>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实验仪器</a:t>
            </a:r>
          </a:p>
        </p:txBody>
      </p:sp>
      <p:sp>
        <p:nvSpPr>
          <p:cNvPr id="397" name="矩形 396"/>
          <p:cNvSpPr/>
          <p:nvPr/>
        </p:nvSpPr>
        <p:spPr>
          <a:xfrm>
            <a:off x="2452740" y="324999"/>
            <a:ext cx="2752220"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DEVICE</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 name="灯片编号占位符 1"/>
          <p:cNvSpPr>
            <a:spLocks noGrp="1"/>
          </p:cNvSpPr>
          <p:nvPr>
            <p:ph type="sldNum" sz="quarter" idx="12"/>
          </p:nvPr>
        </p:nvSpPr>
        <p:spPr/>
        <p:txBody>
          <a:bodyPr/>
          <a:lstStyle/>
          <a:p>
            <a:fld id="{888F8D02-9041-4C59-BC62-13DE0E5C6713}" type="slidenum">
              <a:rPr lang="zh-CN" altLang="en-US" sz="1600" b="1" smtClean="0"/>
              <a:t>18</a:t>
            </a:fld>
            <a:endParaRPr lang="zh-CN" altLang="en-US" sz="1600" b="1"/>
          </a:p>
        </p:txBody>
      </p:sp>
      <p:sp>
        <p:nvSpPr>
          <p:cNvPr id="19" name="文本框 18"/>
          <p:cNvSpPr txBox="1"/>
          <p:nvPr/>
        </p:nvSpPr>
        <p:spPr>
          <a:xfrm>
            <a:off x="5154930" y="1165225"/>
            <a:ext cx="1881505" cy="583565"/>
          </a:xfrm>
          <a:prstGeom prst="rect">
            <a:avLst/>
          </a:prstGeom>
          <a:noFill/>
        </p:spPr>
        <p:txBody>
          <a:bodyPr wrap="square" rtlCol="0">
            <a:spAutoFit/>
          </a:bodyPr>
          <a:lstStyle/>
          <a:p>
            <a:r>
              <a:rPr lang="zh-CN" altLang="en-US" sz="3200">
                <a:latin typeface="楷体" panose="02010609060101010101" pitchFamily="49" charset="-122"/>
                <a:ea typeface="楷体" panose="02010609060101010101" pitchFamily="49" charset="-122"/>
              </a:rPr>
              <a:t>温控装置</a:t>
            </a:r>
          </a:p>
        </p:txBody>
      </p:sp>
      <p:cxnSp>
        <p:nvCxnSpPr>
          <p:cNvPr id="20" name="直接连接符 19"/>
          <p:cNvCxnSpPr/>
          <p:nvPr/>
        </p:nvCxnSpPr>
        <p:spPr>
          <a:xfrm>
            <a:off x="8766175" y="3418840"/>
            <a:ext cx="1021715"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9791065" y="3215005"/>
            <a:ext cx="1211580" cy="398780"/>
          </a:xfrm>
          <a:prstGeom prst="rect">
            <a:avLst/>
          </a:prstGeom>
          <a:noFill/>
        </p:spPr>
        <p:txBody>
          <a:bodyPr wrap="square" rtlCol="0">
            <a:spAutoFit/>
          </a:bodyPr>
          <a:lstStyle/>
          <a:p>
            <a:r>
              <a:rPr lang="zh-CN" altLang="en-US" sz="2000">
                <a:latin typeface="楷体" panose="02010609060101010101" pitchFamily="49" charset="-122"/>
                <a:ea typeface="楷体" panose="02010609060101010101" pitchFamily="49" charset="-122"/>
              </a:rPr>
              <a:t>加热开关</a:t>
            </a:r>
          </a:p>
        </p:txBody>
      </p:sp>
      <p:cxnSp>
        <p:nvCxnSpPr>
          <p:cNvPr id="22" name="直接连接符 21"/>
          <p:cNvCxnSpPr/>
          <p:nvPr/>
        </p:nvCxnSpPr>
        <p:spPr>
          <a:xfrm>
            <a:off x="8415020" y="5085715"/>
            <a:ext cx="1355725"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a:off x="9791065" y="4886325"/>
            <a:ext cx="1211580" cy="398780"/>
          </a:xfrm>
          <a:prstGeom prst="rect">
            <a:avLst/>
          </a:prstGeom>
          <a:noFill/>
        </p:spPr>
        <p:txBody>
          <a:bodyPr wrap="square" rtlCol="0">
            <a:spAutoFit/>
          </a:bodyPr>
          <a:lstStyle/>
          <a:p>
            <a:r>
              <a:rPr lang="zh-CN" altLang="en-US" sz="2000">
                <a:latin typeface="楷体" panose="02010609060101010101" pitchFamily="49" charset="-122"/>
                <a:ea typeface="楷体" panose="02010609060101010101" pitchFamily="49" charset="-122"/>
              </a:rPr>
              <a:t>风扇开关</a:t>
            </a:r>
          </a:p>
        </p:txBody>
      </p:sp>
      <p:sp>
        <p:nvSpPr>
          <p:cNvPr id="24" name="矩形 23"/>
          <p:cNvSpPr/>
          <p:nvPr/>
        </p:nvSpPr>
        <p:spPr>
          <a:xfrm rot="18780000">
            <a:off x="6144260" y="2846070"/>
            <a:ext cx="1326515" cy="1326515"/>
          </a:xfrm>
          <a:prstGeom prst="rect">
            <a:avLst/>
          </a:prstGeom>
          <a:noFill/>
          <a:ln w="19050">
            <a:solidFill>
              <a:srgbClr val="FF0000"/>
            </a:solidFill>
            <a:prstDash val="lg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5" name="直接连接符 24"/>
          <p:cNvCxnSpPr/>
          <p:nvPr/>
        </p:nvCxnSpPr>
        <p:spPr>
          <a:xfrm flipH="1">
            <a:off x="2564765" y="3549650"/>
            <a:ext cx="3314065" cy="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1353185" y="3350260"/>
            <a:ext cx="1211580" cy="398780"/>
          </a:xfrm>
          <a:prstGeom prst="rect">
            <a:avLst/>
          </a:prstGeom>
          <a:noFill/>
        </p:spPr>
        <p:txBody>
          <a:bodyPr wrap="square" rtlCol="0">
            <a:spAutoFit/>
          </a:bodyPr>
          <a:lstStyle/>
          <a:p>
            <a:r>
              <a:rPr lang="zh-CN" altLang="en-US" sz="2000">
                <a:latin typeface="楷体" panose="02010609060101010101" pitchFamily="49" charset="-122"/>
                <a:ea typeface="楷体" panose="02010609060101010101" pitchFamily="49" charset="-122"/>
              </a:rPr>
              <a:t>温度调节</a:t>
            </a:r>
          </a:p>
        </p:txBody>
      </p:sp>
    </p:spTree>
    <p:extLst>
      <p:ext uri="{BB962C8B-B14F-4D97-AF65-F5344CB8AC3E}">
        <p14:creationId xmlns:p14="http://schemas.microsoft.com/office/powerpoint/2010/main" val="2846209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5</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实验内容</a:t>
              </a:r>
            </a:p>
          </p:txBody>
        </p:sp>
        <p:sp>
          <p:nvSpPr>
            <p:cNvPr id="53" name="矩形 52"/>
            <p:cNvSpPr/>
            <p:nvPr/>
          </p:nvSpPr>
          <p:spPr>
            <a:xfrm>
              <a:off x="5170768" y="3264361"/>
              <a:ext cx="3664974"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 CONTENT</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397" name="矩形 396"/>
          <p:cNvSpPr/>
          <p:nvPr/>
        </p:nvSpPr>
        <p:spPr>
          <a:xfrm>
            <a:off x="2660923" y="324999"/>
            <a:ext cx="3083592"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 name="灯片编号占位符 1"/>
          <p:cNvSpPr>
            <a:spLocks noGrp="1"/>
          </p:cNvSpPr>
          <p:nvPr>
            <p:ph type="sldNum" sz="quarter" idx="12"/>
          </p:nvPr>
        </p:nvSpPr>
        <p:spPr/>
        <p:txBody>
          <a:bodyPr/>
          <a:lstStyle/>
          <a:p>
            <a:fld id="{888F8D02-9041-4C59-BC62-13DE0E5C6713}" type="slidenum">
              <a:rPr lang="zh-CN" altLang="en-US" sz="1400" b="1" smtClean="0"/>
              <a:t>20</a:t>
            </a:fld>
            <a:endParaRPr lang="zh-CN" altLang="en-US" sz="1400" b="1" dirty="0"/>
          </a:p>
        </p:txBody>
      </p:sp>
      <p:sp>
        <p:nvSpPr>
          <p:cNvPr id="19" name="Text Box 7"/>
          <p:cNvSpPr txBox="1">
            <a:spLocks noChangeArrowheads="1"/>
          </p:cNvSpPr>
          <p:nvPr/>
        </p:nvSpPr>
        <p:spPr bwMode="auto">
          <a:xfrm>
            <a:off x="960386" y="1218468"/>
            <a:ext cx="9673390"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dirty="0">
                <a:latin typeface="楷体" panose="02010609060101010101" pitchFamily="49" charset="-122"/>
                <a:ea typeface="楷体" panose="02010609060101010101" pitchFamily="49" charset="-122"/>
              </a:rPr>
              <a:t>1</a:t>
            </a:r>
            <a:r>
              <a:rPr lang="zh-CN" altLang="en-US" sz="3200" dirty="0">
                <a:latin typeface="楷体" panose="02010609060101010101" pitchFamily="49" charset="-122"/>
                <a:ea typeface="楷体" panose="02010609060101010101" pitchFamily="49" charset="-122"/>
              </a:rPr>
              <a:t>、测量金属导体电阻率</a:t>
            </a:r>
          </a:p>
          <a:p>
            <a:pPr>
              <a:lnSpc>
                <a:spcPct val="150000"/>
              </a:lnSpc>
              <a:spcBef>
                <a:spcPct val="50000"/>
              </a:spcBef>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）开启双臂电桥，开启检流计，灵敏度调节至最低，调零检流计；</a:t>
            </a:r>
            <a:endParaRPr lang="en-US" altLang="zh-CN" sz="2400" dirty="0">
              <a:latin typeface="楷体" panose="02010609060101010101" pitchFamily="49" charset="-122"/>
              <a:ea typeface="楷体" panose="02010609060101010101" pitchFamily="49" charset="-122"/>
            </a:endParaRPr>
          </a:p>
          <a:p>
            <a:pPr>
              <a:lnSpc>
                <a:spcPct val="150000"/>
              </a:lnSpc>
              <a:spcBef>
                <a:spcPct val="50000"/>
              </a:spcBef>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）接入待测金属导体，选择适当倍率，先按</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通电，后按</a:t>
            </a:r>
            <a:r>
              <a:rPr lang="en-US" altLang="zh-CN" sz="2400" dirty="0">
                <a:latin typeface="楷体" panose="02010609060101010101" pitchFamily="49" charset="-122"/>
                <a:ea typeface="楷体" panose="02010609060101010101" pitchFamily="49" charset="-122"/>
              </a:rPr>
              <a:t>G</a:t>
            </a:r>
            <a:r>
              <a:rPr lang="zh-CN" altLang="en-US" sz="2400" dirty="0">
                <a:latin typeface="楷体" panose="02010609060101010101" pitchFamily="49" charset="-122"/>
                <a:ea typeface="楷体" panose="02010609060101010101" pitchFamily="49" charset="-122"/>
              </a:rPr>
              <a:t>检流，调节阻值粗调与细调盘，使检流计偏转减小。逐渐提高电桥灵敏度，调节电桥平衡，在最高灵敏度读数：</a:t>
            </a:r>
            <a:r>
              <a:rPr lang="en-US" altLang="zh-CN" sz="2400" dirty="0">
                <a:latin typeface="楷体" panose="02010609060101010101" pitchFamily="49" charset="-122"/>
                <a:ea typeface="楷体" panose="02010609060101010101" pitchFamily="49" charset="-122"/>
                <a:cs typeface="Times New Roman" panose="02020603050405020304" pitchFamily="18" charset="0"/>
              </a:rPr>
              <a:t> </a:t>
            </a:r>
          </a:p>
          <a:p>
            <a:pPr>
              <a:lnSpc>
                <a:spcPct val="150000"/>
              </a:lnSpc>
              <a:spcBef>
                <a:spcPct val="50000"/>
              </a:spcBef>
            </a:pPr>
            <a:r>
              <a:rPr lang="en-US" altLang="zh-CN" sz="2400" i="1" dirty="0">
                <a:latin typeface="楷体" panose="02010609060101010101" pitchFamily="49" charset="-122"/>
                <a:ea typeface="楷体" panose="02010609060101010101" pitchFamily="49" charset="-122"/>
                <a:cs typeface="Times New Roman" panose="02020603050405020304" pitchFamily="18" charset="0"/>
              </a:rPr>
              <a:t>             Rx</a:t>
            </a:r>
            <a:r>
              <a:rPr lang="zh-CN" altLang="en-US" sz="2400" i="1" dirty="0">
                <a:latin typeface="楷体" panose="02010609060101010101" pitchFamily="49" charset="-122"/>
                <a:ea typeface="楷体" panose="02010609060101010101" pitchFamily="49" charset="-122"/>
                <a:cs typeface="Times New Roman" panose="02020603050405020304" pitchFamily="18" charset="0"/>
              </a:rPr>
              <a:t> </a:t>
            </a:r>
            <a:r>
              <a:rPr lang="en-US" altLang="zh-CN" sz="2400" dirty="0">
                <a:latin typeface="楷体" panose="02010609060101010101" pitchFamily="49" charset="-122"/>
                <a:ea typeface="楷体" panose="02010609060101010101" pitchFamily="49" charset="-122"/>
                <a:cs typeface="Times New Roman" panose="02020603050405020304" pitchFamily="18" charset="0"/>
              </a:rPr>
              <a:t>=  </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倍率 </a:t>
            </a:r>
            <a:r>
              <a:rPr lang="en-US" altLang="en-US"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（阻值粗调 </a:t>
            </a:r>
            <a:r>
              <a:rPr lang="en-US" altLang="zh-CN" sz="2400" dirty="0">
                <a:latin typeface="楷体" panose="02010609060101010101" pitchFamily="49" charset="-122"/>
                <a:ea typeface="楷体" panose="02010609060101010101" pitchFamily="49" charset="-122"/>
                <a:cs typeface="Times New Roman" panose="02020603050405020304" pitchFamily="18" charset="0"/>
              </a:rPr>
              <a:t>+ </a:t>
            </a:r>
            <a:r>
              <a:rPr lang="zh-CN" altLang="en-US" sz="2400" dirty="0">
                <a:latin typeface="楷体" panose="02010609060101010101" pitchFamily="49" charset="-122"/>
                <a:ea typeface="楷体" panose="02010609060101010101" pitchFamily="49" charset="-122"/>
                <a:cs typeface="Times New Roman" panose="02020603050405020304" pitchFamily="18" charset="0"/>
              </a:rPr>
              <a:t>阻值细调）</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a:lnSpc>
                <a:spcPct val="150000"/>
              </a:lnSpc>
              <a:spcBef>
                <a:spcPct val="50000"/>
              </a:spcBef>
            </a:pPr>
            <a:r>
              <a:rPr lang="zh-CN" altLang="en-US"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dirty="0">
                <a:latin typeface="楷体" panose="02010609060101010101" pitchFamily="49" charset="-122"/>
                <a:ea typeface="楷体" panose="02010609060101010101" pitchFamily="49" charset="-122"/>
                <a:cs typeface="Times New Roman" panose="02020603050405020304" pitchFamily="18" charset="0"/>
              </a:rPr>
              <a:t>3</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）分别测量金属导体的直径和长度。</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397" name="矩形 396"/>
          <p:cNvSpPr/>
          <p:nvPr/>
        </p:nvSpPr>
        <p:spPr>
          <a:xfrm>
            <a:off x="2660923" y="324999"/>
            <a:ext cx="3083592"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 name="灯片编号占位符 1"/>
          <p:cNvSpPr>
            <a:spLocks noGrp="1"/>
          </p:cNvSpPr>
          <p:nvPr>
            <p:ph type="sldNum" sz="quarter" idx="12"/>
          </p:nvPr>
        </p:nvSpPr>
        <p:spPr/>
        <p:txBody>
          <a:bodyPr/>
          <a:lstStyle/>
          <a:p>
            <a:fld id="{888F8D02-9041-4C59-BC62-13DE0E5C6713}" type="slidenum">
              <a:rPr lang="zh-CN" altLang="en-US" sz="1400" b="1" smtClean="0"/>
              <a:t>21</a:t>
            </a:fld>
            <a:endParaRPr lang="zh-CN" altLang="en-US" sz="1400" b="1" dirty="0"/>
          </a:p>
        </p:txBody>
      </p:sp>
      <p:sp>
        <p:nvSpPr>
          <p:cNvPr id="19" name="Text Box 7"/>
          <p:cNvSpPr txBox="1">
            <a:spLocks noChangeArrowheads="1"/>
          </p:cNvSpPr>
          <p:nvPr/>
        </p:nvSpPr>
        <p:spPr bwMode="auto">
          <a:xfrm>
            <a:off x="1046721" y="1247931"/>
            <a:ext cx="9989141"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dirty="0">
                <a:latin typeface="楷体" panose="02010609060101010101" pitchFamily="49" charset="-122"/>
                <a:ea typeface="楷体" panose="02010609060101010101" pitchFamily="49" charset="-122"/>
                <a:sym typeface="Symbol" panose="05050102010706020507" pitchFamily="18" charset="2"/>
              </a:rPr>
              <a:t>2</a:t>
            </a:r>
            <a:r>
              <a:rPr lang="zh-CN" altLang="en-US" sz="3200" dirty="0">
                <a:latin typeface="楷体" panose="02010609060101010101" pitchFamily="49" charset="-122"/>
                <a:ea typeface="楷体" panose="02010609060101010101" pitchFamily="49" charset="-122"/>
                <a:sym typeface="Symbol" panose="05050102010706020507" pitchFamily="18" charset="2"/>
              </a:rPr>
              <a:t>、测量金属导体电阻温度系数</a:t>
            </a:r>
            <a:endParaRPr lang="en-US" altLang="zh-CN" sz="3200" dirty="0">
              <a:latin typeface="楷体" panose="02010609060101010101" pitchFamily="49" charset="-122"/>
              <a:ea typeface="楷体" panose="02010609060101010101" pitchFamily="49" charset="-122"/>
              <a:sym typeface="Symbol" panose="05050102010706020507" pitchFamily="18" charset="2"/>
            </a:endParaRPr>
          </a:p>
          <a:p>
            <a:pPr>
              <a:lnSpc>
                <a:spcPct val="150000"/>
              </a:lnSpc>
              <a:spcBef>
                <a:spcPct val="50000"/>
              </a:spcBef>
            </a:pPr>
            <a:r>
              <a:rPr lang="zh-CN" altLang="en-US" sz="2800" dirty="0">
                <a:latin typeface="楷体" panose="02010609060101010101" pitchFamily="49" charset="-122"/>
                <a:ea typeface="楷体" panose="02010609060101010101" pitchFamily="49" charset="-122"/>
                <a:sym typeface="Symbol" panose="05050102010706020507" pitchFamily="18" charset="2"/>
              </a:rPr>
              <a:t>（</a:t>
            </a:r>
            <a:r>
              <a:rPr lang="en-US" altLang="zh-CN" sz="2800" dirty="0">
                <a:latin typeface="楷体" panose="02010609060101010101" pitchFamily="49" charset="-122"/>
                <a:ea typeface="楷体" panose="02010609060101010101" pitchFamily="49" charset="-122"/>
                <a:sym typeface="Symbol" panose="05050102010706020507" pitchFamily="18" charset="2"/>
              </a:rPr>
              <a:t>1</a:t>
            </a:r>
            <a:r>
              <a:rPr lang="zh-CN" altLang="en-US" sz="2800" dirty="0">
                <a:latin typeface="楷体" panose="02010609060101010101" pitchFamily="49" charset="-122"/>
                <a:ea typeface="楷体" panose="02010609060101010101" pitchFamily="49" charset="-122"/>
                <a:sym typeface="Symbol" panose="05050102010706020507" pitchFamily="18" charset="2"/>
              </a:rPr>
              <a:t>）接入待测金属导体，</a:t>
            </a:r>
            <a:r>
              <a:rPr lang="zh-CN" altLang="en-US" sz="2800" dirty="0">
                <a:latin typeface="楷体" panose="02010609060101010101" pitchFamily="49" charset="-122"/>
                <a:ea typeface="楷体" panose="02010609060101010101" pitchFamily="49" charset="-122"/>
                <a:cs typeface="Times New Roman" panose="02020603050405020304" pitchFamily="18" charset="0"/>
              </a:rPr>
              <a:t>在双臂电桥检流计灵敏度最高档调节电桥平衡；</a:t>
            </a:r>
            <a:endParaRPr lang="zh-CN" altLang="en-US" sz="2800" dirty="0">
              <a:latin typeface="楷体" panose="02010609060101010101" pitchFamily="49" charset="-122"/>
              <a:ea typeface="楷体" panose="02010609060101010101" pitchFamily="49" charset="-122"/>
            </a:endParaRPr>
          </a:p>
          <a:p>
            <a:pPr>
              <a:lnSpc>
                <a:spcPct val="150000"/>
              </a:lnSpc>
              <a:spcBef>
                <a:spcPct val="50000"/>
              </a:spcBef>
            </a:pPr>
            <a:r>
              <a:rPr lang="zh-CN" altLang="en-US" sz="2800" dirty="0">
                <a:latin typeface="楷体" panose="02010609060101010101" pitchFamily="49" charset="-122"/>
                <a:ea typeface="楷体" panose="02010609060101010101" pitchFamily="49" charset="-122"/>
                <a:cs typeface="Times New Roman" panose="02020603050405020304" pitchFamily="18" charset="0"/>
              </a:rPr>
              <a:t>（</a:t>
            </a:r>
            <a:r>
              <a:rPr lang="en-US" altLang="zh-CN" sz="2800" dirty="0">
                <a:latin typeface="楷体" panose="02010609060101010101" pitchFamily="49" charset="-122"/>
                <a:ea typeface="楷体" panose="02010609060101010101" pitchFamily="49" charset="-122"/>
                <a:cs typeface="Times New Roman" panose="02020603050405020304" pitchFamily="18" charset="0"/>
              </a:rPr>
              <a:t>2</a:t>
            </a:r>
            <a:r>
              <a:rPr lang="zh-CN" altLang="en-US" sz="2800" dirty="0">
                <a:latin typeface="楷体" panose="02010609060101010101" pitchFamily="49" charset="-122"/>
                <a:ea typeface="楷体" panose="02010609060101010101" pitchFamily="49" charset="-122"/>
                <a:cs typeface="Times New Roman" panose="02020603050405020304" pitchFamily="18" charset="0"/>
              </a:rPr>
              <a:t>）开启加热装置，设定目标温度；</a:t>
            </a:r>
          </a:p>
          <a:p>
            <a:pPr>
              <a:lnSpc>
                <a:spcPct val="150000"/>
              </a:lnSpc>
              <a:spcBef>
                <a:spcPct val="50000"/>
              </a:spcBef>
            </a:pPr>
            <a:r>
              <a:rPr lang="zh-CN" altLang="en-US" sz="2800" dirty="0">
                <a:latin typeface="楷体" panose="02010609060101010101" pitchFamily="49" charset="-122"/>
                <a:ea typeface="楷体" panose="02010609060101010101" pitchFamily="49" charset="-122"/>
                <a:cs typeface="Times New Roman" panose="02020603050405020304" pitchFamily="18" charset="0"/>
              </a:rPr>
              <a:t>（</a:t>
            </a:r>
            <a:r>
              <a:rPr lang="en-US" altLang="zh-CN" sz="2800" dirty="0">
                <a:latin typeface="楷体" panose="02010609060101010101" pitchFamily="49" charset="-122"/>
                <a:ea typeface="楷体" panose="02010609060101010101" pitchFamily="49" charset="-122"/>
                <a:cs typeface="Times New Roman" panose="02020603050405020304" pitchFamily="18" charset="0"/>
              </a:rPr>
              <a:t>3</a:t>
            </a:r>
            <a:r>
              <a:rPr lang="zh-CN" altLang="en-US" sz="2800" dirty="0">
                <a:latin typeface="楷体" panose="02010609060101010101" pitchFamily="49" charset="-122"/>
                <a:ea typeface="楷体" panose="02010609060101010101" pitchFamily="49" charset="-122"/>
                <a:cs typeface="Times New Roman" panose="02020603050405020304" pitchFamily="18" charset="0"/>
              </a:rPr>
              <a:t>）采用加温或降温法，温度每改变</a:t>
            </a:r>
            <a:r>
              <a:rPr lang="en-US" altLang="zh-CN" sz="2800" dirty="0">
                <a:latin typeface="楷体" panose="02010609060101010101" pitchFamily="49" charset="-122"/>
                <a:ea typeface="楷体" panose="02010609060101010101" pitchFamily="49" charset="-122"/>
                <a:cs typeface="Times New Roman" panose="02020603050405020304" pitchFamily="18" charset="0"/>
              </a:rPr>
              <a:t>5 ℃</a:t>
            </a:r>
            <a:r>
              <a:rPr lang="zh-CN" altLang="en-US" sz="2800" dirty="0">
                <a:latin typeface="楷体" panose="02010609060101010101" pitchFamily="49" charset="-122"/>
                <a:ea typeface="楷体" panose="02010609060101010101" pitchFamily="49" charset="-122"/>
                <a:cs typeface="Times New Roman" panose="02020603050405020304" pitchFamily="18" charset="0"/>
              </a:rPr>
              <a:t>左右测量电阻及其对应温度，记录</a:t>
            </a:r>
            <a:r>
              <a:rPr lang="en-US" altLang="zh-CN" sz="2800" dirty="0">
                <a:latin typeface="楷体" panose="02010609060101010101" pitchFamily="49" charset="-122"/>
                <a:ea typeface="楷体" panose="02010609060101010101" pitchFamily="49" charset="-122"/>
                <a:cs typeface="Times New Roman" panose="02020603050405020304" pitchFamily="18" charset="0"/>
              </a:rPr>
              <a:t>10</a:t>
            </a:r>
            <a:r>
              <a:rPr lang="zh-CN" altLang="en-US" sz="2800" dirty="0">
                <a:latin typeface="楷体" panose="02010609060101010101" pitchFamily="49" charset="-122"/>
                <a:ea typeface="楷体" panose="02010609060101010101" pitchFamily="49" charset="-122"/>
                <a:cs typeface="Times New Roman" panose="02020603050405020304" pitchFamily="18" charset="0"/>
              </a:rPr>
              <a:t>组数据。</a:t>
            </a:r>
            <a:endParaRPr lang="en-US" altLang="zh-CN" sz="2800"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847434"/>
            <a:ext cx="12192001" cy="1291039"/>
            <a:chOff x="0" y="2847433"/>
            <a:chExt cx="12192000" cy="1291039"/>
          </a:xfrm>
        </p:grpSpPr>
        <p:sp>
          <p:nvSpPr>
            <p:cNvPr id="51" name="矩形 50"/>
            <p:cNvSpPr/>
            <p:nvPr/>
          </p:nvSpPr>
          <p:spPr>
            <a:xfrm flipH="1">
              <a:off x="0" y="2872348"/>
              <a:ext cx="12192000" cy="1252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6</a:t>
              </a:r>
              <a:endParaRPr lang="zh-CN" altLang="en-US" sz="6000" dirty="0"/>
            </a:p>
          </p:txBody>
        </p:sp>
        <p:sp>
          <p:nvSpPr>
            <p:cNvPr id="42" name="文本框 41"/>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实验结果</a:t>
              </a:r>
              <a:endParaRPr lang="en-US" altLang="zh-CN" sz="4800" spc="600" dirty="0">
                <a:solidFill>
                  <a:schemeClr val="bg1"/>
                </a:solidFill>
                <a:latin typeface="微软雅黑" panose="020B0503020204020204" pitchFamily="34" charset="-122"/>
                <a:ea typeface="微软雅黑" panose="020B0503020204020204" pitchFamily="34" charset="-122"/>
              </a:endParaRPr>
            </a:p>
          </p:txBody>
        </p:sp>
        <p:sp>
          <p:nvSpPr>
            <p:cNvPr id="53" name="矩形 52"/>
            <p:cNvSpPr/>
            <p:nvPr/>
          </p:nvSpPr>
          <p:spPr>
            <a:xfrm>
              <a:off x="5592228" y="3264361"/>
              <a:ext cx="3285512"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 RESULT</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实验结果</a:t>
            </a:r>
          </a:p>
        </p:txBody>
      </p:sp>
      <p:sp>
        <p:nvSpPr>
          <p:cNvPr id="397" name="矩形 396"/>
          <p:cNvSpPr/>
          <p:nvPr/>
        </p:nvSpPr>
        <p:spPr>
          <a:xfrm>
            <a:off x="2451687" y="324999"/>
            <a:ext cx="2764210"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RESULT</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灯片编号占位符 2"/>
          <p:cNvSpPr>
            <a:spLocks noGrp="1"/>
          </p:cNvSpPr>
          <p:nvPr>
            <p:ph type="sldNum" sz="quarter" idx="12"/>
          </p:nvPr>
        </p:nvSpPr>
        <p:spPr/>
        <p:txBody>
          <a:bodyPr/>
          <a:lstStyle/>
          <a:p>
            <a:fld id="{888F8D02-9041-4C59-BC62-13DE0E5C6713}" type="slidenum">
              <a:rPr lang="zh-CN" altLang="en-US" sz="1400" b="1" smtClean="0"/>
              <a:t>23</a:t>
            </a:fld>
            <a:endParaRPr lang="zh-CN" altLang="en-US" sz="1400" b="1"/>
          </a:p>
        </p:txBody>
      </p:sp>
      <mc:AlternateContent xmlns:mc="http://schemas.openxmlformats.org/markup-compatibility/2006" xmlns:a14="http://schemas.microsoft.com/office/drawing/2010/main">
        <mc:Choice Requires="a14">
          <p:sp>
            <p:nvSpPr>
              <p:cNvPr id="2" name="文本框 1"/>
              <p:cNvSpPr txBox="1"/>
              <p:nvPr/>
            </p:nvSpPr>
            <p:spPr>
              <a:xfrm>
                <a:off x="860347" y="1157639"/>
                <a:ext cx="10184524" cy="5032147"/>
              </a:xfrm>
              <a:prstGeom prst="rect">
                <a:avLst/>
              </a:prstGeom>
              <a:noFill/>
            </p:spPr>
            <p:txBody>
              <a:bodyPr wrap="square" rtlCol="0">
                <a:spAutoFit/>
              </a:bodyPr>
              <a:lstStyle/>
              <a:p>
                <a:pPr>
                  <a:lnSpc>
                    <a:spcPct val="150000"/>
                  </a:lnSpc>
                </a:pPr>
                <a:r>
                  <a:rPr lang="en-US" altLang="zh-CN" sz="3200" dirty="0">
                    <a:latin typeface="楷体" panose="02010609060101010101" pitchFamily="49" charset="-122"/>
                    <a:ea typeface="楷体" panose="02010609060101010101" pitchFamily="49" charset="-122"/>
                  </a:rPr>
                  <a:t>1</a:t>
                </a:r>
                <a:r>
                  <a:rPr lang="zh-CN" altLang="en-US" sz="3200" dirty="0">
                    <a:latin typeface="楷体" panose="02010609060101010101" pitchFamily="49" charset="-122"/>
                    <a:ea typeface="楷体" panose="02010609060101010101" pitchFamily="49" charset="-122"/>
                  </a:rPr>
                  <a:t>、测量金属导体电阻率</a:t>
                </a:r>
                <a:endParaRPr lang="en-US" altLang="zh-CN" sz="3200" dirty="0">
                  <a:latin typeface="楷体" panose="02010609060101010101" pitchFamily="49" charset="-122"/>
                  <a:ea typeface="楷体" panose="02010609060101010101" pitchFamily="49" charset="-122"/>
                </a:endParaRPr>
              </a:p>
              <a:p>
                <a:pPr>
                  <a:lnSpc>
                    <a:spcPct val="150000"/>
                  </a:lnSpc>
                </a:pP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）实验数据</a:t>
                </a:r>
                <a:endParaRPr lang="en-US" altLang="zh-CN" sz="2800" dirty="0">
                  <a:latin typeface="楷体" panose="02010609060101010101" pitchFamily="49" charset="-122"/>
                  <a:ea typeface="楷体" panose="02010609060101010101" pitchFamily="49" charset="-122"/>
                </a:endParaRPr>
              </a:p>
              <a:p>
                <a:endParaRPr lang="en-US" altLang="zh-CN" dirty="0"/>
              </a:p>
              <a:p>
                <a:endParaRPr lang="en-US" altLang="zh-CN" dirty="0"/>
              </a:p>
              <a:p>
                <a:endParaRPr lang="en-US" altLang="zh-CN" dirty="0"/>
              </a:p>
              <a:p>
                <a:pPr>
                  <a:lnSpc>
                    <a:spcPct val="150000"/>
                  </a:lnSpc>
                </a:pP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）分别求出</a:t>
                </a:r>
                <a:r>
                  <a:rPr lang="en-US" altLang="zh-CN" sz="2800" i="1" dirty="0">
                    <a:latin typeface="楷体" panose="02010609060101010101" pitchFamily="49" charset="-122"/>
                    <a:ea typeface="楷体" panose="02010609060101010101" pitchFamily="49" charset="-122"/>
                  </a:rPr>
                  <a:t>R</a:t>
                </a:r>
                <a:r>
                  <a:rPr lang="zh-CN" altLang="en-US" sz="2800" i="1" dirty="0">
                    <a:latin typeface="楷体" panose="02010609060101010101" pitchFamily="49" charset="-122"/>
                    <a:ea typeface="楷体" panose="02010609060101010101" pitchFamily="49" charset="-122"/>
                  </a:rPr>
                  <a:t>、</a:t>
                </a:r>
                <a:r>
                  <a:rPr lang="en-US" altLang="zh-CN" sz="2800" i="1" dirty="0">
                    <a:latin typeface="楷体" panose="02010609060101010101" pitchFamily="49" charset="-122"/>
                    <a:ea typeface="楷体" panose="02010609060101010101" pitchFamily="49" charset="-122"/>
                  </a:rPr>
                  <a:t>d</a:t>
                </a:r>
                <a:r>
                  <a:rPr lang="zh-CN" altLang="en-US" sz="2800" i="1" dirty="0">
                    <a:latin typeface="楷体" panose="02010609060101010101" pitchFamily="49" charset="-122"/>
                    <a:ea typeface="楷体" panose="02010609060101010101" pitchFamily="49" charset="-122"/>
                  </a:rPr>
                  <a:t>、</a:t>
                </a:r>
                <a:r>
                  <a:rPr lang="en-US" altLang="zh-CN" sz="2800" i="1" dirty="0">
                    <a:latin typeface="楷体" panose="02010609060101010101" pitchFamily="49" charset="-122"/>
                    <a:ea typeface="楷体" panose="02010609060101010101" pitchFamily="49" charset="-122"/>
                  </a:rPr>
                  <a:t>L</a:t>
                </a:r>
                <a:r>
                  <a:rPr lang="zh-CN" altLang="en-US" sz="2800" dirty="0">
                    <a:latin typeface="楷体" panose="02010609060101010101" pitchFamily="49" charset="-122"/>
                    <a:ea typeface="楷体" panose="02010609060101010101" pitchFamily="49" charset="-122"/>
                  </a:rPr>
                  <a:t>的不确定度，并写出各分量不确定度表达式，利用间接测量计算合成不确定度的方法计算电阻率</a:t>
                </a:r>
                <a:r>
                  <a:rPr lang="zh-CN" altLang="en-US" sz="2800" i="1" dirty="0">
                    <a:latin typeface="楷体" panose="02010609060101010101" pitchFamily="49" charset="-122"/>
                    <a:ea typeface="楷体" panose="02010609060101010101" pitchFamily="49" charset="-122"/>
                    <a:sym typeface="Symbol" panose="05050102010706020507" pitchFamily="18" charset="2"/>
                  </a:rPr>
                  <a:t></a:t>
                </a:r>
                <a:r>
                  <a:rPr lang="zh-CN" altLang="en-US" sz="2800" dirty="0">
                    <a:latin typeface="楷体" panose="02010609060101010101" pitchFamily="49" charset="-122"/>
                    <a:ea typeface="楷体" panose="02010609060101010101" pitchFamily="49" charset="-122"/>
                    <a:sym typeface="Symbol" panose="05050102010706020507" pitchFamily="18" charset="2"/>
                  </a:rPr>
                  <a:t>的不确定度；</a:t>
                </a:r>
                <a:endParaRPr lang="en-US" altLang="zh-CN" sz="2800" dirty="0">
                  <a:latin typeface="楷体" panose="02010609060101010101" pitchFamily="49" charset="-122"/>
                  <a:ea typeface="楷体" panose="02010609060101010101" pitchFamily="49" charset="-122"/>
                  <a:sym typeface="Symbol" panose="05050102010706020507" pitchFamily="18" charset="2"/>
                </a:endParaRPr>
              </a:p>
              <a:p>
                <a:pPr>
                  <a:lnSpc>
                    <a:spcPct val="150000"/>
                  </a:lnSpc>
                </a:pPr>
                <a:r>
                  <a:rPr lang="zh-CN" altLang="en-US" sz="2800" dirty="0">
                    <a:latin typeface="楷体" panose="02010609060101010101" pitchFamily="49" charset="-122"/>
                    <a:ea typeface="楷体" panose="02010609060101010101" pitchFamily="49" charset="-122"/>
                    <a:sym typeface="Symbol" panose="05050102010706020507" pitchFamily="18" charset="2"/>
                  </a:rPr>
                  <a:t>（</a:t>
                </a:r>
                <a:r>
                  <a:rPr lang="en-US" altLang="zh-CN" sz="2800" dirty="0">
                    <a:latin typeface="楷体" panose="02010609060101010101" pitchFamily="49" charset="-122"/>
                    <a:ea typeface="楷体" panose="02010609060101010101" pitchFamily="49" charset="-122"/>
                    <a:sym typeface="Symbol" panose="05050102010706020507" pitchFamily="18" charset="2"/>
                  </a:rPr>
                  <a:t>3</a:t>
                </a:r>
                <a:r>
                  <a:rPr lang="zh-CN" altLang="en-US" sz="2800" dirty="0">
                    <a:latin typeface="楷体" panose="02010609060101010101" pitchFamily="49" charset="-122"/>
                    <a:ea typeface="楷体" panose="02010609060101010101" pitchFamily="49" charset="-122"/>
                    <a:sym typeface="Symbol" panose="05050102010706020507" pitchFamily="18" charset="2"/>
                  </a:rPr>
                  <a:t>）写出电阻率的结果表达式：</a:t>
                </a:r>
                <a14:m>
                  <m:oMath xmlns:m="http://schemas.openxmlformats.org/officeDocument/2006/math">
                    <m:r>
                      <a:rPr lang="zh-CN" altLang="en-US" i="1" smtClean="0">
                        <a:latin typeface="Cambria Math" panose="02040503050406030204" pitchFamily="18" charset="0"/>
                        <a:sym typeface="Symbol" panose="05050102010706020507" pitchFamily="18" charset="2"/>
                      </a:rPr>
                      <m:t>𝜌</m:t>
                    </m:r>
                    <m:r>
                      <a:rPr lang="en-US" altLang="zh-CN" i="1" smtClean="0">
                        <a:latin typeface="Cambria Math" panose="02040503050406030204" pitchFamily="18" charset="0"/>
                        <a:ea typeface="Cambria Math" panose="02040503050406030204" pitchFamily="18" charset="0"/>
                        <a:sym typeface="Symbol" panose="05050102010706020507" pitchFamily="18" charset="2"/>
                      </a:rPr>
                      <m:t>=</m:t>
                    </m:r>
                    <m:acc>
                      <m:accPr>
                        <m:chr m:val="̅"/>
                        <m:ctrlPr>
                          <a:rPr lang="en-US" altLang="zh-CN" i="1" smtClean="0">
                            <a:latin typeface="Cambria Math" panose="02040503050406030204" pitchFamily="18" charset="0"/>
                            <a:ea typeface="Cambria Math" panose="02040503050406030204" pitchFamily="18" charset="0"/>
                            <a:sym typeface="Symbol" panose="05050102010706020507" pitchFamily="18" charset="2"/>
                          </a:rPr>
                        </m:ctrlPr>
                      </m:accPr>
                      <m:e>
                        <m:r>
                          <a:rPr lang="zh-CN" altLang="en-US" i="1" smtClean="0">
                            <a:latin typeface="Cambria Math" panose="02040503050406030204" pitchFamily="18" charset="0"/>
                            <a:ea typeface="Cambria Math" panose="02040503050406030204" pitchFamily="18" charset="0"/>
                            <a:sym typeface="Symbol" panose="05050102010706020507" pitchFamily="18" charset="2"/>
                          </a:rPr>
                          <m:t>𝜌</m:t>
                        </m:r>
                      </m:e>
                    </m:acc>
                    <m:r>
                      <a:rPr lang="en-US" altLang="zh-CN" i="1" smtClean="0">
                        <a:latin typeface="Cambria Math" panose="02040503050406030204" pitchFamily="18" charset="0"/>
                        <a:ea typeface="Cambria Math" panose="02040503050406030204" pitchFamily="18" charset="0"/>
                        <a:sym typeface="Symbol" panose="05050102010706020507" pitchFamily="18" charset="2"/>
                      </a:rPr>
                      <m:t>±</m:t>
                    </m:r>
                    <m:r>
                      <a:rPr lang="en-US" altLang="zh-CN" b="0" i="1" smtClean="0">
                        <a:latin typeface="Cambria Math" panose="02040503050406030204" pitchFamily="18" charset="0"/>
                        <a:ea typeface="Cambria Math" panose="02040503050406030204" pitchFamily="18" charset="0"/>
                        <a:sym typeface="Symbol" panose="05050102010706020507" pitchFamily="18" charset="2"/>
                      </a:rPr>
                      <m:t>𝑈</m:t>
                    </m:r>
                    <m:d>
                      <m:dPr>
                        <m:ctrlPr>
                          <a:rPr lang="en-US" altLang="zh-CN" i="1" smtClean="0">
                            <a:latin typeface="Cambria Math" panose="02040503050406030204" pitchFamily="18" charset="0"/>
                            <a:ea typeface="Cambria Math" panose="02040503050406030204" pitchFamily="18" charset="0"/>
                            <a:sym typeface="Symbol" panose="05050102010706020507" pitchFamily="18" charset="2"/>
                          </a:rPr>
                        </m:ctrlPr>
                      </m:dPr>
                      <m:e>
                        <m:r>
                          <a:rPr lang="zh-CN" altLang="en-US" i="1" smtClean="0">
                            <a:latin typeface="Cambria Math" panose="02040503050406030204" pitchFamily="18" charset="0"/>
                            <a:ea typeface="Cambria Math" panose="02040503050406030204" pitchFamily="18" charset="0"/>
                            <a:sym typeface="Symbol" panose="05050102010706020507" pitchFamily="18" charset="2"/>
                          </a:rPr>
                          <m:t>𝜌</m:t>
                        </m:r>
                      </m:e>
                    </m:d>
                  </m:oMath>
                </a14:m>
                <a:endParaRPr lang="en-US" altLang="zh-CN" dirty="0">
                  <a:sym typeface="Symbol" panose="05050102010706020507" pitchFamily="18" charset="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860347" y="1157639"/>
                <a:ext cx="10184524" cy="5032147"/>
              </a:xfrm>
              <a:prstGeom prst="rect">
                <a:avLst/>
              </a:prstGeom>
              <a:blipFill>
                <a:blip r:embed="rId3"/>
                <a:stretch>
                  <a:fillRect l="-1496" r="-838"/>
                </a:stretch>
              </a:blipFill>
            </p:spPr>
            <p:txBody>
              <a:bodyPr/>
              <a:lstStyle/>
              <a:p>
                <a:r>
                  <a:rPr lang="zh-CN" altLang="en-US">
                    <a:noFill/>
                  </a:rPr>
                  <a:t> </a:t>
                </a:r>
              </a:p>
            </p:txBody>
          </p:sp>
        </mc:Fallback>
      </mc:AlternateContent>
      <p:graphicFrame>
        <p:nvGraphicFramePr>
          <p:cNvPr id="5" name="表格 4"/>
          <p:cNvGraphicFramePr>
            <a:graphicFrameLocks noGrp="1"/>
          </p:cNvGraphicFramePr>
          <p:nvPr>
            <p:extLst>
              <p:ext uri="{D42A27DB-BD31-4B8C-83A1-F6EECF244321}">
                <p14:modId xmlns:p14="http://schemas.microsoft.com/office/powerpoint/2010/main" val="2750776277"/>
              </p:ext>
            </p:extLst>
          </p:nvPr>
        </p:nvGraphicFramePr>
        <p:xfrm>
          <a:off x="1703176" y="2638554"/>
          <a:ext cx="8128000" cy="7620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305371703"/>
                    </a:ext>
                  </a:extLst>
                </a:gridCol>
                <a:gridCol w="1625600">
                  <a:extLst>
                    <a:ext uri="{9D8B030D-6E8A-4147-A177-3AD203B41FA5}">
                      <a16:colId xmlns:a16="http://schemas.microsoft.com/office/drawing/2014/main" val="1828707300"/>
                    </a:ext>
                  </a:extLst>
                </a:gridCol>
                <a:gridCol w="1625600">
                  <a:extLst>
                    <a:ext uri="{9D8B030D-6E8A-4147-A177-3AD203B41FA5}">
                      <a16:colId xmlns:a16="http://schemas.microsoft.com/office/drawing/2014/main" val="2033576045"/>
                    </a:ext>
                  </a:extLst>
                </a:gridCol>
                <a:gridCol w="1625600">
                  <a:extLst>
                    <a:ext uri="{9D8B030D-6E8A-4147-A177-3AD203B41FA5}">
                      <a16:colId xmlns:a16="http://schemas.microsoft.com/office/drawing/2014/main" val="1297306370"/>
                    </a:ext>
                  </a:extLst>
                </a:gridCol>
                <a:gridCol w="1625600">
                  <a:extLst>
                    <a:ext uri="{9D8B030D-6E8A-4147-A177-3AD203B41FA5}">
                      <a16:colId xmlns:a16="http://schemas.microsoft.com/office/drawing/2014/main" val="191399150"/>
                    </a:ext>
                  </a:extLst>
                </a:gridCol>
              </a:tblGrid>
              <a:tr h="370840">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r>
                        <a:rPr lang="zh-CN" altLang="en-US" dirty="0">
                          <a:latin typeface="宋体" panose="02010600030101010101" pitchFamily="2" charset="-122"/>
                          <a:ea typeface="宋体" panose="02010600030101010101" pitchFamily="2" charset="-122"/>
                        </a:rPr>
                        <a:t>阻值 </a:t>
                      </a:r>
                      <a:r>
                        <a:rPr lang="en-US" altLang="zh-CN" i="1" dirty="0">
                          <a:latin typeface="宋体" panose="02010600030101010101" pitchFamily="2" charset="-122"/>
                          <a:ea typeface="宋体" panose="02010600030101010101" pitchFamily="2" charset="-122"/>
                        </a:rPr>
                        <a:t>R</a:t>
                      </a:r>
                      <a:endParaRPr lang="zh-CN" altLang="en-US" i="1" dirty="0">
                        <a:latin typeface="宋体" panose="02010600030101010101" pitchFamily="2" charset="-122"/>
                        <a:ea typeface="宋体" panose="02010600030101010101" pitchFamily="2" charset="-122"/>
                      </a:endParaRPr>
                    </a:p>
                  </a:txBody>
                  <a:tcPr/>
                </a:tc>
                <a:tc>
                  <a:txBody>
                    <a:bodyPr/>
                    <a:lstStyle/>
                    <a:p>
                      <a:pPr algn="ctr"/>
                      <a:r>
                        <a:rPr lang="zh-CN" altLang="en-US" dirty="0">
                          <a:latin typeface="宋体" panose="02010600030101010101" pitchFamily="2" charset="-122"/>
                          <a:ea typeface="宋体" panose="02010600030101010101" pitchFamily="2" charset="-122"/>
                        </a:rPr>
                        <a:t>直径 </a:t>
                      </a:r>
                      <a:r>
                        <a:rPr lang="en-US" altLang="zh-CN" i="1" dirty="0">
                          <a:latin typeface="宋体" panose="02010600030101010101" pitchFamily="2" charset="-122"/>
                          <a:ea typeface="宋体" panose="02010600030101010101" pitchFamily="2" charset="-122"/>
                        </a:rPr>
                        <a:t>d</a:t>
                      </a:r>
                      <a:endParaRPr lang="zh-CN" altLang="en-US" i="1" dirty="0">
                        <a:latin typeface="宋体" panose="02010600030101010101" pitchFamily="2" charset="-122"/>
                        <a:ea typeface="宋体" panose="02010600030101010101" pitchFamily="2" charset="-122"/>
                      </a:endParaRPr>
                    </a:p>
                  </a:txBody>
                  <a:tcPr/>
                </a:tc>
                <a:tc>
                  <a:txBody>
                    <a:bodyPr/>
                    <a:lstStyle/>
                    <a:p>
                      <a:pPr algn="ctr"/>
                      <a:r>
                        <a:rPr lang="zh-CN" altLang="en-US" dirty="0">
                          <a:latin typeface="宋体" panose="02010600030101010101" pitchFamily="2" charset="-122"/>
                          <a:ea typeface="宋体" panose="02010600030101010101" pitchFamily="2" charset="-122"/>
                        </a:rPr>
                        <a:t>长度 </a:t>
                      </a:r>
                      <a:r>
                        <a:rPr lang="en-US" altLang="zh-CN" i="1" dirty="0">
                          <a:latin typeface="宋体" panose="02010600030101010101" pitchFamily="2" charset="-122"/>
                          <a:ea typeface="宋体" panose="02010600030101010101" pitchFamily="2" charset="-122"/>
                        </a:rPr>
                        <a:t>L</a:t>
                      </a:r>
                      <a:endParaRPr lang="zh-CN" altLang="en-US" i="1" dirty="0">
                        <a:latin typeface="宋体" panose="02010600030101010101" pitchFamily="2" charset="-122"/>
                        <a:ea typeface="宋体" panose="02010600030101010101" pitchFamily="2" charset="-122"/>
                      </a:endParaRPr>
                    </a:p>
                  </a:txBody>
                  <a:tcPr/>
                </a:tc>
                <a:tc>
                  <a:txBody>
                    <a:bodyPr/>
                    <a:lstStyle/>
                    <a:p>
                      <a:pPr algn="ctr"/>
                      <a:r>
                        <a:rPr lang="zh-CN" altLang="en-US" dirty="0">
                          <a:latin typeface="宋体" panose="02010600030101010101" pitchFamily="2" charset="-122"/>
                          <a:ea typeface="宋体" panose="02010600030101010101" pitchFamily="2" charset="-122"/>
                        </a:rPr>
                        <a:t>电阻率 </a:t>
                      </a:r>
                      <a:r>
                        <a:rPr lang="zh-CN" altLang="en-US" i="1" dirty="0">
                          <a:latin typeface="宋体" panose="02010600030101010101" pitchFamily="2" charset="-122"/>
                          <a:ea typeface="宋体" panose="02010600030101010101" pitchFamily="2" charset="-122"/>
                          <a:sym typeface="Symbol" panose="05050102010706020507" pitchFamily="18" charset="2"/>
                        </a:rPr>
                        <a:t></a:t>
                      </a:r>
                      <a:endParaRPr lang="zh-CN" altLang="en-US" i="1" dirty="0">
                        <a:latin typeface="宋体" panose="02010600030101010101" pitchFamily="2" charset="-122"/>
                        <a:ea typeface="宋体" panose="02010600030101010101" pitchFamily="2" charset="-122"/>
                      </a:endParaRPr>
                    </a:p>
                  </a:txBody>
                  <a:tcPr/>
                </a:tc>
                <a:extLst>
                  <a:ext uri="{0D108BD9-81ED-4DB2-BD59-A6C34878D82A}">
                    <a16:rowId xmlns:a16="http://schemas.microsoft.com/office/drawing/2014/main" val="890742782"/>
                  </a:ext>
                </a:extLst>
              </a:tr>
              <a:tr h="370840">
                <a:tc>
                  <a:txBody>
                    <a:bodyPr/>
                    <a:lstStyle/>
                    <a:p>
                      <a:pPr algn="ctr"/>
                      <a:r>
                        <a:rPr lang="zh-CN" altLang="en-US" dirty="0">
                          <a:latin typeface="宋体" panose="02010600030101010101" pitchFamily="2" charset="-122"/>
                          <a:ea typeface="宋体" panose="02010600030101010101" pitchFamily="2" charset="-122"/>
                        </a:rPr>
                        <a:t>数值</a:t>
                      </a: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extLst>
                  <a:ext uri="{0D108BD9-81ED-4DB2-BD59-A6C34878D82A}">
                    <a16:rowId xmlns:a16="http://schemas.microsoft.com/office/drawing/2014/main" val="398356136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3" y="252859"/>
            <a:ext cx="9753599" cy="484285"/>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
        <p:nvSpPr>
          <p:cNvPr id="395" name="圆角矩形 394"/>
          <p:cNvSpPr/>
          <p:nvPr/>
        </p:nvSpPr>
        <p:spPr>
          <a:xfrm rot="10800000" flipV="1">
            <a:off x="-5664" y="249441"/>
            <a:ext cx="484287" cy="49111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396" name="文本框 395"/>
          <p:cNvSpPr txBox="1"/>
          <p:nvPr/>
        </p:nvSpPr>
        <p:spPr>
          <a:xfrm>
            <a:off x="647718" y="267581"/>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实验结果</a:t>
            </a:r>
          </a:p>
        </p:txBody>
      </p:sp>
      <p:sp>
        <p:nvSpPr>
          <p:cNvPr id="397" name="矩形 396"/>
          <p:cNvSpPr/>
          <p:nvPr/>
        </p:nvSpPr>
        <p:spPr>
          <a:xfrm>
            <a:off x="2451687" y="324999"/>
            <a:ext cx="2764210"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RESULT</a:t>
            </a:r>
          </a:p>
        </p:txBody>
      </p:sp>
      <p:grpSp>
        <p:nvGrpSpPr>
          <p:cNvPr id="399" name="组 398"/>
          <p:cNvGrpSpPr/>
          <p:nvPr/>
        </p:nvGrpSpPr>
        <p:grpSpPr>
          <a:xfrm>
            <a:off x="11454106"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灯片编号占位符 2"/>
          <p:cNvSpPr>
            <a:spLocks noGrp="1"/>
          </p:cNvSpPr>
          <p:nvPr>
            <p:ph type="sldNum" sz="quarter" idx="12"/>
          </p:nvPr>
        </p:nvSpPr>
        <p:spPr/>
        <p:txBody>
          <a:bodyPr/>
          <a:lstStyle/>
          <a:p>
            <a:fld id="{888F8D02-9041-4C59-BC62-13DE0E5C6713}" type="slidenum">
              <a:rPr lang="zh-CN" altLang="en-US" sz="1400" b="1" smtClean="0"/>
              <a:t>24</a:t>
            </a:fld>
            <a:endParaRPr lang="zh-CN" altLang="en-US" sz="1400" b="1"/>
          </a:p>
        </p:txBody>
      </p:sp>
      <mc:AlternateContent xmlns:mc="http://schemas.openxmlformats.org/markup-compatibility/2006" xmlns:a14="http://schemas.microsoft.com/office/drawing/2010/main">
        <mc:Choice Requires="a14">
          <p:sp>
            <p:nvSpPr>
              <p:cNvPr id="2" name="文本框 1"/>
              <p:cNvSpPr txBox="1"/>
              <p:nvPr/>
            </p:nvSpPr>
            <p:spPr>
              <a:xfrm>
                <a:off x="720708" y="801791"/>
                <a:ext cx="10378216" cy="5512535"/>
              </a:xfrm>
              <a:prstGeom prst="rect">
                <a:avLst/>
              </a:prstGeom>
              <a:noFill/>
            </p:spPr>
            <p:txBody>
              <a:bodyPr wrap="square" rtlCol="0">
                <a:spAutoFit/>
              </a:bodyPr>
              <a:lstStyle/>
              <a:p>
                <a:pPr>
                  <a:lnSpc>
                    <a:spcPct val="150000"/>
                  </a:lnSpc>
                </a:pPr>
                <a:r>
                  <a:rPr lang="en-US" altLang="zh-CN" sz="3200" dirty="0">
                    <a:latin typeface="楷体" panose="02010609060101010101" pitchFamily="49" charset="-122"/>
                    <a:ea typeface="楷体" panose="02010609060101010101" pitchFamily="49" charset="-122"/>
                  </a:rPr>
                  <a:t>2</a:t>
                </a:r>
                <a:r>
                  <a:rPr lang="zh-CN" altLang="en-US" sz="3200" dirty="0">
                    <a:latin typeface="楷体" panose="02010609060101010101" pitchFamily="49" charset="-122"/>
                    <a:ea typeface="楷体" panose="02010609060101010101" pitchFamily="49" charset="-122"/>
                  </a:rPr>
                  <a:t>、测量金属导体电阻温度系数</a:t>
                </a:r>
                <a:endParaRPr lang="en-US" altLang="zh-CN" sz="3200" dirty="0">
                  <a:latin typeface="楷体" panose="02010609060101010101" pitchFamily="49" charset="-122"/>
                  <a:ea typeface="楷体" panose="02010609060101010101" pitchFamily="49" charset="-122"/>
                </a:endParaRPr>
              </a:p>
              <a:p>
                <a:pPr>
                  <a:lnSpc>
                    <a:spcPct val="150000"/>
                  </a:lnSpc>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）实验数据</a:t>
                </a:r>
                <a:endParaRPr lang="en-US" altLang="zh-CN" sz="2400" dirty="0">
                  <a:latin typeface="楷体" panose="02010609060101010101" pitchFamily="49" charset="-122"/>
                  <a:ea typeface="楷体" panose="02010609060101010101" pitchFamily="49" charset="-122"/>
                </a:endParaRPr>
              </a:p>
              <a:p>
                <a:pPr>
                  <a:lnSpc>
                    <a:spcPct val="150000"/>
                  </a:lnSpc>
                </a:pPr>
                <a:endParaRPr lang="en-US" altLang="zh-CN" sz="2400" dirty="0">
                  <a:latin typeface="楷体" panose="02010609060101010101" pitchFamily="49" charset="-122"/>
                  <a:ea typeface="楷体" panose="02010609060101010101" pitchFamily="49" charset="-122"/>
                </a:endParaRPr>
              </a:p>
              <a:p>
                <a:pPr>
                  <a:lnSpc>
                    <a:spcPct val="150000"/>
                  </a:lnSpc>
                </a:pPr>
                <a:endParaRPr lang="en-US" altLang="zh-CN" sz="2400" dirty="0">
                  <a:latin typeface="楷体" panose="02010609060101010101" pitchFamily="49" charset="-122"/>
                  <a:ea typeface="楷体" panose="02010609060101010101" pitchFamily="49" charset="-122"/>
                </a:endParaRPr>
              </a:p>
              <a:p>
                <a:pPr>
                  <a:lnSpc>
                    <a:spcPct val="150000"/>
                  </a:lnSpc>
                </a:pPr>
                <a:endParaRPr lang="en-US" altLang="zh-CN" sz="2400" dirty="0">
                  <a:latin typeface="楷体" panose="02010609060101010101" pitchFamily="49" charset="-122"/>
                  <a:ea typeface="楷体" panose="02010609060101010101" pitchFamily="49" charset="-122"/>
                </a:endParaRPr>
              </a:p>
              <a:p>
                <a:pPr>
                  <a:lnSpc>
                    <a:spcPct val="150000"/>
                  </a:lnSpc>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）充分利用数据，将数据分别代入</a:t>
                </a:r>
                <a14:m>
                  <m:oMath xmlns:m="http://schemas.openxmlformats.org/officeDocument/2006/math">
                    <m:r>
                      <a:rPr lang="zh-CN" altLang="en-US" sz="2400" i="1" smtClean="0">
                        <a:latin typeface="Cambria Math" panose="02040503050406030204" pitchFamily="18" charset="0"/>
                        <a:ea typeface="楷体" panose="02010609060101010101" pitchFamily="49" charset="-122"/>
                      </a:rPr>
                      <m:t>𝛼</m:t>
                    </m:r>
                    <m:r>
                      <a:rPr lang="en-US" altLang="zh-CN" sz="2400" i="1" smtClean="0">
                        <a:latin typeface="Cambria Math" panose="02040503050406030204" pitchFamily="18" charset="0"/>
                        <a:ea typeface="Cambria Math" panose="02040503050406030204" pitchFamily="18" charset="0"/>
                      </a:rPr>
                      <m:t>=</m:t>
                    </m:r>
                    <m:f>
                      <m:fPr>
                        <m:ctrlPr>
                          <a:rPr lang="en-US" altLang="zh-CN" sz="2400" i="1" smtClean="0">
                            <a:latin typeface="Cambria Math" panose="02040503050406030204" pitchFamily="18" charset="0"/>
                            <a:ea typeface="Cambria Math" panose="02040503050406030204" pitchFamily="18" charset="0"/>
                          </a:rPr>
                        </m:ctrlPr>
                      </m:fPr>
                      <m:num>
                        <m:sSub>
                          <m:sSubPr>
                            <m:ctrlPr>
                              <a:rPr lang="en-US" altLang="zh-CN" sz="240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𝑅</m:t>
                            </m:r>
                          </m:e>
                          <m:sub>
                            <m:r>
                              <a:rPr lang="en-US" altLang="zh-CN" sz="2400" b="0" i="1" smtClean="0">
                                <a:latin typeface="Cambria Math" panose="02040503050406030204" pitchFamily="18" charset="0"/>
                                <a:ea typeface="Cambria Math" panose="02040503050406030204" pitchFamily="18" charset="0"/>
                              </a:rPr>
                              <m:t>𝑥</m:t>
                            </m:r>
                            <m:r>
                              <a:rPr lang="en-US" altLang="zh-CN" sz="2400" b="0" i="1" smtClean="0">
                                <a:latin typeface="Cambria Math" panose="02040503050406030204" pitchFamily="18" charset="0"/>
                                <a:ea typeface="Cambria Math" panose="02040503050406030204" pitchFamily="18" charset="0"/>
                              </a:rPr>
                              <m:t>2</m:t>
                            </m:r>
                          </m:sub>
                        </m:sSub>
                        <m:r>
                          <a:rPr lang="en-US" altLang="zh-CN" sz="2400" i="1" smtClean="0">
                            <a:latin typeface="Cambria Math" panose="02040503050406030204" pitchFamily="18" charset="0"/>
                            <a:ea typeface="Cambria Math" panose="02040503050406030204" pitchFamily="18" charset="0"/>
                          </a:rPr>
                          <m:t>−</m:t>
                        </m:r>
                        <m:sSub>
                          <m:sSubPr>
                            <m:ctrlPr>
                              <a:rPr lang="en-US" altLang="zh-CN" sz="240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𝑅</m:t>
                            </m:r>
                          </m:e>
                          <m:sub>
                            <m:r>
                              <a:rPr lang="en-US" altLang="zh-CN" sz="2400" b="0" i="1" smtClean="0">
                                <a:latin typeface="Cambria Math" panose="02040503050406030204" pitchFamily="18" charset="0"/>
                                <a:ea typeface="Cambria Math" panose="02040503050406030204" pitchFamily="18" charset="0"/>
                              </a:rPr>
                              <m:t>𝑥</m:t>
                            </m:r>
                            <m:r>
                              <a:rPr lang="en-US" altLang="zh-CN" sz="2400" b="0" i="1" smtClean="0">
                                <a:latin typeface="Cambria Math" panose="02040503050406030204" pitchFamily="18" charset="0"/>
                                <a:ea typeface="Cambria Math" panose="02040503050406030204" pitchFamily="18" charset="0"/>
                              </a:rPr>
                              <m:t>1</m:t>
                            </m:r>
                          </m:sub>
                        </m:sSub>
                      </m:num>
                      <m:den>
                        <m:sSub>
                          <m:sSubPr>
                            <m:ctrlPr>
                              <a:rPr lang="en-US" altLang="zh-CN" sz="240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𝑅</m:t>
                            </m:r>
                          </m:e>
                          <m:sub>
                            <m:r>
                              <a:rPr lang="en-US" altLang="zh-CN" sz="2400" b="0" i="1" smtClean="0">
                                <a:latin typeface="Cambria Math" panose="02040503050406030204" pitchFamily="18" charset="0"/>
                                <a:ea typeface="Cambria Math" panose="02040503050406030204" pitchFamily="18" charset="0"/>
                              </a:rPr>
                              <m:t>𝑥</m:t>
                            </m:r>
                            <m:r>
                              <a:rPr lang="en-US" altLang="zh-CN" sz="2400" b="0" i="1" smtClean="0">
                                <a:latin typeface="Cambria Math" panose="02040503050406030204" pitchFamily="18" charset="0"/>
                                <a:ea typeface="Cambria Math" panose="02040503050406030204" pitchFamily="18" charset="0"/>
                              </a:rPr>
                              <m:t>1</m:t>
                            </m:r>
                          </m:sub>
                        </m:sSub>
                        <m:sSub>
                          <m:sSubPr>
                            <m:ctrlPr>
                              <a:rPr lang="en-US" altLang="zh-CN" sz="240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2</m:t>
                            </m:r>
                          </m:sub>
                        </m:sSub>
                        <m:r>
                          <a:rPr lang="en-US" altLang="zh-CN" sz="2400" i="1" smtClean="0">
                            <a:latin typeface="Cambria Math" panose="02040503050406030204" pitchFamily="18" charset="0"/>
                            <a:ea typeface="Cambria Math" panose="02040503050406030204" pitchFamily="18" charset="0"/>
                          </a:rPr>
                          <m:t>−</m:t>
                        </m:r>
                        <m:sSub>
                          <m:sSubPr>
                            <m:ctrlPr>
                              <a:rPr lang="en-US" altLang="zh-CN" sz="240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𝑅</m:t>
                            </m:r>
                          </m:e>
                          <m:sub>
                            <m:r>
                              <a:rPr lang="en-US" altLang="zh-CN" sz="2400" b="0" i="1" smtClean="0">
                                <a:latin typeface="Cambria Math" panose="02040503050406030204" pitchFamily="18" charset="0"/>
                                <a:ea typeface="Cambria Math" panose="02040503050406030204" pitchFamily="18" charset="0"/>
                              </a:rPr>
                              <m:t>𝑥</m:t>
                            </m:r>
                            <m:r>
                              <a:rPr lang="en-US" altLang="zh-CN" sz="2400" b="0" i="1" smtClean="0">
                                <a:latin typeface="Cambria Math" panose="02040503050406030204" pitchFamily="18" charset="0"/>
                                <a:ea typeface="Cambria Math" panose="02040503050406030204" pitchFamily="18" charset="0"/>
                              </a:rPr>
                              <m:t>2</m:t>
                            </m:r>
                          </m:sub>
                        </m:sSub>
                        <m:sSub>
                          <m:sSubPr>
                            <m:ctrlPr>
                              <a:rPr lang="en-US" altLang="zh-CN" sz="240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2</m:t>
                            </m:r>
                          </m:sub>
                        </m:sSub>
                      </m:den>
                    </m:f>
                  </m:oMath>
                </a14:m>
                <a:r>
                  <a:rPr lang="zh-CN" altLang="en-US" sz="2400" dirty="0">
                    <a:latin typeface="楷体" panose="02010609060101010101" pitchFamily="49" charset="-122"/>
                    <a:ea typeface="楷体" panose="02010609060101010101" pitchFamily="49" charset="-122"/>
                  </a:rPr>
                  <a:t>，求出</a:t>
                </a:r>
                <a:r>
                  <a:rPr lang="zh-CN" altLang="en-US" sz="2400" i="1" dirty="0">
                    <a:latin typeface="楷体" panose="02010609060101010101" pitchFamily="49" charset="-122"/>
                    <a:ea typeface="楷体" panose="02010609060101010101" pitchFamily="49" charset="-122"/>
                    <a:sym typeface="Symbol" panose="05050102010706020507" pitchFamily="18" charset="2"/>
                  </a:rPr>
                  <a:t>值</a:t>
                </a:r>
                <a:r>
                  <a:rPr lang="zh-CN" altLang="en-US" sz="2400" dirty="0">
                    <a:latin typeface="楷体" panose="02010609060101010101" pitchFamily="49" charset="-122"/>
                    <a:ea typeface="楷体" panose="02010609060101010101" pitchFamily="49" charset="-122"/>
                    <a:sym typeface="Symbol" panose="05050102010706020507" pitchFamily="18" charset="2"/>
                  </a:rPr>
                  <a:t>，再求出平均值</a:t>
                </a:r>
                <a14:m>
                  <m:oMath xmlns:m="http://schemas.openxmlformats.org/officeDocument/2006/math">
                    <m:acc>
                      <m:accPr>
                        <m:chr m:val="̅"/>
                        <m:ctrlPr>
                          <a:rPr lang="zh-CN" altLang="en-US" sz="2400" i="1" smtClean="0">
                            <a:latin typeface="Cambria Math" panose="02040503050406030204" pitchFamily="18" charset="0"/>
                            <a:ea typeface="楷体" panose="02010609060101010101" pitchFamily="49" charset="-122"/>
                            <a:sym typeface="Symbol" panose="05050102010706020507" pitchFamily="18" charset="2"/>
                          </a:rPr>
                        </m:ctrlPr>
                      </m:accPr>
                      <m:e>
                        <m:r>
                          <a:rPr lang="zh-CN" altLang="en-US" sz="2400" i="1" smtClean="0">
                            <a:latin typeface="Cambria Math" panose="02040503050406030204" pitchFamily="18" charset="0"/>
                            <a:ea typeface="楷体" panose="02010609060101010101" pitchFamily="49" charset="-122"/>
                            <a:sym typeface="Symbol" panose="05050102010706020507" pitchFamily="18" charset="2"/>
                          </a:rPr>
                          <m:t>𝛼</m:t>
                        </m:r>
                      </m:e>
                    </m:acc>
                  </m:oMath>
                </a14:m>
                <a:r>
                  <a:rPr lang="zh-CN" altLang="en-US" sz="2400" dirty="0">
                    <a:latin typeface="楷体" panose="02010609060101010101" pitchFamily="49" charset="-122"/>
                    <a:ea typeface="楷体" panose="02010609060101010101" pitchFamily="49" charset="-122"/>
                  </a:rPr>
                  <a:t>，并与理论值</a:t>
                </a:r>
                <a14:m>
                  <m:oMath xmlns:m="http://schemas.openxmlformats.org/officeDocument/2006/math">
                    <m:d>
                      <m:dPr>
                        <m:ctrlPr>
                          <a:rPr lang="en-US" altLang="zh-CN" sz="2400" i="1" smtClean="0">
                            <a:latin typeface="Cambria Math" panose="02040503050406030204" pitchFamily="18" charset="0"/>
                            <a:ea typeface="楷体" panose="02010609060101010101" pitchFamily="49" charset="-122"/>
                          </a:rPr>
                        </m:ctrlPr>
                      </m:dPr>
                      <m:e>
                        <m:r>
                          <a:rPr lang="zh-CN" altLang="en-US" sz="2400" i="1" smtClean="0">
                            <a:latin typeface="Cambria Math" panose="02040503050406030204" pitchFamily="18" charset="0"/>
                            <a:ea typeface="楷体" panose="02010609060101010101" pitchFamily="49" charset="-122"/>
                          </a:rPr>
                          <m:t>𝛼</m:t>
                        </m:r>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433∙</m:t>
                        </m:r>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10</m:t>
                            </m:r>
                          </m:e>
                          <m:sup>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5</m:t>
                            </m:r>
                          </m:sup>
                        </m:sSup>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m:t>
                            </m:r>
                          </m:e>
                          <m:sup>
                            <m:r>
                              <a:rPr lang="en-US" altLang="zh-CN"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1</m:t>
                            </m:r>
                          </m:sup>
                        </m:sSup>
                      </m:e>
                    </m:d>
                  </m:oMath>
                </a14:m>
                <a:r>
                  <a:rPr lang="zh-CN" altLang="en-US" sz="2400" dirty="0">
                    <a:latin typeface="楷体" panose="02010609060101010101" pitchFamily="49" charset="-122"/>
                    <a:ea typeface="楷体" panose="02010609060101010101" pitchFamily="49" charset="-122"/>
                  </a:rPr>
                  <a:t>比较，求相对误差；</a:t>
                </a:r>
                <a:endParaRPr lang="en-US" altLang="zh-CN" sz="2400" dirty="0">
                  <a:latin typeface="楷体" panose="02010609060101010101" pitchFamily="49" charset="-122"/>
                  <a:ea typeface="楷体" panose="02010609060101010101" pitchFamily="49" charset="-122"/>
                </a:endParaRPr>
              </a:p>
              <a:p>
                <a:pPr>
                  <a:lnSpc>
                    <a:spcPct val="150000"/>
                  </a:lnSpc>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）作</a:t>
                </a:r>
                <a:r>
                  <a:rPr lang="en-US" altLang="zh-CN" sz="2400" i="1" dirty="0" err="1">
                    <a:latin typeface="楷体" panose="02010609060101010101" pitchFamily="49" charset="-122"/>
                    <a:ea typeface="楷体" panose="02010609060101010101" pitchFamily="49" charset="-122"/>
                  </a:rPr>
                  <a:t>R</a:t>
                </a:r>
                <a:r>
                  <a:rPr lang="en-US" altLang="zh-CN" sz="2400" i="1" baseline="-25000" dirty="0" err="1">
                    <a:latin typeface="楷体" panose="02010609060101010101" pitchFamily="49" charset="-122"/>
                    <a:ea typeface="楷体" panose="02010609060101010101" pitchFamily="49" charset="-122"/>
                  </a:rPr>
                  <a:t>t</a:t>
                </a:r>
                <a:r>
                  <a:rPr lang="en-US" altLang="zh-CN" sz="2400" i="1" dirty="0">
                    <a:latin typeface="楷体" panose="02010609060101010101" pitchFamily="49" charset="-122"/>
                    <a:ea typeface="楷体" panose="02010609060101010101" pitchFamily="49" charset="-122"/>
                  </a:rPr>
                  <a:t>-t</a:t>
                </a:r>
                <a:r>
                  <a:rPr lang="zh-CN" altLang="en-US" sz="2400" dirty="0">
                    <a:latin typeface="楷体" panose="02010609060101010101" pitchFamily="49" charset="-122"/>
                    <a:ea typeface="楷体" panose="02010609060101010101" pitchFamily="49" charset="-122"/>
                  </a:rPr>
                  <a:t>特性曲线，根据曲线求出</a:t>
                </a:r>
                <a:r>
                  <a:rPr lang="zh-CN" altLang="en-US" sz="2400" i="1" dirty="0">
                    <a:latin typeface="楷体" panose="02010609060101010101" pitchFamily="49" charset="-122"/>
                    <a:ea typeface="楷体" panose="02010609060101010101" pitchFamily="49" charset="-122"/>
                    <a:sym typeface="Symbol" panose="05050102010706020507" pitchFamily="18" charset="2"/>
                  </a:rPr>
                  <a:t></a:t>
                </a:r>
                <a:r>
                  <a:rPr lang="zh-CN" altLang="en-US" sz="2400" dirty="0">
                    <a:latin typeface="楷体" panose="02010609060101010101" pitchFamily="49" charset="-122"/>
                    <a:ea typeface="楷体" panose="02010609060101010101" pitchFamily="49" charset="-122"/>
                    <a:sym typeface="Symbol" panose="05050102010706020507" pitchFamily="18" charset="2"/>
                  </a:rPr>
                  <a:t>值，与理论值比较，求相对误差。</a:t>
                </a:r>
                <a:endParaRPr lang="en-US" altLang="zh-CN" sz="2400" dirty="0">
                  <a:latin typeface="楷体" panose="02010609060101010101" pitchFamily="49" charset="-122"/>
                  <a:ea typeface="楷体" panose="02010609060101010101" pitchFamily="49" charset="-122"/>
                </a:endParaRPr>
              </a:p>
              <a:p>
                <a:endParaRPr lang="zh-CN" altLang="en-US" sz="2800" dirty="0">
                  <a:latin typeface="楷体" panose="02010609060101010101" pitchFamily="49" charset="-122"/>
                  <a:ea typeface="楷体" panose="02010609060101010101" pitchFamily="49"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20708" y="801791"/>
                <a:ext cx="10378216" cy="5512535"/>
              </a:xfrm>
              <a:prstGeom prst="rect">
                <a:avLst/>
              </a:prstGeom>
              <a:blipFill>
                <a:blip r:embed="rId3"/>
                <a:stretch>
                  <a:fillRect l="-1468"/>
                </a:stretch>
              </a:blipFill>
            </p:spPr>
            <p:txBody>
              <a:bodyPr/>
              <a:lstStyle/>
              <a:p>
                <a:r>
                  <a:rPr lang="zh-CN"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3950188542"/>
              </p:ext>
            </p:extLst>
          </p:nvPr>
        </p:nvGraphicFramePr>
        <p:xfrm>
          <a:off x="1238718" y="2242165"/>
          <a:ext cx="9607961" cy="1524000"/>
        </p:xfrm>
        <a:graphic>
          <a:graphicData uri="http://schemas.openxmlformats.org/drawingml/2006/table">
            <a:tbl>
              <a:tblPr firstRow="1" bandRow="1">
                <a:tableStyleId>{5C22544A-7EE6-4342-B048-85BDC9FD1C3A}</a:tableStyleId>
              </a:tblPr>
              <a:tblGrid>
                <a:gridCol w="1234216">
                  <a:extLst>
                    <a:ext uri="{9D8B030D-6E8A-4147-A177-3AD203B41FA5}">
                      <a16:colId xmlns:a16="http://schemas.microsoft.com/office/drawing/2014/main" val="253785637"/>
                    </a:ext>
                  </a:extLst>
                </a:gridCol>
                <a:gridCol w="512686">
                  <a:extLst>
                    <a:ext uri="{9D8B030D-6E8A-4147-A177-3AD203B41FA5}">
                      <a16:colId xmlns:a16="http://schemas.microsoft.com/office/drawing/2014/main" val="3340230882"/>
                    </a:ext>
                  </a:extLst>
                </a:gridCol>
                <a:gridCol w="873451">
                  <a:extLst>
                    <a:ext uri="{9D8B030D-6E8A-4147-A177-3AD203B41FA5}">
                      <a16:colId xmlns:a16="http://schemas.microsoft.com/office/drawing/2014/main" val="468281768"/>
                    </a:ext>
                  </a:extLst>
                </a:gridCol>
                <a:gridCol w="873451">
                  <a:extLst>
                    <a:ext uri="{9D8B030D-6E8A-4147-A177-3AD203B41FA5}">
                      <a16:colId xmlns:a16="http://schemas.microsoft.com/office/drawing/2014/main" val="1268608676"/>
                    </a:ext>
                  </a:extLst>
                </a:gridCol>
                <a:gridCol w="873451">
                  <a:extLst>
                    <a:ext uri="{9D8B030D-6E8A-4147-A177-3AD203B41FA5}">
                      <a16:colId xmlns:a16="http://schemas.microsoft.com/office/drawing/2014/main" val="2821796105"/>
                    </a:ext>
                  </a:extLst>
                </a:gridCol>
                <a:gridCol w="873451">
                  <a:extLst>
                    <a:ext uri="{9D8B030D-6E8A-4147-A177-3AD203B41FA5}">
                      <a16:colId xmlns:a16="http://schemas.microsoft.com/office/drawing/2014/main" val="833866863"/>
                    </a:ext>
                  </a:extLst>
                </a:gridCol>
                <a:gridCol w="873451">
                  <a:extLst>
                    <a:ext uri="{9D8B030D-6E8A-4147-A177-3AD203B41FA5}">
                      <a16:colId xmlns:a16="http://schemas.microsoft.com/office/drawing/2014/main" val="1169057033"/>
                    </a:ext>
                  </a:extLst>
                </a:gridCol>
                <a:gridCol w="873451">
                  <a:extLst>
                    <a:ext uri="{9D8B030D-6E8A-4147-A177-3AD203B41FA5}">
                      <a16:colId xmlns:a16="http://schemas.microsoft.com/office/drawing/2014/main" val="2402491965"/>
                    </a:ext>
                  </a:extLst>
                </a:gridCol>
                <a:gridCol w="1070825">
                  <a:extLst>
                    <a:ext uri="{9D8B030D-6E8A-4147-A177-3AD203B41FA5}">
                      <a16:colId xmlns:a16="http://schemas.microsoft.com/office/drawing/2014/main" val="1482162445"/>
                    </a:ext>
                  </a:extLst>
                </a:gridCol>
                <a:gridCol w="729718">
                  <a:extLst>
                    <a:ext uri="{9D8B030D-6E8A-4147-A177-3AD203B41FA5}">
                      <a16:colId xmlns:a16="http://schemas.microsoft.com/office/drawing/2014/main" val="1921570630"/>
                    </a:ext>
                  </a:extLst>
                </a:gridCol>
                <a:gridCol w="819810">
                  <a:extLst>
                    <a:ext uri="{9D8B030D-6E8A-4147-A177-3AD203B41FA5}">
                      <a16:colId xmlns:a16="http://schemas.microsoft.com/office/drawing/2014/main" val="4243193023"/>
                    </a:ext>
                  </a:extLst>
                </a:gridCol>
              </a:tblGrid>
              <a:tr h="370840">
                <a:tc>
                  <a:txBody>
                    <a:bodyPr/>
                    <a:lstStyle/>
                    <a:p>
                      <a:pPr algn="ctr"/>
                      <a:r>
                        <a:rPr lang="zh-CN" altLang="en-US" dirty="0">
                          <a:latin typeface="宋体" panose="02010600030101010101" pitchFamily="2" charset="-122"/>
                          <a:ea typeface="宋体" panose="02010600030101010101" pitchFamily="2" charset="-122"/>
                        </a:rPr>
                        <a:t>次数</a:t>
                      </a:r>
                    </a:p>
                  </a:txBody>
                  <a:tcPr/>
                </a:tc>
                <a:tc>
                  <a:txBody>
                    <a:bodyPr/>
                    <a:lstStyle/>
                    <a:p>
                      <a:pPr algn="ctr"/>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a:latin typeface="宋体" panose="02010600030101010101" pitchFamily="2" charset="-122"/>
                          <a:ea typeface="宋体" panose="02010600030101010101" pitchFamily="2" charset="-122"/>
                        </a:rPr>
                        <a:t>2</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a:latin typeface="宋体" panose="02010600030101010101" pitchFamily="2" charset="-122"/>
                          <a:ea typeface="宋体" panose="02010600030101010101" pitchFamily="2" charset="-122"/>
                        </a:rPr>
                        <a:t>4</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a:latin typeface="宋体" panose="02010600030101010101" pitchFamily="2" charset="-122"/>
                          <a:ea typeface="宋体" panose="02010600030101010101" pitchFamily="2" charset="-122"/>
                        </a:rPr>
                        <a:t>5</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a:latin typeface="宋体" panose="02010600030101010101" pitchFamily="2" charset="-122"/>
                          <a:ea typeface="宋体" panose="02010600030101010101" pitchFamily="2" charset="-122"/>
                        </a:rPr>
                        <a:t>6</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a:latin typeface="宋体" panose="02010600030101010101" pitchFamily="2" charset="-122"/>
                          <a:ea typeface="宋体" panose="02010600030101010101" pitchFamily="2" charset="-122"/>
                        </a:rPr>
                        <a:t>7</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a:latin typeface="宋体" panose="02010600030101010101" pitchFamily="2" charset="-122"/>
                          <a:ea typeface="宋体" panose="02010600030101010101" pitchFamily="2" charset="-122"/>
                        </a:rPr>
                        <a:t>8</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a:latin typeface="宋体" panose="02010600030101010101" pitchFamily="2" charset="-122"/>
                          <a:ea typeface="宋体" panose="02010600030101010101" pitchFamily="2" charset="-122"/>
                        </a:rPr>
                        <a:t>9</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a:latin typeface="宋体" panose="02010600030101010101" pitchFamily="2" charset="-122"/>
                          <a:ea typeface="宋体" panose="02010600030101010101" pitchFamily="2" charset="-122"/>
                        </a:rPr>
                        <a:t>10</a:t>
                      </a:r>
                      <a:endParaRPr lang="zh-CN" altLang="en-US" dirty="0">
                        <a:latin typeface="宋体" panose="02010600030101010101" pitchFamily="2" charset="-122"/>
                        <a:ea typeface="宋体" panose="02010600030101010101" pitchFamily="2" charset="-122"/>
                      </a:endParaRPr>
                    </a:p>
                  </a:txBody>
                  <a:tcPr/>
                </a:tc>
                <a:extLst>
                  <a:ext uri="{0D108BD9-81ED-4DB2-BD59-A6C34878D82A}">
                    <a16:rowId xmlns:a16="http://schemas.microsoft.com/office/drawing/2014/main" val="3109512824"/>
                  </a:ext>
                </a:extLst>
              </a:tr>
              <a:tr h="370840">
                <a:tc>
                  <a:txBody>
                    <a:bodyPr/>
                    <a:lstStyle/>
                    <a:p>
                      <a:pPr algn="ctr"/>
                      <a:r>
                        <a:rPr lang="zh-CN" altLang="en-US" dirty="0">
                          <a:latin typeface="宋体" panose="02010600030101010101" pitchFamily="2" charset="-122"/>
                          <a:ea typeface="宋体" panose="02010600030101010101" pitchFamily="2" charset="-122"/>
                        </a:rPr>
                        <a:t>升温</a:t>
                      </a:r>
                      <a:r>
                        <a:rPr lang="en-US" altLang="zh-CN" dirty="0">
                          <a:latin typeface="宋体" panose="02010600030101010101" pitchFamily="2" charset="-122"/>
                          <a:ea typeface="宋体" panose="02010600030101010101" pitchFamily="2" charset="-122"/>
                        </a:rPr>
                        <a:t>t/</a:t>
                      </a:r>
                      <a:r>
                        <a:rPr lang="en-US" altLang="zh-CN" dirty="0">
                          <a:latin typeface="宋体" panose="02010600030101010101" pitchFamily="2" charset="-122"/>
                          <a:ea typeface="宋体" panose="02010600030101010101" pitchFamily="2" charset="-122"/>
                          <a:sym typeface="Symbol" panose="05050102010706020507" pitchFamily="18" charset="2"/>
                        </a:rPr>
                        <a:t>C</a:t>
                      </a: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a:latin typeface="宋体" panose="02010600030101010101" pitchFamily="2" charset="-122"/>
                        <a:ea typeface="宋体" panose="02010600030101010101" pitchFamily="2" charset="-122"/>
                      </a:endParaRPr>
                    </a:p>
                  </a:txBody>
                  <a:tcPr/>
                </a:tc>
                <a:tc>
                  <a:txBody>
                    <a:bodyPr/>
                    <a:lstStyle/>
                    <a:p>
                      <a:pPr algn="ctr"/>
                      <a:endParaRPr lang="zh-CN" altLang="en-US">
                        <a:latin typeface="宋体" panose="02010600030101010101" pitchFamily="2" charset="-122"/>
                        <a:ea typeface="宋体" panose="02010600030101010101" pitchFamily="2" charset="-122"/>
                      </a:endParaRPr>
                    </a:p>
                  </a:txBody>
                  <a:tcPr/>
                </a:tc>
                <a:extLst>
                  <a:ext uri="{0D108BD9-81ED-4DB2-BD59-A6C34878D82A}">
                    <a16:rowId xmlns:a16="http://schemas.microsoft.com/office/drawing/2014/main" val="2353330983"/>
                  </a:ext>
                </a:extLst>
              </a:tr>
              <a:tr h="370840">
                <a:tc>
                  <a:txBody>
                    <a:bodyPr/>
                    <a:lstStyle/>
                    <a:p>
                      <a:pPr algn="ctr"/>
                      <a:r>
                        <a:rPr lang="zh-CN" altLang="en-US" dirty="0">
                          <a:latin typeface="宋体" panose="02010600030101010101" pitchFamily="2" charset="-122"/>
                          <a:ea typeface="宋体" panose="02010600030101010101" pitchFamily="2" charset="-122"/>
                        </a:rPr>
                        <a:t>降温</a:t>
                      </a:r>
                      <a:r>
                        <a:rPr lang="en-US" altLang="zh-CN" dirty="0">
                          <a:latin typeface="宋体" panose="02010600030101010101" pitchFamily="2" charset="-122"/>
                          <a:ea typeface="宋体" panose="02010600030101010101" pitchFamily="2" charset="-122"/>
                        </a:rPr>
                        <a:t>t/</a:t>
                      </a:r>
                      <a:r>
                        <a:rPr lang="en-US" altLang="zh-CN" dirty="0">
                          <a:latin typeface="宋体" panose="02010600030101010101" pitchFamily="2" charset="-122"/>
                          <a:ea typeface="宋体" panose="02010600030101010101" pitchFamily="2" charset="-122"/>
                          <a:sym typeface="Symbol" panose="05050102010706020507" pitchFamily="18" charset="2"/>
                        </a:rPr>
                        <a:t>C</a:t>
                      </a: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a:latin typeface="宋体" panose="02010600030101010101" pitchFamily="2" charset="-122"/>
                        <a:ea typeface="宋体" panose="02010600030101010101" pitchFamily="2" charset="-122"/>
                      </a:endParaRPr>
                    </a:p>
                  </a:txBody>
                  <a:tcPr/>
                </a:tc>
                <a:tc>
                  <a:txBody>
                    <a:bodyPr/>
                    <a:lstStyle/>
                    <a:p>
                      <a:pPr algn="ctr"/>
                      <a:endParaRPr lang="zh-CN" altLang="en-US">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a:latin typeface="宋体" panose="02010600030101010101" pitchFamily="2" charset="-122"/>
                        <a:ea typeface="宋体" panose="02010600030101010101" pitchFamily="2" charset="-122"/>
                      </a:endParaRPr>
                    </a:p>
                  </a:txBody>
                  <a:tcPr/>
                </a:tc>
                <a:extLst>
                  <a:ext uri="{0D108BD9-81ED-4DB2-BD59-A6C34878D82A}">
                    <a16:rowId xmlns:a16="http://schemas.microsoft.com/office/drawing/2014/main" val="3869288804"/>
                  </a:ext>
                </a:extLst>
              </a:tr>
              <a:tr h="370840">
                <a:tc>
                  <a:txBody>
                    <a:bodyPr/>
                    <a:lstStyle/>
                    <a:p>
                      <a:pPr algn="ctr"/>
                      <a:r>
                        <a:rPr lang="zh-CN" altLang="en-US" dirty="0">
                          <a:latin typeface="宋体" panose="02010600030101010101" pitchFamily="2" charset="-122"/>
                          <a:ea typeface="宋体" panose="02010600030101010101" pitchFamily="2" charset="-122"/>
                        </a:rPr>
                        <a:t>电阻</a:t>
                      </a:r>
                      <a:r>
                        <a:rPr lang="en-US" altLang="zh-CN" dirty="0">
                          <a:latin typeface="宋体" panose="02010600030101010101" pitchFamily="2" charset="-122"/>
                          <a:ea typeface="宋体" panose="02010600030101010101" pitchFamily="2" charset="-122"/>
                        </a:rPr>
                        <a:t>R</a:t>
                      </a:r>
                      <a:r>
                        <a:rPr lang="en-US" altLang="zh-CN" baseline="-25000" dirty="0">
                          <a:latin typeface="宋体" panose="02010600030101010101" pitchFamily="2" charset="-122"/>
                          <a:ea typeface="宋体" panose="02010600030101010101" pitchFamily="2" charset="-122"/>
                        </a:rPr>
                        <a:t>x</a:t>
                      </a:r>
                      <a:r>
                        <a:rPr lang="en-US" altLang="zh-CN" baseline="0" dirty="0">
                          <a:latin typeface="宋体" panose="02010600030101010101" pitchFamily="2" charset="-122"/>
                          <a:ea typeface="宋体" panose="02010600030101010101" pitchFamily="2" charset="-122"/>
                        </a:rPr>
                        <a:t>/</a:t>
                      </a:r>
                      <a:r>
                        <a:rPr lang="en-US" altLang="zh-CN" baseline="0" dirty="0">
                          <a:latin typeface="宋体" panose="02010600030101010101" pitchFamily="2" charset="-122"/>
                          <a:ea typeface="宋体" panose="02010600030101010101" pitchFamily="2" charset="-122"/>
                          <a:sym typeface="Symbol" panose="05050102010706020507" pitchFamily="18" charset="2"/>
                        </a:rPr>
                        <a:t></a:t>
                      </a: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a:latin typeface="宋体" panose="02010600030101010101" pitchFamily="2" charset="-122"/>
                        <a:ea typeface="宋体" panose="02010600030101010101" pitchFamily="2" charset="-122"/>
                      </a:endParaRPr>
                    </a:p>
                  </a:txBody>
                  <a:tcPr/>
                </a:tc>
                <a:tc>
                  <a:txBody>
                    <a:bodyPr/>
                    <a:lstStyle/>
                    <a:p>
                      <a:pPr algn="ctr"/>
                      <a:endParaRPr lang="zh-CN" altLang="en-US">
                        <a:latin typeface="宋体" panose="02010600030101010101" pitchFamily="2" charset="-122"/>
                        <a:ea typeface="宋体" panose="02010600030101010101" pitchFamily="2" charset="-122"/>
                      </a:endParaRPr>
                    </a:p>
                  </a:txBody>
                  <a:tcPr/>
                </a:tc>
                <a:tc>
                  <a:txBody>
                    <a:bodyPr/>
                    <a:lstStyle/>
                    <a:p>
                      <a:pPr algn="ctr"/>
                      <a:endParaRPr lang="zh-CN" altLang="en-US">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tc>
                  <a:txBody>
                    <a:bodyPr/>
                    <a:lstStyle/>
                    <a:p>
                      <a:pPr algn="ctr"/>
                      <a:endParaRPr lang="zh-CN" altLang="en-US" dirty="0">
                        <a:latin typeface="宋体" panose="02010600030101010101" pitchFamily="2" charset="-122"/>
                        <a:ea typeface="宋体" panose="02010600030101010101" pitchFamily="2" charset="-122"/>
                      </a:endParaRPr>
                    </a:p>
                  </a:txBody>
                  <a:tcPr/>
                </a:tc>
                <a:extLst>
                  <a:ext uri="{0D108BD9-81ED-4DB2-BD59-A6C34878D82A}">
                    <a16:rowId xmlns:a16="http://schemas.microsoft.com/office/drawing/2014/main" val="686413753"/>
                  </a:ext>
                </a:extLst>
              </a:tr>
            </a:tbl>
          </a:graphicData>
        </a:graphic>
      </p:graphicFrame>
    </p:spTree>
    <p:extLst>
      <p:ext uri="{BB962C8B-B14F-4D97-AF65-F5344CB8AC3E}">
        <p14:creationId xmlns:p14="http://schemas.microsoft.com/office/powerpoint/2010/main" val="3240996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52"/>
          <p:cNvSpPr txBox="1"/>
          <p:nvPr/>
        </p:nvSpPr>
        <p:spPr>
          <a:xfrm>
            <a:off x="3043283" y="4621256"/>
            <a:ext cx="6060791" cy="369328"/>
          </a:xfrm>
          <a:prstGeom prst="rect">
            <a:avLst/>
          </a:prstGeom>
          <a:noFill/>
        </p:spPr>
        <p:txBody>
          <a:bodyPr wrap="square" lIns="91436" tIns="45718" rIns="91436" bIns="45718" rtlCol="0">
            <a:spAutoFit/>
          </a:bodyPr>
          <a:lstStyle/>
          <a:p>
            <a:pPr algn="ctr"/>
            <a:r>
              <a:rPr lang="en-US" altLang="zh-CN" sz="1800" b="1" spc="600" dirty="0">
                <a:solidFill>
                  <a:schemeClr val="bg1">
                    <a:lumMod val="50000"/>
                    <a:alpha val="78000"/>
                  </a:schemeClr>
                </a:solidFill>
                <a:latin typeface="Arial" panose="020B0604020202020204" pitchFamily="34" charset="0"/>
                <a:cs typeface="Arial" panose="020B0604020202020204" pitchFamily="34" charset="0"/>
              </a:rPr>
              <a:t>Kalvin Double Bridge</a:t>
            </a:r>
            <a:endParaRPr lang="zh-CN" altLang="en-US" sz="1800" b="1" spc="600" dirty="0">
              <a:solidFill>
                <a:schemeClr val="bg1">
                  <a:lumMod val="50000"/>
                  <a:alpha val="78000"/>
                </a:schemeClr>
              </a:solidFill>
              <a:latin typeface="Arial" panose="020B0604020202020204" pitchFamily="34" charset="0"/>
              <a:cs typeface="Arial" panose="020B0604020202020204" pitchFamily="34" charset="0"/>
            </a:endParaRPr>
          </a:p>
        </p:txBody>
      </p:sp>
      <p:cxnSp>
        <p:nvCxnSpPr>
          <p:cNvPr id="54" name="直接连接符 53"/>
          <p:cNvCxnSpPr/>
          <p:nvPr/>
        </p:nvCxnSpPr>
        <p:spPr>
          <a:xfrm flipV="1">
            <a:off x="4230668" y="3853601"/>
            <a:ext cx="3660629" cy="4320"/>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8551" y="5623749"/>
            <a:ext cx="12192000" cy="123425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73" name="组合 60"/>
          <p:cNvGrpSpPr/>
          <p:nvPr/>
        </p:nvGrpSpPr>
        <p:grpSpPr>
          <a:xfrm rot="16200000">
            <a:off x="11436485" y="6057840"/>
            <a:ext cx="1271471" cy="363349"/>
            <a:chOff x="6507038" y="462977"/>
            <a:chExt cx="2430800" cy="471379"/>
          </a:xfrm>
        </p:grpSpPr>
        <p:grpSp>
          <p:nvGrpSpPr>
            <p:cNvPr id="74" name="组合 61"/>
            <p:cNvGrpSpPr/>
            <p:nvPr/>
          </p:nvGrpSpPr>
          <p:grpSpPr>
            <a:xfrm flipV="1">
              <a:off x="6507038" y="462977"/>
              <a:ext cx="1917435" cy="471379"/>
              <a:chOff x="810775" y="1533962"/>
              <a:chExt cx="7782374" cy="1913206"/>
            </a:xfrm>
          </p:grpSpPr>
          <p:sp>
            <p:nvSpPr>
              <p:cNvPr id="76" name="圆角矩形 75"/>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圆角矩形 78"/>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圆角矩形 74"/>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文本框 79"/>
          <p:cNvSpPr txBox="1"/>
          <p:nvPr/>
        </p:nvSpPr>
        <p:spPr>
          <a:xfrm>
            <a:off x="403710" y="5713686"/>
            <a:ext cx="10034254" cy="1015659"/>
          </a:xfrm>
          <a:prstGeom prst="rect">
            <a:avLst/>
          </a:prstGeom>
          <a:noFill/>
        </p:spPr>
        <p:txBody>
          <a:bodyPr wrap="square" lIns="91436" tIns="45718" rIns="91436" bIns="45718" rtlCol="0">
            <a:spAutoFit/>
          </a:bodyPr>
          <a:lstStyle/>
          <a:p>
            <a:r>
              <a:rPr lang="en-US" altLang="zh-CN" sz="6000" dirty="0">
                <a:solidFill>
                  <a:schemeClr val="bg1"/>
                </a:solidFill>
                <a:latin typeface="微软雅黑" panose="020B0503020204020204" pitchFamily="34" charset="-122"/>
              </a:rPr>
              <a:t>MANY THANKS</a:t>
            </a:r>
            <a:endParaRPr lang="zh-CN" altLang="en-US" sz="6000" dirty="0">
              <a:solidFill>
                <a:schemeClr val="bg1"/>
              </a:solidFill>
              <a:latin typeface="Segoe UI Semilight" panose="020B0402040204020203" pitchFamily="34" charset="0"/>
              <a:cs typeface="Segoe UI Semilight" panose="020B0402040204020203" pitchFamily="34" charset="0"/>
            </a:endParaRPr>
          </a:p>
        </p:txBody>
      </p:sp>
      <p:sp>
        <p:nvSpPr>
          <p:cNvPr id="81" name="圆角矩形 80"/>
          <p:cNvSpPr/>
          <p:nvPr/>
        </p:nvSpPr>
        <p:spPr>
          <a:xfrm rot="16200000" flipV="1">
            <a:off x="10447003" y="5586366"/>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2" name="Freeform 96"/>
          <p:cNvSpPr/>
          <p:nvPr/>
        </p:nvSpPr>
        <p:spPr bwMode="auto">
          <a:xfrm>
            <a:off x="10716633" y="5878142"/>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lstStyle/>
          <a:p>
            <a:endParaRPr lang="zh-CN" altLang="en-US">
              <a:solidFill>
                <a:srgbClr val="AD1C21"/>
              </a:solidFill>
            </a:endParaRPr>
          </a:p>
        </p:txBody>
      </p:sp>
      <p:sp>
        <p:nvSpPr>
          <p:cNvPr id="20" name="文本框 19"/>
          <p:cNvSpPr txBox="1"/>
          <p:nvPr/>
        </p:nvSpPr>
        <p:spPr>
          <a:xfrm>
            <a:off x="4754355" y="2246378"/>
            <a:ext cx="3570204" cy="1446548"/>
          </a:xfrm>
          <a:prstGeom prst="rect">
            <a:avLst/>
          </a:prstGeom>
          <a:noFill/>
        </p:spPr>
        <p:txBody>
          <a:bodyPr wrap="none" lIns="91438" tIns="45719" rIns="91438" bIns="45719" rtlCol="0">
            <a:spAutoFit/>
          </a:bodyPr>
          <a:lstStyle/>
          <a:p>
            <a:r>
              <a:rPr lang="zh-CN" altLang="en-US" sz="8800" dirty="0">
                <a:ln w="0"/>
                <a:solidFill>
                  <a:schemeClr val="tx2"/>
                </a:solidFill>
                <a:latin typeface="微软雅黑" panose="020B0503020204020204" pitchFamily="34" charset="-122"/>
                <a:ea typeface="微软雅黑" panose="020B0503020204020204" pitchFamily="34" charset="-122"/>
              </a:rPr>
              <a:t>谢谢！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VkOTkwN2E1ODM4MTczZWNlZGM3N2Q1YzE3OGQ5Yj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TotalTime>
  <Words>1591</Words>
  <Application>Microsoft Macintosh PowerPoint</Application>
  <PresentationFormat>宽屏</PresentationFormat>
  <Paragraphs>305</Paragraphs>
  <Slides>25</Slides>
  <Notes>16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25</vt:i4>
      </vt:variant>
    </vt:vector>
  </HeadingPairs>
  <TitlesOfParts>
    <vt:vector size="39" baseType="lpstr">
      <vt:lpstr>宋体</vt:lpstr>
      <vt:lpstr>微软雅黑</vt:lpstr>
      <vt:lpstr>楷体</vt:lpstr>
      <vt:lpstr>黑体</vt:lpstr>
      <vt:lpstr>Arial</vt:lpstr>
      <vt:lpstr>Calibri</vt:lpstr>
      <vt:lpstr>Cambria Math</vt:lpstr>
      <vt:lpstr>Century Gothic</vt:lpstr>
      <vt:lpstr>Segoe UI Semilight</vt:lpstr>
      <vt:lpstr>Times New Roman</vt:lpstr>
      <vt:lpstr>Wingdings</vt:lpstr>
      <vt:lpstr>Office 主题</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 PLUS</dc:creator>
  <cp:lastModifiedBy>Microsoft Office User</cp:lastModifiedBy>
  <cp:revision>786</cp:revision>
  <dcterms:created xsi:type="dcterms:W3CDTF">2015-04-07T16:28:00Z</dcterms:created>
  <dcterms:modified xsi:type="dcterms:W3CDTF">2025-07-16T03:44:36Z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D5A011ACD4EE4F8FA04542C0C93338C1_13</vt:lpwstr>
  </property>
  <property fmtid="{D5CDD505-2E9C-101B-9397-08002B2CF9AE}" pid="3" name="KSOProductBuildVer">
    <vt:lpwstr>2052-12.1.0.18276</vt:lpwstr>
  </property>
</Properties>
</file>