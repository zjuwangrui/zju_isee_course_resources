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83" r:id="rId3"/>
    <p:sldId id="384" r:id="rId4"/>
    <p:sldId id="372" r:id="rId5"/>
    <p:sldId id="292" r:id="rId6"/>
    <p:sldId id="293" r:id="rId7"/>
    <p:sldId id="294" r:id="rId8"/>
    <p:sldId id="373" r:id="rId9"/>
    <p:sldId id="375" r:id="rId10"/>
    <p:sldId id="374" r:id="rId11"/>
    <p:sldId id="360" r:id="rId12"/>
    <p:sldId id="369" r:id="rId13"/>
    <p:sldId id="379" r:id="rId14"/>
    <p:sldId id="407" r:id="rId15"/>
    <p:sldId id="366" r:id="rId16"/>
    <p:sldId id="409" r:id="rId17"/>
    <p:sldId id="309" r:id="rId18"/>
    <p:sldId id="408" r:id="rId19"/>
    <p:sldId id="420" r:id="rId20"/>
    <p:sldId id="310" r:id="rId21"/>
    <p:sldId id="421" r:id="rId22"/>
    <p:sldId id="423" r:id="rId23"/>
    <p:sldId id="424" r:id="rId24"/>
    <p:sldId id="311" r:id="rId25"/>
    <p:sldId id="326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D7D31"/>
    <a:srgbClr val="F29E65"/>
    <a:srgbClr val="F0B8A6"/>
    <a:srgbClr val="EF8136"/>
    <a:srgbClr val="EE8137"/>
    <a:srgbClr val="C55A11"/>
    <a:srgbClr val="2F5597"/>
    <a:srgbClr val="A2A2A2"/>
    <a:srgbClr val="EBE9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6" autoAdjust="0"/>
    <p:restoredTop sz="86939" autoAdjust="0"/>
  </p:normalViewPr>
  <p:slideViewPr>
    <p:cSldViewPr snapToGrid="0" showGuides="1">
      <p:cViewPr varScale="1">
        <p:scale>
          <a:sx n="75" d="100"/>
          <a:sy n="75" d="100"/>
        </p:scale>
        <p:origin x="715" y="48"/>
      </p:cViewPr>
      <p:guideLst>
        <p:guide orient="horz" pos="2104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3EF8-6704-43C3-8F75-DEFE5F5BF111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31A8-ED3E-4C2F-8A11-01DA33E8AA9F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2B3F5-254C-4FB2-B459-1E97057DBEBE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93B7A-F841-43D1-87B4-23314CEA1932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F70B-9E30-40F6-BB2D-492DB8A20061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9D20-B6AE-409E-AE69-DF1C3E6493B0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97D8-1CC1-4D1D-AF9B-F3494A691C40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0E83B-EDA7-4322-8CA8-C73FECAEB8E3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E2C6-59A5-43B5-9200-40EBBA2C2ED4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13B5-1C68-4AC6-B30B-B7D937B82F38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71C6-9046-4CE9-A225-CEB1A658F8F9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D8A45-B5D6-47BE-9DA3-56E1A2FB3E55}" type="datetime1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263713" y="3599113"/>
            <a:ext cx="7647471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Unbalanced Wheatstone Bridge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217860" y="2002997"/>
            <a:ext cx="8084260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非平衡直流电桥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物理实验教学中心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608643" y="3264361"/>
              <a:ext cx="4371641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450736" y="324999"/>
            <a:ext cx="3503964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3</a:t>
            </a:fld>
            <a:endParaRPr lang="zh-CN" altLang="en-US" b="1" dirty="0"/>
          </a:p>
        </p:txBody>
      </p: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6" name="Picture 2" descr="Wheatstone Charles drawing 186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257" y="1935424"/>
            <a:ext cx="2201398" cy="243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Samuel Hunter Christi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03" y="1935424"/>
            <a:ext cx="1882312" cy="242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矩形 38"/>
          <p:cNvSpPr/>
          <p:nvPr/>
        </p:nvSpPr>
        <p:spPr>
          <a:xfrm>
            <a:off x="697524" y="4875052"/>
            <a:ext cx="18469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S. H. Christie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1784-1865</a:t>
            </a:r>
          </a:p>
        </p:txBody>
      </p:sp>
      <p:sp>
        <p:nvSpPr>
          <p:cNvPr id="40" name="矩形 39"/>
          <p:cNvSpPr/>
          <p:nvPr/>
        </p:nvSpPr>
        <p:spPr>
          <a:xfrm>
            <a:off x="3095873" y="4873877"/>
            <a:ext cx="20521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C. Wheatstone</a:t>
            </a:r>
          </a:p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1802-1875</a:t>
            </a:r>
          </a:p>
        </p:txBody>
      </p:sp>
      <p:sp>
        <p:nvSpPr>
          <p:cNvPr id="42" name="矩形 41"/>
          <p:cNvSpPr/>
          <p:nvPr/>
        </p:nvSpPr>
        <p:spPr>
          <a:xfrm>
            <a:off x="3500221" y="4359313"/>
            <a:ext cx="12496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惠斯顿</a:t>
            </a:r>
          </a:p>
        </p:txBody>
      </p:sp>
      <p:sp>
        <p:nvSpPr>
          <p:cNvPr id="47" name="矩形 46"/>
          <p:cNvSpPr/>
          <p:nvPr/>
        </p:nvSpPr>
        <p:spPr>
          <a:xfrm>
            <a:off x="789030" y="436413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克里斯蒂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6725920" y="3639185"/>
            <a:ext cx="3559810" cy="2421890"/>
            <a:chOff x="9804" y="4112"/>
            <a:chExt cx="5606" cy="3814"/>
          </a:xfrm>
        </p:grpSpPr>
        <p:sp>
          <p:nvSpPr>
            <p:cNvPr id="57" name="矩形 56"/>
            <p:cNvSpPr/>
            <p:nvPr/>
          </p:nvSpPr>
          <p:spPr>
            <a:xfrm>
              <a:off x="10663" y="7298"/>
              <a:ext cx="3888" cy="6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早期惠斯顿电桥电路</a:t>
              </a:r>
            </a:p>
          </p:txBody>
        </p:sp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4" y="4112"/>
              <a:ext cx="5607" cy="3036"/>
            </a:xfrm>
            <a:prstGeom prst="rect">
              <a:avLst/>
            </a:prstGeom>
          </p:spPr>
        </p:pic>
      </p:grpSp>
      <p:sp>
        <p:nvSpPr>
          <p:cNvPr id="59" name="文本框 58"/>
          <p:cNvSpPr txBox="1"/>
          <p:nvPr/>
        </p:nvSpPr>
        <p:spPr>
          <a:xfrm>
            <a:off x="5758180" y="1825227"/>
            <a:ext cx="5495290" cy="2138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1833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年，英国数学家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S.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克里斯蒂发明了由四个电阻组成的电桥，但由于缺乏仪器而无法实际应用，直到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1843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年惠斯顿发明了变阻器，借助于变阻器和这种电桥电路，惠斯顿成功地对电阻做了精确测量。由于惠斯顿第一个用它来测量电阻，所以人们把这种电桥称为惠斯顿电桥。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450736" y="324999"/>
            <a:ext cx="3503964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4</a:t>
            </a:fld>
            <a:endParaRPr lang="zh-CN" altLang="en-US" b="1" dirty="0"/>
          </a:p>
        </p:txBody>
      </p:sp>
      <p:cxnSp>
        <p:nvCxnSpPr>
          <p:cNvPr id="69" name="直接箭头连接符 68"/>
          <p:cNvCxnSpPr/>
          <p:nvPr/>
        </p:nvCxnSpPr>
        <p:spPr>
          <a:xfrm>
            <a:off x="484860" y="2456323"/>
            <a:ext cx="1108074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628702" y="2102380"/>
            <a:ext cx="327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62592" y="5574385"/>
            <a:ext cx="3037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非平衡电桥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00100" y="2492350"/>
            <a:ext cx="3641270" cy="1544871"/>
            <a:chOff x="800100" y="2492350"/>
            <a:chExt cx="3641270" cy="1544871"/>
          </a:xfrm>
        </p:grpSpPr>
        <p:sp>
          <p:nvSpPr>
            <p:cNvPr id="5" name="矩形 4"/>
            <p:cNvSpPr/>
            <p:nvPr/>
          </p:nvSpPr>
          <p:spPr>
            <a:xfrm>
              <a:off x="1264919" y="2492350"/>
              <a:ext cx="3176451" cy="355600"/>
            </a:xfrm>
            <a:prstGeom prst="rect">
              <a:avLst/>
            </a:prstGeom>
            <a:gradFill flip="none" rotWithShape="1">
              <a:gsLst>
                <a:gs pos="83700">
                  <a:srgbClr val="E9E9E9"/>
                </a:gs>
                <a:gs pos="50000">
                  <a:srgbClr val="BABABA"/>
                </a:gs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00100" y="3575556"/>
              <a:ext cx="1549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电线电报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264920" y="2847950"/>
              <a:ext cx="3176450" cy="976063"/>
              <a:chOff x="1264920" y="2847950"/>
              <a:chExt cx="3176450" cy="976063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H="1">
                <a:off x="1264920" y="2852436"/>
                <a:ext cx="31764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>
                <a:off x="2277836" y="3824013"/>
                <a:ext cx="216353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4441370" y="2847950"/>
                <a:ext cx="0" cy="9760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3864033" y="2045501"/>
            <a:ext cx="1989371" cy="1284506"/>
            <a:chOff x="3864033" y="2045501"/>
            <a:chExt cx="1989371" cy="1284506"/>
          </a:xfrm>
        </p:grpSpPr>
        <p:cxnSp>
          <p:nvCxnSpPr>
            <p:cNvPr id="37" name="直接连接符 36"/>
            <p:cNvCxnSpPr/>
            <p:nvPr/>
          </p:nvCxnSpPr>
          <p:spPr>
            <a:xfrm>
              <a:off x="4200148" y="2456323"/>
              <a:ext cx="2570" cy="548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/>
            <p:cNvSpPr/>
            <p:nvPr/>
          </p:nvSpPr>
          <p:spPr>
            <a:xfrm>
              <a:off x="4703031" y="2868342"/>
              <a:ext cx="11503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放大器</a:t>
              </a:r>
            </a:p>
          </p:txBody>
        </p:sp>
        <p:cxnSp>
          <p:nvCxnSpPr>
            <p:cNvPr id="40" name="直接连接符 39"/>
            <p:cNvCxnSpPr/>
            <p:nvPr/>
          </p:nvCxnSpPr>
          <p:spPr>
            <a:xfrm flipH="1">
              <a:off x="4200148" y="3004775"/>
              <a:ext cx="50520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3864033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1912</a:t>
              </a:r>
              <a:endParaRPr lang="zh-CN" altLang="en-US" sz="2000" b="1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31370" y="2045501"/>
            <a:ext cx="3618116" cy="1514842"/>
            <a:chOff x="431370" y="2045501"/>
            <a:chExt cx="3618116" cy="1514842"/>
          </a:xfrm>
        </p:grpSpPr>
        <p:grpSp>
          <p:nvGrpSpPr>
            <p:cNvPr id="3" name="组合 2"/>
            <p:cNvGrpSpPr/>
            <p:nvPr/>
          </p:nvGrpSpPr>
          <p:grpSpPr>
            <a:xfrm>
              <a:off x="431370" y="2456323"/>
              <a:ext cx="3618116" cy="1104020"/>
              <a:chOff x="431370" y="2456323"/>
              <a:chExt cx="3618116" cy="1104020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31370" y="3098678"/>
                <a:ext cx="361811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惠斯登电桥：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140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微欧</a:t>
                </a:r>
              </a:p>
            </p:txBody>
          </p:sp>
          <p:cxnSp>
            <p:nvCxnSpPr>
              <p:cNvPr id="4" name="直接连接符 3"/>
              <p:cNvCxnSpPr/>
              <p:nvPr/>
            </p:nvCxnSpPr>
            <p:spPr>
              <a:xfrm>
                <a:off x="1371600" y="2456323"/>
                <a:ext cx="0" cy="6278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矩形 46"/>
            <p:cNvSpPr/>
            <p:nvPr/>
          </p:nvSpPr>
          <p:spPr>
            <a:xfrm>
              <a:off x="1010334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1843</a:t>
              </a:r>
              <a:endParaRPr lang="zh-CN" altLang="en-US" sz="2000" b="1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76598" y="2045501"/>
            <a:ext cx="3219382" cy="2495049"/>
            <a:chOff x="876598" y="2045501"/>
            <a:chExt cx="3219382" cy="2495049"/>
          </a:xfrm>
        </p:grpSpPr>
        <p:sp>
          <p:nvSpPr>
            <p:cNvPr id="64" name="矩形 63"/>
            <p:cNvSpPr/>
            <p:nvPr/>
          </p:nvSpPr>
          <p:spPr>
            <a:xfrm>
              <a:off x="1809669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1865</a:t>
              </a:r>
              <a:endParaRPr lang="zh-CN" altLang="en-US" sz="2000" b="1" dirty="0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76598" y="2492350"/>
              <a:ext cx="3219382" cy="2048200"/>
              <a:chOff x="876598" y="2492350"/>
              <a:chExt cx="3219382" cy="204820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876598" y="4078885"/>
                <a:ext cx="31236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开尔文电桥：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微欧</a:t>
                </a: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057400" y="2969940"/>
                <a:ext cx="2038580" cy="1362947"/>
                <a:chOff x="512941" y="2461066"/>
                <a:chExt cx="2038580" cy="1362947"/>
              </a:xfrm>
            </p:grpSpPr>
            <p:cxnSp>
              <p:nvCxnSpPr>
                <p:cNvPr id="58" name="直接连接符 57"/>
                <p:cNvCxnSpPr/>
                <p:nvPr/>
              </p:nvCxnSpPr>
              <p:spPr>
                <a:xfrm flipH="1">
                  <a:off x="512941" y="2461066"/>
                  <a:ext cx="20385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>
                  <a:off x="2277836" y="3824013"/>
                  <a:ext cx="27368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2551521" y="2461066"/>
                  <a:ext cx="0" cy="13629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" name="直接连接符 78"/>
              <p:cNvCxnSpPr/>
              <p:nvPr/>
            </p:nvCxnSpPr>
            <p:spPr>
              <a:xfrm>
                <a:off x="2057400" y="2492350"/>
                <a:ext cx="0" cy="4775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组合 9"/>
          <p:cNvGrpSpPr/>
          <p:nvPr/>
        </p:nvGrpSpPr>
        <p:grpSpPr>
          <a:xfrm>
            <a:off x="725666" y="2492350"/>
            <a:ext cx="3481815" cy="2562158"/>
            <a:chOff x="725666" y="2492350"/>
            <a:chExt cx="3481815" cy="2562158"/>
          </a:xfrm>
        </p:grpSpPr>
        <p:sp>
          <p:nvSpPr>
            <p:cNvPr id="76" name="矩形 75"/>
            <p:cNvSpPr/>
            <p:nvPr/>
          </p:nvSpPr>
          <p:spPr>
            <a:xfrm>
              <a:off x="725666" y="4592843"/>
              <a:ext cx="30376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麦克斯韦电桥</a:t>
              </a: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2168901" y="2492350"/>
              <a:ext cx="2038580" cy="2366872"/>
              <a:chOff x="2164138" y="2492350"/>
              <a:chExt cx="2038580" cy="2366872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2164138" y="3084164"/>
                <a:ext cx="2038580" cy="1775058"/>
                <a:chOff x="1167591" y="2048955"/>
                <a:chExt cx="2038580" cy="1775058"/>
              </a:xfrm>
            </p:grpSpPr>
            <p:cxnSp>
              <p:nvCxnSpPr>
                <p:cNvPr id="67" name="直接连接符 66"/>
                <p:cNvCxnSpPr/>
                <p:nvPr/>
              </p:nvCxnSpPr>
              <p:spPr>
                <a:xfrm flipH="1">
                  <a:off x="1167591" y="2048955"/>
                  <a:ext cx="20385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 flipH="1">
                  <a:off x="2277837" y="3824013"/>
                  <a:ext cx="92576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3203601" y="2048955"/>
                  <a:ext cx="0" cy="177505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直接连接符 79"/>
              <p:cNvCxnSpPr/>
              <p:nvPr/>
            </p:nvCxnSpPr>
            <p:spPr>
              <a:xfrm>
                <a:off x="2167313" y="2492350"/>
                <a:ext cx="0" cy="5918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725666" y="2045501"/>
            <a:ext cx="3590373" cy="3489770"/>
            <a:chOff x="725666" y="2045501"/>
            <a:chExt cx="3590373" cy="3489770"/>
          </a:xfrm>
        </p:grpSpPr>
        <p:sp>
          <p:nvSpPr>
            <p:cNvPr id="77" name="矩形 76"/>
            <p:cNvSpPr/>
            <p:nvPr/>
          </p:nvSpPr>
          <p:spPr>
            <a:xfrm>
              <a:off x="725666" y="5073606"/>
              <a:ext cx="30376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维恩电桥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3165081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1891</a:t>
              </a:r>
              <a:endParaRPr lang="zh-CN" altLang="en-US" sz="2000" b="1" dirty="0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52751" y="2456323"/>
              <a:ext cx="1363288" cy="2875703"/>
              <a:chOff x="2839430" y="2345750"/>
              <a:chExt cx="1363288" cy="2875703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2839430" y="3084164"/>
                <a:ext cx="1363288" cy="2137289"/>
                <a:chOff x="1842883" y="2048955"/>
                <a:chExt cx="1363288" cy="2137289"/>
              </a:xfrm>
            </p:grpSpPr>
            <p:cxnSp>
              <p:nvCxnSpPr>
                <p:cNvPr id="85" name="直接连接符 84"/>
                <p:cNvCxnSpPr/>
                <p:nvPr/>
              </p:nvCxnSpPr>
              <p:spPr>
                <a:xfrm flipH="1">
                  <a:off x="2403778" y="2048955"/>
                  <a:ext cx="80239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 flipH="1">
                  <a:off x="1842883" y="4186244"/>
                  <a:ext cx="136328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3203601" y="2048955"/>
                  <a:ext cx="0" cy="213728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4" name="直接连接符 83"/>
              <p:cNvCxnSpPr/>
              <p:nvPr/>
            </p:nvCxnSpPr>
            <p:spPr>
              <a:xfrm>
                <a:off x="3400325" y="2345750"/>
                <a:ext cx="0" cy="7384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4878896" y="4865826"/>
              <a:ext cx="6490144" cy="105854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4965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35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1E-4 – 99.99999E6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𝛀</m:t>
                              </m:r>
                            </m:oMath>
                          </a14:m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 b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𝛀</m:t>
                              </m:r>
                            </m:oMath>
                          </a14:m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1E-17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9.999999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1E-12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99.99999 H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4878896" y="4865826"/>
              <a:ext cx="6490144" cy="105854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496573"/>
                    <a:gridCol w="2993571"/>
                  </a:tblGrid>
                  <a:tr h="3530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1E-17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9.999999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F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5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1E-12</a:t>
                          </a:r>
                          <a:r>
                            <a:rPr lang="en-US" altLang="zh-CN" sz="1600" b="1" kern="12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– 99.99999 H</a:t>
                          </a:r>
                          <a:endParaRPr lang="zh-CN" altLang="en-US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1.00000E-18 – 999.9999E18 H</a:t>
                          </a:r>
                          <a:endParaRPr lang="en-US" altLang="zh-CN" sz="16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pSp>
        <p:nvGrpSpPr>
          <p:cNvPr id="48" name="组合 47"/>
          <p:cNvGrpSpPr/>
          <p:nvPr/>
        </p:nvGrpSpPr>
        <p:grpSpPr>
          <a:xfrm>
            <a:off x="4856845" y="2045501"/>
            <a:ext cx="6570517" cy="2769452"/>
            <a:chOff x="4856845" y="2045501"/>
            <a:chExt cx="6570517" cy="2769452"/>
          </a:xfrm>
        </p:grpSpPr>
        <p:grpSp>
          <p:nvGrpSpPr>
            <p:cNvPr id="42" name="组合 41"/>
            <p:cNvGrpSpPr/>
            <p:nvPr/>
          </p:nvGrpSpPr>
          <p:grpSpPr>
            <a:xfrm>
              <a:off x="4856845" y="2045501"/>
              <a:ext cx="6570517" cy="2769452"/>
              <a:chOff x="4856845" y="2045501"/>
              <a:chExt cx="6570517" cy="2769452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221943" y="2045501"/>
                <a:ext cx="8258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1940s</a:t>
                </a:r>
                <a:endParaRPr lang="zh-CN" altLang="en-US" sz="2000" b="1" dirty="0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856845" y="2492350"/>
                <a:ext cx="6570517" cy="2322603"/>
                <a:chOff x="4856845" y="2492350"/>
                <a:chExt cx="6570517" cy="2322603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4856845" y="3372695"/>
                  <a:ext cx="6570517" cy="1442258"/>
                  <a:chOff x="4856845" y="3372695"/>
                  <a:chExt cx="6570517" cy="1442258"/>
                </a:xfrm>
              </p:grpSpPr>
              <p:pic>
                <p:nvPicPr>
                  <p:cNvPr id="15" name="图片 14"/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36146" t="40385" r="8333" b="17307"/>
                  <a:stretch>
                    <a:fillRect/>
                  </a:stretch>
                </p:blipFill>
                <p:spPr>
                  <a:xfrm>
                    <a:off x="4856845" y="3372695"/>
                    <a:ext cx="3494199" cy="1442258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pic>
                <p:nvPicPr>
                  <p:cNvPr id="17" name="图片 16"/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23118" t="29380" r="16075" b="16725"/>
                  <a:stretch>
                    <a:fillRect/>
                  </a:stretch>
                </p:blipFill>
                <p:spPr>
                  <a:xfrm>
                    <a:off x="8423323" y="3372695"/>
                    <a:ext cx="3004039" cy="1442258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</p:grpSp>
            <p:grpSp>
              <p:nvGrpSpPr>
                <p:cNvPr id="36" name="组合 35"/>
                <p:cNvGrpSpPr/>
                <p:nvPr/>
              </p:nvGrpSpPr>
              <p:grpSpPr>
                <a:xfrm>
                  <a:off x="4995189" y="2492350"/>
                  <a:ext cx="5872836" cy="796057"/>
                  <a:chOff x="4995189" y="2492350"/>
                  <a:chExt cx="5872836" cy="796057"/>
                </a:xfrm>
              </p:grpSpPr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4995189" y="2492350"/>
                    <a:ext cx="5872836" cy="767074"/>
                    <a:chOff x="4995189" y="2492350"/>
                    <a:chExt cx="5872836" cy="767074"/>
                  </a:xfrm>
                </p:grpSpPr>
                <p:sp>
                  <p:nvSpPr>
                    <p:cNvPr id="89" name="矩形 88"/>
                    <p:cNvSpPr/>
                    <p:nvPr/>
                  </p:nvSpPr>
                  <p:spPr>
                    <a:xfrm>
                      <a:off x="4995189" y="2492350"/>
                      <a:ext cx="5872836" cy="355600"/>
                    </a:xfrm>
                    <a:prstGeom prst="rect">
                      <a:avLst/>
                    </a:prstGeom>
                    <a:gradFill flip="none" rotWithShape="1">
                      <a:gsLst>
                        <a:gs pos="83700">
                          <a:srgbClr val="E9E9E9"/>
                        </a:gs>
                        <a:gs pos="50000">
                          <a:srgbClr val="BABABA"/>
                        </a:gs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bg1">
                            <a:alpha val="40000"/>
                          </a:scheme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32" name="组合 31"/>
                    <p:cNvGrpSpPr/>
                    <p:nvPr/>
                  </p:nvGrpSpPr>
                  <p:grpSpPr>
                    <a:xfrm>
                      <a:off x="4995189" y="2847950"/>
                      <a:ext cx="5872836" cy="411474"/>
                      <a:chOff x="4995189" y="2847950"/>
                      <a:chExt cx="5872836" cy="411474"/>
                    </a:xfrm>
                  </p:grpSpPr>
                  <p:cxnSp>
                    <p:nvCxnSpPr>
                      <p:cNvPr id="95" name="直接连接符 94"/>
                      <p:cNvCxnSpPr/>
                      <p:nvPr/>
                    </p:nvCxnSpPr>
                    <p:spPr>
                      <a:xfrm flipH="1">
                        <a:off x="4995189" y="2847950"/>
                        <a:ext cx="5872836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直接连接符 95"/>
                      <p:cNvCxnSpPr/>
                      <p:nvPr/>
                    </p:nvCxnSpPr>
                    <p:spPr>
                      <a:xfrm flipH="1">
                        <a:off x="7981951" y="3259424"/>
                        <a:ext cx="738187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直接连接符 96"/>
                      <p:cNvCxnSpPr/>
                      <p:nvPr/>
                    </p:nvCxnSpPr>
                    <p:spPr>
                      <a:xfrm>
                        <a:off x="8363752" y="2847950"/>
                        <a:ext cx="0" cy="41147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98" name="矩形 97"/>
                  <p:cNvSpPr/>
                  <p:nvPr/>
                </p:nvSpPr>
                <p:spPr>
                  <a:xfrm>
                    <a:off x="6466865" y="2826742"/>
                    <a:ext cx="3528035" cy="46166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阻抗分析仪（</a:t>
                    </a:r>
                    <a:r>
                      <a:rPr lang="en-US" altLang="zh-CN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LCR</a:t>
                    </a:r>
                    <a:r>
                      <a:rPr lang="zh-CN" altLang="en-US" sz="24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a:t>表）</a:t>
                    </a:r>
                  </a:p>
                </p:txBody>
              </p:sp>
            </p:grpSp>
          </p:grpSp>
        </p:grpSp>
        <p:sp>
          <p:nvSpPr>
            <p:cNvPr id="99" name="矩形 98"/>
            <p:cNvSpPr/>
            <p:nvPr/>
          </p:nvSpPr>
          <p:spPr>
            <a:xfrm>
              <a:off x="10308922" y="204550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如今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34789" y="1977303"/>
            <a:ext cx="8442711" cy="3547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掌握非平衡电桥的工作原理和测量方法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应用非平衡电桥测量金属材料的温阻特性和电阻温度系数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6" name="直接连接符 375"/>
          <p:cNvCxnSpPr/>
          <p:nvPr/>
        </p:nvCxnSpPr>
        <p:spPr>
          <a:xfrm>
            <a:off x="2518899" y="3112014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/>
          <p:cNvCxnSpPr/>
          <p:nvPr/>
        </p:nvCxnSpPr>
        <p:spPr>
          <a:xfrm>
            <a:off x="2518901" y="4358077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706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6</a:t>
            </a:fld>
            <a:endParaRPr lang="zh-CN" altLang="en-US" sz="1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56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0" name="矩形 19"/>
          <p:cNvSpPr/>
          <p:nvPr/>
        </p:nvSpPr>
        <p:spPr>
          <a:xfrm>
            <a:off x="1595647" y="3815931"/>
            <a:ext cx="2808312" cy="133731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1" name="矩形 20"/>
          <p:cNvSpPr/>
          <p:nvPr/>
        </p:nvSpPr>
        <p:spPr>
          <a:xfrm>
            <a:off x="2843385" y="5065813"/>
            <a:ext cx="325272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" name="菱形 21"/>
          <p:cNvSpPr/>
          <p:nvPr/>
        </p:nvSpPr>
        <p:spPr>
          <a:xfrm>
            <a:off x="1920843" y="2982669"/>
            <a:ext cx="2135106" cy="1666524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3" name="椭圆 22"/>
          <p:cNvSpPr/>
          <p:nvPr/>
        </p:nvSpPr>
        <p:spPr>
          <a:xfrm>
            <a:off x="2972016" y="2964669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4" name="椭圆 23"/>
          <p:cNvSpPr/>
          <p:nvPr/>
        </p:nvSpPr>
        <p:spPr>
          <a:xfrm>
            <a:off x="2970636" y="4631193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2987256" y="3003745"/>
            <a:ext cx="1380" cy="1666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2776815" y="3353049"/>
            <a:ext cx="420881" cy="420881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 rot="2280000">
            <a:off x="3335126" y="3322332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9" name="矩形 28"/>
          <p:cNvSpPr/>
          <p:nvPr/>
        </p:nvSpPr>
        <p:spPr>
          <a:xfrm rot="19320000">
            <a:off x="2319510" y="3322332"/>
            <a:ext cx="324000" cy="1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5" name="TextBox 26"/>
          <p:cNvSpPr txBox="1"/>
          <p:nvPr/>
        </p:nvSpPr>
        <p:spPr>
          <a:xfrm>
            <a:off x="2066012" y="3055725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29"/>
          <p:cNvSpPr txBox="1"/>
          <p:nvPr/>
        </p:nvSpPr>
        <p:spPr>
          <a:xfrm>
            <a:off x="2066012" y="4135845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0"/>
          <p:cNvSpPr txBox="1"/>
          <p:nvPr/>
        </p:nvSpPr>
        <p:spPr>
          <a:xfrm>
            <a:off x="3484405" y="3047005"/>
            <a:ext cx="417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1"/>
          <p:cNvSpPr txBox="1"/>
          <p:nvPr/>
        </p:nvSpPr>
        <p:spPr>
          <a:xfrm>
            <a:off x="3527947" y="4127125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941058" y="4073129"/>
            <a:ext cx="104275" cy="970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椭圆 39"/>
          <p:cNvSpPr/>
          <p:nvPr/>
        </p:nvSpPr>
        <p:spPr>
          <a:xfrm>
            <a:off x="2970863" y="4037129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椭圆 40"/>
          <p:cNvSpPr/>
          <p:nvPr/>
        </p:nvSpPr>
        <p:spPr>
          <a:xfrm>
            <a:off x="2972346" y="4166566"/>
            <a:ext cx="36000" cy="36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42" name="直接连接符 41"/>
          <p:cNvCxnSpPr/>
          <p:nvPr/>
        </p:nvCxnSpPr>
        <p:spPr>
          <a:xfrm>
            <a:off x="2923538" y="4034747"/>
            <a:ext cx="0" cy="18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16200000">
            <a:off x="2869538" y="4070497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2117848" y="5048787"/>
            <a:ext cx="253199" cy="180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2110150" y="5004084"/>
            <a:ext cx="253199" cy="15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2990346" y="3082702"/>
            <a:ext cx="0" cy="249087"/>
          </a:xfrm>
          <a:prstGeom prst="straightConnector1">
            <a:avLst/>
          </a:prstGeom>
          <a:ln w="1905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2986894" y="4327189"/>
            <a:ext cx="0" cy="249087"/>
          </a:xfrm>
          <a:prstGeom prst="straightConnector1">
            <a:avLst/>
          </a:prstGeom>
          <a:ln w="2222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26"/>
          <p:cNvSpPr txBox="1"/>
          <p:nvPr/>
        </p:nvSpPr>
        <p:spPr>
          <a:xfrm>
            <a:off x="2959457" y="3719238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000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88869" y="2099071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惠斯登电桥电路图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Box 30"/>
          <p:cNvSpPr txBox="1"/>
          <p:nvPr/>
        </p:nvSpPr>
        <p:spPr>
          <a:xfrm>
            <a:off x="2800074" y="5132414"/>
            <a:ext cx="3524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/>
              <p:cNvSpPr/>
              <p:nvPr/>
            </p:nvSpPr>
            <p:spPr>
              <a:xfrm>
                <a:off x="6647700" y="2413482"/>
                <a:ext cx="256275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电桥平衡：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700" y="2413482"/>
                <a:ext cx="2562753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0" t="-104" r="16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/>
              <p:cNvSpPr/>
              <p:nvPr/>
            </p:nvSpPr>
            <p:spPr>
              <a:xfrm>
                <a:off x="6887653" y="2910350"/>
                <a:ext cx="2974276" cy="844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653" y="2910350"/>
                <a:ext cx="2974276" cy="844205"/>
              </a:xfrm>
              <a:prstGeom prst="rect">
                <a:avLst/>
              </a:prstGeom>
              <a:blipFill rotWithShape="1">
                <a:blip r:embed="rId4"/>
                <a:stretch>
                  <a:fillRect l="-15" t="-17" r="-478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312442" y="4097522"/>
            <a:ext cx="13589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椭圆 1"/>
          <p:cNvSpPr/>
          <p:nvPr/>
        </p:nvSpPr>
        <p:spPr>
          <a:xfrm>
            <a:off x="2804638" y="5117748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2" name="椭圆 71"/>
          <p:cNvSpPr/>
          <p:nvPr/>
        </p:nvSpPr>
        <p:spPr>
          <a:xfrm>
            <a:off x="3103088" y="5117748"/>
            <a:ext cx="72000" cy="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等腰三角形 2"/>
          <p:cNvSpPr/>
          <p:nvPr/>
        </p:nvSpPr>
        <p:spPr>
          <a:xfrm>
            <a:off x="8012066" y="3785839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" name="矩形 3"/>
          <p:cNvSpPr/>
          <p:nvPr/>
        </p:nvSpPr>
        <p:spPr>
          <a:xfrm>
            <a:off x="6070322" y="3947160"/>
            <a:ext cx="4031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待测电阻 </a:t>
            </a:r>
            <a:r>
              <a:rPr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比率</a:t>
            </a:r>
            <a:r>
              <a:rPr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比较电阻</a:t>
            </a:r>
            <a:endParaRPr lang="zh-CN" altLang="en-US" sz="20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3482646" y="4039889"/>
            <a:ext cx="0" cy="396603"/>
          </a:xfrm>
          <a:prstGeom prst="straightConnector1">
            <a:avLst/>
          </a:prstGeom>
          <a:ln w="190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等腰三角形 67"/>
          <p:cNvSpPr/>
          <p:nvPr/>
        </p:nvSpPr>
        <p:spPr>
          <a:xfrm>
            <a:off x="9454817" y="3783142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9" name="等腰三角形 68"/>
          <p:cNvSpPr/>
          <p:nvPr/>
        </p:nvSpPr>
        <p:spPr>
          <a:xfrm>
            <a:off x="7108761" y="3785838"/>
            <a:ext cx="152704" cy="13566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8</a:t>
            </a:fld>
            <a:endParaRPr lang="zh-CN" altLang="en-US" sz="1400" b="1" dirty="0"/>
          </a:p>
        </p:txBody>
      </p:sp>
      <p:sp>
        <p:nvSpPr>
          <p:cNvPr id="118" name="Text Box 168"/>
          <p:cNvSpPr txBox="1">
            <a:spLocks noChangeArrowheads="1"/>
          </p:cNvSpPr>
          <p:nvPr/>
        </p:nvSpPr>
        <p:spPr bwMode="auto">
          <a:xfrm>
            <a:off x="4947024" y="4555022"/>
            <a:ext cx="6435491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为比率臂，</a:t>
            </a:r>
            <a:r>
              <a:rPr lang="en-US" altLang="zh-CN" sz="24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为电桥倍率，</a:t>
            </a:r>
            <a:r>
              <a:rPr lang="en-US" altLang="zh-CN" sz="24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Rs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为比较臂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6199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9</a:t>
            </a:fld>
            <a:endParaRPr lang="zh-CN" altLang="en-US" sz="14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709684" y="1586323"/>
            <a:ext cx="10317708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平衡电桥一般用来测量相对稳定的物理量，而在实际工程中和科学实验中物理量往往是连续变化的。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这些变化的物理量怎么测量？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683" y="3122348"/>
            <a:ext cx="3233666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采用非平衡电桥</a:t>
            </a:r>
            <a:r>
              <a:rPr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09682" y="4002016"/>
            <a:ext cx="10699845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某些传感器元件受外界环境（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压力、温度、形变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）变化引起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内阻的变化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，通过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非平衡电桥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可将阻值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转化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电压输出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，从而达到测量、控制环境变化的目的。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1009081" y="4412211"/>
            <a:ext cx="53534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用非平衡电桥测量电阻时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保持不变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（即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）变化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变化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56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10</a:t>
            </a:fld>
            <a:endParaRPr lang="zh-CN" altLang="en-US" sz="1400" b="1" dirty="0"/>
          </a:p>
        </p:txBody>
      </p:sp>
      <p:sp>
        <p:nvSpPr>
          <p:cNvPr id="56" name="右箭头 55"/>
          <p:cNvSpPr/>
          <p:nvPr/>
        </p:nvSpPr>
        <p:spPr>
          <a:xfrm>
            <a:off x="4709913" y="2647666"/>
            <a:ext cx="2101754" cy="42308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4875058" y="2321885"/>
          <a:ext cx="1739854" cy="43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945600" imgH="5486400" progId="Equation.3">
                  <p:embed/>
                </p:oleObj>
              </mc:Choice>
              <mc:Fallback>
                <p:oleObj name="公式" r:id="rId3" imgW="21945600" imgH="5486400" progId="Equation.3">
                  <p:embed/>
                  <p:pic>
                    <p:nvPicPr>
                      <p:cNvPr id="0" name="图片 6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5058" y="2321885"/>
                        <a:ext cx="1739854" cy="434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781187" y="5039491"/>
            <a:ext cx="4001113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检测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从而测得</a:t>
            </a:r>
            <a:r>
              <a:rPr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210050" y="5976883"/>
            <a:ext cx="476250" cy="22706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143000" y="1578610"/>
            <a:ext cx="3712845" cy="2774950"/>
            <a:chOff x="1800" y="2486"/>
            <a:chExt cx="5847" cy="4370"/>
          </a:xfrm>
        </p:grpSpPr>
        <p:sp>
          <p:nvSpPr>
            <p:cNvPr id="26" name="文本框 25"/>
            <p:cNvSpPr txBox="1"/>
            <p:nvPr/>
          </p:nvSpPr>
          <p:spPr>
            <a:xfrm>
              <a:off x="6747" y="4012"/>
              <a:ext cx="900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rPr>
                <a:t>C</a:t>
              </a:r>
              <a:endPara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800" y="2486"/>
              <a:ext cx="5475" cy="4370"/>
              <a:chOff x="1800" y="2486"/>
              <a:chExt cx="5475" cy="4370"/>
            </a:xfrm>
          </p:grpSpPr>
          <p:sp>
            <p:nvSpPr>
              <p:cNvPr id="28" name="矩形 27"/>
              <p:cNvSpPr/>
              <p:nvPr/>
            </p:nvSpPr>
            <p:spPr>
              <a:xfrm rot="19860000">
                <a:off x="2970" y="3585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 rot="19860000">
                <a:off x="5301" y="4923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 rot="1800000">
                <a:off x="5269" y="3564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 rot="1800000">
                <a:off x="2922" y="4899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760" y="3096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1</a:t>
                </a: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88" y="4977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2</a:t>
                </a: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675" y="3087"/>
                <a:ext cx="160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4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=</a:t>
                </a:r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x</a:t>
                </a:r>
                <a:endParaRPr lang="en-US" altLang="zh-CN" sz="2000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cxnSp>
            <p:nvCxnSpPr>
              <p:cNvPr id="35" name="直接连接符 34"/>
              <p:cNvCxnSpPr>
                <a:endCxn id="30" idx="1"/>
              </p:cNvCxnSpPr>
              <p:nvPr/>
            </p:nvCxnSpPr>
            <p:spPr>
              <a:xfrm>
                <a:off x="4548" y="3034"/>
                <a:ext cx="782" cy="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6112" y="3922"/>
                <a:ext cx="782" cy="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3781" y="5259"/>
                <a:ext cx="782" cy="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2241" y="4386"/>
                <a:ext cx="731" cy="3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>
                <a:endCxn id="29" idx="1"/>
              </p:cNvCxnSpPr>
              <p:nvPr/>
            </p:nvCxnSpPr>
            <p:spPr>
              <a:xfrm flipV="1">
                <a:off x="4563" y="5256"/>
                <a:ext cx="795" cy="40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6142" y="4371"/>
                <a:ext cx="712" cy="42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V="1">
                <a:off x="3825" y="3028"/>
                <a:ext cx="712" cy="42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V="1">
                <a:off x="2241" y="3910"/>
                <a:ext cx="761" cy="4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flipV="1">
                <a:off x="2241" y="4371"/>
                <a:ext cx="22" cy="22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V="1">
                <a:off x="6846" y="4356"/>
                <a:ext cx="22" cy="22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5" name="椭圆 44"/>
              <p:cNvSpPr/>
              <p:nvPr/>
            </p:nvSpPr>
            <p:spPr>
              <a:xfrm>
                <a:off x="4246" y="4058"/>
                <a:ext cx="567" cy="56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 flipH="1" flipV="1">
                <a:off x="4525" y="3019"/>
                <a:ext cx="10" cy="101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 flipV="1">
                <a:off x="4535" y="4646"/>
                <a:ext cx="10" cy="101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4343" y="2486"/>
                <a:ext cx="90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B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800" y="4066"/>
                <a:ext cx="90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A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4253" y="5605"/>
                <a:ext cx="90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D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3095" y="5850"/>
                <a:ext cx="90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K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198" y="5770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E</a:t>
                </a:r>
              </a:p>
            </p:txBody>
          </p:sp>
          <p:cxnSp>
            <p:nvCxnSpPr>
              <p:cNvPr id="53" name="直接连接符 52"/>
              <p:cNvCxnSpPr/>
              <p:nvPr/>
            </p:nvCxnSpPr>
            <p:spPr>
              <a:xfrm flipH="1">
                <a:off x="2248" y="6598"/>
                <a:ext cx="90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 flipV="1">
                <a:off x="3734" y="6598"/>
                <a:ext cx="1498" cy="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213" y="6383"/>
                <a:ext cx="8" cy="4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330" y="6443"/>
                <a:ext cx="8" cy="2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5458" y="6373"/>
                <a:ext cx="8" cy="4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5575" y="6433"/>
                <a:ext cx="8" cy="2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5718" y="6363"/>
                <a:ext cx="8" cy="4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5835" y="6438"/>
                <a:ext cx="8" cy="2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flipH="1">
                <a:off x="5819" y="6598"/>
                <a:ext cx="10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3246" y="6311"/>
                <a:ext cx="379" cy="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8" name="椭圆 67"/>
              <p:cNvSpPr/>
              <p:nvPr/>
            </p:nvSpPr>
            <p:spPr>
              <a:xfrm>
                <a:off x="3623" y="6545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3156" y="6545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644" y="5064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3</a:t>
                </a:r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6800850" y="1496060"/>
            <a:ext cx="4227830" cy="3103880"/>
            <a:chOff x="10710" y="2356"/>
            <a:chExt cx="6658" cy="4888"/>
          </a:xfrm>
        </p:grpSpPr>
        <p:grpSp>
          <p:nvGrpSpPr>
            <p:cNvPr id="72" name="组合 71"/>
            <p:cNvGrpSpPr/>
            <p:nvPr/>
          </p:nvGrpSpPr>
          <p:grpSpPr>
            <a:xfrm>
              <a:off x="10710" y="2356"/>
              <a:ext cx="6658" cy="4888"/>
              <a:chOff x="10710" y="2356"/>
              <a:chExt cx="6658" cy="4888"/>
            </a:xfrm>
          </p:grpSpPr>
          <p:grpSp>
            <p:nvGrpSpPr>
              <p:cNvPr id="74" name="组合 73"/>
              <p:cNvGrpSpPr/>
              <p:nvPr/>
            </p:nvGrpSpPr>
            <p:grpSpPr>
              <a:xfrm>
                <a:off x="10710" y="2356"/>
                <a:ext cx="5475" cy="4888"/>
                <a:chOff x="1800" y="2533"/>
                <a:chExt cx="5475" cy="4888"/>
              </a:xfrm>
            </p:grpSpPr>
            <p:sp>
              <p:nvSpPr>
                <p:cNvPr id="86" name="矩形 85"/>
                <p:cNvSpPr/>
                <p:nvPr/>
              </p:nvSpPr>
              <p:spPr>
                <a:xfrm rot="19860000">
                  <a:off x="2970" y="3585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 rot="19860000">
                  <a:off x="5301" y="4923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 rot="1800000">
                  <a:off x="5269" y="3564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 rot="1800000">
                  <a:off x="2922" y="4899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2760" y="3096"/>
                  <a:ext cx="125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1</a:t>
                  </a: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2888" y="4977"/>
                  <a:ext cx="125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2</a:t>
                  </a: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5675" y="3087"/>
                  <a:ext cx="16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4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=</a:t>
                  </a:r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i="1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x</a:t>
                  </a:r>
                  <a:endPara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cxnSp>
              <p:nvCxnSpPr>
                <p:cNvPr id="93" name="直接连接符 92"/>
                <p:cNvCxnSpPr>
                  <a:endCxn id="88" idx="1"/>
                </p:cNvCxnSpPr>
                <p:nvPr/>
              </p:nvCxnSpPr>
              <p:spPr>
                <a:xfrm>
                  <a:off x="4548" y="3034"/>
                  <a:ext cx="782" cy="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>
                  <a:off x="6112" y="3907"/>
                  <a:ext cx="740" cy="4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>
                  <a:off x="3781" y="5259"/>
                  <a:ext cx="782" cy="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>
                  <a:off x="2241" y="4386"/>
                  <a:ext cx="731" cy="3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/>
                <p:cNvCxnSpPr>
                  <a:endCxn id="87" idx="1"/>
                </p:cNvCxnSpPr>
                <p:nvPr/>
              </p:nvCxnSpPr>
              <p:spPr>
                <a:xfrm flipV="1">
                  <a:off x="4563" y="5256"/>
                  <a:ext cx="795" cy="40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 flipV="1">
                  <a:off x="6142" y="4371"/>
                  <a:ext cx="712" cy="4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 flipV="1">
                  <a:off x="3825" y="3028"/>
                  <a:ext cx="712" cy="4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 flipV="1">
                  <a:off x="2241" y="3910"/>
                  <a:ext cx="761" cy="4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/>
                <p:cNvCxnSpPr/>
                <p:nvPr/>
              </p:nvCxnSpPr>
              <p:spPr>
                <a:xfrm flipV="1">
                  <a:off x="2241" y="4371"/>
                  <a:ext cx="22" cy="222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/>
                <p:cNvCxnSpPr/>
                <p:nvPr/>
              </p:nvCxnSpPr>
              <p:spPr>
                <a:xfrm flipV="1">
                  <a:off x="6846" y="4356"/>
                  <a:ext cx="22" cy="222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>
                  <a:stCxn id="75" idx="3"/>
                </p:cNvCxnSpPr>
                <p:nvPr/>
              </p:nvCxnSpPr>
              <p:spPr>
                <a:xfrm flipV="1">
                  <a:off x="4542" y="2672"/>
                  <a:ext cx="19" cy="131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>
                  <a:endCxn id="75" idx="1"/>
                </p:cNvCxnSpPr>
                <p:nvPr/>
              </p:nvCxnSpPr>
              <p:spPr>
                <a:xfrm flipH="1" flipV="1">
                  <a:off x="4542" y="4898"/>
                  <a:ext cx="3" cy="114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05" name="文本框 104"/>
                <p:cNvSpPr txBox="1"/>
                <p:nvPr/>
              </p:nvSpPr>
              <p:spPr>
                <a:xfrm>
                  <a:off x="3995" y="2533"/>
                  <a:ext cx="9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B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106" name="文本框 105"/>
                <p:cNvSpPr txBox="1"/>
                <p:nvPr/>
              </p:nvSpPr>
              <p:spPr>
                <a:xfrm>
                  <a:off x="1800" y="4066"/>
                  <a:ext cx="9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A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107" name="文本框 106"/>
                <p:cNvSpPr txBox="1"/>
                <p:nvPr/>
              </p:nvSpPr>
              <p:spPr>
                <a:xfrm>
                  <a:off x="4073" y="5605"/>
                  <a:ext cx="9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D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3095" y="5850"/>
                  <a:ext cx="90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K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109" name="文本框 108"/>
                <p:cNvSpPr txBox="1"/>
                <p:nvPr/>
              </p:nvSpPr>
              <p:spPr>
                <a:xfrm>
                  <a:off x="5213" y="6793"/>
                  <a:ext cx="125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E</a:t>
                  </a:r>
                </a:p>
              </p:txBody>
            </p:sp>
            <p:cxnSp>
              <p:nvCxnSpPr>
                <p:cNvPr id="110" name="直接连接符 109"/>
                <p:cNvCxnSpPr/>
                <p:nvPr/>
              </p:nvCxnSpPr>
              <p:spPr>
                <a:xfrm flipH="1">
                  <a:off x="2248" y="6598"/>
                  <a:ext cx="90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 flipH="1" flipV="1">
                  <a:off x="3734" y="6598"/>
                  <a:ext cx="1498" cy="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>
                  <a:off x="5213" y="638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5330" y="6443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5458" y="637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5575" y="6463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5718" y="636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5835" y="6453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/>
                <p:cNvCxnSpPr/>
                <p:nvPr/>
              </p:nvCxnSpPr>
              <p:spPr>
                <a:xfrm flipH="1">
                  <a:off x="5819" y="6598"/>
                  <a:ext cx="104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 flipH="1">
                  <a:off x="3246" y="6311"/>
                  <a:ext cx="379" cy="25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20" name="椭圆 119"/>
                <p:cNvSpPr/>
                <p:nvPr/>
              </p:nvSpPr>
              <p:spPr>
                <a:xfrm>
                  <a:off x="3623" y="6545"/>
                  <a:ext cx="113" cy="113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1" name="椭圆 120"/>
                <p:cNvSpPr/>
                <p:nvPr/>
              </p:nvSpPr>
              <p:spPr>
                <a:xfrm>
                  <a:off x="3156" y="6545"/>
                  <a:ext cx="113" cy="113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5644" y="5064"/>
                  <a:ext cx="125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3</a:t>
                  </a:r>
                </a:p>
              </p:txBody>
            </p:sp>
          </p:grpSp>
          <p:sp>
            <p:nvSpPr>
              <p:cNvPr id="75" name="矩形 74"/>
              <p:cNvSpPr/>
              <p:nvPr/>
            </p:nvSpPr>
            <p:spPr>
              <a:xfrm rot="16200000">
                <a:off x="12998" y="4154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3560" y="3964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g</a:t>
                </a: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12815" y="4446"/>
                <a:ext cx="1250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I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g</a:t>
                </a:r>
              </a:p>
            </p:txBody>
          </p:sp>
          <p:cxnSp>
            <p:nvCxnSpPr>
              <p:cNvPr id="78" name="直接连接符 77"/>
              <p:cNvCxnSpPr/>
              <p:nvPr/>
            </p:nvCxnSpPr>
            <p:spPr>
              <a:xfrm flipH="1">
                <a:off x="13473" y="5800"/>
                <a:ext cx="3451" cy="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flipH="1">
                <a:off x="13469" y="2486"/>
                <a:ext cx="3451" cy="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flipH="1">
                <a:off x="16908" y="4572"/>
                <a:ext cx="4" cy="12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H="1">
                <a:off x="16904" y="2469"/>
                <a:ext cx="4" cy="12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2" name="椭圆 81"/>
              <p:cNvSpPr/>
              <p:nvPr/>
            </p:nvSpPr>
            <p:spPr>
              <a:xfrm>
                <a:off x="16856" y="3731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16841" y="4494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16594" y="3874"/>
                <a:ext cx="774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U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cxnSp>
            <p:nvCxnSpPr>
              <p:cNvPr id="85" name="直接箭头连接符 84"/>
              <p:cNvCxnSpPr/>
              <p:nvPr/>
            </p:nvCxnSpPr>
            <p:spPr>
              <a:xfrm>
                <a:off x="13338" y="4830"/>
                <a:ext cx="0" cy="52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/>
            <p:cNvSpPr txBox="1"/>
            <p:nvPr/>
          </p:nvSpPr>
          <p:spPr>
            <a:xfrm>
              <a:off x="15664" y="3819"/>
              <a:ext cx="900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rPr>
                <a:t>C</a:t>
              </a:r>
              <a:endPara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6" grpId="0" animBg="1"/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6199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11</a:t>
            </a:fld>
            <a:endParaRPr lang="zh-CN" altLang="en-US" sz="1400" b="1" dirty="0"/>
          </a:p>
        </p:txBody>
      </p:sp>
      <p:sp>
        <p:nvSpPr>
          <p:cNvPr id="83" name="矩形 82"/>
          <p:cNvSpPr/>
          <p:nvPr/>
        </p:nvSpPr>
        <p:spPr>
          <a:xfrm>
            <a:off x="655092" y="1139365"/>
            <a:ext cx="1075443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当负载电阻</a:t>
            </a:r>
            <a:r>
              <a:rPr lang="en-US" altLang="zh-CN" sz="2200" b="1" i="1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200" b="1" i="1" baseline="-250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200" b="1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→∞</a:t>
            </a:r>
            <a:r>
              <a:rPr lang="zh-CN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2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，输出电压用</a:t>
            </a:r>
            <a:r>
              <a:rPr lang="en-US" altLang="zh-CN" sz="2200" b="1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endParaRPr lang="zh-CN" altLang="en-US" sz="22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/>
              <p:cNvSpPr/>
              <p:nvPr/>
            </p:nvSpPr>
            <p:spPr>
              <a:xfrm>
                <a:off x="655092" y="3976644"/>
                <a:ext cx="10799014" cy="2799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当满足条件</a:t>
                </a:r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时，电桥输出</a:t>
                </a:r>
                <a:r>
                  <a:rPr lang="en-US" altLang="zh-CN" sz="2200" b="1" i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U=0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，即电桥处于</a:t>
                </a:r>
                <a:r>
                  <a:rPr lang="zh-CN" altLang="zh-CN" sz="2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平衡状态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zh-CN" sz="22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若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待测电阻</a:t>
                </a:r>
                <a:r>
                  <a:rPr lang="en-US" altLang="zh-CN" sz="2200" b="1" i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200" b="1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x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变为</a:t>
                </a:r>
                <a:r>
                  <a:rPr lang="en-US" altLang="zh-CN" sz="2200" b="1" i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200" b="1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x</a:t>
                </a:r>
                <a:r>
                  <a:rPr lang="en-US" altLang="zh-CN" sz="2200" b="1" i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+△R</a:t>
                </a:r>
                <a:r>
                  <a:rPr lang="en-US" altLang="zh-CN" sz="2200" b="1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x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时，电桥</a:t>
                </a:r>
                <a:r>
                  <a:rPr lang="zh-CN" altLang="zh-CN" sz="2200" b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不再平衡</a:t>
                </a:r>
                <a:r>
                  <a:rPr lang="zh-CN" altLang="zh-CN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而产生输出电压</a:t>
                </a:r>
                <a:r>
                  <a:rPr lang="zh-CN" altLang="en-US" sz="22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：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可以由</a:t>
                </a:r>
                <a:r>
                  <a:rPr lang="en-US" altLang="zh-CN" sz="2200" b="1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U </a:t>
                </a:r>
                <a:r>
                  <a:rPr lang="zh-CN" altLang="en-US" sz="2200" b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值得到电阻</a:t>
                </a:r>
                <a:r>
                  <a:rPr lang="en-US" altLang="zh-CN" sz="2200" b="1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R</a:t>
                </a:r>
                <a:r>
                  <a:rPr lang="en-US" altLang="zh-CN" sz="2200" b="1" i="1" baseline="-25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200" b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变化值</a:t>
                </a:r>
                <a:r>
                  <a:rPr lang="el-GR" altLang="zh-CN" sz="2200" b="1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Δ</a:t>
                </a:r>
                <a:r>
                  <a:rPr lang="en-US" altLang="zh-CN" sz="2200" b="1" i="1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R</a:t>
                </a:r>
                <a:r>
                  <a:rPr lang="en-US" altLang="zh-CN" sz="2200" b="1" i="1" baseline="-25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  <a:sym typeface="+mn-ea"/>
                  </a:rPr>
                  <a:t>x</a:t>
                </a:r>
                <a:endParaRPr lang="en-US" altLang="zh-CN" sz="22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宋体" panose="02010600030101010101" pitchFamily="2" charset="-12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6" name="矩形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92" y="3976644"/>
                <a:ext cx="10799014" cy="2799715"/>
              </a:xfrm>
              <a:prstGeom prst="rect">
                <a:avLst/>
              </a:prstGeom>
              <a:blipFill rotWithShape="1">
                <a:blip r:embed="rId3"/>
                <a:stretch>
                  <a:fillRect l="-4" t="-10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7336155" y="1092835"/>
            <a:ext cx="3884295" cy="2884290"/>
            <a:chOff x="10710" y="2356"/>
            <a:chExt cx="6658" cy="4943"/>
          </a:xfrm>
        </p:grpSpPr>
        <p:grpSp>
          <p:nvGrpSpPr>
            <p:cNvPr id="26" name="组合 25"/>
            <p:cNvGrpSpPr/>
            <p:nvPr/>
          </p:nvGrpSpPr>
          <p:grpSpPr>
            <a:xfrm>
              <a:off x="10710" y="2356"/>
              <a:ext cx="6658" cy="4943"/>
              <a:chOff x="10710" y="2356"/>
              <a:chExt cx="6658" cy="4943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0710" y="2356"/>
                <a:ext cx="5475" cy="4943"/>
                <a:chOff x="1800" y="2533"/>
                <a:chExt cx="5475" cy="4943"/>
              </a:xfrm>
            </p:grpSpPr>
            <p:sp>
              <p:nvSpPr>
                <p:cNvPr id="40" name="矩形 39"/>
                <p:cNvSpPr/>
                <p:nvPr/>
              </p:nvSpPr>
              <p:spPr>
                <a:xfrm rot="19860000">
                  <a:off x="2970" y="3585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 rot="19860000">
                  <a:off x="5301" y="4923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 rot="1800000">
                  <a:off x="5269" y="3564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 rot="1800000">
                  <a:off x="2922" y="4899"/>
                  <a:ext cx="907" cy="22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2760" y="3096"/>
                  <a:ext cx="125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1</a:t>
                  </a:r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2888" y="4977"/>
                  <a:ext cx="125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5675" y="3087"/>
                  <a:ext cx="160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4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=</a:t>
                  </a:r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i="1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x</a:t>
                  </a:r>
                  <a:endPara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cxnSp>
              <p:nvCxnSpPr>
                <p:cNvPr id="47" name="直接连接符 46"/>
                <p:cNvCxnSpPr>
                  <a:endCxn id="42" idx="1"/>
                </p:cNvCxnSpPr>
                <p:nvPr/>
              </p:nvCxnSpPr>
              <p:spPr>
                <a:xfrm>
                  <a:off x="4548" y="3034"/>
                  <a:ext cx="782" cy="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6112" y="3907"/>
                  <a:ext cx="740" cy="4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>
                  <a:off x="3781" y="5259"/>
                  <a:ext cx="782" cy="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2241" y="4386"/>
                  <a:ext cx="731" cy="3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>
                  <a:endCxn id="41" idx="1"/>
                </p:cNvCxnSpPr>
                <p:nvPr/>
              </p:nvCxnSpPr>
              <p:spPr>
                <a:xfrm flipV="1">
                  <a:off x="4563" y="5256"/>
                  <a:ext cx="795" cy="40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/>
                <p:nvPr/>
              </p:nvCxnSpPr>
              <p:spPr>
                <a:xfrm flipV="1">
                  <a:off x="6142" y="4371"/>
                  <a:ext cx="712" cy="4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/>
                <p:nvPr/>
              </p:nvCxnSpPr>
              <p:spPr>
                <a:xfrm flipV="1">
                  <a:off x="3825" y="3028"/>
                  <a:ext cx="712" cy="4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 flipV="1">
                  <a:off x="2241" y="3910"/>
                  <a:ext cx="761" cy="4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 flipV="1">
                  <a:off x="2241" y="4371"/>
                  <a:ext cx="22" cy="222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flipV="1">
                  <a:off x="6846" y="4356"/>
                  <a:ext cx="22" cy="222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>
                  <a:stCxn id="29" idx="3"/>
                </p:cNvCxnSpPr>
                <p:nvPr/>
              </p:nvCxnSpPr>
              <p:spPr>
                <a:xfrm flipV="1">
                  <a:off x="4542" y="2672"/>
                  <a:ext cx="19" cy="131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>
                  <a:endCxn id="29" idx="1"/>
                </p:cNvCxnSpPr>
                <p:nvPr/>
              </p:nvCxnSpPr>
              <p:spPr>
                <a:xfrm flipH="1" flipV="1">
                  <a:off x="4542" y="4898"/>
                  <a:ext cx="3" cy="114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9" name="文本框 58"/>
                <p:cNvSpPr txBox="1"/>
                <p:nvPr/>
              </p:nvSpPr>
              <p:spPr>
                <a:xfrm>
                  <a:off x="3995" y="2533"/>
                  <a:ext cx="90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B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1800" y="4066"/>
                  <a:ext cx="90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A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4073" y="5605"/>
                  <a:ext cx="90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D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3095" y="5850"/>
                  <a:ext cx="90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K</a:t>
                  </a:r>
                  <a:endParaRPr lang="en-US" altLang="zh-CN" sz="200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5213" y="6793"/>
                  <a:ext cx="125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E</a:t>
                  </a:r>
                </a:p>
              </p:txBody>
            </p:sp>
            <p:cxnSp>
              <p:nvCxnSpPr>
                <p:cNvPr id="64" name="直接连接符 63"/>
                <p:cNvCxnSpPr/>
                <p:nvPr/>
              </p:nvCxnSpPr>
              <p:spPr>
                <a:xfrm flipH="1">
                  <a:off x="2248" y="6598"/>
                  <a:ext cx="90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 flipH="1" flipV="1">
                  <a:off x="3734" y="6598"/>
                  <a:ext cx="1498" cy="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>
                  <a:off x="5213" y="638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5330" y="6458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>
                  <a:off x="5458" y="637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5575" y="6463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5718" y="6363"/>
                  <a:ext cx="8" cy="4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>
                  <a:off x="5835" y="6438"/>
                  <a:ext cx="8" cy="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 flipH="1">
                  <a:off x="5819" y="6598"/>
                  <a:ext cx="104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 flipH="1">
                  <a:off x="3246" y="6311"/>
                  <a:ext cx="379" cy="25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74" name="椭圆 73"/>
                <p:cNvSpPr/>
                <p:nvPr/>
              </p:nvSpPr>
              <p:spPr>
                <a:xfrm>
                  <a:off x="3623" y="6545"/>
                  <a:ext cx="113" cy="113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3156" y="6545"/>
                  <a:ext cx="113" cy="113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5644" y="5064"/>
                  <a:ext cx="1250" cy="6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en-US" altLang="zh-CN" sz="2000" i="1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R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  <a:sym typeface="+mn-ea"/>
                    </a:rPr>
                    <a:t>3</a:t>
                  </a:r>
                </a:p>
              </p:txBody>
            </p:sp>
          </p:grpSp>
          <p:sp>
            <p:nvSpPr>
              <p:cNvPr id="29" name="矩形 28"/>
              <p:cNvSpPr/>
              <p:nvPr/>
            </p:nvSpPr>
            <p:spPr>
              <a:xfrm rot="16200000">
                <a:off x="12998" y="4154"/>
                <a:ext cx="907" cy="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3560" y="3964"/>
                <a:ext cx="1250" cy="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g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2815" y="4446"/>
                <a:ext cx="1250" cy="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I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g</a:t>
                </a: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 flipH="1">
                <a:off x="13473" y="5800"/>
                <a:ext cx="3451" cy="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>
                <a:off x="13469" y="2486"/>
                <a:ext cx="3451" cy="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16908" y="4572"/>
                <a:ext cx="4" cy="12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H="1">
                <a:off x="16904" y="2469"/>
                <a:ext cx="4" cy="12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椭圆 35"/>
              <p:cNvSpPr/>
              <p:nvPr/>
            </p:nvSpPr>
            <p:spPr>
              <a:xfrm>
                <a:off x="16856" y="3731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6841" y="4494"/>
                <a:ext cx="113" cy="11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6594" y="3874"/>
                <a:ext cx="774" cy="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U</a:t>
                </a:r>
                <a:endParaRPr lang="en-US" altLang="zh-CN" sz="2000" baseline="-25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cxnSp>
            <p:nvCxnSpPr>
              <p:cNvPr id="39" name="直接箭头连接符 38"/>
              <p:cNvCxnSpPr/>
              <p:nvPr/>
            </p:nvCxnSpPr>
            <p:spPr>
              <a:xfrm>
                <a:off x="13338" y="4830"/>
                <a:ext cx="0" cy="52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/>
            <p:cNvSpPr txBox="1"/>
            <p:nvPr/>
          </p:nvSpPr>
          <p:spPr>
            <a:xfrm>
              <a:off x="15664" y="3819"/>
              <a:ext cx="900" cy="6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+mn-ea"/>
                </a:rPr>
                <a:t>C</a:t>
              </a:r>
              <a:endPara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73175" y="1641475"/>
                <a:ext cx="5782945" cy="11480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𝐸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175" y="1641475"/>
                <a:ext cx="5782945" cy="1148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136900" y="2789555"/>
                <a:ext cx="4027805" cy="838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00" y="2789555"/>
                <a:ext cx="4027805" cy="8382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228340" y="5064125"/>
                <a:ext cx="5191760" cy="11480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+∆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340" y="5064125"/>
                <a:ext cx="5191760" cy="11480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1504950" y="1936999"/>
            <a:ext cx="7924800" cy="323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金属电阻随温度变化的特性：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高温（线性）：电子声子相互作用主导</a:t>
            </a:r>
          </a:p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低温（幂次）：电声、电电、轨道电子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室温下，温度变化不大时，金属温阻表现为线性：</a:t>
            </a:r>
            <a:endParaRPr lang="zh-CN" altLang="en-US" sz="2400" dirty="0">
              <a:solidFill>
                <a:srgbClr val="2A3D7A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164" name="Picture 68" descr="File:Resistivity Cu-Ag-Au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765" y="2436817"/>
            <a:ext cx="3321803" cy="2171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6199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12</a:t>
            </a:fld>
            <a:endParaRPr lang="zh-CN" altLang="en-US" sz="1400" b="1" dirty="0"/>
          </a:p>
        </p:txBody>
      </p:sp>
      <p:sp>
        <p:nvSpPr>
          <p:cNvPr id="107" name="矩形 106"/>
          <p:cNvSpPr/>
          <p:nvPr/>
        </p:nvSpPr>
        <p:spPr>
          <a:xfrm>
            <a:off x="4226781" y="1261379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金属电阻与温度系数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005264" y="5807907"/>
                <a:ext cx="7001468" cy="4635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为变温电阻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时的阻值，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/>
                      </a:rPr>
                      <m:t>𝛼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为温度系数（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/>
                        <a:ea typeface="宋体" panose="02010600030101010101" pitchFamily="2" charset="-122"/>
                      </a:rPr>
                      <m:t>Ω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宋体" panose="02010600030101010101" pitchFamily="2" charset="-122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/>
                        <a:ea typeface="宋体" panose="02010600030101010101" pitchFamily="2" charset="-122"/>
                      </a:rPr>
                      <m:t>K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64" y="5807907"/>
                <a:ext cx="7001468" cy="463525"/>
              </a:xfrm>
              <a:prstGeom prst="rect">
                <a:avLst/>
              </a:prstGeom>
              <a:blipFill rotWithShape="1">
                <a:blip r:embed="rId4"/>
                <a:stretch>
                  <a:fillRect l="-8" t="-43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9340284" y="4599491"/>
            <a:ext cx="19639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来源：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wikipedia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623435" y="5283835"/>
                <a:ext cx="2621915" cy="48577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435" y="5283835"/>
                <a:ext cx="2621915" cy="485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3"/>
              <p:cNvSpPr>
                <a:spLocks noChangeArrowheads="1"/>
              </p:cNvSpPr>
              <p:nvPr/>
            </p:nvSpPr>
            <p:spPr bwMode="auto">
              <a:xfrm>
                <a:off x="1812925" y="1936750"/>
                <a:ext cx="8402955" cy="43078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indent="0">
                  <a:spcBef>
                    <a:spcPct val="50000"/>
                  </a:spcBef>
                  <a:buNone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金属的线性温阻：</a:t>
                </a:r>
              </a:p>
              <a:p>
                <a:pPr indent="0" fontAlgn="auto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宋体" panose="02010600030101010101" pitchFamily="2" charset="-122"/>
                  </a:rPr>
                  <a:t>从温度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变到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时的阻值变化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，令</a:t>
                </a:r>
                <a:r>
                  <a:rPr lang="en-US" altLang="zh-CN" sz="2600" i="1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R</a:t>
                </a:r>
                <a:r>
                  <a:rPr lang="en-US" altLang="zh-CN" sz="2600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x </a:t>
                </a:r>
                <a:r>
                  <a:rPr lang="en-US" altLang="zh-CN" sz="26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=</a:t>
                </a:r>
                <a:r>
                  <a:rPr lang="en-US" altLang="zh-CN" sz="2600" i="1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R</a:t>
                </a:r>
                <a:r>
                  <a:rPr lang="en-US" altLang="zh-CN" sz="2600" i="1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1</a:t>
                </a:r>
                <a:r>
                  <a:rPr lang="zh-CN" altLang="en-US" sz="26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代入下式：</a:t>
                </a:r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indent="0">
                  <a:spcBef>
                    <a:spcPct val="50000"/>
                  </a:spcBef>
                  <a:buNone/>
                </a:pPr>
                <a:endParaRPr lang="zh-CN" altLang="en-US" sz="2600" dirty="0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  <a:p>
                <a:pPr indent="0">
                  <a:spcBef>
                    <a:spcPct val="50000"/>
                  </a:spcBef>
                  <a:buNone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𝑈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4+2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sz="2400" i="1" dirty="0">
                  <a:latin typeface="楷体" panose="02010609060101010101" pitchFamily="49" charset="-122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  <a:p>
                <a:pPr indent="0">
                  <a:spcBef>
                    <a:spcPct val="50000"/>
                  </a:spcBef>
                  <a:buNone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即：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，因工作电源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E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值固定，则测得某温度</a:t>
                </a:r>
                <a:r>
                  <a:rPr lang="en-US" altLang="zh-CN" sz="2400" i="1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t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下的</a:t>
                </a:r>
                <a:r>
                  <a:rPr lang="en-US" altLang="zh-CN" sz="2400" i="1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U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值，就可求得温度系数</a:t>
                </a:r>
                <a:r>
                  <a:rPr lang="zh-CN" altLang="en-US" sz="2400" i="1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  <a:sym typeface="Symbol" panose="05050102010706020507" charset="0"/>
                  </a:rPr>
                  <a:t>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  <a:sym typeface="Symbol" panose="05050102010706020507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96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2925" y="1936750"/>
                <a:ext cx="8402955" cy="43078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56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13</a:t>
            </a:fld>
            <a:endParaRPr lang="zh-CN" altLang="en-US" sz="1400" b="1" dirty="0"/>
          </a:p>
        </p:txBody>
      </p:sp>
      <p:sp>
        <p:nvSpPr>
          <p:cNvPr id="107" name="矩形 106"/>
          <p:cNvSpPr/>
          <p:nvPr/>
        </p:nvSpPr>
        <p:spPr>
          <a:xfrm>
            <a:off x="4746846" y="1156604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温度系数与测量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548505" y="1936750"/>
                <a:ext cx="2621915" cy="48577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05" y="1936750"/>
                <a:ext cx="2621915" cy="485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500120" y="3686175"/>
                <a:ext cx="5191760" cy="11480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+∆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120" y="3686175"/>
                <a:ext cx="5191760" cy="11480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24810" cy="82867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实验仪器</a:t>
              </a:r>
              <a:endParaRPr lang="en-US" altLang="zh-CN" sz="48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619757" y="3264361"/>
              <a:ext cx="3235325" cy="459105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96474" y="324999"/>
            <a:ext cx="2726690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DEVICE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15</a:t>
            </a:fld>
            <a:endParaRPr lang="zh-CN" altLang="en-US" sz="1400" b="1" dirty="0"/>
          </a:p>
        </p:txBody>
      </p:sp>
      <p:pic>
        <p:nvPicPr>
          <p:cNvPr id="4" name="图片 3" descr="微信图片_20250620151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55" y="1692275"/>
            <a:ext cx="6461125" cy="41306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02480" y="1045210"/>
            <a:ext cx="3354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非平衡直流电桥</a:t>
            </a: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438400" y="4370705"/>
            <a:ext cx="132969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76020" y="4037965"/>
            <a:ext cx="1211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内置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转盘电阻箱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8453120" y="4398010"/>
            <a:ext cx="12509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704070" y="4037965"/>
            <a:ext cx="1211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内置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转盘电阻箱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442075" y="5043170"/>
            <a:ext cx="0" cy="9791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574030" y="6035675"/>
            <a:ext cx="1847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电桥结构电路</a:t>
            </a:r>
          </a:p>
        </p:txBody>
      </p:sp>
      <p:sp>
        <p:nvSpPr>
          <p:cNvPr id="12" name="矩形 11"/>
          <p:cNvSpPr/>
          <p:nvPr/>
        </p:nvSpPr>
        <p:spPr>
          <a:xfrm>
            <a:off x="7654290" y="1845945"/>
            <a:ext cx="1008380" cy="67500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8689340" y="2075815"/>
            <a:ext cx="9626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9652000" y="1692275"/>
            <a:ext cx="1211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待测电阻输入端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8374380" y="2933700"/>
            <a:ext cx="131000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684385" y="2580640"/>
            <a:ext cx="1211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电桥功能切换开关</a:t>
            </a:r>
          </a:p>
        </p:txBody>
      </p:sp>
      <p:sp>
        <p:nvSpPr>
          <p:cNvPr id="18" name="矩形 17"/>
          <p:cNvSpPr/>
          <p:nvPr/>
        </p:nvSpPr>
        <p:spPr>
          <a:xfrm rot="18840000">
            <a:off x="5662930" y="3580765"/>
            <a:ext cx="1310640" cy="131064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96474" y="324999"/>
            <a:ext cx="2726690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DEVICE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16</a:t>
            </a:fld>
            <a:endParaRPr lang="zh-CN" altLang="en-US" sz="1400" b="1" dirty="0"/>
          </a:p>
        </p:txBody>
      </p:sp>
      <p:pic>
        <p:nvPicPr>
          <p:cNvPr id="3" name="图片 2" descr="微信图片_20250620151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60" y="1964690"/>
            <a:ext cx="6511290" cy="3740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54930" y="1165225"/>
            <a:ext cx="1881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温控装置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766175" y="3418840"/>
            <a:ext cx="10217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791065" y="3215005"/>
            <a:ext cx="1211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加热开关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415020" y="5085715"/>
            <a:ext cx="13557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791065" y="4886325"/>
            <a:ext cx="1211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风扇开关</a:t>
            </a:r>
          </a:p>
        </p:txBody>
      </p:sp>
      <p:sp>
        <p:nvSpPr>
          <p:cNvPr id="10" name="矩形 9"/>
          <p:cNvSpPr/>
          <p:nvPr/>
        </p:nvSpPr>
        <p:spPr>
          <a:xfrm rot="18780000">
            <a:off x="6144260" y="2846070"/>
            <a:ext cx="1326515" cy="132651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2564765" y="3549650"/>
            <a:ext cx="33140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353185" y="3350260"/>
            <a:ext cx="1211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温度调节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6045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77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1276985" y="1248410"/>
            <a:ext cx="930402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、用非平衡电桥测铜电阻（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Cu50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）温度系数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）功能开关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置于非平衡电压档；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）连接电路，待测电阻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0℃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时为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50Ω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，将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均设置为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50Ω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；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）测量不同温度下的非平衡电压值，间隔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charset="0"/>
              </a:rPr>
              <a:t>C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charset="0"/>
              </a:rPr>
              <a:t>左右。</a:t>
            </a:r>
            <a:endParaRPr lang="zh-CN" altLang="en-US" sz="3000" baseline="30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Symbol" panose="05050102010706020507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18</a:t>
            </a:fld>
            <a:endParaRPr lang="zh-CN" altLang="en-US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77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1276985" y="1248410"/>
            <a:ext cx="9304020" cy="3830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、用平衡电桥描绘铜电阻（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Cu50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）温度特性曲线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）功能开关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置于平衡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“5V”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档；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）连接电路，设置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</a:t>
            </a:r>
            <a:r>
              <a:rPr 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=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；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）测量不同温度下的电阻值，间隔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charset="0"/>
              </a:rPr>
              <a:t>C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Symbol" panose="05050102010706020507" charset="0"/>
              </a:rPr>
              <a:t>左右。</a:t>
            </a:r>
            <a:endParaRPr lang="zh-CN" altLang="en-US" sz="3000" baseline="30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Symbol" panose="05050102010706020507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19</a:t>
            </a:fld>
            <a:endParaRPr lang="zh-CN" altLang="en-US" sz="1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6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24810" cy="82867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实验结果</a:t>
              </a:r>
              <a:endParaRPr lang="en-US" altLang="zh-CN" sz="48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564646" y="3264361"/>
              <a:ext cx="3249930" cy="459105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RESULT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77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936625" y="1003935"/>
            <a:ext cx="984631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、用非平衡电桥测铜电阻（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Cu50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）温度系数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）实验数据</a:t>
            </a:r>
          </a:p>
          <a:p>
            <a:pPr indent="0" fontAlgn="auto">
              <a:lnSpc>
                <a:spcPct val="150000"/>
              </a:lnSpc>
            </a:pP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）计算温度系数平均值，并与理论值比较，求出相对误差。</a:t>
            </a:r>
            <a:endParaRPr lang="zh-CN" altLang="en-US" sz="3000" baseline="30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Symbol" panose="05050102010706020507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21</a:t>
            </a:fld>
            <a:endParaRPr lang="zh-CN" altLang="en-US" sz="1400" b="1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297305" y="2735580"/>
          <a:ext cx="922401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8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温度</a:t>
                      </a:r>
                      <a:r>
                        <a:rPr lang="en-US" altLang="zh-CN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800" i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t/</a:t>
                      </a:r>
                      <a:r>
                        <a:rPr lang="en-US" altLang="zh-CN" sz="1800" i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U/mV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Symbol" panose="05050102010706020507" charset="0"/>
                        </a:rPr>
                        <a:t></a:t>
                      </a: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Symbol" panose="05050102010706020507" charset="0"/>
                        </a:rPr>
                        <a:t>/C</a:t>
                      </a:r>
                      <a:r>
                        <a:rPr lang="en-US" altLang="zh-CN" baseline="30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Symbol" panose="05050102010706020507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4577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936625" y="1003935"/>
            <a:ext cx="1006602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、用平衡电桥描绘铜电阻（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Cu50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）温度特性曲线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）实验数据</a:t>
            </a:r>
          </a:p>
          <a:p>
            <a:pPr indent="0" fontAlgn="auto">
              <a:lnSpc>
                <a:spcPct val="150000"/>
              </a:lnSpc>
            </a:pP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）作</a:t>
            </a:r>
            <a:r>
              <a:rPr lang="en-US" altLang="zh-CN" sz="3000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</a:t>
            </a:r>
            <a:r>
              <a:rPr lang="en-US" altLang="zh-CN" sz="3000" i="1" baseline="-25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t</a:t>
            </a:r>
            <a:r>
              <a:rPr lang="en-US" altLang="zh-CN" sz="3000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- </a:t>
            </a:r>
            <a:r>
              <a:rPr lang="en-US" altLang="zh-CN" sz="3000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t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特性曲线；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）根据斜率求出温度系数，并与理论值比较，求出相对误差。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22</a:t>
            </a:fld>
            <a:endParaRPr lang="zh-CN" altLang="en-US" sz="1400" b="1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297305" y="2735580"/>
          <a:ext cx="9224010" cy="121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8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温度</a:t>
                      </a:r>
                      <a:r>
                        <a:rPr lang="en-US" altLang="zh-CN" sz="1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800" i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t/</a:t>
                      </a:r>
                      <a:r>
                        <a:rPr lang="en-US" altLang="zh-CN" sz="1800" i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sz="1800" i="1" baseline="-25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altLang="zh-CN" sz="1800" i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en-US" altLang="zh-CN" sz="1800" i="1"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charset="0"/>
                        </a:rPr>
                        <a:t>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7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239010" cy="82867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思考题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691971" y="3264361"/>
              <a:ext cx="2995295" cy="459105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REVIEW QUESTION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8</a:t>
            </a:r>
          </a:p>
        </p:txBody>
      </p:sp>
      <p:sp>
        <p:nvSpPr>
          <p:cNvPr id="7" name="文本框 395"/>
          <p:cNvSpPr txBox="1"/>
          <p:nvPr/>
        </p:nvSpPr>
        <p:spPr>
          <a:xfrm>
            <a:off x="647718" y="267581"/>
            <a:ext cx="1324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</a:p>
        </p:txBody>
      </p:sp>
      <p:sp>
        <p:nvSpPr>
          <p:cNvPr id="8" name="矩形 7"/>
          <p:cNvSpPr/>
          <p:nvPr/>
        </p:nvSpPr>
        <p:spPr>
          <a:xfrm>
            <a:off x="2865410" y="324999"/>
            <a:ext cx="2674620" cy="39751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REVIEW QUESTIONS</a:t>
            </a:r>
          </a:p>
        </p:txBody>
      </p:sp>
      <p:grpSp>
        <p:nvGrpSpPr>
          <p:cNvPr id="2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9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4" name="圆角矩形 1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2" name="圆角矩形 1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774190" y="1855470"/>
            <a:ext cx="745807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</a:t>
            </a:r>
            <a:r>
              <a:rPr lang="zh-CN" altLang="en-US" sz="3200"/>
              <a:t>、简述非平衡电桥与平衡电桥之间的区别。</a:t>
            </a:r>
          </a:p>
          <a:p>
            <a:endParaRPr lang="zh-CN" altLang="en-US" sz="3200"/>
          </a:p>
          <a:p>
            <a:r>
              <a:rPr lang="en-US" altLang="zh-CN" sz="3200"/>
              <a:t>2</a:t>
            </a:r>
            <a:r>
              <a:rPr lang="zh-CN" altLang="en-US" sz="3200"/>
              <a:t>、非平衡电桥在工程中有哪些应用？请举例说明。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3043283" y="4621256"/>
            <a:ext cx="6060791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Unbalanced Wheatstone Bridge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</a:rPr>
              <a:t>MANY THANKS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54355" y="2246378"/>
            <a:ext cx="3570204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VkOTkwN2E1ODM4MTczZWNlZGM3N2Q1YzE3OGQ5Y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27"/>
  <p:tag name="TABLE_ENDDRAG_RECT" val="89*202*726*1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6*127"/>
  <p:tag name="TABLE_ENDDRAG_RECT" val="89*202*726*12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Microsoft Office PowerPoint</Application>
  <PresentationFormat>宽屏</PresentationFormat>
  <Paragraphs>277</Paragraphs>
  <Slides>25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黑体</vt:lpstr>
      <vt:lpstr>楷体</vt:lpstr>
      <vt:lpstr>宋体</vt:lpstr>
      <vt:lpstr>微软雅黑</vt:lpstr>
      <vt:lpstr>Arial</vt:lpstr>
      <vt:lpstr>Calibri</vt:lpstr>
      <vt:lpstr>Cambria Math</vt:lpstr>
      <vt:lpstr>Century Gothic</vt:lpstr>
      <vt:lpstr>Segoe UI Semilight</vt:lpstr>
      <vt:lpstr>Times New Roman</vt:lpstr>
      <vt:lpstr>Wingdings</vt:lpstr>
      <vt:lpstr>Office 主题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浩原 唐</cp:lastModifiedBy>
  <cp:revision>828</cp:revision>
  <dcterms:created xsi:type="dcterms:W3CDTF">2015-04-07T16:28:00Z</dcterms:created>
  <dcterms:modified xsi:type="dcterms:W3CDTF">2025-09-24T03:24:23Z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1722E6581BDD46B9B69B6C24F2DC22D9_13</vt:lpwstr>
  </property>
  <property fmtid="{D5CDD505-2E9C-101B-9397-08002B2CF9AE}" pid="3" name="KSOProductBuildVer">
    <vt:lpwstr>2052-12.1.0.21541</vt:lpwstr>
  </property>
</Properties>
</file>