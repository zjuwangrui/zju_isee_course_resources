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375" r:id="rId5"/>
    <p:sldId id="294" r:id="rId6"/>
    <p:sldId id="295" r:id="rId7"/>
    <p:sldId id="378" r:id="rId8"/>
    <p:sldId id="379" r:id="rId9"/>
    <p:sldId id="380" r:id="rId10"/>
    <p:sldId id="381" r:id="rId11"/>
    <p:sldId id="292" r:id="rId12"/>
    <p:sldId id="293" r:id="rId13"/>
    <p:sldId id="309" r:id="rId14"/>
    <p:sldId id="368" r:id="rId15"/>
    <p:sldId id="367" r:id="rId16"/>
    <p:sldId id="347" r:id="rId17"/>
    <p:sldId id="384" r:id="rId18"/>
    <p:sldId id="383" r:id="rId19"/>
    <p:sldId id="385" r:id="rId20"/>
    <p:sldId id="386" r:id="rId21"/>
    <p:sldId id="326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5597"/>
    <a:srgbClr val="FCF300"/>
    <a:srgbClr val="EAFF64"/>
    <a:srgbClr val="EF8136"/>
    <a:srgbClr val="EE8137"/>
    <a:srgbClr val="C55A11"/>
    <a:srgbClr val="A2A2A2"/>
    <a:srgbClr val="EBE9DC"/>
    <a:srgbClr val="5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1" autoAdjust="0"/>
    <p:restoredTop sz="87097" autoAdjust="0"/>
  </p:normalViewPr>
  <p:slideViewPr>
    <p:cSldViewPr snapToGrid="0" showGuides="1">
      <p:cViewPr varScale="1">
        <p:scale>
          <a:sx n="109" d="100"/>
          <a:sy n="109" d="100"/>
        </p:scale>
        <p:origin x="211" y="216"/>
      </p:cViewPr>
      <p:guideLst>
        <p:guide orient="horz" pos="2146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7EBD6-A95E-4238-9F9C-C835A399C228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6D95-43BE-49FE-8CE4-E02A8EFA3509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D39C-8E48-4660-8F43-E22D20DE1D87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C7C4-0EE1-4AD4-9546-5B49CD76B7C7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A06D-4C49-482E-A612-BBE441E94375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B498-1CA0-4221-A3B5-F4BC07DFE5C2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259C-16F9-40F5-B0D6-8D89B0F97534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924F-63EE-47D2-B8B3-D699FFA3F0CB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E7D1-89FA-49D5-8FDB-903AD68E42E0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221D-9404-4F8F-B8E2-30F2D88BCB6E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4E56-1F1E-4164-B2C4-8B56C5C3303B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F3BDC-7450-498C-9BCD-636429C42BB6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image" Target="../media/image23.pn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image" Target="../media/image19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image" Target="../media/image16.pn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image" Target="../media/image8.pn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image" Target="../media/image15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notesSlide" Target="../notesSlides/notesSlide5.xml"/><Relationship Id="rId30" Type="http://schemas.openxmlformats.org/officeDocument/2006/relationships/image" Target="../media/image14.png"/><Relationship Id="rId8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11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4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3.xml"/><Relationship Id="rId7" Type="http://schemas.openxmlformats.org/officeDocument/2006/relationships/image" Target="../media/image3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5.emf"/><Relationship Id="rId4" Type="http://schemas.openxmlformats.org/officeDocument/2006/relationships/tags" Target="../tags/tag34.xml"/><Relationship Id="rId9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1"/>
            <a:tileRect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5385470" y="4879759"/>
            <a:ext cx="38707" cy="369281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243936" y="4833567"/>
            <a:ext cx="2763959" cy="430887"/>
            <a:chOff x="8683434" y="5760346"/>
            <a:chExt cx="2763960" cy="434414"/>
          </a:xfrm>
        </p:grpSpPr>
        <p:sp>
          <p:nvSpPr>
            <p:cNvPr id="42" name="文本框 41"/>
            <p:cNvSpPr txBox="1"/>
            <p:nvPr/>
          </p:nvSpPr>
          <p:spPr>
            <a:xfrm>
              <a:off x="8683434" y="5760346"/>
              <a:ext cx="1031051" cy="43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姜柏旭</a:t>
              </a:r>
              <a:endPara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0345809" y="5760346"/>
              <a:ext cx="1101585" cy="4344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2025.09</a:t>
              </a: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2034540" y="3339465"/>
            <a:ext cx="7832725" cy="459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Diffraction of Light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140585" y="2054860"/>
            <a:ext cx="7477760" cy="101346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6000" dirty="0">
                <a:ln w="0"/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光的衍射</a:t>
            </a:r>
            <a:endParaRPr lang="zh-CN" altLang="en-US" sz="6000" dirty="0">
              <a:ln w="0"/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物理学院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连接符 82"/>
          <p:cNvCxnSpPr/>
          <p:nvPr/>
        </p:nvCxnSpPr>
        <p:spPr>
          <a:xfrm flipH="1">
            <a:off x="6763951" y="1365189"/>
            <a:ext cx="1" cy="54928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038455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8463" y="245327"/>
            <a:ext cx="1015655" cy="645072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lang="zh-CN" altLang="en-US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 </a:t>
            </a:r>
            <a:r>
              <a:rPr lang="en-US" altLang="zh-CN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4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5796313" y="170594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6521811" y="231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5797243" y="297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76" name="圆角矩形 75"/>
          <p:cNvSpPr/>
          <p:nvPr/>
        </p:nvSpPr>
        <p:spPr>
          <a:xfrm rot="10800000" flipV="1">
            <a:off x="6521811" y="358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5797243" y="424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244675" y="1564948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实验背景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7676173" y="219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实验装置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243171" y="4074628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实验目的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676173" y="346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实验内容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50227" y="2800108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实验原理</a:t>
            </a:r>
          </a:p>
        </p:txBody>
      </p:sp>
      <p:sp>
        <p:nvSpPr>
          <p:cNvPr id="104" name="矩形 103"/>
          <p:cNvSpPr/>
          <p:nvPr/>
        </p:nvSpPr>
        <p:spPr>
          <a:xfrm>
            <a:off x="3125192" y="2153781"/>
            <a:ext cx="2194824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BACKGROUNDS</a:t>
            </a:r>
          </a:p>
        </p:txBody>
      </p:sp>
      <p:sp>
        <p:nvSpPr>
          <p:cNvPr id="105" name="矩形 104"/>
          <p:cNvSpPr/>
          <p:nvPr/>
        </p:nvSpPr>
        <p:spPr>
          <a:xfrm>
            <a:off x="3293141" y="4664091"/>
            <a:ext cx="18277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OBJECTIVE</a:t>
            </a:r>
          </a:p>
        </p:txBody>
      </p:sp>
      <p:sp>
        <p:nvSpPr>
          <p:cNvPr id="106" name="矩形 105"/>
          <p:cNvSpPr/>
          <p:nvPr/>
        </p:nvSpPr>
        <p:spPr>
          <a:xfrm>
            <a:off x="3376980" y="3446435"/>
            <a:ext cx="1808499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PRINCIPLE</a:t>
            </a:r>
          </a:p>
        </p:txBody>
      </p:sp>
      <p:sp>
        <p:nvSpPr>
          <p:cNvPr id="107" name="矩形 106"/>
          <p:cNvSpPr/>
          <p:nvPr/>
        </p:nvSpPr>
        <p:spPr>
          <a:xfrm>
            <a:off x="7808419" y="2804628"/>
            <a:ext cx="1766821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 DEVICE</a:t>
            </a:r>
          </a:p>
        </p:txBody>
      </p:sp>
      <p:sp>
        <p:nvSpPr>
          <p:cNvPr id="108" name="矩形 107"/>
          <p:cNvSpPr/>
          <p:nvPr/>
        </p:nvSpPr>
        <p:spPr>
          <a:xfrm>
            <a:off x="7731593" y="4074628"/>
            <a:ext cx="177964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519676" y="3264361"/>
              <a:ext cx="454957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BACKGROUNDS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7410" name="Rectangle 18"/>
          <p:cNvSpPr>
            <a:spLocks noGrp="1"/>
          </p:cNvSpPr>
          <p:nvPr>
            <p:ph type="subTitle" idx="4294967295"/>
            <p:custDataLst>
              <p:tags r:id="rId1"/>
            </p:custDataLst>
          </p:nvPr>
        </p:nvSpPr>
        <p:spPr>
          <a:xfrm>
            <a:off x="692150" y="1385570"/>
            <a:ext cx="9911715" cy="1666875"/>
          </a:xfrm>
        </p:spPr>
        <p:txBody>
          <a:bodyPr vert="horz" wrap="square" lIns="68580" tIns="34290" rIns="68580" bIns="34290" anchor="t">
            <a:normAutofit fontScale="90000"/>
          </a:bodyPr>
          <a:lstStyle>
            <a:lvl1pPr marL="0" lvl="0" indent="0" algn="ctr">
              <a:buClrTx/>
              <a:buSzTx/>
              <a:buFontTx/>
              <a:buNone/>
              <a:defRPr/>
            </a:lvl1pPr>
            <a:lvl2pPr marL="533400" lvl="1" indent="0" algn="ctr">
              <a:buClrTx/>
              <a:buSzTx/>
              <a:buFontTx/>
              <a:buNone/>
              <a:defRPr/>
            </a:lvl2pPr>
            <a:lvl3pPr marL="1069975" lvl="2" indent="0" algn="ctr">
              <a:buClrTx/>
              <a:buSzTx/>
              <a:buFontTx/>
              <a:buNone/>
              <a:defRPr/>
            </a:lvl3pPr>
            <a:lvl4pPr marL="1606550" lvl="3" indent="0" algn="ctr">
              <a:buClrTx/>
              <a:buSzTx/>
              <a:buFontTx/>
              <a:buNone/>
              <a:defRPr/>
            </a:lvl4pPr>
            <a:lvl5pPr marL="2049780" lvl="4" indent="0" algn="ctr">
              <a:buClrTx/>
              <a:buSzTx/>
              <a:buFontTx/>
              <a:buNone/>
              <a:defRPr/>
            </a:lvl5pPr>
          </a:lstStyle>
          <a:p>
            <a:pPr algn="just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</a:pP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光的衍射(Diffraction of light)：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光在传播过程中，遇到障碍物或小孔时，光将偏离直线传播的路径而</a:t>
            </a:r>
            <a:r>
              <a:rPr lang="zh-CN" altLang="en-US" sz="2665" dirty="0">
                <a:latin typeface="微软雅黑" panose="020B0503020204020204" pitchFamily="34" charset="-122"/>
                <a:cs typeface="微软雅黑" panose="020B0503020204020204" pitchFamily="34" charset="-122"/>
              </a:rPr>
              <a:t> “绕”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到障碍物后面传播的现象。</a:t>
            </a:r>
          </a:p>
          <a:p>
            <a:pPr algn="just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</a:pP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光产生明显衍射现象的条件：</a:t>
            </a: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衍射物尺度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，光源相干性，光源强度。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54300" y="3110230"/>
            <a:ext cx="6172200" cy="36334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9188" y="828223"/>
            <a:ext cx="339153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光的衍射</a:t>
            </a:r>
            <a:r>
              <a:rPr lang="zh-CN" altLang="en-US" sz="3200" b="1" dirty="0">
                <a:sym typeface="+mn-ea"/>
              </a:rPr>
              <a:t> 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  <p:bldP spid="17410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031" name="Rectangle 23"/>
          <p:cNvSpPr/>
          <p:nvPr/>
        </p:nvSpPr>
        <p:spPr>
          <a:xfrm>
            <a:off x="1143000" y="2342912"/>
            <a:ext cx="309880" cy="1219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>
              <a:buClrTx/>
              <a:buSzTx/>
              <a:buFontTx/>
            </a:pPr>
            <a:endParaRPr sz="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950" y="996315"/>
            <a:ext cx="52063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惠更斯-菲涅尔原理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2685" y="2050370"/>
            <a:ext cx="10597773" cy="224676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dirty="0"/>
              <a:t>波前上每一点可看成一个新的次级波源，发出子波；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下一个时刻的波前为所有子波的共同包络面（叠加）；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波的传播方向就是沿子波源与子波面和包络面的切点的连线方向。</a:t>
            </a:r>
            <a:endParaRPr lang="zh-CN" altLang="en-US" sz="4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085" y="4767629"/>
            <a:ext cx="2625725" cy="20154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78789" y="5156518"/>
            <a:ext cx="7235553" cy="525401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对象 15"/>
          <p:cNvSpPr txBox="1"/>
          <p:nvPr/>
        </p:nvSpPr>
        <p:spPr>
          <a:xfrm>
            <a:off x="4406900" y="6463665"/>
            <a:ext cx="568960" cy="39433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84665A-BD47-41A6-6573-C6C617A3B0E9}"/>
                  </a:ext>
                </a:extLst>
              </p:cNvPr>
              <p:cNvSpPr txBox="1"/>
              <p:nvPr/>
            </p:nvSpPr>
            <p:spPr>
              <a:xfrm>
                <a:off x="478623" y="5197945"/>
                <a:ext cx="7719786" cy="1327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波面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光强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影响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cs typeface="微软雅黑" panose="020B0503020204020204" pitchFamily="34" charset="-122"/>
                  </a:rPr>
                  <a:t>其中 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zh-CN" altLang="en-US" sz="20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为比例系数,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=1/2(1+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为倾斜因子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84665A-BD47-41A6-6573-C6C617A3B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23" y="5197945"/>
                <a:ext cx="7719786" cy="1327479"/>
              </a:xfrm>
              <a:prstGeom prst="rect">
                <a:avLst/>
              </a:prstGeom>
              <a:blipFill>
                <a:blip r:embed="rId4"/>
                <a:stretch>
                  <a:fillRect l="-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惠更斯原理 - 搜狗百科">
            <a:extLst>
              <a:ext uri="{FF2B5EF4-FFF2-40B4-BE49-F238E27FC236}">
                <a16:creationId xmlns:a16="http://schemas.microsoft.com/office/drawing/2014/main" id="{15F9CC17-344E-D794-2703-2DA952D37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384" y="1473400"/>
            <a:ext cx="2577837" cy="19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2255" y="811212"/>
            <a:ext cx="38119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.2 光的衍射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8010" y="4296817"/>
            <a:ext cx="2421357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夫琅禾费衍射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(远场衍射)：光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源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O,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观察屏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到衍射屏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离均为无穷远的衍射</a:t>
            </a:r>
            <a:endParaRPr lang="en-US" altLang="zh-CN" sz="2400" dirty="0">
              <a:solidFill>
                <a:srgbClr val="FF66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15569" y="4314827"/>
            <a:ext cx="2176148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菲涅耳衍射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(近场衍射)：光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源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O,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观察屏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到衍射屏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的距离为有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限远的衍射</a:t>
            </a:r>
            <a:endParaRPr lang="zh-CN" altLang="en-US" sz="2400" dirty="0">
              <a:solidFill>
                <a:srgbClr val="99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/>
          <p:nvPr/>
        </p:nvPicPr>
        <p:blipFill>
          <a:blip r:embed="rId3"/>
          <a:srcRect l="54165"/>
          <a:stretch>
            <a:fillRect/>
          </a:stretch>
        </p:blipFill>
        <p:spPr>
          <a:xfrm>
            <a:off x="2371259" y="4314827"/>
            <a:ext cx="3371850" cy="204152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8232603" y="4371069"/>
            <a:ext cx="3326765" cy="20497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AD2F17-CD50-E848-423A-4AA61012A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731" y="1168840"/>
            <a:ext cx="5019375" cy="277053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0C46EB4-EF3B-5F85-3091-3EDE0393F352}"/>
              </a:ext>
            </a:extLst>
          </p:cNvPr>
          <p:cNvSpPr txBox="1"/>
          <p:nvPr/>
        </p:nvSpPr>
        <p:spPr>
          <a:xfrm>
            <a:off x="478623" y="1811262"/>
            <a:ext cx="57189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针尖、小孔与狭缝等障碍物作为有限尺度（相对于波长）的子波面，光线可以“绕”过它们、在障碍处产生新的“光源”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5" grpId="0"/>
      <p:bldP spid="15" grpId="1"/>
      <p:bldP spid="16" grpId="0"/>
      <p:bldP spid="1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6547" y="795220"/>
            <a:ext cx="29540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2.3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矢量振幅法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74810" y="3288665"/>
            <a:ext cx="2078990" cy="2589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85115" y="1549400"/>
                <a:ext cx="11274425" cy="158998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buFont typeface="Wingdings" panose="05000000000000000000" pitchFamily="2" charset="2"/>
                </a:pPr>
                <a:r>
                  <a:rPr lang="zh-CN" altLang="en-US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将波阵面（狭缝）分成 </a:t>
                </a:r>
                <a:r>
                  <a:rPr lang="en-US" altLang="zh-CN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N </a:t>
                </a:r>
                <a:r>
                  <a:rPr lang="zh-CN" altLang="en-US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个等宽条带，构成 </a:t>
                </a:r>
                <a:r>
                  <a:rPr lang="en-US" altLang="zh-CN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N </a:t>
                </a:r>
                <a:r>
                  <a:rPr lang="zh-CN" altLang="en-US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个振幅相等的相干子波源，各子波源在屏上 </a:t>
                </a:r>
                <a:r>
                  <a:rPr lang="en-US" altLang="zh-CN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P </a:t>
                </a:r>
                <a:r>
                  <a:rPr lang="zh-CN" altLang="en-US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点的振幅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微软雅黑" panose="020B0503020204020204" pitchFamily="34" charset="-122"/>
                                <a:sym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+mn-ea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相同，但依次相差一微小相位差：</a:t>
                </a:r>
                <a:endParaRPr lang="en-US" altLang="zh-CN" sz="2800" i="1" dirty="0">
                  <a:latin typeface="Cambria Math" panose="020405030504060302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>
                  <a:buFont typeface="Wingdings" panose="05000000000000000000" pitchFamily="2" charset="2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2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𝜆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(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𝑎𝑠𝑖𝑛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𝜃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𝑁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" y="1549400"/>
                <a:ext cx="11274425" cy="1589987"/>
              </a:xfrm>
              <a:prstGeom prst="rect">
                <a:avLst/>
              </a:prstGeom>
              <a:blipFill>
                <a:blip r:embed="rId29"/>
                <a:stretch>
                  <a:fillRect l="-1136" t="-3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对象 22">
            <a:hlinkClick r:id="" action="ppaction://ole?verb=0"/>
          </p:cNvPr>
          <p:cNvSpPr txBox="1"/>
          <p:nvPr/>
        </p:nvSpPr>
        <p:spPr>
          <a:xfrm>
            <a:off x="7296785" y="1549400"/>
            <a:ext cx="229235" cy="31496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23">
                <a:hlinkClick r:id="" action="ppaction://ole?verb=0"/>
              </p:cNvPr>
              <p:cNvSpPr txBox="1"/>
              <p:nvPr/>
            </p:nvSpPr>
            <p:spPr>
              <a:xfrm>
                <a:off x="532464" y="3179148"/>
                <a:ext cx="1982186" cy="143857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nor/>
                                </m:rPr>
                                <a:rPr lang="zh-CN" altLang="en-US" sz="1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nor/>
                                </m:rPr>
                                <a:rPr lang="zh-CN" altLang="en-US" sz="1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4" name="对象 2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64" y="3179148"/>
                <a:ext cx="1982186" cy="143857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>
                <a:hlinkClick r:id="" action="ppaction://ole?verb=0"/>
              </p:cNvPr>
              <p:cNvSpPr txBox="1"/>
              <p:nvPr/>
            </p:nvSpPr>
            <p:spPr>
              <a:xfrm>
                <a:off x="2726729" y="3349281"/>
                <a:ext cx="3757930" cy="101409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对象 2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729" y="3349281"/>
                <a:ext cx="3757930" cy="101409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1993431" y="4484233"/>
                <a:ext cx="4548568" cy="11561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zh-CN" altLang="en-US" sz="2400" dirty="0"/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431" y="4484233"/>
                <a:ext cx="4548568" cy="1156150"/>
              </a:xfrm>
              <a:prstGeom prst="rect">
                <a:avLst/>
              </a:prstGeom>
              <a:blipFill>
                <a:blip r:embed="rId32"/>
                <a:stretch>
                  <a:fillRect l="-2011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对象 29">
            <a:hlinkClick r:id="" action="ppaction://ole?verb=0"/>
          </p:cNvPr>
          <p:cNvSpPr txBox="1"/>
          <p:nvPr/>
        </p:nvSpPr>
        <p:spPr>
          <a:xfrm>
            <a:off x="1335405" y="4050665"/>
            <a:ext cx="1427480" cy="49403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2" name="对象 31">
            <a:hlinkClick r:id="" action="ppaction://ole?verb=0"/>
          </p:cNvPr>
          <p:cNvSpPr txBox="1"/>
          <p:nvPr/>
        </p:nvSpPr>
        <p:spPr>
          <a:xfrm>
            <a:off x="4070985" y="4032885"/>
            <a:ext cx="1219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526131" y="5734091"/>
                <a:ext cx="5640134" cy="823302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单缝衍射光强分布：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sSup>
                      <m:sSup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31" y="5734091"/>
                <a:ext cx="5640134" cy="823302"/>
              </a:xfrm>
              <a:prstGeom prst="rect">
                <a:avLst/>
              </a:prstGeom>
              <a:blipFill>
                <a:blip r:embed="rId33"/>
                <a:stretch>
                  <a:fillRect l="-2160"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/>
          <p:cNvGrpSpPr/>
          <p:nvPr/>
        </p:nvGrpSpPr>
        <p:grpSpPr>
          <a:xfrm>
            <a:off x="6876415" y="3540125"/>
            <a:ext cx="1852930" cy="2322830"/>
            <a:chOff x="8336" y="3777"/>
            <a:chExt cx="2918" cy="3658"/>
          </a:xfrm>
        </p:grpSpPr>
        <p:grpSp>
          <p:nvGrpSpPr>
            <p:cNvPr id="9" name="组合 8"/>
            <p:cNvGrpSpPr/>
            <p:nvPr/>
          </p:nvGrpSpPr>
          <p:grpSpPr>
            <a:xfrm>
              <a:off x="8336" y="3777"/>
              <a:ext cx="2919" cy="3659"/>
              <a:chOff x="7882" y="2462"/>
              <a:chExt cx="2622" cy="3659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7882" y="2462"/>
                <a:ext cx="2495" cy="3659"/>
                <a:chOff x="7646" y="2696"/>
                <a:chExt cx="2495" cy="3659"/>
              </a:xfrm>
            </p:grpSpPr>
            <p:sp>
              <p:nvSpPr>
                <p:cNvPr id="3" name="文本框 2"/>
                <p:cNvSpPr txBox="1"/>
                <p:nvPr/>
              </p:nvSpPr>
              <p:spPr>
                <a:xfrm>
                  <a:off x="8302" y="4393"/>
                  <a:ext cx="31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cxnSp>
              <p:nvCxnSpPr>
                <p:cNvPr id="4" name="直接连接符 3"/>
                <p:cNvCxnSpPr/>
                <p:nvPr/>
              </p:nvCxnSpPr>
              <p:spPr>
                <a:xfrm>
                  <a:off x="8745" y="2696"/>
                  <a:ext cx="0" cy="156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>
                  <p:custDataLst>
                    <p:tags r:id="rId3"/>
                  </p:custDataLst>
                </p:nvPr>
              </p:nvCxnSpPr>
              <p:spPr>
                <a:xfrm>
                  <a:off x="8760" y="5206"/>
                  <a:ext cx="0" cy="114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箭头连接符 9"/>
                <p:cNvCxnSpPr/>
                <p:nvPr/>
              </p:nvCxnSpPr>
              <p:spPr>
                <a:xfrm flipV="1">
                  <a:off x="8733" y="3109"/>
                  <a:ext cx="1168" cy="1167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箭头连接符 10"/>
                <p:cNvCxnSpPr/>
                <p:nvPr>
                  <p:custDataLst>
                    <p:tags r:id="rId4"/>
                  </p:custDataLst>
                </p:nvPr>
              </p:nvCxnSpPr>
              <p:spPr>
                <a:xfrm flipV="1">
                  <a:off x="8749" y="3596"/>
                  <a:ext cx="1168" cy="1167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组合 19"/>
                <p:cNvGrpSpPr/>
                <p:nvPr/>
              </p:nvGrpSpPr>
              <p:grpSpPr>
                <a:xfrm>
                  <a:off x="7646" y="4263"/>
                  <a:ext cx="1095" cy="1"/>
                  <a:chOff x="7646" y="4489"/>
                  <a:chExt cx="1095" cy="1"/>
                </a:xfrm>
              </p:grpSpPr>
              <p:cxnSp>
                <p:nvCxnSpPr>
                  <p:cNvPr id="18" name="直接箭头连接符 17"/>
                  <p:cNvCxnSpPr/>
                  <p:nvPr>
                    <p:custDataLst>
                      <p:tags r:id="rId24"/>
                    </p:custDataLst>
                  </p:nvPr>
                </p:nvCxnSpPr>
                <p:spPr>
                  <a:xfrm>
                    <a:off x="7646" y="4489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triangl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箭头连接符 18"/>
                  <p:cNvCxnSpPr/>
                  <p:nvPr>
                    <p:custDataLst>
                      <p:tags r:id="rId25"/>
                    </p:custDataLst>
                  </p:nvPr>
                </p:nvCxnSpPr>
                <p:spPr>
                  <a:xfrm>
                    <a:off x="7947" y="4490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non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" name="直接箭头连接符 15"/>
                <p:cNvCxnSpPr/>
                <p:nvPr>
                  <p:custDataLst>
                    <p:tags r:id="rId5"/>
                  </p:custDataLst>
                </p:nvPr>
              </p:nvCxnSpPr>
              <p:spPr>
                <a:xfrm flipV="1">
                  <a:off x="8745" y="3370"/>
                  <a:ext cx="1168" cy="1167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组合 20"/>
                <p:cNvGrpSpPr/>
                <p:nvPr/>
              </p:nvGrpSpPr>
              <p:grpSpPr>
                <a:xfrm>
                  <a:off x="7654" y="4522"/>
                  <a:ext cx="1095" cy="1"/>
                  <a:chOff x="7646" y="4489"/>
                  <a:chExt cx="1095" cy="1"/>
                </a:xfrm>
              </p:grpSpPr>
              <p:cxnSp>
                <p:nvCxnSpPr>
                  <p:cNvPr id="22" name="直接箭头连接符 21"/>
                  <p:cNvCxnSpPr/>
                  <p:nvPr>
                    <p:custDataLst>
                      <p:tags r:id="rId22"/>
                    </p:custDataLst>
                  </p:nvPr>
                </p:nvCxnSpPr>
                <p:spPr>
                  <a:xfrm>
                    <a:off x="7646" y="4489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triangl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箭头连接符 33"/>
                  <p:cNvCxnSpPr/>
                  <p:nvPr>
                    <p:custDataLst>
                      <p:tags r:id="rId23"/>
                    </p:custDataLst>
                  </p:nvPr>
                </p:nvCxnSpPr>
                <p:spPr>
                  <a:xfrm>
                    <a:off x="7947" y="4490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non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7654" y="4765"/>
                  <a:ext cx="1095" cy="1"/>
                  <a:chOff x="7646" y="4489"/>
                  <a:chExt cx="1095" cy="1"/>
                </a:xfrm>
              </p:grpSpPr>
              <p:cxnSp>
                <p:nvCxnSpPr>
                  <p:cNvPr id="36" name="直接箭头连接符 35"/>
                  <p:cNvCxnSpPr/>
                  <p:nvPr>
                    <p:custDataLst>
                      <p:tags r:id="rId20"/>
                    </p:custDataLst>
                  </p:nvPr>
                </p:nvCxnSpPr>
                <p:spPr>
                  <a:xfrm>
                    <a:off x="7646" y="4489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triangl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箭头连接符 39"/>
                  <p:cNvCxnSpPr/>
                  <p:nvPr>
                    <p:custDataLst>
                      <p:tags r:id="rId21"/>
                    </p:custDataLst>
                  </p:nvPr>
                </p:nvCxnSpPr>
                <p:spPr>
                  <a:xfrm>
                    <a:off x="7947" y="4490"/>
                    <a:ext cx="794" cy="0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non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组合 51"/>
                <p:cNvGrpSpPr/>
                <p:nvPr/>
              </p:nvGrpSpPr>
              <p:grpSpPr>
                <a:xfrm>
                  <a:off x="7666" y="3823"/>
                  <a:ext cx="2259" cy="1166"/>
                  <a:chOff x="7654" y="3752"/>
                  <a:chExt cx="2259" cy="1166"/>
                </a:xfrm>
              </p:grpSpPr>
              <p:cxnSp>
                <p:nvCxnSpPr>
                  <p:cNvPr id="12" name="直接箭头连接符 11"/>
                  <p:cNvCxnSpPr/>
                  <p:nvPr>
                    <p:custDataLst>
                      <p:tags r:id="rId17"/>
                    </p:custDataLst>
                  </p:nvPr>
                </p:nvCxnSpPr>
                <p:spPr>
                  <a:xfrm flipV="1">
                    <a:off x="8745" y="3752"/>
                    <a:ext cx="1168" cy="1167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triangl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7654" y="4914"/>
                    <a:ext cx="1095" cy="1"/>
                    <a:chOff x="7646" y="4489"/>
                    <a:chExt cx="1095" cy="1"/>
                  </a:xfrm>
                </p:grpSpPr>
                <p:cxnSp>
                  <p:nvCxnSpPr>
                    <p:cNvPr id="42" name="直接箭头连接符 41"/>
                    <p:cNvCxnSpPr/>
                    <p:nvPr>
                      <p:custDataLst>
                        <p:tags r:id="rId18"/>
                      </p:custDataLst>
                    </p:nvPr>
                  </p:nvCxnSpPr>
                  <p:spPr>
                    <a:xfrm>
                      <a:off x="7646" y="4489"/>
                      <a:ext cx="794" cy="0"/>
                    </a:xfrm>
                    <a:prstGeom prst="straightConnector1">
                      <a:avLst/>
                    </a:prstGeom>
                    <a:ln>
                      <a:solidFill>
                        <a:schemeClr val="accent2"/>
                      </a:solidFill>
                      <a:tailEnd type="triangle" w="sm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接箭头连接符 42"/>
                    <p:cNvCxnSpPr/>
                    <p:nvPr>
                      <p:custDataLst>
                        <p:tags r:id="rId19"/>
                      </p:custDataLst>
                    </p:nvPr>
                  </p:nvCxnSpPr>
                  <p:spPr>
                    <a:xfrm>
                      <a:off x="7947" y="4490"/>
                      <a:ext cx="794" cy="0"/>
                    </a:xfrm>
                    <a:prstGeom prst="straightConnector1">
                      <a:avLst/>
                    </a:prstGeom>
                    <a:ln>
                      <a:solidFill>
                        <a:schemeClr val="accent2"/>
                      </a:solidFill>
                      <a:tailEnd type="none" w="sm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1" name="组合 50"/>
                <p:cNvGrpSpPr/>
                <p:nvPr/>
              </p:nvGrpSpPr>
              <p:grpSpPr>
                <a:xfrm>
                  <a:off x="7654" y="4050"/>
                  <a:ext cx="2263" cy="1166"/>
                  <a:chOff x="7654" y="3903"/>
                  <a:chExt cx="2263" cy="1166"/>
                </a:xfrm>
              </p:grpSpPr>
              <p:cxnSp>
                <p:nvCxnSpPr>
                  <p:cNvPr id="17" name="直接箭头连接符 16"/>
                  <p:cNvCxnSpPr/>
                  <p:nvPr>
                    <p:custDataLst>
                      <p:tags r:id="rId14"/>
                    </p:custDataLst>
                  </p:nvPr>
                </p:nvCxnSpPr>
                <p:spPr>
                  <a:xfrm flipV="1">
                    <a:off x="8749" y="3903"/>
                    <a:ext cx="1168" cy="1167"/>
                  </a:xfrm>
                  <a:prstGeom prst="straightConnector1">
                    <a:avLst/>
                  </a:prstGeom>
                  <a:ln>
                    <a:solidFill>
                      <a:schemeClr val="accent2"/>
                    </a:solidFill>
                    <a:tailEnd type="triangle" w="sm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7654" y="5062"/>
                    <a:ext cx="1095" cy="1"/>
                    <a:chOff x="7646" y="4489"/>
                    <a:chExt cx="1095" cy="1"/>
                  </a:xfrm>
                </p:grpSpPr>
                <p:cxnSp>
                  <p:nvCxnSpPr>
                    <p:cNvPr id="45" name="直接箭头连接符 44"/>
                    <p:cNvCxnSpPr/>
                    <p:nvPr>
                      <p:custDataLst>
                        <p:tags r:id="rId15"/>
                      </p:custDataLst>
                    </p:nvPr>
                  </p:nvCxnSpPr>
                  <p:spPr>
                    <a:xfrm>
                      <a:off x="7646" y="4489"/>
                      <a:ext cx="794" cy="0"/>
                    </a:xfrm>
                    <a:prstGeom prst="straightConnector1">
                      <a:avLst/>
                    </a:prstGeom>
                    <a:ln>
                      <a:solidFill>
                        <a:schemeClr val="accent2"/>
                      </a:solidFill>
                      <a:tailEnd type="triangle" w="sm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直接箭头连接符 45"/>
                    <p:cNvCxnSpPr/>
                    <p:nvPr>
                      <p:custDataLst>
                        <p:tags r:id="rId16"/>
                      </p:custDataLst>
                    </p:nvPr>
                  </p:nvCxnSpPr>
                  <p:spPr>
                    <a:xfrm>
                      <a:off x="7947" y="4490"/>
                      <a:ext cx="794" cy="0"/>
                    </a:xfrm>
                    <a:prstGeom prst="straightConnector1">
                      <a:avLst/>
                    </a:prstGeom>
                    <a:ln>
                      <a:solidFill>
                        <a:schemeClr val="accent2"/>
                      </a:solidFill>
                      <a:tailEnd type="none" w="sm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7" name="直接箭头连接符 46"/>
                <p:cNvCxnSpPr/>
                <p:nvPr>
                  <p:custDataLst>
                    <p:tags r:id="rId6"/>
                  </p:custDataLst>
                </p:nvPr>
              </p:nvCxnSpPr>
              <p:spPr>
                <a:xfrm>
                  <a:off x="8749" y="4263"/>
                  <a:ext cx="607" cy="694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prstDash val="sysDash"/>
                  <a:tailEnd type="non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8760" y="5197"/>
                  <a:ext cx="126" cy="144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prstDash val="sysDash"/>
                  <a:tailEnd type="non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4" name="文本框 53"/>
                <p:cNvSpPr txBox="1"/>
                <p:nvPr>
                  <p:custDataLst>
                    <p:tags r:id="rId8"/>
                  </p:custDataLst>
                </p:nvPr>
              </p:nvSpPr>
              <p:spPr>
                <a:xfrm rot="19140000">
                  <a:off x="8695" y="5101"/>
                  <a:ext cx="1116" cy="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18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</a:t>
                  </a:r>
                  <a:r>
                    <a:rPr lang="en-US" altLang="zh-CN" sz="18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endParaRPr lang="en-US" altLang="zh-CN" sz="1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5" name="直接箭头连接符 54"/>
                <p:cNvCxnSpPr/>
                <p:nvPr>
                  <p:custDataLst>
                    <p:tags r:id="rId9"/>
                  </p:custDataLst>
                </p:nvPr>
              </p:nvCxnSpPr>
              <p:spPr>
                <a:xfrm>
                  <a:off x="8749" y="4264"/>
                  <a:ext cx="864" cy="14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prstDash val="sysDash"/>
                  <a:tailEnd type="non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6" name="文本框 55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8610" y="4323"/>
                  <a:ext cx="48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</a:p>
              </p:txBody>
            </p:sp>
            <p:cxnSp>
              <p:nvCxnSpPr>
                <p:cNvPr id="57" name="直接箭头连接符 56"/>
                <p:cNvCxnSpPr/>
                <p:nvPr/>
              </p:nvCxnSpPr>
              <p:spPr>
                <a:xfrm>
                  <a:off x="8674" y="4234"/>
                  <a:ext cx="0" cy="9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ash"/>
                  <a:headEnd type="triangle" w="sm" len="med"/>
                  <a:tailEnd type="triangle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8" name="文本框 57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808" y="2848"/>
                  <a:ext cx="31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9" name="文本框 58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9808" y="3140"/>
                  <a:ext cx="31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60" name="文本框 59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9823" y="3423"/>
                  <a:ext cx="318" cy="4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6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sp>
            <p:nvSpPr>
              <p:cNvPr id="5" name="文本框 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0059" y="3303"/>
                <a:ext cx="445" cy="4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</a:p>
            </p:txBody>
          </p:sp>
        </p:grpSp>
        <p:sp>
          <p:nvSpPr>
            <p:cNvPr id="25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10734" y="4974"/>
              <a:ext cx="495" cy="35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" grpId="0"/>
      <p:bldP spid="2" grpId="1"/>
      <p:bldP spid="29" grpId="0"/>
      <p:bldP spid="29" grpId="1"/>
      <p:bldP spid="37" grpId="0"/>
      <p:bldP spid="3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/>
        </p:nvSpPr>
        <p:spPr>
          <a:xfrm>
            <a:off x="7010400" y="5061268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5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6858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0287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3716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17145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058035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2400935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2743835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fontAlgn="base"/>
            <a:fld id="{9A0DB2DC-4C9A-4742-B13C-FB6460FD3503}" type="slidenum">
              <a:rPr lang="zh-CN" altLang="en-US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fld>
            <a:endParaRPr lang="zh-CN" altLang="en-US" sz="1400" strike="noStrike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87" name="Rectangle 146"/>
          <p:cNvSpPr>
            <a:spLocks noChangeArrowheads="1"/>
          </p:cNvSpPr>
          <p:nvPr/>
        </p:nvSpPr>
        <p:spPr bwMode="auto">
          <a:xfrm>
            <a:off x="4932045" y="2271078"/>
            <a:ext cx="3600450" cy="2663825"/>
          </a:xfrm>
          <a:prstGeom prst="rect">
            <a:avLst/>
          </a:prstGeom>
          <a:noFill/>
          <a:ln w="28575" cmpd="sng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990099"/>
              </a:solidFill>
              <a:latin typeface="仿宋_GB231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656590" y="3020695"/>
                <a:ext cx="4161524" cy="774571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令：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𝜕𝜇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得到极值位置</a:t>
                </a:r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90" y="3020695"/>
                <a:ext cx="4161524" cy="774571"/>
              </a:xfrm>
              <a:prstGeom prst="rect">
                <a:avLst/>
              </a:prstGeom>
              <a:blipFill>
                <a:blip r:embed="rId3"/>
                <a:stretch>
                  <a:fillRect l="-3079" r="-1760" b="-2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对象 44">
            <a:hlinkClick r:id="" action="ppaction://ole?verb=0"/>
          </p:cNvPr>
          <p:cNvSpPr txBox="1"/>
          <p:nvPr/>
        </p:nvSpPr>
        <p:spPr>
          <a:xfrm>
            <a:off x="1594485" y="2925445"/>
            <a:ext cx="953770" cy="68389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8355965" y="4215765"/>
            <a:ext cx="614045" cy="4603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501650" y="5378450"/>
                <a:ext cx="6022223" cy="48133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±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级明纹最大光强：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≈4.7%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5378450"/>
                <a:ext cx="6022223" cy="481330"/>
              </a:xfrm>
              <a:prstGeom prst="rect">
                <a:avLst/>
              </a:prstGeom>
              <a:blipFill>
                <a:blip r:embed="rId4"/>
                <a:stretch>
                  <a:fillRect l="-2024" t="-12658" b="-43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613380" y="3765537"/>
                <a:ext cx="5790239" cy="115627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明纹：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=0,±1.43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,±2.46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</m:t>
                    </m:r>
                  </m:oMath>
                </a14:m>
                <a:endParaRPr lang="zh-CN" altLang="en-US" sz="2800" dirty="0"/>
              </a:p>
              <a:p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80" y="3765537"/>
                <a:ext cx="5790239" cy="1156279"/>
              </a:xfrm>
              <a:prstGeom prst="rect">
                <a:avLst/>
              </a:prstGeom>
              <a:blipFill>
                <a:blip r:embed="rId5"/>
                <a:stretch>
                  <a:fillRect l="-2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对象 54">
            <a:hlinkClick r:id="" action="ppaction://ole?verb=0"/>
          </p:cNvPr>
          <p:cNvSpPr txBox="1"/>
          <p:nvPr/>
        </p:nvSpPr>
        <p:spPr>
          <a:xfrm>
            <a:off x="1751965" y="3791585"/>
            <a:ext cx="3333115" cy="6604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对象 37">
                <a:hlinkClick r:id="" action="ppaction://ole?verb=0"/>
              </p:cNvPr>
              <p:cNvSpPr txBox="1"/>
              <p:nvPr/>
            </p:nvSpPr>
            <p:spPr>
              <a:xfrm>
                <a:off x="914400" y="1781175"/>
                <a:ext cx="3788229" cy="1016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对象 3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781175"/>
                <a:ext cx="3788229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13380" y="4571987"/>
                <a:ext cx="4655306" cy="11562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暗纹：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,±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</m:t>
                    </m:r>
                  </m:oMath>
                </a14:m>
                <a:endParaRPr lang="zh-CN" altLang="en-US" sz="2800" dirty="0"/>
              </a:p>
              <a:p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80" y="4571987"/>
                <a:ext cx="4655306" cy="1156279"/>
              </a:xfrm>
              <a:prstGeom prst="rect">
                <a:avLst/>
              </a:prstGeom>
              <a:blipFill>
                <a:blip r:embed="rId7"/>
                <a:stretch>
                  <a:fillRect l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对象 7">
            <a:hlinkClick r:id="" action="ppaction://ole?verb=0"/>
          </p:cNvPr>
          <p:cNvSpPr txBox="1"/>
          <p:nvPr/>
        </p:nvSpPr>
        <p:spPr>
          <a:xfrm>
            <a:off x="1871345" y="4519930"/>
            <a:ext cx="1965960" cy="64897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9705" y="974725"/>
            <a:ext cx="49860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2.4 </a:t>
            </a:r>
            <a:r>
              <a:rPr 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单缝衍射光强分布特征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167120" y="1477010"/>
            <a:ext cx="5946775" cy="4320540"/>
            <a:chOff x="6293" y="1601"/>
            <a:chExt cx="7989" cy="6257"/>
          </a:xfrm>
        </p:grpSpPr>
        <p:grpSp>
          <p:nvGrpSpPr>
            <p:cNvPr id="13" name="组合 12"/>
            <p:cNvGrpSpPr/>
            <p:nvPr/>
          </p:nvGrpSpPr>
          <p:grpSpPr>
            <a:xfrm>
              <a:off x="6293" y="1601"/>
              <a:ext cx="7989" cy="6257"/>
              <a:chOff x="6293" y="1601"/>
              <a:chExt cx="7989" cy="6257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6293" y="1601"/>
                <a:ext cx="7344" cy="6257"/>
                <a:chOff x="6973" y="1106"/>
                <a:chExt cx="7663" cy="5453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8"/>
                <a:srcRect b="9412"/>
                <a:stretch>
                  <a:fillRect/>
                </a:stretch>
              </p:blipFill>
              <p:spPr>
                <a:xfrm>
                  <a:off x="6973" y="1106"/>
                  <a:ext cx="6981" cy="5453"/>
                </a:xfrm>
                <a:prstGeom prst="rect">
                  <a:avLst/>
                </a:prstGeom>
              </p:spPr>
            </p:pic>
            <p:sp>
              <p:nvSpPr>
                <p:cNvPr id="9" name="文本框 8"/>
                <p:cNvSpPr txBox="1"/>
                <p:nvPr/>
              </p:nvSpPr>
              <p:spPr>
                <a:xfrm>
                  <a:off x="13289" y="6091"/>
                  <a:ext cx="1347" cy="40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8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</a:t>
                  </a:r>
                  <a:r>
                    <a:rPr lang="en-US" altLang="zh-CN" sz="1800" i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</a:p>
              </p:txBody>
            </p:sp>
          </p:grp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44" y="3054"/>
                <a:ext cx="4238" cy="2421"/>
              </a:xfrm>
              <a:prstGeom prst="rect">
                <a:avLst/>
              </a:prstGeom>
            </p:spPr>
          </p:pic>
        </p:grp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282" y="2135"/>
              <a:ext cx="794" cy="91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4" grpId="1"/>
      <p:bldP spid="51" grpId="0"/>
      <p:bldP spid="51" grpId="1"/>
      <p:bldP spid="54" grpId="0"/>
      <p:bldP spid="54" grpId="1"/>
      <p:bldP spid="7" grpId="0"/>
      <p:bldP spid="7" grpId="1"/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1305" name="矩形 11304"/>
          <p:cNvSpPr/>
          <p:nvPr/>
        </p:nvSpPr>
        <p:spPr>
          <a:xfrm>
            <a:off x="251460" y="843915"/>
            <a:ext cx="2547620" cy="58356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光栅衍射</a:t>
            </a:r>
          </a:p>
        </p:txBody>
      </p:sp>
      <p:sp>
        <p:nvSpPr>
          <p:cNvPr id="2" name="TextBox 14"/>
          <p:cNvSpPr txBox="1"/>
          <p:nvPr/>
        </p:nvSpPr>
        <p:spPr>
          <a:xfrm>
            <a:off x="251460" y="1300480"/>
            <a:ext cx="11102340" cy="570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平行光照射透射光栅：同时存在每个缝的单缝衍射和缝与缝间光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478326" y="2232512"/>
                <a:ext cx="4807342" cy="27013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光栅常数：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</a:endParaRPr>
              </a:p>
              <a:p>
                <a:r>
                  <a:rPr lang="zh-CN" altLang="en-US" sz="2000" dirty="0"/>
                  <a:t>相邻光栅光线相位差：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  <m:t>2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  <a:sym typeface="+mn-ea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  <a:sym typeface="+mn-ea"/>
                          </a:rPr>
                          <m:t>𝜆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sym typeface="+mn-ea"/>
                          </a:rPr>
                          <m:t>𝑑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  <m:t>𝑠𝑖𝑛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  <a:sym typeface="+mn-ea"/>
                          </a:rPr>
                          <m:t>𝜃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2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𝛾</m:t>
                    </m:r>
                  </m:oMath>
                </a14:m>
                <a:endParaRPr lang="en-US" altLang="zh-CN" sz="2000" dirty="0">
                  <a:sym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𝑖𝑁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𝛾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sym typeface="+mn-ea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𝛾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solidFill>
                                <a:srgbClr val="FF0000"/>
                              </a:solidFill>
                              <a:sym typeface="+mn-ea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𝛾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26" y="2232512"/>
                <a:ext cx="4807342" cy="2701381"/>
              </a:xfrm>
              <a:prstGeom prst="rect">
                <a:avLst/>
              </a:prstGeom>
              <a:blipFill>
                <a:blip r:embed="rId3"/>
                <a:stretch>
                  <a:fillRect l="-3299" t="-2935" r="-1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278049" y="5032900"/>
                <a:ext cx="432070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光栅方程（明条纹，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sin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zh-CN" altLang="en-US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=0,±1,±2,...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49" y="5032900"/>
                <a:ext cx="4320707" cy="1107996"/>
              </a:xfrm>
              <a:prstGeom prst="rect">
                <a:avLst/>
              </a:prstGeom>
              <a:blipFill>
                <a:blip r:embed="rId4"/>
                <a:stretch>
                  <a:fillRect l="-4379" r="-11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>
            <a:grpSpLocks noChangeAspect="1"/>
          </p:cNvGrpSpPr>
          <p:nvPr/>
        </p:nvGrpSpPr>
        <p:grpSpPr>
          <a:xfrm>
            <a:off x="482499" y="1990276"/>
            <a:ext cx="4116257" cy="2754557"/>
            <a:chOff x="283" y="2536"/>
            <a:chExt cx="5694" cy="376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rcRect l="7261" t="2486" r="1477"/>
            <a:stretch>
              <a:fillRect/>
            </a:stretch>
          </p:blipFill>
          <p:spPr>
            <a:xfrm>
              <a:off x="913" y="2536"/>
              <a:ext cx="5065" cy="3766"/>
            </a:xfrm>
            <a:prstGeom prst="rect">
              <a:avLst/>
            </a:prstGeom>
          </p:spPr>
        </p:pic>
        <p:cxnSp>
          <p:nvCxnSpPr>
            <p:cNvPr id="7" name="直接箭头连接符 6"/>
            <p:cNvCxnSpPr/>
            <p:nvPr/>
          </p:nvCxnSpPr>
          <p:spPr>
            <a:xfrm>
              <a:off x="283" y="3437"/>
              <a:ext cx="567" cy="0"/>
            </a:xfrm>
            <a:prstGeom prst="straightConnector1">
              <a:avLst/>
            </a:prstGeom>
            <a:ln w="19050">
              <a:solidFill>
                <a:srgbClr val="F96705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283" y="4050"/>
              <a:ext cx="567" cy="0"/>
            </a:xfrm>
            <a:prstGeom prst="straightConnector1">
              <a:avLst/>
            </a:prstGeom>
            <a:ln w="19050">
              <a:solidFill>
                <a:srgbClr val="F96705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283" y="4704"/>
              <a:ext cx="567" cy="0"/>
            </a:xfrm>
            <a:prstGeom prst="straightConnector1">
              <a:avLst/>
            </a:prstGeom>
            <a:ln w="19050">
              <a:solidFill>
                <a:srgbClr val="F96705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283" y="5297"/>
              <a:ext cx="567" cy="0"/>
            </a:xfrm>
            <a:prstGeom prst="straightConnector1">
              <a:avLst/>
            </a:prstGeom>
            <a:ln w="19050">
              <a:solidFill>
                <a:srgbClr val="F96705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283" y="5864"/>
              <a:ext cx="567" cy="0"/>
            </a:xfrm>
            <a:prstGeom prst="straightConnector1">
              <a:avLst/>
            </a:prstGeom>
            <a:ln w="19050">
              <a:solidFill>
                <a:srgbClr val="F96705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0722" name="图片 30721" descr="td15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00" y="5534025"/>
            <a:ext cx="4631690" cy="118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4999355" y="6079490"/>
            <a:ext cx="1252220" cy="369570"/>
          </a:xfrm>
          <a:prstGeom prst="rect">
            <a:avLst/>
          </a:prstGeom>
          <a:noFill/>
          <a:ln w="57150">
            <a:noFill/>
          </a:ln>
        </p:spPr>
        <p:txBody>
          <a:bodyPr wrap="none" lIns="90000" tIns="46800" rIns="90000" bIns="46800" anchor="ctr">
            <a:noAutofit/>
          </a:bodyPr>
          <a:lstStyle/>
          <a:p>
            <a:pPr algn="ctr" eaLnBrk="0" hangingPunct="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白光衍射</a:t>
            </a:r>
          </a:p>
        </p:txBody>
      </p:sp>
      <p:sp>
        <p:nvSpPr>
          <p:cNvPr id="28" name="对象 27">
            <a:hlinkClick r:id="" action="ppaction://ole?verb=0"/>
          </p:cNvPr>
          <p:cNvSpPr txBox="1"/>
          <p:nvPr/>
        </p:nvSpPr>
        <p:spPr>
          <a:xfrm>
            <a:off x="1786890" y="4944110"/>
            <a:ext cx="1012190" cy="32893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5" grpId="1"/>
      <p:bldP spid="2" grpId="1"/>
      <p:bldP spid="2" grpId="2"/>
      <p:bldP spid="15" grpId="0"/>
      <p:bldP spid="15" grpId="1"/>
      <p:bldP spid="16" grpId="0"/>
      <p:bldP spid="16" grpId="1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-5665" y="1663363"/>
            <a:ext cx="12197665" cy="4383821"/>
          </a:xfrm>
          <a:prstGeom prst="roundRect">
            <a:avLst>
              <a:gd name="adj" fmla="val 0"/>
            </a:avLst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1581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矩形 20483"/>
          <p:cNvSpPr>
            <a:spLocks noChangeArrowheads="1" noChangeShapeType="1" noTextEdit="1"/>
          </p:cNvSpPr>
          <p:nvPr/>
        </p:nvSpPr>
        <p:spPr bwMode="auto">
          <a:xfrm>
            <a:off x="5016500" y="2794000"/>
            <a:ext cx="2762250" cy="476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5781" name="文本框 75780"/>
          <p:cNvSpPr txBox="1"/>
          <p:nvPr/>
        </p:nvSpPr>
        <p:spPr>
          <a:xfrm>
            <a:off x="1130935" y="2050415"/>
            <a:ext cx="7479665" cy="31934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>
              <a:lnSpc>
                <a:spcPct val="200000"/>
              </a:lnSpc>
              <a:buClrTx/>
              <a:buSzTx/>
              <a:buFontTx/>
            </a:pPr>
            <a:r>
              <a:rPr lang="en-US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 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不同形状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衍射物的衍射光强分布特征。</a:t>
            </a:r>
            <a:endParaRPr lang="en-US" sz="2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hangingPunct="1">
              <a:lnSpc>
                <a:spcPct val="200000"/>
              </a:lnSpc>
              <a:buClrTx/>
              <a:buSzTx/>
              <a:buFontTx/>
            </a:pPr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2) </a:t>
            </a: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掌握利用光的衍射法测量微小量的方法。</a:t>
            </a:r>
            <a:endParaRPr lang="en-US" altLang="zh-CN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hangingPunct="1">
              <a:lnSpc>
                <a:spcPct val="200000"/>
              </a:lnSpc>
              <a:buClrTx/>
              <a:buSzTx/>
              <a:buFontTx/>
            </a:pPr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3) </a:t>
            </a: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了解一维光栅衍射的特征。</a:t>
            </a:r>
            <a:endParaRPr lang="en-US" altLang="zh-CN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endParaRPr lang="en-US" altLang="zh-CN" sz="2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实验装置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85781" y="3264361"/>
              <a:ext cx="361874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EXPERIMENTAL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实验装置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80702" y="324999"/>
            <a:ext cx="304403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DEVICE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6" t="34648" r="256" b="35561"/>
          <a:stretch>
            <a:fillRect/>
          </a:stretch>
        </p:blipFill>
        <p:spPr bwMode="auto">
          <a:xfrm>
            <a:off x="142600" y="1206500"/>
            <a:ext cx="7653574" cy="171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9" t="9723" r="37557" b="10060"/>
          <a:stretch>
            <a:fillRect/>
          </a:stretch>
        </p:blipFill>
        <p:spPr>
          <a:xfrm>
            <a:off x="9215755" y="3908425"/>
            <a:ext cx="1303655" cy="1743075"/>
          </a:xfrm>
          <a:prstGeom prst="rect">
            <a:avLst/>
          </a:prstGeom>
          <a:ln w="6350" cmpd="sng">
            <a:solidFill>
              <a:schemeClr val="tx1"/>
            </a:solidFill>
            <a:prstDash val="solid"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295" y="3908425"/>
            <a:ext cx="2013585" cy="1736090"/>
          </a:xfrm>
          <a:prstGeom prst="rect">
            <a:avLst/>
          </a:prstGeom>
          <a:ln w="6350" cmpd="sng">
            <a:solidFill>
              <a:schemeClr val="tx1"/>
            </a:solidFill>
            <a:prstDash val="solid"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03350" y="3941445"/>
            <a:ext cx="2087880" cy="171005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9618624" y="5720071"/>
            <a:ext cx="6096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光屏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906549" y="5720071"/>
            <a:ext cx="9144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衍射屏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820" y="3912870"/>
            <a:ext cx="2634615" cy="1737995"/>
          </a:xfrm>
          <a:prstGeom prst="rect">
            <a:avLst/>
          </a:prstGeom>
          <a:noFill/>
          <a:ln w="6350" cmpd="sng">
            <a:solidFill>
              <a:schemeClr val="tx1"/>
            </a:solidFill>
            <a:prstDash val="solid"/>
          </a:ln>
        </p:spPr>
      </p:pic>
      <p:sp>
        <p:nvSpPr>
          <p:cNvPr id="17" name="文本框 16"/>
          <p:cNvSpPr txBox="1"/>
          <p:nvPr/>
        </p:nvSpPr>
        <p:spPr>
          <a:xfrm>
            <a:off x="5052974" y="5720071"/>
            <a:ext cx="27432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光强探测器与显示屏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01322" y="3289070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一维光栅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421435" y="3268759"/>
            <a:ext cx="6096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单缝</a:t>
            </a:r>
          </a:p>
        </p:txBody>
      </p:sp>
      <p:cxnSp>
        <p:nvCxnSpPr>
          <p:cNvPr id="6" name="直接箭头连接符 5"/>
          <p:cNvCxnSpPr>
            <a:endCxn id="18" idx="2"/>
          </p:cNvCxnSpPr>
          <p:nvPr/>
        </p:nvCxnSpPr>
        <p:spPr>
          <a:xfrm flipH="1" flipV="1">
            <a:off x="1725950" y="3638029"/>
            <a:ext cx="267970" cy="1276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2701692" y="3638002"/>
            <a:ext cx="263525" cy="903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577232" y="4518218"/>
            <a:ext cx="1440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234315" y="6076315"/>
            <a:ext cx="82245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注意事项：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、空程差；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激光不能直视；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、不能触摸光学仪器表面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ADABDD-5FAA-B07F-C242-636D1A84552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562" y="805715"/>
            <a:ext cx="2926386" cy="21947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7E317F8-A38C-952B-12EE-A2F83EFD1C0E}"/>
              </a:ext>
            </a:extLst>
          </p:cNvPr>
          <p:cNvSpPr txBox="1"/>
          <p:nvPr/>
        </p:nvSpPr>
        <p:spPr>
          <a:xfrm>
            <a:off x="9618624" y="3244334"/>
            <a:ext cx="92333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偏振片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3265B6-65A4-B153-A3F9-32C31D1D56A9}"/>
              </a:ext>
            </a:extLst>
          </p:cNvPr>
          <p:cNvSpPr txBox="1"/>
          <p:nvPr/>
        </p:nvSpPr>
        <p:spPr>
          <a:xfrm>
            <a:off x="7448150" y="3323193"/>
            <a:ext cx="18466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调节激光收束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798073B-799D-D4F3-C739-5BE53F8DC5E5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8371480" y="2136882"/>
            <a:ext cx="239120" cy="1186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EAE3FFF-F3EB-E8A3-9EEB-1FD124F5E57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982200" y="2292764"/>
            <a:ext cx="98089" cy="951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66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58140" y="1504315"/>
            <a:ext cx="1063180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）调节激光器与光学导轨，确保各光学元件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等高共轴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）观察衍射屏上不同形状的衍射图案，判断衍射点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形状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）观察一维光栅衍射，测量±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级衍射点间距离，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计算光源波长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绘制单缝衍射图案，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计算单缝宽度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）验证±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级与中心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级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光强比</a:t>
            </a:r>
            <a:r>
              <a:rPr lang="zh-CN" altLang="en-US" sz="2800" dirty="0"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Cambria Math" panose="02040503050406030204" pitchFamily="18" charset="0"/>
              <a:ea typeface="宋体" panose="02010600030101010101" pitchFamily="2" charset="-122"/>
              <a:cs typeface="Cambria Math" panose="02040503050406030204" pitchFamily="18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860" y="3966845"/>
            <a:ext cx="2110740" cy="1781175"/>
          </a:xfrm>
          <a:prstGeom prst="rect">
            <a:avLst/>
          </a:prstGeom>
          <a:ln w="6350" cmpd="sng">
            <a:solidFill>
              <a:schemeClr val="tx1"/>
            </a:solidFill>
            <a:prstDash val="solid"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125970" y="3966845"/>
            <a:ext cx="2294890" cy="178054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D8F9D9A-038B-6082-1A17-4DAF149C9BA3}"/>
              </a:ext>
            </a:extLst>
          </p:cNvPr>
          <p:cNvSpPr txBox="1"/>
          <p:nvPr/>
        </p:nvSpPr>
        <p:spPr>
          <a:xfrm>
            <a:off x="478623" y="5771577"/>
            <a:ext cx="7297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注意一定要单向转动手柄测量！！！！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6AC11D-FFA3-20EC-9822-416D8397B990}"/>
              </a:ext>
            </a:extLst>
          </p:cNvPr>
          <p:cNvSpPr txBox="1"/>
          <p:nvPr/>
        </p:nvSpPr>
        <p:spPr>
          <a:xfrm>
            <a:off x="8470760" y="3487139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一维光栅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0DE7EE-2218-E498-150F-C0CE568E12AC}"/>
              </a:ext>
            </a:extLst>
          </p:cNvPr>
          <p:cNvSpPr txBox="1"/>
          <p:nvPr/>
        </p:nvSpPr>
        <p:spPr>
          <a:xfrm>
            <a:off x="7166638" y="3487140"/>
            <a:ext cx="6096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单缝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B79640-79CC-584E-D241-EDDB1B1B1E07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7471438" y="3856075"/>
            <a:ext cx="304800" cy="1127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8EA8711-943B-5E35-D81E-AD12C7AE9439}"/>
              </a:ext>
            </a:extLst>
          </p:cNvPr>
          <p:cNvCxnSpPr/>
          <p:nvPr/>
        </p:nvCxnSpPr>
        <p:spPr>
          <a:xfrm flipV="1">
            <a:off x="8546215" y="3727122"/>
            <a:ext cx="263525" cy="903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45DD8F5-0E55-1500-2935-8D0D01835802}"/>
              </a:ext>
            </a:extLst>
          </p:cNvPr>
          <p:cNvSpPr/>
          <p:nvPr/>
        </p:nvSpPr>
        <p:spPr>
          <a:xfrm>
            <a:off x="8398752" y="4607338"/>
            <a:ext cx="1440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52"/>
              <p:cNvSpPr txBox="1"/>
              <p:nvPr/>
            </p:nvSpPr>
            <p:spPr>
              <a:xfrm>
                <a:off x="178753" y="2240856"/>
                <a:ext cx="9285605" cy="22428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调节偏振片使出射光强较弱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测量±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级衍射点间距离，根据光栅方程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=±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400" dirty="0"/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计算光源波长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；计算与标准值（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635.0nm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）相对误差，重复六次并计算不确定度。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a+b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=0.02mm)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2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53" y="2240856"/>
                <a:ext cx="9285605" cy="2242858"/>
              </a:xfrm>
              <a:prstGeom prst="rect">
                <a:avLst/>
              </a:prstGeom>
              <a:blipFill>
                <a:blip r:embed="rId4"/>
                <a:stretch>
                  <a:fillRect l="-984" b="-543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8753" y="1266825"/>
            <a:ext cx="2184083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一维光栅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9"/>
              <p:cNvSpPr txBox="1"/>
              <p:nvPr/>
            </p:nvSpPr>
            <p:spPr>
              <a:xfrm>
                <a:off x="595339" y="4536466"/>
                <a:ext cx="7472408" cy="2109418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其中</m:t>
                    </m:r>
                    <m:r>
                      <m:rPr>
                        <m:sty m:val="p"/>
                      </m:rPr>
                      <a:rPr lang="zh-CN" altLang="en-US" sz="20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为第一级亮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纹中心间距，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CN" altLang="en-US" sz="200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光栅到硅光探测器间距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𝑒𝑟𝑟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实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理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panose="02020609040205080304" charset="0"/>
                          <a:cs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MS Mincho" panose="02020609040205080304" charset="0"/>
                  <a:cs typeface="Cambria Math" panose="02040503050406030204" pitchFamily="18" charset="0"/>
                </a:endParaRPr>
              </a:p>
              <a:p>
                <a:endParaRPr lang="zh-CN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39" y="4536466"/>
                <a:ext cx="7472408" cy="2109418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对象 11"/>
          <p:cNvSpPr txBox="1"/>
          <p:nvPr/>
        </p:nvSpPr>
        <p:spPr>
          <a:xfrm>
            <a:off x="4691924" y="909161"/>
            <a:ext cx="1643063" cy="350044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72" b="60297"/>
          <a:stretch>
            <a:fillRect/>
          </a:stretch>
        </p:blipFill>
        <p:spPr bwMode="auto">
          <a:xfrm>
            <a:off x="9254490" y="1259205"/>
            <a:ext cx="2505710" cy="80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635" y="2172970"/>
            <a:ext cx="1701165" cy="1961515"/>
          </a:xfrm>
          <a:prstGeom prst="rect">
            <a:avLst/>
          </a:prstGeom>
        </p:spPr>
      </p:pic>
      <p:sp>
        <p:nvSpPr>
          <p:cNvPr id="18" name="对象 17"/>
          <p:cNvSpPr txBox="1"/>
          <p:nvPr/>
        </p:nvSpPr>
        <p:spPr>
          <a:xfrm>
            <a:off x="1560288" y="5032829"/>
            <a:ext cx="5864406" cy="742950"/>
          </a:xfrm>
          <a:prstGeom prst="rect">
            <a:avLst/>
          </a:prstGeom>
        </p:spPr>
        <p:txBody>
          <a:bodyPr/>
          <a:lstStyle/>
          <a:p>
            <a:endParaRPr lang="zh-CN" altLang="en-US" sz="2000" i="1" dirty="0">
              <a:solidFill>
                <a:srgbClr val="FF0000"/>
              </a:solidFill>
              <a:latin typeface="Cambria Math" panose="02040503050406030204" pitchFamily="18" charset="0"/>
              <a:ea typeface="MS Mincho" panose="02020609040205080304" charset="0"/>
              <a:cs typeface="Cambria Math" panose="020405030504060302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7950" y="1153160"/>
            <a:ext cx="3024505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单缝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5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88925" y="2315734"/>
                <a:ext cx="8167370" cy="39615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调节偏振片使出射光强最强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绘制±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级暗纹间图案，不少于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50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个数据点（可以先初步</a:t>
                </a:r>
                <a:r>
                  <a:rPr lang="zh-CN" altLang="en-US" sz="24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测量±</a:t>
                </a:r>
                <a:r>
                  <a:rPr lang="en-US" altLang="zh-CN" sz="24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级暗纹整体间距，再确定数据点选取区间）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利用光栅衍射得到的波长和±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级亮纹中心位置方程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cs typeface="Cambria Math" panose="02040503050406030204" pitchFamily="18" charset="0"/>
                  </a:rPr>
                  <a:t>验证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cs typeface="Cambria Math" panose="02040503050406030204" pitchFamily="18" charset="0"/>
                  </a:rPr>
                  <a:t>光强比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cs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panose="02020609040205080304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panose="02020609040205080304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panose="02020609040205080304" charset="0"/>
                        <a:cs typeface="Cambria Math" panose="02040503050406030204" pitchFamily="18" charset="0"/>
                      </a:rPr>
                      <m:t>%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（一组即可）</a:t>
                </a:r>
                <a:endParaRPr lang="en-US" altLang="zh-CN" sz="18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=±1.43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计算单缝宽度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en-US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</a:t>
                </a:r>
                <a:r>
                  <a:rPr lang="zh-CN" altLang="en-US" sz="24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。</a:t>
                </a:r>
                <a:r>
                  <a:rPr lang="zh-CN" altLang="en-US" sz="1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（测量</a:t>
                </a:r>
                <a:r>
                  <a:rPr lang="en-US" altLang="zh-CN" sz="1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6</a:t>
                </a:r>
                <a:r>
                  <a:rPr lang="zh-CN" altLang="en-US" sz="1800" dirty="0">
                    <a:latin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组，只需测量一级亮纹极值间距）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并计算不确定度。</a:t>
                </a:r>
              </a:p>
            </p:txBody>
          </p:sp>
        </mc:Choice>
        <mc:Fallback>
          <p:sp>
            <p:nvSpPr>
              <p:cNvPr id="9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88925" y="2315734"/>
                <a:ext cx="8167370" cy="3961534"/>
              </a:xfrm>
              <a:prstGeom prst="rect">
                <a:avLst/>
              </a:prstGeom>
              <a:blipFill>
                <a:blip r:embed="rId7"/>
                <a:stretch>
                  <a:fillRect l="-1119" r="-3433" b="-261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456295" y="1430655"/>
            <a:ext cx="3488690" cy="21977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" y="4006306"/>
            <a:ext cx="4896485" cy="580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altLang="zh-CN" sz="2800" i="1" dirty="0">
              <a:latin typeface="Cambria Math" panose="02040503050406030204" pitchFamily="18" charset="0"/>
              <a:ea typeface="宋体" panose="02010600030101010101" pitchFamily="2" charset="-122"/>
              <a:cs typeface="Cambria Math" panose="02040503050406030204" pitchFamily="18" charset="0"/>
            </a:endParaRPr>
          </a:p>
        </p:txBody>
      </p:sp>
      <p:sp>
        <p:nvSpPr>
          <p:cNvPr id="55" name="对象 54">
            <a:hlinkClick r:id="" action="ppaction://ole?verb=0"/>
          </p:cNvPr>
          <p:cNvSpPr txBox="1"/>
          <p:nvPr/>
        </p:nvSpPr>
        <p:spPr>
          <a:xfrm>
            <a:off x="255905" y="3137535"/>
            <a:ext cx="2727960" cy="68326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graphicFrame>
        <p:nvGraphicFramePr>
          <p:cNvPr id="11" name="对象 10"/>
          <p:cNvGraphicFramePr/>
          <p:nvPr>
            <p:custDataLst>
              <p:tags r:id="rId4"/>
            </p:custDataLst>
          </p:nvPr>
        </p:nvGraphicFramePr>
        <p:xfrm>
          <a:off x="8385810" y="3628390"/>
          <a:ext cx="3653790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137535" imgH="2473960" progId="Origin95.Graph">
                  <p:embed/>
                </p:oleObj>
              </mc:Choice>
              <mc:Fallback>
                <p:oleObj r:id="rId9" imgW="3137535" imgH="2473960" progId="Origin95.Graph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85810" y="3628390"/>
                        <a:ext cx="3653790" cy="246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1" y="298630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338820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</a:p>
        </p:txBody>
      </p:sp>
      <p:sp>
        <p:nvSpPr>
          <p:cNvPr id="397" name="矩形 396"/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圆角矩形 1"/>
          <p:cNvSpPr/>
          <p:nvPr/>
        </p:nvSpPr>
        <p:spPr>
          <a:xfrm rot="10800000" flipV="1">
            <a:off x="-5664" y="291645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4885" y="61785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3599" y="894970"/>
            <a:ext cx="10541000" cy="58902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单缝衍射两侧光强不是严格对称的原因是什么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（主要因素即可）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）狭缝太宽或太窄会发生什么情况，为什么？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）光栅衍射时会发生缺级现象，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为什么？</a:t>
            </a:r>
            <a:endParaRPr lang="en-US" altLang="zh-CN" sz="24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endParaRPr 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）在衍射的障碍物为圆屏时，无论圆屏的尺度有多大（在能够观察到衍射图样的范围内），衍射图样的中心总是会有一个亮斑，请解释这个现象发生的原因。（选答，根据答案酌情加分）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067163" y="1785257"/>
            <a:ext cx="4386943" cy="2647950"/>
            <a:chOff x="6293" y="2440"/>
            <a:chExt cx="7621" cy="3946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575"/>
            <a:stretch>
              <a:fillRect/>
            </a:stretch>
          </p:blipFill>
          <p:spPr bwMode="auto">
            <a:xfrm>
              <a:off x="11833" y="4446"/>
              <a:ext cx="2081" cy="1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组合 18"/>
            <p:cNvGrpSpPr/>
            <p:nvPr/>
          </p:nvGrpSpPr>
          <p:grpSpPr>
            <a:xfrm>
              <a:off x="11833" y="2440"/>
              <a:ext cx="2081" cy="1994"/>
              <a:chOff x="7370445" y="1549400"/>
              <a:chExt cx="1321435" cy="126619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2465"/>
              <a:stretch>
                <a:fillRect/>
              </a:stretch>
            </p:blipFill>
            <p:spPr bwMode="auto">
              <a:xfrm>
                <a:off x="7381240" y="1549400"/>
                <a:ext cx="1310640" cy="1266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组合 8"/>
              <p:cNvGrpSpPr/>
              <p:nvPr/>
            </p:nvGrpSpPr>
            <p:grpSpPr>
              <a:xfrm>
                <a:off x="7370445" y="2426970"/>
                <a:ext cx="1015365" cy="298450"/>
                <a:chOff x="11847" y="2555"/>
                <a:chExt cx="1599" cy="470"/>
              </a:xfrm>
            </p:grpSpPr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5"/>
                <a:srcRect l="18104" t="50000" r="64281" b="39231"/>
                <a:stretch>
                  <a:fillRect/>
                </a:stretch>
              </p:blipFill>
              <p:spPr>
                <a:xfrm>
                  <a:off x="11978" y="2892"/>
                  <a:ext cx="442" cy="133"/>
                </a:xfrm>
                <a:prstGeom prst="rect">
                  <a:avLst/>
                </a:prstGeom>
              </p:spPr>
            </p:pic>
            <p:sp>
              <p:nvSpPr>
                <p:cNvPr id="8" name="文本框 7"/>
                <p:cNvSpPr txBox="1"/>
                <p:nvPr/>
              </p:nvSpPr>
              <p:spPr>
                <a:xfrm>
                  <a:off x="11847" y="2555"/>
                  <a:ext cx="1599" cy="3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/>
                    <a:t>2cm</a:t>
                  </a:r>
                </a:p>
              </p:txBody>
            </p:sp>
          </p:grpSp>
        </p:grpSp>
        <p:pic>
          <p:nvPicPr>
            <p:cNvPr id="24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3" y="2634"/>
              <a:ext cx="4950" cy="3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文本框 24"/>
            <p:cNvSpPr txBox="1"/>
            <p:nvPr/>
          </p:nvSpPr>
          <p:spPr>
            <a:xfrm>
              <a:off x="10148" y="2576"/>
              <a:ext cx="1280" cy="6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缺级</a:t>
              </a:r>
              <a:endParaRPr lang="zh-CN" altLang="en-US" sz="32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21" name="直接箭头连接符 20"/>
            <p:cNvCxnSpPr>
              <a:cxnSpLocks/>
              <a:stCxn id="25" idx="3"/>
            </p:cNvCxnSpPr>
            <p:nvPr/>
          </p:nvCxnSpPr>
          <p:spPr>
            <a:xfrm>
              <a:off x="11428" y="2900"/>
              <a:ext cx="944" cy="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25" idx="3"/>
            </p:cNvCxnSpPr>
            <p:nvPr/>
          </p:nvCxnSpPr>
          <p:spPr>
            <a:xfrm>
              <a:off x="11428" y="2901"/>
              <a:ext cx="1186" cy="18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12303" y="4730"/>
              <a:ext cx="1247" cy="1248"/>
            </a:xfrm>
            <a:prstGeom prst="rect">
              <a:avLst/>
            </a:prstGeom>
            <a:noFill/>
            <a:ln w="6350">
              <a:solidFill>
                <a:srgbClr val="FFFF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3CF98-7BC9-FCE1-2AFD-C7FC06A9D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844"/>
          </a:xfrm>
        </p:spPr>
        <p:txBody>
          <a:bodyPr>
            <a:normAutofit/>
          </a:bodyPr>
          <a:lstStyle/>
          <a:p>
            <a:r>
              <a:rPr lang="zh-CN" altLang="en-US" dirty="0"/>
              <a:t>原始数据用</a:t>
            </a:r>
            <a:r>
              <a:rPr lang="en-US" altLang="zh-CN" dirty="0"/>
              <a:t>A4</a:t>
            </a:r>
            <a:r>
              <a:rPr lang="zh-CN" altLang="en-US" dirty="0"/>
              <a:t>纸记录（讲台上有）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原始数据需在每页都标记姓名、学号、实验桌号，并交由指导教师签字后方可离开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/>
              <a:t>请提前绘制数据表格并填写表头，提高整洁度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C9666-3620-2AD0-CC23-BB9B6DC2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984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4743572" y="2334007"/>
            <a:ext cx="2441690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5325780" y="3999466"/>
            <a:ext cx="1277273" cy="542995"/>
            <a:chOff x="9609968" y="5697100"/>
            <a:chExt cx="1277273" cy="547438"/>
          </a:xfrm>
        </p:grpSpPr>
        <p:sp>
          <p:nvSpPr>
            <p:cNvPr id="51" name="文本框 50"/>
            <p:cNvSpPr txBox="1"/>
            <p:nvPr/>
          </p:nvSpPr>
          <p:spPr>
            <a:xfrm>
              <a:off x="9609968" y="5779095"/>
              <a:ext cx="184666" cy="46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endParaRPr lang="en-US" altLang="zh-CN" sz="24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0702511" y="5697100"/>
              <a:ext cx="184730" cy="465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3097457" y="4629286"/>
            <a:ext cx="5910620" cy="36703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charset="0"/>
                <a:cs typeface="Segoe UI Semilight" panose="020B0402040204020203" pitchFamily="34" charset="0"/>
              </a:rPr>
              <a:t>光的衍射</a:t>
            </a: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LISTENING 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c1NzExYTkyNTNjMWRmNDY1YTQ4ZjI4MTM4NmFiO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50,&quot;width&quot;:55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17,&quot;width&quot;:716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1198</Words>
  <Application>Microsoft Office PowerPoint</Application>
  <PresentationFormat>宽屏</PresentationFormat>
  <Paragraphs>201</Paragraphs>
  <Slides>21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仿宋_GB2312</vt:lpstr>
      <vt:lpstr>黑体</vt:lpstr>
      <vt:lpstr>楷体</vt:lpstr>
      <vt:lpstr>宋体</vt:lpstr>
      <vt:lpstr>微软雅黑</vt:lpstr>
      <vt:lpstr>Arial</vt:lpstr>
      <vt:lpstr>Calibri</vt:lpstr>
      <vt:lpstr>Cambria Math</vt:lpstr>
      <vt:lpstr>Century Gothic</vt:lpstr>
      <vt:lpstr>Eras Light ITC</vt:lpstr>
      <vt:lpstr>Segoe UI Semilight</vt:lpstr>
      <vt:lpstr>Times New Roman</vt:lpstr>
      <vt:lpstr>Wingdings</vt:lpstr>
      <vt:lpstr>Office 主题</vt:lpstr>
      <vt:lpstr>Origin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原始数据用A4纸记录（讲台上有）  原始数据需在每页都标记姓名、学号、实验桌号，并交由指导教师签字后方可离开  请提前绘制数据表格并填写表头，提高整洁度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BOXU JIANG</cp:lastModifiedBy>
  <cp:revision>876</cp:revision>
  <dcterms:created xsi:type="dcterms:W3CDTF">2015-04-07T16:28:00Z</dcterms:created>
  <dcterms:modified xsi:type="dcterms:W3CDTF">2025-10-11T01:51:09Z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142108EC0D7A447C84BF58982BE72682_12</vt:lpwstr>
  </property>
  <property fmtid="{D5CDD505-2E9C-101B-9397-08002B2CF9AE}" pid="3" name="KSOProductBuildVer">
    <vt:lpwstr>2052-12.1.0.18276</vt:lpwstr>
  </property>
</Properties>
</file>