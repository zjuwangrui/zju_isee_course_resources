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358" r:id="rId4"/>
    <p:sldId id="259" r:id="rId5"/>
    <p:sldId id="369" r:id="rId6"/>
    <p:sldId id="292" r:id="rId7"/>
    <p:sldId id="293" r:id="rId8"/>
    <p:sldId id="294" r:id="rId9"/>
    <p:sldId id="370" r:id="rId10"/>
    <p:sldId id="371" r:id="rId11"/>
    <p:sldId id="372" r:id="rId12"/>
    <p:sldId id="373" r:id="rId13"/>
    <p:sldId id="309" r:id="rId14"/>
    <p:sldId id="374" r:id="rId15"/>
    <p:sldId id="367" r:id="rId16"/>
    <p:sldId id="375" r:id="rId17"/>
    <p:sldId id="376" r:id="rId18"/>
    <p:sldId id="326" r:id="rId19"/>
  </p:sldIdLst>
  <p:sldSz cx="12192000" cy="6858000"/>
  <p:notesSz cx="6858000" cy="9144000"/>
  <p:defaultTextStyle>
    <a:defPPr>
      <a:defRPr lang="zh-CN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U" initials="Z" lastIdx="3" clrIdx="0">
    <p:extLst>
      <p:ext uri="{19B8F6BF-5375-455C-9EA6-DF929625EA0E}">
        <p15:presenceInfo xmlns:p15="http://schemas.microsoft.com/office/powerpoint/2012/main" userId="ZJ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5597"/>
    <a:srgbClr val="FCF300"/>
    <a:srgbClr val="EAFF64"/>
    <a:srgbClr val="EF8136"/>
    <a:srgbClr val="EE8137"/>
    <a:srgbClr val="C55A11"/>
    <a:srgbClr val="A2A2A2"/>
    <a:srgbClr val="EBE9DC"/>
    <a:srgbClr val="5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1" autoAdjust="0"/>
    <p:restoredTop sz="87097" autoAdjust="0"/>
  </p:normalViewPr>
  <p:slideViewPr>
    <p:cSldViewPr snapToGrid="0">
      <p:cViewPr varScale="1">
        <p:scale>
          <a:sx n="79" d="100"/>
          <a:sy n="79" d="100"/>
        </p:scale>
        <p:origin x="84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e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9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pPr/>
              <a:t>2025/7/4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81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45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SimSun" panose="02010600030101010101" pitchFamily="2" charset="-122"/>
                <a:ea typeface="SimSun" panose="02010600030101010101" pitchFamily="2" charset="-122"/>
              </a:rPr>
              <a:t>500Hz</a:t>
            </a:r>
            <a:r>
              <a:rPr lang="zh-CN" altLang="en-US" sz="1200" dirty="0">
                <a:latin typeface="SimSun" panose="02010600030101010101" pitchFamily="2" charset="-122"/>
                <a:ea typeface="SimSun" panose="02010600030101010101" pitchFamily="2" charset="-122"/>
              </a:rPr>
              <a:t>更难调平衡。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448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dirty="0" smtClean="0"/>
              <a:t>基于发电、传输、使用和安全等多方面的</a:t>
            </a:r>
            <a:r>
              <a:rPr lang="zh-CN" altLang="zh-CN" sz="1200" b="1" dirty="0" smtClean="0"/>
              <a:t>综合考虑</a:t>
            </a:r>
            <a:r>
              <a:rPr lang="zh-CN" altLang="zh-CN" sz="1200" dirty="0" smtClean="0"/>
              <a:t>，</a:t>
            </a:r>
            <a:r>
              <a:rPr lang="zh-CN" altLang="zh-CN" sz="1200" b="1" dirty="0" smtClean="0"/>
              <a:t>正弦交流电</a:t>
            </a:r>
            <a:r>
              <a:rPr lang="zh-CN" altLang="zh-CN" sz="1200" dirty="0" smtClean="0"/>
              <a:t>具有高效稳定的特点，被广泛应用于生产、科研、日常生活。交流电电流电压之间存在一个</a:t>
            </a:r>
            <a:r>
              <a:rPr lang="zh-CN" altLang="zh-CN" sz="1200" b="1" dirty="0" smtClean="0"/>
              <a:t>相位关系</a:t>
            </a:r>
            <a:r>
              <a:rPr lang="zh-CN" altLang="zh-CN" sz="1200" dirty="0" smtClean="0"/>
              <a:t>，流过一个元器件的电流和其两端的电压，它们的相位不一定是相同的。所以我们在计算功率的时候不能用简单的代数计算，要采用</a:t>
            </a:r>
            <a:r>
              <a:rPr lang="zh-CN" altLang="zh-CN" sz="1200" b="1" dirty="0" smtClean="0"/>
              <a:t>矢量处理</a:t>
            </a:r>
            <a:r>
              <a:rPr lang="zh-CN" altLang="en-US" sz="1200" b="1" dirty="0" smtClean="0"/>
              <a:t>，即</a:t>
            </a:r>
            <a:r>
              <a:rPr lang="en-US" altLang="zh-CN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P=</a:t>
            </a:r>
            <a:r>
              <a:rPr lang="en-US" altLang="zh-CN" sz="12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U·I·cos</a:t>
            </a:r>
            <a:r>
              <a:rPr lang="el-GR" altLang="zh-CN" sz="1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l-GR" altLang="zh-CN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200" dirty="0" smtClean="0"/>
              <a:t>。</a:t>
            </a:r>
            <a:r>
              <a:rPr lang="en-US" altLang="zh-CN" sz="1200" b="1" dirty="0" smtClean="0"/>
              <a:t> cos</a:t>
            </a:r>
            <a:r>
              <a:rPr lang="el-GR" altLang="zh-CN" sz="1200" dirty="0" smtClean="0"/>
              <a:t> </a:t>
            </a:r>
            <a:r>
              <a:rPr lang="el-GR" altLang="zh-CN" sz="1200" b="1" dirty="0" smtClean="0"/>
              <a:t>φ</a:t>
            </a:r>
            <a:r>
              <a:rPr lang="zh-CN" altLang="en-US" sz="1200" b="1" dirty="0" smtClean="0"/>
              <a:t>就是我们所讨论的功率因数。</a:t>
            </a:r>
            <a:r>
              <a:rPr lang="zh-CN" altLang="en-US" sz="1200" dirty="0" smtClean="0"/>
              <a:t>功率因数的存在</a:t>
            </a:r>
            <a:r>
              <a:rPr lang="zh-CN" altLang="zh-CN" sz="1200" dirty="0" smtClean="0"/>
              <a:t>会引起两个问题：电源设备的容量不能充分利用，以及增加线路和发电机绕组的损耗。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334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136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034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071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日光灯电路接通电源后，电源电压全部加在</a:t>
            </a:r>
            <a:r>
              <a:rPr lang="zh-CN" altLang="en-US" sz="1200" b="1" dirty="0" smtClean="0"/>
              <a:t>启辉器两端</a:t>
            </a:r>
            <a:r>
              <a:rPr lang="zh-CN" altLang="en-US" sz="1200" dirty="0" smtClean="0"/>
              <a:t>，从而使启辉器内部的动触片与静触片之间产生</a:t>
            </a:r>
            <a:r>
              <a:rPr lang="zh-CN" altLang="en-US" sz="1200" b="1" dirty="0" smtClean="0"/>
              <a:t>辉光放电</a:t>
            </a:r>
            <a:r>
              <a:rPr lang="zh-CN" altLang="en-US" sz="1200" dirty="0" smtClean="0"/>
              <a:t>，辉光放电产生的热量使动触片受热膨胀趋向伸直，与静触片接通。于是，日光灯管两端的灯丝、启辉器内部的触片、镇流器构成一个回路。灯丝因通电发热，发射电子，同时，启辉器内部的动触片与静触片接通时，触片间电压为零，辉光放电立即停止，动触片冷却收缩而脱离静触片，导致镇流器中的电流突然减小为零。于是，镇流器产生的</a:t>
            </a:r>
            <a:r>
              <a:rPr lang="zh-CN" altLang="en-US" sz="1200" b="1" dirty="0" smtClean="0"/>
              <a:t>自感电动势</a:t>
            </a:r>
            <a:r>
              <a:rPr lang="zh-CN" altLang="en-US" sz="1200" dirty="0" smtClean="0"/>
              <a:t>与电源电压串联叠加于灯管两端，灯管内部的惰性气体分子发生</a:t>
            </a:r>
            <a:r>
              <a:rPr lang="zh-CN" altLang="en-US" sz="1200" b="1" dirty="0" smtClean="0"/>
              <a:t>弧光放电</a:t>
            </a:r>
            <a:r>
              <a:rPr lang="zh-CN" altLang="en-US" sz="1200" dirty="0" smtClean="0"/>
              <a:t>，放出大量热。使灯管中的</a:t>
            </a:r>
            <a:r>
              <a:rPr lang="zh-CN" altLang="en-US" sz="1200" b="1" dirty="0" smtClean="0"/>
              <a:t>汞原子辐射出紫外光</a:t>
            </a:r>
            <a:r>
              <a:rPr lang="zh-CN" altLang="en-US" sz="1200" dirty="0" smtClean="0"/>
              <a:t>。紫外光通过激发灯壁的</a:t>
            </a:r>
            <a:r>
              <a:rPr lang="zh-CN" altLang="en-US" sz="1200" b="1" dirty="0" smtClean="0"/>
              <a:t>荧光粉</a:t>
            </a:r>
            <a:r>
              <a:rPr lang="zh-CN" altLang="en-US" sz="1200" dirty="0" smtClean="0"/>
              <a:t>从而实现可见光的发出。</a:t>
            </a:r>
          </a:p>
          <a:p>
            <a:r>
              <a:rPr lang="zh-CN" altLang="en-US" sz="1200" dirty="0" smtClean="0"/>
              <a:t>        日光灯管发光后，其两端电压不足以使启辉器辉光放电，这时交流电源、镇流器与日光灯管串联构成一个电流通路，从而保证日光灯的正常工作。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82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我们实验室用的是高压汞灯。低压汞灯气体小于</a:t>
            </a:r>
            <a:r>
              <a:rPr lang="en-US" altLang="zh-CN" dirty="0"/>
              <a:t>1</a:t>
            </a:r>
            <a:r>
              <a:rPr lang="zh-CN" altLang="en-US" dirty="0"/>
              <a:t>个大气压  超高压汞灯 </a:t>
            </a:r>
            <a:r>
              <a:rPr lang="en-US" altLang="zh-CN" dirty="0"/>
              <a:t>&gt;10</a:t>
            </a:r>
            <a:r>
              <a:rPr lang="zh-CN" altLang="en-US" dirty="0"/>
              <a:t>个大气压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523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624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我们实验室用的是高压汞灯。低压汞灯气体小于</a:t>
            </a:r>
            <a:r>
              <a:rPr lang="en-US" altLang="zh-CN" dirty="0"/>
              <a:t>1</a:t>
            </a:r>
            <a:r>
              <a:rPr lang="zh-CN" altLang="en-US" dirty="0"/>
              <a:t>个大气压  超高压汞灯 </a:t>
            </a:r>
            <a:r>
              <a:rPr lang="en-US" altLang="zh-CN" dirty="0"/>
              <a:t>&gt;10</a:t>
            </a:r>
            <a:r>
              <a:rPr lang="zh-CN" altLang="en-US" dirty="0"/>
              <a:t>个大气压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428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7EBD6-A95E-4238-9F9C-C835A399C228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26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6D95-43BE-49FE-8CE4-E02A8EFA3509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54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D39C-8E48-4660-8F43-E22D20DE1D87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32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C7C4-0EE1-4AD4-9546-5B49CD76B7C7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4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A06D-4C49-482E-A612-BBE441E94375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98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B498-1CA0-4221-A3B5-F4BC07DFE5C2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3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259C-16F9-40F5-B0D6-8D89B0F97534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2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924F-63EE-47D2-B8B3-D699FFA3F0CB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543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E7D1-89FA-49D5-8FDB-903AD68E42E0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89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221D-9404-4F8F-B8E2-30F2D88BCB6E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61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4E56-1F1E-4164-B2C4-8B56C5C3303B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35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F3BDC-7450-498C-9BCD-636429C42BB6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13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0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9.wmf"/><Relationship Id="rId5" Type="http://schemas.openxmlformats.org/officeDocument/2006/relationships/image" Target="../media/image6.e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1"/>
            <a:tileRect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grpSp>
        <p:nvGrpSpPr>
          <p:cNvPr id="41" name="组合 40"/>
          <p:cNvGrpSpPr/>
          <p:nvPr/>
        </p:nvGrpSpPr>
        <p:grpSpPr>
          <a:xfrm>
            <a:off x="3961807" y="4833567"/>
            <a:ext cx="3046088" cy="430887"/>
            <a:chOff x="8401305" y="5760346"/>
            <a:chExt cx="3046089" cy="434414"/>
          </a:xfrm>
        </p:grpSpPr>
        <p:sp>
          <p:nvSpPr>
            <p:cNvPr id="42" name="文本框 41"/>
            <p:cNvSpPr txBox="1"/>
            <p:nvPr/>
          </p:nvSpPr>
          <p:spPr>
            <a:xfrm>
              <a:off x="8401305" y="5760346"/>
              <a:ext cx="1313180" cy="43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主讲教师</a:t>
              </a:r>
              <a:endPara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0345809" y="5760346"/>
              <a:ext cx="1101585" cy="4344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2025.06</a:t>
              </a: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1422883" y="3251482"/>
            <a:ext cx="8604829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on power factor of AC circuits</a:t>
            </a:r>
            <a:endParaRPr lang="zh-CN" altLang="en-US" sz="2400" b="1" spc="600" dirty="0">
              <a:solidFill>
                <a:schemeClr val="bg1">
                  <a:lumMod val="50000"/>
                  <a:alpha val="78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140526" y="2054772"/>
            <a:ext cx="8084129" cy="10156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kumimoji="1" lang="zh-CN" altLang="en-US" sz="6000" dirty="0" smtClean="0">
                <a:latin typeface="SimSun" panose="02010600030101010101" pitchFamily="2" charset="-122"/>
                <a:ea typeface="SimSun" panose="02010600030101010101" pitchFamily="2" charset="-122"/>
              </a:rPr>
              <a:t>交流电功率因数实验</a:t>
            </a:r>
            <a:endParaRPr lang="zh-CN" altLang="en-US" sz="6000" dirty="0">
              <a:ln w="0"/>
              <a:solidFill>
                <a:schemeClr val="bg2">
                  <a:lumMod val="25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398551" y="5314714"/>
            <a:ext cx="4653495" cy="40011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rPr>
              <a:t>浙江大学  物理实验教学中心</a:t>
            </a:r>
          </a:p>
        </p:txBody>
      </p:sp>
      <p:sp>
        <p:nvSpPr>
          <p:cNvPr id="10" name="圆角矩形 9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96"/>
          <p:cNvSpPr>
            <a:spLocks/>
          </p:cNvSpPr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979D4D1-3812-1C82-A8A8-3669F2436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3A5CED-B950-46D3-A922-560EEFA7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253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连接符 82"/>
          <p:cNvCxnSpPr/>
          <p:nvPr/>
        </p:nvCxnSpPr>
        <p:spPr>
          <a:xfrm flipH="1">
            <a:off x="6763951" y="1365189"/>
            <a:ext cx="1" cy="54928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038455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8463" y="245327"/>
            <a:ext cx="1015655" cy="645072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r>
              <a:rPr lang="zh-CN" altLang="en-US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 </a:t>
            </a:r>
            <a:r>
              <a:rPr lang="en-US" altLang="zh-CN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CONTENTS</a:t>
            </a:r>
            <a:endParaRPr lang="zh-CN" altLang="en-US" sz="5400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sp>
        <p:nvSpPr>
          <p:cNvPr id="73" name="圆角矩形 72"/>
          <p:cNvSpPr/>
          <p:nvPr/>
        </p:nvSpPr>
        <p:spPr>
          <a:xfrm rot="10800000" flipV="1">
            <a:off x="5796313" y="170594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6521811" y="231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5797243" y="297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76" name="圆角矩形 75"/>
          <p:cNvSpPr/>
          <p:nvPr/>
        </p:nvSpPr>
        <p:spPr>
          <a:xfrm rot="10800000" flipV="1">
            <a:off x="6521811" y="358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77" name="圆角矩形 76"/>
          <p:cNvSpPr/>
          <p:nvPr/>
        </p:nvSpPr>
        <p:spPr>
          <a:xfrm rot="10800000" flipV="1">
            <a:off x="5797243" y="424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78" name="圆角矩形 77"/>
          <p:cNvSpPr/>
          <p:nvPr/>
        </p:nvSpPr>
        <p:spPr>
          <a:xfrm rot="10800000" flipV="1">
            <a:off x="6521811" y="4853512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6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244675" y="1564948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实验背景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7676173" y="219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实验装置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248528" y="2839537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实验目的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7676173" y="346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实验内容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3248528" y="4109537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实验原理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7676172" y="473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实验拓展</a:t>
            </a:r>
          </a:p>
        </p:txBody>
      </p:sp>
      <p:sp>
        <p:nvSpPr>
          <p:cNvPr id="104" name="矩形 103"/>
          <p:cNvSpPr/>
          <p:nvPr/>
        </p:nvSpPr>
        <p:spPr>
          <a:xfrm>
            <a:off x="3125192" y="2153781"/>
            <a:ext cx="2194824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BACKGROUNDS</a:t>
            </a:r>
          </a:p>
        </p:txBody>
      </p:sp>
      <p:sp>
        <p:nvSpPr>
          <p:cNvPr id="105" name="矩形 104"/>
          <p:cNvSpPr/>
          <p:nvPr/>
        </p:nvSpPr>
        <p:spPr>
          <a:xfrm>
            <a:off x="3298498" y="3429000"/>
            <a:ext cx="182773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OBJECTIVE</a:t>
            </a:r>
          </a:p>
        </p:txBody>
      </p:sp>
      <p:sp>
        <p:nvSpPr>
          <p:cNvPr id="106" name="矩形 105"/>
          <p:cNvSpPr/>
          <p:nvPr/>
        </p:nvSpPr>
        <p:spPr>
          <a:xfrm>
            <a:off x="3375281" y="4755864"/>
            <a:ext cx="1808499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PRINCIPLE</a:t>
            </a:r>
          </a:p>
        </p:txBody>
      </p:sp>
      <p:sp>
        <p:nvSpPr>
          <p:cNvPr id="107" name="矩形 106"/>
          <p:cNvSpPr/>
          <p:nvPr/>
        </p:nvSpPr>
        <p:spPr>
          <a:xfrm>
            <a:off x="7808419" y="2804628"/>
            <a:ext cx="1766821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EXPERIMENTAL DEVICE</a:t>
            </a:r>
          </a:p>
        </p:txBody>
      </p:sp>
      <p:sp>
        <p:nvSpPr>
          <p:cNvPr id="108" name="矩形 107"/>
          <p:cNvSpPr/>
          <p:nvPr/>
        </p:nvSpPr>
        <p:spPr>
          <a:xfrm>
            <a:off x="7731593" y="4074628"/>
            <a:ext cx="177964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</a:t>
            </a:r>
            <a:r>
              <a:rPr lang="zh-CN" altLang="en-US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09" name="矩形 108"/>
          <p:cNvSpPr/>
          <p:nvPr/>
        </p:nvSpPr>
        <p:spPr>
          <a:xfrm>
            <a:off x="7676173" y="5385228"/>
            <a:ext cx="214833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EXPERIMENTAL</a:t>
            </a:r>
            <a:r>
              <a:rPr lang="zh-CN" altLang="en-US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EXTENSTION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275708-EFCA-42F3-91B5-0B4121F4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0338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0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预备实验</a:t>
            </a:r>
          </a:p>
        </p:txBody>
      </p:sp>
      <p:sp>
        <p:nvSpPr>
          <p:cNvPr id="397" name="矩形 396"/>
          <p:cNvSpPr/>
          <p:nvPr/>
        </p:nvSpPr>
        <p:spPr>
          <a:xfrm>
            <a:off x="2540354" y="300156"/>
            <a:ext cx="2430016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PRE-EXPERIMENT 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6055BE-B272-4789-B418-F56C360B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17" name="Picture 5" descr="日光灯1">
            <a:extLst>
              <a:ext uri="{FF2B5EF4-FFF2-40B4-BE49-F238E27FC236}">
                <a16:creationId xmlns:a16="http://schemas.microsoft.com/office/drawing/2014/main" id="{A3AFF6F2-DCC2-4F2C-BC91-BA3185E99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"/>
                    </a14:imgEffect>
                    <a14:imgEffect>
                      <a14:brightnessContrast brigh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445" y="1890648"/>
            <a:ext cx="9170676" cy="293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3857678" y="5233129"/>
            <a:ext cx="5236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根据实验装置，画出电路图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9913034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实验背景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519676" y="3264361"/>
              <a:ext cx="4549576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BACKGROUNDS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0FEE5B-C1E9-4025-A5F9-8DA56630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68361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5</a:t>
            </a:fld>
            <a:endParaRPr lang="zh-CN" altLang="en-US" sz="1400" b="1" dirty="0"/>
          </a:p>
        </p:txBody>
      </p:sp>
      <p:sp>
        <p:nvSpPr>
          <p:cNvPr id="12" name="AutoShape 2" descr="https://timgsa.baidu.com/timg?image&amp;quality=80&amp;size=b9999_10000&amp;sec=1555591435233&amp;di=3b938dc0d6caaa0601a59eed1669c242&amp;imgtype=0&amp;src=http%3A%2F%2Fimg009.hc360.cn%2Fm2%2FM04%2F6A%2FD9%2FwKhQcVQ_0A2EM2O0AAAAAJE9nEE32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6" name="Picture 2" descr="https://k.sinaimg.cn/n/sinakd20210326ac/96/w599h297/20210326/87a6-kmvwsvy0761491.jpg/w700d1q75c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77" y="2480549"/>
            <a:ext cx="570547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057544" y="1402289"/>
                <a:ext cx="5490402" cy="79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 smtClean="0"/>
                  <a:t>交流电功率因数：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𝑐𝑜𝑠</m:t>
                    </m:r>
                    <m:r>
                      <m:rPr>
                        <m:nor/>
                      </m:rPr>
                      <a:rPr lang="el-GR" altLang="zh-CN" sz="3200" i="1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Φ</m:t>
                    </m:r>
                  </m:oMath>
                </a14:m>
                <a:r>
                  <a:rPr lang="en-US" altLang="zh-CN" sz="3200" i="1" dirty="0" smtClean="0">
                    <a:latin typeface="Cambria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𝑈𝐼</m:t>
                        </m:r>
                      </m:den>
                    </m:f>
                  </m:oMath>
                </a14:m>
                <a:endParaRPr lang="zh-CN" altLang="en-US" sz="3200" i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544" y="1402289"/>
                <a:ext cx="5490402" cy="792268"/>
              </a:xfrm>
              <a:prstGeom prst="rect">
                <a:avLst/>
              </a:prstGeom>
              <a:blipFill>
                <a:blip r:embed="rId4"/>
                <a:stretch>
                  <a:fillRect l="-2775" b="-1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6747593" y="1500033"/>
            <a:ext cx="529201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提高交流电功率因数的意义：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提高用电利用率</a:t>
            </a:r>
            <a:endParaRPr lang="en-US" altLang="zh-CN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减少输电线路的损耗</a:t>
            </a:r>
            <a:endParaRPr lang="en-US" altLang="zh-CN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改善电压质量</a:t>
            </a:r>
            <a:endParaRPr lang="en-US" altLang="zh-CN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 smtClean="0"/>
              <a:t>降低用电成本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2683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39124" y="3264361"/>
              <a:ext cx="377513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OBJECTIVE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D8B706-5031-427D-AB40-8FA1E740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3834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-5665" y="1663363"/>
            <a:ext cx="12197665" cy="4383821"/>
          </a:xfrm>
          <a:prstGeom prst="roundRect">
            <a:avLst>
              <a:gd name="adj" fmla="val 0"/>
            </a:avLst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15814" y="324999"/>
            <a:ext cx="3173809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OBJECTIVE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矩形 20483">
            <a:extLst>
              <a:ext uri="{FF2B5EF4-FFF2-40B4-BE49-F238E27FC236}">
                <a16:creationId xmlns:a16="http://schemas.microsoft.com/office/drawing/2014/main" id="{F77227EB-C73C-8255-6EB0-3DA9601C3C6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16500" y="2794000"/>
            <a:ext cx="2762250" cy="4762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SimSun" panose="02010600030101010101" pitchFamily="2" charset="-122"/>
              </a:rPr>
              <a:t> 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87D690-4167-4747-8595-7EEA8029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886978" y="2216261"/>
            <a:ext cx="927112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理解功率因数的物理意义  </a:t>
            </a:r>
            <a:endParaRPr lang="en-US" altLang="zh-CN" sz="2800" dirty="0" smtClean="0">
              <a:latin typeface="+mn-ea"/>
            </a:endParaRPr>
          </a:p>
          <a:p>
            <a:r>
              <a:rPr lang="zh-CN" altLang="en-US" sz="2800" dirty="0" smtClean="0">
                <a:latin typeface="+mn-ea"/>
              </a:rPr>
              <a:t>  </a:t>
            </a:r>
            <a:endParaRPr lang="zh-CN" altLang="en-US" sz="28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掌握提高电感性电路功率</a:t>
            </a:r>
            <a:r>
              <a:rPr lang="zh-CN" altLang="en-US" sz="2800" dirty="0">
                <a:latin typeface="+mn-ea"/>
              </a:rPr>
              <a:t>因素的</a:t>
            </a:r>
            <a:r>
              <a:rPr lang="zh-CN" altLang="en-US" sz="2800" dirty="0" smtClean="0">
                <a:latin typeface="+mn-ea"/>
              </a:rPr>
              <a:t>方法</a:t>
            </a:r>
            <a:endParaRPr lang="en-US" altLang="zh-CN" sz="2800" dirty="0" smtClean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8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熟悉日光灯的工作原理，掌握测量日光灯功率的方法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3353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实验原理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73029" y="3264361"/>
              <a:ext cx="3821620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 PRINCIPLE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7D5CA9-1B07-43D3-B747-53B273A6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95968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9A408D54-DF5B-DB49-A20A-18A5DC1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>
                <a:latin typeface="+mn-ea"/>
              </a:rPr>
              <a:pPr/>
              <a:t>9</a:t>
            </a:fld>
            <a:endParaRPr lang="zh-CN" altLang="en-US" sz="1400" b="1" dirty="0">
              <a:latin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交流电功率因数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02718" y="1617194"/>
            <a:ext cx="722674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sz="2400" dirty="0"/>
              <a:t>交流电路中的元件有</a:t>
            </a:r>
            <a:r>
              <a:rPr lang="zh-CN" altLang="en-US" sz="2400" b="1" dirty="0"/>
              <a:t>阻性</a:t>
            </a:r>
            <a:r>
              <a:rPr lang="zh-CN" altLang="en-US" sz="2400" dirty="0"/>
              <a:t>负载、</a:t>
            </a:r>
            <a:r>
              <a:rPr lang="zh-CN" altLang="en-US" sz="2400" b="1" dirty="0"/>
              <a:t>容性</a:t>
            </a:r>
            <a:r>
              <a:rPr lang="zh-CN" altLang="en-US" sz="2400" dirty="0"/>
              <a:t>负载、</a:t>
            </a:r>
            <a:r>
              <a:rPr lang="zh-CN" altLang="en-US" sz="2400" b="1" dirty="0"/>
              <a:t>感性</a:t>
            </a:r>
            <a:r>
              <a:rPr lang="zh-CN" altLang="en-US" sz="2400" dirty="0"/>
              <a:t>负载。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阻性负载</a:t>
            </a:r>
            <a:r>
              <a:rPr lang="zh-CN" altLang="en-US" sz="2400" dirty="0"/>
              <a:t>：靠发热来工作的电器都是阻性负载</a:t>
            </a:r>
            <a:r>
              <a:rPr lang="en-US" altLang="zh-CN" sz="2400" dirty="0"/>
              <a:t>, </a:t>
            </a:r>
            <a:r>
              <a:rPr lang="zh-CN" altLang="en-US" sz="2400" dirty="0"/>
              <a:t>阻性负载的特点是，电流和电压同步变化，相位差为“零度”，工作时会产生热量。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容性负载</a:t>
            </a:r>
            <a:r>
              <a:rPr lang="zh-CN" altLang="en-US" sz="2400" dirty="0"/>
              <a:t>：</a:t>
            </a:r>
            <a:r>
              <a:rPr lang="zh-CN" altLang="zh-CN" sz="2400" dirty="0"/>
              <a:t>电容上电流超前电压</a:t>
            </a:r>
            <a:r>
              <a:rPr lang="en-US" altLang="zh-CN" sz="2400" dirty="0"/>
              <a:t>90°</a:t>
            </a:r>
            <a:r>
              <a:rPr lang="zh-CN" altLang="zh-CN" sz="2400" dirty="0"/>
              <a:t>相位，设想一个电容与电阻串联充电。从充电过程看，总是先有流动电荷（即电流）的积累才有电容上的电压变化，即电流总是超前于电压。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感性负载</a:t>
            </a:r>
            <a:r>
              <a:rPr lang="zh-CN" altLang="en-US" sz="2400" dirty="0"/>
              <a:t>：</a:t>
            </a:r>
            <a:r>
              <a:rPr lang="zh-CN" altLang="zh-CN" sz="2400" dirty="0"/>
              <a:t>像我们平时用的日光灯等</a:t>
            </a:r>
            <a:r>
              <a:rPr lang="zh-CN" altLang="en-US" sz="2400" dirty="0"/>
              <a:t>家用电器</a:t>
            </a:r>
            <a:r>
              <a:rPr lang="zh-CN" altLang="zh-CN" sz="2400" dirty="0"/>
              <a:t>。电感上电流落后感应电压</a:t>
            </a:r>
            <a:r>
              <a:rPr lang="en-US" altLang="zh-CN" sz="2400" dirty="0"/>
              <a:t>90°</a:t>
            </a:r>
            <a:r>
              <a:rPr lang="zh-CN" altLang="zh-CN" sz="2400" dirty="0"/>
              <a:t>相位。 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094050" y="1806931"/>
            <a:ext cx="3308626" cy="3745729"/>
            <a:chOff x="1094050" y="1806931"/>
            <a:chExt cx="3308626" cy="3745729"/>
          </a:xfrm>
        </p:grpSpPr>
        <p:grpSp>
          <p:nvGrpSpPr>
            <p:cNvPr id="56" name="组合 38">
              <a:extLst>
                <a:ext uri="{FF2B5EF4-FFF2-40B4-BE49-F238E27FC236}">
                  <a16:creationId xmlns:a16="http://schemas.microsoft.com/office/drawing/2014/main" id="{3F694B0B-C28E-432D-BFEC-0DACC56CFC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4050" y="1845368"/>
              <a:ext cx="3308626" cy="3707292"/>
              <a:chOff x="5426287" y="1855955"/>
              <a:chExt cx="3308626" cy="3707292"/>
            </a:xfrm>
          </p:grpSpPr>
          <p:grpSp>
            <p:nvGrpSpPr>
              <p:cNvPr id="68" name="Group 26">
                <a:extLst>
                  <a:ext uri="{FF2B5EF4-FFF2-40B4-BE49-F238E27FC236}">
                    <a16:creationId xmlns:a16="http://schemas.microsoft.com/office/drawing/2014/main" id="{2A2D9295-4E03-4CBE-A886-5E4E74E1F6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26287" y="1855955"/>
                <a:ext cx="3308626" cy="3707292"/>
                <a:chOff x="1003" y="2527"/>
                <a:chExt cx="1498" cy="1285"/>
              </a:xfrm>
            </p:grpSpPr>
            <p:sp>
              <p:nvSpPr>
                <p:cNvPr id="70" name="Line 4">
                  <a:extLst>
                    <a:ext uri="{FF2B5EF4-FFF2-40B4-BE49-F238E27FC236}">
                      <a16:creationId xmlns:a16="http://schemas.microsoft.com/office/drawing/2014/main" id="{A44B53D2-4760-4F04-8A63-41F4109C55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2544"/>
                  <a:ext cx="10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1" name="Line 5">
                  <a:extLst>
                    <a:ext uri="{FF2B5EF4-FFF2-40B4-BE49-F238E27FC236}">
                      <a16:creationId xmlns:a16="http://schemas.microsoft.com/office/drawing/2014/main" id="{F83388BD-A4B8-4A87-A3E6-38CA90F5F0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544"/>
                  <a:ext cx="0" cy="37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2" name="Line 6">
                  <a:extLst>
                    <a:ext uri="{FF2B5EF4-FFF2-40B4-BE49-F238E27FC236}">
                      <a16:creationId xmlns:a16="http://schemas.microsoft.com/office/drawing/2014/main" id="{86FD0829-A307-4658-8CC0-C822FD7E9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4" y="291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3" name="Line 7">
                  <a:extLst>
                    <a:ext uri="{FF2B5EF4-FFF2-40B4-BE49-F238E27FC236}">
                      <a16:creationId xmlns:a16="http://schemas.microsoft.com/office/drawing/2014/main" id="{328BEB24-82CA-4A71-A9D1-360FA582CD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4" y="2981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4" name="Line 8">
                  <a:extLst>
                    <a:ext uri="{FF2B5EF4-FFF2-40B4-BE49-F238E27FC236}">
                      <a16:creationId xmlns:a16="http://schemas.microsoft.com/office/drawing/2014/main" id="{27E40F93-9326-4B9A-AC75-592E0E23E2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990"/>
                  <a:ext cx="0" cy="61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5" name="Line 9">
                  <a:extLst>
                    <a:ext uri="{FF2B5EF4-FFF2-40B4-BE49-F238E27FC236}">
                      <a16:creationId xmlns:a16="http://schemas.microsoft.com/office/drawing/2014/main" id="{AA8ABFEB-1D00-455E-BE6B-FD8ACF6042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48" y="3600"/>
                  <a:ext cx="10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6" name="Rectangle 10">
                  <a:extLst>
                    <a:ext uri="{FF2B5EF4-FFF2-40B4-BE49-F238E27FC236}">
                      <a16:creationId xmlns:a16="http://schemas.microsoft.com/office/drawing/2014/main" id="{AD23796E-CB92-4ABE-B385-DCB1E39242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59" y="2794"/>
                  <a:ext cx="72" cy="11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 sz="36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7" name="Line 11">
                  <a:extLst>
                    <a:ext uri="{FF2B5EF4-FFF2-40B4-BE49-F238E27FC236}">
                      <a16:creationId xmlns:a16="http://schemas.microsoft.com/office/drawing/2014/main" id="{EB729382-467D-445B-9D86-C2B2EF82BA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6" y="2544"/>
                  <a:ext cx="0" cy="25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8" name="Line 12">
                  <a:extLst>
                    <a:ext uri="{FF2B5EF4-FFF2-40B4-BE49-F238E27FC236}">
                      <a16:creationId xmlns:a16="http://schemas.microsoft.com/office/drawing/2014/main" id="{88BD4265-C218-4110-98C3-FF8C5ACDBB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6" y="3101"/>
                  <a:ext cx="0" cy="6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79" name="Freeform 13">
                  <a:extLst>
                    <a:ext uri="{FF2B5EF4-FFF2-40B4-BE49-F238E27FC236}">
                      <a16:creationId xmlns:a16="http://schemas.microsoft.com/office/drawing/2014/main" id="{5B408082-1668-47EA-8586-4E50783675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6" y="3170"/>
                  <a:ext cx="101" cy="286"/>
                </a:xfrm>
                <a:custGeom>
                  <a:avLst/>
                  <a:gdLst>
                    <a:gd name="T0" fmla="*/ 4 w 251"/>
                    <a:gd name="T1" fmla="*/ 2 h 715"/>
                    <a:gd name="T2" fmla="*/ 7 w 251"/>
                    <a:gd name="T3" fmla="*/ 1 h 715"/>
                    <a:gd name="T4" fmla="*/ 14 w 251"/>
                    <a:gd name="T5" fmla="*/ 7 h 715"/>
                    <a:gd name="T6" fmla="*/ 8 w 251"/>
                    <a:gd name="T7" fmla="*/ 16 h 715"/>
                    <a:gd name="T8" fmla="*/ 2 w 251"/>
                    <a:gd name="T9" fmla="*/ 15 h 715"/>
                    <a:gd name="T10" fmla="*/ 5 w 251"/>
                    <a:gd name="T11" fmla="*/ 13 h 715"/>
                    <a:gd name="T12" fmla="*/ 10 w 251"/>
                    <a:gd name="T13" fmla="*/ 14 h 715"/>
                    <a:gd name="T14" fmla="*/ 14 w 251"/>
                    <a:gd name="T15" fmla="*/ 26 h 715"/>
                    <a:gd name="T16" fmla="*/ 8 w 251"/>
                    <a:gd name="T17" fmla="*/ 30 h 715"/>
                    <a:gd name="T18" fmla="*/ 3 w 251"/>
                    <a:gd name="T19" fmla="*/ 28 h 715"/>
                    <a:gd name="T20" fmla="*/ 7 w 251"/>
                    <a:gd name="T21" fmla="*/ 24 h 715"/>
                    <a:gd name="T22" fmla="*/ 12 w 251"/>
                    <a:gd name="T23" fmla="*/ 26 h 715"/>
                    <a:gd name="T24" fmla="*/ 14 w 251"/>
                    <a:gd name="T25" fmla="*/ 32 h 715"/>
                    <a:gd name="T26" fmla="*/ 5 w 251"/>
                    <a:gd name="T27" fmla="*/ 44 h 715"/>
                    <a:gd name="T28" fmla="*/ 2 w 251"/>
                    <a:gd name="T29" fmla="*/ 43 h 715"/>
                    <a:gd name="T30" fmla="*/ 6 w 251"/>
                    <a:gd name="T31" fmla="*/ 39 h 715"/>
                    <a:gd name="T32" fmla="*/ 10 w 251"/>
                    <a:gd name="T33" fmla="*/ 40 h 715"/>
                    <a:gd name="T34" fmla="*/ 6 w 251"/>
                    <a:gd name="T35" fmla="*/ 46 h 71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251"/>
                    <a:gd name="T55" fmla="*/ 0 h 715"/>
                    <a:gd name="T56" fmla="*/ 251 w 251"/>
                    <a:gd name="T57" fmla="*/ 715 h 71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251" h="715">
                      <a:moveTo>
                        <a:pt x="59" y="40"/>
                      </a:moveTo>
                      <a:cubicBezTo>
                        <a:pt x="74" y="30"/>
                        <a:pt x="86" y="12"/>
                        <a:pt x="104" y="10"/>
                      </a:cubicBezTo>
                      <a:cubicBezTo>
                        <a:pt x="187" y="0"/>
                        <a:pt x="203" y="53"/>
                        <a:pt x="224" y="115"/>
                      </a:cubicBezTo>
                      <a:cubicBezTo>
                        <a:pt x="206" y="224"/>
                        <a:pt x="218" y="217"/>
                        <a:pt x="119" y="250"/>
                      </a:cubicBezTo>
                      <a:cubicBezTo>
                        <a:pt x="89" y="245"/>
                        <a:pt x="51" y="257"/>
                        <a:pt x="29" y="235"/>
                      </a:cubicBezTo>
                      <a:cubicBezTo>
                        <a:pt x="16" y="222"/>
                        <a:pt x="56" y="207"/>
                        <a:pt x="74" y="205"/>
                      </a:cubicBezTo>
                      <a:cubicBezTo>
                        <a:pt x="99" y="202"/>
                        <a:pt x="124" y="215"/>
                        <a:pt x="149" y="220"/>
                      </a:cubicBezTo>
                      <a:cubicBezTo>
                        <a:pt x="226" y="271"/>
                        <a:pt x="251" y="309"/>
                        <a:pt x="209" y="415"/>
                      </a:cubicBezTo>
                      <a:cubicBezTo>
                        <a:pt x="200" y="437"/>
                        <a:pt x="138" y="454"/>
                        <a:pt x="119" y="460"/>
                      </a:cubicBezTo>
                      <a:cubicBezTo>
                        <a:pt x="94" y="455"/>
                        <a:pt x="60" y="465"/>
                        <a:pt x="44" y="445"/>
                      </a:cubicBezTo>
                      <a:cubicBezTo>
                        <a:pt x="0" y="390"/>
                        <a:pt x="87" y="376"/>
                        <a:pt x="104" y="370"/>
                      </a:cubicBezTo>
                      <a:cubicBezTo>
                        <a:pt x="129" y="378"/>
                        <a:pt x="179" y="391"/>
                        <a:pt x="194" y="415"/>
                      </a:cubicBezTo>
                      <a:cubicBezTo>
                        <a:pt x="211" y="442"/>
                        <a:pt x="224" y="505"/>
                        <a:pt x="224" y="505"/>
                      </a:cubicBezTo>
                      <a:cubicBezTo>
                        <a:pt x="205" y="675"/>
                        <a:pt x="231" y="659"/>
                        <a:pt x="74" y="685"/>
                      </a:cubicBezTo>
                      <a:cubicBezTo>
                        <a:pt x="59" y="680"/>
                        <a:pt x="36" y="684"/>
                        <a:pt x="29" y="670"/>
                      </a:cubicBezTo>
                      <a:cubicBezTo>
                        <a:pt x="6" y="624"/>
                        <a:pt x="72" y="616"/>
                        <a:pt x="89" y="610"/>
                      </a:cubicBezTo>
                      <a:cubicBezTo>
                        <a:pt x="109" y="615"/>
                        <a:pt x="133" y="612"/>
                        <a:pt x="149" y="625"/>
                      </a:cubicBezTo>
                      <a:cubicBezTo>
                        <a:pt x="208" y="672"/>
                        <a:pt x="118" y="701"/>
                        <a:pt x="89" y="715"/>
                      </a:cubicBez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 sz="36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80" name="Line 15">
                  <a:extLst>
                    <a:ext uri="{FF2B5EF4-FFF2-40B4-BE49-F238E27FC236}">
                      <a16:creationId xmlns:a16="http://schemas.microsoft.com/office/drawing/2014/main" id="{B7598E6D-861D-433B-870A-97B870ECB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64" y="2544"/>
                  <a:ext cx="21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81" name="Line 16">
                  <a:extLst>
                    <a:ext uri="{FF2B5EF4-FFF2-40B4-BE49-F238E27FC236}">
                      <a16:creationId xmlns:a16="http://schemas.microsoft.com/office/drawing/2014/main" id="{9FF8BF37-FF16-430D-B538-DB4210846D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669"/>
                  <a:ext cx="0" cy="12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82" name="Line 17">
                  <a:extLst>
                    <a:ext uri="{FF2B5EF4-FFF2-40B4-BE49-F238E27FC236}">
                      <a16:creationId xmlns:a16="http://schemas.microsoft.com/office/drawing/2014/main" id="{EAC6FA7F-1B1E-4A34-B463-E12F541E75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6" y="2606"/>
                  <a:ext cx="0" cy="12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83" name="Line 18">
                  <a:extLst>
                    <a:ext uri="{FF2B5EF4-FFF2-40B4-BE49-F238E27FC236}">
                      <a16:creationId xmlns:a16="http://schemas.microsoft.com/office/drawing/2014/main" id="{41E56A5B-1B93-4C4E-B639-D5353F57A5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3456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84" name="Text Box 19">
                  <a:extLst>
                    <a:ext uri="{FF2B5EF4-FFF2-40B4-BE49-F238E27FC236}">
                      <a16:creationId xmlns:a16="http://schemas.microsoft.com/office/drawing/2014/main" id="{DEE1F059-CC96-46D9-A54F-94338C14D1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0" y="2541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b="0" i="1" dirty="0"/>
                    <a:t>I</a:t>
                  </a:r>
                </a:p>
              </p:txBody>
            </p:sp>
            <p:sp>
              <p:nvSpPr>
                <p:cNvPr id="85" name="Text Box 20">
                  <a:extLst>
                    <a:ext uri="{FF2B5EF4-FFF2-40B4-BE49-F238E27FC236}">
                      <a16:creationId xmlns:a16="http://schemas.microsoft.com/office/drawing/2014/main" id="{C799039D-88DC-449A-966E-72709110A4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9" y="2527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b="0" i="1" dirty="0"/>
                    <a:t>I</a:t>
                  </a:r>
                  <a:r>
                    <a:rPr lang="en-US" altLang="zh-CN" b="0" i="1" baseline="-25000" dirty="0"/>
                    <a:t>L</a:t>
                  </a:r>
                  <a:endParaRPr lang="en-US" altLang="zh-CN" b="0" i="1" dirty="0"/>
                </a:p>
              </p:txBody>
            </p:sp>
            <p:sp>
              <p:nvSpPr>
                <p:cNvPr id="86" name="Text Box 21">
                  <a:extLst>
                    <a:ext uri="{FF2B5EF4-FFF2-40B4-BE49-F238E27FC236}">
                      <a16:creationId xmlns:a16="http://schemas.microsoft.com/office/drawing/2014/main" id="{BBFE3CBC-78E1-48CD-A417-C3F0390594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60" y="2530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b="0" i="1" dirty="0">
                      <a:solidFill>
                        <a:srgbClr val="04428A"/>
                      </a:solidFill>
                    </a:rPr>
                    <a:t>I</a:t>
                  </a:r>
                  <a:r>
                    <a:rPr lang="en-US" altLang="zh-CN" b="0" i="1" baseline="-25000" dirty="0">
                      <a:solidFill>
                        <a:srgbClr val="04428A"/>
                      </a:solidFill>
                    </a:rPr>
                    <a:t>C</a:t>
                  </a:r>
                  <a:endParaRPr lang="en-US" altLang="zh-CN" b="0" i="1" dirty="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87" name="Text Box 22">
                  <a:extLst>
                    <a:ext uri="{FF2B5EF4-FFF2-40B4-BE49-F238E27FC236}">
                      <a16:creationId xmlns:a16="http://schemas.microsoft.com/office/drawing/2014/main" id="{29242C10-C585-44FB-B411-24D5722649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71" y="2777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dirty="0">
                      <a:solidFill>
                        <a:srgbClr val="04428A"/>
                      </a:solidFill>
                    </a:rPr>
                    <a:t>R</a:t>
                  </a:r>
                </a:p>
              </p:txBody>
            </p:sp>
            <p:sp>
              <p:nvSpPr>
                <p:cNvPr id="88" name="Text Box 23">
                  <a:extLst>
                    <a:ext uri="{FF2B5EF4-FFF2-40B4-BE49-F238E27FC236}">
                      <a16:creationId xmlns:a16="http://schemas.microsoft.com/office/drawing/2014/main" id="{BC751613-BC94-4DA4-A550-1150573361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3216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rgbClr val="04428A"/>
                      </a:solidFill>
                    </a:rPr>
                    <a:t>L</a:t>
                  </a:r>
                </a:p>
              </p:txBody>
            </p:sp>
            <p:sp>
              <p:nvSpPr>
                <p:cNvPr id="89" name="Text Box 24">
                  <a:extLst>
                    <a:ext uri="{FF2B5EF4-FFF2-40B4-BE49-F238E27FC236}">
                      <a16:creationId xmlns:a16="http://schemas.microsoft.com/office/drawing/2014/main" id="{D9907662-9670-44EC-BFED-054D29E2F4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4" y="2828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dirty="0">
                      <a:solidFill>
                        <a:srgbClr val="04428A"/>
                      </a:solidFill>
                    </a:rPr>
                    <a:t>C</a:t>
                  </a:r>
                </a:p>
              </p:txBody>
            </p:sp>
            <p:sp>
              <p:nvSpPr>
                <p:cNvPr id="90" name="Text Box 25">
                  <a:extLst>
                    <a:ext uri="{FF2B5EF4-FFF2-40B4-BE49-F238E27FC236}">
                      <a16:creationId xmlns:a16="http://schemas.microsoft.com/office/drawing/2014/main" id="{E2041470-FD0D-495F-A303-4AC453B695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3" y="3622"/>
                  <a:ext cx="1498" cy="19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spcFirstLastPara="0" vert="horz" wrap="square" lIns="68580" tIns="68580" rIns="68580" bIns="68580" numCol="1" spcCol="127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sz="2400" b="1"/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r>
                    <a:rPr lang="zh-CN" altLang="en-US" sz="2000" dirty="0" smtClean="0"/>
                    <a:t>不同负载的交流电路</a:t>
                  </a:r>
                  <a:endParaRPr lang="en-US" altLang="zh-CN" sz="2000" dirty="0"/>
                </a:p>
              </p:txBody>
            </p:sp>
          </p:grpSp>
          <p:sp>
            <p:nvSpPr>
              <p:cNvPr id="69" name="Text Box 69">
                <a:extLst>
                  <a:ext uri="{FF2B5EF4-FFF2-40B4-BE49-F238E27FC236}">
                    <a16:creationId xmlns:a16="http://schemas.microsoft.com/office/drawing/2014/main" id="{23A30A89-D994-4180-BB78-B481BEAFD1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72076" y="3211622"/>
                <a:ext cx="511175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3600" b="0" i="1" dirty="0">
                    <a:ea typeface="宋体" panose="02010600030101010101" pitchFamily="2" charset="-122"/>
                  </a:rPr>
                  <a:t>U</a:t>
                </a:r>
              </a:p>
            </p:txBody>
          </p:sp>
        </p:grpSp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AD23796E-CB92-4ABE-B385-DCB1E3924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147" y="3164358"/>
              <a:ext cx="159026" cy="34332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3600">
                <a:solidFill>
                  <a:srgbClr val="04428A"/>
                </a:solidFill>
              </a:endParaRPr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88BD4265-C218-4110-98C3-FF8C5ACDB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660" y="2976308"/>
              <a:ext cx="0" cy="193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solidFill>
                  <a:srgbClr val="04428A"/>
                </a:solidFill>
              </a:endParaRPr>
            </a:p>
          </p:txBody>
        </p:sp>
        <p:sp>
          <p:nvSpPr>
            <p:cNvPr id="59" name="Text Box 22">
              <a:extLst>
                <a:ext uri="{FF2B5EF4-FFF2-40B4-BE49-F238E27FC236}">
                  <a16:creationId xmlns:a16="http://schemas.microsoft.com/office/drawing/2014/main" id="{29242C10-C585-44FB-B411-24D572264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5198" y="3091347"/>
              <a:ext cx="636104" cy="461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rgbClr val="04428A"/>
                  </a:solidFill>
                </a:rPr>
                <a:t>r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2575589" y="3091347"/>
              <a:ext cx="884584" cy="17449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1" name="Object 1029">
              <a:extLst>
                <a:ext uri="{FF2B5EF4-FFF2-40B4-BE49-F238E27FC236}">
                  <a16:creationId xmlns:a16="http://schemas.microsoft.com/office/drawing/2014/main" id="{BE1CB4E0-DCFA-4F8C-91D6-15718000132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08213" y="3773488"/>
            <a:ext cx="317500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公式" r:id="rId4" imgW="228600" imgH="228600" progId="Equation.3">
                    <p:embed/>
                  </p:oleObj>
                </mc:Choice>
                <mc:Fallback>
                  <p:oleObj name="公式" r:id="rId4" imgW="228600" imgH="228600" progId="Equation.3">
                    <p:embed/>
                    <p:pic>
                      <p:nvPicPr>
                        <p:cNvPr id="61" name="Object 1029">
                          <a:extLst>
                            <a:ext uri="{FF2B5EF4-FFF2-40B4-BE49-F238E27FC236}">
                              <a16:creationId xmlns:a16="http://schemas.microsoft.com/office/drawing/2014/main" id="{BE1CB4E0-DCFA-4F8C-91D6-1571800013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213" y="3773488"/>
                          <a:ext cx="317500" cy="442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1031">
              <a:extLst>
                <a:ext uri="{FF2B5EF4-FFF2-40B4-BE49-F238E27FC236}">
                  <a16:creationId xmlns:a16="http://schemas.microsoft.com/office/drawing/2014/main" id="{70B2A404-BD6F-49FF-8354-2B2810A2B9F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59000" y="2274888"/>
            <a:ext cx="25082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公式" r:id="rId6" imgW="203040" imgH="228600" progId="Equation.3">
                    <p:embed/>
                  </p:oleObj>
                </mc:Choice>
                <mc:Fallback>
                  <p:oleObj name="公式" r:id="rId6" imgW="203040" imgH="228600" progId="Equation.3">
                    <p:embed/>
                    <p:pic>
                      <p:nvPicPr>
                        <p:cNvPr id="63" name="Object 1031">
                          <a:extLst>
                            <a:ext uri="{FF2B5EF4-FFF2-40B4-BE49-F238E27FC236}">
                              <a16:creationId xmlns:a16="http://schemas.microsoft.com/office/drawing/2014/main" id="{70B2A404-BD6F-49FF-8354-2B2810A2B9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9000" y="2274888"/>
                          <a:ext cx="250825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文本框 63"/>
            <p:cNvSpPr txBox="1"/>
            <p:nvPr/>
          </p:nvSpPr>
          <p:spPr>
            <a:xfrm>
              <a:off x="2153433" y="2983574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+</a:t>
              </a:r>
              <a:endParaRPr lang="zh-CN" altLang="en-US" dirty="0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2163658" y="1806931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+</a:t>
              </a:r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170722" y="2798908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-</a:t>
              </a:r>
              <a:endParaRPr lang="zh-CN" altLang="en-US" dirty="0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2155672" y="4621326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-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5482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9A408D54-DF5B-DB49-A20A-18A5DC1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>
                <a:latin typeface="+mn-ea"/>
              </a:rPr>
              <a:pPr/>
              <a:t>10</a:t>
            </a:fld>
            <a:endParaRPr lang="zh-CN" altLang="en-US" sz="1400" b="1" dirty="0">
              <a:latin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交流电功率因数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Rectangle 1040">
            <a:extLst>
              <a:ext uri="{FF2B5EF4-FFF2-40B4-BE49-F238E27FC236}">
                <a16:creationId xmlns:a16="http://schemas.microsoft.com/office/drawing/2014/main" id="{AF8CA1CF-EAA1-4295-9B76-18829E4B7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200" y="1419912"/>
            <a:ext cx="6650906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300" b="0" dirty="0">
                <a:latin typeface="+mn-lt"/>
                <a:ea typeface="+mn-ea"/>
              </a:rPr>
              <a:t>如果用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2300" b="0" i="1" baseline="-30000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en-US" altLang="zh-CN" sz="2300" b="0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2300" b="0" dirty="0">
                <a:latin typeface="+mn-lt"/>
                <a:ea typeface="+mn-ea"/>
              </a:rPr>
              <a:t>作为相位的参考方向，下图是它们之间的相位矢量图，由图可见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2300" b="0" i="1" baseline="-30000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zh-CN" altLang="en-US" sz="2300" b="0" dirty="0">
                <a:latin typeface="+mn-lt"/>
                <a:ea typeface="+mn-ea"/>
              </a:rPr>
              <a:t>与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U</a:t>
            </a:r>
            <a:r>
              <a:rPr lang="en-US" altLang="zh-CN" sz="2300" b="0" i="1" baseline="-30000" dirty="0">
                <a:latin typeface="隶书" panose="02010509060101010101" pitchFamily="49" charset="-122"/>
                <a:ea typeface="隶书" panose="02010509060101010101" pitchFamily="49" charset="-122"/>
              </a:rPr>
              <a:t>R</a:t>
            </a:r>
            <a:r>
              <a:rPr lang="zh-CN" altLang="en-US" sz="2300" b="0" dirty="0">
                <a:latin typeface="+mn-lt"/>
                <a:ea typeface="+mn-ea"/>
              </a:rPr>
              <a:t> 同相。而纯电感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zh-CN" altLang="en-US" sz="2300" b="0" dirty="0">
                <a:latin typeface="+mn-lt"/>
                <a:ea typeface="+mn-ea"/>
              </a:rPr>
              <a:t>上的</a:t>
            </a:r>
            <a:r>
              <a:rPr lang="zh-CN" altLang="en-US" sz="2300" b="0" dirty="0" smtClean="0">
                <a:latin typeface="+mn-lt"/>
                <a:ea typeface="+mn-ea"/>
              </a:rPr>
              <a:t>电压</a:t>
            </a:r>
            <a:r>
              <a:rPr lang="en-US" altLang="zh-CN" sz="2300" b="0" i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U</a:t>
            </a:r>
            <a:r>
              <a:rPr lang="en-US" altLang="zh-CN" sz="2300" b="0" i="1" baseline="-300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zh-CN" altLang="en-US" sz="2300" b="0" dirty="0" smtClean="0">
                <a:latin typeface="+mn-lt"/>
                <a:ea typeface="+mn-ea"/>
              </a:rPr>
              <a:t>比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2300" b="0" i="1" baseline="-30000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en-US" altLang="zh-CN" sz="2300" b="0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2300" b="0" dirty="0">
                <a:latin typeface="+mn-lt"/>
                <a:ea typeface="+mn-ea"/>
              </a:rPr>
              <a:t>超前</a:t>
            </a:r>
            <a:r>
              <a:rPr lang="el-GR" altLang="zh-CN" sz="2300" b="0" dirty="0">
                <a:latin typeface="等线" panose="02010600030101010101" pitchFamily="2" charset="-122"/>
                <a:ea typeface="等线" panose="02010600030101010101" pitchFamily="2" charset="-122"/>
              </a:rPr>
              <a:t>π</a:t>
            </a:r>
            <a:r>
              <a:rPr lang="en-US" altLang="zh-CN" sz="2300" b="0" dirty="0">
                <a:latin typeface="等线" panose="02010600030101010101" pitchFamily="2" charset="-122"/>
                <a:ea typeface="等线" panose="02010600030101010101" pitchFamily="2" charset="-122"/>
              </a:rPr>
              <a:t>/2</a:t>
            </a:r>
            <a:r>
              <a:rPr lang="zh-CN" altLang="en-US" sz="2300" b="0" dirty="0">
                <a:latin typeface="+mn-lt"/>
                <a:ea typeface="+mn-ea"/>
              </a:rPr>
              <a:t>，合成的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U </a:t>
            </a:r>
            <a:r>
              <a:rPr lang="zh-CN" altLang="en-US" sz="2300" b="0" dirty="0">
                <a:latin typeface="+mn-lt"/>
                <a:ea typeface="+mn-ea"/>
              </a:rPr>
              <a:t>是总电压的幅值，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φ</a:t>
            </a:r>
            <a:r>
              <a:rPr lang="zh-CN" altLang="en-US" sz="2300" b="0" dirty="0">
                <a:latin typeface="+mn-lt"/>
                <a:ea typeface="+mn-ea"/>
              </a:rPr>
              <a:t>是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2300" b="0" i="1" baseline="-30000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en-US" altLang="zh-CN" sz="2300" b="0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2300" b="0" dirty="0">
                <a:latin typeface="+mn-lt"/>
                <a:ea typeface="+mn-ea"/>
              </a:rPr>
              <a:t>落后</a:t>
            </a:r>
            <a:r>
              <a:rPr lang="en-US" altLang="zh-CN" sz="2300" b="0" i="1" dirty="0">
                <a:latin typeface="隶书" panose="02010509060101010101" pitchFamily="49" charset="-122"/>
                <a:ea typeface="隶书" panose="02010509060101010101" pitchFamily="49" charset="-122"/>
              </a:rPr>
              <a:t>U </a:t>
            </a:r>
            <a:r>
              <a:rPr lang="zh-CN" altLang="en-US" sz="2300" b="0" dirty="0">
                <a:latin typeface="+mn-lt"/>
                <a:ea typeface="+mn-ea"/>
              </a:rPr>
              <a:t>的相位角 。</a:t>
            </a:r>
          </a:p>
        </p:txBody>
      </p:sp>
      <p:grpSp>
        <p:nvGrpSpPr>
          <p:cNvPr id="49" name="Group 31">
            <a:extLst>
              <a:ext uri="{FF2B5EF4-FFF2-40B4-BE49-F238E27FC236}">
                <a16:creationId xmlns:a16="http://schemas.microsoft.com/office/drawing/2014/main" id="{AEF76BE2-887F-49BA-BF75-7A233C2BB66B}"/>
              </a:ext>
            </a:extLst>
          </p:cNvPr>
          <p:cNvGrpSpPr>
            <a:grpSpLocks/>
          </p:cNvGrpSpPr>
          <p:nvPr/>
        </p:nvGrpSpPr>
        <p:grpSpPr bwMode="auto">
          <a:xfrm>
            <a:off x="348315" y="2785198"/>
            <a:ext cx="7188200" cy="4176713"/>
            <a:chOff x="576" y="991"/>
            <a:chExt cx="4528" cy="2631"/>
          </a:xfrm>
        </p:grpSpPr>
        <p:graphicFrame>
          <p:nvGraphicFramePr>
            <p:cNvPr id="50" name="Object 1025">
              <a:extLst>
                <a:ext uri="{FF2B5EF4-FFF2-40B4-BE49-F238E27FC236}">
                  <a16:creationId xmlns:a16="http://schemas.microsoft.com/office/drawing/2014/main" id="{68EA291E-7D99-4D21-BEC9-50BB50FE1D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3312"/>
            <a:ext cx="239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name="Equation" r:id="rId4" imgW="164880" imgH="215640" progId="Equation.3">
                    <p:embed/>
                  </p:oleObj>
                </mc:Choice>
                <mc:Fallback>
                  <p:oleObj name="Equation" r:id="rId4" imgW="164880" imgH="215640" progId="Equation.3">
                    <p:embed/>
                    <p:pic>
                      <p:nvPicPr>
                        <p:cNvPr id="50" name="Object 1025">
                          <a:extLst>
                            <a:ext uri="{FF2B5EF4-FFF2-40B4-BE49-F238E27FC236}">
                              <a16:creationId xmlns:a16="http://schemas.microsoft.com/office/drawing/2014/main" id="{68EA291E-7D99-4D21-BEC9-50BB50FE1D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312"/>
                          <a:ext cx="239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" name="Group 30">
              <a:extLst>
                <a:ext uri="{FF2B5EF4-FFF2-40B4-BE49-F238E27FC236}">
                  <a16:creationId xmlns:a16="http://schemas.microsoft.com/office/drawing/2014/main" id="{16C8C2AD-5EFA-475F-A57B-A8CB72885E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6" y="991"/>
              <a:ext cx="1578" cy="2078"/>
              <a:chOff x="3766" y="991"/>
              <a:chExt cx="1578" cy="2078"/>
            </a:xfrm>
          </p:grpSpPr>
          <p:sp>
            <p:nvSpPr>
              <p:cNvPr id="52" name="Line 1028">
                <a:extLst>
                  <a:ext uri="{FF2B5EF4-FFF2-40B4-BE49-F238E27FC236}">
                    <a16:creationId xmlns:a16="http://schemas.microsoft.com/office/drawing/2014/main" id="{0640F6CE-FA52-4849-AF33-73B1F1DB1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6" y="2767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1031">
                <a:extLst>
                  <a:ext uri="{FF2B5EF4-FFF2-40B4-BE49-F238E27FC236}">
                    <a16:creationId xmlns:a16="http://schemas.microsoft.com/office/drawing/2014/main" id="{BE452FC3-F318-4CDB-8B60-A3F4B8640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8" y="1237"/>
                <a:ext cx="0" cy="153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1032">
                <a:extLst>
                  <a:ext uri="{FF2B5EF4-FFF2-40B4-BE49-F238E27FC236}">
                    <a16:creationId xmlns:a16="http://schemas.microsoft.com/office/drawing/2014/main" id="{AF6C83A1-E37C-40E8-8C54-AEBDC41E6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6" y="1237"/>
                <a:ext cx="1152" cy="153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1033">
                <a:extLst>
                  <a:ext uri="{FF2B5EF4-FFF2-40B4-BE49-F238E27FC236}">
                    <a16:creationId xmlns:a16="http://schemas.microsoft.com/office/drawing/2014/main" id="{432ACEF5-0D1E-45D0-987C-F3835F5D5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" y="2765"/>
                <a:ext cx="21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6" name="Object 1029">
                <a:extLst>
                  <a:ext uri="{FF2B5EF4-FFF2-40B4-BE49-F238E27FC236}">
                    <a16:creationId xmlns:a16="http://schemas.microsoft.com/office/drawing/2014/main" id="{C873D675-C67F-4A36-8A4D-01D93B131C5D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945" y="1829"/>
              <a:ext cx="167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9" name="公式" r:id="rId6" imgW="190440" imgH="241200" progId="Equation.3">
                      <p:embed/>
                    </p:oleObj>
                  </mc:Choice>
                  <mc:Fallback>
                    <p:oleObj name="公式" r:id="rId6" imgW="190440" imgH="241200" progId="Equation.3">
                      <p:embed/>
                      <p:pic>
                        <p:nvPicPr>
                          <p:cNvPr id="56" name="Object 1029">
                            <a:extLst>
                              <a:ext uri="{FF2B5EF4-FFF2-40B4-BE49-F238E27FC236}">
                                <a16:creationId xmlns:a16="http://schemas.microsoft.com/office/drawing/2014/main" id="{C873D675-C67F-4A36-8A4D-01D93B131C5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5" y="1829"/>
                            <a:ext cx="167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Object 1030">
                <a:extLst>
                  <a:ext uri="{FF2B5EF4-FFF2-40B4-BE49-F238E27FC236}">
                    <a16:creationId xmlns:a16="http://schemas.microsoft.com/office/drawing/2014/main" id="{41F49128-9D51-4088-B77A-25A1710307D6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936" y="991"/>
              <a:ext cx="142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0" name="公式" r:id="rId8" imgW="152280" imgH="203040" progId="Equation.3">
                      <p:embed/>
                    </p:oleObj>
                  </mc:Choice>
                  <mc:Fallback>
                    <p:oleObj name="公式" r:id="rId8" imgW="152280" imgH="203040" progId="Equation.3">
                      <p:embed/>
                      <p:pic>
                        <p:nvPicPr>
                          <p:cNvPr id="57" name="Object 1030">
                            <a:extLst>
                              <a:ext uri="{FF2B5EF4-FFF2-40B4-BE49-F238E27FC236}">
                                <a16:creationId xmlns:a16="http://schemas.microsoft.com/office/drawing/2014/main" id="{41F49128-9D51-4088-B77A-25A1710307D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6" y="991"/>
                            <a:ext cx="142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Object 1031">
                <a:extLst>
                  <a:ext uri="{FF2B5EF4-FFF2-40B4-BE49-F238E27FC236}">
                    <a16:creationId xmlns:a16="http://schemas.microsoft.com/office/drawing/2014/main" id="{70B2A404-BD6F-49FF-8354-2B2810A2B9F9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190" y="2783"/>
              <a:ext cx="148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1" name="公式" r:id="rId10" imgW="190440" imgH="241200" progId="Equation.3">
                      <p:embed/>
                    </p:oleObj>
                  </mc:Choice>
                  <mc:Fallback>
                    <p:oleObj name="公式" r:id="rId10" imgW="190440" imgH="241200" progId="Equation.3">
                      <p:embed/>
                      <p:pic>
                        <p:nvPicPr>
                          <p:cNvPr id="58" name="Object 1031">
                            <a:extLst>
                              <a:ext uri="{FF2B5EF4-FFF2-40B4-BE49-F238E27FC236}">
                                <a16:creationId xmlns:a16="http://schemas.microsoft.com/office/drawing/2014/main" id="{70B2A404-BD6F-49FF-8354-2B2810A2B9F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0" y="2783"/>
                            <a:ext cx="148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Text Box 1038">
                <a:extLst>
                  <a:ext uri="{FF2B5EF4-FFF2-40B4-BE49-F238E27FC236}">
                    <a16:creationId xmlns:a16="http://schemas.microsoft.com/office/drawing/2014/main" id="{AAAFE389-48D0-4EB4-B9E4-A80DBDE642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7" y="2474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sym typeface="Symbol" panose="05050102010706020507" pitchFamily="18" charset="2"/>
                  </a:rPr>
                  <a:t></a:t>
                </a:r>
              </a:p>
            </p:txBody>
          </p:sp>
          <p:sp>
            <p:nvSpPr>
              <p:cNvPr id="61" name="Line 24">
                <a:extLst>
                  <a:ext uri="{FF2B5EF4-FFF2-40B4-BE49-F238E27FC236}">
                    <a16:creationId xmlns:a16="http://schemas.microsoft.com/office/drawing/2014/main" id="{764BD963-E707-41AC-AE36-3B5E2B327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51" y="1237"/>
                <a:ext cx="467" cy="151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3" name="Object 1029">
                <a:extLst>
                  <a:ext uri="{FF2B5EF4-FFF2-40B4-BE49-F238E27FC236}">
                    <a16:creationId xmlns:a16="http://schemas.microsoft.com/office/drawing/2014/main" id="{BB7944A1-0ED0-4464-A051-6694BD028D55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624" y="2775"/>
              <a:ext cx="15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2" name="公式" r:id="rId12" imgW="177480" imgH="241200" progId="Equation.3">
                      <p:embed/>
                    </p:oleObj>
                  </mc:Choice>
                  <mc:Fallback>
                    <p:oleObj name="公式" r:id="rId12" imgW="177480" imgH="241200" progId="Equation.3">
                      <p:embed/>
                      <p:pic>
                        <p:nvPicPr>
                          <p:cNvPr id="63" name="Object 1029">
                            <a:extLst>
                              <a:ext uri="{FF2B5EF4-FFF2-40B4-BE49-F238E27FC236}">
                                <a16:creationId xmlns:a16="http://schemas.microsoft.com/office/drawing/2014/main" id="{BB7944A1-0ED0-4464-A051-6694BD028D5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4" y="2775"/>
                            <a:ext cx="156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" name="Object 1029">
                <a:extLst>
                  <a:ext uri="{FF2B5EF4-FFF2-40B4-BE49-F238E27FC236}">
                    <a16:creationId xmlns:a16="http://schemas.microsoft.com/office/drawing/2014/main" id="{BE1CB4E0-DCFA-4F8C-91D6-15718000132C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392" y="1989"/>
              <a:ext cx="200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" name="公式" r:id="rId14" imgW="228600" imgH="241200" progId="Equation.3">
                      <p:embed/>
                    </p:oleObj>
                  </mc:Choice>
                  <mc:Fallback>
                    <p:oleObj name="公式" r:id="rId14" imgW="228600" imgH="241200" progId="Equation.3">
                      <p:embed/>
                      <p:pic>
                        <p:nvPicPr>
                          <p:cNvPr id="64" name="Object 1029">
                            <a:extLst>
                              <a:ext uri="{FF2B5EF4-FFF2-40B4-BE49-F238E27FC236}">
                                <a16:creationId xmlns:a16="http://schemas.microsoft.com/office/drawing/2014/main" id="{BE1CB4E0-DCFA-4F8C-91D6-15718000132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2" y="1989"/>
                            <a:ext cx="200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5" name="Line 29">
                <a:extLst>
                  <a:ext uri="{FF2B5EF4-FFF2-40B4-BE49-F238E27FC236}">
                    <a16:creationId xmlns:a16="http://schemas.microsoft.com/office/drawing/2014/main" id="{52C32D2A-F89A-47D6-B117-59C0DAD795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2" y="2764"/>
                <a:ext cx="44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6FC638F5-DAD0-4004-A838-4D81F612774F}"/>
              </a:ext>
            </a:extLst>
          </p:cNvPr>
          <p:cNvSpPr/>
          <p:nvPr/>
        </p:nvSpPr>
        <p:spPr>
          <a:xfrm>
            <a:off x="7965617" y="4083246"/>
            <a:ext cx="286007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4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P=</a:t>
            </a:r>
            <a:r>
              <a:rPr lang="en-US" altLang="zh-CN" sz="4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U·I·cos</a:t>
            </a:r>
            <a:r>
              <a:rPr lang="el-GR" altLang="zh-CN" sz="4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φ</a:t>
            </a:r>
            <a:r>
              <a:rPr lang="el-GR" altLang="zh-CN" sz="36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3600" i="1" dirty="0">
              <a:highlight>
                <a:srgbClr val="FFFF00"/>
              </a:highlight>
            </a:endParaRPr>
          </a:p>
        </p:txBody>
      </p:sp>
      <p:graphicFrame>
        <p:nvGraphicFramePr>
          <p:cNvPr id="69" name="Object 1029">
            <a:extLst>
              <a:ext uri="{FF2B5EF4-FFF2-40B4-BE49-F238E27FC236}">
                <a16:creationId xmlns:a16="http://schemas.microsoft.com/office/drawing/2014/main" id="{C873D675-C67F-4A36-8A4D-01D93B131C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74422" y="5319296"/>
          <a:ext cx="2651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公式" r:id="rId16" imgW="190440" imgH="241200" progId="Equation.3">
                  <p:embed/>
                </p:oleObj>
              </mc:Choice>
              <mc:Fallback>
                <p:oleObj name="公式" r:id="rId16" imgW="190440" imgH="241200" progId="Equation.3">
                  <p:embed/>
                  <p:pic>
                    <p:nvPicPr>
                      <p:cNvPr id="69" name="Object 1029">
                        <a:extLst>
                          <a:ext uri="{FF2B5EF4-FFF2-40B4-BE49-F238E27FC236}">
                            <a16:creationId xmlns:a16="http://schemas.microsoft.com/office/drawing/2014/main" id="{C873D675-C67F-4A36-8A4D-01D93B131C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4422" y="5319296"/>
                        <a:ext cx="2651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094050" y="1806931"/>
            <a:ext cx="3308626" cy="3745729"/>
            <a:chOff x="1094050" y="1806931"/>
            <a:chExt cx="3308626" cy="3745729"/>
          </a:xfrm>
        </p:grpSpPr>
        <p:grpSp>
          <p:nvGrpSpPr>
            <p:cNvPr id="20" name="组合 38">
              <a:extLst>
                <a:ext uri="{FF2B5EF4-FFF2-40B4-BE49-F238E27FC236}">
                  <a16:creationId xmlns:a16="http://schemas.microsoft.com/office/drawing/2014/main" id="{3F694B0B-C28E-432D-BFEC-0DACC56CFC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4050" y="1845368"/>
              <a:ext cx="3308626" cy="3707292"/>
              <a:chOff x="5426287" y="1855955"/>
              <a:chExt cx="3308626" cy="3707292"/>
            </a:xfrm>
          </p:grpSpPr>
          <p:grpSp>
            <p:nvGrpSpPr>
              <p:cNvPr id="21" name="Group 26">
                <a:extLst>
                  <a:ext uri="{FF2B5EF4-FFF2-40B4-BE49-F238E27FC236}">
                    <a16:creationId xmlns:a16="http://schemas.microsoft.com/office/drawing/2014/main" id="{2A2D9295-4E03-4CBE-A886-5E4E74E1F6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26287" y="1855955"/>
                <a:ext cx="3308626" cy="3707292"/>
                <a:chOff x="1003" y="2527"/>
                <a:chExt cx="1498" cy="1285"/>
              </a:xfrm>
            </p:grpSpPr>
            <p:sp>
              <p:nvSpPr>
                <p:cNvPr id="23" name="Line 4">
                  <a:extLst>
                    <a:ext uri="{FF2B5EF4-FFF2-40B4-BE49-F238E27FC236}">
                      <a16:creationId xmlns:a16="http://schemas.microsoft.com/office/drawing/2014/main" id="{A44B53D2-4760-4F04-8A63-41F4109C55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2544"/>
                  <a:ext cx="10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24" name="Line 5">
                  <a:extLst>
                    <a:ext uri="{FF2B5EF4-FFF2-40B4-BE49-F238E27FC236}">
                      <a16:creationId xmlns:a16="http://schemas.microsoft.com/office/drawing/2014/main" id="{F83388BD-A4B8-4A87-A3E6-38CA90F5F0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544"/>
                  <a:ext cx="0" cy="37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25" name="Line 6">
                  <a:extLst>
                    <a:ext uri="{FF2B5EF4-FFF2-40B4-BE49-F238E27FC236}">
                      <a16:creationId xmlns:a16="http://schemas.microsoft.com/office/drawing/2014/main" id="{86FD0829-A307-4658-8CC0-C822FD7E9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4" y="291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26" name="Line 7">
                  <a:extLst>
                    <a:ext uri="{FF2B5EF4-FFF2-40B4-BE49-F238E27FC236}">
                      <a16:creationId xmlns:a16="http://schemas.microsoft.com/office/drawing/2014/main" id="{328BEB24-82CA-4A71-A9D1-360FA582CD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4" y="2981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27" name="Line 8">
                  <a:extLst>
                    <a:ext uri="{FF2B5EF4-FFF2-40B4-BE49-F238E27FC236}">
                      <a16:creationId xmlns:a16="http://schemas.microsoft.com/office/drawing/2014/main" id="{27E40F93-9326-4B9A-AC75-592E0E23E2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990"/>
                  <a:ext cx="0" cy="61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28" name="Line 9">
                  <a:extLst>
                    <a:ext uri="{FF2B5EF4-FFF2-40B4-BE49-F238E27FC236}">
                      <a16:creationId xmlns:a16="http://schemas.microsoft.com/office/drawing/2014/main" id="{AA8ABFEB-1D00-455E-BE6B-FD8ACF6042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48" y="3600"/>
                  <a:ext cx="10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29" name="Rectangle 10">
                  <a:extLst>
                    <a:ext uri="{FF2B5EF4-FFF2-40B4-BE49-F238E27FC236}">
                      <a16:creationId xmlns:a16="http://schemas.microsoft.com/office/drawing/2014/main" id="{AD23796E-CB92-4ABE-B385-DCB1E39242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59" y="2794"/>
                  <a:ext cx="72" cy="11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 sz="36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0" name="Line 11">
                  <a:extLst>
                    <a:ext uri="{FF2B5EF4-FFF2-40B4-BE49-F238E27FC236}">
                      <a16:creationId xmlns:a16="http://schemas.microsoft.com/office/drawing/2014/main" id="{EB729382-467D-445B-9D86-C2B2EF82BA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6" y="2544"/>
                  <a:ext cx="0" cy="25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1" name="Line 12">
                  <a:extLst>
                    <a:ext uri="{FF2B5EF4-FFF2-40B4-BE49-F238E27FC236}">
                      <a16:creationId xmlns:a16="http://schemas.microsoft.com/office/drawing/2014/main" id="{88BD4265-C218-4110-98C3-FF8C5ACDBB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6" y="3101"/>
                  <a:ext cx="0" cy="6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2" name="Freeform 13">
                  <a:extLst>
                    <a:ext uri="{FF2B5EF4-FFF2-40B4-BE49-F238E27FC236}">
                      <a16:creationId xmlns:a16="http://schemas.microsoft.com/office/drawing/2014/main" id="{5B408082-1668-47EA-8586-4E50783675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6" y="3170"/>
                  <a:ext cx="101" cy="286"/>
                </a:xfrm>
                <a:custGeom>
                  <a:avLst/>
                  <a:gdLst>
                    <a:gd name="T0" fmla="*/ 4 w 251"/>
                    <a:gd name="T1" fmla="*/ 2 h 715"/>
                    <a:gd name="T2" fmla="*/ 7 w 251"/>
                    <a:gd name="T3" fmla="*/ 1 h 715"/>
                    <a:gd name="T4" fmla="*/ 14 w 251"/>
                    <a:gd name="T5" fmla="*/ 7 h 715"/>
                    <a:gd name="T6" fmla="*/ 8 w 251"/>
                    <a:gd name="T7" fmla="*/ 16 h 715"/>
                    <a:gd name="T8" fmla="*/ 2 w 251"/>
                    <a:gd name="T9" fmla="*/ 15 h 715"/>
                    <a:gd name="T10" fmla="*/ 5 w 251"/>
                    <a:gd name="T11" fmla="*/ 13 h 715"/>
                    <a:gd name="T12" fmla="*/ 10 w 251"/>
                    <a:gd name="T13" fmla="*/ 14 h 715"/>
                    <a:gd name="T14" fmla="*/ 14 w 251"/>
                    <a:gd name="T15" fmla="*/ 26 h 715"/>
                    <a:gd name="T16" fmla="*/ 8 w 251"/>
                    <a:gd name="T17" fmla="*/ 30 h 715"/>
                    <a:gd name="T18" fmla="*/ 3 w 251"/>
                    <a:gd name="T19" fmla="*/ 28 h 715"/>
                    <a:gd name="T20" fmla="*/ 7 w 251"/>
                    <a:gd name="T21" fmla="*/ 24 h 715"/>
                    <a:gd name="T22" fmla="*/ 12 w 251"/>
                    <a:gd name="T23" fmla="*/ 26 h 715"/>
                    <a:gd name="T24" fmla="*/ 14 w 251"/>
                    <a:gd name="T25" fmla="*/ 32 h 715"/>
                    <a:gd name="T26" fmla="*/ 5 w 251"/>
                    <a:gd name="T27" fmla="*/ 44 h 715"/>
                    <a:gd name="T28" fmla="*/ 2 w 251"/>
                    <a:gd name="T29" fmla="*/ 43 h 715"/>
                    <a:gd name="T30" fmla="*/ 6 w 251"/>
                    <a:gd name="T31" fmla="*/ 39 h 715"/>
                    <a:gd name="T32" fmla="*/ 10 w 251"/>
                    <a:gd name="T33" fmla="*/ 40 h 715"/>
                    <a:gd name="T34" fmla="*/ 6 w 251"/>
                    <a:gd name="T35" fmla="*/ 46 h 71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251"/>
                    <a:gd name="T55" fmla="*/ 0 h 715"/>
                    <a:gd name="T56" fmla="*/ 251 w 251"/>
                    <a:gd name="T57" fmla="*/ 715 h 71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251" h="715">
                      <a:moveTo>
                        <a:pt x="59" y="40"/>
                      </a:moveTo>
                      <a:cubicBezTo>
                        <a:pt x="74" y="30"/>
                        <a:pt x="86" y="12"/>
                        <a:pt x="104" y="10"/>
                      </a:cubicBezTo>
                      <a:cubicBezTo>
                        <a:pt x="187" y="0"/>
                        <a:pt x="203" y="53"/>
                        <a:pt x="224" y="115"/>
                      </a:cubicBezTo>
                      <a:cubicBezTo>
                        <a:pt x="206" y="224"/>
                        <a:pt x="218" y="217"/>
                        <a:pt x="119" y="250"/>
                      </a:cubicBezTo>
                      <a:cubicBezTo>
                        <a:pt x="89" y="245"/>
                        <a:pt x="51" y="257"/>
                        <a:pt x="29" y="235"/>
                      </a:cubicBezTo>
                      <a:cubicBezTo>
                        <a:pt x="16" y="222"/>
                        <a:pt x="56" y="207"/>
                        <a:pt x="74" y="205"/>
                      </a:cubicBezTo>
                      <a:cubicBezTo>
                        <a:pt x="99" y="202"/>
                        <a:pt x="124" y="215"/>
                        <a:pt x="149" y="220"/>
                      </a:cubicBezTo>
                      <a:cubicBezTo>
                        <a:pt x="226" y="271"/>
                        <a:pt x="251" y="309"/>
                        <a:pt x="209" y="415"/>
                      </a:cubicBezTo>
                      <a:cubicBezTo>
                        <a:pt x="200" y="437"/>
                        <a:pt x="138" y="454"/>
                        <a:pt x="119" y="460"/>
                      </a:cubicBezTo>
                      <a:cubicBezTo>
                        <a:pt x="94" y="455"/>
                        <a:pt x="60" y="465"/>
                        <a:pt x="44" y="445"/>
                      </a:cubicBezTo>
                      <a:cubicBezTo>
                        <a:pt x="0" y="390"/>
                        <a:pt x="87" y="376"/>
                        <a:pt x="104" y="370"/>
                      </a:cubicBezTo>
                      <a:cubicBezTo>
                        <a:pt x="129" y="378"/>
                        <a:pt x="179" y="391"/>
                        <a:pt x="194" y="415"/>
                      </a:cubicBezTo>
                      <a:cubicBezTo>
                        <a:pt x="211" y="442"/>
                        <a:pt x="224" y="505"/>
                        <a:pt x="224" y="505"/>
                      </a:cubicBezTo>
                      <a:cubicBezTo>
                        <a:pt x="205" y="675"/>
                        <a:pt x="231" y="659"/>
                        <a:pt x="74" y="685"/>
                      </a:cubicBezTo>
                      <a:cubicBezTo>
                        <a:pt x="59" y="680"/>
                        <a:pt x="36" y="684"/>
                        <a:pt x="29" y="670"/>
                      </a:cubicBezTo>
                      <a:cubicBezTo>
                        <a:pt x="6" y="624"/>
                        <a:pt x="72" y="616"/>
                        <a:pt x="89" y="610"/>
                      </a:cubicBezTo>
                      <a:cubicBezTo>
                        <a:pt x="109" y="615"/>
                        <a:pt x="133" y="612"/>
                        <a:pt x="149" y="625"/>
                      </a:cubicBezTo>
                      <a:cubicBezTo>
                        <a:pt x="208" y="672"/>
                        <a:pt x="118" y="701"/>
                        <a:pt x="89" y="715"/>
                      </a:cubicBez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 sz="36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4" name="Line 15">
                  <a:extLst>
                    <a:ext uri="{FF2B5EF4-FFF2-40B4-BE49-F238E27FC236}">
                      <a16:creationId xmlns:a16="http://schemas.microsoft.com/office/drawing/2014/main" id="{B7598E6D-861D-433B-870A-97B870ECB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64" y="2544"/>
                  <a:ext cx="21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5" name="Line 16">
                  <a:extLst>
                    <a:ext uri="{FF2B5EF4-FFF2-40B4-BE49-F238E27FC236}">
                      <a16:creationId xmlns:a16="http://schemas.microsoft.com/office/drawing/2014/main" id="{9FF8BF37-FF16-430D-B538-DB4210846D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56" y="2669"/>
                  <a:ext cx="0" cy="12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6" name="Line 17">
                  <a:extLst>
                    <a:ext uri="{FF2B5EF4-FFF2-40B4-BE49-F238E27FC236}">
                      <a16:creationId xmlns:a16="http://schemas.microsoft.com/office/drawing/2014/main" id="{EAC6FA7F-1B1E-4A34-B463-E12F541E75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6" y="2606"/>
                  <a:ext cx="0" cy="12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7" name="Line 18">
                  <a:extLst>
                    <a:ext uri="{FF2B5EF4-FFF2-40B4-BE49-F238E27FC236}">
                      <a16:creationId xmlns:a16="http://schemas.microsoft.com/office/drawing/2014/main" id="{41E56A5B-1B93-4C4E-B639-D5353F57A5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3456"/>
                  <a:ext cx="0" cy="14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280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38" name="Text Box 19">
                  <a:extLst>
                    <a:ext uri="{FF2B5EF4-FFF2-40B4-BE49-F238E27FC236}">
                      <a16:creationId xmlns:a16="http://schemas.microsoft.com/office/drawing/2014/main" id="{DEE1F059-CC96-46D9-A54F-94338C14D1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40" y="2541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b="0" i="1" dirty="0"/>
                    <a:t>I</a:t>
                  </a:r>
                </a:p>
              </p:txBody>
            </p:sp>
            <p:sp>
              <p:nvSpPr>
                <p:cNvPr id="39" name="Text Box 20">
                  <a:extLst>
                    <a:ext uri="{FF2B5EF4-FFF2-40B4-BE49-F238E27FC236}">
                      <a16:creationId xmlns:a16="http://schemas.microsoft.com/office/drawing/2014/main" id="{C799039D-88DC-449A-966E-72709110A4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9" y="2527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b="0" i="1" dirty="0"/>
                    <a:t>I</a:t>
                  </a:r>
                  <a:r>
                    <a:rPr lang="en-US" altLang="zh-CN" b="0" i="1" baseline="-25000" dirty="0"/>
                    <a:t>L</a:t>
                  </a:r>
                  <a:endParaRPr lang="en-US" altLang="zh-CN" b="0" i="1" dirty="0"/>
                </a:p>
              </p:txBody>
            </p:sp>
            <p:sp>
              <p:nvSpPr>
                <p:cNvPr id="40" name="Text Box 21">
                  <a:extLst>
                    <a:ext uri="{FF2B5EF4-FFF2-40B4-BE49-F238E27FC236}">
                      <a16:creationId xmlns:a16="http://schemas.microsoft.com/office/drawing/2014/main" id="{BBFE3CBC-78E1-48CD-A417-C3F0390594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60" y="2530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b="0" i="1" dirty="0">
                      <a:solidFill>
                        <a:srgbClr val="04428A"/>
                      </a:solidFill>
                    </a:rPr>
                    <a:t>I</a:t>
                  </a:r>
                  <a:r>
                    <a:rPr lang="en-US" altLang="zh-CN" b="0" i="1" baseline="-25000" dirty="0">
                      <a:solidFill>
                        <a:srgbClr val="04428A"/>
                      </a:solidFill>
                    </a:rPr>
                    <a:t>C</a:t>
                  </a:r>
                  <a:endParaRPr lang="en-US" altLang="zh-CN" b="0" i="1" dirty="0">
                    <a:solidFill>
                      <a:srgbClr val="04428A"/>
                    </a:solidFill>
                  </a:endParaRPr>
                </a:p>
              </p:txBody>
            </p:sp>
            <p:sp>
              <p:nvSpPr>
                <p:cNvPr id="41" name="Text Box 22">
                  <a:extLst>
                    <a:ext uri="{FF2B5EF4-FFF2-40B4-BE49-F238E27FC236}">
                      <a16:creationId xmlns:a16="http://schemas.microsoft.com/office/drawing/2014/main" id="{29242C10-C585-44FB-B411-24D5722649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71" y="2777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dirty="0">
                      <a:solidFill>
                        <a:srgbClr val="04428A"/>
                      </a:solidFill>
                    </a:rPr>
                    <a:t>R</a:t>
                  </a:r>
                </a:p>
              </p:txBody>
            </p:sp>
            <p:sp>
              <p:nvSpPr>
                <p:cNvPr id="42" name="Text Box 23">
                  <a:extLst>
                    <a:ext uri="{FF2B5EF4-FFF2-40B4-BE49-F238E27FC236}">
                      <a16:creationId xmlns:a16="http://schemas.microsoft.com/office/drawing/2014/main" id="{BC751613-BC94-4DA4-A550-1150573361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3216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rgbClr val="04428A"/>
                      </a:solidFill>
                    </a:rPr>
                    <a:t>L</a:t>
                  </a:r>
                </a:p>
              </p:txBody>
            </p:sp>
            <p:sp>
              <p:nvSpPr>
                <p:cNvPr id="43" name="Text Box 24">
                  <a:extLst>
                    <a:ext uri="{FF2B5EF4-FFF2-40B4-BE49-F238E27FC236}">
                      <a16:creationId xmlns:a16="http://schemas.microsoft.com/office/drawing/2014/main" id="{D9907662-9670-44EC-BFED-054D29E2F4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4" y="2828"/>
                  <a:ext cx="288" cy="1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dirty="0">
                      <a:solidFill>
                        <a:srgbClr val="04428A"/>
                      </a:solidFill>
                    </a:rPr>
                    <a:t>C</a:t>
                  </a:r>
                </a:p>
              </p:txBody>
            </p:sp>
            <p:sp>
              <p:nvSpPr>
                <p:cNvPr id="44" name="Text Box 25">
                  <a:extLst>
                    <a:ext uri="{FF2B5EF4-FFF2-40B4-BE49-F238E27FC236}">
                      <a16:creationId xmlns:a16="http://schemas.microsoft.com/office/drawing/2014/main" id="{E2041470-FD0D-495F-A303-4AC453B695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3" y="3622"/>
                  <a:ext cx="1498" cy="19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spcFirstLastPara="0" vert="horz" wrap="square" lIns="68580" tIns="68580" rIns="68580" bIns="68580" numCol="1" spcCol="1270" anchor="t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sz="2400" b="1"/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r>
                    <a:rPr lang="zh-CN" altLang="en-US" sz="2000" dirty="0" smtClean="0"/>
                    <a:t>不同负载的交流电路</a:t>
                  </a:r>
                  <a:endParaRPr lang="en-US" altLang="zh-CN" sz="2000" dirty="0"/>
                </a:p>
              </p:txBody>
            </p:sp>
          </p:grpSp>
          <p:sp>
            <p:nvSpPr>
              <p:cNvPr id="22" name="Text Box 69">
                <a:extLst>
                  <a:ext uri="{FF2B5EF4-FFF2-40B4-BE49-F238E27FC236}">
                    <a16:creationId xmlns:a16="http://schemas.microsoft.com/office/drawing/2014/main" id="{23A30A89-D994-4180-BB78-B481BEAFD1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72076" y="3211622"/>
                <a:ext cx="511175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3600" b="0" i="1" dirty="0">
                    <a:ea typeface="宋体" panose="02010600030101010101" pitchFamily="2" charset="-122"/>
                  </a:rPr>
                  <a:t>U</a:t>
                </a:r>
              </a:p>
            </p:txBody>
          </p:sp>
        </p:grpSp>
        <p:sp>
          <p:nvSpPr>
            <p:cNvPr id="70" name="Rectangle 10">
              <a:extLst>
                <a:ext uri="{FF2B5EF4-FFF2-40B4-BE49-F238E27FC236}">
                  <a16:creationId xmlns:a16="http://schemas.microsoft.com/office/drawing/2014/main" id="{AD23796E-CB92-4ABE-B385-DCB1E3924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147" y="3164358"/>
              <a:ext cx="159026" cy="34332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3600">
                <a:solidFill>
                  <a:srgbClr val="04428A"/>
                </a:solidFill>
              </a:endParaRPr>
            </a:p>
          </p:txBody>
        </p:sp>
        <p:sp>
          <p:nvSpPr>
            <p:cNvPr id="71" name="Line 12">
              <a:extLst>
                <a:ext uri="{FF2B5EF4-FFF2-40B4-BE49-F238E27FC236}">
                  <a16:creationId xmlns:a16="http://schemas.microsoft.com/office/drawing/2014/main" id="{88BD4265-C218-4110-98C3-FF8C5ACDB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660" y="2976308"/>
              <a:ext cx="0" cy="193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solidFill>
                  <a:srgbClr val="04428A"/>
                </a:solidFill>
              </a:endParaRPr>
            </a:p>
          </p:txBody>
        </p:sp>
        <p:sp>
          <p:nvSpPr>
            <p:cNvPr id="72" name="Text Box 22">
              <a:extLst>
                <a:ext uri="{FF2B5EF4-FFF2-40B4-BE49-F238E27FC236}">
                  <a16:creationId xmlns:a16="http://schemas.microsoft.com/office/drawing/2014/main" id="{29242C10-C585-44FB-B411-24D572264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5198" y="3091347"/>
              <a:ext cx="636104" cy="461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rgbClr val="04428A"/>
                  </a:solidFill>
                </a:rPr>
                <a:t>r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2575589" y="3091347"/>
              <a:ext cx="884584" cy="17449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3" name="Object 1029">
              <a:extLst>
                <a:ext uri="{FF2B5EF4-FFF2-40B4-BE49-F238E27FC236}">
                  <a16:creationId xmlns:a16="http://schemas.microsoft.com/office/drawing/2014/main" id="{BE1CB4E0-DCFA-4F8C-91D6-15718000132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208213" y="3773488"/>
            <a:ext cx="317500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5" name="公式" r:id="rId18" imgW="228600" imgH="228600" progId="Equation.3">
                    <p:embed/>
                  </p:oleObj>
                </mc:Choice>
                <mc:Fallback>
                  <p:oleObj name="公式" r:id="rId18" imgW="228600" imgH="228600" progId="Equation.3">
                    <p:embed/>
                    <p:pic>
                      <p:nvPicPr>
                        <p:cNvPr id="73" name="Object 1029">
                          <a:extLst>
                            <a:ext uri="{FF2B5EF4-FFF2-40B4-BE49-F238E27FC236}">
                              <a16:creationId xmlns:a16="http://schemas.microsoft.com/office/drawing/2014/main" id="{BE1CB4E0-DCFA-4F8C-91D6-1571800013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213" y="3773488"/>
                          <a:ext cx="317500" cy="442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1031">
              <a:extLst>
                <a:ext uri="{FF2B5EF4-FFF2-40B4-BE49-F238E27FC236}">
                  <a16:creationId xmlns:a16="http://schemas.microsoft.com/office/drawing/2014/main" id="{70B2A404-BD6F-49FF-8354-2B2810A2B9F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59000" y="2274888"/>
            <a:ext cx="25082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6" name="公式" r:id="rId20" imgW="203040" imgH="228600" progId="Equation.3">
                    <p:embed/>
                  </p:oleObj>
                </mc:Choice>
                <mc:Fallback>
                  <p:oleObj name="公式" r:id="rId20" imgW="203040" imgH="228600" progId="Equation.3">
                    <p:embed/>
                    <p:pic>
                      <p:nvPicPr>
                        <p:cNvPr id="74" name="Object 1031">
                          <a:extLst>
                            <a:ext uri="{FF2B5EF4-FFF2-40B4-BE49-F238E27FC236}">
                              <a16:creationId xmlns:a16="http://schemas.microsoft.com/office/drawing/2014/main" id="{70B2A404-BD6F-49FF-8354-2B2810A2B9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9000" y="2274888"/>
                          <a:ext cx="250825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2153433" y="2983574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+</a:t>
              </a:r>
              <a:endParaRPr lang="zh-CN" altLang="en-US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2163658" y="1806931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+</a:t>
              </a:r>
              <a:endParaRPr lang="zh-CN" altLang="en-US" dirty="0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2170722" y="2798908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-</a:t>
              </a:r>
              <a:endParaRPr lang="zh-CN" altLang="en-US" dirty="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155672" y="4621326"/>
              <a:ext cx="257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-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968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9A408D54-DF5B-DB49-A20A-18A5DC1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>
                <a:latin typeface="+mn-ea"/>
              </a:rPr>
              <a:pPr/>
              <a:t>11</a:t>
            </a:fld>
            <a:endParaRPr lang="zh-CN" altLang="en-US" sz="1400" b="1" dirty="0">
              <a:latin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交流电功率因数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8" name="Group 22">
            <a:extLst>
              <a:ext uri="{FF2B5EF4-FFF2-40B4-BE49-F238E27FC236}">
                <a16:creationId xmlns:a16="http://schemas.microsoft.com/office/drawing/2014/main" id="{690032F1-1886-41AC-9A28-5BF5004EC27B}"/>
              </a:ext>
            </a:extLst>
          </p:cNvPr>
          <p:cNvGrpSpPr>
            <a:grpSpLocks/>
          </p:cNvGrpSpPr>
          <p:nvPr/>
        </p:nvGrpSpPr>
        <p:grpSpPr bwMode="auto">
          <a:xfrm>
            <a:off x="1571888" y="1874093"/>
            <a:ext cx="2765425" cy="3670300"/>
            <a:chOff x="3592" y="967"/>
            <a:chExt cx="1742" cy="2312"/>
          </a:xfrm>
          <a:noFill/>
        </p:grpSpPr>
        <p:grpSp>
          <p:nvGrpSpPr>
            <p:cNvPr id="79" name="Group 17">
              <a:extLst>
                <a:ext uri="{FF2B5EF4-FFF2-40B4-BE49-F238E27FC236}">
                  <a16:creationId xmlns:a16="http://schemas.microsoft.com/office/drawing/2014/main" id="{2A82FF9E-06CE-437D-8920-D7F076921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2" y="967"/>
              <a:ext cx="1742" cy="2312"/>
              <a:chOff x="3592" y="1159"/>
              <a:chExt cx="1742" cy="2312"/>
            </a:xfrm>
            <a:grpFill/>
          </p:grpSpPr>
          <p:grpSp>
            <p:nvGrpSpPr>
              <p:cNvPr id="82" name="Group 15">
                <a:extLst>
                  <a:ext uri="{FF2B5EF4-FFF2-40B4-BE49-F238E27FC236}">
                    <a16:creationId xmlns:a16="http://schemas.microsoft.com/office/drawing/2014/main" id="{61BD0572-A1F6-44A6-B822-8EE2129329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2" y="1159"/>
                <a:ext cx="1586" cy="2057"/>
                <a:chOff x="1625" y="2310"/>
                <a:chExt cx="1297" cy="1778"/>
              </a:xfrm>
              <a:grpFill/>
            </p:grpSpPr>
            <p:sp>
              <p:nvSpPr>
                <p:cNvPr id="84" name="Line 3">
                  <a:extLst>
                    <a:ext uri="{FF2B5EF4-FFF2-40B4-BE49-F238E27FC236}">
                      <a16:creationId xmlns:a16="http://schemas.microsoft.com/office/drawing/2014/main" id="{D1593561-5B3D-45C6-81C7-048ED27464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28" y="2592"/>
                  <a:ext cx="0" cy="624"/>
                </a:xfrm>
                <a:prstGeom prst="line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5" name="Line 4">
                  <a:extLst>
                    <a:ext uri="{FF2B5EF4-FFF2-40B4-BE49-F238E27FC236}">
                      <a16:creationId xmlns:a16="http://schemas.microsoft.com/office/drawing/2014/main" id="{2896B9DC-01F5-4293-8EC5-5C398B9F96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3216"/>
                  <a:ext cx="1008" cy="0"/>
                </a:xfrm>
                <a:prstGeom prst="line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6" name="Line 5">
                  <a:extLst>
                    <a:ext uri="{FF2B5EF4-FFF2-40B4-BE49-F238E27FC236}">
                      <a16:creationId xmlns:a16="http://schemas.microsoft.com/office/drawing/2014/main" id="{5AF86C7C-D3B9-454A-B713-5C1DFD1E95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3216"/>
                  <a:ext cx="768" cy="240"/>
                </a:xfrm>
                <a:prstGeom prst="line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7" name="Line 6">
                  <a:extLst>
                    <a:ext uri="{FF2B5EF4-FFF2-40B4-BE49-F238E27FC236}">
                      <a16:creationId xmlns:a16="http://schemas.microsoft.com/office/drawing/2014/main" id="{372A2297-3BA3-4C17-9C0B-C65EF17E07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3216"/>
                  <a:ext cx="768" cy="768"/>
                </a:xfrm>
                <a:prstGeom prst="line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8" name="Line 7">
                  <a:extLst>
                    <a:ext uri="{FF2B5EF4-FFF2-40B4-BE49-F238E27FC236}">
                      <a16:creationId xmlns:a16="http://schemas.microsoft.com/office/drawing/2014/main" id="{AAF69ED8-CCBF-4990-827F-5D4CA519BD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2592"/>
                  <a:ext cx="768" cy="864"/>
                </a:xfrm>
                <a:prstGeom prst="line">
                  <a:avLst/>
                </a:prstGeom>
                <a:grpFill/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x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89" name="Line 8">
                  <a:extLst>
                    <a:ext uri="{FF2B5EF4-FFF2-40B4-BE49-F238E27FC236}">
                      <a16:creationId xmlns:a16="http://schemas.microsoft.com/office/drawing/2014/main" id="{B33FE6B4-36A2-45DB-A376-3F6B421D0B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3456"/>
                  <a:ext cx="0" cy="528"/>
                </a:xfrm>
                <a:prstGeom prst="line">
                  <a:avLst/>
                </a:prstGeom>
                <a:grpFill/>
                <a:ln w="9525">
                  <a:solidFill>
                    <a:schemeClr val="tx1"/>
                  </a:solidFill>
                  <a:prstDash val="lgDash"/>
                  <a:miter lim="800000"/>
                  <a:headEnd/>
                  <a:tailEnd/>
                </a:ln>
                <a:ex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0" name="Object 9">
                  <a:extLst>
                    <a:ext uri="{FF2B5EF4-FFF2-40B4-BE49-F238E27FC236}">
                      <a16:creationId xmlns:a16="http://schemas.microsoft.com/office/drawing/2014/main" id="{EAFD7664-047F-4BDE-A5F8-49E49404A61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1625" y="2310"/>
                <a:ext cx="192" cy="2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2" name="公式" r:id="rId4" imgW="190440" imgH="241200" progId="Equation.3">
                        <p:embed/>
                      </p:oleObj>
                    </mc:Choice>
                    <mc:Fallback>
                      <p:oleObj name="公式" r:id="rId4" imgW="190440" imgH="241200" progId="Equation.3">
                        <p:embed/>
                        <p:pic>
                          <p:nvPicPr>
                            <p:cNvPr id="90" name="Object 9">
                              <a:extLst>
                                <a:ext uri="{FF2B5EF4-FFF2-40B4-BE49-F238E27FC236}">
                                  <a16:creationId xmlns:a16="http://schemas.microsoft.com/office/drawing/2014/main" id="{EAFD7664-047F-4BDE-A5F8-49E49404A61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25" y="2310"/>
                              <a:ext cx="192" cy="2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1" name="Object 10">
                  <a:extLst>
                    <a:ext uri="{FF2B5EF4-FFF2-40B4-BE49-F238E27FC236}">
                      <a16:creationId xmlns:a16="http://schemas.microsoft.com/office/drawing/2014/main" id="{25BB3FB8-2247-4213-8FBA-4AB89B7DDFF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533" y="3360"/>
                <a:ext cx="132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3" name="公式" r:id="rId6" imgW="152280" imgH="203040" progId="Equation.3">
                        <p:embed/>
                      </p:oleObj>
                    </mc:Choice>
                    <mc:Fallback>
                      <p:oleObj name="公式" r:id="rId6" imgW="152280" imgH="203040" progId="Equation.3">
                        <p:embed/>
                        <p:pic>
                          <p:nvPicPr>
                            <p:cNvPr id="91" name="Object 10">
                              <a:extLst>
                                <a:ext uri="{FF2B5EF4-FFF2-40B4-BE49-F238E27FC236}">
                                  <a16:creationId xmlns:a16="http://schemas.microsoft.com/office/drawing/2014/main" id="{25BB3FB8-2247-4213-8FBA-4AB89B7DDFF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33" y="3360"/>
                              <a:ext cx="132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" name="Object 11">
                  <a:extLst>
                    <a:ext uri="{FF2B5EF4-FFF2-40B4-BE49-F238E27FC236}">
                      <a16:creationId xmlns:a16="http://schemas.microsoft.com/office/drawing/2014/main" id="{B821FBFA-C36C-4EEB-90DE-385800FD1F7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525" y="3840"/>
                <a:ext cx="183" cy="24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4" name="公式" r:id="rId8" imgW="177480" imgH="241200" progId="Equation.3">
                        <p:embed/>
                      </p:oleObj>
                    </mc:Choice>
                    <mc:Fallback>
                      <p:oleObj name="公式" r:id="rId8" imgW="177480" imgH="241200" progId="Equation.3">
                        <p:embed/>
                        <p:pic>
                          <p:nvPicPr>
                            <p:cNvPr id="92" name="Object 11">
                              <a:extLst>
                                <a:ext uri="{FF2B5EF4-FFF2-40B4-BE49-F238E27FC236}">
                                  <a16:creationId xmlns:a16="http://schemas.microsoft.com/office/drawing/2014/main" id="{B821FBFA-C36C-4EEB-90DE-385800FD1F7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25" y="3840"/>
                              <a:ext cx="183" cy="24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3" name="Object 12">
                  <a:extLst>
                    <a:ext uri="{FF2B5EF4-FFF2-40B4-BE49-F238E27FC236}">
                      <a16:creationId xmlns:a16="http://schemas.microsoft.com/office/drawing/2014/main" id="{D3980C8E-28BC-4631-BA8D-CC800AFEC95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793" y="3077"/>
                <a:ext cx="129" cy="17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5" name="公式" r:id="rId10" imgW="152280" imgH="203040" progId="Equation.3">
                        <p:embed/>
                      </p:oleObj>
                    </mc:Choice>
                    <mc:Fallback>
                      <p:oleObj name="公式" r:id="rId10" imgW="152280" imgH="203040" progId="Equation.3">
                        <p:embed/>
                        <p:pic>
                          <p:nvPicPr>
                            <p:cNvPr id="93" name="Object 12">
                              <a:extLst>
                                <a:ext uri="{FF2B5EF4-FFF2-40B4-BE49-F238E27FC236}">
                                  <a16:creationId xmlns:a16="http://schemas.microsoft.com/office/drawing/2014/main" id="{D3980C8E-28BC-4631-BA8D-CC800AFEC95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93" y="3077"/>
                              <a:ext cx="129" cy="17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4" name="Text Box 13">
                  <a:extLst>
                    <a:ext uri="{FF2B5EF4-FFF2-40B4-BE49-F238E27FC236}">
                      <a16:creationId xmlns:a16="http://schemas.microsoft.com/office/drawing/2014/main" id="{BAF1A616-8633-4EE6-814B-64D0B97FAC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9" y="3313"/>
                  <a:ext cx="480" cy="18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1600" dirty="0">
                      <a:sym typeface="Symbol" panose="05050102010706020507" pitchFamily="18" charset="2"/>
                    </a:rPr>
                    <a:t>φ</a:t>
                  </a:r>
                  <a:endParaRPr lang="en-US" altLang="zh-CN" sz="1600" dirty="0"/>
                </a:p>
              </p:txBody>
            </p:sp>
            <p:sp>
              <p:nvSpPr>
                <p:cNvPr id="95" name="Text Box 14">
                  <a:extLst>
                    <a:ext uri="{FF2B5EF4-FFF2-40B4-BE49-F238E27FC236}">
                      <a16:creationId xmlns:a16="http://schemas.microsoft.com/office/drawing/2014/main" id="{0000595A-B12E-40A5-91D1-EAB889D4FD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2" y="3176"/>
                  <a:ext cx="480" cy="18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1600" dirty="0">
                      <a:sym typeface="Symbol" panose="05050102010706020507" pitchFamily="18" charset="2"/>
                    </a:rPr>
                    <a:t>φ’</a:t>
                  </a:r>
                  <a:endParaRPr lang="en-US" altLang="zh-CN" sz="1600" dirty="0"/>
                </a:p>
              </p:txBody>
            </p:sp>
          </p:grpSp>
          <p:sp>
            <p:nvSpPr>
              <p:cNvPr id="83" name="Text Box 16">
                <a:extLst>
                  <a:ext uri="{FF2B5EF4-FFF2-40B4-BE49-F238E27FC236}">
                    <a16:creationId xmlns:a16="http://schemas.microsoft.com/office/drawing/2014/main" id="{2B16F38B-310C-4664-A121-4588F7CCA6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6" y="3219"/>
                <a:ext cx="1708" cy="25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spcFirstLastPara="0" vert="horz" wrap="square" lIns="68580" tIns="68580" rIns="68580" bIns="68580" numCol="1" spcCol="1270" anchor="t" anchorCtr="0">
                <a:noAutofit/>
              </a:bodyPr>
              <a:lstStyle>
                <a:defPPr>
                  <a:defRPr lang="zh-CN"/>
                </a:defPPr>
                <a:lvl1pPr algn="ctr">
                  <a:defRPr sz="2000" b="1"/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r>
                  <a:rPr lang="zh-CN" altLang="en-US" dirty="0"/>
                  <a:t>并联电容的向量分析</a:t>
                </a:r>
                <a:endParaRPr lang="en-US" altLang="zh-CN" dirty="0"/>
              </a:p>
            </p:txBody>
          </p:sp>
        </p:grpSp>
        <p:sp>
          <p:nvSpPr>
            <p:cNvPr id="80" name="弧形 79">
              <a:extLst>
                <a:ext uri="{FF2B5EF4-FFF2-40B4-BE49-F238E27FC236}">
                  <a16:creationId xmlns:a16="http://schemas.microsoft.com/office/drawing/2014/main" id="{91739293-D5D0-4E9F-8928-D67CEB164BE6}"/>
                </a:ext>
              </a:extLst>
            </p:cNvPr>
            <p:cNvSpPr/>
            <p:nvPr/>
          </p:nvSpPr>
          <p:spPr bwMode="auto">
            <a:xfrm>
              <a:off x="3600" y="1980"/>
              <a:ext cx="450" cy="315"/>
            </a:xfrm>
            <a:prstGeom prst="arc">
              <a:avLst>
                <a:gd name="adj1" fmla="val 18873974"/>
                <a:gd name="adj2" fmla="val 2206514"/>
              </a:avLst>
            </a:prstGeom>
            <a:grpFill/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zh-CN" altLang="en-US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1" name="弧形 80">
              <a:extLst>
                <a:ext uri="{FF2B5EF4-FFF2-40B4-BE49-F238E27FC236}">
                  <a16:creationId xmlns:a16="http://schemas.microsoft.com/office/drawing/2014/main" id="{A355FA81-BC8B-424E-84D8-240B241F0E68}"/>
                </a:ext>
              </a:extLst>
            </p:cNvPr>
            <p:cNvSpPr/>
            <p:nvPr/>
          </p:nvSpPr>
          <p:spPr bwMode="auto">
            <a:xfrm rot="333033">
              <a:off x="4057" y="1969"/>
              <a:ext cx="135" cy="225"/>
            </a:xfrm>
            <a:prstGeom prst="arc">
              <a:avLst>
                <a:gd name="adj1" fmla="val 18252801"/>
                <a:gd name="adj2" fmla="val 3000631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4850459" y="1938538"/>
            <a:ext cx="650334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/>
              <a:t>对应</a:t>
            </a:r>
            <a:r>
              <a:rPr kumimoji="1" lang="zh-CN" altLang="en-US" sz="2800" dirty="0" smtClean="0"/>
              <a:t>提高电感性电路的功率因数</a:t>
            </a:r>
            <a:r>
              <a:rPr kumimoji="1" lang="zh-CN" altLang="en-US" sz="2800" dirty="0"/>
              <a:t>，常用的方法就是在靠近感性负载端</a:t>
            </a:r>
            <a:r>
              <a:rPr kumimoji="1" lang="zh-CN" altLang="en-US" sz="2800" b="1" dirty="0"/>
              <a:t>并联电容器</a:t>
            </a:r>
            <a:r>
              <a:rPr kumimoji="1" lang="zh-CN" altLang="en-US" sz="2800" dirty="0"/>
              <a:t>，其电路图如左图所示，由相量图可知原感性负载电流滞后于电压</a:t>
            </a:r>
            <a:r>
              <a:rPr kumimoji="1" lang="el-GR" altLang="zh-CN" sz="2800" dirty="0"/>
              <a:t>φ</a:t>
            </a:r>
            <a:r>
              <a:rPr kumimoji="1" lang="zh-CN" altLang="en-US" sz="2800" dirty="0"/>
              <a:t>，当并联电容以后，只要</a:t>
            </a:r>
            <a:r>
              <a:rPr kumimoji="1" lang="zh-CN" altLang="en-US" sz="2800" b="1" dirty="0"/>
              <a:t>电容的大小选择得当</a:t>
            </a:r>
            <a:r>
              <a:rPr kumimoji="1" lang="zh-CN" altLang="en-US" sz="2800" dirty="0"/>
              <a:t>，就可以使并联电容以后的总电流小于原来电感中的电流，使</a:t>
            </a:r>
            <a:r>
              <a:rPr kumimoji="1" lang="en-US" altLang="zh-CN" sz="2800" b="1" dirty="0"/>
              <a:t>φ</a:t>
            </a:r>
            <a:r>
              <a:rPr kumimoji="1" lang="en-US" altLang="zh-CN" sz="2800" b="1" dirty="0">
                <a:sym typeface="Symbol" panose="05050102010706020507" pitchFamily="18" charset="2"/>
              </a:rPr>
              <a:t>’ </a:t>
            </a:r>
            <a:r>
              <a:rPr kumimoji="1" lang="zh-CN" altLang="en-US" sz="2800" b="1" dirty="0"/>
              <a:t>＜</a:t>
            </a:r>
            <a:r>
              <a:rPr kumimoji="1" lang="el-GR" altLang="zh-CN" sz="2800" b="1" dirty="0"/>
              <a:t>φ</a:t>
            </a:r>
            <a:r>
              <a:rPr kumimoji="1" lang="zh-CN" altLang="en-US" sz="2800" dirty="0"/>
              <a:t>，使功率因数得到提高。 </a:t>
            </a:r>
          </a:p>
        </p:txBody>
      </p:sp>
    </p:spTree>
    <p:extLst>
      <p:ext uri="{BB962C8B-B14F-4D97-AF65-F5344CB8AC3E}">
        <p14:creationId xmlns:p14="http://schemas.microsoft.com/office/powerpoint/2010/main" val="135678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9A408D54-DF5B-DB49-A20A-18A5DC1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12</a:t>
            </a:fld>
            <a:endParaRPr lang="zh-CN" altLang="en-US" sz="14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4815" y="18620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日光灯管的工作原理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5926C0D-49DA-47FD-B1D2-105A3E65F109}"/>
              </a:ext>
            </a:extLst>
          </p:cNvPr>
          <p:cNvGrpSpPr/>
          <p:nvPr/>
        </p:nvGrpSpPr>
        <p:grpSpPr>
          <a:xfrm>
            <a:off x="283947" y="1404167"/>
            <a:ext cx="5148425" cy="3816627"/>
            <a:chOff x="-91696" y="1699589"/>
            <a:chExt cx="4714925" cy="3495265"/>
          </a:xfrm>
        </p:grpSpPr>
        <p:pic>
          <p:nvPicPr>
            <p:cNvPr id="22" name="Picture 2" descr="日光灯（荧光灯）工作原理讲解_电工学网">
              <a:extLst>
                <a:ext uri="{FF2B5EF4-FFF2-40B4-BE49-F238E27FC236}">
                  <a16:creationId xmlns:a16="http://schemas.microsoft.com/office/drawing/2014/main" id="{B706A551-6861-4655-84F1-824C73383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91696" y="1699589"/>
              <a:ext cx="4714925" cy="32162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543923B-37B4-4252-9B43-BD83A718B879}"/>
                </a:ext>
              </a:extLst>
            </p:cNvPr>
            <p:cNvSpPr txBox="1"/>
            <p:nvPr/>
          </p:nvSpPr>
          <p:spPr>
            <a:xfrm>
              <a:off x="892662" y="4536364"/>
              <a:ext cx="2925392" cy="65849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8580" tIns="68580" rIns="68580" bIns="68580" numCol="1" spcCol="127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ym typeface="+mn-lt"/>
                </a:rPr>
                <a:t>日光灯电路</a:t>
              </a: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B2826D4C-477F-4597-B80E-F071DED1F2C7}"/>
              </a:ext>
            </a:extLst>
          </p:cNvPr>
          <p:cNvSpPr/>
          <p:nvPr/>
        </p:nvSpPr>
        <p:spPr>
          <a:xfrm>
            <a:off x="568515" y="4965757"/>
            <a:ext cx="4561763" cy="87167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0" vert="horz" wrap="square" lIns="68580" tIns="68580" rIns="68580" bIns="68580" numCol="1" spcCol="1270" anchor="t" anchorCtr="0">
            <a:noAutofit/>
          </a:bodyPr>
          <a:lstStyle/>
          <a:p>
            <a:r>
              <a:rPr lang="zh-CN" altLang="en-US" sz="2400" dirty="0"/>
              <a:t>日光灯电路是日常照明电路中一种较为经济的照明电路，也是一种典型的电感性负载电路，它主要由灯管、镇流器、启辉器组成。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5E636E9-DA57-4145-90C9-CE68F3ECA9D8}"/>
              </a:ext>
            </a:extLst>
          </p:cNvPr>
          <p:cNvGrpSpPr/>
          <p:nvPr/>
        </p:nvGrpSpPr>
        <p:grpSpPr>
          <a:xfrm>
            <a:off x="5275595" y="1262419"/>
            <a:ext cx="6389117" cy="2131586"/>
            <a:chOff x="5122257" y="1699589"/>
            <a:chExt cx="6389117" cy="2131586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677676D-3DFD-4B61-B636-A31269C99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122257" y="1699589"/>
              <a:ext cx="6389117" cy="1765898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81A42E9-62C9-4882-A16E-BFFFA21E2D2B}"/>
                </a:ext>
              </a:extLst>
            </p:cNvPr>
            <p:cNvSpPr txBox="1"/>
            <p:nvPr/>
          </p:nvSpPr>
          <p:spPr>
            <a:xfrm>
              <a:off x="6975882" y="3172685"/>
              <a:ext cx="2925392" cy="65849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8580" tIns="68580" rIns="68580" bIns="68580" numCol="1" spcCol="127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ym typeface="+mn-lt"/>
                </a:rPr>
                <a:t>日光灯结构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6D06085-534A-488B-8BE3-610646AF854A}"/>
              </a:ext>
            </a:extLst>
          </p:cNvPr>
          <p:cNvGrpSpPr/>
          <p:nvPr/>
        </p:nvGrpSpPr>
        <p:grpSpPr>
          <a:xfrm rot="16200000">
            <a:off x="4282117" y="3729049"/>
            <a:ext cx="3332510" cy="2925392"/>
            <a:chOff x="6390009" y="3020205"/>
            <a:chExt cx="3332510" cy="2925392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FF3521FE-39C7-439A-AADE-9790F006D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7586391" y="2920398"/>
              <a:ext cx="1391720" cy="2880537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4A6EEA4-2333-4FA9-AE38-177D66356601}"/>
                </a:ext>
              </a:extLst>
            </p:cNvPr>
            <p:cNvSpPr txBox="1"/>
            <p:nvPr/>
          </p:nvSpPr>
          <p:spPr>
            <a:xfrm rot="5400000">
              <a:off x="5256558" y="4153656"/>
              <a:ext cx="2925392" cy="65849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8580" tIns="68580" rIns="68580" bIns="68580" numCol="1" spcCol="127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ym typeface="+mn-lt"/>
                </a:rPr>
                <a:t>启辉器</a:t>
              </a: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BAB8F5D0-0CF9-4628-871F-8D8366985946}"/>
              </a:ext>
            </a:extLst>
          </p:cNvPr>
          <p:cNvSpPr/>
          <p:nvPr/>
        </p:nvSpPr>
        <p:spPr>
          <a:xfrm>
            <a:off x="6574368" y="4243935"/>
            <a:ext cx="5554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镇流器是一个带铁芯的自感线圈，自感系数很大。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启辉器主要是一个充有氖气的小氖泡，里面装有两个电极，一个是静触片，一个是由两个膨胀系数不同的金属制成的</a:t>
            </a:r>
            <a:r>
              <a:rPr lang="en-US" altLang="zh-CN" dirty="0"/>
              <a:t>U</a:t>
            </a:r>
            <a:r>
              <a:rPr lang="zh-CN" altLang="en-US" dirty="0"/>
              <a:t>型动触片（双层金属片</a:t>
            </a:r>
            <a:r>
              <a:rPr lang="en-US" altLang="zh-CN" dirty="0"/>
              <a:t>——</a:t>
            </a:r>
            <a:r>
              <a:rPr lang="zh-CN" altLang="en-US" dirty="0"/>
              <a:t>当温度升高时，因两层金属片的膨胀系数不同，且内层膨胀系数比外层膨胀系数高，所以动触片在受热后会向外伸展）。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6604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4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实验装置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85781" y="3264361"/>
              <a:ext cx="361874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EXPERIMENTAL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DEVICE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CF6881-D9C9-4F7E-9501-8AC9AC9F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01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实验装置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7" name="矩形 396"/>
          <p:cNvSpPr/>
          <p:nvPr/>
        </p:nvSpPr>
        <p:spPr>
          <a:xfrm>
            <a:off x="2351319" y="324999"/>
            <a:ext cx="3702800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EXPERIMENAL INSTRUMENT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3F5F3D2A-2822-3045-8E97-FEC8B323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14</a:t>
            </a:fld>
            <a:endParaRPr lang="zh-CN" altLang="en-US" sz="1400" b="1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F385974-D9D7-48B1-9831-27F846E19B63}"/>
              </a:ext>
            </a:extLst>
          </p:cNvPr>
          <p:cNvGrpSpPr/>
          <p:nvPr/>
        </p:nvGrpSpPr>
        <p:grpSpPr>
          <a:xfrm>
            <a:off x="1816894" y="1334648"/>
            <a:ext cx="8558212" cy="4597622"/>
            <a:chOff x="1816894" y="1334648"/>
            <a:chExt cx="8558212" cy="4597622"/>
          </a:xfrm>
        </p:grpSpPr>
        <p:grpSp>
          <p:nvGrpSpPr>
            <p:cNvPr id="23" name="Group 18">
              <a:extLst>
                <a:ext uri="{FF2B5EF4-FFF2-40B4-BE49-F238E27FC236}">
                  <a16:creationId xmlns:a16="http://schemas.microsoft.com/office/drawing/2014/main" id="{2DDD68BA-0114-4C11-B55A-87F1BB11D7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6894" y="1334648"/>
              <a:ext cx="8558212" cy="4597402"/>
              <a:chOff x="219" y="1012"/>
              <a:chExt cx="5391" cy="2896"/>
            </a:xfrm>
          </p:grpSpPr>
          <p:pic>
            <p:nvPicPr>
              <p:cNvPr id="28" name="Picture 5" descr="日光灯1">
                <a:extLst>
                  <a:ext uri="{FF2B5EF4-FFF2-40B4-BE49-F238E27FC236}">
                    <a16:creationId xmlns:a16="http://schemas.microsoft.com/office/drawing/2014/main" id="{A3AFF6F2-DCC2-4F2C-BC91-BA3185E99B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5000"/>
                        </a14:imgEffect>
                        <a14:imgEffect>
                          <a14:brightnessContrast bright="2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" y="1644"/>
                <a:ext cx="5391" cy="17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Text Box 6">
                <a:extLst>
                  <a:ext uri="{FF2B5EF4-FFF2-40B4-BE49-F238E27FC236}">
                    <a16:creationId xmlns:a16="http://schemas.microsoft.com/office/drawing/2014/main" id="{73218F62-9BE3-4A06-A80B-20D5B7AD92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" y="1012"/>
                <a:ext cx="120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/>
                  <a:t>日光灯开关</a:t>
                </a:r>
              </a:p>
            </p:txBody>
          </p:sp>
          <p:sp>
            <p:nvSpPr>
              <p:cNvPr id="30" name="Text Box 7">
                <a:extLst>
                  <a:ext uri="{FF2B5EF4-FFF2-40B4-BE49-F238E27FC236}">
                    <a16:creationId xmlns:a16="http://schemas.microsoft.com/office/drawing/2014/main" id="{12A64175-1045-4BFF-ACCE-FA920E030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5" y="1012"/>
                <a:ext cx="7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400" b="1" dirty="0"/>
                  <a:t>启辉器</a:t>
                </a:r>
              </a:p>
            </p:txBody>
          </p:sp>
          <p:sp>
            <p:nvSpPr>
              <p:cNvPr id="31" name="Text Box 8">
                <a:extLst>
                  <a:ext uri="{FF2B5EF4-FFF2-40B4-BE49-F238E27FC236}">
                    <a16:creationId xmlns:a16="http://schemas.microsoft.com/office/drawing/2014/main" id="{06516366-8908-4095-9823-5E9F468B5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1" y="1031"/>
                <a:ext cx="103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/>
                  <a:t>日光灯管</a:t>
                </a:r>
              </a:p>
            </p:txBody>
          </p:sp>
          <p:sp>
            <p:nvSpPr>
              <p:cNvPr id="32" name="Text Box 9">
                <a:extLst>
                  <a:ext uri="{FF2B5EF4-FFF2-40B4-BE49-F238E27FC236}">
                    <a16:creationId xmlns:a16="http://schemas.microsoft.com/office/drawing/2014/main" id="{BBF327A9-B7BC-453E-A6B0-B01989D1F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9" y="1012"/>
                <a:ext cx="7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400" b="1" dirty="0"/>
                  <a:t>镇流器</a:t>
                </a:r>
              </a:p>
            </p:txBody>
          </p:sp>
          <p:sp>
            <p:nvSpPr>
              <p:cNvPr id="33" name="Text Box 10">
                <a:extLst>
                  <a:ext uri="{FF2B5EF4-FFF2-40B4-BE49-F238E27FC236}">
                    <a16:creationId xmlns:a16="http://schemas.microsoft.com/office/drawing/2014/main" id="{1B05FBAE-AA4D-42F2-BA8E-37B2F9AD53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617"/>
                <a:ext cx="51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400" b="1"/>
                  <a:t>电容</a:t>
                </a:r>
              </a:p>
            </p:txBody>
          </p:sp>
          <p:sp>
            <p:nvSpPr>
              <p:cNvPr id="34" name="Text Box 11">
                <a:extLst>
                  <a:ext uri="{FF2B5EF4-FFF2-40B4-BE49-F238E27FC236}">
                    <a16:creationId xmlns:a16="http://schemas.microsoft.com/office/drawing/2014/main" id="{A0B6D3FF-EB58-4434-9FF7-A6D8C9DCC0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4" y="3612"/>
                <a:ext cx="70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400" b="1" dirty="0"/>
                  <a:t>数字表</a:t>
                </a:r>
              </a:p>
            </p:txBody>
          </p:sp>
          <p:sp>
            <p:nvSpPr>
              <p:cNvPr id="35" name="Line 12">
                <a:extLst>
                  <a:ext uri="{FF2B5EF4-FFF2-40B4-BE49-F238E27FC236}">
                    <a16:creationId xmlns:a16="http://schemas.microsoft.com/office/drawing/2014/main" id="{CB4A4931-A982-4B97-B056-2247F50FC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0" y="1321"/>
                <a:ext cx="726" cy="869"/>
              </a:xfrm>
              <a:prstGeom prst="line">
                <a:avLst/>
              </a:prstGeom>
              <a:noFill/>
              <a:ln w="38100">
                <a:solidFill>
                  <a:srgbClr val="04428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  <p:sp>
            <p:nvSpPr>
              <p:cNvPr id="36" name="Line 13">
                <a:extLst>
                  <a:ext uri="{FF2B5EF4-FFF2-40B4-BE49-F238E27FC236}">
                    <a16:creationId xmlns:a16="http://schemas.microsoft.com/office/drawing/2014/main" id="{838C4E02-15D1-43D6-AF28-FEEF7AAD3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0" y="1321"/>
                <a:ext cx="78" cy="869"/>
              </a:xfrm>
              <a:prstGeom prst="line">
                <a:avLst/>
              </a:prstGeom>
              <a:noFill/>
              <a:ln w="38100">
                <a:solidFill>
                  <a:srgbClr val="04428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  <p:sp>
            <p:nvSpPr>
              <p:cNvPr id="37" name="Line 14">
                <a:extLst>
                  <a:ext uri="{FF2B5EF4-FFF2-40B4-BE49-F238E27FC236}">
                    <a16:creationId xmlns:a16="http://schemas.microsoft.com/office/drawing/2014/main" id="{7B28B436-B89B-4745-BBFD-A6632CC34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0" y="1321"/>
                <a:ext cx="288" cy="479"/>
              </a:xfrm>
              <a:prstGeom prst="line">
                <a:avLst/>
              </a:prstGeom>
              <a:noFill/>
              <a:ln w="38100">
                <a:solidFill>
                  <a:srgbClr val="04428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  <p:sp>
            <p:nvSpPr>
              <p:cNvPr id="38" name="Line 15">
                <a:extLst>
                  <a:ext uri="{FF2B5EF4-FFF2-40B4-BE49-F238E27FC236}">
                    <a16:creationId xmlns:a16="http://schemas.microsoft.com/office/drawing/2014/main" id="{03087914-4578-4093-BEA2-61B67D426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0" y="1321"/>
                <a:ext cx="0" cy="869"/>
              </a:xfrm>
              <a:prstGeom prst="line">
                <a:avLst/>
              </a:prstGeom>
              <a:noFill/>
              <a:ln w="38100">
                <a:solidFill>
                  <a:srgbClr val="04428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  <p:sp>
            <p:nvSpPr>
              <p:cNvPr id="39" name="Line 16">
                <a:extLst>
                  <a:ext uri="{FF2B5EF4-FFF2-40B4-BE49-F238E27FC236}">
                    <a16:creationId xmlns:a16="http://schemas.microsoft.com/office/drawing/2014/main" id="{62C121A2-E5DA-411C-AAC0-C7FDCA8C7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40" y="2700"/>
                <a:ext cx="642" cy="929"/>
              </a:xfrm>
              <a:prstGeom prst="line">
                <a:avLst/>
              </a:prstGeom>
              <a:noFill/>
              <a:ln w="38100">
                <a:solidFill>
                  <a:srgbClr val="04428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  <p:sp>
            <p:nvSpPr>
              <p:cNvPr id="40" name="Line 17">
                <a:extLst>
                  <a:ext uri="{FF2B5EF4-FFF2-40B4-BE49-F238E27FC236}">
                    <a16:creationId xmlns:a16="http://schemas.microsoft.com/office/drawing/2014/main" id="{FC8CA724-56E1-4189-8672-42B82CC5C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32" y="2814"/>
                <a:ext cx="126" cy="819"/>
              </a:xfrm>
              <a:prstGeom prst="line">
                <a:avLst/>
              </a:prstGeom>
              <a:noFill/>
              <a:ln w="38100">
                <a:solidFill>
                  <a:srgbClr val="04428A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/>
              </a:p>
            </p:txBody>
          </p:sp>
        </p:grpSp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988A378E-652E-4386-B192-BAE2E95A8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47011" y="3731553"/>
              <a:ext cx="343826" cy="1763933"/>
            </a:xfrm>
            <a:prstGeom prst="line">
              <a:avLst/>
            </a:prstGeom>
            <a:noFill/>
            <a:ln w="38100">
              <a:solidFill>
                <a:srgbClr val="04428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/>
            </a:p>
          </p:txBody>
        </p:sp>
        <p:sp>
          <p:nvSpPr>
            <p:cNvPr id="27" name="Text Box 6">
              <a:extLst>
                <a:ext uri="{FF2B5EF4-FFF2-40B4-BE49-F238E27FC236}">
                  <a16:creationId xmlns:a16="http://schemas.microsoft.com/office/drawing/2014/main" id="{09E08E55-D645-4515-8043-D5C9FEDC8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303" y="5470307"/>
              <a:ext cx="14224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空气开关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144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5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62666" y="3264361"/>
              <a:ext cx="366497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CONTENT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C41571-FC5B-48B9-9879-3EE5843E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04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 smtClean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3F5F3D2A-2822-3045-8E97-FEC8B323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16</a:t>
            </a:fld>
            <a:endParaRPr lang="zh-CN" altLang="en-US" sz="1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基本实验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50">
            <a:extLst>
              <a:ext uri="{FF2B5EF4-FFF2-40B4-BE49-F238E27FC236}">
                <a16:creationId xmlns:a16="http://schemas.microsoft.com/office/drawing/2014/main" id="{200BA3E2-F519-4847-BC3C-6467F5F89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268" y="1676296"/>
            <a:ext cx="3781743" cy="53245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/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000" dirty="0" smtClean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）不将电容接入电路，打开总电源开关，开启日光灯开关，观察日光灯启动过程。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）用电压表、电流表、功率表测量日光灯电路在额定电压时电路的功率、各电压、电流，并计算功率因数。记录实验数据。</a:t>
            </a:r>
            <a:endParaRPr lang="en-US" altLang="zh-CN" sz="2000" dirty="0"/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）接入电容，并按照电容值从小容量到大容量变化，测量各电流、电压、功率随电容变化的规律，将测量数据记入表中。特别要找出使功率因数为最大值时的电容值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（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）求</a:t>
            </a:r>
            <a:r>
              <a:rPr lang="zh-CN" altLang="en-US" sz="2000" dirty="0"/>
              <a:t>出并联电容后的功率因数，填写入表中，进行比较。作</a:t>
            </a:r>
            <a:r>
              <a:rPr lang="en-US" altLang="zh-CN" sz="2000" dirty="0"/>
              <a:t>cos</a:t>
            </a:r>
            <a:r>
              <a:rPr lang="el-GR" altLang="zh-CN" sz="2000" dirty="0"/>
              <a:t>φ</a:t>
            </a:r>
            <a:r>
              <a:rPr lang="en-US" altLang="zh-CN" sz="2000" dirty="0"/>
              <a:t> – C</a:t>
            </a:r>
            <a:r>
              <a:rPr lang="zh-CN" altLang="en-US" sz="2000" dirty="0"/>
              <a:t>散点图。</a:t>
            </a:r>
          </a:p>
          <a:p>
            <a:endParaRPr lang="en-US" altLang="zh-CN" sz="2000" dirty="0"/>
          </a:p>
        </p:txBody>
      </p:sp>
      <p:graphicFrame>
        <p:nvGraphicFramePr>
          <p:cNvPr id="26" name="Group 201">
            <a:extLst>
              <a:ext uri="{FF2B5EF4-FFF2-40B4-BE49-F238E27FC236}">
                <a16:creationId xmlns:a16="http://schemas.microsoft.com/office/drawing/2014/main" id="{9DD3C5B2-D942-4384-A579-B96643F63B1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70069" y="2220922"/>
          <a:ext cx="6780645" cy="3510006"/>
        </p:xfrm>
        <a:graphic>
          <a:graphicData uri="http://schemas.openxmlformats.org/drawingml/2006/table">
            <a:tbl>
              <a:tblPr/>
              <a:tblGrid>
                <a:gridCol w="872428">
                  <a:extLst>
                    <a:ext uri="{9D8B030D-6E8A-4147-A177-3AD203B41FA5}">
                      <a16:colId xmlns:a16="http://schemas.microsoft.com/office/drawing/2014/main" val="81341413"/>
                    </a:ext>
                  </a:extLst>
                </a:gridCol>
                <a:gridCol w="806168">
                  <a:extLst>
                    <a:ext uri="{9D8B030D-6E8A-4147-A177-3AD203B41FA5}">
                      <a16:colId xmlns:a16="http://schemas.microsoft.com/office/drawing/2014/main" val="3162448148"/>
                    </a:ext>
                  </a:extLst>
                </a:gridCol>
                <a:gridCol w="750951">
                  <a:extLst>
                    <a:ext uri="{9D8B030D-6E8A-4147-A177-3AD203B41FA5}">
                      <a16:colId xmlns:a16="http://schemas.microsoft.com/office/drawing/2014/main" val="1333941374"/>
                    </a:ext>
                  </a:extLst>
                </a:gridCol>
                <a:gridCol w="684691">
                  <a:extLst>
                    <a:ext uri="{9D8B030D-6E8A-4147-A177-3AD203B41FA5}">
                      <a16:colId xmlns:a16="http://schemas.microsoft.com/office/drawing/2014/main" val="2811632201"/>
                    </a:ext>
                  </a:extLst>
                </a:gridCol>
                <a:gridCol w="728864">
                  <a:extLst>
                    <a:ext uri="{9D8B030D-6E8A-4147-A177-3AD203B41FA5}">
                      <a16:colId xmlns:a16="http://schemas.microsoft.com/office/drawing/2014/main" val="433143360"/>
                    </a:ext>
                  </a:extLst>
                </a:gridCol>
                <a:gridCol w="728864">
                  <a:extLst>
                    <a:ext uri="{9D8B030D-6E8A-4147-A177-3AD203B41FA5}">
                      <a16:colId xmlns:a16="http://schemas.microsoft.com/office/drawing/2014/main" val="579496768"/>
                    </a:ext>
                  </a:extLst>
                </a:gridCol>
                <a:gridCol w="761994">
                  <a:extLst>
                    <a:ext uri="{9D8B030D-6E8A-4147-A177-3AD203B41FA5}">
                      <a16:colId xmlns:a16="http://schemas.microsoft.com/office/drawing/2014/main" val="2247233500"/>
                    </a:ext>
                  </a:extLst>
                </a:gridCol>
                <a:gridCol w="773038">
                  <a:extLst>
                    <a:ext uri="{9D8B030D-6E8A-4147-A177-3AD203B41FA5}">
                      <a16:colId xmlns:a16="http://schemas.microsoft.com/office/drawing/2014/main" val="2897075537"/>
                    </a:ext>
                  </a:extLst>
                </a:gridCol>
                <a:gridCol w="673647">
                  <a:extLst>
                    <a:ext uri="{9D8B030D-6E8A-4147-A177-3AD203B41FA5}">
                      <a16:colId xmlns:a16="http://schemas.microsoft.com/office/drawing/2014/main" val="1701313075"/>
                    </a:ext>
                  </a:extLst>
                </a:gridCol>
              </a:tblGrid>
              <a:tr h="396734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未加电容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加电容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00393"/>
                  </a:ext>
                </a:extLst>
              </a:tr>
              <a:tr h="980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f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f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f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f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f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f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009481"/>
                  </a:ext>
                </a:extLst>
              </a:tr>
              <a:tr h="396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I/A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575713"/>
                  </a:ext>
                </a:extLst>
              </a:tr>
              <a:tr h="396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U/V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27175"/>
                  </a:ext>
                </a:extLst>
              </a:tr>
              <a:tr h="396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P/W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374005"/>
                  </a:ext>
                </a:extLst>
              </a:tr>
              <a:tr h="3967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cos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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8500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11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50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 smtClean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3F5F3D2A-2822-3045-8E97-FEC8B323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17</a:t>
            </a:fld>
            <a:endParaRPr lang="zh-CN" altLang="en-US" sz="1400" b="1" dirty="0"/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236479" y="1124114"/>
            <a:ext cx="6003722" cy="519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注意事项</a:t>
            </a:r>
            <a:endParaRPr kumimoji="1"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charset="2"/>
              <a:buAutoNum type="circleNumWdBlackPlain"/>
            </a:pP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charset="2"/>
              <a:buAutoNum type="circleNumWdBlackPlain"/>
            </a:pP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7718" y="1910051"/>
            <a:ext cx="11684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仪器通电前，确保连线正确。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不要在开关打开的情况下插拔电容。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因为是强电实验，必须谨慎小心，禁止私自接线。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2702" y="3778930"/>
            <a:ext cx="1091499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914400"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dirty="0">
                <a:solidFill>
                  <a:srgbClr val="616161"/>
                </a:solidFill>
                <a:ea typeface="方正粗雅宋简体" panose="02000000000000000000" pitchFamily="2" charset="-122"/>
              </a:rPr>
              <a:t>该实验是</a:t>
            </a:r>
            <a:r>
              <a:rPr lang="zh-CN" altLang="en-US" sz="3600" b="1" dirty="0">
                <a:solidFill>
                  <a:srgbClr val="B01F24"/>
                </a:solidFill>
                <a:ea typeface="方正粗雅宋简体" panose="02000000000000000000" pitchFamily="2" charset="-122"/>
              </a:rPr>
              <a:t>强电</a:t>
            </a:r>
            <a:r>
              <a:rPr lang="zh-CN" altLang="en-US" sz="3600" b="1" dirty="0">
                <a:solidFill>
                  <a:srgbClr val="616161"/>
                </a:solidFill>
                <a:ea typeface="方正粗雅宋简体" panose="02000000000000000000" pitchFamily="2" charset="-122"/>
              </a:rPr>
              <a:t>实验，因此实验中必须谨慎小心。实验连线都已经接好，所以严禁私自接线和打开总电源，必要时请教师检查后方可通电。</a:t>
            </a:r>
            <a:endParaRPr lang="en-US" altLang="zh-CN" sz="3600" b="1" dirty="0">
              <a:solidFill>
                <a:srgbClr val="616161"/>
              </a:solidFill>
              <a:ea typeface="方正粗雅宋简体" panose="02000000000000000000" pitchFamily="2" charset="-122"/>
            </a:endParaRPr>
          </a:p>
          <a:p>
            <a:pPr indent="914400">
              <a:lnSpc>
                <a:spcPct val="90000"/>
              </a:lnSpc>
              <a:spcBef>
                <a:spcPct val="0"/>
              </a:spcBef>
            </a:pPr>
            <a:r>
              <a:rPr lang="zh-CN" altLang="en-US" sz="3600" b="1" dirty="0">
                <a:solidFill>
                  <a:srgbClr val="616161"/>
                </a:solidFill>
                <a:ea typeface="方正粗雅宋简体" panose="02000000000000000000" pitchFamily="2" charset="-122"/>
              </a:rPr>
              <a:t>实验出错的后果是烧表、烧仪器、短路、甚至发生火灾、触电等，请同学们务必做到</a:t>
            </a:r>
            <a:r>
              <a:rPr lang="zh-CN" altLang="en-US" sz="3600" b="1" dirty="0">
                <a:solidFill>
                  <a:srgbClr val="B01F24"/>
                </a:solidFill>
                <a:ea typeface="方正粗雅宋简体" panose="02000000000000000000" pitchFamily="2" charset="-122"/>
              </a:rPr>
              <a:t>安全第一</a:t>
            </a:r>
            <a:r>
              <a:rPr lang="zh-CN" altLang="en-US" sz="3600" b="1" dirty="0">
                <a:solidFill>
                  <a:srgbClr val="616161"/>
                </a:solidFill>
                <a:ea typeface="方正粗雅宋简体" panose="02000000000000000000" pitchFamily="2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48410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4743572" y="2334007"/>
            <a:ext cx="2441690" cy="144654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5325780" y="3999466"/>
            <a:ext cx="1277273" cy="542995"/>
            <a:chOff x="9609968" y="5697100"/>
            <a:chExt cx="1277273" cy="547438"/>
          </a:xfrm>
        </p:grpSpPr>
        <p:sp>
          <p:nvSpPr>
            <p:cNvPr id="51" name="文本框 50"/>
            <p:cNvSpPr txBox="1"/>
            <p:nvPr/>
          </p:nvSpPr>
          <p:spPr>
            <a:xfrm>
              <a:off x="9609968" y="5779095"/>
              <a:ext cx="184666" cy="46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endParaRPr lang="en-US" altLang="zh-CN" sz="24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9702301" y="5697100"/>
              <a:ext cx="1184940" cy="465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2025.06</a:t>
              </a: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3097457" y="4629286"/>
            <a:ext cx="5910620" cy="369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1800" b="1" spc="600" dirty="0" smtClean="0">
                <a:solidFill>
                  <a:schemeClr val="bg1">
                    <a:lumMod val="50000"/>
                    <a:alpha val="78000"/>
                  </a:schemeClr>
                </a:solidFill>
                <a:latin typeface="Calibri" panose="020F0502020204030204" pitchFamily="34" charset="0"/>
                <a:cs typeface="Segoe UI Semilight" panose="020B0402040204020203" pitchFamily="34" charset="0"/>
              </a:rPr>
              <a:t>交流电功率因数实验</a:t>
            </a:r>
            <a:endParaRPr lang="zh-CN" altLang="en-US" sz="1800" b="1" spc="600" dirty="0">
              <a:solidFill>
                <a:schemeClr val="bg1">
                  <a:lumMod val="50000"/>
                  <a:alpha val="78000"/>
                </a:schemeClr>
              </a:solidFill>
              <a:latin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4230668" y="3853601"/>
            <a:ext cx="3660629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-8551" y="5623749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5" y="6057840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03710" y="5713686"/>
            <a:ext cx="10034254" cy="101565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LISTENING </a:t>
            </a:r>
            <a:endParaRPr lang="zh-CN" altLang="en-US" sz="6000" dirty="0">
              <a:solidFill>
                <a:schemeClr val="bg1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10447003" y="5586366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>
            <a:spLocks/>
          </p:cNvSpPr>
          <p:nvPr/>
        </p:nvSpPr>
        <p:spPr bwMode="auto">
          <a:xfrm>
            <a:off x="10716633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A4B7DF-59FA-42F9-A36B-0D2848B4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9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19288</TotalTime>
  <Words>1336</Words>
  <Application>Microsoft Office PowerPoint</Application>
  <PresentationFormat>宽屏</PresentationFormat>
  <Paragraphs>206</Paragraphs>
  <Slides>18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2" baseType="lpstr">
      <vt:lpstr>Eras Light ITC</vt:lpstr>
      <vt:lpstr>Helvetica Neue</vt:lpstr>
      <vt:lpstr>等线</vt:lpstr>
      <vt:lpstr>方正粗雅宋简体</vt:lpstr>
      <vt:lpstr>黑体</vt:lpstr>
      <vt:lpstr>黑体</vt:lpstr>
      <vt:lpstr>楷体</vt:lpstr>
      <vt:lpstr>楷体_GB2312</vt:lpstr>
      <vt:lpstr>隶书</vt:lpstr>
      <vt:lpstr>SimSun</vt:lpstr>
      <vt:lpstr>SimSun</vt:lpstr>
      <vt:lpstr>微软雅黑</vt:lpstr>
      <vt:lpstr>Arial</vt:lpstr>
      <vt:lpstr>Calibri</vt:lpstr>
      <vt:lpstr>Cambria</vt:lpstr>
      <vt:lpstr>Cambria Math</vt:lpstr>
      <vt:lpstr>Century Gothic</vt:lpstr>
      <vt:lpstr>Segoe UI Semilight</vt:lpstr>
      <vt:lpstr>Symbol</vt:lpstr>
      <vt:lpstr>Times New Roman</vt:lpstr>
      <vt:lpstr>Wingdings</vt:lpstr>
      <vt:lpstr>Office 主题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 PLUS</dc:creator>
  <cp:keywords/>
  <dc:description/>
  <cp:lastModifiedBy>ZJU</cp:lastModifiedBy>
  <cp:revision>853</cp:revision>
  <dcterms:created xsi:type="dcterms:W3CDTF">2015-04-07T16:28:23Z</dcterms:created>
  <dcterms:modified xsi:type="dcterms:W3CDTF">2025-07-04T02:12:49Z</dcterms:modified>
  <cp:category/>
</cp:coreProperties>
</file>