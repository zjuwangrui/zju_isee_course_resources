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349" r:id="rId3"/>
    <p:sldId id="259" r:id="rId4"/>
    <p:sldId id="368" r:id="rId5"/>
    <p:sldId id="291" r:id="rId6"/>
    <p:sldId id="292" r:id="rId7"/>
    <p:sldId id="293" r:id="rId8"/>
    <p:sldId id="294" r:id="rId9"/>
    <p:sldId id="295" r:id="rId10"/>
    <p:sldId id="299" r:id="rId11"/>
    <p:sldId id="303" r:id="rId12"/>
    <p:sldId id="371" r:id="rId13"/>
    <p:sldId id="304" r:id="rId14"/>
    <p:sldId id="372" r:id="rId15"/>
    <p:sldId id="352" r:id="rId16"/>
    <p:sldId id="320" r:id="rId17"/>
    <p:sldId id="387" r:id="rId18"/>
    <p:sldId id="309" r:id="rId19"/>
    <p:sldId id="353" r:id="rId20"/>
    <p:sldId id="330" r:id="rId21"/>
    <p:sldId id="350" r:id="rId22"/>
    <p:sldId id="351" r:id="rId23"/>
    <p:sldId id="394" r:id="rId24"/>
    <p:sldId id="326" r:id="rId25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8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F8136"/>
    <a:srgbClr val="EE8137"/>
    <a:srgbClr val="C55A11"/>
    <a:srgbClr val="2F5597"/>
    <a:srgbClr val="A2A2A2"/>
    <a:srgbClr val="EBE9DC"/>
    <a:srgbClr val="540000"/>
    <a:srgbClr val="AD1C21"/>
    <a:srgbClr val="7B12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 autoAdjust="0"/>
    <p:restoredTop sz="86939" autoAdjust="0"/>
  </p:normalViewPr>
  <p:slideViewPr>
    <p:cSldViewPr snapToGrid="0" showGuides="1">
      <p:cViewPr varScale="1">
        <p:scale>
          <a:sx n="110" d="100"/>
          <a:sy n="110" d="100"/>
        </p:scale>
        <p:origin x="1120" y="184"/>
      </p:cViewPr>
      <p:guideLst>
        <p:guide orient="horz" pos="2278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1843</a:t>
            </a:r>
            <a:r>
              <a:rPr lang="zh-CN" altLang="en-US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版电桥：桥臂比率</a:t>
            </a:r>
            <a:r>
              <a:rPr lang="en-US" altLang="zh-CN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1:1</a:t>
            </a:r>
            <a:r>
              <a:rPr lang="zh-CN" altLang="en-US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，待测电阻约</a:t>
            </a:r>
            <a:r>
              <a:rPr lang="en-US" altLang="zh-CN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0.03</a:t>
            </a:r>
            <a:r>
              <a:rPr lang="zh-CN" altLang="en-US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欧姆</a:t>
            </a:r>
            <a:endParaRPr lang="en-US" altLang="zh-CN" sz="1200" dirty="0">
              <a:solidFill>
                <a:schemeClr val="tx2"/>
              </a:solidFill>
              <a:latin typeface="宋体" panose="02010600030101010101" pitchFamily="2" charset="-122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1843</a:t>
            </a:r>
            <a:r>
              <a:rPr lang="zh-CN" altLang="en-US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版电桥：桥臂比率</a:t>
            </a:r>
            <a:r>
              <a:rPr lang="en-US" altLang="zh-CN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1:1</a:t>
            </a:r>
            <a:r>
              <a:rPr lang="zh-CN" altLang="en-US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，电桥总电阻约</a:t>
            </a:r>
            <a:r>
              <a:rPr lang="en-US" altLang="zh-CN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0.03</a:t>
            </a:r>
            <a:r>
              <a:rPr lang="zh-CN" altLang="en-US" sz="1200" dirty="0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欧姆</a:t>
            </a:r>
            <a:endParaRPr lang="en-US" altLang="zh-CN" sz="1200" dirty="0">
              <a:solidFill>
                <a:schemeClr val="tx2"/>
              </a:solidFill>
              <a:latin typeface="宋体" panose="02010600030101010101" pitchFamily="2" charset="-122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3EF8-6704-43C3-8F75-DEFE5F5BF111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31A8-ED3E-4C2F-8A11-01DA33E8AA9F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2B3F5-254C-4FB2-B459-1E97057DBEBE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93B7A-F841-43D1-87B4-23314CEA1932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F70B-9E30-40F6-BB2D-492DB8A20061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9D20-B6AE-409E-AE69-DF1C3E6493B0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97D8-1CC1-4D1D-AF9B-F3494A691C40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0E83B-EDA7-4322-8CA8-C73FECAEB8E3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E2C6-59A5-43B5-9200-40EBBA2C2ED4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13B5-1C68-4AC6-B30B-B7D937B82F38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71C6-9046-4CE9-A225-CEB1A658F8F9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D8A45-B5D6-47BE-9DA3-56E1A2FB3E55}" type="datetime1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0.emf"/><Relationship Id="rId7" Type="http://schemas.openxmlformats.org/officeDocument/2006/relationships/image" Target="../media/image14.png"/><Relationship Id="rId12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9.emf"/><Relationship Id="rId5" Type="http://schemas.openxmlformats.org/officeDocument/2006/relationships/image" Target="../media/image12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684614" y="3620814"/>
            <a:ext cx="6823235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altLang="zh-CN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Wheatstone Bridge</a:t>
            </a:r>
            <a:endParaRPr lang="zh-CN" altLang="en-US" sz="2400" b="1" spc="600" dirty="0">
              <a:solidFill>
                <a:schemeClr val="bg1">
                  <a:lumMod val="50000"/>
                  <a:alpha val="78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182616" y="2054772"/>
            <a:ext cx="5827232" cy="144654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惠斯登电桥</a:t>
            </a:r>
          </a:p>
        </p:txBody>
      </p:sp>
      <p:sp>
        <p:nvSpPr>
          <p:cNvPr id="10" name="圆角矩形 9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9703B5-6FAD-A938-8176-4AB0DF7ACFB5}"/>
              </a:ext>
            </a:extLst>
          </p:cNvPr>
          <p:cNvSpPr txBox="1"/>
          <p:nvPr/>
        </p:nvSpPr>
        <p:spPr>
          <a:xfrm>
            <a:off x="3398551" y="5314714"/>
            <a:ext cx="4653495" cy="40011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egoe UI Semilight" panose="020B0402040204020203" pitchFamily="34" charset="0"/>
              </a:rPr>
              <a:t>浙江大学  物理实验教学中心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1CAFF3-41AE-7BCB-F7EF-D72151BA4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" y="209688"/>
            <a:ext cx="4712251" cy="81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2456365" y="252859"/>
            <a:ext cx="973563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0</a:t>
            </a:r>
            <a:endParaRPr lang="zh-CN" altLang="en-US" sz="3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647718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预备实验</a:t>
            </a:r>
          </a:p>
        </p:txBody>
      </p:sp>
      <p:sp>
        <p:nvSpPr>
          <p:cNvPr id="47" name="矩形 46"/>
          <p:cNvSpPr/>
          <p:nvPr/>
        </p:nvSpPr>
        <p:spPr>
          <a:xfrm>
            <a:off x="2507490" y="324999"/>
            <a:ext cx="3416300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PREPARATORY EXPERIMENT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9" name="组 4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1" name="组 5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圆角矩形 5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圆角矩形 5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圆角矩形 5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3" name="圆角矩形 5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2</a:t>
            </a:fld>
            <a:endParaRPr lang="zh-CN" altLang="en-US" sz="1400" b="1"/>
          </a:p>
        </p:txBody>
      </p:sp>
      <p:sp>
        <p:nvSpPr>
          <p:cNvPr id="3" name="文本框 2"/>
          <p:cNvSpPr txBox="1"/>
          <p:nvPr/>
        </p:nvSpPr>
        <p:spPr>
          <a:xfrm>
            <a:off x="1544949" y="987061"/>
            <a:ext cx="88017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  <a:cs typeface="黑体" panose="02010609060101010101" pitchFamily="49" charset="-122"/>
              </a:rPr>
              <a:t>组装惠斯登电桥并测量电阻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858503" y="2718030"/>
            <a:ext cx="2808312" cy="2734981"/>
            <a:chOff x="708348" y="1961925"/>
            <a:chExt cx="2808312" cy="2734981"/>
          </a:xfrm>
        </p:grpSpPr>
        <p:sp>
          <p:nvSpPr>
            <p:cNvPr id="19" name="矩形 18"/>
            <p:cNvSpPr/>
            <p:nvPr/>
          </p:nvSpPr>
          <p:spPr>
            <a:xfrm>
              <a:off x="708348" y="2995702"/>
              <a:ext cx="2808312" cy="133731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956086" y="4245584"/>
              <a:ext cx="325272" cy="18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菱形 20"/>
            <p:cNvSpPr/>
            <p:nvPr/>
          </p:nvSpPr>
          <p:spPr>
            <a:xfrm>
              <a:off x="1033544" y="2162440"/>
              <a:ext cx="2135106" cy="1666524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2084717" y="2144440"/>
              <a:ext cx="36000" cy="36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2083337" y="3810964"/>
              <a:ext cx="36000" cy="36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/>
            <p:cNvCxnSpPr/>
            <p:nvPr/>
          </p:nvCxnSpPr>
          <p:spPr>
            <a:xfrm flipH="1">
              <a:off x="2099957" y="2183516"/>
              <a:ext cx="1380" cy="1666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1889516" y="2532820"/>
              <a:ext cx="420881" cy="420881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rot="2280000">
              <a:off x="2447827" y="2502103"/>
              <a:ext cx="324000" cy="10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 rot="19320000">
              <a:off x="1432211" y="2502103"/>
              <a:ext cx="324000" cy="10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26"/>
            <p:cNvSpPr txBox="1"/>
            <p:nvPr/>
          </p:nvSpPr>
          <p:spPr>
            <a:xfrm>
              <a:off x="1178713" y="223549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78713" y="3315616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97106" y="2226776"/>
              <a:ext cx="394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40648" y="3306896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053759" y="3252900"/>
              <a:ext cx="104275" cy="9709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2083564" y="3216900"/>
              <a:ext cx="36000" cy="36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2085047" y="3346337"/>
              <a:ext cx="36000" cy="36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2036239" y="3214518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rot="16200000">
              <a:off x="1982239" y="3250268"/>
              <a:ext cx="0" cy="108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1230549" y="4228558"/>
              <a:ext cx="253199" cy="18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连接符 37"/>
            <p:cNvCxnSpPr/>
            <p:nvPr/>
          </p:nvCxnSpPr>
          <p:spPr>
            <a:xfrm flipV="1">
              <a:off x="1222851" y="4183855"/>
              <a:ext cx="253199" cy="15058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2103047" y="2262473"/>
              <a:ext cx="0" cy="249087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rot="-360000">
              <a:off x="2247947" y="2255267"/>
              <a:ext cx="181401" cy="182756"/>
            </a:xfrm>
            <a:prstGeom prst="straightConnector1">
              <a:avLst/>
            </a:prstGeom>
            <a:ln w="22225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rot="360000" flipH="1">
              <a:off x="1774966" y="2255268"/>
              <a:ext cx="181401" cy="182756"/>
            </a:xfrm>
            <a:prstGeom prst="straightConnector1">
              <a:avLst/>
            </a:prstGeom>
            <a:ln w="22225">
              <a:solidFill>
                <a:srgbClr val="FF000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2099595" y="3506960"/>
              <a:ext cx="0" cy="249087"/>
            </a:xfrm>
            <a:prstGeom prst="straightConnector1">
              <a:avLst/>
            </a:prstGeom>
            <a:ln w="22225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26"/>
            <p:cNvSpPr txBox="1"/>
            <p:nvPr/>
          </p:nvSpPr>
          <p:spPr>
            <a:xfrm>
              <a:off x="1556678" y="1961925"/>
              <a:ext cx="348172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26"/>
            <p:cNvSpPr txBox="1"/>
            <p:nvPr/>
          </p:nvSpPr>
          <p:spPr>
            <a:xfrm>
              <a:off x="2273297" y="1961925"/>
              <a:ext cx="338554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26"/>
            <p:cNvSpPr txBox="1"/>
            <p:nvPr/>
          </p:nvSpPr>
          <p:spPr>
            <a:xfrm>
              <a:off x="2072158" y="2899009"/>
              <a:ext cx="383438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26"/>
            <p:cNvSpPr txBox="1"/>
            <p:nvPr/>
          </p:nvSpPr>
          <p:spPr>
            <a:xfrm>
              <a:off x="1573997" y="3563420"/>
              <a:ext cx="348172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26"/>
            <p:cNvSpPr txBox="1"/>
            <p:nvPr/>
          </p:nvSpPr>
          <p:spPr>
            <a:xfrm>
              <a:off x="2268488" y="3563420"/>
              <a:ext cx="348172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30"/>
            <p:cNvSpPr txBox="1"/>
            <p:nvPr/>
          </p:nvSpPr>
          <p:spPr>
            <a:xfrm>
              <a:off x="1912775" y="4312185"/>
              <a:ext cx="442750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1425143" y="3277293"/>
              <a:ext cx="1358900" cy="311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4" name="椭圆 63"/>
            <p:cNvSpPr/>
            <p:nvPr/>
          </p:nvSpPr>
          <p:spPr>
            <a:xfrm>
              <a:off x="1917339" y="4297519"/>
              <a:ext cx="72000" cy="7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2215789" y="4297519"/>
              <a:ext cx="72000" cy="7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6" name="直接箭头连接符 65"/>
            <p:cNvCxnSpPr/>
            <p:nvPr/>
          </p:nvCxnSpPr>
          <p:spPr>
            <a:xfrm rot="360000" flipV="1">
              <a:off x="2253882" y="3558620"/>
              <a:ext cx="181401" cy="182756"/>
            </a:xfrm>
            <a:prstGeom prst="straightConnector1">
              <a:avLst/>
            </a:prstGeom>
            <a:ln w="22225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 rot="21240000" flipH="1" flipV="1">
              <a:off x="1780901" y="3558621"/>
              <a:ext cx="181401" cy="182756"/>
            </a:xfrm>
            <a:prstGeom prst="straightConnector1">
              <a:avLst/>
            </a:prstGeom>
            <a:ln w="22225">
              <a:solidFill>
                <a:srgbClr val="FF000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>
            <a:xfrm flipV="1">
              <a:off x="2595347" y="3219660"/>
              <a:ext cx="0" cy="39660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5207903" y="2717748"/>
            <a:ext cx="5396312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黑体" panose="02010609060101010101" pitchFamily="49" charset="-122"/>
              </a:rPr>
              <a:t>实验要求：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黑体" panose="02010609060101010101" pitchFamily="49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黑体" panose="02010609060101010101" pitchFamily="49" charset="-122"/>
              </a:rPr>
              <a:t>、熟悉检流计按钮、电阻箱功能；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黑体" panose="02010609060101010101" pitchFamily="49" charset="-122"/>
                <a:sym typeface="+mn-ea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黑体" panose="02010609060101010101" pitchFamily="49" charset="-122"/>
                <a:sym typeface="+mn-ea"/>
              </a:rPr>
              <a:t>、按原理图自组搭建惠斯登电桥电路，测量待测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黑体" panose="02010609060101010101" pitchFamily="49" charset="-122"/>
                <a:sym typeface="+mn-ea"/>
              </a:rPr>
              <a:t>220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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电阻。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-13512" y="2847434"/>
            <a:ext cx="12192001" cy="1291039"/>
            <a:chOff x="-13512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-13512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1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实验背景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4371032" y="3264361"/>
              <a:ext cx="4549576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BACKGROUNDS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452276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pic>
        <p:nvPicPr>
          <p:cNvPr id="22" name="Picture 2" descr="Wheatstone Charles drawing 186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257" y="1935424"/>
            <a:ext cx="2201398" cy="243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Samuel Hunter Christi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03" y="1935424"/>
            <a:ext cx="1882312" cy="242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矩形 24"/>
          <p:cNvSpPr/>
          <p:nvPr/>
        </p:nvSpPr>
        <p:spPr>
          <a:xfrm>
            <a:off x="697524" y="4875052"/>
            <a:ext cx="18469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S. H. Christie</a:t>
            </a:r>
          </a:p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1784-1865</a:t>
            </a:r>
          </a:p>
        </p:txBody>
      </p:sp>
      <p:sp>
        <p:nvSpPr>
          <p:cNvPr id="26" name="矩形 25"/>
          <p:cNvSpPr/>
          <p:nvPr/>
        </p:nvSpPr>
        <p:spPr>
          <a:xfrm>
            <a:off x="3095873" y="4873877"/>
            <a:ext cx="205216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C. Wheatstone</a:t>
            </a:r>
          </a:p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1802-1875</a:t>
            </a:r>
          </a:p>
        </p:txBody>
      </p:sp>
      <p:sp>
        <p:nvSpPr>
          <p:cNvPr id="28" name="矩形 27"/>
          <p:cNvSpPr/>
          <p:nvPr/>
        </p:nvSpPr>
        <p:spPr>
          <a:xfrm>
            <a:off x="3500221" y="4359313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惠斯登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4</a:t>
            </a:fld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789030" y="4364138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克里斯蒂</a:t>
            </a:r>
          </a:p>
        </p:txBody>
      </p:sp>
      <p:sp>
        <p:nvSpPr>
          <p:cNvPr id="12" name="AutoShape 2" descr="https://timgsa.baidu.com/timg?image&amp;quality=80&amp;size=b9999_10000&amp;sec=1555591435233&amp;di=3b938dc0d6caaa0601a59eed1669c242&amp;imgtype=0&amp;src=http%3A%2F%2Fimg009.hc360.cn%2Fm2%2FM04%2F6A%2FD9%2FwKhQcVQ_0A2EM2O0AAAAAJE9nEE32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725920" y="3639185"/>
            <a:ext cx="3560445" cy="2423160"/>
            <a:chOff x="9804" y="4112"/>
            <a:chExt cx="5607" cy="3816"/>
          </a:xfrm>
        </p:grpSpPr>
        <p:sp>
          <p:nvSpPr>
            <p:cNvPr id="3" name="矩形 2"/>
            <p:cNvSpPr/>
            <p:nvPr/>
          </p:nvSpPr>
          <p:spPr>
            <a:xfrm>
              <a:off x="10663" y="7298"/>
              <a:ext cx="3926" cy="6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早期惠斯登电桥电路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4" y="4112"/>
              <a:ext cx="5607" cy="3036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5758180" y="1663065"/>
            <a:ext cx="587375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1833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年，英国数学家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S.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克里斯蒂发明了由四个电阻组成的电桥，但由于缺乏仪器而无法实际应用，直到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1843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年惠斯登发明了变阻器，借助于变阻器和这种电桥电路，惠斯登成功地对电阻做了精确测量。由于惠斯登第一个用它来测量电阻，所以人们把这种电桥称为惠斯登电桥。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447770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400" b="1" smtClean="0"/>
              <a:t>5</a:t>
            </a:fld>
            <a:endParaRPr lang="zh-CN" altLang="en-US" b="1" dirty="0"/>
          </a:p>
        </p:txBody>
      </p:sp>
      <p:cxnSp>
        <p:nvCxnSpPr>
          <p:cNvPr id="69" name="直接箭头连接符 68"/>
          <p:cNvCxnSpPr/>
          <p:nvPr/>
        </p:nvCxnSpPr>
        <p:spPr>
          <a:xfrm>
            <a:off x="484860" y="2456323"/>
            <a:ext cx="1108074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628702" y="2102380"/>
            <a:ext cx="327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62592" y="5574385"/>
            <a:ext cx="3037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 …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00100" y="2492350"/>
            <a:ext cx="3641270" cy="1544871"/>
            <a:chOff x="800100" y="2492350"/>
            <a:chExt cx="3641270" cy="1544871"/>
          </a:xfrm>
        </p:grpSpPr>
        <p:sp>
          <p:nvSpPr>
            <p:cNvPr id="5" name="矩形 4"/>
            <p:cNvSpPr/>
            <p:nvPr/>
          </p:nvSpPr>
          <p:spPr>
            <a:xfrm>
              <a:off x="1264919" y="2492350"/>
              <a:ext cx="3176451" cy="355600"/>
            </a:xfrm>
            <a:prstGeom prst="rect">
              <a:avLst/>
            </a:prstGeom>
            <a:gradFill flip="none" rotWithShape="1">
              <a:gsLst>
                <a:gs pos="83700">
                  <a:srgbClr val="E9E9E9"/>
                </a:gs>
                <a:gs pos="50000">
                  <a:srgbClr val="BABABA"/>
                </a:gs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00100" y="3575556"/>
              <a:ext cx="1549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电线电报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264920" y="2847950"/>
              <a:ext cx="3176450" cy="976063"/>
              <a:chOff x="1264920" y="2847950"/>
              <a:chExt cx="3176450" cy="976063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H="1">
                <a:off x="1264920" y="2852436"/>
                <a:ext cx="317645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flipH="1">
                <a:off x="2277836" y="3824013"/>
                <a:ext cx="216353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4441370" y="2847950"/>
                <a:ext cx="0" cy="97606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/>
          <p:cNvGrpSpPr/>
          <p:nvPr/>
        </p:nvGrpSpPr>
        <p:grpSpPr>
          <a:xfrm>
            <a:off x="3864033" y="2045501"/>
            <a:ext cx="1989371" cy="1284506"/>
            <a:chOff x="3864033" y="2045501"/>
            <a:chExt cx="1989371" cy="1284506"/>
          </a:xfrm>
        </p:grpSpPr>
        <p:cxnSp>
          <p:nvCxnSpPr>
            <p:cNvPr id="37" name="直接连接符 36"/>
            <p:cNvCxnSpPr/>
            <p:nvPr/>
          </p:nvCxnSpPr>
          <p:spPr>
            <a:xfrm>
              <a:off x="4200148" y="2456323"/>
              <a:ext cx="2570" cy="548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矩形 37"/>
            <p:cNvSpPr/>
            <p:nvPr/>
          </p:nvSpPr>
          <p:spPr>
            <a:xfrm>
              <a:off x="4703031" y="2868342"/>
              <a:ext cx="11503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放大器</a:t>
              </a:r>
            </a:p>
          </p:txBody>
        </p:sp>
        <p:cxnSp>
          <p:nvCxnSpPr>
            <p:cNvPr id="40" name="直接连接符 39"/>
            <p:cNvCxnSpPr/>
            <p:nvPr/>
          </p:nvCxnSpPr>
          <p:spPr>
            <a:xfrm flipH="1">
              <a:off x="4200148" y="3004775"/>
              <a:ext cx="50520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3864033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1912</a:t>
              </a:r>
              <a:endParaRPr lang="zh-CN" altLang="en-US" sz="2000" b="1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31370" y="2045501"/>
            <a:ext cx="3618116" cy="1514842"/>
            <a:chOff x="431370" y="2045501"/>
            <a:chExt cx="3618116" cy="1514842"/>
          </a:xfrm>
        </p:grpSpPr>
        <p:grpSp>
          <p:nvGrpSpPr>
            <p:cNvPr id="3" name="组合 2"/>
            <p:cNvGrpSpPr/>
            <p:nvPr/>
          </p:nvGrpSpPr>
          <p:grpSpPr>
            <a:xfrm>
              <a:off x="431370" y="2456323"/>
              <a:ext cx="3618116" cy="1104020"/>
              <a:chOff x="431370" y="2456323"/>
              <a:chExt cx="3618116" cy="1104020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431370" y="3098678"/>
                <a:ext cx="361811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惠斯登电桥：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140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微欧</a:t>
                </a:r>
              </a:p>
            </p:txBody>
          </p:sp>
          <p:cxnSp>
            <p:nvCxnSpPr>
              <p:cNvPr id="4" name="直接连接符 3"/>
              <p:cNvCxnSpPr/>
              <p:nvPr/>
            </p:nvCxnSpPr>
            <p:spPr>
              <a:xfrm>
                <a:off x="1371600" y="2456323"/>
                <a:ext cx="0" cy="62784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矩形 46"/>
            <p:cNvSpPr/>
            <p:nvPr/>
          </p:nvSpPr>
          <p:spPr>
            <a:xfrm>
              <a:off x="1010334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1843</a:t>
              </a:r>
              <a:endParaRPr lang="zh-CN" altLang="en-US" sz="2000" b="1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76598" y="2045501"/>
            <a:ext cx="3219382" cy="2495049"/>
            <a:chOff x="876598" y="2045501"/>
            <a:chExt cx="3219382" cy="2495049"/>
          </a:xfrm>
        </p:grpSpPr>
        <p:sp>
          <p:nvSpPr>
            <p:cNvPr id="64" name="矩形 63"/>
            <p:cNvSpPr/>
            <p:nvPr/>
          </p:nvSpPr>
          <p:spPr>
            <a:xfrm>
              <a:off x="1809669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1865</a:t>
              </a:r>
              <a:endParaRPr lang="zh-CN" altLang="en-US" sz="2000" b="1" dirty="0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876598" y="2492350"/>
              <a:ext cx="3219382" cy="2048200"/>
              <a:chOff x="876598" y="2492350"/>
              <a:chExt cx="3219382" cy="2048200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876598" y="4078885"/>
                <a:ext cx="312361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开尔文电桥：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微欧</a:t>
                </a:r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057400" y="2969940"/>
                <a:ext cx="2038580" cy="1362947"/>
                <a:chOff x="512941" y="2461066"/>
                <a:chExt cx="2038580" cy="1362947"/>
              </a:xfrm>
            </p:grpSpPr>
            <p:cxnSp>
              <p:nvCxnSpPr>
                <p:cNvPr id="58" name="直接连接符 57"/>
                <p:cNvCxnSpPr/>
                <p:nvPr/>
              </p:nvCxnSpPr>
              <p:spPr>
                <a:xfrm flipH="1">
                  <a:off x="512941" y="2461066"/>
                  <a:ext cx="203858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H="1">
                  <a:off x="2277836" y="3824013"/>
                  <a:ext cx="27368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>
                  <a:off x="2551521" y="2461066"/>
                  <a:ext cx="0" cy="13629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9" name="直接连接符 78"/>
              <p:cNvCxnSpPr/>
              <p:nvPr/>
            </p:nvCxnSpPr>
            <p:spPr>
              <a:xfrm>
                <a:off x="2057400" y="2492350"/>
                <a:ext cx="0" cy="4775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组合 9"/>
          <p:cNvGrpSpPr/>
          <p:nvPr/>
        </p:nvGrpSpPr>
        <p:grpSpPr>
          <a:xfrm>
            <a:off x="725666" y="2492350"/>
            <a:ext cx="3481815" cy="2562158"/>
            <a:chOff x="725666" y="2492350"/>
            <a:chExt cx="3481815" cy="2562158"/>
          </a:xfrm>
        </p:grpSpPr>
        <p:sp>
          <p:nvSpPr>
            <p:cNvPr id="76" name="矩形 75"/>
            <p:cNvSpPr/>
            <p:nvPr/>
          </p:nvSpPr>
          <p:spPr>
            <a:xfrm>
              <a:off x="725666" y="4592843"/>
              <a:ext cx="30376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麦克斯韦电桥</a:t>
              </a: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2168901" y="2492350"/>
              <a:ext cx="2038580" cy="2366872"/>
              <a:chOff x="2164138" y="2492350"/>
              <a:chExt cx="2038580" cy="2366872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2164138" y="3084164"/>
                <a:ext cx="2038580" cy="1775058"/>
                <a:chOff x="1167591" y="2048955"/>
                <a:chExt cx="2038580" cy="1775058"/>
              </a:xfrm>
            </p:grpSpPr>
            <p:cxnSp>
              <p:nvCxnSpPr>
                <p:cNvPr id="67" name="直接连接符 66"/>
                <p:cNvCxnSpPr/>
                <p:nvPr/>
              </p:nvCxnSpPr>
              <p:spPr>
                <a:xfrm flipH="1">
                  <a:off x="1167591" y="2048955"/>
                  <a:ext cx="203858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/>
                <p:nvPr/>
              </p:nvCxnSpPr>
              <p:spPr>
                <a:xfrm flipH="1">
                  <a:off x="2277837" y="3824013"/>
                  <a:ext cx="92576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3203601" y="2048955"/>
                  <a:ext cx="0" cy="177505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直接连接符 79"/>
              <p:cNvCxnSpPr/>
              <p:nvPr/>
            </p:nvCxnSpPr>
            <p:spPr>
              <a:xfrm>
                <a:off x="2167313" y="2492350"/>
                <a:ext cx="0" cy="5918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组合 11"/>
          <p:cNvGrpSpPr/>
          <p:nvPr/>
        </p:nvGrpSpPr>
        <p:grpSpPr>
          <a:xfrm>
            <a:off x="725666" y="2045501"/>
            <a:ext cx="3590373" cy="3489770"/>
            <a:chOff x="725666" y="2045501"/>
            <a:chExt cx="3590373" cy="3489770"/>
          </a:xfrm>
        </p:grpSpPr>
        <p:sp>
          <p:nvSpPr>
            <p:cNvPr id="77" name="矩形 76"/>
            <p:cNvSpPr/>
            <p:nvPr/>
          </p:nvSpPr>
          <p:spPr>
            <a:xfrm>
              <a:off x="725666" y="5073606"/>
              <a:ext cx="30376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维恩电桥</a:t>
              </a:r>
            </a:p>
          </p:txBody>
        </p:sp>
        <p:sp>
          <p:nvSpPr>
            <p:cNvPr id="81" name="矩形 80"/>
            <p:cNvSpPr/>
            <p:nvPr/>
          </p:nvSpPr>
          <p:spPr>
            <a:xfrm>
              <a:off x="3165081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1891</a:t>
              </a:r>
              <a:endParaRPr lang="zh-CN" altLang="en-US" sz="2000" b="1" dirty="0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2952751" y="2456323"/>
              <a:ext cx="1363288" cy="2875703"/>
              <a:chOff x="2839430" y="2345750"/>
              <a:chExt cx="1363288" cy="2875703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2839430" y="3084164"/>
                <a:ext cx="1363288" cy="2137289"/>
                <a:chOff x="1842883" y="2048955"/>
                <a:chExt cx="1363288" cy="2137289"/>
              </a:xfrm>
            </p:grpSpPr>
            <p:cxnSp>
              <p:nvCxnSpPr>
                <p:cNvPr id="85" name="直接连接符 84"/>
                <p:cNvCxnSpPr/>
                <p:nvPr/>
              </p:nvCxnSpPr>
              <p:spPr>
                <a:xfrm flipH="1">
                  <a:off x="2403778" y="2048955"/>
                  <a:ext cx="80239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/>
                <p:cNvCxnSpPr/>
                <p:nvPr/>
              </p:nvCxnSpPr>
              <p:spPr>
                <a:xfrm flipH="1">
                  <a:off x="1842883" y="4186244"/>
                  <a:ext cx="136328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/>
                <p:cNvCxnSpPr/>
                <p:nvPr/>
              </p:nvCxnSpPr>
              <p:spPr>
                <a:xfrm>
                  <a:off x="3203601" y="2048955"/>
                  <a:ext cx="0" cy="213728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4" name="直接连接符 83"/>
              <p:cNvCxnSpPr/>
              <p:nvPr/>
            </p:nvCxnSpPr>
            <p:spPr>
              <a:xfrm>
                <a:off x="3400325" y="2345750"/>
                <a:ext cx="0" cy="7384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表格 26"/>
              <p:cNvGraphicFramePr>
                <a:graphicFrameLocks noGrp="1"/>
              </p:cNvGraphicFramePr>
              <p:nvPr/>
            </p:nvGraphicFramePr>
            <p:xfrm>
              <a:off x="4878896" y="4865826"/>
              <a:ext cx="6490144" cy="105854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4965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935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1E-4 – 99.99999E6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600" b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𝛀</m:t>
                              </m:r>
                            </m:oMath>
                          </a14:m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600" b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𝛀</m:t>
                              </m:r>
                            </m:oMath>
                          </a14:m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1E-17</a:t>
                          </a:r>
                          <a:r>
                            <a:rPr lang="en-US" altLang="zh-CN" sz="1600" b="1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– 9.999999 F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F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1E-12</a:t>
                          </a:r>
                          <a:r>
                            <a:rPr lang="en-US" altLang="zh-CN" sz="1600" b="1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– 99.99999 H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表格 26"/>
              <p:cNvGraphicFramePr>
                <a:graphicFrameLocks noGrp="1"/>
              </p:cNvGraphicFramePr>
              <p:nvPr/>
            </p:nvGraphicFramePr>
            <p:xfrm>
              <a:off x="4878896" y="4865826"/>
              <a:ext cx="6490144" cy="105854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496573"/>
                    <a:gridCol w="2993571"/>
                  </a:tblGrid>
                  <a:tr h="3530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1E-17</a:t>
                          </a:r>
                          <a:r>
                            <a:rPr lang="en-US" altLang="zh-CN" sz="1600" b="1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– 9.999999 F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F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1E-12</a:t>
                          </a:r>
                          <a:r>
                            <a:rPr lang="en-US" altLang="zh-CN" sz="1600" b="1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– 99.99999 H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H</a:t>
                          </a:r>
                          <a:endParaRPr lang="en-US" altLang="zh-CN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pSp>
        <p:nvGrpSpPr>
          <p:cNvPr id="48" name="组合 47"/>
          <p:cNvGrpSpPr/>
          <p:nvPr/>
        </p:nvGrpSpPr>
        <p:grpSpPr>
          <a:xfrm>
            <a:off x="4856845" y="2045501"/>
            <a:ext cx="6570517" cy="2769452"/>
            <a:chOff x="4856845" y="2045501"/>
            <a:chExt cx="6570517" cy="2769452"/>
          </a:xfrm>
        </p:grpSpPr>
        <p:grpSp>
          <p:nvGrpSpPr>
            <p:cNvPr id="42" name="组合 41"/>
            <p:cNvGrpSpPr/>
            <p:nvPr/>
          </p:nvGrpSpPr>
          <p:grpSpPr>
            <a:xfrm>
              <a:off x="4856845" y="2045501"/>
              <a:ext cx="6570517" cy="2769452"/>
              <a:chOff x="4856845" y="2045501"/>
              <a:chExt cx="6570517" cy="2769452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5221943" y="2045501"/>
                <a:ext cx="8258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1940s</a:t>
                </a:r>
                <a:endParaRPr lang="zh-CN" altLang="en-US" sz="2000" b="1" dirty="0"/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4856845" y="2492350"/>
                <a:ext cx="6570517" cy="2322603"/>
                <a:chOff x="4856845" y="2492350"/>
                <a:chExt cx="6570517" cy="2322603"/>
              </a:xfrm>
            </p:grpSpPr>
            <p:grpSp>
              <p:nvGrpSpPr>
                <p:cNvPr id="33" name="组合 32"/>
                <p:cNvGrpSpPr/>
                <p:nvPr/>
              </p:nvGrpSpPr>
              <p:grpSpPr>
                <a:xfrm>
                  <a:off x="4856845" y="3372695"/>
                  <a:ext cx="6570517" cy="1442258"/>
                  <a:chOff x="4856845" y="3372695"/>
                  <a:chExt cx="6570517" cy="1442258"/>
                </a:xfrm>
              </p:grpSpPr>
              <p:pic>
                <p:nvPicPr>
                  <p:cNvPr id="15" name="图片 14"/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36146" t="40385" r="8333" b="17307"/>
                  <a:stretch>
                    <a:fillRect/>
                  </a:stretch>
                </p:blipFill>
                <p:spPr>
                  <a:xfrm>
                    <a:off x="4856845" y="3372695"/>
                    <a:ext cx="3494199" cy="1442258"/>
                  </a:xfrm>
                  <a:prstGeom prst="rect">
                    <a:avLst/>
                  </a:prstGeom>
                  <a:ln>
                    <a:noFill/>
                  </a:ln>
                  <a:effectLst>
                    <a:outerShdw blurRad="190500" algn="tl" rotWithShape="0">
                      <a:srgbClr val="000000">
                        <a:alpha val="70000"/>
                      </a:srgbClr>
                    </a:outerShdw>
                  </a:effectLst>
                </p:spPr>
              </p:pic>
              <p:pic>
                <p:nvPicPr>
                  <p:cNvPr id="17" name="图片 16"/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23118" t="29380" r="16075" b="16725"/>
                  <a:stretch>
                    <a:fillRect/>
                  </a:stretch>
                </p:blipFill>
                <p:spPr>
                  <a:xfrm>
                    <a:off x="8423323" y="3372695"/>
                    <a:ext cx="3004039" cy="1442258"/>
                  </a:xfrm>
                  <a:prstGeom prst="rect">
                    <a:avLst/>
                  </a:prstGeom>
                  <a:ln>
                    <a:noFill/>
                  </a:ln>
                  <a:effectLst>
                    <a:outerShdw blurRad="190500" algn="tl" rotWithShape="0">
                      <a:srgbClr val="000000">
                        <a:alpha val="70000"/>
                      </a:srgbClr>
                    </a:outerShdw>
                  </a:effectLst>
                </p:spPr>
              </p:pic>
            </p:grpSp>
            <p:grpSp>
              <p:nvGrpSpPr>
                <p:cNvPr id="36" name="组合 35"/>
                <p:cNvGrpSpPr/>
                <p:nvPr/>
              </p:nvGrpSpPr>
              <p:grpSpPr>
                <a:xfrm>
                  <a:off x="4995189" y="2492350"/>
                  <a:ext cx="5872836" cy="796057"/>
                  <a:chOff x="4995189" y="2492350"/>
                  <a:chExt cx="5872836" cy="796057"/>
                </a:xfrm>
              </p:grpSpPr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4995189" y="2492350"/>
                    <a:ext cx="5872836" cy="767074"/>
                    <a:chOff x="4995189" y="2492350"/>
                    <a:chExt cx="5872836" cy="767074"/>
                  </a:xfrm>
                </p:grpSpPr>
                <p:sp>
                  <p:nvSpPr>
                    <p:cNvPr id="89" name="矩形 88"/>
                    <p:cNvSpPr/>
                    <p:nvPr/>
                  </p:nvSpPr>
                  <p:spPr>
                    <a:xfrm>
                      <a:off x="4995189" y="2492350"/>
                      <a:ext cx="5872836" cy="355600"/>
                    </a:xfrm>
                    <a:prstGeom prst="rect">
                      <a:avLst/>
                    </a:prstGeom>
                    <a:gradFill flip="none" rotWithShape="1">
                      <a:gsLst>
                        <a:gs pos="83700">
                          <a:srgbClr val="E9E9E9"/>
                        </a:gs>
                        <a:gs pos="50000">
                          <a:srgbClr val="BABABA"/>
                        </a:gs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bg1">
                            <a:alpha val="40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32" name="组合 31"/>
                    <p:cNvGrpSpPr/>
                    <p:nvPr/>
                  </p:nvGrpSpPr>
                  <p:grpSpPr>
                    <a:xfrm>
                      <a:off x="4995189" y="2847950"/>
                      <a:ext cx="5872836" cy="411474"/>
                      <a:chOff x="4995189" y="2847950"/>
                      <a:chExt cx="5872836" cy="411474"/>
                    </a:xfrm>
                  </p:grpSpPr>
                  <p:cxnSp>
                    <p:nvCxnSpPr>
                      <p:cNvPr id="95" name="直接连接符 94"/>
                      <p:cNvCxnSpPr/>
                      <p:nvPr/>
                    </p:nvCxnSpPr>
                    <p:spPr>
                      <a:xfrm flipH="1">
                        <a:off x="4995189" y="2847950"/>
                        <a:ext cx="5872836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直接连接符 95"/>
                      <p:cNvCxnSpPr/>
                      <p:nvPr/>
                    </p:nvCxnSpPr>
                    <p:spPr>
                      <a:xfrm flipH="1">
                        <a:off x="7981951" y="3259424"/>
                        <a:ext cx="738187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直接连接符 96"/>
                      <p:cNvCxnSpPr/>
                      <p:nvPr/>
                    </p:nvCxnSpPr>
                    <p:spPr>
                      <a:xfrm>
                        <a:off x="8363752" y="2847950"/>
                        <a:ext cx="0" cy="41147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98" name="矩形 97"/>
                  <p:cNvSpPr/>
                  <p:nvPr/>
                </p:nvSpPr>
                <p:spPr>
                  <a:xfrm>
                    <a:off x="6466865" y="2826742"/>
                    <a:ext cx="3528035" cy="46166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a:t>阻抗分析仪（</a:t>
                    </a:r>
                    <a:r>
                      <a:rPr lang="en-US" altLang="zh-CN" sz="240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a:t>LCR</a:t>
                    </a:r>
                    <a:r>
                      <a: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a:t>表）</a:t>
                    </a:r>
                  </a:p>
                </p:txBody>
              </p:sp>
            </p:grpSp>
          </p:grpSp>
        </p:grpSp>
        <p:sp>
          <p:nvSpPr>
            <p:cNvPr id="99" name="矩形 98"/>
            <p:cNvSpPr/>
            <p:nvPr/>
          </p:nvSpPr>
          <p:spPr>
            <a:xfrm>
              <a:off x="10308922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如今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2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实验目的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39124" y="3264361"/>
              <a:ext cx="3775132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OBJECTIVE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06289" y="1533469"/>
            <a:ext cx="746163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掌握惠斯登电桥的原理和特点，学会自组电桥测量未知电阻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学会使用盒式惠斯登电桥测量电阻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学会如何对测量结果进行误差分析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76" name="直接连接符 375"/>
          <p:cNvCxnSpPr/>
          <p:nvPr/>
        </p:nvCxnSpPr>
        <p:spPr>
          <a:xfrm>
            <a:off x="3090399" y="2477680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/>
          <p:cNvCxnSpPr/>
          <p:nvPr/>
        </p:nvCxnSpPr>
        <p:spPr>
          <a:xfrm>
            <a:off x="3090401" y="3437993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62662" y="324999"/>
            <a:ext cx="3173809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OBJECTIVE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cxnSp>
        <p:nvCxnSpPr>
          <p:cNvPr id="377" name="直接连接符 376"/>
          <p:cNvCxnSpPr/>
          <p:nvPr/>
        </p:nvCxnSpPr>
        <p:spPr>
          <a:xfrm>
            <a:off x="3090400" y="4427040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7</a:t>
            </a:fld>
            <a:endParaRPr lang="zh-CN" altLang="en-US" sz="1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3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实验原理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73029" y="3264361"/>
              <a:ext cx="3821620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 PRINCIPLE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3275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33" name="灯片编号占位符 1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60748" y="2995702"/>
            <a:ext cx="2808312" cy="133731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108486" y="4245584"/>
            <a:ext cx="325272" cy="180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菱形 21"/>
          <p:cNvSpPr/>
          <p:nvPr/>
        </p:nvSpPr>
        <p:spPr>
          <a:xfrm>
            <a:off x="1185944" y="2162440"/>
            <a:ext cx="2135106" cy="1666524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2237117" y="2144440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2235737" y="3810964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2252357" y="2183516"/>
            <a:ext cx="1380" cy="16665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2041916" y="2532820"/>
            <a:ext cx="420881" cy="4208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 rot="2280000">
            <a:off x="2600227" y="2502103"/>
            <a:ext cx="324000" cy="10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 rot="19320000">
            <a:off x="1584611" y="2502103"/>
            <a:ext cx="324000" cy="10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26"/>
          <p:cNvSpPr txBox="1"/>
          <p:nvPr/>
        </p:nvSpPr>
        <p:spPr>
          <a:xfrm>
            <a:off x="1331113" y="22354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29"/>
          <p:cNvSpPr txBox="1"/>
          <p:nvPr/>
        </p:nvSpPr>
        <p:spPr>
          <a:xfrm>
            <a:off x="1331113" y="3315616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0"/>
          <p:cNvSpPr txBox="1"/>
          <p:nvPr/>
        </p:nvSpPr>
        <p:spPr>
          <a:xfrm>
            <a:off x="2749506" y="2226776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1"/>
          <p:cNvSpPr txBox="1"/>
          <p:nvPr/>
        </p:nvSpPr>
        <p:spPr>
          <a:xfrm>
            <a:off x="2793048" y="3306896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206159" y="3252900"/>
            <a:ext cx="104275" cy="9709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2235964" y="3216900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2237447" y="3346337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>
            <a:off x="2188639" y="3214518"/>
            <a:ext cx="0" cy="18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rot="16200000">
            <a:off x="2134639" y="3250268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1382949" y="4228558"/>
            <a:ext cx="253199" cy="180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1375251" y="4183855"/>
            <a:ext cx="253199" cy="150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2255447" y="2262473"/>
            <a:ext cx="0" cy="249087"/>
          </a:xfrm>
          <a:prstGeom prst="straightConnector1">
            <a:avLst/>
          </a:prstGeom>
          <a:ln w="190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rot="-360000">
            <a:off x="2400347" y="2255267"/>
            <a:ext cx="181401" cy="182756"/>
          </a:xfrm>
          <a:prstGeom prst="straightConnector1">
            <a:avLst/>
          </a:prstGeom>
          <a:ln w="22225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rot="360000" flipH="1">
            <a:off x="1927366" y="2255268"/>
            <a:ext cx="181401" cy="182756"/>
          </a:xfrm>
          <a:prstGeom prst="straightConnector1">
            <a:avLst/>
          </a:prstGeom>
          <a:ln w="22225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2251995" y="3506960"/>
            <a:ext cx="0" cy="249087"/>
          </a:xfrm>
          <a:prstGeom prst="straightConnector1">
            <a:avLst/>
          </a:prstGeom>
          <a:ln w="22225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26"/>
          <p:cNvSpPr txBox="1"/>
          <p:nvPr/>
        </p:nvSpPr>
        <p:spPr>
          <a:xfrm>
            <a:off x="1709078" y="1961925"/>
            <a:ext cx="34817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26"/>
          <p:cNvSpPr txBox="1"/>
          <p:nvPr/>
        </p:nvSpPr>
        <p:spPr>
          <a:xfrm>
            <a:off x="2425697" y="1961925"/>
            <a:ext cx="33855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26"/>
          <p:cNvSpPr txBox="1"/>
          <p:nvPr/>
        </p:nvSpPr>
        <p:spPr>
          <a:xfrm>
            <a:off x="2224558" y="2899009"/>
            <a:ext cx="38343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26"/>
          <p:cNvSpPr txBox="1"/>
          <p:nvPr/>
        </p:nvSpPr>
        <p:spPr>
          <a:xfrm>
            <a:off x="1726397" y="3563420"/>
            <a:ext cx="34817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26"/>
          <p:cNvSpPr txBox="1"/>
          <p:nvPr/>
        </p:nvSpPr>
        <p:spPr>
          <a:xfrm>
            <a:off x="2420888" y="3563420"/>
            <a:ext cx="34817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79932" y="1324878"/>
            <a:ext cx="3256280" cy="31381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当通过检流计的电流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Ig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B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两点电位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相同，电桥达到平衡，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此时流过电阻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RX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的电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流同为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，流过电阻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 err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的电流同为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39870" y="1412192"/>
            <a:ext cx="274947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5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惠斯登电桥电路图</a:t>
            </a:r>
            <a:endParaRPr lang="zh-CN" altLang="en-US" sz="25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TextBox 30"/>
          <p:cNvSpPr txBox="1"/>
          <p:nvPr/>
        </p:nvSpPr>
        <p:spPr>
          <a:xfrm>
            <a:off x="2065175" y="4312185"/>
            <a:ext cx="44275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797462" y="1293367"/>
            <a:ext cx="238760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=U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=U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Rx=I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/>
              <p:cNvSpPr/>
              <p:nvPr/>
            </p:nvSpPr>
            <p:spPr>
              <a:xfrm>
                <a:off x="7792241" y="2422718"/>
                <a:ext cx="2690495" cy="5613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两式相除，得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矩形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241" y="2422718"/>
                <a:ext cx="2690495" cy="561340"/>
              </a:xfrm>
              <a:prstGeom prst="rect">
                <a:avLst/>
              </a:prstGeom>
              <a:blipFill rotWithShape="1">
                <a:blip r:embed="rId3"/>
                <a:stretch>
                  <a:fillRect l="-6" t="-34" r="6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/>
              <p:cNvSpPr/>
              <p:nvPr/>
            </p:nvSpPr>
            <p:spPr>
              <a:xfrm>
                <a:off x="8339478" y="3194699"/>
                <a:ext cx="2165336" cy="7188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=   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矩形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478" y="3194699"/>
                <a:ext cx="2165336" cy="718851"/>
              </a:xfrm>
              <a:prstGeom prst="rect">
                <a:avLst/>
              </a:prstGeom>
              <a:blipFill rotWithShape="1">
                <a:blip r:embed="rId4"/>
                <a:stretch>
                  <a:fillRect l="-1" t="-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右箭头 69"/>
          <p:cNvSpPr/>
          <p:nvPr/>
        </p:nvSpPr>
        <p:spPr>
          <a:xfrm rot="5400000">
            <a:off x="9337938" y="2886048"/>
            <a:ext cx="196295" cy="24188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577543" y="3277293"/>
            <a:ext cx="135890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" name="椭圆 71"/>
          <p:cNvSpPr/>
          <p:nvPr/>
        </p:nvSpPr>
        <p:spPr>
          <a:xfrm>
            <a:off x="2069739" y="4297519"/>
            <a:ext cx="72000" cy="7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/>
        </p:nvSpPr>
        <p:spPr>
          <a:xfrm>
            <a:off x="2368189" y="4297519"/>
            <a:ext cx="72000" cy="7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箭头连接符 83"/>
          <p:cNvCxnSpPr/>
          <p:nvPr/>
        </p:nvCxnSpPr>
        <p:spPr>
          <a:xfrm rot="360000" flipV="1">
            <a:off x="2406282" y="3558620"/>
            <a:ext cx="181401" cy="182756"/>
          </a:xfrm>
          <a:prstGeom prst="straightConnector1">
            <a:avLst/>
          </a:prstGeom>
          <a:ln w="22225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 rot="21240000" flipH="1" flipV="1">
            <a:off x="1933301" y="3558621"/>
            <a:ext cx="181401" cy="182756"/>
          </a:xfrm>
          <a:prstGeom prst="straightConnector1">
            <a:avLst/>
          </a:prstGeom>
          <a:ln w="22225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2161356" y="4886037"/>
            <a:ext cx="125539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3227990" y="4905254"/>
            <a:ext cx="5554980" cy="161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考虑了电表内阻，减小系统误差</a:t>
            </a:r>
            <a:endParaRPr lang="en-US" altLang="zh-CN" sz="22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采用平衡法，与已知量比较，测量未知量</a:t>
            </a:r>
            <a:endParaRPr lang="en-US" altLang="zh-CN" sz="22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电路简单、灵敏</a:t>
            </a:r>
            <a:endParaRPr lang="en-US" altLang="zh-CN" sz="22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等腰三角形 87"/>
          <p:cNvSpPr/>
          <p:nvPr/>
        </p:nvSpPr>
        <p:spPr>
          <a:xfrm>
            <a:off x="9400391" y="3910530"/>
            <a:ext cx="152704" cy="135661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7814247" y="4071851"/>
            <a:ext cx="3675380" cy="4298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待测电阻 </a:t>
            </a:r>
            <a:r>
              <a:rPr lang="en-US" altLang="zh-CN" sz="2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2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比率</a:t>
            </a:r>
            <a:r>
              <a:rPr lang="en-US" altLang="zh-CN" sz="2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×</a:t>
            </a:r>
            <a:r>
              <a:rPr lang="zh-CN" altLang="en-US" sz="2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比较电阻</a:t>
            </a:r>
          </a:p>
        </p:txBody>
      </p:sp>
      <p:cxnSp>
        <p:nvCxnSpPr>
          <p:cNvPr id="90" name="直接箭头连接符 89"/>
          <p:cNvCxnSpPr/>
          <p:nvPr/>
        </p:nvCxnSpPr>
        <p:spPr>
          <a:xfrm flipV="1">
            <a:off x="2747747" y="3219660"/>
            <a:ext cx="0" cy="396603"/>
          </a:xfrm>
          <a:prstGeom prst="straightConnector1">
            <a:avLst/>
          </a:prstGeom>
          <a:ln w="190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等腰三角形 90"/>
          <p:cNvSpPr/>
          <p:nvPr/>
        </p:nvSpPr>
        <p:spPr>
          <a:xfrm>
            <a:off x="10134123" y="3914748"/>
            <a:ext cx="152704" cy="135661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等腰三角形 91"/>
          <p:cNvSpPr/>
          <p:nvPr/>
        </p:nvSpPr>
        <p:spPr>
          <a:xfrm>
            <a:off x="8522486" y="3910529"/>
            <a:ext cx="152704" cy="135661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文本框 93"/>
          <p:cNvSpPr txBox="1"/>
          <p:nvPr/>
        </p:nvSpPr>
        <p:spPr>
          <a:xfrm>
            <a:off x="2107722" y="1833299"/>
            <a:ext cx="308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</a:t>
            </a:r>
            <a:endParaRPr lang="zh-CN" altLang="en-US" sz="1400" dirty="0"/>
          </a:p>
        </p:txBody>
      </p:sp>
      <p:sp>
        <p:nvSpPr>
          <p:cNvPr id="95" name="文本框 94"/>
          <p:cNvSpPr txBox="1"/>
          <p:nvPr/>
        </p:nvSpPr>
        <p:spPr>
          <a:xfrm>
            <a:off x="2111229" y="3851174"/>
            <a:ext cx="308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</a:t>
            </a:r>
            <a:endParaRPr lang="zh-CN" altLang="en-US" sz="1400" dirty="0"/>
          </a:p>
        </p:txBody>
      </p:sp>
      <p:sp>
        <p:nvSpPr>
          <p:cNvPr id="96" name="文本框 95"/>
          <p:cNvSpPr txBox="1"/>
          <p:nvPr/>
        </p:nvSpPr>
        <p:spPr>
          <a:xfrm>
            <a:off x="884160" y="2709001"/>
            <a:ext cx="308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</a:t>
            </a:r>
            <a:endParaRPr lang="zh-CN" altLang="en-US" sz="1400" dirty="0"/>
          </a:p>
        </p:txBody>
      </p:sp>
      <p:sp>
        <p:nvSpPr>
          <p:cNvPr id="97" name="文本框 96"/>
          <p:cNvSpPr txBox="1"/>
          <p:nvPr/>
        </p:nvSpPr>
        <p:spPr>
          <a:xfrm>
            <a:off x="3406104" y="2709001"/>
            <a:ext cx="308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67" grpId="0"/>
      <p:bldP spid="9" grpId="0"/>
      <p:bldP spid="10" grpId="0"/>
      <p:bldP spid="12" grpId="0"/>
      <p:bldP spid="68" grpId="0" animBg="1"/>
      <p:bldP spid="69" grpId="0" animBg="1"/>
      <p:bldP spid="82" grpId="0" animBg="1"/>
      <p:bldP spid="70" grpId="0" bldLvl="0" animBg="1"/>
      <p:bldP spid="86" grpId="0"/>
      <p:bldP spid="87" grpId="0"/>
      <p:bldP spid="88" grpId="0" bldLvl="0" animBg="1"/>
      <p:bldP spid="89" grpId="0"/>
      <p:bldP spid="91" grpId="0" bldLvl="0" animBg="1"/>
      <p:bldP spid="9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48771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10</a:t>
            </a:fld>
            <a:endParaRPr lang="zh-CN" altLang="en-US" sz="1400" b="1"/>
          </a:p>
        </p:txBody>
      </p:sp>
      <p:sp>
        <p:nvSpPr>
          <p:cNvPr id="70" name="矩形 69"/>
          <p:cNvSpPr/>
          <p:nvPr/>
        </p:nvSpPr>
        <p:spPr>
          <a:xfrm>
            <a:off x="5620710" y="1851955"/>
            <a:ext cx="14020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交换法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873803" y="1851955"/>
            <a:ext cx="18084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直接测量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352202" y="3220729"/>
            <a:ext cx="2808312" cy="133731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TextBox 30"/>
          <p:cNvSpPr txBox="1"/>
          <p:nvPr/>
        </p:nvSpPr>
        <p:spPr>
          <a:xfrm>
            <a:off x="10407778" y="2451803"/>
            <a:ext cx="972185" cy="383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30"/>
          <p:cNvSpPr txBox="1"/>
          <p:nvPr/>
        </p:nvSpPr>
        <p:spPr>
          <a:xfrm>
            <a:off x="10240960" y="2451803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31"/>
          <p:cNvSpPr txBox="1"/>
          <p:nvPr/>
        </p:nvSpPr>
        <p:spPr>
          <a:xfrm>
            <a:off x="10441595" y="3556386"/>
            <a:ext cx="882650" cy="383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599940" y="4470611"/>
            <a:ext cx="325272" cy="180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菱形 61"/>
          <p:cNvSpPr/>
          <p:nvPr/>
        </p:nvSpPr>
        <p:spPr>
          <a:xfrm>
            <a:off x="8677398" y="2387467"/>
            <a:ext cx="2135106" cy="1666524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9728571" y="2369467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9727191" y="403599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/>
          <p:nvPr/>
        </p:nvCxnSpPr>
        <p:spPr>
          <a:xfrm flipH="1">
            <a:off x="9743811" y="2408543"/>
            <a:ext cx="1380" cy="16665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椭圆 65"/>
          <p:cNvSpPr/>
          <p:nvPr/>
        </p:nvSpPr>
        <p:spPr>
          <a:xfrm>
            <a:off x="9533370" y="2757847"/>
            <a:ext cx="420881" cy="4208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矩形 66"/>
          <p:cNvSpPr/>
          <p:nvPr/>
        </p:nvSpPr>
        <p:spPr>
          <a:xfrm rot="2280000">
            <a:off x="10091681" y="2727130"/>
            <a:ext cx="324000" cy="108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 rot="19320000">
            <a:off x="9076065" y="2727130"/>
            <a:ext cx="324000" cy="10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TextBox 26"/>
          <p:cNvSpPr txBox="1"/>
          <p:nvPr/>
        </p:nvSpPr>
        <p:spPr>
          <a:xfrm>
            <a:off x="8822567" y="24605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29"/>
          <p:cNvSpPr txBox="1"/>
          <p:nvPr/>
        </p:nvSpPr>
        <p:spPr>
          <a:xfrm>
            <a:off x="8822567" y="3540643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31"/>
          <p:cNvSpPr txBox="1"/>
          <p:nvPr/>
        </p:nvSpPr>
        <p:spPr>
          <a:xfrm>
            <a:off x="10263761" y="3567136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9697613" y="3477927"/>
            <a:ext cx="104275" cy="9709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9727418" y="3441927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9728901" y="3571364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连接符 76"/>
          <p:cNvCxnSpPr/>
          <p:nvPr/>
        </p:nvCxnSpPr>
        <p:spPr>
          <a:xfrm>
            <a:off x="9680093" y="3439545"/>
            <a:ext cx="0" cy="18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rot="16200000">
            <a:off x="9626093" y="3475295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8874403" y="4453585"/>
            <a:ext cx="253199" cy="180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连接符 80"/>
          <p:cNvCxnSpPr/>
          <p:nvPr/>
        </p:nvCxnSpPr>
        <p:spPr>
          <a:xfrm flipV="1">
            <a:off x="8866705" y="4408882"/>
            <a:ext cx="253199" cy="150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30"/>
          <p:cNvSpPr txBox="1"/>
          <p:nvPr/>
        </p:nvSpPr>
        <p:spPr>
          <a:xfrm>
            <a:off x="9556629" y="4537212"/>
            <a:ext cx="44275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椭圆 83"/>
          <p:cNvSpPr/>
          <p:nvPr/>
        </p:nvSpPr>
        <p:spPr>
          <a:xfrm>
            <a:off x="9561193" y="4522546"/>
            <a:ext cx="72000" cy="7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>
            <a:off x="9859643" y="4522546"/>
            <a:ext cx="72000" cy="7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 rot="19320000" flipV="1">
            <a:off x="10085323" y="3605869"/>
            <a:ext cx="324000" cy="1080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 rot="2280000" flipV="1">
            <a:off x="9069707" y="3605869"/>
            <a:ext cx="324000" cy="10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箭头连接符 96"/>
          <p:cNvCxnSpPr/>
          <p:nvPr/>
        </p:nvCxnSpPr>
        <p:spPr>
          <a:xfrm flipV="1">
            <a:off x="10239201" y="3444687"/>
            <a:ext cx="0" cy="396603"/>
          </a:xfrm>
          <a:prstGeom prst="straightConnector1">
            <a:avLst/>
          </a:prstGeom>
          <a:ln w="190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8" name="组合 97"/>
          <p:cNvGrpSpPr/>
          <p:nvPr/>
        </p:nvGrpSpPr>
        <p:grpSpPr>
          <a:xfrm>
            <a:off x="10085323" y="2559545"/>
            <a:ext cx="330358" cy="1154325"/>
            <a:chOff x="3432069" y="2334518"/>
            <a:chExt cx="330358" cy="1154325"/>
          </a:xfrm>
        </p:grpSpPr>
        <p:sp>
          <p:nvSpPr>
            <p:cNvPr id="99" name="矩形 98"/>
            <p:cNvSpPr/>
            <p:nvPr/>
          </p:nvSpPr>
          <p:spPr>
            <a:xfrm rot="2280000">
              <a:off x="3438427" y="2502104"/>
              <a:ext cx="324000" cy="108000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 rot="19320000" flipV="1">
              <a:off x="3432069" y="3380843"/>
              <a:ext cx="324000" cy="108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1" name="直接箭头连接符 100"/>
            <p:cNvCxnSpPr/>
            <p:nvPr/>
          </p:nvCxnSpPr>
          <p:spPr>
            <a:xfrm flipV="1">
              <a:off x="3585947" y="2334518"/>
              <a:ext cx="0" cy="39660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/>
              <p:cNvSpPr/>
              <p:nvPr/>
            </p:nvSpPr>
            <p:spPr>
              <a:xfrm>
                <a:off x="4743009" y="2692033"/>
                <a:ext cx="1769587" cy="660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3" name="矩形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009" y="2692033"/>
                <a:ext cx="1769587" cy="660630"/>
              </a:xfrm>
              <a:prstGeom prst="rect">
                <a:avLst/>
              </a:prstGeom>
              <a:blipFill rotWithShape="1">
                <a:blip r:embed="rId4"/>
                <a:stretch>
                  <a:fillRect l="-11" t="-41" r="-5955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/>
              <p:cNvSpPr/>
              <p:nvPr/>
            </p:nvSpPr>
            <p:spPr>
              <a:xfrm>
                <a:off x="6544492" y="2690686"/>
                <a:ext cx="1702261" cy="660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bSup>
                      <m:sSub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4" name="矩形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492" y="2690686"/>
                <a:ext cx="1702261" cy="660630"/>
              </a:xfrm>
              <a:prstGeom prst="rect">
                <a:avLst/>
              </a:prstGeom>
              <a:blipFill rotWithShape="1">
                <a:blip r:embed="rId5"/>
                <a:stretch>
                  <a:fillRect l="-11" t="-29" r="-6192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右箭头 104"/>
          <p:cNvSpPr/>
          <p:nvPr/>
        </p:nvSpPr>
        <p:spPr>
          <a:xfrm rot="5400000">
            <a:off x="6157928" y="3365585"/>
            <a:ext cx="217688" cy="268189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/>
              <p:cNvSpPr/>
              <p:nvPr/>
            </p:nvSpPr>
            <p:spPr>
              <a:xfrm>
                <a:off x="5160548" y="3575416"/>
                <a:ext cx="2262286" cy="6141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矩形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548" y="3575416"/>
                <a:ext cx="2262286" cy="614142"/>
              </a:xfrm>
              <a:prstGeom prst="rect">
                <a:avLst/>
              </a:prstGeom>
              <a:blipFill rotWithShape="1">
                <a:blip r:embed="rId6"/>
                <a:stretch>
                  <a:fillRect l="-24" t="-60" r="14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/>
              <p:cNvSpPr/>
              <p:nvPr/>
            </p:nvSpPr>
            <p:spPr>
              <a:xfrm>
                <a:off x="4869447" y="4574010"/>
                <a:ext cx="3638215" cy="10016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∆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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107" name="矩形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447" y="4574010"/>
                <a:ext cx="3638215" cy="1001684"/>
              </a:xfrm>
              <a:prstGeom prst="rect">
                <a:avLst/>
              </a:prstGeom>
              <a:blipFill rotWithShape="1">
                <a:blip r:embed="rId7"/>
                <a:stretch>
                  <a:fillRect l="-7" t="-10" r="16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直接连接符 107"/>
          <p:cNvCxnSpPr/>
          <p:nvPr/>
        </p:nvCxnSpPr>
        <p:spPr>
          <a:xfrm flipH="1" flipV="1">
            <a:off x="4721517" y="2349780"/>
            <a:ext cx="0" cy="2912973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/>
              <p:cNvSpPr/>
              <p:nvPr/>
            </p:nvSpPr>
            <p:spPr>
              <a:xfrm>
                <a:off x="1778000" y="2842370"/>
                <a:ext cx="2010461" cy="7552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9" name="矩形 1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0" y="2842370"/>
                <a:ext cx="2010461" cy="755271"/>
              </a:xfrm>
              <a:prstGeom prst="rect">
                <a:avLst/>
              </a:prstGeom>
              <a:blipFill rotWithShape="1">
                <a:blip r:embed="rId8"/>
                <a:stretch>
                  <a:fillRect t="-15" r="3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/>
              <p:cNvSpPr/>
              <p:nvPr/>
            </p:nvSpPr>
            <p:spPr>
              <a:xfrm>
                <a:off x="804096" y="3816491"/>
                <a:ext cx="3804793" cy="718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0" name="矩形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096" y="3816491"/>
                <a:ext cx="3804793" cy="718658"/>
              </a:xfrm>
              <a:prstGeom prst="rect">
                <a:avLst/>
              </a:prstGeom>
              <a:blipFill rotWithShape="1">
                <a:blip r:embed="rId9"/>
                <a:stretch>
                  <a:fillRect l="-5" t="-20" r="2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组合 110"/>
          <p:cNvGrpSpPr/>
          <p:nvPr/>
        </p:nvGrpSpPr>
        <p:grpSpPr>
          <a:xfrm>
            <a:off x="10086419" y="2723415"/>
            <a:ext cx="330358" cy="986739"/>
            <a:chOff x="3432069" y="2502104"/>
            <a:chExt cx="330358" cy="986739"/>
          </a:xfrm>
        </p:grpSpPr>
        <p:sp>
          <p:nvSpPr>
            <p:cNvPr id="112" name="矩形 111"/>
            <p:cNvSpPr/>
            <p:nvPr/>
          </p:nvSpPr>
          <p:spPr>
            <a:xfrm rot="2280000">
              <a:off x="3438427" y="2502104"/>
              <a:ext cx="324000" cy="10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 rot="19320000" flipV="1">
              <a:off x="3432069" y="3380843"/>
              <a:ext cx="324000" cy="10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4608889" y="5666311"/>
          <a:ext cx="2360966" cy="612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411605" imgH="508635" progId="Equation.3">
                  <p:embed/>
                </p:oleObj>
              </mc:Choice>
              <mc:Fallback>
                <p:oleObj r:id="rId10" imgW="1411605" imgH="5086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889" y="5666311"/>
                        <a:ext cx="2360966" cy="6121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7310521" y="5802698"/>
          <a:ext cx="2600158" cy="382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828800" imgH="240030" progId="Equation.3">
                  <p:embed/>
                </p:oleObj>
              </mc:Choice>
              <mc:Fallback>
                <p:oleObj r:id="rId12" imgW="1828800" imgH="2400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0521" y="5802698"/>
                        <a:ext cx="2600158" cy="3823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连接符 50"/>
          <p:cNvCxnSpPr/>
          <p:nvPr/>
        </p:nvCxnSpPr>
        <p:spPr>
          <a:xfrm>
            <a:off x="5379453" y="3753853"/>
            <a:ext cx="24125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7395621" y="1229710"/>
            <a:ext cx="2603757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比率臂选取应确保测量值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位效数字！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73" grpId="0"/>
      <p:bldP spid="103" grpId="0"/>
      <p:bldP spid="104" grpId="0" animBg="1"/>
      <p:bldP spid="105" grpId="0" bldLvl="0" animBg="1"/>
      <p:bldP spid="106" grpId="0" animBg="1"/>
      <p:bldP spid="10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44261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11</a:t>
            </a:fld>
            <a:endParaRPr lang="zh-CN" altLang="en-US" sz="1400" b="1"/>
          </a:p>
        </p:txBody>
      </p:sp>
      <p:sp>
        <p:nvSpPr>
          <p:cNvPr id="4" name="矩形 3"/>
          <p:cNvSpPr/>
          <p:nvPr/>
        </p:nvSpPr>
        <p:spPr>
          <a:xfrm>
            <a:off x="4988703" y="1059392"/>
            <a:ext cx="221488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电桥灵敏度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094969" y="4208175"/>
                <a:ext cx="2650597" cy="781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969" y="4208175"/>
                <a:ext cx="2650597" cy="781561"/>
              </a:xfrm>
              <a:prstGeom prst="rect">
                <a:avLst/>
              </a:prstGeom>
              <a:blipFill rotWithShape="1">
                <a:blip r:embed="rId3"/>
                <a:stretch>
                  <a:fillRect l="-4" t="-4" r="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896983" y="2358739"/>
            <a:ext cx="4530802" cy="3561905"/>
            <a:chOff x="-190329" y="2146061"/>
            <a:chExt cx="4530802" cy="356190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29" r="10941" b="31256"/>
            <a:stretch>
              <a:fillRect/>
            </a:stretch>
          </p:blipFill>
          <p:spPr>
            <a:xfrm>
              <a:off x="-190329" y="2146061"/>
              <a:ext cx="4530802" cy="3561905"/>
            </a:xfrm>
            <a:prstGeom prst="rect">
              <a:avLst/>
            </a:prstGeom>
          </p:spPr>
        </p:pic>
        <p:cxnSp>
          <p:nvCxnSpPr>
            <p:cNvPr id="10" name="直接连接符 9"/>
            <p:cNvCxnSpPr/>
            <p:nvPr/>
          </p:nvCxnSpPr>
          <p:spPr>
            <a:xfrm>
              <a:off x="2052637" y="2986088"/>
              <a:ext cx="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-2520000">
              <a:off x="1800225" y="3093245"/>
              <a:ext cx="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2520000">
              <a:off x="2305050" y="3093245"/>
              <a:ext cx="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-1320000">
              <a:off x="1914375" y="3035930"/>
              <a:ext cx="0" cy="5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320000">
              <a:off x="2193281" y="3033896"/>
              <a:ext cx="0" cy="5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接连接符 16"/>
          <p:cNvCxnSpPr/>
          <p:nvPr/>
        </p:nvCxnSpPr>
        <p:spPr>
          <a:xfrm flipV="1">
            <a:off x="3139949" y="3248540"/>
            <a:ext cx="0" cy="348243"/>
          </a:xfrm>
          <a:prstGeom prst="line">
            <a:avLst/>
          </a:prstGeom>
          <a:ln w="31750">
            <a:gradFill>
              <a:gsLst>
                <a:gs pos="33000">
                  <a:srgbClr val="A70000"/>
                </a:gs>
                <a:gs pos="27000">
                  <a:srgbClr val="3D0000"/>
                </a:gs>
                <a:gs pos="0">
                  <a:schemeClr val="tx1"/>
                </a:gs>
                <a:gs pos="100000">
                  <a:srgbClr val="FF000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539679" y="5026036"/>
                <a:ext cx="89101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𝜟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679" y="5026036"/>
                <a:ext cx="891013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7" t="-3" r="19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/>
          <p:cNvCxnSpPr/>
          <p:nvPr/>
        </p:nvCxnSpPr>
        <p:spPr>
          <a:xfrm rot="900000" flipV="1">
            <a:off x="3190170" y="3254473"/>
            <a:ext cx="0" cy="348243"/>
          </a:xfrm>
          <a:prstGeom prst="line">
            <a:avLst/>
          </a:prstGeom>
          <a:ln w="31750">
            <a:gradFill>
              <a:gsLst>
                <a:gs pos="33000">
                  <a:srgbClr val="B00000"/>
                </a:gs>
                <a:gs pos="26000">
                  <a:srgbClr val="300000"/>
                </a:gs>
                <a:gs pos="0">
                  <a:schemeClr val="tx1"/>
                </a:gs>
                <a:gs pos="100000">
                  <a:srgbClr val="FF000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3053375" y="2848644"/>
                <a:ext cx="5446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𝜟</m:t>
                      </m:r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375" y="2848644"/>
                <a:ext cx="544636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54" t="-9" r="19" b="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5862955" y="1764030"/>
            <a:ext cx="531749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电桥平衡后，若比较臂变动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200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，电桥就会失去平衡，有电流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200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g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流过检流计。若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200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g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较小，检流计没有因此发生偏转，那么我们就会认为电桥还是平衡的，显然这时电桥没有反映电阻的这一改变，此时待测电阻为：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5862955" y="4835525"/>
                <a:ext cx="5228590" cy="1398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2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2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就是由于电桥不够灵敏而引入的误差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pitchFamily="18" charset="2"/>
                  </a:rPr>
                  <a:t></a:t>
                </a:r>
                <a:r>
                  <a:rPr lang="en-US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pitchFamily="18" charset="2"/>
                  </a:rPr>
                  <a:t>R</a:t>
                </a:r>
                <a:r>
                  <a:rPr lang="en-US" altLang="zh-CN" sz="2200" baseline="-25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pitchFamily="18" charset="2"/>
                  </a:rPr>
                  <a:t>X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pitchFamily="18" charset="2"/>
                  </a:rPr>
                  <a:t>。</a:t>
                </a:r>
                <a:endParaRPr lang="zh-CN" altLang="en-US" sz="22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955" y="4835525"/>
                <a:ext cx="5228590" cy="13989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44261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12</a:t>
            </a:fld>
            <a:endParaRPr lang="zh-CN" altLang="en-US" sz="1400" b="1"/>
          </a:p>
        </p:txBody>
      </p:sp>
      <p:sp>
        <p:nvSpPr>
          <p:cNvPr id="19" name="矩形 18"/>
          <p:cNvSpPr/>
          <p:nvPr/>
        </p:nvSpPr>
        <p:spPr>
          <a:xfrm>
            <a:off x="4988703" y="1199092"/>
            <a:ext cx="22148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电桥灵敏度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647928" y="3083146"/>
                <a:ext cx="1724062" cy="7926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𝜟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𝜟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928" y="3083146"/>
                <a:ext cx="1724062" cy="792653"/>
              </a:xfrm>
              <a:prstGeom prst="rect">
                <a:avLst/>
              </a:prstGeom>
              <a:blipFill rotWithShape="1">
                <a:blip r:embed="rId3"/>
                <a:stretch>
                  <a:fillRect l="-7" t="-28" r="9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/>
        </p:nvGrpSpPr>
        <p:grpSpPr>
          <a:xfrm>
            <a:off x="1112883" y="2358739"/>
            <a:ext cx="4530802" cy="3561905"/>
            <a:chOff x="-190329" y="2146061"/>
            <a:chExt cx="4530802" cy="3561905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29" r="10941" b="31256"/>
            <a:stretch>
              <a:fillRect/>
            </a:stretch>
          </p:blipFill>
          <p:spPr>
            <a:xfrm>
              <a:off x="-190329" y="2146061"/>
              <a:ext cx="4530802" cy="3561905"/>
            </a:xfrm>
            <a:prstGeom prst="rect">
              <a:avLst/>
            </a:prstGeom>
          </p:spPr>
        </p:pic>
        <p:cxnSp>
          <p:nvCxnSpPr>
            <p:cNvPr id="11" name="直接连接符 10"/>
            <p:cNvCxnSpPr/>
            <p:nvPr/>
          </p:nvCxnSpPr>
          <p:spPr>
            <a:xfrm>
              <a:off x="2052637" y="2986088"/>
              <a:ext cx="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rot="-2520000">
              <a:off x="1800225" y="3093245"/>
              <a:ext cx="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rot="2520000">
              <a:off x="2305050" y="3093245"/>
              <a:ext cx="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rot="-1320000">
              <a:off x="1914375" y="3035930"/>
              <a:ext cx="0" cy="5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1320000">
              <a:off x="2193281" y="3033896"/>
              <a:ext cx="0" cy="5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接连接符 12"/>
          <p:cNvCxnSpPr/>
          <p:nvPr/>
        </p:nvCxnSpPr>
        <p:spPr>
          <a:xfrm flipV="1">
            <a:off x="3355849" y="3248540"/>
            <a:ext cx="0" cy="348243"/>
          </a:xfrm>
          <a:prstGeom prst="line">
            <a:avLst/>
          </a:prstGeom>
          <a:ln w="31750">
            <a:gradFill>
              <a:gsLst>
                <a:gs pos="33000">
                  <a:srgbClr val="A70000"/>
                </a:gs>
                <a:gs pos="27000">
                  <a:srgbClr val="3D0000"/>
                </a:gs>
                <a:gs pos="0">
                  <a:schemeClr val="tx1"/>
                </a:gs>
                <a:gs pos="100000">
                  <a:srgbClr val="FF000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/>
              <p:cNvSpPr/>
              <p:nvPr/>
            </p:nvSpPr>
            <p:spPr>
              <a:xfrm>
                <a:off x="4755579" y="5026036"/>
                <a:ext cx="89101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𝜟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7" name="矩形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579" y="5026036"/>
                <a:ext cx="891013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7" t="-3" r="19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接连接符 96"/>
          <p:cNvCxnSpPr/>
          <p:nvPr/>
        </p:nvCxnSpPr>
        <p:spPr>
          <a:xfrm rot="900000" flipV="1">
            <a:off x="3406070" y="3254473"/>
            <a:ext cx="0" cy="348243"/>
          </a:xfrm>
          <a:prstGeom prst="line">
            <a:avLst/>
          </a:prstGeom>
          <a:ln w="31750">
            <a:gradFill>
              <a:gsLst>
                <a:gs pos="33000">
                  <a:srgbClr val="B00000"/>
                </a:gs>
                <a:gs pos="26000">
                  <a:srgbClr val="300000"/>
                </a:gs>
                <a:gs pos="0">
                  <a:schemeClr val="tx1"/>
                </a:gs>
                <a:gs pos="100000">
                  <a:srgbClr val="FF000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269275" y="2848644"/>
                <a:ext cx="5446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𝜟</m:t>
                      </m:r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275" y="2848644"/>
                <a:ext cx="544636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54" t="-9" r="19" b="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42"/>
          <p:cNvSpPr/>
          <p:nvPr/>
        </p:nvSpPr>
        <p:spPr>
          <a:xfrm>
            <a:off x="5987890" y="3936307"/>
            <a:ext cx="4431120" cy="161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其中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200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为电阻箱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200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的改变量，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pitchFamily="18" charset="2"/>
              </a:rPr>
              <a:t>为待测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电阻的相对改变量引起的检流计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中的偏转格数。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987890" y="1954845"/>
            <a:ext cx="4677727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为了定量地确定电桥灵敏度，引入电桥灵敏度概念，定义它为：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7" grpId="0" animBg="1"/>
      <p:bldP spid="2" grpId="0" animBg="1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4876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13</a:t>
            </a:fld>
            <a:endParaRPr lang="zh-CN" altLang="en-US" sz="1400" b="1"/>
          </a:p>
        </p:txBody>
      </p:sp>
      <p:sp>
        <p:nvSpPr>
          <p:cNvPr id="19" name="矩形 18"/>
          <p:cNvSpPr/>
          <p:nvPr/>
        </p:nvSpPr>
        <p:spPr>
          <a:xfrm>
            <a:off x="4932045" y="1183005"/>
            <a:ext cx="2327910" cy="56769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电桥灵敏度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66833" y="2358739"/>
            <a:ext cx="4530802" cy="3561905"/>
            <a:chOff x="-190329" y="2146061"/>
            <a:chExt cx="4530802" cy="3561905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29" r="10941" b="31256"/>
            <a:stretch>
              <a:fillRect/>
            </a:stretch>
          </p:blipFill>
          <p:spPr>
            <a:xfrm>
              <a:off x="-190329" y="2146061"/>
              <a:ext cx="4530802" cy="3561905"/>
            </a:xfrm>
            <a:prstGeom prst="rect">
              <a:avLst/>
            </a:prstGeom>
          </p:spPr>
        </p:pic>
        <p:cxnSp>
          <p:nvCxnSpPr>
            <p:cNvPr id="11" name="直接连接符 10"/>
            <p:cNvCxnSpPr/>
            <p:nvPr/>
          </p:nvCxnSpPr>
          <p:spPr>
            <a:xfrm>
              <a:off x="2052637" y="2986088"/>
              <a:ext cx="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rot="-2520000">
              <a:off x="1800225" y="3093245"/>
              <a:ext cx="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rot="2520000">
              <a:off x="2305050" y="3093245"/>
              <a:ext cx="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rot="-1320000">
              <a:off x="1914375" y="3035930"/>
              <a:ext cx="0" cy="5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1320000">
              <a:off x="2193281" y="3033896"/>
              <a:ext cx="0" cy="5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接连接符 12"/>
          <p:cNvCxnSpPr/>
          <p:nvPr/>
        </p:nvCxnSpPr>
        <p:spPr>
          <a:xfrm flipV="1">
            <a:off x="3209799" y="3248540"/>
            <a:ext cx="0" cy="348243"/>
          </a:xfrm>
          <a:prstGeom prst="line">
            <a:avLst/>
          </a:prstGeom>
          <a:ln w="31750">
            <a:gradFill>
              <a:gsLst>
                <a:gs pos="33000">
                  <a:srgbClr val="A70000"/>
                </a:gs>
                <a:gs pos="27000">
                  <a:srgbClr val="3D0000"/>
                </a:gs>
                <a:gs pos="0">
                  <a:schemeClr val="tx1"/>
                </a:gs>
                <a:gs pos="100000">
                  <a:srgbClr val="FF000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/>
              <p:cNvSpPr/>
              <p:nvPr/>
            </p:nvSpPr>
            <p:spPr>
              <a:xfrm>
                <a:off x="4609529" y="5026036"/>
                <a:ext cx="89101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𝜟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7" name="矩形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529" y="5026036"/>
                <a:ext cx="891013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7" t="-3" r="19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接连接符 96"/>
          <p:cNvCxnSpPr/>
          <p:nvPr/>
        </p:nvCxnSpPr>
        <p:spPr>
          <a:xfrm rot="900000" flipV="1">
            <a:off x="3260020" y="3254473"/>
            <a:ext cx="0" cy="348243"/>
          </a:xfrm>
          <a:prstGeom prst="line">
            <a:avLst/>
          </a:prstGeom>
          <a:ln w="31750">
            <a:gradFill>
              <a:gsLst>
                <a:gs pos="33000">
                  <a:srgbClr val="B00000"/>
                </a:gs>
                <a:gs pos="26000">
                  <a:srgbClr val="300000"/>
                </a:gs>
                <a:gs pos="0">
                  <a:schemeClr val="tx1"/>
                </a:gs>
                <a:gs pos="100000">
                  <a:srgbClr val="FF000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123225" y="2848644"/>
                <a:ext cx="5446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𝜟</m:t>
                      </m:r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225" y="2848644"/>
                <a:ext cx="544636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54" t="-9" r="19" b="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910580" y="2106295"/>
            <a:ext cx="5158740" cy="26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在实验中由于电桥灵敏度而引入的不确定度△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可用下述方法估测：当电桥达到平衡时，略微改变</a:t>
            </a:r>
            <a:r>
              <a:rPr kumimoji="0" lang="en-US" altLang="zh-CN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</a:t>
            </a:r>
            <a:r>
              <a:rPr kumimoji="0" lang="en-US" altLang="zh-CN" sz="22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使检流计指针偏离零点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0.2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小格（人眼察觉到的界限），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这时可以求得：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6204777" y="4950105"/>
                <a:ext cx="1665238" cy="659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0.2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𝜟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777" y="4950105"/>
                <a:ext cx="1665238" cy="659861"/>
              </a:xfrm>
              <a:prstGeom prst="rect">
                <a:avLst/>
              </a:prstGeom>
              <a:blipFill rotWithShape="1">
                <a:blip r:embed="rId6"/>
                <a:stretch>
                  <a:fillRect l="-12" t="-42" r="28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8023160" y="5007939"/>
            <a:ext cx="677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8819713" y="5026655"/>
                <a:ext cx="1361911" cy="547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713" y="5026655"/>
                <a:ext cx="1361911" cy="547394"/>
              </a:xfrm>
              <a:prstGeom prst="rect">
                <a:avLst/>
              </a:prstGeom>
              <a:blipFill rotWithShape="1">
                <a:blip r:embed="rId7"/>
                <a:stretch>
                  <a:fillRect l="-15" t="-115" r="-88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4876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14</a:t>
            </a:fld>
            <a:endParaRPr lang="zh-CN" altLang="en-US" sz="14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4147692" y="1274022"/>
                <a:ext cx="393133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待测电阻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zh-CN" altLang="en-US" sz="3200" dirty="0">
                    <a:solidFill>
                      <a:schemeClr val="tx2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不确定度</a:t>
                </a: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692" y="1274022"/>
                <a:ext cx="3931333" cy="584775"/>
              </a:xfrm>
              <a:prstGeom prst="rect">
                <a:avLst/>
              </a:prstGeom>
              <a:blipFill>
                <a:blip r:embed="rId3"/>
                <a:stretch>
                  <a:fillRect t="-16667" r="-3101" b="-30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317188" y="2424510"/>
                <a:ext cx="11522770" cy="1183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∆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  <a:sym typeface="Symbol" panose="05050102010706020507" pitchFamily="18" charset="2"/>
                                            </a:rPr>
                                            <m:t>∆</m:t>
                                          </m:r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∆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0.001+</m:t>
                                  </m:r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0.002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0.2</m:t>
                                      </m:r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0.2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88" y="2424510"/>
                <a:ext cx="11522770" cy="1183529"/>
              </a:xfrm>
              <a:prstGeom prst="rect">
                <a:avLst/>
              </a:prstGeom>
              <a:blipFill rotWithShape="1">
                <a:blip r:embed="rId4"/>
                <a:stretch>
                  <a:fillRect l="-3" t="-7" r="3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699248" y="4045546"/>
                <a:ext cx="2759283" cy="400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 smtClean="0">
                          <a:latin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̅"/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48" y="4045546"/>
                <a:ext cx="2759283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9" t="-149" r="17" b="-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937158" y="5112753"/>
                <a:ext cx="2284343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acc>
                      <m:r>
                        <a:rPr lang="en-US" altLang="zh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±∆</m:t>
                      </m:r>
                      <m:sSub>
                        <m:sSubPr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158" y="5112753"/>
                <a:ext cx="2284343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1" t="-92" r="-488" b="-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4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实验仪器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540135" y="3264361"/>
              <a:ext cx="3268583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DEVICE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实验仪器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39228" y="324999"/>
            <a:ext cx="2752220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DEVICE	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1842830" y="988593"/>
            <a:ext cx="18084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检</a:t>
            </a:r>
            <a:r>
              <a:rPr lang="en-US" altLang="zh-CN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</a:t>
            </a:r>
            <a:r>
              <a:rPr lang="en-US" altLang="zh-CN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16</a:t>
            </a:fld>
            <a:endParaRPr lang="zh-CN" altLang="en-US" sz="1400" b="1" dirty="0"/>
          </a:p>
        </p:txBody>
      </p:sp>
      <p:pic>
        <p:nvPicPr>
          <p:cNvPr id="4" name="图片 3" descr="微信图片_202506201511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09" y="2345055"/>
            <a:ext cx="4546600" cy="32162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63529" y="988593"/>
            <a:ext cx="26212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六旋钮电阻箱</a:t>
            </a: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9912079" y="1978025"/>
            <a:ext cx="549910" cy="596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035904" y="1594485"/>
            <a:ext cx="119824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公共端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536" y="1823434"/>
            <a:ext cx="2557067" cy="3601295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3081031" y="4267419"/>
            <a:ext cx="113511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216148" y="3931513"/>
            <a:ext cx="1421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检流计灵敏度选择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3040493" y="5195332"/>
            <a:ext cx="0" cy="4459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957070" y="5669915"/>
            <a:ext cx="23514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测量时按下，按下转半圈后会长通锁定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应避免长通锁定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717301" y="5093554"/>
            <a:ext cx="4978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214878" y="4656683"/>
            <a:ext cx="14219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指针超量程时按下，避免长通锁定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实验仪器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39228" y="324999"/>
            <a:ext cx="2752220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DEVICE	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4404420" y="946683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盒式惠斯登电桥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17</a:t>
            </a:fld>
            <a:endParaRPr lang="zh-CN" altLang="en-US" sz="1400" b="1" dirty="0"/>
          </a:p>
        </p:txBody>
      </p:sp>
      <p:pic>
        <p:nvPicPr>
          <p:cNvPr id="4" name="图片 3" descr="微信图片_20250620151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155" y="1950720"/>
            <a:ext cx="5139690" cy="40468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189095" y="5292090"/>
            <a:ext cx="1395095" cy="438785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3036570" y="5534660"/>
            <a:ext cx="11569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465580" y="5055235"/>
            <a:ext cx="1564640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测量时先按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“B”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，再按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“G”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313545" y="5188585"/>
            <a:ext cx="156464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待测电阻接入端</a:t>
            </a:r>
          </a:p>
        </p:txBody>
      </p:sp>
      <p:sp>
        <p:nvSpPr>
          <p:cNvPr id="10" name="矩形 9"/>
          <p:cNvSpPr/>
          <p:nvPr/>
        </p:nvSpPr>
        <p:spPr>
          <a:xfrm>
            <a:off x="6746240" y="5292090"/>
            <a:ext cx="1395095" cy="438785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8147685" y="5534660"/>
            <a:ext cx="11569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6324600" y="3444875"/>
            <a:ext cx="2938145" cy="7397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32595" y="3101340"/>
            <a:ext cx="156464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四旋钮电阻箱</a:t>
            </a: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3009900" y="2908300"/>
            <a:ext cx="13944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537335" y="2558415"/>
            <a:ext cx="1564640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内接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或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外接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电源选择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5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实验内容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61762" y="3264361"/>
              <a:ext cx="366497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CONTENT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44710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1143000" y="1292860"/>
            <a:ext cx="10075545" cy="387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、自组电桥测未知电阻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）自组电桥，选择检流计灵敏度，并将检流计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“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调零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”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；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</a:t>
            </a:r>
            <a:r>
              <a:rPr 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选取适当比率臂，利用交换法测量待测电阻，并确保测量结果有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4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位</a:t>
            </a:r>
            <a:r>
              <a:rPr 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效数字；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</a:t>
            </a:r>
            <a:r>
              <a:rPr 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测算自组电桥的灵敏度。</a:t>
            </a:r>
            <a:endParaRPr 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3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19</a:t>
            </a:fld>
            <a:endParaRPr lang="zh-CN" altLang="en-US" sz="1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49221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9" name="矩形 18"/>
          <p:cNvSpPr/>
          <p:nvPr/>
        </p:nvSpPr>
        <p:spPr>
          <a:xfrm>
            <a:off x="1184910" y="1209040"/>
            <a:ext cx="9168765" cy="479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、用</a:t>
            </a: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QJ-23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型盒式惠斯登电桥测电阻离散度</a:t>
            </a:r>
          </a:p>
          <a:p>
            <a:pPr indent="0" algn="l">
              <a:lnSpc>
                <a:spcPct val="200000"/>
              </a:lnSpc>
              <a:buFont typeface="+mj-lt"/>
              <a:buNone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）打开盒式电桥，选择工作电源，将指针调零；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algn="l">
              <a:lnSpc>
                <a:spcPct val="200000"/>
              </a:lnSpc>
              <a:buFont typeface="+mj-lt"/>
              <a:buNone/>
            </a:pPr>
            <a:r>
              <a:rPr 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</a:t>
            </a:r>
            <a:r>
              <a:rPr 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依次测量待测电阻盘上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8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个等值电阻，选取适当的倍臂，确保测量结果有效数字达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4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位；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algn="l">
              <a:lnSpc>
                <a:spcPct val="200000"/>
              </a:lnSpc>
              <a:buFont typeface="+mj-lt"/>
              <a:buNone/>
            </a:pPr>
            <a:r>
              <a:rPr 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</a:t>
            </a:r>
            <a:r>
              <a:rPr lang="zh-CN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计算这批电阻的离散度。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20</a:t>
            </a:fld>
            <a:endParaRPr lang="zh-CN" altLang="en-US" sz="14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6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实验结果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485131" y="3264361"/>
              <a:ext cx="3285512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RESULT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6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</a:rPr>
              <a:t>实验结果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0888" y="324999"/>
            <a:ext cx="2764210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RESULT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400" b="1" smtClean="0"/>
              <a:t>22</a:t>
            </a:fld>
            <a:endParaRPr lang="zh-CN" altLang="en-US" sz="14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16610" y="1022350"/>
                <a:ext cx="10559415" cy="5120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en-US" sz="32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1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、自组电桥测未知电阻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（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1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）实验数据</a:t>
                </a:r>
              </a:p>
              <a:p>
                <a:pPr indent="0" fontAlgn="auto">
                  <a:lnSpc>
                    <a:spcPct val="150000"/>
                  </a:lnSpc>
                </a:pP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（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2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）计算待测电阻最佳期望值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’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rad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（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3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）计算电桥灵敏度</a:t>
                </a:r>
                <a:r>
                  <a:rPr lang="en-US" altLang="zh-CN" sz="3000" i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S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和待测电阻不确定度</a:t>
                </a:r>
                <a:r>
                  <a:rPr lang="zh-CN" altLang="en-US" sz="3000" i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</a:t>
                </a:r>
                <a:r>
                  <a:rPr lang="en-US" altLang="zh-CN" sz="3000" i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R</a:t>
                </a:r>
                <a:r>
                  <a:rPr lang="en-US" altLang="zh-CN" sz="3000" i="1" baseline="-25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x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；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（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4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）写出最终结果表达式。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10" y="1022350"/>
                <a:ext cx="10559415" cy="51200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3099284"/>
              </p:ext>
            </p:extLst>
          </p:nvPr>
        </p:nvGraphicFramePr>
        <p:xfrm>
          <a:off x="1353185" y="2571115"/>
          <a:ext cx="9627870" cy="146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3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b="1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b="1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b="1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R’</a:t>
                      </a:r>
                      <a:r>
                        <a:rPr lang="en-US" altLang="zh-CN" b="1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i="1"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</a:t>
                      </a:r>
                      <a:r>
                        <a:rPr lang="en-US" altLang="zh-CN" b="1" i="1"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i="1"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</a:t>
                      </a:r>
                      <a:r>
                        <a:rPr lang="en-US" altLang="zh-CN" b="1" i="1"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R</a:t>
                      </a:r>
                      <a:r>
                        <a:rPr lang="en-US" altLang="zh-CN" b="1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交换前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交换后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6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</a:rPr>
              <a:t>实验结果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0888" y="324999"/>
            <a:ext cx="2764210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RESULT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400" b="1" smtClean="0"/>
              <a:t>23</a:t>
            </a:fld>
            <a:endParaRPr lang="zh-CN" altLang="en-US" sz="14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16610" y="1022350"/>
                <a:ext cx="10559415" cy="5518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2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、用</a:t>
                </a: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QJ-23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型盒式惠斯登电桥测电阻离散度</a:t>
                </a:r>
                <a:endParaRPr lang="zh-CN" altLang="en-US" sz="32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（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1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）实验数据</a:t>
                </a:r>
              </a:p>
              <a:p>
                <a:pPr indent="0" fontAlgn="auto">
                  <a:lnSpc>
                    <a:spcPct val="150000"/>
                  </a:lnSpc>
                </a:pP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（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2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）计算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8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个电阻的平均值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；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（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3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）利用贝塞尔公式计算标准偏差</a:t>
                </a:r>
                <a:r>
                  <a:rPr lang="en-US" altLang="zh-CN" sz="3000" i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S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；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（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4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）求电阻离散度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Symbol" panose="05050102010706020507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  <a:sym typeface="Symbol" panose="05050102010706020507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  <a:sym typeface="Symbol" panose="05050102010706020507" charset="0"/>
                              </a:rPr>
                              <m:t>𝑆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Symbol" panose="05050102010706020507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Cambria Math" panose="02040503050406030204" pitchFamily="18" charset="0"/>
                                        <a:sym typeface="Symbol" panose="05050102010706020507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Cambria Math" panose="02040503050406030204" pitchFamily="18" charset="0"/>
                                        <a:sym typeface="Symbol" panose="05050102010706020507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Cambria Math" panose="02040503050406030204" pitchFamily="18" charset="0"/>
                                        <a:sym typeface="Symbol" panose="05050102010706020507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acc>
                          </m:den>
                        </m:f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Symbol" panose="05050102010706020507" charset="0"/>
                          </a:rPr>
                          <m:t>∙100%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Symbol" panose="05050102010706020507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10" y="1022350"/>
                <a:ext cx="10559415" cy="5518177"/>
              </a:xfrm>
              <a:prstGeom prst="rect">
                <a:avLst/>
              </a:prstGeom>
              <a:blipFill>
                <a:blip r:embed="rId4"/>
                <a:stretch>
                  <a:fillRect l="-1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4205356"/>
              </p:ext>
            </p:extLst>
          </p:nvPr>
        </p:nvGraphicFramePr>
        <p:xfrm>
          <a:off x="1377315" y="2543810"/>
          <a:ext cx="8983980" cy="1266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33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i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i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i="1" baseline="-25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i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i="1" baseline="-25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阻值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3030583" y="4621256"/>
            <a:ext cx="6060791" cy="36932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altLang="zh-CN" sz="18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Calibri" panose="020F0502020204030204" charset="0"/>
                <a:cs typeface="Segoe UI Semilight" panose="020B0402040204020203" pitchFamily="34" charset="0"/>
              </a:rPr>
              <a:t>Wheatstone Bridge</a:t>
            </a:r>
            <a:endParaRPr lang="zh-CN" altLang="en-US" sz="1800" b="1" spc="600" dirty="0">
              <a:solidFill>
                <a:schemeClr val="bg1">
                  <a:lumMod val="50000"/>
                  <a:alpha val="78000"/>
                </a:schemeClr>
              </a:solidFill>
              <a:latin typeface="Calibri" panose="020F0502020204030204" charset="0"/>
              <a:cs typeface="Segoe UI Semilight" panose="020B0402040204020203" pitchFamily="34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4230668" y="3853601"/>
            <a:ext cx="3660629" cy="43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-8551" y="5623749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60"/>
          <p:cNvGrpSpPr/>
          <p:nvPr/>
        </p:nvGrpSpPr>
        <p:grpSpPr>
          <a:xfrm rot="16200000">
            <a:off x="11436485" y="6057840"/>
            <a:ext cx="1271471" cy="363349"/>
            <a:chOff x="6507038" y="462977"/>
            <a:chExt cx="2430800" cy="471379"/>
          </a:xfrm>
        </p:grpSpPr>
        <p:grpSp>
          <p:nvGrpSpPr>
            <p:cNvPr id="74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圆角矩形 77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圆角矩形 74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03710" y="5713686"/>
            <a:ext cx="10034254" cy="101565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</a:rPr>
              <a:t>MANY THANKS</a:t>
            </a:r>
            <a:endParaRPr lang="zh-CN" altLang="en-US" sz="60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1" name="圆角矩形 80"/>
          <p:cNvSpPr/>
          <p:nvPr/>
        </p:nvSpPr>
        <p:spPr>
          <a:xfrm rot="16200000" flipV="1">
            <a:off x="10447003" y="5586366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2" name="Freeform 96"/>
          <p:cNvSpPr/>
          <p:nvPr/>
        </p:nvSpPr>
        <p:spPr bwMode="auto">
          <a:xfrm>
            <a:off x="10716633" y="5878142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54355" y="2246378"/>
            <a:ext cx="3570204" cy="144654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VkOTkwN2E1ODM4MTczZWNlZGM3N2Q1YzE3OGQ5YjgifQ=="/>
  <p:tag name="RESOURCE_RECORD_KEY" val="{&quot;29&quot;:[50000283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58*115"/>
  <p:tag name="TABLE_ENDDRAG_RECT" val="119*204*758*1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7*99"/>
  <p:tag name="TABLE_ENDDRAG_RECT" val="108*200*707*9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1249</Words>
  <Application>Microsoft Macintosh PowerPoint</Application>
  <PresentationFormat>宽屏</PresentationFormat>
  <Paragraphs>271</Paragraphs>
  <Slides>24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宋体</vt:lpstr>
      <vt:lpstr>微软雅黑</vt:lpstr>
      <vt:lpstr>楷体</vt:lpstr>
      <vt:lpstr>黑体</vt:lpstr>
      <vt:lpstr>Arial</vt:lpstr>
      <vt:lpstr>Calibri</vt:lpstr>
      <vt:lpstr>Cambria Math</vt:lpstr>
      <vt:lpstr>Century Gothic</vt:lpstr>
      <vt:lpstr>Segoe UI Semilight</vt:lpstr>
      <vt:lpstr>Times New Roman</vt:lpstr>
      <vt:lpstr>Wingdings</vt:lpstr>
      <vt:lpstr>Office 主题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PLUS</dc:creator>
  <cp:lastModifiedBy>Microsoft Office User</cp:lastModifiedBy>
  <cp:revision>677</cp:revision>
  <dcterms:created xsi:type="dcterms:W3CDTF">2015-04-07T16:28:00Z</dcterms:created>
  <dcterms:modified xsi:type="dcterms:W3CDTF">2025-07-16T03:51:36Z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92EF442E105344F6A0123CA37E5EF4C7_12</vt:lpwstr>
  </property>
  <property fmtid="{D5CDD505-2E9C-101B-9397-08002B2CF9AE}" pid="3" name="KSOProductBuildVer">
    <vt:lpwstr>2052-12.1.0.19770</vt:lpwstr>
  </property>
</Properties>
</file>