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96" r:id="rId1"/>
  </p:sldMasterIdLst>
  <p:sldIdLst>
    <p:sldId id="325" r:id="rId2"/>
    <p:sldId id="411" r:id="rId3"/>
    <p:sldId id="538" r:id="rId4"/>
    <p:sldId id="535" r:id="rId5"/>
    <p:sldId id="536" r:id="rId6"/>
    <p:sldId id="537" r:id="rId7"/>
    <p:sldId id="279" r:id="rId8"/>
    <p:sldId id="280" r:id="rId9"/>
    <p:sldId id="311" r:id="rId10"/>
    <p:sldId id="281" r:id="rId11"/>
    <p:sldId id="315" r:id="rId12"/>
    <p:sldId id="415" r:id="rId13"/>
    <p:sldId id="283" r:id="rId14"/>
    <p:sldId id="327" r:id="rId15"/>
    <p:sldId id="525" r:id="rId16"/>
    <p:sldId id="548" r:id="rId17"/>
    <p:sldId id="550" r:id="rId18"/>
    <p:sldId id="551" r:id="rId19"/>
    <p:sldId id="552" r:id="rId20"/>
    <p:sldId id="553" r:id="rId21"/>
    <p:sldId id="337" r:id="rId22"/>
    <p:sldId id="340" r:id="rId23"/>
    <p:sldId id="545" r:id="rId24"/>
    <p:sldId id="345" r:id="rId25"/>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mn-ea"/>
        <a:cs typeface="Arial" charset="0"/>
      </a:defRPr>
    </a:lvl1pPr>
    <a:lvl2pPr marL="457200" algn="l" defTabSz="457200" rtl="0" fontAlgn="base">
      <a:spcBef>
        <a:spcPct val="0"/>
      </a:spcBef>
      <a:spcAft>
        <a:spcPct val="0"/>
      </a:spcAft>
      <a:defRPr kern="1200">
        <a:solidFill>
          <a:schemeClr val="tx1"/>
        </a:solidFill>
        <a:latin typeface="Arial" charset="0"/>
        <a:ea typeface="+mn-ea"/>
        <a:cs typeface="Arial" charset="0"/>
      </a:defRPr>
    </a:lvl2pPr>
    <a:lvl3pPr marL="914400" algn="l" defTabSz="457200" rtl="0" fontAlgn="base">
      <a:spcBef>
        <a:spcPct val="0"/>
      </a:spcBef>
      <a:spcAft>
        <a:spcPct val="0"/>
      </a:spcAft>
      <a:defRPr kern="1200">
        <a:solidFill>
          <a:schemeClr val="tx1"/>
        </a:solidFill>
        <a:latin typeface="Arial" charset="0"/>
        <a:ea typeface="+mn-ea"/>
        <a:cs typeface="Arial" charset="0"/>
      </a:defRPr>
    </a:lvl3pPr>
    <a:lvl4pPr marL="1371600" algn="l" defTabSz="457200" rtl="0" fontAlgn="base">
      <a:spcBef>
        <a:spcPct val="0"/>
      </a:spcBef>
      <a:spcAft>
        <a:spcPct val="0"/>
      </a:spcAft>
      <a:defRPr kern="1200">
        <a:solidFill>
          <a:schemeClr val="tx1"/>
        </a:solidFill>
        <a:latin typeface="Arial" charset="0"/>
        <a:ea typeface="+mn-ea"/>
        <a:cs typeface="Arial" charset="0"/>
      </a:defRPr>
    </a:lvl4pPr>
    <a:lvl5pPr marL="1828800" algn="l" defTabSz="457200"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8000"/>
    <a:srgbClr val="00CC00"/>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4"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ctrTitle"/>
          </p:nvPr>
        </p:nvSpPr>
        <p:spPr>
          <a:xfrm>
            <a:off x="1261872" y="758952"/>
            <a:ext cx="9418320" cy="4041648"/>
          </a:xfrm>
        </p:spPr>
        <p:txBody>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5" name="Date Placeholder 3"/>
          <p:cNvSpPr>
            <a:spLocks noGrp="1"/>
          </p:cNvSpPr>
          <p:nvPr>
            <p:ph type="dt" sz="half" idx="10"/>
          </p:nvPr>
        </p:nvSpPr>
        <p:spPr/>
        <p:txBody>
          <a:bodyPr/>
          <a:lstStyle>
            <a:lvl1pPr>
              <a:defRPr smtClean="0">
                <a:solidFill>
                  <a:schemeClr val="tx1">
                    <a:lumMod val="50000"/>
                  </a:schemeClr>
                </a:solidFill>
              </a:defRPr>
            </a:lvl1pPr>
          </a:lstStyle>
          <a:p>
            <a:pPr>
              <a:defRPr/>
            </a:pPr>
            <a:fld id="{AAB0106F-BAC1-4CC8-9063-B1EC5C862CF3}" type="datetimeFigureOut">
              <a:rPr lang="en-GB"/>
              <a:pPr>
                <a:defRPr/>
              </a:pPr>
              <a:t>23/11/2025</a:t>
            </a:fld>
            <a:endParaRPr lang="en-GB"/>
          </a:p>
        </p:txBody>
      </p:sp>
      <p:sp>
        <p:nvSpPr>
          <p:cNvPr id="6" name="Footer Placeholder 4"/>
          <p:cNvSpPr>
            <a:spLocks noGrp="1"/>
          </p:cNvSpPr>
          <p:nvPr>
            <p:ph type="ftr" sz="quarter" idx="11"/>
          </p:nvPr>
        </p:nvSpPr>
        <p:spPr/>
        <p:txBody>
          <a:bodyPr/>
          <a:lstStyle>
            <a:lvl1pPr>
              <a:defRPr>
                <a:solidFill>
                  <a:schemeClr val="tx1">
                    <a:lumMod val="65000"/>
                  </a:schemeClr>
                </a:solidFill>
              </a:defRPr>
            </a:lvl1pPr>
          </a:lstStyle>
          <a:p>
            <a:pPr>
              <a:defRPr/>
            </a:pPr>
            <a:endParaRPr lang="en-GB"/>
          </a:p>
        </p:txBody>
      </p:sp>
      <p:sp>
        <p:nvSpPr>
          <p:cNvPr id="7" name="Slide Number Placeholder 5"/>
          <p:cNvSpPr>
            <a:spLocks noGrp="1"/>
          </p:cNvSpPr>
          <p:nvPr>
            <p:ph type="sldNum" sz="quarter" idx="12"/>
          </p:nvPr>
        </p:nvSpPr>
        <p:spPr/>
        <p:txBody>
          <a:bodyPr/>
          <a:lstStyle>
            <a:lvl1pPr>
              <a:defRPr smtClean="0">
                <a:solidFill>
                  <a:schemeClr val="tx1">
                    <a:lumMod val="65000"/>
                  </a:schemeClr>
                </a:solidFill>
              </a:defRPr>
            </a:lvl1pPr>
          </a:lstStyle>
          <a:p>
            <a:pPr>
              <a:defRPr/>
            </a:pPr>
            <a:fld id="{511EA043-5301-4CA2-9761-01B2E348818B}" type="slidenum">
              <a:rPr lang="en-GB"/>
              <a:pPr>
                <a:defRPr/>
              </a:pPr>
              <a:t>‹#›</a:t>
            </a:fld>
            <a:endParaRPr lang="en-GB"/>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396DD025-7568-49BE-A988-89DDD2F2CAB5}" type="datetimeFigureOut">
              <a:rPr lang="en-GB"/>
              <a:pPr>
                <a:defRPr/>
              </a:pPr>
              <a:t>23/11/2025</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E1EF0F09-AFAD-41AE-A242-A6243C3A83D5}" type="slidenum">
              <a:rPr lang="en-GB"/>
              <a:pPr>
                <a:defRPr/>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9521655D-1B49-4C81-871C-C576C5473E4A}" type="datetimeFigureOut">
              <a:rPr lang="en-GB"/>
              <a:pPr>
                <a:defRPr/>
              </a:pPr>
              <a:t>23/11/2025</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E7063DC5-45AF-495A-A815-3D0FFE5230AD}" type="slidenum">
              <a:rPr lang="en-GB"/>
              <a:pPr>
                <a:defRPr/>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BB9B2F96-67BF-4BB2-8E22-79292E8930C4}" type="datetimeFigureOut">
              <a:rPr lang="en-GB"/>
              <a:pPr>
                <a:defRPr/>
              </a:pPr>
              <a:t>23/11/2025</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18E9C18E-51A9-4251-B71F-E186E5DF4EB8}" type="slidenum">
              <a:rPr lang="en-GB"/>
              <a:pPr>
                <a:defRPr/>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AA622AE3-5998-4EBD-B197-5D503B2254B7}" type="datetimeFigureOut">
              <a:rPr lang="en-GB"/>
              <a:pPr>
                <a:defRPr/>
              </a:pPr>
              <a:t>23/11/2025</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DFBC3B12-7BF8-41CF-8D12-6C1C1502CC9D}" type="slidenum">
              <a:rPr lang="en-GB"/>
              <a:pPr>
                <a:defRPr/>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8E37F07-07DD-47A2-AD35-60F8290007D1}" type="datetimeFigureOut">
              <a:rPr lang="en-GB"/>
              <a:pPr>
                <a:defRPr/>
              </a:pPr>
              <a:t>23/11/2025</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AB95BB84-9330-4E23-9C3E-A53BD4AFF408}" type="slidenum">
              <a:rPr lang="en-GB"/>
              <a:pPr>
                <a:defRPr/>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089D9199-441A-4E3C-B2EA-B014C4178407}" type="datetimeFigureOut">
              <a:rPr lang="en-GB"/>
              <a:pPr>
                <a:defRPr/>
              </a:pPr>
              <a:t>23/11/2025</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09D32707-9F36-4E7C-B751-ABE56DB10125}" type="slidenum">
              <a:rPr lang="en-GB"/>
              <a:pPr>
                <a:defRPr/>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7"/>
          <p:cNvSpPr/>
          <p:nvPr/>
        </p:nvSpPr>
        <p:spPr>
          <a:xfrm>
            <a:off x="0" y="5105400"/>
            <a:ext cx="11293475"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914400" y="6108589"/>
            <a:ext cx="9982200" cy="597011"/>
          </a:xfrm>
        </p:spPr>
        <p:txBody>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Date Placeholder 4"/>
          <p:cNvSpPr>
            <a:spLocks noGrp="1"/>
          </p:cNvSpPr>
          <p:nvPr>
            <p:ph type="dt" sz="half" idx="10"/>
          </p:nvPr>
        </p:nvSpPr>
        <p:spPr/>
        <p:txBody>
          <a:bodyPr/>
          <a:lstStyle>
            <a:lvl1pPr>
              <a:defRPr/>
            </a:lvl1pPr>
          </a:lstStyle>
          <a:p>
            <a:pPr>
              <a:defRPr/>
            </a:pPr>
            <a:fld id="{8FB8BAC6-52B3-47B1-8725-6CBFCBA6A2B9}" type="datetimeFigureOut">
              <a:rPr lang="en-GB"/>
              <a:pPr>
                <a:defRPr/>
              </a:pPr>
              <a:t>23/11/2025</a:t>
            </a:fld>
            <a:endParaRPr lang="en-GB"/>
          </a:p>
        </p:txBody>
      </p:sp>
      <p:sp>
        <p:nvSpPr>
          <p:cNvPr id="7" name="Footer Placeholder 5"/>
          <p:cNvSpPr>
            <a:spLocks noGrp="1"/>
          </p:cNvSpPr>
          <p:nvPr>
            <p:ph type="ftr" sz="quarter" idx="11"/>
          </p:nvPr>
        </p:nvSpPr>
        <p:spPr/>
        <p:txBody>
          <a:bodyPr/>
          <a:lstStyle>
            <a:lvl1pPr>
              <a:defRPr/>
            </a:lvl1pPr>
          </a:lstStyle>
          <a:p>
            <a:pPr>
              <a:defRPr/>
            </a:pPr>
            <a:endParaRPr lang="en-GB"/>
          </a:p>
        </p:txBody>
      </p:sp>
      <p:sp>
        <p:nvSpPr>
          <p:cNvPr id="8" name="Slide Number Placeholder 6"/>
          <p:cNvSpPr>
            <a:spLocks noGrp="1"/>
          </p:cNvSpPr>
          <p:nvPr>
            <p:ph type="sldNum" sz="quarter" idx="12"/>
          </p:nvPr>
        </p:nvSpPr>
        <p:spPr/>
        <p:txBody>
          <a:bodyPr/>
          <a:lstStyle>
            <a:lvl1pPr>
              <a:defRPr/>
            </a:lvl1pPr>
          </a:lstStyle>
          <a:p>
            <a:pPr>
              <a:defRPr/>
            </a:pPr>
            <a:fld id="{E642FE09-9AA1-4DDC-B1EF-65BDF050D5E7}" type="slidenum">
              <a:rPr lang="en-GB"/>
              <a:pPr>
                <a:defRPr/>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8256899F-BC67-4E2C-BEB7-23372247118A}" type="datetimeFigureOut">
              <a:rPr lang="en-GB"/>
              <a:pPr>
                <a:defRPr/>
              </a:pPr>
              <a:t>23/11/2025</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CFABBB7-AB5E-4FED-9FE6-172F2BD58697}" type="slidenum">
              <a:rPr lang="en-GB"/>
              <a:pPr>
                <a:defRPr/>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47C918FE-C6BB-4351-BC31-790485C8BB84}" type="datetimeFigureOut">
              <a:rPr lang="en-GB"/>
              <a:pPr>
                <a:defRPr/>
              </a:pPr>
              <a:t>23/11/2025</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8071ADE1-FFA1-43E2-ADA3-874A68DBED40}" type="slidenum">
              <a:rPr lang="en-GB"/>
              <a:pPr>
                <a:defRPr/>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3475"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262063" y="365125"/>
            <a:ext cx="9691687"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2063" y="1828800"/>
            <a:ext cx="8594725"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8176" y="998537"/>
            <a:ext cx="1905000" cy="365125"/>
          </a:xfrm>
          <a:prstGeom prst="rect">
            <a:avLst/>
          </a:prstGeom>
        </p:spPr>
        <p:txBody>
          <a:bodyPr vert="horz" lIns="91440" tIns="45720" rIns="91440" bIns="45720" rtlCol="0" anchor="ctr"/>
          <a:lstStyle>
            <a:lvl1pPr algn="r" fontAlgn="auto">
              <a:spcBef>
                <a:spcPts val="0"/>
              </a:spcBef>
              <a:spcAft>
                <a:spcPts val="0"/>
              </a:spcAft>
              <a:defRPr sz="1050" b="0" smtClean="0">
                <a:solidFill>
                  <a:schemeClr val="tx2">
                    <a:lumMod val="20000"/>
                    <a:lumOff val="80000"/>
                  </a:schemeClr>
                </a:solidFill>
                <a:latin typeface="+mn-lt"/>
                <a:cs typeface="+mn-cs"/>
              </a:defRPr>
            </a:lvl1pPr>
          </a:lstStyle>
          <a:p>
            <a:pPr>
              <a:defRPr/>
            </a:pPr>
            <a:fld id="{39D60186-9EC8-49F3-A26A-E2CCE97A99F6}" type="datetimeFigureOut">
              <a:rPr lang="en-GB"/>
              <a:pPr>
                <a:defRPr/>
              </a:pPr>
              <a:t>23/11/2025</a:t>
            </a:fld>
            <a:endParaRPr lang="en-GB"/>
          </a:p>
        </p:txBody>
      </p:sp>
      <p:sp>
        <p:nvSpPr>
          <p:cNvPr id="5" name="Footer Placeholder 4"/>
          <p:cNvSpPr>
            <a:spLocks noGrp="1"/>
          </p:cNvSpPr>
          <p:nvPr>
            <p:ph type="ftr" sz="quarter" idx="3"/>
          </p:nvPr>
        </p:nvSpPr>
        <p:spPr>
          <a:xfrm rot="16200000">
            <a:off x="9959976" y="4046537"/>
            <a:ext cx="3581400" cy="365125"/>
          </a:xfrm>
          <a:prstGeom prst="rect">
            <a:avLst/>
          </a:prstGeom>
        </p:spPr>
        <p:txBody>
          <a:bodyPr vert="horz" lIns="91440" tIns="45720" rIns="91440" bIns="45720" rtlCol="0" anchor="ctr"/>
          <a:lstStyle>
            <a:lvl1pPr algn="l" fontAlgn="auto">
              <a:spcBef>
                <a:spcPts val="0"/>
              </a:spcBef>
              <a:spcAft>
                <a:spcPts val="0"/>
              </a:spcAft>
              <a:defRPr sz="1050">
                <a:solidFill>
                  <a:schemeClr val="tx2">
                    <a:lumMod val="20000"/>
                    <a:lumOff val="80000"/>
                  </a:schemeClr>
                </a:solidFill>
                <a:latin typeface="+mn-lt"/>
                <a:cs typeface="+mn-cs"/>
              </a:defRPr>
            </a:lvl1pPr>
          </a:lstStyle>
          <a:p>
            <a:pPr>
              <a:defRPr/>
            </a:pPr>
            <a:endParaRPr lang="en-GB"/>
          </a:p>
        </p:txBody>
      </p:sp>
      <p:sp>
        <p:nvSpPr>
          <p:cNvPr id="6" name="Slide Number Placeholder 5"/>
          <p:cNvSpPr>
            <a:spLocks noGrp="1"/>
          </p:cNvSpPr>
          <p:nvPr>
            <p:ph type="sldNum" sz="quarter" idx="4"/>
          </p:nvPr>
        </p:nvSpPr>
        <p:spPr>
          <a:xfrm>
            <a:off x="11293475" y="6172200"/>
            <a:ext cx="914400" cy="593725"/>
          </a:xfrm>
          <a:prstGeom prst="rect">
            <a:avLst/>
          </a:prstGeom>
        </p:spPr>
        <p:txBody>
          <a:bodyPr vert="horz" lIns="45720" tIns="45720" rIns="45720" bIns="45720" rtlCol="0" anchor="ctr">
            <a:normAutofit/>
          </a:bodyPr>
          <a:lstStyle>
            <a:lvl1pPr algn="ctr" fontAlgn="auto">
              <a:spcBef>
                <a:spcPts val="0"/>
              </a:spcBef>
              <a:spcAft>
                <a:spcPts val="0"/>
              </a:spcAft>
              <a:defRPr sz="3600" smtClean="0">
                <a:solidFill>
                  <a:schemeClr val="tx2">
                    <a:lumMod val="60000"/>
                    <a:lumOff val="40000"/>
                  </a:schemeClr>
                </a:solidFill>
                <a:latin typeface="+mn-lt"/>
                <a:cs typeface="+mn-cs"/>
              </a:defRPr>
            </a:lvl1pPr>
          </a:lstStyle>
          <a:p>
            <a:pPr>
              <a:defRPr/>
            </a:pPr>
            <a:fld id="{5A447199-5F78-4452-BF38-355C4EDC5D53}" type="slidenum">
              <a:rPr lang="en-GB"/>
              <a:pPr>
                <a:defRPr/>
              </a:pPr>
              <a:t>‹#›</a:t>
            </a:fld>
            <a:endParaRPr lang="en-GB"/>
          </a:p>
        </p:txBody>
      </p:sp>
    </p:spTree>
  </p:cSld>
  <p:clrMap bg1="lt1" tx1="dk1" bg2="lt2" tx2="dk2" accent1="accent1" accent2="accent2" accent3="accent3" accent4="accent4" accent5="accent5" accent6="accent6" hlink="hlink" folHlink="folHlink"/>
  <p:sldLayoutIdLst>
    <p:sldLayoutId id="2147483726" r:id="rId1"/>
    <p:sldLayoutId id="2147483725" r:id="rId2"/>
    <p:sldLayoutId id="2147483724" r:id="rId3"/>
    <p:sldLayoutId id="2147483723" r:id="rId4"/>
    <p:sldLayoutId id="2147483722" r:id="rId5"/>
    <p:sldLayoutId id="2147483721" r:id="rId6"/>
    <p:sldLayoutId id="2147483720" r:id="rId7"/>
    <p:sldLayoutId id="2147483727" r:id="rId8"/>
    <p:sldLayoutId id="2147483719" r:id="rId9"/>
    <p:sldLayoutId id="2147483718" r:id="rId10"/>
  </p:sldLayoutIdLst>
  <p:txStyles>
    <p:titleStyle>
      <a:lvl1pPr algn="l" rtl="0" fontAlgn="base">
        <a:lnSpc>
          <a:spcPct val="90000"/>
        </a:lnSpc>
        <a:spcBef>
          <a:spcPct val="0"/>
        </a:spcBef>
        <a:spcAft>
          <a:spcPct val="0"/>
        </a:spcAft>
        <a:defRPr sz="4400" kern="1200" spc="-5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entury Schoolbook" pitchFamily="18" charset="0"/>
        </a:defRPr>
      </a:lvl2pPr>
      <a:lvl3pPr algn="l" rtl="0" fontAlgn="base">
        <a:lnSpc>
          <a:spcPct val="90000"/>
        </a:lnSpc>
        <a:spcBef>
          <a:spcPct val="0"/>
        </a:spcBef>
        <a:spcAft>
          <a:spcPct val="0"/>
        </a:spcAft>
        <a:defRPr sz="4400">
          <a:solidFill>
            <a:schemeClr val="tx1"/>
          </a:solidFill>
          <a:latin typeface="Century Schoolbook" pitchFamily="18" charset="0"/>
        </a:defRPr>
      </a:lvl3pPr>
      <a:lvl4pPr algn="l" rtl="0" fontAlgn="base">
        <a:lnSpc>
          <a:spcPct val="90000"/>
        </a:lnSpc>
        <a:spcBef>
          <a:spcPct val="0"/>
        </a:spcBef>
        <a:spcAft>
          <a:spcPct val="0"/>
        </a:spcAft>
        <a:defRPr sz="4400">
          <a:solidFill>
            <a:schemeClr val="tx1"/>
          </a:solidFill>
          <a:latin typeface="Century Schoolbook" pitchFamily="18" charset="0"/>
        </a:defRPr>
      </a:lvl4pPr>
      <a:lvl5pPr algn="l" rtl="0" fontAlgn="base">
        <a:lnSpc>
          <a:spcPct val="90000"/>
        </a:lnSpc>
        <a:spcBef>
          <a:spcPct val="0"/>
        </a:spcBef>
        <a:spcAft>
          <a:spcPct val="0"/>
        </a:spcAft>
        <a:defRPr sz="4400">
          <a:solidFill>
            <a:schemeClr val="tx1"/>
          </a:solidFill>
          <a:latin typeface="Century Schoolbook" pitchFamily="18" charset="0"/>
        </a:defRPr>
      </a:lvl5pPr>
      <a:lvl6pPr marL="457200" algn="l" rtl="0" fontAlgn="base">
        <a:lnSpc>
          <a:spcPct val="90000"/>
        </a:lnSpc>
        <a:spcBef>
          <a:spcPct val="0"/>
        </a:spcBef>
        <a:spcAft>
          <a:spcPct val="0"/>
        </a:spcAft>
        <a:defRPr sz="4400">
          <a:solidFill>
            <a:schemeClr val="tx1"/>
          </a:solidFill>
          <a:latin typeface="Century Schoolbook" pitchFamily="18" charset="0"/>
        </a:defRPr>
      </a:lvl6pPr>
      <a:lvl7pPr marL="914400" algn="l" rtl="0" fontAlgn="base">
        <a:lnSpc>
          <a:spcPct val="90000"/>
        </a:lnSpc>
        <a:spcBef>
          <a:spcPct val="0"/>
        </a:spcBef>
        <a:spcAft>
          <a:spcPct val="0"/>
        </a:spcAft>
        <a:defRPr sz="4400">
          <a:solidFill>
            <a:schemeClr val="tx1"/>
          </a:solidFill>
          <a:latin typeface="Century Schoolbook" pitchFamily="18" charset="0"/>
        </a:defRPr>
      </a:lvl7pPr>
      <a:lvl8pPr marL="1371600" algn="l" rtl="0" fontAlgn="base">
        <a:lnSpc>
          <a:spcPct val="90000"/>
        </a:lnSpc>
        <a:spcBef>
          <a:spcPct val="0"/>
        </a:spcBef>
        <a:spcAft>
          <a:spcPct val="0"/>
        </a:spcAft>
        <a:defRPr sz="4400">
          <a:solidFill>
            <a:schemeClr val="tx1"/>
          </a:solidFill>
          <a:latin typeface="Century Schoolbook" pitchFamily="18" charset="0"/>
        </a:defRPr>
      </a:lvl8pPr>
      <a:lvl9pPr marL="1828800" algn="l" rtl="0" fontAlgn="base">
        <a:lnSpc>
          <a:spcPct val="90000"/>
        </a:lnSpc>
        <a:spcBef>
          <a:spcPct val="0"/>
        </a:spcBef>
        <a:spcAft>
          <a:spcPct val="0"/>
        </a:spcAft>
        <a:defRPr sz="4400">
          <a:solidFill>
            <a:schemeClr val="tx1"/>
          </a:solidFill>
          <a:latin typeface="Century Schoolbook" pitchFamily="18" charset="0"/>
        </a:defRPr>
      </a:lvl9pPr>
    </p:titleStyle>
    <p:bodyStyle>
      <a:lvl1pPr marL="182563" indent="-182563" algn="l" rtl="0" fontAlgn="base">
        <a:lnSpc>
          <a:spcPct val="95000"/>
        </a:lnSpc>
        <a:spcBef>
          <a:spcPts val="1400"/>
        </a:spcBef>
        <a:spcAft>
          <a:spcPts val="200"/>
        </a:spcAft>
        <a:buClr>
          <a:schemeClr val="accent1"/>
        </a:buClr>
        <a:buSzPct val="80000"/>
        <a:buFont typeface="Arial" charset="0"/>
        <a:buChar char="•"/>
        <a:defRPr kern="1200" spc="10">
          <a:solidFill>
            <a:schemeClr val="tx1"/>
          </a:solidFill>
          <a:latin typeface="+mn-lt"/>
          <a:ea typeface="+mn-ea"/>
          <a:cs typeface="+mn-cs"/>
        </a:defRPr>
      </a:lvl1pPr>
      <a:lvl2pPr marL="457200" indent="-182563" algn="l" rtl="0" fontAlgn="base">
        <a:lnSpc>
          <a:spcPct val="90000"/>
        </a:lnSpc>
        <a:spcBef>
          <a:spcPts val="300"/>
        </a:spcBef>
        <a:spcAft>
          <a:spcPts val="300"/>
        </a:spcAft>
        <a:buClr>
          <a:schemeClr val="accent1"/>
        </a:buClr>
        <a:buFont typeface="Wingdings 2" pitchFamily="18" charset="2"/>
        <a:buChar char=""/>
        <a:defRPr sz="1600" kern="1200">
          <a:solidFill>
            <a:srgbClr val="262626"/>
          </a:solidFill>
          <a:latin typeface="+mn-lt"/>
          <a:ea typeface="+mn-ea"/>
          <a:cs typeface="+mn-cs"/>
        </a:defRPr>
      </a:lvl2pPr>
      <a:lvl3pPr marL="730250" indent="-182563" algn="l" rtl="0" fontAlgn="base">
        <a:lnSpc>
          <a:spcPct val="90000"/>
        </a:lnSpc>
        <a:spcBef>
          <a:spcPts val="300"/>
        </a:spcBef>
        <a:spcAft>
          <a:spcPts val="300"/>
        </a:spcAft>
        <a:buClr>
          <a:schemeClr val="accent1"/>
        </a:buClr>
        <a:buFont typeface="Wingdings 2" pitchFamily="18" charset="2"/>
        <a:buChar char=""/>
        <a:defRPr sz="1400" kern="1200">
          <a:solidFill>
            <a:srgbClr val="262626"/>
          </a:solidFill>
          <a:latin typeface="+mn-lt"/>
          <a:ea typeface="+mn-ea"/>
          <a:cs typeface="+mn-cs"/>
        </a:defRPr>
      </a:lvl3pPr>
      <a:lvl4pPr marL="1004888" indent="-182563" algn="l" rtl="0" fontAlgn="base">
        <a:lnSpc>
          <a:spcPct val="90000"/>
        </a:lnSpc>
        <a:spcBef>
          <a:spcPts val="300"/>
        </a:spcBef>
        <a:spcAft>
          <a:spcPts val="300"/>
        </a:spcAft>
        <a:buClr>
          <a:schemeClr val="accent1"/>
        </a:buClr>
        <a:buFont typeface="Wingdings 2" pitchFamily="18" charset="2"/>
        <a:buChar char=""/>
        <a:defRPr sz="1400" kern="1200">
          <a:solidFill>
            <a:srgbClr val="262626"/>
          </a:solidFill>
          <a:latin typeface="+mn-lt"/>
          <a:ea typeface="+mn-ea"/>
          <a:cs typeface="+mn-cs"/>
        </a:defRPr>
      </a:lvl4pPr>
      <a:lvl5pPr marL="1279525" indent="-182563" algn="l" rtl="0" fontAlgn="base">
        <a:lnSpc>
          <a:spcPct val="90000"/>
        </a:lnSpc>
        <a:spcBef>
          <a:spcPts val="300"/>
        </a:spcBef>
        <a:spcAft>
          <a:spcPts val="300"/>
        </a:spcAft>
        <a:buClr>
          <a:schemeClr val="accent1"/>
        </a:buClr>
        <a:buFont typeface="Wingdings 2" pitchFamily="18" charset="2"/>
        <a:buChar char=""/>
        <a:defRPr sz="1400" kern="1200">
          <a:solidFill>
            <a:srgbClr val="262626"/>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 Id="rId5" Type="http://schemas.openxmlformats.org/officeDocument/2006/relationships/image" Target="../media/image13.jpg"/><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1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2.xml"/><Relationship Id="rId4" Type="http://schemas.openxmlformats.org/officeDocument/2006/relationships/image" Target="../media/image2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262062" y="0"/>
            <a:ext cx="9418637" cy="4041775"/>
          </a:xfrm>
        </p:spPr>
        <p:txBody>
          <a:bodyPr>
            <a:normAutofit/>
          </a:bodyPr>
          <a:lstStyle/>
          <a:p>
            <a:pPr fontAlgn="auto">
              <a:spcAft>
                <a:spcPts val="0"/>
              </a:spcAft>
              <a:defRPr/>
            </a:pPr>
            <a:r>
              <a:rPr lang="en-GB" sz="6000" dirty="0"/>
              <a:t>20</a:t>
            </a:r>
            <a:r>
              <a:rPr lang="en-GB" sz="6000" baseline="30000" dirty="0"/>
              <a:t>th</a:t>
            </a:r>
            <a:r>
              <a:rPr lang="en-GB" sz="6000" dirty="0"/>
              <a:t> Century Modernism</a:t>
            </a:r>
          </a:p>
        </p:txBody>
      </p:sp>
      <p:sp>
        <p:nvSpPr>
          <p:cNvPr id="7" name="Subtitle 6"/>
          <p:cNvSpPr>
            <a:spLocks noGrp="1"/>
          </p:cNvSpPr>
          <p:nvPr>
            <p:ph type="subTitle" idx="1"/>
          </p:nvPr>
        </p:nvSpPr>
        <p:spPr>
          <a:xfrm>
            <a:off x="1262063" y="758825"/>
            <a:ext cx="9418637" cy="1692275"/>
          </a:xfrm>
        </p:spPr>
        <p:txBody>
          <a:bodyPr/>
          <a:lstStyle/>
          <a:p>
            <a:pPr fontAlgn="auto">
              <a:buFont typeface="Arial" pitchFamily="34" charset="0"/>
              <a:buNone/>
              <a:defRPr/>
            </a:pPr>
            <a:endParaRPr lang="en-GB" dirty="0"/>
          </a:p>
          <a:p>
            <a:pPr fontAlgn="auto">
              <a:buFont typeface="Arial" pitchFamily="34" charset="0"/>
              <a:buNone/>
              <a:defRPr/>
            </a:pPr>
            <a:r>
              <a:rPr lang="en-GB" sz="3000" dirty="0">
                <a:solidFill>
                  <a:srgbClr val="0070C0"/>
                </a:solidFill>
              </a:rPr>
              <a:t>Appreciation of English and American Literature </a:t>
            </a:r>
          </a:p>
        </p:txBody>
      </p:sp>
      <p:sp>
        <p:nvSpPr>
          <p:cNvPr id="2" name="Subtitle 6">
            <a:extLst>
              <a:ext uri="{FF2B5EF4-FFF2-40B4-BE49-F238E27FC236}">
                <a16:creationId xmlns:a16="http://schemas.microsoft.com/office/drawing/2014/main" id="{2D79552E-588D-E518-B656-9717FAE55822}"/>
              </a:ext>
            </a:extLst>
          </p:cNvPr>
          <p:cNvSpPr txBox="1">
            <a:spLocks/>
          </p:cNvSpPr>
          <p:nvPr/>
        </p:nvSpPr>
        <p:spPr>
          <a:xfrm>
            <a:off x="1262062" y="4448889"/>
            <a:ext cx="9418637" cy="1692275"/>
          </a:xfrm>
          <a:prstGeom prst="rect">
            <a:avLst/>
          </a:prstGeom>
        </p:spPr>
        <p:txBody>
          <a:bodyPr vert="horz" lIns="91440" tIns="45720" rIns="91440" bIns="45720" rtlCol="0">
            <a:normAutofit fontScale="92500" lnSpcReduction="10000"/>
          </a:bodyPr>
          <a:lstStyle>
            <a:lvl1pPr marL="0" indent="0" algn="l" rtl="0" fontAlgn="base">
              <a:lnSpc>
                <a:spcPct val="95000"/>
              </a:lnSpc>
              <a:spcBef>
                <a:spcPts val="1400"/>
              </a:spcBef>
              <a:spcAft>
                <a:spcPts val="200"/>
              </a:spcAft>
              <a:buClr>
                <a:schemeClr val="accent1"/>
              </a:buClr>
              <a:buSzPct val="80000"/>
              <a:buFont typeface="Arial" charset="0"/>
              <a:buNone/>
              <a:defRPr sz="2200" kern="1200" spc="10" baseline="0">
                <a:solidFill>
                  <a:schemeClr val="tx1">
                    <a:lumMod val="75000"/>
                  </a:schemeClr>
                </a:solidFill>
                <a:latin typeface="+mn-lt"/>
                <a:ea typeface="+mn-ea"/>
                <a:cs typeface="+mn-cs"/>
              </a:defRPr>
            </a:lvl1pPr>
            <a:lvl2pPr marL="457200" indent="0" algn="ctr" rtl="0" fontAlgn="base">
              <a:lnSpc>
                <a:spcPct val="90000"/>
              </a:lnSpc>
              <a:spcBef>
                <a:spcPts val="300"/>
              </a:spcBef>
              <a:spcAft>
                <a:spcPts val="300"/>
              </a:spcAft>
              <a:buClr>
                <a:schemeClr val="accent1"/>
              </a:buClr>
              <a:buFont typeface="Wingdings 2" pitchFamily="18" charset="2"/>
              <a:buNone/>
              <a:defRPr sz="2200" kern="1200">
                <a:solidFill>
                  <a:srgbClr val="262626"/>
                </a:solidFill>
                <a:latin typeface="+mn-lt"/>
                <a:ea typeface="+mn-ea"/>
                <a:cs typeface="+mn-cs"/>
              </a:defRPr>
            </a:lvl2pPr>
            <a:lvl3pPr marL="914400" indent="0" algn="ctr" rtl="0" fontAlgn="base">
              <a:lnSpc>
                <a:spcPct val="90000"/>
              </a:lnSpc>
              <a:spcBef>
                <a:spcPts val="300"/>
              </a:spcBef>
              <a:spcAft>
                <a:spcPts val="300"/>
              </a:spcAft>
              <a:buClr>
                <a:schemeClr val="accent1"/>
              </a:buClr>
              <a:buFont typeface="Wingdings 2" pitchFamily="18" charset="2"/>
              <a:buNone/>
              <a:defRPr sz="2200" kern="1200">
                <a:solidFill>
                  <a:srgbClr val="262626"/>
                </a:solidFill>
                <a:latin typeface="+mn-lt"/>
                <a:ea typeface="+mn-ea"/>
                <a:cs typeface="+mn-cs"/>
              </a:defRPr>
            </a:lvl3pPr>
            <a:lvl4pPr marL="1371600" indent="0" algn="ctr" rtl="0" fontAlgn="base">
              <a:lnSpc>
                <a:spcPct val="90000"/>
              </a:lnSpc>
              <a:spcBef>
                <a:spcPts val="300"/>
              </a:spcBef>
              <a:spcAft>
                <a:spcPts val="300"/>
              </a:spcAft>
              <a:buClr>
                <a:schemeClr val="accent1"/>
              </a:buClr>
              <a:buFont typeface="Wingdings 2" pitchFamily="18" charset="2"/>
              <a:buNone/>
              <a:defRPr sz="2000" kern="1200">
                <a:solidFill>
                  <a:srgbClr val="262626"/>
                </a:solidFill>
                <a:latin typeface="+mn-lt"/>
                <a:ea typeface="+mn-ea"/>
                <a:cs typeface="+mn-cs"/>
              </a:defRPr>
            </a:lvl4pPr>
            <a:lvl5pPr marL="1828800" indent="0" algn="ctr" rtl="0" fontAlgn="base">
              <a:lnSpc>
                <a:spcPct val="90000"/>
              </a:lnSpc>
              <a:spcBef>
                <a:spcPts val="300"/>
              </a:spcBef>
              <a:spcAft>
                <a:spcPts val="300"/>
              </a:spcAft>
              <a:buClr>
                <a:schemeClr val="accent1"/>
              </a:buClr>
              <a:buFont typeface="Wingdings 2" pitchFamily="18" charset="2"/>
              <a:buNone/>
              <a:defRPr sz="2000" kern="1200">
                <a:solidFill>
                  <a:srgbClr val="262626"/>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pPr defTabSz="914400" fontAlgn="auto">
              <a:buFont typeface="Arial" pitchFamily="34" charset="0"/>
              <a:buNone/>
              <a:defRPr/>
            </a:pPr>
            <a:endParaRPr lang="en-GB" dirty="0"/>
          </a:p>
          <a:p>
            <a:pPr defTabSz="914400" fontAlgn="auto">
              <a:buFont typeface="Arial" pitchFamily="34" charset="0"/>
              <a:buNone/>
              <a:defRPr/>
            </a:pPr>
            <a:r>
              <a:rPr lang="en-GB" sz="3600" dirty="0"/>
              <a:t>Virginia Woolf, F. Scott Fitzgerald, </a:t>
            </a:r>
          </a:p>
          <a:p>
            <a:pPr defTabSz="914400" fontAlgn="auto">
              <a:buFont typeface="Arial" pitchFamily="34" charset="0"/>
              <a:buNone/>
              <a:defRPr/>
            </a:pPr>
            <a:r>
              <a:rPr lang="en-GB" sz="3600" dirty="0"/>
              <a:t>and James Joyce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rrowheads="1"/>
          </p:cNvSpPr>
          <p:nvPr>
            <p:ph type="title"/>
          </p:nvPr>
        </p:nvSpPr>
        <p:spPr>
          <a:xfrm>
            <a:off x="622852" y="821094"/>
            <a:ext cx="5473148" cy="1082351"/>
          </a:xfrm>
        </p:spPr>
        <p:txBody>
          <a:bodyPr>
            <a:normAutofit fontScale="90000"/>
          </a:bodyPr>
          <a:lstStyle/>
          <a:p>
            <a:pPr eaLnBrk="1" hangingPunct="1">
              <a:defRPr/>
            </a:pPr>
            <a:r>
              <a:rPr lang="en-US" altLang="zh-CN" sz="3200" cap="none" dirty="0">
                <a:latin typeface="+mn-lt"/>
              </a:rPr>
              <a:t>1912 – Titanic: technological advancement, hubris, and disaster</a:t>
            </a:r>
          </a:p>
        </p:txBody>
      </p:sp>
      <p:pic>
        <p:nvPicPr>
          <p:cNvPr id="2" name="Content Placeholder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9402" y="1903445"/>
            <a:ext cx="4757944" cy="3505019"/>
          </a:xfrm>
        </p:spPr>
      </p:pic>
      <p:sp>
        <p:nvSpPr>
          <p:cNvPr id="5" name="Rectangle 2">
            <a:extLst>
              <a:ext uri="{FF2B5EF4-FFF2-40B4-BE49-F238E27FC236}">
                <a16:creationId xmlns:a16="http://schemas.microsoft.com/office/drawing/2014/main" id="{E865A885-CF01-7F59-8B4A-57462F4C2719}"/>
              </a:ext>
            </a:extLst>
          </p:cNvPr>
          <p:cNvSpPr txBox="1">
            <a:spLocks noRot="1" noChangeArrowheads="1"/>
          </p:cNvSpPr>
          <p:nvPr/>
        </p:nvSpPr>
        <p:spPr>
          <a:xfrm>
            <a:off x="1420498" y="5034548"/>
            <a:ext cx="4946089" cy="1456267"/>
          </a:xfrm>
          <a:prstGeom prst="rect">
            <a:avLst/>
          </a:prstGeom>
        </p:spPr>
        <p:txBody>
          <a:bodyPr vert="horz" lIns="91440" tIns="45720" rIns="91440" bIns="45720" rtlCol="0" anchor="b">
            <a:normAutofit/>
          </a:bodyPr>
          <a:lstStyle>
            <a:lvl1pPr algn="l" rtl="0" fontAlgn="base">
              <a:lnSpc>
                <a:spcPct val="90000"/>
              </a:lnSpc>
              <a:spcBef>
                <a:spcPct val="0"/>
              </a:spcBef>
              <a:spcAft>
                <a:spcPct val="0"/>
              </a:spcAft>
              <a:defRPr sz="4400" kern="1200" spc="-5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entury Schoolbook" pitchFamily="18" charset="0"/>
              </a:defRPr>
            </a:lvl2pPr>
            <a:lvl3pPr algn="l" rtl="0" fontAlgn="base">
              <a:lnSpc>
                <a:spcPct val="90000"/>
              </a:lnSpc>
              <a:spcBef>
                <a:spcPct val="0"/>
              </a:spcBef>
              <a:spcAft>
                <a:spcPct val="0"/>
              </a:spcAft>
              <a:defRPr sz="4400">
                <a:solidFill>
                  <a:schemeClr val="tx1"/>
                </a:solidFill>
                <a:latin typeface="Century Schoolbook" pitchFamily="18" charset="0"/>
              </a:defRPr>
            </a:lvl3pPr>
            <a:lvl4pPr algn="l" rtl="0" fontAlgn="base">
              <a:lnSpc>
                <a:spcPct val="90000"/>
              </a:lnSpc>
              <a:spcBef>
                <a:spcPct val="0"/>
              </a:spcBef>
              <a:spcAft>
                <a:spcPct val="0"/>
              </a:spcAft>
              <a:defRPr sz="4400">
                <a:solidFill>
                  <a:schemeClr val="tx1"/>
                </a:solidFill>
                <a:latin typeface="Century Schoolbook" pitchFamily="18" charset="0"/>
              </a:defRPr>
            </a:lvl4pPr>
            <a:lvl5pPr algn="l" rtl="0" fontAlgn="base">
              <a:lnSpc>
                <a:spcPct val="90000"/>
              </a:lnSpc>
              <a:spcBef>
                <a:spcPct val="0"/>
              </a:spcBef>
              <a:spcAft>
                <a:spcPct val="0"/>
              </a:spcAft>
              <a:defRPr sz="4400">
                <a:solidFill>
                  <a:schemeClr val="tx1"/>
                </a:solidFill>
                <a:latin typeface="Century Schoolbook" pitchFamily="18" charset="0"/>
              </a:defRPr>
            </a:lvl5pPr>
            <a:lvl6pPr marL="457200" algn="l" rtl="0" fontAlgn="base">
              <a:lnSpc>
                <a:spcPct val="90000"/>
              </a:lnSpc>
              <a:spcBef>
                <a:spcPct val="0"/>
              </a:spcBef>
              <a:spcAft>
                <a:spcPct val="0"/>
              </a:spcAft>
              <a:defRPr sz="4400">
                <a:solidFill>
                  <a:schemeClr val="tx1"/>
                </a:solidFill>
                <a:latin typeface="Century Schoolbook" pitchFamily="18" charset="0"/>
              </a:defRPr>
            </a:lvl6pPr>
            <a:lvl7pPr marL="914400" algn="l" rtl="0" fontAlgn="base">
              <a:lnSpc>
                <a:spcPct val="90000"/>
              </a:lnSpc>
              <a:spcBef>
                <a:spcPct val="0"/>
              </a:spcBef>
              <a:spcAft>
                <a:spcPct val="0"/>
              </a:spcAft>
              <a:defRPr sz="4400">
                <a:solidFill>
                  <a:schemeClr val="tx1"/>
                </a:solidFill>
                <a:latin typeface="Century Schoolbook" pitchFamily="18" charset="0"/>
              </a:defRPr>
            </a:lvl7pPr>
            <a:lvl8pPr marL="1371600" algn="l" rtl="0" fontAlgn="base">
              <a:lnSpc>
                <a:spcPct val="90000"/>
              </a:lnSpc>
              <a:spcBef>
                <a:spcPct val="0"/>
              </a:spcBef>
              <a:spcAft>
                <a:spcPct val="0"/>
              </a:spcAft>
              <a:defRPr sz="4400">
                <a:solidFill>
                  <a:schemeClr val="tx1"/>
                </a:solidFill>
                <a:latin typeface="Century Schoolbook" pitchFamily="18" charset="0"/>
              </a:defRPr>
            </a:lvl8pPr>
            <a:lvl9pPr marL="1828800" algn="l" rtl="0" fontAlgn="base">
              <a:lnSpc>
                <a:spcPct val="90000"/>
              </a:lnSpc>
              <a:spcBef>
                <a:spcPct val="0"/>
              </a:spcBef>
              <a:spcAft>
                <a:spcPct val="0"/>
              </a:spcAft>
              <a:defRPr sz="4400">
                <a:solidFill>
                  <a:schemeClr val="tx1"/>
                </a:solidFill>
                <a:latin typeface="Century Schoolbook" pitchFamily="18" charset="0"/>
              </a:defRPr>
            </a:lvl9pPr>
          </a:lstStyle>
          <a:p>
            <a:pPr defTabSz="914400">
              <a:defRPr/>
            </a:pPr>
            <a:r>
              <a:rPr lang="en-US" altLang="zh-CN" sz="2800" b="1" dirty="0"/>
              <a:t>1914 - 1918  World War I, 16 million dead</a:t>
            </a:r>
          </a:p>
        </p:txBody>
      </p:sp>
      <p:pic>
        <p:nvPicPr>
          <p:cNvPr id="6" name="Picture 4" descr="61OUD00Z">
            <a:extLst>
              <a:ext uri="{FF2B5EF4-FFF2-40B4-BE49-F238E27FC236}">
                <a16:creationId xmlns:a16="http://schemas.microsoft.com/office/drawing/2014/main" id="{3ED33006-E67E-BB39-8AC7-237D976EFD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6632" y="147874"/>
            <a:ext cx="4411090" cy="3309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CambraiMarkIV(1)">
            <a:extLst>
              <a:ext uri="{FF2B5EF4-FFF2-40B4-BE49-F238E27FC236}">
                <a16:creationId xmlns:a16="http://schemas.microsoft.com/office/drawing/2014/main" id="{948B69B2-9492-CEF7-89EA-454FED35E8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7343" y="3655954"/>
            <a:ext cx="4946089" cy="3063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268892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152400"/>
            <a:ext cx="10131425" cy="1456267"/>
          </a:xfrm>
        </p:spPr>
        <p:txBody>
          <a:bodyPr>
            <a:normAutofit/>
          </a:bodyPr>
          <a:lstStyle/>
          <a:p>
            <a:r>
              <a:rPr lang="en-US" sz="4000" dirty="0"/>
              <a:t>1922 – </a:t>
            </a:r>
            <a:r>
              <a:rPr lang="en-US" sz="4000" i="1" cap="none" dirty="0"/>
              <a:t>The Waste Land  </a:t>
            </a:r>
            <a:br>
              <a:rPr lang="en-US" sz="4000" i="1" cap="none" dirty="0"/>
            </a:br>
            <a:r>
              <a:rPr lang="en-US" sz="4000" cap="none" dirty="0"/>
              <a:t>by</a:t>
            </a:r>
            <a:r>
              <a:rPr lang="en-US" sz="4000" i="1" cap="none" dirty="0"/>
              <a:t> </a:t>
            </a:r>
            <a:r>
              <a:rPr lang="en-US" sz="4000" cap="none" dirty="0"/>
              <a:t>T. S. Eliot (1888–1965) </a:t>
            </a:r>
          </a:p>
        </p:txBody>
      </p:sp>
      <p:sp>
        <p:nvSpPr>
          <p:cNvPr id="3" name="Content Placeholder 2"/>
          <p:cNvSpPr>
            <a:spLocks noGrp="1"/>
          </p:cNvSpPr>
          <p:nvPr>
            <p:ph idx="1"/>
          </p:nvPr>
        </p:nvSpPr>
        <p:spPr>
          <a:xfrm>
            <a:off x="503044" y="2100749"/>
            <a:ext cx="5910552" cy="3649133"/>
          </a:xfrm>
        </p:spPr>
        <p:txBody>
          <a:bodyPr>
            <a:noAutofit/>
          </a:bodyPr>
          <a:lstStyle/>
          <a:p>
            <a:pPr marL="0" indent="0">
              <a:buNone/>
            </a:pPr>
            <a:r>
              <a:rPr lang="en-US" sz="2000" dirty="0"/>
              <a:t>What is that sound high in the air</a:t>
            </a:r>
            <a:br>
              <a:rPr lang="en-US" sz="2000" dirty="0"/>
            </a:br>
            <a:r>
              <a:rPr lang="en-US" sz="2000" dirty="0"/>
              <a:t>Murmur of maternal lamentation</a:t>
            </a:r>
            <a:br>
              <a:rPr lang="en-US" sz="2000" dirty="0"/>
            </a:br>
            <a:r>
              <a:rPr lang="en-US" sz="2000" dirty="0"/>
              <a:t>Who are those hooded hordes swarming</a:t>
            </a:r>
            <a:br>
              <a:rPr lang="en-US" sz="2000" dirty="0"/>
            </a:br>
            <a:r>
              <a:rPr lang="en-US" sz="2000" dirty="0"/>
              <a:t>Over endless plains, stumbling in cracked earth</a:t>
            </a:r>
            <a:br>
              <a:rPr lang="en-US" sz="2000" dirty="0"/>
            </a:br>
            <a:r>
              <a:rPr lang="en-US" sz="2000" dirty="0"/>
              <a:t>Ringed by the flat horizon only  370</a:t>
            </a:r>
            <a:br>
              <a:rPr lang="en-US" sz="2000" dirty="0"/>
            </a:br>
            <a:r>
              <a:rPr lang="en-US" sz="2000" dirty="0"/>
              <a:t>What is the city over the mountains</a:t>
            </a:r>
            <a:br>
              <a:rPr lang="en-US" sz="2000" dirty="0"/>
            </a:br>
            <a:r>
              <a:rPr lang="en-US" sz="2000" dirty="0"/>
              <a:t>Cracks and reforms and bursts in the violet air</a:t>
            </a:r>
            <a:br>
              <a:rPr lang="en-US" sz="2000" dirty="0"/>
            </a:br>
            <a:r>
              <a:rPr lang="en-US" sz="2000" dirty="0"/>
              <a:t>Falling towers</a:t>
            </a:r>
            <a:br>
              <a:rPr lang="en-US" sz="2000" dirty="0"/>
            </a:br>
            <a:r>
              <a:rPr lang="en-US" sz="2000" dirty="0"/>
              <a:t>Jerusalem Athens Alexandria</a:t>
            </a:r>
            <a:br>
              <a:rPr lang="en-US" sz="2000" dirty="0"/>
            </a:br>
            <a:r>
              <a:rPr lang="en-US" sz="2000" dirty="0"/>
              <a:t>Vienna London	  375</a:t>
            </a:r>
            <a:br>
              <a:rPr lang="en-US" sz="2000" dirty="0"/>
            </a:br>
            <a:r>
              <a:rPr lang="en-US" sz="2000" dirty="0"/>
              <a:t>Unreal</a:t>
            </a:r>
          </a:p>
          <a:p>
            <a:endParaRPr lang="en-US" sz="2200" dirty="0"/>
          </a:p>
        </p:txBody>
      </p:sp>
      <p:sp>
        <p:nvSpPr>
          <p:cNvPr id="4" name="TextBox 3"/>
          <p:cNvSpPr txBox="1"/>
          <p:nvPr/>
        </p:nvSpPr>
        <p:spPr>
          <a:xfrm>
            <a:off x="4551700" y="4512444"/>
            <a:ext cx="6932645" cy="2739211"/>
          </a:xfrm>
          <a:prstGeom prst="rect">
            <a:avLst/>
          </a:prstGeom>
          <a:noFill/>
        </p:spPr>
        <p:txBody>
          <a:bodyPr wrap="square" rtlCol="0">
            <a:spAutoFit/>
          </a:bodyPr>
          <a:lstStyle/>
          <a:p>
            <a:r>
              <a:rPr lang="en-US" sz="2000" dirty="0">
                <a:latin typeface="+mn-lt"/>
              </a:rPr>
              <a:t>……</a:t>
            </a:r>
          </a:p>
          <a:p>
            <a:endParaRPr lang="en-US" sz="1050" dirty="0">
              <a:latin typeface="+mn-lt"/>
            </a:endParaRPr>
          </a:p>
          <a:p>
            <a:r>
              <a:rPr lang="en-US" sz="2000" dirty="0">
                <a:latin typeface="+mn-lt"/>
              </a:rPr>
              <a:t>I sat upon the shore</a:t>
            </a:r>
            <a:br>
              <a:rPr lang="en-US" sz="2000" dirty="0">
                <a:latin typeface="+mn-lt"/>
              </a:rPr>
            </a:br>
            <a:r>
              <a:rPr lang="en-US" sz="2000" dirty="0">
                <a:latin typeface="+mn-lt"/>
              </a:rPr>
              <a:t>Fishing, with the arid plain behind me</a:t>
            </a:r>
            <a:br>
              <a:rPr lang="en-US" sz="2000" dirty="0">
                <a:latin typeface="+mn-lt"/>
              </a:rPr>
            </a:br>
            <a:r>
              <a:rPr lang="en-US" sz="2000" dirty="0">
                <a:latin typeface="+mn-lt"/>
              </a:rPr>
              <a:t>Shall I at least set my lands in order?		425</a:t>
            </a:r>
            <a:br>
              <a:rPr lang="en-US" sz="2000" dirty="0">
                <a:latin typeface="+mn-lt"/>
              </a:rPr>
            </a:br>
            <a:r>
              <a:rPr lang="en-US" sz="2000" dirty="0">
                <a:latin typeface="+mn-lt"/>
              </a:rPr>
              <a:t>London Bridge is falling down falling down falling down</a:t>
            </a:r>
          </a:p>
          <a:p>
            <a:r>
              <a:rPr lang="en-US" sz="2000" dirty="0">
                <a:latin typeface="+mn-lt"/>
              </a:rPr>
              <a:t>……</a:t>
            </a:r>
          </a:p>
          <a:p>
            <a:endParaRPr lang="en-US" sz="2200" dirty="0">
              <a:latin typeface="+mn-lt"/>
            </a:endParaRPr>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40003" y="1675685"/>
            <a:ext cx="1478020" cy="2199005"/>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44430" y="1130046"/>
            <a:ext cx="3980688" cy="2814471"/>
          </a:xfrm>
          <a:prstGeom prst="rect">
            <a:avLst/>
          </a:prstGeom>
        </p:spPr>
      </p:pic>
      <p:sp>
        <p:nvSpPr>
          <p:cNvPr id="6" name="TextBox 5">
            <a:extLst>
              <a:ext uri="{FF2B5EF4-FFF2-40B4-BE49-F238E27FC236}">
                <a16:creationId xmlns:a16="http://schemas.microsoft.com/office/drawing/2014/main" id="{1690AB56-9B26-BA25-1814-AF1CF022B355}"/>
              </a:ext>
            </a:extLst>
          </p:cNvPr>
          <p:cNvSpPr txBox="1"/>
          <p:nvPr/>
        </p:nvSpPr>
        <p:spPr>
          <a:xfrm>
            <a:off x="7651102" y="422160"/>
            <a:ext cx="3404824" cy="707886"/>
          </a:xfrm>
          <a:prstGeom prst="rect">
            <a:avLst/>
          </a:prstGeom>
          <a:noFill/>
        </p:spPr>
        <p:txBody>
          <a:bodyPr wrap="square" rtlCol="0">
            <a:spAutoFit/>
          </a:bodyPr>
          <a:lstStyle/>
          <a:p>
            <a:r>
              <a:rPr lang="en-GB" sz="2000" dirty="0"/>
              <a:t>“‘No Man’s Land – once a forest ‘in Flanders Fields’”</a:t>
            </a:r>
          </a:p>
        </p:txBody>
      </p:sp>
    </p:spTree>
    <p:extLst>
      <p:ext uri="{BB962C8B-B14F-4D97-AF65-F5344CB8AC3E}">
        <p14:creationId xmlns:p14="http://schemas.microsoft.com/office/powerpoint/2010/main" val="2296247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1C186-8AF3-4F15-A44E-D39847C1FD12}"/>
              </a:ext>
            </a:extLst>
          </p:cNvPr>
          <p:cNvSpPr>
            <a:spLocks noGrp="1"/>
          </p:cNvSpPr>
          <p:nvPr>
            <p:ph type="title"/>
          </p:nvPr>
        </p:nvSpPr>
        <p:spPr>
          <a:xfrm>
            <a:off x="750021" y="335901"/>
            <a:ext cx="10131425" cy="844154"/>
          </a:xfrm>
        </p:spPr>
        <p:txBody>
          <a:bodyPr>
            <a:normAutofit/>
          </a:bodyPr>
          <a:lstStyle/>
          <a:p>
            <a:r>
              <a:rPr lang="en-GB" sz="4400" cap="none" dirty="0"/>
              <a:t>The Lost Generation</a:t>
            </a:r>
          </a:p>
        </p:txBody>
      </p:sp>
      <p:sp>
        <p:nvSpPr>
          <p:cNvPr id="3" name="Content Placeholder 2">
            <a:extLst>
              <a:ext uri="{FF2B5EF4-FFF2-40B4-BE49-F238E27FC236}">
                <a16:creationId xmlns:a16="http://schemas.microsoft.com/office/drawing/2014/main" id="{22D813CA-E7E0-418F-A257-600129D2DD73}"/>
              </a:ext>
            </a:extLst>
          </p:cNvPr>
          <p:cNvSpPr>
            <a:spLocks noGrp="1"/>
          </p:cNvSpPr>
          <p:nvPr>
            <p:ph idx="1"/>
          </p:nvPr>
        </p:nvSpPr>
        <p:spPr>
          <a:xfrm>
            <a:off x="471197" y="1606007"/>
            <a:ext cx="8444551" cy="2734101"/>
          </a:xfrm>
        </p:spPr>
        <p:txBody>
          <a:bodyPr>
            <a:noAutofit/>
          </a:bodyPr>
          <a:lstStyle/>
          <a:p>
            <a:r>
              <a:rPr lang="en-GB" sz="2400" dirty="0"/>
              <a:t>Gertrude Stein and Ernest Hemingway made the term widely known in America and beyond.</a:t>
            </a:r>
          </a:p>
          <a:p>
            <a:endParaRPr lang="en-GB" sz="1100" dirty="0"/>
          </a:p>
          <a:p>
            <a:r>
              <a:rPr lang="en-GB" sz="2400" dirty="0"/>
              <a:t>In 1917 one million women worked in British factory jobs. Many of the men never came home.</a:t>
            </a:r>
          </a:p>
          <a:p>
            <a:endParaRPr lang="en-GB" sz="1100" dirty="0"/>
          </a:p>
          <a:p>
            <a:r>
              <a:rPr lang="en-GB" sz="2400" dirty="0"/>
              <a:t>Many upper-class young officers died, leading to class changes.</a:t>
            </a:r>
          </a:p>
          <a:p>
            <a:endParaRPr lang="en-GB" sz="1100" dirty="0"/>
          </a:p>
          <a:p>
            <a:r>
              <a:rPr lang="en-GB" sz="2400" dirty="0"/>
              <a:t>The effects of war changed the generation, leaving many with disabilities and mental health problems.</a:t>
            </a:r>
          </a:p>
        </p:txBody>
      </p:sp>
      <p:pic>
        <p:nvPicPr>
          <p:cNvPr id="5" name="Picture 4" descr="A person standing in front of a sign&#10;&#10;Description automatically generated">
            <a:extLst>
              <a:ext uri="{FF2B5EF4-FFF2-40B4-BE49-F238E27FC236}">
                <a16:creationId xmlns:a16="http://schemas.microsoft.com/office/drawing/2014/main" id="{9B85FBBF-6F79-4078-BAF8-7099BED60B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264912" y="3495572"/>
            <a:ext cx="2221548" cy="3271795"/>
          </a:xfrm>
          <a:prstGeom prst="rect">
            <a:avLst/>
          </a:prstGeom>
        </p:spPr>
      </p:pic>
      <p:pic>
        <p:nvPicPr>
          <p:cNvPr id="10" name="Picture 9" descr="A sign in a field&#10;&#10;Description automatically generated">
            <a:extLst>
              <a:ext uri="{FF2B5EF4-FFF2-40B4-BE49-F238E27FC236}">
                <a16:creationId xmlns:a16="http://schemas.microsoft.com/office/drawing/2014/main" id="{3D7EE019-B842-4DE1-836A-D91738B260D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4912" y="171658"/>
            <a:ext cx="2177067" cy="3257322"/>
          </a:xfrm>
          <a:prstGeom prst="rect">
            <a:avLst/>
          </a:prstGeom>
        </p:spPr>
      </p:pic>
    </p:spTree>
    <p:extLst>
      <p:ext uri="{BB962C8B-B14F-4D97-AF65-F5344CB8AC3E}">
        <p14:creationId xmlns:p14="http://schemas.microsoft.com/office/powerpoint/2010/main" val="2864154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8805" y="291401"/>
            <a:ext cx="10131425" cy="796777"/>
          </a:xfrm>
        </p:spPr>
        <p:txBody>
          <a:bodyPr>
            <a:normAutofit/>
          </a:bodyPr>
          <a:lstStyle/>
          <a:p>
            <a:r>
              <a:rPr lang="en-US" sz="4000" dirty="0"/>
              <a:t>Paris in the 1920s</a:t>
            </a:r>
          </a:p>
        </p:txBody>
      </p:sp>
      <p:sp>
        <p:nvSpPr>
          <p:cNvPr id="3" name="Content Placeholder 2"/>
          <p:cNvSpPr>
            <a:spLocks noGrp="1"/>
          </p:cNvSpPr>
          <p:nvPr>
            <p:ph idx="1"/>
          </p:nvPr>
        </p:nvSpPr>
        <p:spPr>
          <a:xfrm>
            <a:off x="315421" y="1376104"/>
            <a:ext cx="6458989" cy="3649133"/>
          </a:xfrm>
        </p:spPr>
        <p:txBody>
          <a:bodyPr>
            <a:noAutofit/>
          </a:bodyPr>
          <a:lstStyle/>
          <a:p>
            <a:r>
              <a:rPr lang="en-US" sz="2600" dirty="0"/>
              <a:t>Gertrude Stein (1874-1946), an influential modernist, collected post-impressionist art, and set up a ‘salon’ in Paris, promoting writers such as Hemingway and Fitzgerald.</a:t>
            </a:r>
          </a:p>
          <a:p>
            <a:endParaRPr lang="en-US" sz="1200" dirty="0"/>
          </a:p>
          <a:p>
            <a:r>
              <a:rPr lang="en-US" sz="2600" dirty="0"/>
              <a:t>This decade is sometimes termed, ‘the roaring twenties’.</a:t>
            </a:r>
          </a:p>
          <a:p>
            <a:endParaRPr lang="en-US" sz="1200" dirty="0"/>
          </a:p>
          <a:p>
            <a:r>
              <a:rPr lang="en-US" sz="2600" dirty="0"/>
              <a:t>Both writers would write of the excesses of the time, and the struggle to find meaning – ‘the lost generation’.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95426" y="977716"/>
            <a:ext cx="2639414" cy="2644767"/>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4410" y="3910409"/>
            <a:ext cx="4289829" cy="2741620"/>
          </a:xfrm>
          <a:prstGeom prst="rect">
            <a:avLst/>
          </a:prstGeom>
        </p:spPr>
      </p:pic>
    </p:spTree>
    <p:extLst>
      <p:ext uri="{BB962C8B-B14F-4D97-AF65-F5344CB8AC3E}">
        <p14:creationId xmlns:p14="http://schemas.microsoft.com/office/powerpoint/2010/main" val="170147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0408" y="3325123"/>
            <a:ext cx="4202698" cy="3148688"/>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8082" y="157940"/>
            <a:ext cx="4209144" cy="3258692"/>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84091" y="843429"/>
            <a:ext cx="4611503" cy="2033847"/>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68415" y="3688685"/>
            <a:ext cx="4209144" cy="2785126"/>
          </a:xfrm>
          <a:prstGeom prst="rect">
            <a:avLst/>
          </a:prstGeom>
        </p:spPr>
      </p:pic>
    </p:spTree>
    <p:extLst>
      <p:ext uri="{BB962C8B-B14F-4D97-AF65-F5344CB8AC3E}">
        <p14:creationId xmlns:p14="http://schemas.microsoft.com/office/powerpoint/2010/main" val="2782982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ctrTitle"/>
          </p:nvPr>
        </p:nvSpPr>
        <p:spPr/>
        <p:txBody>
          <a:bodyPr/>
          <a:lstStyle/>
          <a:p>
            <a:pPr algn="ctr" eaLnBrk="1" hangingPunct="1">
              <a:defRPr/>
            </a:pPr>
            <a:r>
              <a:rPr lang="en-US" altLang="zh-CN" dirty="0"/>
              <a:t>Modernist Change – Evident in the arts and architecture</a:t>
            </a:r>
          </a:p>
        </p:txBody>
      </p:sp>
      <p:sp>
        <p:nvSpPr>
          <p:cNvPr id="86019" name="Rectangle 3"/>
          <p:cNvSpPr>
            <a:spLocks noGrp="1" noChangeArrowheads="1"/>
          </p:cNvSpPr>
          <p:nvPr>
            <p:ph type="subTitle" idx="1"/>
          </p:nvPr>
        </p:nvSpPr>
        <p:spPr/>
        <p:txBody>
          <a:bodyPr/>
          <a:lstStyle/>
          <a:p>
            <a:pPr eaLnBrk="1" hangingPunct="1">
              <a:defRPr/>
            </a:pPr>
            <a:endParaRPr lang="zh-CN" altLang="en-US" dirty="0"/>
          </a:p>
        </p:txBody>
      </p:sp>
    </p:spTree>
    <p:extLst>
      <p:ext uri="{BB962C8B-B14F-4D97-AF65-F5344CB8AC3E}">
        <p14:creationId xmlns:p14="http://schemas.microsoft.com/office/powerpoint/2010/main" val="1786709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rrowheads="1"/>
          </p:cNvSpPr>
          <p:nvPr>
            <p:ph type="title"/>
          </p:nvPr>
        </p:nvSpPr>
        <p:spPr>
          <a:xfrm>
            <a:off x="1299401" y="-37319"/>
            <a:ext cx="9615423" cy="1143000"/>
          </a:xfrm>
        </p:spPr>
        <p:txBody>
          <a:bodyPr>
            <a:normAutofit/>
          </a:bodyPr>
          <a:lstStyle/>
          <a:p>
            <a:pPr eaLnBrk="1" hangingPunct="1">
              <a:defRPr/>
            </a:pPr>
            <a:r>
              <a:rPr lang="en-US" altLang="zh-CN" sz="4000" dirty="0"/>
              <a:t>1837 </a:t>
            </a:r>
            <a:r>
              <a:rPr lang="en-US" altLang="zh-CN" sz="4000" dirty="0">
                <a:latin typeface="Arial"/>
              </a:rPr>
              <a:t>–</a:t>
            </a:r>
            <a:r>
              <a:rPr lang="en-US" altLang="zh-CN" sz="4000" dirty="0"/>
              <a:t> John Constable </a:t>
            </a:r>
            <a:r>
              <a:rPr lang="en-US" altLang="zh-CN" sz="4000" dirty="0">
                <a:latin typeface="Arial"/>
              </a:rPr>
              <a:t>–</a:t>
            </a:r>
            <a:r>
              <a:rPr lang="en-US" altLang="zh-CN" sz="4000" dirty="0"/>
              <a:t> Romantic era </a:t>
            </a:r>
          </a:p>
        </p:txBody>
      </p:sp>
      <p:sp>
        <p:nvSpPr>
          <p:cNvPr id="87043" name="Rectangle 3"/>
          <p:cNvSpPr>
            <a:spLocks noGrp="1" noChangeArrowheads="1"/>
          </p:cNvSpPr>
          <p:nvPr>
            <p:ph idx="1"/>
          </p:nvPr>
        </p:nvSpPr>
        <p:spPr>
          <a:xfrm>
            <a:off x="1992313" y="1628776"/>
            <a:ext cx="8229600" cy="4525963"/>
          </a:xfrm>
        </p:spPr>
        <p:txBody>
          <a:bodyPr/>
          <a:lstStyle/>
          <a:p>
            <a:pPr eaLnBrk="1" hangingPunct="1">
              <a:defRPr/>
            </a:pPr>
            <a:endParaRPr lang="zh-CN" altLang="en-US"/>
          </a:p>
        </p:txBody>
      </p:sp>
      <p:pic>
        <p:nvPicPr>
          <p:cNvPr id="70659" name="Picture 4" descr="John Constable - Dedham Lock and Mi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7030" y="1180326"/>
            <a:ext cx="7845506" cy="5572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97710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rrowheads="1"/>
          </p:cNvSpPr>
          <p:nvPr>
            <p:ph type="title"/>
          </p:nvPr>
        </p:nvSpPr>
        <p:spPr>
          <a:xfrm>
            <a:off x="639925" y="0"/>
            <a:ext cx="10912150" cy="1456267"/>
          </a:xfrm>
        </p:spPr>
        <p:txBody>
          <a:bodyPr>
            <a:normAutofit/>
          </a:bodyPr>
          <a:lstStyle/>
          <a:p>
            <a:pPr eaLnBrk="1" hangingPunct="1">
              <a:defRPr/>
            </a:pPr>
            <a:r>
              <a:rPr lang="en-US" altLang="zh-CN" sz="3600" cap="none" dirty="0"/>
              <a:t>1895 - The Lumiere brothers make the first films</a:t>
            </a:r>
          </a:p>
        </p:txBody>
      </p:sp>
      <p:sp>
        <p:nvSpPr>
          <p:cNvPr id="74755" name="Rectangle 3"/>
          <p:cNvSpPr>
            <a:spLocks noGrp="1" noChangeArrowheads="1"/>
          </p:cNvSpPr>
          <p:nvPr>
            <p:ph idx="1"/>
          </p:nvPr>
        </p:nvSpPr>
        <p:spPr>
          <a:xfrm>
            <a:off x="0" y="1778902"/>
            <a:ext cx="11558099" cy="846138"/>
          </a:xfrm>
        </p:spPr>
        <p:txBody>
          <a:bodyPr>
            <a:normAutofit/>
          </a:bodyPr>
          <a:lstStyle/>
          <a:p>
            <a:pPr eaLnBrk="1" hangingPunct="1">
              <a:defRPr/>
            </a:pPr>
            <a:r>
              <a:rPr lang="en-GB" altLang="zh-CN" sz="2400" dirty="0"/>
              <a:t>The new technology could record an impression of reality exactly. </a:t>
            </a:r>
            <a:endParaRPr lang="zh-CN" altLang="en-US" sz="2400" dirty="0"/>
          </a:p>
        </p:txBody>
      </p:sp>
      <p:pic>
        <p:nvPicPr>
          <p:cNvPr id="57347" name="Picture 4" descr="download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6125" y="2294419"/>
            <a:ext cx="4895850" cy="3511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Lumière Brothers’ 1895 Short Film ‘Arrival of a Train’ Gets 4K Update ...">
            <a:extLst>
              <a:ext uri="{FF2B5EF4-FFF2-40B4-BE49-F238E27FC236}">
                <a16:creationId xmlns:a16="http://schemas.microsoft.com/office/drawing/2014/main" id="{E8F7C836-16EB-8ACB-124B-4437B2096D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294419"/>
            <a:ext cx="6929009" cy="351114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7D460C8A-5373-2988-7D86-242D89E6EAC2}"/>
              </a:ext>
            </a:extLst>
          </p:cNvPr>
          <p:cNvSpPr txBox="1">
            <a:spLocks noChangeArrowheads="1"/>
          </p:cNvSpPr>
          <p:nvPr/>
        </p:nvSpPr>
        <p:spPr>
          <a:xfrm>
            <a:off x="171450" y="5898009"/>
            <a:ext cx="11558099" cy="846138"/>
          </a:xfrm>
          <a:prstGeom prst="rect">
            <a:avLst/>
          </a:prstGeom>
        </p:spPr>
        <p:txBody>
          <a:bodyPr vert="horz" lIns="91440" tIns="45720" rIns="91440" bIns="45720" rtlCol="0">
            <a:noAutofit/>
          </a:bodyPr>
          <a:lstStyle>
            <a:lvl1pPr marL="182563" indent="-182563" algn="l" rtl="0" fontAlgn="base">
              <a:lnSpc>
                <a:spcPct val="95000"/>
              </a:lnSpc>
              <a:spcBef>
                <a:spcPts val="1400"/>
              </a:spcBef>
              <a:spcAft>
                <a:spcPts val="200"/>
              </a:spcAft>
              <a:buClr>
                <a:schemeClr val="accent1"/>
              </a:buClr>
              <a:buSzPct val="80000"/>
              <a:buFont typeface="Arial" charset="0"/>
              <a:buChar char="•"/>
              <a:defRPr kern="1200" spc="10">
                <a:solidFill>
                  <a:schemeClr val="tx1"/>
                </a:solidFill>
                <a:latin typeface="+mn-lt"/>
                <a:ea typeface="+mn-ea"/>
                <a:cs typeface="+mn-cs"/>
              </a:defRPr>
            </a:lvl1pPr>
            <a:lvl2pPr marL="457200" indent="-182563" algn="l" rtl="0" fontAlgn="base">
              <a:lnSpc>
                <a:spcPct val="90000"/>
              </a:lnSpc>
              <a:spcBef>
                <a:spcPts val="300"/>
              </a:spcBef>
              <a:spcAft>
                <a:spcPts val="300"/>
              </a:spcAft>
              <a:buClr>
                <a:schemeClr val="accent1"/>
              </a:buClr>
              <a:buFont typeface="Wingdings 2" pitchFamily="18" charset="2"/>
              <a:buChar char=""/>
              <a:defRPr sz="1600" kern="1200">
                <a:solidFill>
                  <a:srgbClr val="262626"/>
                </a:solidFill>
                <a:latin typeface="+mn-lt"/>
                <a:ea typeface="+mn-ea"/>
                <a:cs typeface="+mn-cs"/>
              </a:defRPr>
            </a:lvl2pPr>
            <a:lvl3pPr marL="730250" indent="-182563" algn="l" rtl="0" fontAlgn="base">
              <a:lnSpc>
                <a:spcPct val="90000"/>
              </a:lnSpc>
              <a:spcBef>
                <a:spcPts val="300"/>
              </a:spcBef>
              <a:spcAft>
                <a:spcPts val="300"/>
              </a:spcAft>
              <a:buClr>
                <a:schemeClr val="accent1"/>
              </a:buClr>
              <a:buFont typeface="Wingdings 2" pitchFamily="18" charset="2"/>
              <a:buChar char=""/>
              <a:defRPr sz="1400" kern="1200">
                <a:solidFill>
                  <a:srgbClr val="262626"/>
                </a:solidFill>
                <a:latin typeface="+mn-lt"/>
                <a:ea typeface="+mn-ea"/>
                <a:cs typeface="+mn-cs"/>
              </a:defRPr>
            </a:lvl3pPr>
            <a:lvl4pPr marL="1004888" indent="-182563" algn="l" rtl="0" fontAlgn="base">
              <a:lnSpc>
                <a:spcPct val="90000"/>
              </a:lnSpc>
              <a:spcBef>
                <a:spcPts val="300"/>
              </a:spcBef>
              <a:spcAft>
                <a:spcPts val="300"/>
              </a:spcAft>
              <a:buClr>
                <a:schemeClr val="accent1"/>
              </a:buClr>
              <a:buFont typeface="Wingdings 2" pitchFamily="18" charset="2"/>
              <a:buChar char=""/>
              <a:defRPr sz="1400" kern="1200">
                <a:solidFill>
                  <a:srgbClr val="262626"/>
                </a:solidFill>
                <a:latin typeface="+mn-lt"/>
                <a:ea typeface="+mn-ea"/>
                <a:cs typeface="+mn-cs"/>
              </a:defRPr>
            </a:lvl4pPr>
            <a:lvl5pPr marL="1279525" indent="-182563" algn="l" rtl="0" fontAlgn="base">
              <a:lnSpc>
                <a:spcPct val="90000"/>
              </a:lnSpc>
              <a:spcBef>
                <a:spcPts val="300"/>
              </a:spcBef>
              <a:spcAft>
                <a:spcPts val="300"/>
              </a:spcAft>
              <a:buClr>
                <a:schemeClr val="accent1"/>
              </a:buClr>
              <a:buFont typeface="Wingdings 2" pitchFamily="18" charset="2"/>
              <a:buChar char=""/>
              <a:defRPr sz="1400" kern="1200">
                <a:solidFill>
                  <a:srgbClr val="262626"/>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defTabSz="914400">
              <a:buNone/>
              <a:defRPr/>
            </a:pPr>
            <a:r>
              <a:rPr lang="en-GB" altLang="zh-CN" sz="2200" i="1" dirty="0"/>
              <a:t>The Arrival of a Train </a:t>
            </a:r>
            <a:r>
              <a:rPr lang="en-GB" altLang="zh-CN" sz="2200" dirty="0"/>
              <a:t>(1896)</a:t>
            </a:r>
            <a:r>
              <a:rPr lang="en-GB" altLang="zh-CN" sz="2200" i="1" dirty="0"/>
              <a:t>			Workers Leaving the Factory </a:t>
            </a:r>
            <a:r>
              <a:rPr lang="en-GB" altLang="zh-CN" sz="2200" dirty="0"/>
              <a:t>(1895)</a:t>
            </a:r>
            <a:r>
              <a:rPr lang="en-GB" altLang="zh-CN" sz="2200" i="1" dirty="0"/>
              <a:t> </a:t>
            </a:r>
            <a:endParaRPr lang="zh-CN" altLang="en-US" sz="2200" i="1" dirty="0"/>
          </a:p>
        </p:txBody>
      </p:sp>
    </p:spTree>
    <p:extLst>
      <p:ext uri="{BB962C8B-B14F-4D97-AF65-F5344CB8AC3E}">
        <p14:creationId xmlns:p14="http://schemas.microsoft.com/office/powerpoint/2010/main" val="674735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rrowheads="1"/>
          </p:cNvSpPr>
          <p:nvPr>
            <p:ph type="title"/>
          </p:nvPr>
        </p:nvSpPr>
        <p:spPr>
          <a:xfrm>
            <a:off x="387221" y="30743"/>
            <a:ext cx="10992817" cy="1456267"/>
          </a:xfrm>
        </p:spPr>
        <p:txBody>
          <a:bodyPr>
            <a:normAutofit fontScale="90000"/>
          </a:bodyPr>
          <a:lstStyle/>
          <a:p>
            <a:pPr eaLnBrk="1" hangingPunct="1">
              <a:defRPr/>
            </a:pPr>
            <a:r>
              <a:rPr lang="en-US" altLang="zh-CN" sz="4000" dirty="0"/>
              <a:t>1920 </a:t>
            </a:r>
            <a:r>
              <a:rPr lang="en-US" altLang="zh-CN" sz="4000" dirty="0">
                <a:latin typeface="Arial"/>
              </a:rPr>
              <a:t>–</a:t>
            </a:r>
            <a:r>
              <a:rPr lang="en-US" altLang="zh-CN" sz="4000" dirty="0"/>
              <a:t> </a:t>
            </a:r>
            <a:r>
              <a:rPr lang="en-US" altLang="zh-CN" sz="4000" i="1" dirty="0"/>
              <a:t>Water Lilies, </a:t>
            </a:r>
            <a:r>
              <a:rPr lang="en-US" altLang="zh-CN" sz="4000" dirty="0"/>
              <a:t>Claude Monet </a:t>
            </a:r>
            <a:r>
              <a:rPr lang="en-US" altLang="zh-CN" sz="4000" dirty="0">
                <a:latin typeface="Arial"/>
              </a:rPr>
              <a:t>–</a:t>
            </a:r>
            <a:r>
              <a:rPr lang="en-US" altLang="zh-CN" sz="4000" dirty="0"/>
              <a:t> Impressionism</a:t>
            </a:r>
            <a:br>
              <a:rPr lang="en-US" altLang="zh-CN" sz="4000" dirty="0"/>
            </a:br>
            <a:endParaRPr lang="en-US" altLang="zh-CN" sz="4000" dirty="0"/>
          </a:p>
        </p:txBody>
      </p:sp>
      <p:pic>
        <p:nvPicPr>
          <p:cNvPr id="71683" name="Picture 4" descr="Water Lilies by Claude Monet OSA09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5971" y="1128705"/>
            <a:ext cx="6835315" cy="569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2511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2FF07-39C6-4D6E-828C-E40C13F51588}"/>
              </a:ext>
            </a:extLst>
          </p:cNvPr>
          <p:cNvSpPr>
            <a:spLocks noGrp="1"/>
          </p:cNvSpPr>
          <p:nvPr>
            <p:ph type="title"/>
          </p:nvPr>
        </p:nvSpPr>
        <p:spPr>
          <a:xfrm>
            <a:off x="271669" y="93306"/>
            <a:ext cx="11304105" cy="789272"/>
          </a:xfrm>
        </p:spPr>
        <p:txBody>
          <a:bodyPr>
            <a:normAutofit/>
          </a:bodyPr>
          <a:lstStyle/>
          <a:p>
            <a:r>
              <a:rPr lang="en-GB" sz="3900" dirty="0"/>
              <a:t>1931 – </a:t>
            </a:r>
            <a:r>
              <a:rPr lang="en-GB" sz="3900" i="1" dirty="0"/>
              <a:t>The Persistence of Memory, </a:t>
            </a:r>
            <a:r>
              <a:rPr lang="en-GB" sz="3900" dirty="0"/>
              <a:t>Salvador Dali </a:t>
            </a:r>
          </a:p>
        </p:txBody>
      </p:sp>
      <p:pic>
        <p:nvPicPr>
          <p:cNvPr id="5" name="Content Placeholder 4">
            <a:extLst>
              <a:ext uri="{FF2B5EF4-FFF2-40B4-BE49-F238E27FC236}">
                <a16:creationId xmlns:a16="http://schemas.microsoft.com/office/drawing/2014/main" id="{727395CB-7D2F-4032-AB8A-269CBFDBD0F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16517" y="1420608"/>
            <a:ext cx="6958966" cy="5124673"/>
          </a:xfrm>
        </p:spPr>
      </p:pic>
    </p:spTree>
    <p:extLst>
      <p:ext uri="{BB962C8B-B14F-4D97-AF65-F5344CB8AC3E}">
        <p14:creationId xmlns:p14="http://schemas.microsoft.com/office/powerpoint/2010/main" val="3133467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rrowheads="1"/>
          </p:cNvSpPr>
          <p:nvPr>
            <p:ph type="title"/>
          </p:nvPr>
        </p:nvSpPr>
        <p:spPr>
          <a:xfrm>
            <a:off x="874643" y="462615"/>
            <a:ext cx="11162612" cy="1456267"/>
          </a:xfrm>
        </p:spPr>
        <p:txBody>
          <a:bodyPr>
            <a:normAutofit fontScale="90000"/>
          </a:bodyPr>
          <a:lstStyle/>
          <a:p>
            <a:pPr eaLnBrk="1" hangingPunct="1">
              <a:defRPr/>
            </a:pPr>
            <a:r>
              <a:rPr lang="zh-CN" altLang="en-US" sz="4000" dirty="0"/>
              <a:t>  </a:t>
            </a:r>
            <a:r>
              <a:rPr lang="en-US" altLang="zh-CN" sz="4000" cap="none" dirty="0"/>
              <a:t>Cubist Architecture in Shanghai (and Art Deco)</a:t>
            </a:r>
            <a:br>
              <a:rPr lang="en-US" altLang="zh-CN" sz="4000" cap="none" dirty="0"/>
            </a:br>
            <a:endParaRPr lang="en-US" altLang="zh-CN" sz="40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1732" y="1613925"/>
            <a:ext cx="4776005" cy="4707019"/>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0792" y="1636519"/>
            <a:ext cx="3110458" cy="4684425"/>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00" y="1613925"/>
            <a:ext cx="3989210" cy="4684425"/>
          </a:xfrm>
          <a:prstGeom prst="rect">
            <a:avLst/>
          </a:prstGeom>
        </p:spPr>
      </p:pic>
    </p:spTree>
    <p:extLst>
      <p:ext uri="{BB962C8B-B14F-4D97-AF65-F5344CB8AC3E}">
        <p14:creationId xmlns:p14="http://schemas.microsoft.com/office/powerpoint/2010/main" val="1062047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rrowheads="1"/>
          </p:cNvSpPr>
          <p:nvPr>
            <p:ph type="title"/>
          </p:nvPr>
        </p:nvSpPr>
        <p:spPr>
          <a:xfrm>
            <a:off x="1030286" y="609600"/>
            <a:ext cx="10131425" cy="1456267"/>
          </a:xfrm>
        </p:spPr>
        <p:txBody>
          <a:bodyPr>
            <a:normAutofit/>
          </a:bodyPr>
          <a:lstStyle/>
          <a:p>
            <a:pPr algn="l" eaLnBrk="1" hangingPunct="1">
              <a:defRPr/>
            </a:pPr>
            <a:r>
              <a:rPr lang="en-US" altLang="zh-CN" sz="4400" cap="none" dirty="0"/>
              <a:t>Pablo Picasso</a:t>
            </a:r>
          </a:p>
        </p:txBody>
      </p:sp>
      <p:sp>
        <p:nvSpPr>
          <p:cNvPr id="90115" name="Rectangle 3"/>
          <p:cNvSpPr>
            <a:spLocks noGrp="1" noChangeArrowheads="1"/>
          </p:cNvSpPr>
          <p:nvPr>
            <p:ph idx="1"/>
          </p:nvPr>
        </p:nvSpPr>
        <p:spPr>
          <a:xfrm>
            <a:off x="1030287" y="2168571"/>
            <a:ext cx="10131425" cy="3649133"/>
          </a:xfrm>
        </p:spPr>
        <p:txBody>
          <a:bodyPr>
            <a:noAutofit/>
          </a:bodyPr>
          <a:lstStyle/>
          <a:p>
            <a:pPr eaLnBrk="1" hangingPunct="1">
              <a:buFont typeface="Wingdings" panose="05000000000000000000" pitchFamily="2" charset="2"/>
              <a:buNone/>
              <a:defRPr/>
            </a:pPr>
            <a:r>
              <a:rPr lang="en-US" altLang="zh-CN" sz="3200" dirty="0"/>
              <a:t>1937</a:t>
            </a:r>
          </a:p>
          <a:p>
            <a:pPr eaLnBrk="1" hangingPunct="1">
              <a:buFont typeface="Wingdings" panose="05000000000000000000" pitchFamily="2" charset="2"/>
              <a:buNone/>
              <a:defRPr/>
            </a:pPr>
            <a:r>
              <a:rPr lang="en-US" altLang="zh-CN" sz="3200" dirty="0"/>
              <a:t>Cubism</a:t>
            </a:r>
          </a:p>
          <a:p>
            <a:pPr eaLnBrk="1" hangingPunct="1">
              <a:buFont typeface="Wingdings" panose="05000000000000000000" pitchFamily="2" charset="2"/>
              <a:buNone/>
              <a:defRPr/>
            </a:pPr>
            <a:endParaRPr lang="en-US" altLang="zh-CN" sz="3200" dirty="0"/>
          </a:p>
          <a:p>
            <a:pPr eaLnBrk="1" hangingPunct="1">
              <a:buFont typeface="Wingdings" panose="05000000000000000000" pitchFamily="2" charset="2"/>
              <a:buNone/>
              <a:defRPr/>
            </a:pPr>
            <a:r>
              <a:rPr lang="en-US" altLang="zh-CN" sz="3200" i="1" dirty="0">
                <a:latin typeface="Arial"/>
              </a:rPr>
              <a:t>“</a:t>
            </a:r>
            <a:r>
              <a:rPr lang="en-US" altLang="zh-CN" sz="3200" i="1" dirty="0"/>
              <a:t>It was the deep </a:t>
            </a:r>
          </a:p>
          <a:p>
            <a:pPr eaLnBrk="1" hangingPunct="1">
              <a:buFont typeface="Wingdings" panose="05000000000000000000" pitchFamily="2" charset="2"/>
              <a:buNone/>
              <a:defRPr/>
            </a:pPr>
            <a:r>
              <a:rPr lang="en-US" altLang="zh-CN" sz="3200" i="1" dirty="0"/>
              <a:t>reality, not the </a:t>
            </a:r>
          </a:p>
          <a:p>
            <a:pPr eaLnBrk="1" hangingPunct="1">
              <a:buFont typeface="Wingdings" panose="05000000000000000000" pitchFamily="2" charset="2"/>
              <a:buNone/>
              <a:defRPr/>
            </a:pPr>
            <a:r>
              <a:rPr lang="en-US" altLang="zh-CN" sz="3200" i="1" dirty="0"/>
              <a:t>superficial one.</a:t>
            </a:r>
            <a:r>
              <a:rPr lang="en-US" altLang="zh-CN" sz="3200" i="1" dirty="0">
                <a:latin typeface="Arial"/>
              </a:rPr>
              <a:t>”</a:t>
            </a:r>
            <a:r>
              <a:rPr lang="en-US" altLang="zh-CN" sz="3200" dirty="0"/>
              <a:t> </a:t>
            </a:r>
          </a:p>
        </p:txBody>
      </p:sp>
      <p:pic>
        <p:nvPicPr>
          <p:cNvPr id="73731" name="Picture 4" descr="the-weeping-wom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0362" y="0"/>
            <a:ext cx="56118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738150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GB" dirty="0"/>
              <a:t>Virginia Woolf</a:t>
            </a:r>
          </a:p>
        </p:txBody>
      </p:sp>
      <p:pic>
        <p:nvPicPr>
          <p:cNvPr id="65538" name="Content Placeholder 4"/>
          <p:cNvPicPr>
            <a:picLocks noGrp="1" noChangeAspect="1"/>
          </p:cNvPicPr>
          <p:nvPr>
            <p:ph idx="1"/>
          </p:nvPr>
        </p:nvPicPr>
        <p:blipFill>
          <a:blip r:embed="rId2"/>
          <a:srcRect/>
          <a:stretch>
            <a:fillRect/>
          </a:stretch>
        </p:blipFill>
        <p:spPr bwMode="auto">
          <a:xfrm>
            <a:off x="1262063" y="2109788"/>
            <a:ext cx="2824162" cy="4351337"/>
          </a:xfrm>
        </p:spPr>
      </p:pic>
      <p:sp>
        <p:nvSpPr>
          <p:cNvPr id="65539" name="TextBox 5"/>
          <p:cNvSpPr txBox="1">
            <a:spLocks noChangeArrowheads="1"/>
          </p:cNvSpPr>
          <p:nvPr/>
        </p:nvSpPr>
        <p:spPr bwMode="auto">
          <a:xfrm>
            <a:off x="5345113" y="2039322"/>
            <a:ext cx="4750609" cy="3970318"/>
          </a:xfrm>
          <a:prstGeom prst="rect">
            <a:avLst/>
          </a:prstGeom>
          <a:noFill/>
          <a:ln w="9525">
            <a:noFill/>
            <a:miter lim="800000"/>
            <a:headEnd/>
            <a:tailEnd/>
          </a:ln>
        </p:spPr>
        <p:txBody>
          <a:bodyPr wrap="square">
            <a:spAutoFit/>
          </a:bodyPr>
          <a:lstStyle/>
          <a:p>
            <a:r>
              <a:rPr lang="en-GB" sz="2800" dirty="0">
                <a:latin typeface="Century Schoolbook" pitchFamily="18" charset="0"/>
              </a:rPr>
              <a:t>Lived 1882 – 1941</a:t>
            </a:r>
          </a:p>
          <a:p>
            <a:endParaRPr lang="en-GB" sz="2800" dirty="0">
              <a:latin typeface="Century Schoolbook" pitchFamily="18" charset="0"/>
            </a:endParaRPr>
          </a:p>
          <a:p>
            <a:r>
              <a:rPr lang="en-GB" sz="2800" dirty="0">
                <a:latin typeface="Century Schoolbook" pitchFamily="18" charset="0"/>
              </a:rPr>
              <a:t>A British writer. </a:t>
            </a:r>
          </a:p>
          <a:p>
            <a:endParaRPr lang="en-GB" sz="2800" dirty="0">
              <a:latin typeface="Century Schoolbook" pitchFamily="18" charset="0"/>
            </a:endParaRPr>
          </a:p>
          <a:p>
            <a:r>
              <a:rPr lang="en-GB" sz="2800" dirty="0">
                <a:latin typeface="Century Schoolbook" pitchFamily="18" charset="0"/>
              </a:rPr>
              <a:t>One of the most famous modernists, and feminists.</a:t>
            </a:r>
          </a:p>
          <a:p>
            <a:endParaRPr lang="en-GB" sz="2800" dirty="0">
              <a:latin typeface="Century Schoolbook" pitchFamily="18" charset="0"/>
            </a:endParaRPr>
          </a:p>
          <a:p>
            <a:r>
              <a:rPr lang="en-GB" sz="2800" dirty="0">
                <a:latin typeface="Century Schoolbook" pitchFamily="18" charset="0"/>
              </a:rPr>
              <a:t>She committed suicide by drowning herself.</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63A88-9544-4E68-B690-EAF2AA1046CD}"/>
              </a:ext>
            </a:extLst>
          </p:cNvPr>
          <p:cNvSpPr>
            <a:spLocks noGrp="1"/>
          </p:cNvSpPr>
          <p:nvPr>
            <p:ph type="title"/>
          </p:nvPr>
        </p:nvSpPr>
        <p:spPr>
          <a:xfrm>
            <a:off x="646045" y="318052"/>
            <a:ext cx="6269740" cy="673307"/>
          </a:xfrm>
        </p:spPr>
        <p:txBody>
          <a:bodyPr>
            <a:normAutofit/>
          </a:bodyPr>
          <a:lstStyle/>
          <a:p>
            <a:r>
              <a:rPr lang="en-GB" sz="4000" cap="none" dirty="0"/>
              <a:t>Virginia Woolf  1882-1941</a:t>
            </a:r>
          </a:p>
        </p:txBody>
      </p:sp>
      <p:pic>
        <p:nvPicPr>
          <p:cNvPr id="5" name="Content Placeholder 4" descr="A person sitting on a table&#10;&#10;Description automatically generated">
            <a:extLst>
              <a:ext uri="{FF2B5EF4-FFF2-40B4-BE49-F238E27FC236}">
                <a16:creationId xmlns:a16="http://schemas.microsoft.com/office/drawing/2014/main" id="{B7D0D7C5-2358-4FB8-8B97-7E4F6E41BC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15785" y="318052"/>
            <a:ext cx="4206240" cy="2523744"/>
          </a:xfrm>
        </p:spPr>
      </p:pic>
      <p:sp>
        <p:nvSpPr>
          <p:cNvPr id="6" name="TextBox 5">
            <a:extLst>
              <a:ext uri="{FF2B5EF4-FFF2-40B4-BE49-F238E27FC236}">
                <a16:creationId xmlns:a16="http://schemas.microsoft.com/office/drawing/2014/main" id="{45C5D373-8293-4359-8E1A-20305FB47E3F}"/>
              </a:ext>
            </a:extLst>
          </p:cNvPr>
          <p:cNvSpPr txBox="1"/>
          <p:nvPr/>
        </p:nvSpPr>
        <p:spPr>
          <a:xfrm>
            <a:off x="646045" y="1181097"/>
            <a:ext cx="6067647"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srgbClr val="000000"/>
                </a:solidFill>
                <a:effectLst/>
                <a:uLnTx/>
                <a:uFillTx/>
                <a:latin typeface="Century Schoolbook"/>
                <a:ea typeface="+mn-ea"/>
                <a:cs typeface="+mn-cs"/>
              </a:rPr>
              <a:t>She is known for a style of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srgbClr val="000000"/>
                </a:solidFill>
                <a:effectLst/>
                <a:uLnTx/>
                <a:uFillTx/>
                <a:latin typeface="Century Schoolbook"/>
                <a:ea typeface="+mn-ea"/>
                <a:cs typeface="+mn-cs"/>
              </a:rPr>
              <a:t>‘stream of consciousness.’</a:t>
            </a:r>
          </a:p>
        </p:txBody>
      </p:sp>
      <p:sp>
        <p:nvSpPr>
          <p:cNvPr id="7" name="TextBox 6">
            <a:extLst>
              <a:ext uri="{FF2B5EF4-FFF2-40B4-BE49-F238E27FC236}">
                <a16:creationId xmlns:a16="http://schemas.microsoft.com/office/drawing/2014/main" id="{DF6A6500-63CA-4057-A559-0B57D2C95D5B}"/>
              </a:ext>
            </a:extLst>
          </p:cNvPr>
          <p:cNvSpPr txBox="1"/>
          <p:nvPr/>
        </p:nvSpPr>
        <p:spPr>
          <a:xfrm>
            <a:off x="503583" y="2934561"/>
            <a:ext cx="10999305" cy="38164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0000"/>
                </a:solidFill>
                <a:effectLst/>
                <a:uLnTx/>
                <a:uFillTx/>
                <a:latin typeface="Century Schoolbook"/>
                <a:ea typeface="+mn-ea"/>
                <a:cs typeface="+mn-cs"/>
              </a:rPr>
              <a:t>Excerpt from </a:t>
            </a:r>
            <a:r>
              <a:rPr kumimoji="0" lang="en-US" sz="2200" b="1" i="1" u="none" strike="noStrike" kern="1200" cap="none" spc="0" normalizeH="0" baseline="0" noProof="0" dirty="0">
                <a:ln>
                  <a:noFill/>
                </a:ln>
                <a:solidFill>
                  <a:srgbClr val="000000"/>
                </a:solidFill>
                <a:effectLst/>
                <a:uLnTx/>
                <a:uFillTx/>
                <a:latin typeface="Century Schoolbook"/>
                <a:ea typeface="+mn-ea"/>
                <a:cs typeface="+mn-cs"/>
              </a:rPr>
              <a:t>To the Lighthouse </a:t>
            </a:r>
            <a:r>
              <a:rPr kumimoji="0" lang="en-US" sz="2200" b="1" i="0" u="none" strike="noStrike" kern="1200" cap="none" spc="0" normalizeH="0" baseline="0" noProof="0" dirty="0">
                <a:ln>
                  <a:noFill/>
                </a:ln>
                <a:solidFill>
                  <a:srgbClr val="000000"/>
                </a:solidFill>
                <a:effectLst/>
                <a:uLnTx/>
                <a:uFillTx/>
                <a:latin typeface="Century Schoolbook"/>
                <a:ea typeface="+mn-ea"/>
                <a:cs typeface="+mn-cs"/>
              </a:rPr>
              <a:t>(1927) </a:t>
            </a:r>
            <a:r>
              <a:rPr kumimoji="0" lang="en-US" sz="2200" b="0" i="1" u="none" strike="noStrike" kern="1200" cap="none" spc="0" normalizeH="0" baseline="0" noProof="0" dirty="0">
                <a:ln>
                  <a:noFill/>
                </a:ln>
                <a:solidFill>
                  <a:srgbClr val="000000"/>
                </a:solidFill>
                <a:effectLst/>
                <a:uLnTx/>
                <a:uFillTx/>
                <a:latin typeface="Century Schoolbook"/>
                <a:ea typeface="+mn-ea"/>
                <a:cs typeface="+mn-cs"/>
              </a:rPr>
              <a:t>: </a:t>
            </a:r>
            <a:r>
              <a:rPr kumimoji="0" lang="en-US" sz="2200" b="0" i="0" u="none" strike="noStrike" kern="1200" cap="none" spc="0" normalizeH="0" baseline="0" noProof="0" dirty="0">
                <a:ln>
                  <a:noFill/>
                </a:ln>
                <a:solidFill>
                  <a:srgbClr val="000000"/>
                </a:solidFill>
                <a:effectLst/>
                <a:uLnTx/>
                <a:uFillTx/>
                <a:latin typeface="Century Schoolbook"/>
                <a:ea typeface="+mn-ea"/>
                <a:cs typeface="+mn-cs"/>
              </a:rPr>
              <a:t>“But it may be fine — I expect it will be fine,” said Mrs. Ramsay, making some little twist of the reddish brown stocking she was knitting, impatiently. If she finished it tonight, if they did go to the Lighthouse after all, it was to be given to the Lighthouse keeper for his little boy, who was threatened with a tuberculous hip; together with a pile of old magazines, and some tobacco, indeed, whatever she could find lying about, not really wanted, but only littering the room, to give those poor fellows, who must be bored to death sitting all day with nothing to do but polish the lamp and trim the wick and rake about on their scrap of garden, something to amuse them. For how would you like to be shut up for a whole month at a time, and possibly more in stormy weather, upon a rock the size of a tennis lawn? </a:t>
            </a:r>
            <a:endParaRPr kumimoji="0" lang="en-GB" sz="2200" b="0" i="0" u="none" strike="noStrike" kern="1200" cap="none" spc="0" normalizeH="0" baseline="0" noProof="0" dirty="0">
              <a:ln>
                <a:noFill/>
              </a:ln>
              <a:solidFill>
                <a:srgbClr val="000000"/>
              </a:solidFill>
              <a:effectLst/>
              <a:uLnTx/>
              <a:uFillTx/>
              <a:latin typeface="Century Schoolbook"/>
              <a:ea typeface="+mn-ea"/>
              <a:cs typeface="+mn-cs"/>
            </a:endParaRPr>
          </a:p>
        </p:txBody>
      </p:sp>
    </p:spTree>
    <p:extLst>
      <p:ext uri="{BB962C8B-B14F-4D97-AF65-F5344CB8AC3E}">
        <p14:creationId xmlns:p14="http://schemas.microsoft.com/office/powerpoint/2010/main" val="3573383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63A88-9544-4E68-B690-EAF2AA1046CD}"/>
              </a:ext>
            </a:extLst>
          </p:cNvPr>
          <p:cNvSpPr>
            <a:spLocks noGrp="1"/>
          </p:cNvSpPr>
          <p:nvPr>
            <p:ph type="title"/>
          </p:nvPr>
        </p:nvSpPr>
        <p:spPr>
          <a:xfrm>
            <a:off x="646045" y="318052"/>
            <a:ext cx="6269740" cy="673307"/>
          </a:xfrm>
        </p:spPr>
        <p:txBody>
          <a:bodyPr>
            <a:normAutofit/>
          </a:bodyPr>
          <a:lstStyle/>
          <a:p>
            <a:r>
              <a:rPr lang="en-GB" sz="4000" cap="none" dirty="0"/>
              <a:t>Virginia Woolf  1882-1941</a:t>
            </a:r>
          </a:p>
        </p:txBody>
      </p:sp>
      <p:pic>
        <p:nvPicPr>
          <p:cNvPr id="5" name="Content Placeholder 4" descr="A person sitting on a table&#10;&#10;Description automatically generated">
            <a:extLst>
              <a:ext uri="{FF2B5EF4-FFF2-40B4-BE49-F238E27FC236}">
                <a16:creationId xmlns:a16="http://schemas.microsoft.com/office/drawing/2014/main" id="{B7D0D7C5-2358-4FB8-8B97-7E4F6E41BC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15785" y="318052"/>
            <a:ext cx="4206240" cy="2523744"/>
          </a:xfrm>
        </p:spPr>
      </p:pic>
      <p:sp>
        <p:nvSpPr>
          <p:cNvPr id="6" name="TextBox 5">
            <a:extLst>
              <a:ext uri="{FF2B5EF4-FFF2-40B4-BE49-F238E27FC236}">
                <a16:creationId xmlns:a16="http://schemas.microsoft.com/office/drawing/2014/main" id="{45C5D373-8293-4359-8E1A-20305FB47E3F}"/>
              </a:ext>
            </a:extLst>
          </p:cNvPr>
          <p:cNvSpPr txBox="1"/>
          <p:nvPr/>
        </p:nvSpPr>
        <p:spPr>
          <a:xfrm>
            <a:off x="503583" y="1181097"/>
            <a:ext cx="10009514"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000000"/>
                </a:solidFill>
                <a:effectLst/>
                <a:uLnTx/>
                <a:uFillTx/>
                <a:latin typeface="Century Schoolbook"/>
                <a:ea typeface="+mn-ea"/>
                <a:cs typeface="+mn-cs"/>
              </a:rPr>
              <a:t>‘Free indirect discourse’: </a:t>
            </a:r>
            <a:r>
              <a:rPr kumimoji="0" lang="en-GB" sz="2400" b="0" i="0" u="none" strike="noStrike" kern="1200" cap="none" spc="0" normalizeH="0" baseline="0" noProof="0" dirty="0">
                <a:ln>
                  <a:noFill/>
                </a:ln>
                <a:solidFill>
                  <a:srgbClr val="000000"/>
                </a:solidFill>
                <a:effectLst/>
                <a:uLnTx/>
                <a:uFillTx/>
                <a:latin typeface="Century Schoolbook"/>
                <a:ea typeface="+mn-ea"/>
                <a:cs typeface="+mn-cs"/>
              </a:rPr>
              <a:t>when the                                                    narrator’s voice becomes the inner voice of                                              a character. It allows </a:t>
            </a:r>
            <a:r>
              <a:rPr kumimoji="0" lang="en-GB" sz="2400" b="1" i="0" u="none" strike="noStrike" kern="1200" cap="none" spc="0" normalizeH="0" baseline="0" noProof="0" dirty="0">
                <a:ln>
                  <a:noFill/>
                </a:ln>
                <a:solidFill>
                  <a:srgbClr val="000000"/>
                </a:solidFill>
                <a:effectLst/>
                <a:uLnTx/>
                <a:uFillTx/>
                <a:latin typeface="Century Schoolbook"/>
                <a:ea typeface="+mn-ea"/>
                <a:cs typeface="+mn-cs"/>
              </a:rPr>
              <a:t>‘interior monologue’.</a:t>
            </a:r>
          </a:p>
        </p:txBody>
      </p:sp>
      <p:sp>
        <p:nvSpPr>
          <p:cNvPr id="3" name="TextBox 2">
            <a:extLst>
              <a:ext uri="{FF2B5EF4-FFF2-40B4-BE49-F238E27FC236}">
                <a16:creationId xmlns:a16="http://schemas.microsoft.com/office/drawing/2014/main" id="{665ED226-C7EB-92B2-8DB9-11C233DEED8F}"/>
              </a:ext>
            </a:extLst>
          </p:cNvPr>
          <p:cNvSpPr txBox="1"/>
          <p:nvPr/>
        </p:nvSpPr>
        <p:spPr>
          <a:xfrm>
            <a:off x="503583" y="2934561"/>
            <a:ext cx="10999305" cy="38164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0000"/>
                </a:solidFill>
                <a:effectLst/>
                <a:uLnTx/>
                <a:uFillTx/>
                <a:latin typeface="Century Schoolbook"/>
                <a:ea typeface="+mn-ea"/>
                <a:cs typeface="+mn-cs"/>
              </a:rPr>
              <a:t>Excerpt from </a:t>
            </a:r>
            <a:r>
              <a:rPr kumimoji="0" lang="en-US" sz="2200" b="1" i="1" u="none" strike="noStrike" kern="1200" cap="none" spc="0" normalizeH="0" baseline="0" noProof="0" dirty="0">
                <a:ln>
                  <a:noFill/>
                </a:ln>
                <a:solidFill>
                  <a:srgbClr val="000000"/>
                </a:solidFill>
                <a:effectLst/>
                <a:uLnTx/>
                <a:uFillTx/>
                <a:latin typeface="Century Schoolbook"/>
                <a:ea typeface="+mn-ea"/>
                <a:cs typeface="+mn-cs"/>
              </a:rPr>
              <a:t>To the Lighthouse </a:t>
            </a:r>
            <a:r>
              <a:rPr kumimoji="0" lang="en-US" sz="2200" b="1" i="0" u="none" strike="noStrike" kern="1200" cap="none" spc="0" normalizeH="0" baseline="0" noProof="0" dirty="0">
                <a:ln>
                  <a:noFill/>
                </a:ln>
                <a:solidFill>
                  <a:srgbClr val="000000"/>
                </a:solidFill>
                <a:effectLst/>
                <a:uLnTx/>
                <a:uFillTx/>
                <a:latin typeface="Century Schoolbook"/>
                <a:ea typeface="+mn-ea"/>
                <a:cs typeface="+mn-cs"/>
              </a:rPr>
              <a:t>(1927) </a:t>
            </a:r>
            <a:r>
              <a:rPr kumimoji="0" lang="en-US" sz="2200" b="0" i="1" u="none" strike="noStrike" kern="1200" cap="none" spc="0" normalizeH="0" baseline="0" noProof="0" dirty="0">
                <a:ln>
                  <a:noFill/>
                </a:ln>
                <a:solidFill>
                  <a:srgbClr val="000000"/>
                </a:solidFill>
                <a:effectLst/>
                <a:uLnTx/>
                <a:uFillTx/>
                <a:latin typeface="Century Schoolbook"/>
                <a:ea typeface="+mn-ea"/>
                <a:cs typeface="+mn-cs"/>
              </a:rPr>
              <a:t>: </a:t>
            </a:r>
            <a:r>
              <a:rPr kumimoji="0" lang="en-US" sz="2200" b="0" i="0" u="none" strike="noStrike" kern="1200" cap="none" spc="0" normalizeH="0" baseline="0" noProof="0" dirty="0">
                <a:ln>
                  <a:noFill/>
                </a:ln>
                <a:solidFill>
                  <a:schemeClr val="accent4">
                    <a:lumMod val="75000"/>
                  </a:schemeClr>
                </a:solidFill>
                <a:effectLst/>
                <a:uLnTx/>
                <a:uFillTx/>
                <a:latin typeface="Century Schoolbook"/>
                <a:ea typeface="+mn-ea"/>
                <a:cs typeface="+mn-cs"/>
              </a:rPr>
              <a:t>“But it may be fine — I expect it will be fine,” said Mrs. Ramsay, making some little twist of the reddish brown stocking she was knitting, impatiently.</a:t>
            </a:r>
            <a:r>
              <a:rPr kumimoji="0" lang="en-US" sz="2200" b="0" i="0" u="none" strike="noStrike" kern="1200" cap="none" spc="0" normalizeH="0" baseline="0" noProof="0" dirty="0">
                <a:ln>
                  <a:noFill/>
                </a:ln>
                <a:solidFill>
                  <a:srgbClr val="FF6600"/>
                </a:solidFill>
                <a:effectLst/>
                <a:uLnTx/>
                <a:uFillTx/>
                <a:latin typeface="Century Schoolbook"/>
                <a:ea typeface="+mn-ea"/>
                <a:cs typeface="+mn-cs"/>
              </a:rPr>
              <a:t> If she finished it tonight, if they did go to the Lighthouse after all, it was to be given to the Lighthouse keeper for his little boy, who was threatened with a tuberculous hip; together with a pile of old magazines, and some tobacco, indeed, whatever she could find lying about, not really wanted, but only littering the room, to give those poor fellows, who must be bored to death sitting all day with nothing to do but polish the lamp and trim the wick and rake about on their scrap of garden, something to amuse them. For how would you like to be shut up for a whole month at a time, and possibly more in stormy weather, upon a rock the size of a tennis lawn? </a:t>
            </a:r>
            <a:endParaRPr kumimoji="0" lang="en-GB" sz="2200" b="0" i="0" u="none" strike="noStrike" kern="1200" cap="none" spc="0" normalizeH="0" baseline="0" noProof="0" dirty="0">
              <a:ln>
                <a:noFill/>
              </a:ln>
              <a:solidFill>
                <a:srgbClr val="FF6600"/>
              </a:solidFill>
              <a:effectLst/>
              <a:uLnTx/>
              <a:uFillTx/>
              <a:latin typeface="Century Schoolbook"/>
              <a:ea typeface="+mn-ea"/>
              <a:cs typeface="+mn-cs"/>
            </a:endParaRPr>
          </a:p>
        </p:txBody>
      </p:sp>
    </p:spTree>
    <p:extLst>
      <p:ext uri="{BB962C8B-B14F-4D97-AF65-F5344CB8AC3E}">
        <p14:creationId xmlns:p14="http://schemas.microsoft.com/office/powerpoint/2010/main" val="2979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1D095-119E-450B-8BF0-44F6442B0935}"/>
              </a:ext>
            </a:extLst>
          </p:cNvPr>
          <p:cNvSpPr>
            <a:spLocks noGrp="1"/>
          </p:cNvSpPr>
          <p:nvPr>
            <p:ph type="title"/>
          </p:nvPr>
        </p:nvSpPr>
        <p:spPr>
          <a:xfrm>
            <a:off x="1250156" y="166342"/>
            <a:ext cx="9691687" cy="1325563"/>
          </a:xfrm>
        </p:spPr>
        <p:txBody>
          <a:bodyPr/>
          <a:lstStyle/>
          <a:p>
            <a:r>
              <a:rPr lang="en-GB" dirty="0"/>
              <a:t>F. Scott Fitzgerald</a:t>
            </a:r>
          </a:p>
        </p:txBody>
      </p:sp>
      <p:pic>
        <p:nvPicPr>
          <p:cNvPr id="5" name="Content Placeholder 4">
            <a:extLst>
              <a:ext uri="{FF2B5EF4-FFF2-40B4-BE49-F238E27FC236}">
                <a16:creationId xmlns:a16="http://schemas.microsoft.com/office/drawing/2014/main" id="{9528971B-2245-454D-A50F-97840885340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7083" y="1697349"/>
            <a:ext cx="3422919" cy="4636500"/>
          </a:xfrm>
        </p:spPr>
      </p:pic>
      <p:sp>
        <p:nvSpPr>
          <p:cNvPr id="7" name="TextBox 6">
            <a:extLst>
              <a:ext uri="{FF2B5EF4-FFF2-40B4-BE49-F238E27FC236}">
                <a16:creationId xmlns:a16="http://schemas.microsoft.com/office/drawing/2014/main" id="{8601E61A-1976-49BA-B8C4-B54B01CEDD7F}"/>
              </a:ext>
            </a:extLst>
          </p:cNvPr>
          <p:cNvSpPr txBox="1"/>
          <p:nvPr/>
        </p:nvSpPr>
        <p:spPr>
          <a:xfrm>
            <a:off x="4638262" y="1881808"/>
            <a:ext cx="3422920" cy="5262979"/>
          </a:xfrm>
          <a:prstGeom prst="rect">
            <a:avLst/>
          </a:prstGeom>
          <a:noFill/>
        </p:spPr>
        <p:txBody>
          <a:bodyPr wrap="square" rtlCol="0">
            <a:spAutoFit/>
          </a:bodyPr>
          <a:lstStyle/>
          <a:p>
            <a:r>
              <a:rPr lang="en-GB" sz="2800" dirty="0"/>
              <a:t>Lived 1896 – 1940.</a:t>
            </a:r>
          </a:p>
          <a:p>
            <a:endParaRPr lang="en-GB" sz="2800" dirty="0"/>
          </a:p>
          <a:p>
            <a:r>
              <a:rPr lang="en-GB" sz="2800" dirty="0"/>
              <a:t>Considered a representative of ‘the lost generation’ – those who lived after World War I.</a:t>
            </a:r>
          </a:p>
          <a:p>
            <a:endParaRPr lang="en-GB" sz="2800" dirty="0"/>
          </a:p>
          <a:p>
            <a:r>
              <a:rPr lang="en-GB" sz="2800" dirty="0"/>
              <a:t>Married a socialite, Zelda ‘Fitzgerald’.</a:t>
            </a:r>
          </a:p>
          <a:p>
            <a:endParaRPr lang="en-GB" sz="2800" dirty="0"/>
          </a:p>
          <a:p>
            <a:endParaRPr lang="en-GB" sz="2800" dirty="0"/>
          </a:p>
        </p:txBody>
      </p:sp>
      <p:pic>
        <p:nvPicPr>
          <p:cNvPr id="9" name="Picture 8">
            <a:extLst>
              <a:ext uri="{FF2B5EF4-FFF2-40B4-BE49-F238E27FC236}">
                <a16:creationId xmlns:a16="http://schemas.microsoft.com/office/drawing/2014/main" id="{10D45E9F-0364-4875-8CC0-1E8FF2511D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3368" y="2030440"/>
            <a:ext cx="2838475" cy="3970318"/>
          </a:xfrm>
          <a:prstGeom prst="rect">
            <a:avLst/>
          </a:prstGeom>
        </p:spPr>
      </p:pic>
    </p:spTree>
    <p:extLst>
      <p:ext uri="{BB962C8B-B14F-4D97-AF65-F5344CB8AC3E}">
        <p14:creationId xmlns:p14="http://schemas.microsoft.com/office/powerpoint/2010/main" val="1211821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C5EB1-48FB-4D3F-AE91-76B7BBD31E31}"/>
              </a:ext>
            </a:extLst>
          </p:cNvPr>
          <p:cNvSpPr>
            <a:spLocks noGrp="1"/>
          </p:cNvSpPr>
          <p:nvPr>
            <p:ph type="title"/>
          </p:nvPr>
        </p:nvSpPr>
        <p:spPr>
          <a:xfrm>
            <a:off x="636911" y="298864"/>
            <a:ext cx="9691687" cy="1325563"/>
          </a:xfrm>
        </p:spPr>
        <p:txBody>
          <a:bodyPr/>
          <a:lstStyle/>
          <a:p>
            <a:r>
              <a:rPr lang="en-GB" i="1" dirty="0"/>
              <a:t>The Great Gatsby </a:t>
            </a:r>
            <a:r>
              <a:rPr lang="en-GB" dirty="0"/>
              <a:t>(1925)</a:t>
            </a:r>
          </a:p>
        </p:txBody>
      </p:sp>
      <p:sp>
        <p:nvSpPr>
          <p:cNvPr id="3" name="Content Placeholder 2">
            <a:extLst>
              <a:ext uri="{FF2B5EF4-FFF2-40B4-BE49-F238E27FC236}">
                <a16:creationId xmlns:a16="http://schemas.microsoft.com/office/drawing/2014/main" id="{45AB0A0E-0792-4DCA-A6F4-10F1E4CE7744}"/>
              </a:ext>
            </a:extLst>
          </p:cNvPr>
          <p:cNvSpPr>
            <a:spLocks noGrp="1"/>
          </p:cNvSpPr>
          <p:nvPr>
            <p:ph idx="1"/>
          </p:nvPr>
        </p:nvSpPr>
        <p:spPr>
          <a:xfrm>
            <a:off x="422583" y="2197021"/>
            <a:ext cx="10503175" cy="4558058"/>
          </a:xfrm>
        </p:spPr>
        <p:txBody>
          <a:bodyPr>
            <a:noAutofit/>
          </a:bodyPr>
          <a:lstStyle/>
          <a:p>
            <a:r>
              <a:rPr lang="en-GB" sz="2800" dirty="0"/>
              <a:t>Describe the character of Gatsby.</a:t>
            </a:r>
          </a:p>
          <a:p>
            <a:endParaRPr lang="en-GB" sz="2400" dirty="0"/>
          </a:p>
          <a:p>
            <a:r>
              <a:rPr lang="en-GB" sz="2800" dirty="0"/>
              <a:t>Does the writing create a sense of realism? Why or why not?</a:t>
            </a:r>
          </a:p>
          <a:p>
            <a:endParaRPr lang="en-GB" sz="2400" dirty="0"/>
          </a:p>
          <a:p>
            <a:r>
              <a:rPr lang="en-GB" sz="2800" dirty="0"/>
              <a:t>What is the symbolism of the party, of the library, and of Gatsby?</a:t>
            </a:r>
          </a:p>
        </p:txBody>
      </p:sp>
    </p:spTree>
    <p:extLst>
      <p:ext uri="{BB962C8B-B14F-4D97-AF65-F5344CB8AC3E}">
        <p14:creationId xmlns:p14="http://schemas.microsoft.com/office/powerpoint/2010/main" val="2909806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4E34A-66FA-412C-9348-002E8813AF59}"/>
              </a:ext>
            </a:extLst>
          </p:cNvPr>
          <p:cNvSpPr>
            <a:spLocks noGrp="1"/>
          </p:cNvSpPr>
          <p:nvPr>
            <p:ph type="title"/>
          </p:nvPr>
        </p:nvSpPr>
        <p:spPr>
          <a:xfrm>
            <a:off x="1250156" y="163581"/>
            <a:ext cx="9691687" cy="1325563"/>
          </a:xfrm>
        </p:spPr>
        <p:txBody>
          <a:bodyPr/>
          <a:lstStyle/>
          <a:p>
            <a:r>
              <a:rPr lang="en-GB" dirty="0"/>
              <a:t>Realism and Symbolism</a:t>
            </a:r>
          </a:p>
        </p:txBody>
      </p:sp>
      <p:pic>
        <p:nvPicPr>
          <p:cNvPr id="5" name="Content Placeholder 4" descr="A close up of a fence&#10;&#10;Description automatically generated">
            <a:extLst>
              <a:ext uri="{FF2B5EF4-FFF2-40B4-BE49-F238E27FC236}">
                <a16:creationId xmlns:a16="http://schemas.microsoft.com/office/drawing/2014/main" id="{ABA26084-847D-40C4-915F-1A5CB8DCCC6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07682" y="1723562"/>
            <a:ext cx="4164662" cy="2346627"/>
          </a:xfrm>
        </p:spPr>
      </p:pic>
      <p:pic>
        <p:nvPicPr>
          <p:cNvPr id="11" name="Picture 10" descr="A picture containing indoor, shelf, library, book&#10;&#10;Description automatically generated">
            <a:extLst>
              <a:ext uri="{FF2B5EF4-FFF2-40B4-BE49-F238E27FC236}">
                <a16:creationId xmlns:a16="http://schemas.microsoft.com/office/drawing/2014/main" id="{0F33ACC5-9DFD-4A89-B8B1-EC00DD7C21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901" y="4070189"/>
            <a:ext cx="4287078" cy="2622263"/>
          </a:xfrm>
          <a:prstGeom prst="rect">
            <a:avLst/>
          </a:prstGeom>
        </p:spPr>
      </p:pic>
      <p:pic>
        <p:nvPicPr>
          <p:cNvPr id="13" name="Picture 12" descr="A picture containing person, man, front, sitting&#10;&#10;Description automatically generated">
            <a:extLst>
              <a:ext uri="{FF2B5EF4-FFF2-40B4-BE49-F238E27FC236}">
                <a16:creationId xmlns:a16="http://schemas.microsoft.com/office/drawing/2014/main" id="{58AC88D5-776A-4330-81C1-A3A817306BA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6993" y="1724508"/>
            <a:ext cx="5143026" cy="2141588"/>
          </a:xfrm>
          <a:prstGeom prst="rect">
            <a:avLst/>
          </a:prstGeom>
        </p:spPr>
      </p:pic>
      <p:sp>
        <p:nvSpPr>
          <p:cNvPr id="14" name="TextBox 13">
            <a:extLst>
              <a:ext uri="{FF2B5EF4-FFF2-40B4-BE49-F238E27FC236}">
                <a16:creationId xmlns:a16="http://schemas.microsoft.com/office/drawing/2014/main" id="{61929D41-1E57-49C8-8C38-9BF67E1F79D0}"/>
              </a:ext>
            </a:extLst>
          </p:cNvPr>
          <p:cNvSpPr txBox="1"/>
          <p:nvPr/>
        </p:nvSpPr>
        <p:spPr>
          <a:xfrm>
            <a:off x="5542697" y="4369217"/>
            <a:ext cx="4929647" cy="2123658"/>
          </a:xfrm>
          <a:prstGeom prst="rect">
            <a:avLst/>
          </a:prstGeom>
          <a:noFill/>
        </p:spPr>
        <p:txBody>
          <a:bodyPr wrap="square" rtlCol="0">
            <a:spAutoFit/>
          </a:bodyPr>
          <a:lstStyle/>
          <a:p>
            <a:r>
              <a:rPr lang="en-GB" sz="2200" b="1" dirty="0"/>
              <a:t>Symbolism in the book and movie</a:t>
            </a:r>
            <a:r>
              <a:rPr lang="en-GB" sz="2200" dirty="0"/>
              <a:t>: The green light across the bay where Daisy lives; large eyes on an advertising billboard overlooking the road; Gatsby’s library stocked full of books, real, but never read.</a:t>
            </a:r>
          </a:p>
        </p:txBody>
      </p:sp>
    </p:spTree>
    <p:extLst>
      <p:ext uri="{BB962C8B-B14F-4D97-AF65-F5344CB8AC3E}">
        <p14:creationId xmlns:p14="http://schemas.microsoft.com/office/powerpoint/2010/main" val="697456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BE22F-8DF3-43CE-BC7F-54D138A2291B}"/>
              </a:ext>
            </a:extLst>
          </p:cNvPr>
          <p:cNvSpPr>
            <a:spLocks noGrp="1"/>
          </p:cNvSpPr>
          <p:nvPr>
            <p:ph type="title"/>
          </p:nvPr>
        </p:nvSpPr>
        <p:spPr>
          <a:xfrm>
            <a:off x="781879" y="325369"/>
            <a:ext cx="10201067" cy="1325563"/>
          </a:xfrm>
        </p:spPr>
        <p:txBody>
          <a:bodyPr/>
          <a:lstStyle/>
          <a:p>
            <a:r>
              <a:rPr lang="en-GB" dirty="0"/>
              <a:t>How do we express reality in language?</a:t>
            </a:r>
          </a:p>
        </p:txBody>
      </p:sp>
      <p:sp>
        <p:nvSpPr>
          <p:cNvPr id="3" name="Content Placeholder 2">
            <a:extLst>
              <a:ext uri="{FF2B5EF4-FFF2-40B4-BE49-F238E27FC236}">
                <a16:creationId xmlns:a16="http://schemas.microsoft.com/office/drawing/2014/main" id="{33FFA52E-EF24-4227-A9CC-FE284947C7BE}"/>
              </a:ext>
            </a:extLst>
          </p:cNvPr>
          <p:cNvSpPr>
            <a:spLocks noGrp="1"/>
          </p:cNvSpPr>
          <p:nvPr>
            <p:ph idx="1"/>
          </p:nvPr>
        </p:nvSpPr>
        <p:spPr>
          <a:xfrm>
            <a:off x="781879" y="2119658"/>
            <a:ext cx="9691686" cy="4412973"/>
          </a:xfrm>
        </p:spPr>
        <p:txBody>
          <a:bodyPr/>
          <a:lstStyle/>
          <a:p>
            <a:r>
              <a:rPr lang="en-GB" sz="2400" dirty="0"/>
              <a:t>Is it by describing exactly what we see, by observation and objectivity…? Exactly what people say and do…</a:t>
            </a:r>
          </a:p>
          <a:p>
            <a:r>
              <a:rPr lang="en-GB" sz="2400" dirty="0"/>
              <a:t>Should we take that realism and put it into a literary form and style that is more enjoyable to read?</a:t>
            </a:r>
          </a:p>
          <a:p>
            <a:r>
              <a:rPr lang="en-GB" sz="2400" dirty="0"/>
              <a:t>Is it by showing how we as individuals experience reality?  Our thought processes of reality… ‘stream of consciousness’… emotion and metaphor and simile…?</a:t>
            </a:r>
          </a:p>
          <a:p>
            <a:r>
              <a:rPr lang="en-GB" sz="2400" b="1" dirty="0"/>
              <a:t>What is the most effective structure to capture reality, real experience, and make it effective and readable? </a:t>
            </a:r>
          </a:p>
          <a:p>
            <a:endParaRPr lang="en-GB" sz="2400" dirty="0"/>
          </a:p>
          <a:p>
            <a:endParaRPr lang="en-GB" dirty="0"/>
          </a:p>
        </p:txBody>
      </p:sp>
    </p:spTree>
    <p:extLst>
      <p:ext uri="{BB962C8B-B14F-4D97-AF65-F5344CB8AC3E}">
        <p14:creationId xmlns:p14="http://schemas.microsoft.com/office/powerpoint/2010/main" val="1685721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61921-6C82-4143-9911-2865F9B01A73}"/>
              </a:ext>
            </a:extLst>
          </p:cNvPr>
          <p:cNvSpPr>
            <a:spLocks noGrp="1"/>
          </p:cNvSpPr>
          <p:nvPr>
            <p:ph type="title"/>
          </p:nvPr>
        </p:nvSpPr>
        <p:spPr>
          <a:xfrm>
            <a:off x="1238250" y="158549"/>
            <a:ext cx="9691687" cy="1325563"/>
          </a:xfrm>
        </p:spPr>
        <p:txBody>
          <a:bodyPr/>
          <a:lstStyle/>
          <a:p>
            <a:r>
              <a:rPr lang="en-GB" dirty="0"/>
              <a:t>James Joyce</a:t>
            </a:r>
          </a:p>
        </p:txBody>
      </p:sp>
      <p:pic>
        <p:nvPicPr>
          <p:cNvPr id="5" name="Content Placeholder 4" descr="A person wearing a black hat posing for the camera&#10;&#10;Description automatically generated">
            <a:extLst>
              <a:ext uri="{FF2B5EF4-FFF2-40B4-BE49-F238E27FC236}">
                <a16:creationId xmlns:a16="http://schemas.microsoft.com/office/drawing/2014/main" id="{2E8723B3-7AB0-43EA-B222-FD83F94878F6}"/>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322405" y="177627"/>
            <a:ext cx="3631345" cy="3026121"/>
          </a:xfrm>
        </p:spPr>
      </p:pic>
      <p:sp>
        <p:nvSpPr>
          <p:cNvPr id="6" name="TextBox 5">
            <a:extLst>
              <a:ext uri="{FF2B5EF4-FFF2-40B4-BE49-F238E27FC236}">
                <a16:creationId xmlns:a16="http://schemas.microsoft.com/office/drawing/2014/main" id="{8D14CBCD-958C-4DFB-8C0C-EEC4B51D735E}"/>
              </a:ext>
            </a:extLst>
          </p:cNvPr>
          <p:cNvSpPr txBox="1"/>
          <p:nvPr/>
        </p:nvSpPr>
        <p:spPr>
          <a:xfrm>
            <a:off x="999321" y="1811491"/>
            <a:ext cx="5844209" cy="4401205"/>
          </a:xfrm>
          <a:prstGeom prst="rect">
            <a:avLst/>
          </a:prstGeom>
          <a:noFill/>
        </p:spPr>
        <p:txBody>
          <a:bodyPr wrap="square" rtlCol="0">
            <a:spAutoFit/>
          </a:bodyPr>
          <a:lstStyle/>
          <a:p>
            <a:r>
              <a:rPr lang="en-GB" sz="2800" dirty="0"/>
              <a:t>Lived 1882 – 1941</a:t>
            </a:r>
          </a:p>
          <a:p>
            <a:endParaRPr lang="en-GB" sz="2800" dirty="0"/>
          </a:p>
          <a:p>
            <a:r>
              <a:rPr lang="en-GB" sz="2800" dirty="0"/>
              <a:t>He wrote experimental ‘Modernist’ fiction. </a:t>
            </a:r>
            <a:r>
              <a:rPr lang="en-GB" sz="2800" i="1" dirty="0"/>
              <a:t>Ulysses, </a:t>
            </a:r>
            <a:r>
              <a:rPr lang="en-GB" sz="2800" dirty="0"/>
              <a:t>(1922)</a:t>
            </a:r>
            <a:r>
              <a:rPr lang="en-GB" sz="2800" i="1" dirty="0"/>
              <a:t> </a:t>
            </a:r>
            <a:r>
              <a:rPr lang="en-GB" sz="2800" dirty="0"/>
              <a:t>for example, features different styles, such as stream of consciousness.</a:t>
            </a:r>
          </a:p>
          <a:p>
            <a:endParaRPr lang="en-GB" sz="2800" dirty="0"/>
          </a:p>
          <a:p>
            <a:r>
              <a:rPr lang="en-GB" sz="2800" dirty="0"/>
              <a:t>He was influenced by the Modernist movements of the Realists and the Symbolists.</a:t>
            </a:r>
          </a:p>
        </p:txBody>
      </p:sp>
      <p:pic>
        <p:nvPicPr>
          <p:cNvPr id="8" name="Picture 7" descr="A group of people in front of a building&#10;&#10;Description automatically generated">
            <a:extLst>
              <a:ext uri="{FF2B5EF4-FFF2-40B4-BE49-F238E27FC236}">
                <a16:creationId xmlns:a16="http://schemas.microsoft.com/office/drawing/2014/main" id="{78DE8681-E018-454E-A177-13AEC29675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66621" y="3222826"/>
            <a:ext cx="2727311" cy="3567685"/>
          </a:xfrm>
          <a:prstGeom prst="rect">
            <a:avLst/>
          </a:prstGeom>
        </p:spPr>
      </p:pic>
    </p:spTree>
    <p:extLst>
      <p:ext uri="{BB962C8B-B14F-4D97-AF65-F5344CB8AC3E}">
        <p14:creationId xmlns:p14="http://schemas.microsoft.com/office/powerpoint/2010/main" val="8688367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4B6C8-6E7E-49A6-B43D-965FD2E5292F}"/>
              </a:ext>
            </a:extLst>
          </p:cNvPr>
          <p:cNvSpPr>
            <a:spLocks noGrp="1"/>
          </p:cNvSpPr>
          <p:nvPr>
            <p:ph type="title"/>
          </p:nvPr>
        </p:nvSpPr>
        <p:spPr>
          <a:xfrm>
            <a:off x="1129541" y="93511"/>
            <a:ext cx="9691687" cy="1325563"/>
          </a:xfrm>
        </p:spPr>
        <p:txBody>
          <a:bodyPr/>
          <a:lstStyle/>
          <a:p>
            <a:r>
              <a:rPr lang="en-GB" i="1" dirty="0"/>
              <a:t>Dubliners </a:t>
            </a:r>
            <a:r>
              <a:rPr lang="en-GB" dirty="0"/>
              <a:t>(1914)</a:t>
            </a:r>
            <a:endParaRPr lang="en-GB" i="1" dirty="0"/>
          </a:p>
        </p:txBody>
      </p:sp>
      <p:pic>
        <p:nvPicPr>
          <p:cNvPr id="5" name="Content Placeholder 4">
            <a:extLst>
              <a:ext uri="{FF2B5EF4-FFF2-40B4-BE49-F238E27FC236}">
                <a16:creationId xmlns:a16="http://schemas.microsoft.com/office/drawing/2014/main" id="{E136FCAC-09BA-485A-B0A6-3CC61A1184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0" y="1041158"/>
            <a:ext cx="5812278" cy="3093632"/>
          </a:xfrm>
        </p:spPr>
      </p:pic>
      <p:sp>
        <p:nvSpPr>
          <p:cNvPr id="6" name="TextBox 5">
            <a:extLst>
              <a:ext uri="{FF2B5EF4-FFF2-40B4-BE49-F238E27FC236}">
                <a16:creationId xmlns:a16="http://schemas.microsoft.com/office/drawing/2014/main" id="{A0FE3F26-C444-4FC1-923C-C0CB16DD70D1}"/>
              </a:ext>
            </a:extLst>
          </p:cNvPr>
          <p:cNvSpPr txBox="1"/>
          <p:nvPr/>
        </p:nvSpPr>
        <p:spPr>
          <a:xfrm>
            <a:off x="636103" y="1826466"/>
            <a:ext cx="5459897" cy="2308324"/>
          </a:xfrm>
          <a:prstGeom prst="rect">
            <a:avLst/>
          </a:prstGeom>
          <a:noFill/>
        </p:spPr>
        <p:txBody>
          <a:bodyPr wrap="square" rtlCol="0">
            <a:spAutoFit/>
          </a:bodyPr>
          <a:lstStyle/>
          <a:p>
            <a:r>
              <a:rPr lang="en-GB" sz="2400" dirty="0"/>
              <a:t>Many of the short stories in the book feature moments of ‘epiphany’.</a:t>
            </a:r>
          </a:p>
          <a:p>
            <a:endParaRPr lang="en-GB" sz="2400" dirty="0"/>
          </a:p>
          <a:p>
            <a:r>
              <a:rPr lang="en-GB" sz="2400" dirty="0"/>
              <a:t>In </a:t>
            </a:r>
            <a:r>
              <a:rPr lang="en-GB" sz="2400" i="1" dirty="0"/>
              <a:t>Eveline, </a:t>
            </a:r>
            <a:r>
              <a:rPr lang="en-GB" sz="2400" dirty="0"/>
              <a:t>the short story tells of a young woman in Dublin who must decide whether to leave, or stay.</a:t>
            </a:r>
          </a:p>
        </p:txBody>
      </p:sp>
      <p:sp>
        <p:nvSpPr>
          <p:cNvPr id="7" name="TextBox 6">
            <a:extLst>
              <a:ext uri="{FF2B5EF4-FFF2-40B4-BE49-F238E27FC236}">
                <a16:creationId xmlns:a16="http://schemas.microsoft.com/office/drawing/2014/main" id="{5259DA8A-0212-462E-91EE-4A545879A410}"/>
              </a:ext>
            </a:extLst>
          </p:cNvPr>
          <p:cNvSpPr txBox="1"/>
          <p:nvPr/>
        </p:nvSpPr>
        <p:spPr>
          <a:xfrm>
            <a:off x="603802" y="4365010"/>
            <a:ext cx="10217426" cy="2492990"/>
          </a:xfrm>
          <a:prstGeom prst="rect">
            <a:avLst/>
          </a:prstGeom>
          <a:noFill/>
        </p:spPr>
        <p:txBody>
          <a:bodyPr wrap="square" rtlCol="0">
            <a:spAutoFit/>
          </a:bodyPr>
          <a:lstStyle/>
          <a:p>
            <a:pPr marL="342900" indent="-342900">
              <a:buFont typeface="Arial" panose="020B0604020202020204" pitchFamily="34" charset="0"/>
              <a:buChar char="•"/>
            </a:pPr>
            <a:r>
              <a:rPr lang="en-GB" sz="2400" dirty="0"/>
              <a:t>How are mood, tone, and theme created?	</a:t>
            </a:r>
          </a:p>
          <a:p>
            <a:pPr marL="342900" indent="-342900">
              <a:buFont typeface="Arial" panose="020B0604020202020204" pitchFamily="34" charset="0"/>
              <a:buChar char="•"/>
            </a:pPr>
            <a:r>
              <a:rPr lang="en-GB" sz="2400" dirty="0"/>
              <a:t>What symbols are used for… the depression of Dublin	?  …the old and the modern?  …the chance to escape?  …the choice she must decide? </a:t>
            </a:r>
          </a:p>
          <a:p>
            <a:pPr marL="342900" indent="-342900">
              <a:buFont typeface="Arial" panose="020B0604020202020204" pitchFamily="34" charset="0"/>
              <a:buChar char="•"/>
            </a:pPr>
            <a:r>
              <a:rPr lang="en-GB" sz="2400" dirty="0"/>
              <a:t>How are colours used?  </a:t>
            </a:r>
          </a:p>
          <a:p>
            <a:pPr marL="342900" indent="-342900">
              <a:buFont typeface="Arial" panose="020B0604020202020204" pitchFamily="34" charset="0"/>
              <a:buChar char="•"/>
            </a:pPr>
            <a:r>
              <a:rPr lang="en-GB" sz="2400" dirty="0"/>
              <a:t>How is interior monologue (stream of consciousness) used?</a:t>
            </a:r>
          </a:p>
          <a:p>
            <a:endParaRPr lang="en-GB" dirty="0"/>
          </a:p>
          <a:p>
            <a:endParaRPr lang="en-GB" dirty="0"/>
          </a:p>
        </p:txBody>
      </p:sp>
    </p:spTree>
    <p:extLst>
      <p:ext uri="{BB962C8B-B14F-4D97-AF65-F5344CB8AC3E}">
        <p14:creationId xmlns:p14="http://schemas.microsoft.com/office/powerpoint/2010/main" val="1805003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0DC8C-696C-98AC-AA44-683FB515F5B6}"/>
              </a:ext>
            </a:extLst>
          </p:cNvPr>
          <p:cNvSpPr>
            <a:spLocks noGrp="1"/>
          </p:cNvSpPr>
          <p:nvPr>
            <p:ph type="title"/>
          </p:nvPr>
        </p:nvSpPr>
        <p:spPr/>
        <p:txBody>
          <a:bodyPr/>
          <a:lstStyle/>
          <a:p>
            <a:r>
              <a:rPr lang="en-GB" dirty="0"/>
              <a:t>Writing Practice</a:t>
            </a:r>
          </a:p>
        </p:txBody>
      </p:sp>
      <p:sp>
        <p:nvSpPr>
          <p:cNvPr id="3" name="Content Placeholder 2">
            <a:extLst>
              <a:ext uri="{FF2B5EF4-FFF2-40B4-BE49-F238E27FC236}">
                <a16:creationId xmlns:a16="http://schemas.microsoft.com/office/drawing/2014/main" id="{12EA83BA-3DE9-0869-551A-1BFB6264E08C}"/>
              </a:ext>
            </a:extLst>
          </p:cNvPr>
          <p:cNvSpPr>
            <a:spLocks noGrp="1"/>
          </p:cNvSpPr>
          <p:nvPr>
            <p:ph idx="1"/>
          </p:nvPr>
        </p:nvSpPr>
        <p:spPr>
          <a:xfrm>
            <a:off x="1262063" y="1987420"/>
            <a:ext cx="9224962" cy="4192718"/>
          </a:xfrm>
        </p:spPr>
        <p:txBody>
          <a:bodyPr>
            <a:normAutofit/>
          </a:bodyPr>
          <a:lstStyle/>
          <a:p>
            <a:r>
              <a:rPr lang="en-GB" sz="2800" b="1" dirty="0"/>
              <a:t>Academic question:</a:t>
            </a:r>
            <a:endParaRPr lang="en-GB" sz="1000" dirty="0"/>
          </a:p>
          <a:p>
            <a:r>
              <a:rPr lang="en-GB" sz="2800" dirty="0"/>
              <a:t>‘How can the cultural dislocation of the early twentieth century be seen to have shaped ‘modernist’ literature?’</a:t>
            </a:r>
          </a:p>
          <a:p>
            <a:endParaRPr lang="en-GB" sz="1700" dirty="0"/>
          </a:p>
          <a:p>
            <a:r>
              <a:rPr lang="en-GB" sz="2800" b="1" dirty="0"/>
              <a:t>Creative writing:</a:t>
            </a:r>
            <a:endParaRPr lang="en-GB" sz="1000" b="1" dirty="0"/>
          </a:p>
          <a:p>
            <a:r>
              <a:rPr lang="en-GB" sz="2800" dirty="0"/>
              <a:t>Write some stream of consciousness about a scene in which not much action happens.</a:t>
            </a:r>
          </a:p>
          <a:p>
            <a:endParaRPr lang="en-GB" sz="2800" dirty="0"/>
          </a:p>
          <a:p>
            <a:endParaRPr lang="en-GB" sz="2800" dirty="0"/>
          </a:p>
        </p:txBody>
      </p:sp>
    </p:spTree>
    <p:extLst>
      <p:ext uri="{BB962C8B-B14F-4D97-AF65-F5344CB8AC3E}">
        <p14:creationId xmlns:p14="http://schemas.microsoft.com/office/powerpoint/2010/main" val="13869653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1AA50-3195-46AD-BC20-00AD786F9B2B}"/>
              </a:ext>
            </a:extLst>
          </p:cNvPr>
          <p:cNvSpPr>
            <a:spLocks noGrp="1"/>
          </p:cNvSpPr>
          <p:nvPr>
            <p:ph type="title"/>
          </p:nvPr>
        </p:nvSpPr>
        <p:spPr/>
        <p:txBody>
          <a:bodyPr/>
          <a:lstStyle/>
          <a:p>
            <a:r>
              <a:rPr lang="en-GB" dirty="0"/>
              <a:t>Homework</a:t>
            </a:r>
          </a:p>
        </p:txBody>
      </p:sp>
      <p:sp>
        <p:nvSpPr>
          <p:cNvPr id="3" name="Content Placeholder 2">
            <a:extLst>
              <a:ext uri="{FF2B5EF4-FFF2-40B4-BE49-F238E27FC236}">
                <a16:creationId xmlns:a16="http://schemas.microsoft.com/office/drawing/2014/main" id="{21AEE51A-335B-45E4-A0FE-D5674BDE2E44}"/>
              </a:ext>
            </a:extLst>
          </p:cNvPr>
          <p:cNvSpPr>
            <a:spLocks noGrp="1"/>
          </p:cNvSpPr>
          <p:nvPr>
            <p:ph idx="1"/>
          </p:nvPr>
        </p:nvSpPr>
        <p:spPr/>
        <p:txBody>
          <a:bodyPr>
            <a:normAutofit/>
          </a:bodyPr>
          <a:lstStyle/>
          <a:p>
            <a:endParaRPr lang="en-GB" sz="2800" dirty="0"/>
          </a:p>
          <a:p>
            <a:r>
              <a:rPr lang="en-GB" sz="3000" dirty="0"/>
              <a:t>Read the examples of postmodern poetry by Sylvia Plath and Seamus Heaney.</a:t>
            </a:r>
            <a:endParaRPr lang="en-US" sz="3000" dirty="0"/>
          </a:p>
        </p:txBody>
      </p:sp>
    </p:spTree>
    <p:extLst>
      <p:ext uri="{BB962C8B-B14F-4D97-AF65-F5344CB8AC3E}">
        <p14:creationId xmlns:p14="http://schemas.microsoft.com/office/powerpoint/2010/main" val="3690343984"/>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Override1.xml><?xml version="1.0" encoding="utf-8"?>
<a:themeOverride xmlns:a="http://schemas.openxmlformats.org/drawingml/2006/main">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themeOverride>
</file>

<file path=docProps/app.xml><?xml version="1.0" encoding="utf-8"?>
<Properties xmlns="http://schemas.openxmlformats.org/officeDocument/2006/extended-properties" xmlns:vt="http://schemas.openxmlformats.org/officeDocument/2006/docPropsVTypes">
  <Template/>
  <TotalTime>1324</TotalTime>
  <Words>1277</Words>
  <Application>Microsoft Office PowerPoint</Application>
  <PresentationFormat>Widescreen</PresentationFormat>
  <Paragraphs>101</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Century Schoolbook</vt:lpstr>
      <vt:lpstr>Wingdings</vt:lpstr>
      <vt:lpstr>Wingdings 2</vt:lpstr>
      <vt:lpstr>View</vt:lpstr>
      <vt:lpstr>20th Century Modernism</vt:lpstr>
      <vt:lpstr>1912 – Titanic: technological advancement, hubris, and disaster</vt:lpstr>
      <vt:lpstr>1922 – The Waste Land   by T. S. Eliot (1888–1965) </vt:lpstr>
      <vt:lpstr>The Lost Generation</vt:lpstr>
      <vt:lpstr>Paris in the 1920s</vt:lpstr>
      <vt:lpstr>PowerPoint Presentation</vt:lpstr>
      <vt:lpstr>Modernist Change – Evident in the arts and architecture</vt:lpstr>
      <vt:lpstr>1837 – John Constable – Romantic era </vt:lpstr>
      <vt:lpstr>1895 - The Lumiere brothers make the first films</vt:lpstr>
      <vt:lpstr>1920 – Water Lilies, Claude Monet – Impressionism </vt:lpstr>
      <vt:lpstr>1931 – The Persistence of Memory, Salvador Dali </vt:lpstr>
      <vt:lpstr>  Cubist Architecture in Shanghai (and Art Deco) </vt:lpstr>
      <vt:lpstr>Pablo Picasso</vt:lpstr>
      <vt:lpstr>Virginia Woolf</vt:lpstr>
      <vt:lpstr>Virginia Woolf  1882-1941</vt:lpstr>
      <vt:lpstr>Virginia Woolf  1882-1941</vt:lpstr>
      <vt:lpstr>F. Scott Fitzgerald</vt:lpstr>
      <vt:lpstr>The Great Gatsby (1925)</vt:lpstr>
      <vt:lpstr>Realism and Symbolism</vt:lpstr>
      <vt:lpstr>How do we express reality in language?</vt:lpstr>
      <vt:lpstr>James Joyce</vt:lpstr>
      <vt:lpstr>Dubliners (1914)</vt:lpstr>
      <vt:lpstr>Writing Practice</vt:lpstr>
      <vt:lpstr>Homework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Dom Graham</dc:creator>
  <cp:lastModifiedBy>Dominic Graham</cp:lastModifiedBy>
  <cp:revision>58</cp:revision>
  <dcterms:created xsi:type="dcterms:W3CDTF">2016-11-04T11:23:45Z</dcterms:created>
  <dcterms:modified xsi:type="dcterms:W3CDTF">2025-11-23T13:30:19Z</dcterms:modified>
</cp:coreProperties>
</file>