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84" r:id="rId3"/>
    <p:sldId id="306" r:id="rId4"/>
    <p:sldId id="307" r:id="rId5"/>
    <p:sldId id="488" r:id="rId6"/>
    <p:sldId id="485" r:id="rId7"/>
    <p:sldId id="486" r:id="rId8"/>
    <p:sldId id="296" r:id="rId9"/>
    <p:sldId id="493" r:id="rId10"/>
    <p:sldId id="494" r:id="rId11"/>
    <p:sldId id="495" r:id="rId12"/>
    <p:sldId id="489" r:id="rId13"/>
    <p:sldId id="302" r:id="rId14"/>
    <p:sldId id="303" r:id="rId15"/>
    <p:sldId id="308" r:id="rId16"/>
    <p:sldId id="311" r:id="rId17"/>
    <p:sldId id="313" r:id="rId18"/>
    <p:sldId id="490" r:id="rId19"/>
    <p:sldId id="491" r:id="rId20"/>
    <p:sldId id="492" r:id="rId21"/>
    <p:sldId id="496" r:id="rId22"/>
    <p:sldId id="497" r:id="rId23"/>
    <p:sldId id="49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99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31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29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524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54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72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71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555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5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89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328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758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090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411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200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932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37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6DC0BD3-0E1D-4425-ACE2-5C7D4D1357B8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31763C6-1067-409B-953D-FCC76A942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47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9501-9B2B-4FB2-9237-41BDF143E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930921"/>
            <a:ext cx="8825658" cy="2677648"/>
          </a:xfrm>
        </p:spPr>
        <p:txBody>
          <a:bodyPr/>
          <a:lstStyle/>
          <a:p>
            <a:r>
              <a:rPr lang="en-GB" i="1" dirty="0"/>
              <a:t>Pride and Prejudice</a:t>
            </a:r>
            <a:br>
              <a:rPr lang="en-GB" i="1" dirty="0"/>
            </a:br>
            <a:r>
              <a:rPr lang="en-GB" i="1" dirty="0"/>
              <a:t>Peter Grimes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912E3-3B41-418E-B3B7-28B4E8FA7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4777380"/>
            <a:ext cx="10004457" cy="861420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Appreciation of English and American literature Week 6</a:t>
            </a:r>
          </a:p>
        </p:txBody>
      </p:sp>
    </p:spTree>
    <p:extLst>
      <p:ext uri="{BB962C8B-B14F-4D97-AF65-F5344CB8AC3E}">
        <p14:creationId xmlns:p14="http://schemas.microsoft.com/office/powerpoint/2010/main" val="1460088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F6A3-7CD0-4237-9D77-90D2DA149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14" y="495085"/>
            <a:ext cx="10131425" cy="1456267"/>
          </a:xfrm>
        </p:spPr>
        <p:txBody>
          <a:bodyPr/>
          <a:lstStyle/>
          <a:p>
            <a:pPr algn="ctr"/>
            <a:r>
              <a:rPr lang="en-GB" dirty="0"/>
              <a:t>Jane Austen (1775 -1817)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63E28A-82D6-4264-B95F-D920FE519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145" y="2568700"/>
            <a:ext cx="5096853" cy="338961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880483-C1D7-4940-AC98-85299CAD386B}"/>
              </a:ext>
            </a:extLst>
          </p:cNvPr>
          <p:cNvSpPr txBox="1"/>
          <p:nvPr/>
        </p:nvSpPr>
        <p:spPr>
          <a:xfrm>
            <a:off x="367775" y="2220921"/>
            <a:ext cx="769387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Her novels’ themes are:</a:t>
            </a:r>
          </a:p>
          <a:p>
            <a:r>
              <a:rPr lang="en-GB" sz="2600" dirty="0"/>
              <a:t>	marriage, class, and wealth – high society 	romance (often told with some irony). </a:t>
            </a:r>
          </a:p>
          <a:p>
            <a:endParaRPr lang="en-GB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She became increasingly well-known in the twentieth century and academics cited her importance to English literature.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Her writing has been credited with developing the novel toward ‘Realism’.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0863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24995-C5D5-445B-80B7-62FFED29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Who’s who in </a:t>
            </a:r>
            <a:r>
              <a:rPr lang="en-GB" i="1" dirty="0"/>
              <a:t>Pride and Prejudice</a:t>
            </a:r>
            <a:r>
              <a:rPr lang="en-GB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C0DE8C-4FF7-4F8C-A772-341A41AB5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63" y="2645703"/>
            <a:ext cx="5473142" cy="3416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922685-E4EE-4EBD-9A66-56A6E502F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52" y="2645703"/>
            <a:ext cx="6070185" cy="3416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D5127F-5E3D-1BDF-D561-63FD33A274AF}"/>
              </a:ext>
            </a:extLst>
          </p:cNvPr>
          <p:cNvSpPr txBox="1"/>
          <p:nvPr/>
        </p:nvSpPr>
        <p:spPr>
          <a:xfrm>
            <a:off x="3778899" y="6155309"/>
            <a:ext cx="607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Mr Darcy and Elizabeth Bennet</a:t>
            </a:r>
          </a:p>
        </p:txBody>
      </p:sp>
    </p:spTree>
    <p:extLst>
      <p:ext uri="{BB962C8B-B14F-4D97-AF65-F5344CB8AC3E}">
        <p14:creationId xmlns:p14="http://schemas.microsoft.com/office/powerpoint/2010/main" val="316747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24995-C5D5-445B-80B7-62FFED29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Who’s who in </a:t>
            </a:r>
            <a:r>
              <a:rPr lang="en-GB" i="1" dirty="0"/>
              <a:t>Pride and Prejudice</a:t>
            </a:r>
            <a:r>
              <a:rPr lang="en-GB" dirty="0"/>
              <a:t>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E49F05C-2BF5-468C-A061-9567A0510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59" y="4659195"/>
            <a:ext cx="4820659" cy="20639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1B75ABF-933C-4E3B-A4E4-1FC6C5E79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967" y="4247145"/>
            <a:ext cx="5132327" cy="2888062"/>
          </a:xfrm>
          <a:prstGeom prst="rect">
            <a:avLst/>
          </a:prstGeom>
        </p:spPr>
      </p:pic>
      <p:pic>
        <p:nvPicPr>
          <p:cNvPr id="28" name="Content Placeholder 7">
            <a:extLst>
              <a:ext uri="{FF2B5EF4-FFF2-40B4-BE49-F238E27FC236}">
                <a16:creationId xmlns:a16="http://schemas.microsoft.com/office/drawing/2014/main" id="{D9D1DD93-E170-4141-B968-658410E3B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328" y="2139457"/>
            <a:ext cx="4626966" cy="26026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DAF34F2-A8CB-40D1-AE54-9B1FA18C1D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301" y="2711468"/>
            <a:ext cx="3646942" cy="314366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FD2C835-556E-4F9D-BCAC-FA55EC8996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59" y="2056527"/>
            <a:ext cx="4028700" cy="260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93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95BE7-F309-9F23-7B16-82006158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the excerpt from Chapter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9F9C-284A-B1A9-9F35-3441FB30D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435291" cy="3416300"/>
          </a:xfrm>
        </p:spPr>
        <p:txBody>
          <a:bodyPr>
            <a:normAutofit fontScale="92500"/>
          </a:bodyPr>
          <a:lstStyle/>
          <a:p>
            <a:r>
              <a:rPr lang="en-GB" sz="2800" dirty="0"/>
              <a:t>What do you think about the famous opening line?</a:t>
            </a:r>
          </a:p>
          <a:p>
            <a:endParaRPr lang="en-GB" sz="2800" dirty="0"/>
          </a:p>
          <a:p>
            <a:r>
              <a:rPr lang="en-GB" sz="2800" dirty="0"/>
              <a:t>What event and topic is introduced right from the start?</a:t>
            </a:r>
          </a:p>
          <a:p>
            <a:endParaRPr lang="en-GB" sz="2800" dirty="0"/>
          </a:p>
          <a:p>
            <a:r>
              <a:rPr lang="en-GB" sz="2800" dirty="0"/>
              <a:t>What is revealed about the characters, their relationships to each other, and their different attitudes?</a:t>
            </a:r>
          </a:p>
        </p:txBody>
      </p:sp>
    </p:spTree>
    <p:extLst>
      <p:ext uri="{BB962C8B-B14F-4D97-AF65-F5344CB8AC3E}">
        <p14:creationId xmlns:p14="http://schemas.microsoft.com/office/powerpoint/2010/main" val="1274844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1BD8-0853-7DE0-AF90-F7F2C3237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68556" cy="706964"/>
          </a:xfrm>
        </p:spPr>
        <p:txBody>
          <a:bodyPr/>
          <a:lstStyle/>
          <a:p>
            <a:r>
              <a:rPr lang="en-GB" i="1" dirty="0"/>
              <a:t>Pride and Prejudice </a:t>
            </a:r>
            <a:r>
              <a:rPr lang="en-GB" dirty="0"/>
              <a:t>– Characters and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9F7C9-6324-7362-A059-2555EC91F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800" b="1" dirty="0"/>
              <a:t>Mr and Mrs Bennet </a:t>
            </a:r>
            <a:r>
              <a:rPr lang="en-GB" sz="2800" dirty="0"/>
              <a:t>have five daughters:</a:t>
            </a:r>
          </a:p>
          <a:p>
            <a:endParaRPr lang="en-GB" sz="1700" dirty="0"/>
          </a:p>
          <a:p>
            <a:r>
              <a:rPr lang="en-GB" sz="2800" b="1" dirty="0"/>
              <a:t>Jane</a:t>
            </a:r>
          </a:p>
          <a:p>
            <a:r>
              <a:rPr lang="en-GB" sz="2800" b="1" dirty="0"/>
              <a:t>Elizabeth (Lizzy)</a:t>
            </a:r>
          </a:p>
          <a:p>
            <a:r>
              <a:rPr lang="en-GB" sz="2800" b="1" dirty="0"/>
              <a:t>Mary</a:t>
            </a:r>
          </a:p>
          <a:p>
            <a:r>
              <a:rPr lang="en-GB" sz="2800" b="1" dirty="0"/>
              <a:t>Catherine (Kitty)</a:t>
            </a:r>
          </a:p>
          <a:p>
            <a:r>
              <a:rPr lang="en-GB" sz="2800" b="1" dirty="0"/>
              <a:t>Lydia</a:t>
            </a:r>
          </a:p>
        </p:txBody>
      </p:sp>
    </p:spTree>
    <p:extLst>
      <p:ext uri="{BB962C8B-B14F-4D97-AF65-F5344CB8AC3E}">
        <p14:creationId xmlns:p14="http://schemas.microsoft.com/office/powerpoint/2010/main" val="3573606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1BD8-0853-7DE0-AF90-F7F2C3237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68556" cy="706964"/>
          </a:xfrm>
        </p:spPr>
        <p:txBody>
          <a:bodyPr/>
          <a:lstStyle/>
          <a:p>
            <a:r>
              <a:rPr lang="en-GB" i="1" dirty="0"/>
              <a:t>Pride and Prejudice </a:t>
            </a:r>
            <a:r>
              <a:rPr lang="en-GB" dirty="0"/>
              <a:t>– Characters and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9F7C9-6324-7362-A059-2555EC91F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668556" cy="3834622"/>
          </a:xfrm>
        </p:spPr>
        <p:txBody>
          <a:bodyPr>
            <a:normAutofit/>
          </a:bodyPr>
          <a:lstStyle/>
          <a:p>
            <a:r>
              <a:rPr lang="en-GB" sz="2800" dirty="0"/>
              <a:t>Mrs Bennet dearly wants her daughters to get married. Mr Bennet may also want this, though with a different approach.</a:t>
            </a:r>
          </a:p>
          <a:p>
            <a:endParaRPr lang="en-GB" sz="2800" dirty="0"/>
          </a:p>
          <a:p>
            <a:r>
              <a:rPr lang="en-GB" sz="2800" b="1" dirty="0"/>
              <a:t>Mr (Charles) Bingley </a:t>
            </a:r>
            <a:r>
              <a:rPr lang="en-GB" sz="2800" dirty="0"/>
              <a:t>is a wealthy young bachelor arriving in town and renting Netherfield Park. </a:t>
            </a:r>
          </a:p>
          <a:p>
            <a:r>
              <a:rPr lang="en-GB" sz="2800" dirty="0"/>
              <a:t>His friend </a:t>
            </a:r>
            <a:r>
              <a:rPr lang="en-GB" sz="2800" b="1" dirty="0"/>
              <a:t>Mr (Fitzwilliam) Darcy </a:t>
            </a:r>
            <a:r>
              <a:rPr lang="en-GB" sz="2800" dirty="0"/>
              <a:t>is also very wealthy. </a:t>
            </a:r>
          </a:p>
        </p:txBody>
      </p:sp>
    </p:spTree>
    <p:extLst>
      <p:ext uri="{BB962C8B-B14F-4D97-AF65-F5344CB8AC3E}">
        <p14:creationId xmlns:p14="http://schemas.microsoft.com/office/powerpoint/2010/main" val="1365499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60930939-E135-4E73-B8BF-0A72007051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2B3E8D38-D1C7-4AC0-B86B-B4C6401B75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 lvl="4" algn="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dirty="0"/>
              <a:t>					  		</a:t>
            </a:r>
          </a:p>
          <a:p>
            <a:pPr lvl="4" algn="r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lvl="4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			   </a:t>
            </a:r>
          </a:p>
          <a:p>
            <a:pPr lvl="4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				          Derbyshire</a:t>
            </a:r>
          </a:p>
          <a:p>
            <a:pPr lvl="4" algn="r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3600" dirty="0"/>
          </a:p>
          <a:p>
            <a:pPr lvl="4" algn="r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3600" dirty="0"/>
          </a:p>
          <a:p>
            <a:pPr lvl="4"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   				Hertfordshire</a:t>
            </a:r>
          </a:p>
          <a:p>
            <a:pPr lvl="4" algn="r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lvl="4"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		</a:t>
            </a:r>
          </a:p>
        </p:txBody>
      </p:sp>
      <p:pic>
        <p:nvPicPr>
          <p:cNvPr id="145413" name="Picture 5" descr="counties_england_wales_map (1)">
            <a:extLst>
              <a:ext uri="{FF2B5EF4-FFF2-40B4-BE49-F238E27FC236}">
                <a16:creationId xmlns:a16="http://schemas.microsoft.com/office/drawing/2014/main" id="{74A82080-1E16-488D-9770-2CD015D88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35" y="0"/>
            <a:ext cx="5483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214ECF0-D6F4-936D-296E-285C31B51234}"/>
              </a:ext>
            </a:extLst>
          </p:cNvPr>
          <p:cNvCxnSpPr>
            <a:cxnSpLocks/>
          </p:cNvCxnSpPr>
          <p:nvPr/>
        </p:nvCxnSpPr>
        <p:spPr>
          <a:xfrm flipH="1">
            <a:off x="3771900" y="2965257"/>
            <a:ext cx="2753591" cy="3013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3823ED-0C52-F587-91BE-E1945773B82D}"/>
              </a:ext>
            </a:extLst>
          </p:cNvPr>
          <p:cNvCxnSpPr/>
          <p:nvPr/>
        </p:nvCxnSpPr>
        <p:spPr>
          <a:xfrm flipH="1">
            <a:off x="4790209" y="4551218"/>
            <a:ext cx="1735282" cy="1143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1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7D3CF-13AB-7E3E-8D27-DBD005C2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3 Excerpt: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5ABBD-D316-B937-0BBA-2179EB873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627346" cy="3416300"/>
          </a:xfrm>
        </p:spPr>
        <p:txBody>
          <a:bodyPr>
            <a:normAutofit/>
          </a:bodyPr>
          <a:lstStyle/>
          <a:p>
            <a:r>
              <a:rPr lang="en-GB" sz="2400" dirty="0"/>
              <a:t>How does the style of Austen’s narration differ from that in the Chapter 1 excerpt?</a:t>
            </a:r>
          </a:p>
          <a:p>
            <a:endParaRPr lang="en-GB" sz="2400" dirty="0"/>
          </a:p>
          <a:p>
            <a:r>
              <a:rPr lang="en-GB" sz="2400" dirty="0"/>
              <a:t>How is the passage of time, and characterisation, treated in the narrative?</a:t>
            </a:r>
          </a:p>
          <a:p>
            <a:endParaRPr lang="en-GB" sz="2400" dirty="0"/>
          </a:p>
          <a:p>
            <a:r>
              <a:rPr lang="en-GB" sz="2400" dirty="0"/>
              <a:t>Where is ‘pride and prejudice’ shown?</a:t>
            </a:r>
          </a:p>
        </p:txBody>
      </p:sp>
    </p:spTree>
    <p:extLst>
      <p:ext uri="{BB962C8B-B14F-4D97-AF65-F5344CB8AC3E}">
        <p14:creationId xmlns:p14="http://schemas.microsoft.com/office/powerpoint/2010/main" val="987499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2A5C-1C1C-B819-35A8-2426D212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172409" cy="706964"/>
          </a:xfrm>
        </p:spPr>
        <p:txBody>
          <a:bodyPr/>
          <a:lstStyle/>
          <a:p>
            <a:r>
              <a:rPr lang="en-GB" dirty="0"/>
              <a:t>Plot Developments; Chapter 34 Excerpt: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33280-425A-CF18-9A9F-23E5009D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560671" cy="3722655"/>
          </a:xfrm>
        </p:spPr>
        <p:txBody>
          <a:bodyPr>
            <a:normAutofit/>
          </a:bodyPr>
          <a:lstStyle/>
          <a:p>
            <a:r>
              <a:rPr lang="en-GB" sz="2200" dirty="0"/>
              <a:t>Mr Darcy advises Mr Bingley that Jane isn’t interested in him.</a:t>
            </a:r>
            <a:endParaRPr lang="en-GB" sz="800" dirty="0"/>
          </a:p>
          <a:p>
            <a:r>
              <a:rPr lang="en-GB" sz="2200" dirty="0"/>
              <a:t>Mr Collins (a cousin to the family) asks Elizabeth to marry him. She declines.</a:t>
            </a:r>
          </a:p>
          <a:p>
            <a:endParaRPr lang="en-GB" sz="2200" dirty="0"/>
          </a:p>
          <a:p>
            <a:r>
              <a:rPr lang="en-GB" sz="2800" b="1" dirty="0"/>
              <a:t>Chapter 34 </a:t>
            </a:r>
            <a:r>
              <a:rPr lang="en-GB" sz="2800" dirty="0"/>
              <a:t>– What happens in the conversation 							    between Darcy and Elizabeth?</a:t>
            </a:r>
          </a:p>
          <a:p>
            <a:r>
              <a:rPr lang="en-GB" sz="2800" dirty="0"/>
              <a:t>How might it be considered as showing ‘realism’?</a:t>
            </a:r>
            <a:endParaRPr lang="en-GB" sz="32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929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2A5C-1C1C-B819-35A8-2426D212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453952" cy="706964"/>
          </a:xfrm>
        </p:spPr>
        <p:txBody>
          <a:bodyPr/>
          <a:lstStyle/>
          <a:p>
            <a:r>
              <a:rPr lang="en-GB" dirty="0"/>
              <a:t>Plot Developments; Chapter 58 Excerpt: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33280-425A-CF18-9A9F-23E5009D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560671" cy="3731986"/>
          </a:xfrm>
        </p:spPr>
        <p:txBody>
          <a:bodyPr>
            <a:normAutofit lnSpcReduction="10000"/>
          </a:bodyPr>
          <a:lstStyle/>
          <a:p>
            <a:r>
              <a:rPr lang="en-GB" sz="2200" dirty="0"/>
              <a:t>The fourth Bennet sister, Kitty, runs off with a soldier, Mr (George) Wickham.</a:t>
            </a:r>
          </a:p>
          <a:p>
            <a:r>
              <a:rPr lang="en-GB" sz="2200" dirty="0"/>
              <a:t>Mr Bennet – and Mr Darcy, quietly – go to rescue Kitty and make sure Mr Wickham marries her.</a:t>
            </a:r>
          </a:p>
          <a:p>
            <a:endParaRPr lang="en-GB" sz="2400" dirty="0"/>
          </a:p>
          <a:p>
            <a:r>
              <a:rPr lang="en-GB" sz="2400" b="1" dirty="0"/>
              <a:t>Chapter 58 </a:t>
            </a:r>
            <a:r>
              <a:rPr lang="en-GB" sz="2400" dirty="0"/>
              <a:t>– What happens in the conversation between 						 Darcy and Elizabeth?</a:t>
            </a:r>
          </a:p>
          <a:p>
            <a:r>
              <a:rPr lang="en-GB" sz="2400" dirty="0"/>
              <a:t>How does ‘realism’ help to convey the romance?</a:t>
            </a:r>
          </a:p>
          <a:p>
            <a:r>
              <a:rPr lang="en-GB" sz="2400" dirty="0"/>
              <a:t>Where are ‘pride’ and ‘prejudice’ mentioned?</a:t>
            </a:r>
            <a:endParaRPr lang="en-GB" sz="28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4246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07FE183A-D26D-4032-8AEC-52F43782527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4000" dirty="0"/>
              <a:t>How are the themes in </a:t>
            </a:r>
            <a:br>
              <a:rPr lang="en-US" altLang="zh-CN" sz="4000" dirty="0"/>
            </a:br>
            <a:r>
              <a:rPr lang="en-US" altLang="zh-CN" sz="4000" dirty="0"/>
              <a:t>Pride and Prejudice portrayed?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427EBEA6-F076-492B-B15B-0ACAD4CE20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/>
              <a:t>Marriage</a:t>
            </a:r>
            <a:r>
              <a:rPr lang="en-US" altLang="zh-CN" sz="2800" dirty="0"/>
              <a:t> -  For love?   For money?   For security?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/>
              <a:t>Social class </a:t>
            </a:r>
            <a:r>
              <a:rPr lang="en-US" altLang="zh-CN" sz="2800" dirty="0"/>
              <a:t>-  Overcoming the barriers of class.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/>
              <a:t>Pride and Prejudice </a:t>
            </a:r>
            <a:r>
              <a:rPr lang="en-US" altLang="zh-CN" sz="2800" dirty="0"/>
              <a:t>-  Overcoming pride and 									  prejudice to find love </a:t>
            </a:r>
          </a:p>
        </p:txBody>
      </p:sp>
    </p:spTree>
    <p:extLst>
      <p:ext uri="{BB962C8B-B14F-4D97-AF65-F5344CB8AC3E}">
        <p14:creationId xmlns:p14="http://schemas.microsoft.com/office/powerpoint/2010/main" val="103995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07FE183A-D26D-4032-8AEC-52F43782527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4000" dirty="0"/>
              <a:t>Are they treated realistically?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427EBEA6-F076-492B-B15B-0ACAD4CE20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/>
              <a:t>Marriage</a:t>
            </a:r>
            <a:r>
              <a:rPr lang="en-US" altLang="zh-CN" sz="2800" dirty="0"/>
              <a:t> -  For love?   For money?   For security?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/>
              <a:t>Social class </a:t>
            </a:r>
            <a:r>
              <a:rPr lang="en-US" altLang="zh-CN" sz="2800" dirty="0"/>
              <a:t>-  Overcoming the barriers of class.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/>
              <a:t>Pride and Prejudice </a:t>
            </a:r>
            <a:r>
              <a:rPr lang="en-US" altLang="zh-CN" sz="2800" dirty="0"/>
              <a:t>-  Overcoming pride and 									  prejudice to find love </a:t>
            </a:r>
          </a:p>
        </p:txBody>
      </p:sp>
    </p:spTree>
    <p:extLst>
      <p:ext uri="{BB962C8B-B14F-4D97-AF65-F5344CB8AC3E}">
        <p14:creationId xmlns:p14="http://schemas.microsoft.com/office/powerpoint/2010/main" val="683662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E9D2-93F9-4D51-AC8D-E7328DA7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Pride and Prejudice – Appraisal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F9E1-8766-42A0-A859-2DD515D88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11896"/>
            <a:ext cx="9761862" cy="4072880"/>
          </a:xfrm>
        </p:spPr>
        <p:txBody>
          <a:bodyPr>
            <a:normAutofit fontScale="85000" lnSpcReduction="10000"/>
          </a:bodyPr>
          <a:lstStyle/>
          <a:p>
            <a:r>
              <a:rPr lang="en-GB" sz="2800" dirty="0"/>
              <a:t>Is it a good novel? Is it a classic of English Literature?</a:t>
            </a:r>
          </a:p>
          <a:p>
            <a:endParaRPr lang="en-GB" sz="2100" dirty="0"/>
          </a:p>
          <a:p>
            <a:r>
              <a:rPr lang="en-GB" sz="2800" dirty="0"/>
              <a:t>Charlotte Bronte wrote to her editor about Austen in 1850: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b="1" dirty="0"/>
              <a:t>"Why do you like Jane Austen so very much? I am puzzled on that point. ... I had not seen </a:t>
            </a:r>
            <a:r>
              <a:rPr lang="en-GB" sz="2600" b="1" i="1" dirty="0"/>
              <a:t>Pride and Prejudice</a:t>
            </a:r>
            <a:r>
              <a:rPr lang="en-GB" sz="2600" b="1" dirty="0"/>
              <a:t> till I read that sentence of yours, and then I got the book. And what did I find? ...a commonplace face; a carefully fenced, highly cultivated garden, with neat borders and delicate flowers; but no glance of a bright vivid physiognomy, no open country, no fresh air, no blue hill, no bonny beck. ... These observations will probably irritate you, but I shall run the risk."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617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E9D2-93F9-4D51-AC8D-E7328DA7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Pride and Prejudice – Appraisal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F9E1-8766-42A0-A859-2DD515D88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3" y="2332383"/>
            <a:ext cx="10375642" cy="4525617"/>
          </a:xfrm>
        </p:spPr>
        <p:txBody>
          <a:bodyPr>
            <a:normAutofit fontScale="47500" lnSpcReduction="20000"/>
          </a:bodyPr>
          <a:lstStyle/>
          <a:p>
            <a:r>
              <a:rPr lang="en-GB" sz="5100" dirty="0"/>
              <a:t>Charlotte Bronte wrote in a further reply:</a:t>
            </a:r>
          </a:p>
          <a:p>
            <a:pPr marL="0" indent="0">
              <a:buNone/>
            </a:pPr>
            <a:endParaRPr lang="en-GB" sz="1700" dirty="0"/>
          </a:p>
          <a:p>
            <a:pPr marL="457200" lvl="1" indent="0">
              <a:buNone/>
            </a:pPr>
            <a:r>
              <a:rPr lang="en-GB" sz="4600" b="1" dirty="0"/>
              <a:t>“You say I must familiarize my mind with the fact that 'Miss Austen is not a poetess, has no "sentiment" ... no eloquence, none of the ravishing enthusiasm of poetry'; and then you add, I </a:t>
            </a:r>
            <a:r>
              <a:rPr lang="en-GB" sz="4600" b="1" i="1" dirty="0"/>
              <a:t>must</a:t>
            </a:r>
            <a:r>
              <a:rPr lang="en-GB" sz="4600" b="1" dirty="0"/>
              <a:t> 'learn to acknowledge her as </a:t>
            </a:r>
            <a:r>
              <a:rPr lang="en-GB" sz="4600" b="1" i="1" dirty="0"/>
              <a:t>one of the great artists, of the greatest painters of human character</a:t>
            </a:r>
            <a:r>
              <a:rPr lang="en-GB" sz="4600" b="1" dirty="0"/>
              <a:t>, and one of the writers with the nicest sense of means to an end that ever lived.’ “</a:t>
            </a:r>
          </a:p>
          <a:p>
            <a:pPr marL="0" indent="0">
              <a:buNone/>
            </a:pPr>
            <a:r>
              <a:rPr lang="en-GB" sz="4600" b="1" dirty="0"/>
              <a:t>      "That last point only will I ever acknowledge."</a:t>
            </a:r>
          </a:p>
          <a:p>
            <a:pPr marL="0" indent="0">
              <a:buNone/>
            </a:pPr>
            <a:r>
              <a:rPr lang="en-GB" sz="4600" b="1" dirty="0"/>
              <a:t>	"Can there be a great artist without poetry? ... But by '</a:t>
            </a:r>
            <a:r>
              <a:rPr lang="en-GB" sz="4600" b="1" i="1" dirty="0"/>
              <a:t>poetry</a:t>
            </a:r>
            <a:r>
              <a:rPr lang="en-GB" sz="4600" b="1" dirty="0"/>
              <a:t>', I am 		sure you understand something different to what I do, as you do by 	'sentiment'. ... I submit to your anger, 	which I have now excited (for 	have I not questioned the 	perfection of your darling?); the storm 	may pass over me. ..."</a:t>
            </a:r>
          </a:p>
        </p:txBody>
      </p:sp>
    </p:spTree>
    <p:extLst>
      <p:ext uri="{BB962C8B-B14F-4D97-AF65-F5344CB8AC3E}">
        <p14:creationId xmlns:p14="http://schemas.microsoft.com/office/powerpoint/2010/main" val="1478419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29FB-2690-44A2-83AB-F564D6C7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Pride and Prejudice – Appraisal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27034-7397-4287-A96E-048B4EA19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28" y="2319671"/>
            <a:ext cx="10031896" cy="4346713"/>
          </a:xfrm>
        </p:spPr>
        <p:txBody>
          <a:bodyPr>
            <a:noAutofit/>
          </a:bodyPr>
          <a:lstStyle/>
          <a:p>
            <a:r>
              <a:rPr lang="en-GB" sz="2400" b="1" dirty="0"/>
              <a:t>"I have likewise read one of Miss Austen's works </a:t>
            </a:r>
            <a:r>
              <a:rPr lang="en-GB" sz="2400" b="1" i="1" dirty="0"/>
              <a:t>Emma</a:t>
            </a:r>
            <a:r>
              <a:rPr lang="en-GB" sz="2400" b="1" dirty="0"/>
              <a:t>—read it with interest and with just the right degree of admiration which the Miss Austen herself would have thought sensible and suitable—anything like warmth or enthusiasm; anything energetic, poignant, heartfelt, is utterly out of place in commending these works: all such demonstration the authoress would have met with a well-bred sneer, would have calmly scorned as </a:t>
            </a:r>
            <a:r>
              <a:rPr lang="en-GB" sz="2400" b="1" dirty="0" err="1"/>
              <a:t>outre</a:t>
            </a:r>
            <a:r>
              <a:rPr lang="en-GB" sz="2400" b="1" dirty="0"/>
              <a:t> and extravagant. She does her business of delineating the surface of the lives of genteel English people curiously well; there is a Chinese fidelity, a miniature delicacy in the painting: she ruffles her reader by nothing vehement,…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48677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29FB-2690-44A2-83AB-F564D6C7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Pride and Prejudice – Appraisal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27034-7397-4287-A96E-048B4EA19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458" y="2338332"/>
            <a:ext cx="10031896" cy="4386470"/>
          </a:xfrm>
        </p:spPr>
        <p:txBody>
          <a:bodyPr>
            <a:noAutofit/>
          </a:bodyPr>
          <a:lstStyle/>
          <a:p>
            <a:r>
              <a:rPr lang="en-GB" sz="2400" b="1" dirty="0"/>
              <a:t>disturbs him by nothing profound: the Passions are perfectly unknown to her; she rejects even a speaking acquaintance with that stormy Sisterhood; even to the Feelings she vouchsafes no more than an occasional graceful but distant recognition; too frequent converse with them would ruffle the smooth elegance of her progress. ... Jane Austen was a complete and most sensible lady, but a very incomplete, and rather insensible (</a:t>
            </a:r>
            <a:r>
              <a:rPr lang="en-GB" sz="2400" b="1" i="1" dirty="0"/>
              <a:t>not senseless</a:t>
            </a:r>
            <a:r>
              <a:rPr lang="en-GB" sz="2400" b="1" dirty="0"/>
              <a:t>) woman, if this is heresy—I cannot help it. If I said it to some people (Lewes for example) they would accuse me of advocating exaggerated heroics, but I am not afraid of your falling into any such vulgar error."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87321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BFA4FF-25D9-858B-4B93-17F20ED6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2677645"/>
            <a:ext cx="4941046" cy="2283824"/>
          </a:xfrm>
        </p:spPr>
        <p:txBody>
          <a:bodyPr/>
          <a:lstStyle/>
          <a:p>
            <a:r>
              <a:rPr lang="en-GB" i="1" dirty="0"/>
              <a:t>Peter Grimes, </a:t>
            </a:r>
            <a:r>
              <a:rPr lang="en-GB" dirty="0"/>
              <a:t>1810 </a:t>
            </a:r>
            <a:r>
              <a:rPr lang="en-GB" sz="3600" dirty="0"/>
              <a:t>(Part of </a:t>
            </a:r>
            <a:r>
              <a:rPr lang="en-GB" sz="3600" i="1" dirty="0"/>
              <a:t>The Borough </a:t>
            </a:r>
            <a:r>
              <a:rPr lang="en-GB" sz="3600" dirty="0"/>
              <a:t>collection of poems</a:t>
            </a:r>
            <a:r>
              <a:rPr lang="en-GB" sz="3600" i="1" dirty="0"/>
              <a:t>)</a:t>
            </a:r>
            <a:endParaRPr lang="en-GB" i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69BC4E-EB9A-CCB0-ECD1-034BFAA39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4684" y="944094"/>
            <a:ext cx="3757545" cy="2283824"/>
          </a:xfrm>
        </p:spPr>
        <p:txBody>
          <a:bodyPr>
            <a:normAutofit/>
          </a:bodyPr>
          <a:lstStyle/>
          <a:p>
            <a:r>
              <a:rPr lang="en-GB" sz="2800" dirty="0"/>
              <a:t>Reverend </a:t>
            </a:r>
          </a:p>
          <a:p>
            <a:r>
              <a:rPr lang="en-GB" sz="2800" dirty="0"/>
              <a:t>George Crabbe</a:t>
            </a:r>
          </a:p>
          <a:p>
            <a:r>
              <a:rPr lang="en-GB" sz="2800" dirty="0"/>
              <a:t>(1754-1832)</a:t>
            </a:r>
          </a:p>
        </p:txBody>
      </p:sp>
      <p:pic>
        <p:nvPicPr>
          <p:cNvPr id="2050" name="Picture 2" descr="George-Crabbe – Suffolk Poetry Society">
            <a:extLst>
              <a:ext uri="{FF2B5EF4-FFF2-40B4-BE49-F238E27FC236}">
                <a16:creationId xmlns:a16="http://schemas.microsoft.com/office/drawing/2014/main" id="{FBBF6814-7ECA-4584-ED41-BF7406BD5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684" y="3227918"/>
            <a:ext cx="3008780" cy="300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805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050885-EE67-22B3-1D28-B1F8AC76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George Crabbe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DBE445-CC22-DE72-3CAC-36E0CC810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603499"/>
            <a:ext cx="5372100" cy="3997325"/>
          </a:xfrm>
        </p:spPr>
        <p:txBody>
          <a:bodyPr>
            <a:normAutofit/>
          </a:bodyPr>
          <a:lstStyle/>
          <a:p>
            <a:r>
              <a:rPr lang="en-GB" sz="2400" dirty="0"/>
              <a:t>He was born in a poor seaside town and was training to be a surgeon.</a:t>
            </a:r>
          </a:p>
          <a:p>
            <a:r>
              <a:rPr lang="en-GB" sz="2400" dirty="0"/>
              <a:t>He wrote to Edmund Burke (a famous politician and thinker), who helped him to publish his poetry and become a vicar in the church.</a:t>
            </a:r>
          </a:p>
        </p:txBody>
      </p:sp>
      <p:pic>
        <p:nvPicPr>
          <p:cNvPr id="1026" name="Picture 2" descr="The best things to do in Aldeburgh, Suffolk | CN Traveller">
            <a:extLst>
              <a:ext uri="{FF2B5EF4-FFF2-40B4-BE49-F238E27FC236}">
                <a16:creationId xmlns:a16="http://schemas.microsoft.com/office/drawing/2014/main" id="{CACCAA1E-91E2-5962-29DC-5E00D2395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1" y="0"/>
            <a:ext cx="55721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House in which Crabbe, the Poet, was born, Aldeburgh, Suffolk stock ...">
            <a:extLst>
              <a:ext uri="{FF2B5EF4-FFF2-40B4-BE49-F238E27FC236}">
                <a16:creationId xmlns:a16="http://schemas.microsoft.com/office/drawing/2014/main" id="{F1BE697D-038F-DFCF-A8DC-3564DA836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1" y="3714750"/>
            <a:ext cx="4029075" cy="308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BC8F5D-48DC-50D7-BA07-4278E615EA24}"/>
              </a:ext>
            </a:extLst>
          </p:cNvPr>
          <p:cNvSpPr txBox="1"/>
          <p:nvPr/>
        </p:nvSpPr>
        <p:spPr>
          <a:xfrm>
            <a:off x="10296526" y="3962400"/>
            <a:ext cx="1762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Adelburgh</a:t>
            </a:r>
            <a:r>
              <a:rPr lang="en-GB" sz="2400" dirty="0"/>
              <a:t> in Suffolk, where George Crabbe was born</a:t>
            </a:r>
          </a:p>
        </p:txBody>
      </p:sp>
    </p:spTree>
    <p:extLst>
      <p:ext uri="{BB962C8B-B14F-4D97-AF65-F5344CB8AC3E}">
        <p14:creationId xmlns:p14="http://schemas.microsoft.com/office/powerpoint/2010/main" val="140427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12F5-7969-BADE-DA3B-56B270451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/>
              <a:t>Peter Grimes  –  </a:t>
            </a:r>
            <a:r>
              <a:rPr lang="en-GB" dirty="0"/>
              <a:t>analysis:</a:t>
            </a:r>
            <a:endParaRPr lang="en-GB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7D2FB-0324-A02D-BE8B-31691C1A2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267340" cy="3713324"/>
          </a:xfrm>
        </p:spPr>
        <p:txBody>
          <a:bodyPr>
            <a:normAutofit/>
          </a:bodyPr>
          <a:lstStyle/>
          <a:p>
            <a:r>
              <a:rPr lang="en-GB" sz="2800" dirty="0"/>
              <a:t>What happens in the poem?</a:t>
            </a:r>
          </a:p>
          <a:p>
            <a:r>
              <a:rPr lang="en-GB" sz="2800" dirty="0"/>
              <a:t>How is it structured?</a:t>
            </a:r>
          </a:p>
          <a:p>
            <a:r>
              <a:rPr lang="en-GB" sz="2800" dirty="0"/>
              <a:t>What is the character of Peter Grimes like? What is his back-story? How does he act?</a:t>
            </a:r>
          </a:p>
          <a:p>
            <a:r>
              <a:rPr lang="en-GB" sz="2800" dirty="0"/>
              <a:t>Is justice served in the poem?</a:t>
            </a:r>
          </a:p>
          <a:p>
            <a:r>
              <a:rPr lang="en-GB" sz="2800" dirty="0"/>
              <a:t>What is Peter guilty of?</a:t>
            </a:r>
          </a:p>
        </p:txBody>
      </p:sp>
    </p:spTree>
    <p:extLst>
      <p:ext uri="{BB962C8B-B14F-4D97-AF65-F5344CB8AC3E}">
        <p14:creationId xmlns:p14="http://schemas.microsoft.com/office/powerpoint/2010/main" val="2790578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4289-C2B6-528E-3E9A-15369D86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Creative Writing – choose either: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61416-B6DA-1B5A-1A80-A93AAB81F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91531"/>
            <a:ext cx="9995128" cy="3778639"/>
          </a:xfrm>
        </p:spPr>
        <p:txBody>
          <a:bodyPr>
            <a:normAutofit/>
          </a:bodyPr>
          <a:lstStyle/>
          <a:p>
            <a:r>
              <a:rPr lang="en-GB" sz="2400" b="1" dirty="0"/>
              <a:t>Write a stanza about a criminal activity or social ill. </a:t>
            </a:r>
          </a:p>
          <a:p>
            <a:pPr marL="0" indent="0">
              <a:buNone/>
            </a:pPr>
            <a:r>
              <a:rPr lang="en-GB" sz="2400" dirty="0"/>
              <a:t>	– you could use some rhyme, or a different structure.</a:t>
            </a:r>
          </a:p>
          <a:p>
            <a:pPr marL="0" indent="0">
              <a:buNone/>
            </a:pPr>
            <a:r>
              <a:rPr lang="en-GB" sz="2400" dirty="0"/>
              <a:t>	– try to communicate ‘realism’.</a:t>
            </a:r>
          </a:p>
          <a:p>
            <a:pPr marL="0" indent="0">
              <a:buNone/>
            </a:pPr>
            <a:endParaRPr lang="en-GB" sz="1200" dirty="0"/>
          </a:p>
          <a:p>
            <a:r>
              <a:rPr lang="en-GB" sz="2400" b="1" dirty="0"/>
              <a:t>Write a couple of paragraphs, or some lines of dialogue, which show a real-life situation.</a:t>
            </a:r>
          </a:p>
          <a:p>
            <a:pPr marL="0" indent="0">
              <a:buNone/>
            </a:pPr>
            <a:r>
              <a:rPr lang="en-GB" sz="2400" dirty="0"/>
              <a:t>	– you could add an ironic tone, as the narrator, to help 	  	  		   comment 	on some aspects of real life or feeling.</a:t>
            </a:r>
          </a:p>
        </p:txBody>
      </p:sp>
    </p:spTree>
    <p:extLst>
      <p:ext uri="{BB962C8B-B14F-4D97-AF65-F5344CB8AC3E}">
        <p14:creationId xmlns:p14="http://schemas.microsoft.com/office/powerpoint/2010/main" val="326757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9CE0-E394-A4E6-7A3E-9AB5940A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Academic Writing: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4C4F-51E2-AD59-A10E-AD1A32134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144417" cy="3416300"/>
          </a:xfrm>
        </p:spPr>
        <p:txBody>
          <a:bodyPr>
            <a:normAutofit/>
          </a:bodyPr>
          <a:lstStyle/>
          <a:p>
            <a:r>
              <a:rPr lang="en-GB" sz="2800" dirty="0"/>
              <a:t>Write a couple of academic paragraphs to:</a:t>
            </a:r>
          </a:p>
          <a:p>
            <a:endParaRPr lang="en-GB" dirty="0"/>
          </a:p>
          <a:p>
            <a:pPr marL="457200" lvl="1" indent="0">
              <a:buNone/>
            </a:pPr>
            <a:r>
              <a:rPr lang="en-GB" sz="2800" dirty="0"/>
              <a:t>Compare and contrast the ‘realism’ of the contemporaneous writers Jane Austen and George Crabbe, in their respective works, </a:t>
            </a:r>
            <a:r>
              <a:rPr lang="en-GB" sz="2800" i="1" dirty="0"/>
              <a:t>Pride and Prejudice </a:t>
            </a:r>
            <a:r>
              <a:rPr lang="en-GB" sz="2800" dirty="0"/>
              <a:t>and </a:t>
            </a:r>
            <a:r>
              <a:rPr lang="en-GB" sz="2800" i="1" dirty="0"/>
              <a:t>Peter Grimes.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81095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E2ACE-42A5-7965-28C2-85F798EBA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80555-B6C6-2800-AED8-A30E1330F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/>
              <a:t>Please read two </a:t>
            </a:r>
            <a:r>
              <a:rPr lang="en-GB" sz="3000" dirty="0"/>
              <a:t>poems from the period of Romanticism, and one from the mid-nineteenth century.</a:t>
            </a:r>
          </a:p>
        </p:txBody>
      </p:sp>
    </p:spTree>
    <p:extLst>
      <p:ext uri="{BB962C8B-B14F-4D97-AF65-F5344CB8AC3E}">
        <p14:creationId xmlns:p14="http://schemas.microsoft.com/office/powerpoint/2010/main" val="471363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272</TotalTime>
  <Words>1393</Words>
  <Application>Microsoft Office PowerPoint</Application>
  <PresentationFormat>Widescreen</PresentationFormat>
  <Paragraphs>117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Century Gothic</vt:lpstr>
      <vt:lpstr>Wingdings</vt:lpstr>
      <vt:lpstr>Wingdings 3</vt:lpstr>
      <vt:lpstr>Ion Boardroom</vt:lpstr>
      <vt:lpstr>Pride and Prejudice Peter Grimes</vt:lpstr>
      <vt:lpstr>Jane Austen (1775 -1817)</vt:lpstr>
      <vt:lpstr>Who’s who in Pride and Prejudice?</vt:lpstr>
      <vt:lpstr>Who’s who in Pride and Prejudice?</vt:lpstr>
      <vt:lpstr>Read the excerpt from Chapter One</vt:lpstr>
      <vt:lpstr>Pride and Prejudice – Characters and Plot</vt:lpstr>
      <vt:lpstr>Pride and Prejudice – Characters and Plot</vt:lpstr>
      <vt:lpstr>PowerPoint Presentation</vt:lpstr>
      <vt:lpstr>Chapter 3 Excerpt:</vt:lpstr>
      <vt:lpstr>Plot Developments; Chapter 34 Excerpt:</vt:lpstr>
      <vt:lpstr>Plot Developments; Chapter 58 Excerpt:</vt:lpstr>
      <vt:lpstr>How are the themes in  Pride and Prejudice portrayed?</vt:lpstr>
      <vt:lpstr>Are they treated realistically?</vt:lpstr>
      <vt:lpstr>Pride and Prejudice – Appraisal</vt:lpstr>
      <vt:lpstr>Pride and Prejudice – Appraisal</vt:lpstr>
      <vt:lpstr>Pride and Prejudice – Appraisal</vt:lpstr>
      <vt:lpstr>Pride and Prejudice – Appraisal</vt:lpstr>
      <vt:lpstr>Peter Grimes, 1810 (Part of The Borough collection of poems)</vt:lpstr>
      <vt:lpstr>George Crabbe</vt:lpstr>
      <vt:lpstr>Peter Grimes  –  analysis:</vt:lpstr>
      <vt:lpstr>Creative Writing – choose either:</vt:lpstr>
      <vt:lpstr>Academic Writing: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Pride and Prejudice Wuthering Heights</dc:title>
  <dc:creator>Dom Graham</dc:creator>
  <cp:lastModifiedBy>Dominic Graham</cp:lastModifiedBy>
  <cp:revision>13</cp:revision>
  <dcterms:created xsi:type="dcterms:W3CDTF">2018-04-12T05:40:49Z</dcterms:created>
  <dcterms:modified xsi:type="dcterms:W3CDTF">2025-10-26T12:44:52Z</dcterms:modified>
</cp:coreProperties>
</file>