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6" r:id="rId2"/>
  </p:sldMasterIdLst>
  <p:sldIdLst>
    <p:sldId id="321" r:id="rId3"/>
    <p:sldId id="282" r:id="rId4"/>
    <p:sldId id="281" r:id="rId5"/>
    <p:sldId id="283" r:id="rId6"/>
    <p:sldId id="284" r:id="rId7"/>
    <p:sldId id="285" r:id="rId8"/>
    <p:sldId id="300" r:id="rId9"/>
    <p:sldId id="329" r:id="rId10"/>
    <p:sldId id="286" r:id="rId11"/>
    <p:sldId id="287" r:id="rId12"/>
    <p:sldId id="288" r:id="rId13"/>
    <p:sldId id="299" r:id="rId14"/>
    <p:sldId id="289" r:id="rId15"/>
    <p:sldId id="290" r:id="rId16"/>
    <p:sldId id="291" r:id="rId17"/>
    <p:sldId id="309" r:id="rId18"/>
    <p:sldId id="328" r:id="rId19"/>
    <p:sldId id="322" r:id="rId20"/>
    <p:sldId id="325" r:id="rId21"/>
    <p:sldId id="330" r:id="rId22"/>
    <p:sldId id="331" r:id="rId23"/>
    <p:sldId id="334" r:id="rId24"/>
    <p:sldId id="336" r:id="rId25"/>
    <p:sldId id="335" r:id="rId26"/>
    <p:sldId id="337" r:id="rId27"/>
    <p:sldId id="339" r:id="rId28"/>
    <p:sldId id="340" r:id="rId29"/>
    <p:sldId id="332" r:id="rId30"/>
    <p:sldId id="333" r:id="rId31"/>
    <p:sldId id="345" r:id="rId32"/>
    <p:sldId id="346" r:id="rId33"/>
    <p:sldId id="347" r:id="rId34"/>
    <p:sldId id="344" r:id="rId35"/>
    <p:sldId id="343" r:id="rId36"/>
    <p:sldId id="348" r:id="rId37"/>
    <p:sldId id="342" r:id="rId38"/>
    <p:sldId id="34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minic Graham" userId="80d46ba77b7de579" providerId="LiveId" clId="{1AE7EF3E-765B-4830-9F41-D7DA456DBC61}"/>
    <pc:docChg chg="custSel modSld">
      <pc:chgData name="Dominic Graham" userId="80d46ba77b7de579" providerId="LiveId" clId="{1AE7EF3E-765B-4830-9F41-D7DA456DBC61}" dt="2025-11-30T13:04:36.109" v="135" actId="20577"/>
      <pc:docMkLst>
        <pc:docMk/>
      </pc:docMkLst>
      <pc:sldChg chg="modSp mod">
        <pc:chgData name="Dominic Graham" userId="80d46ba77b7de579" providerId="LiveId" clId="{1AE7EF3E-765B-4830-9F41-D7DA456DBC61}" dt="2025-11-30T13:01:35.326" v="1" actId="20577"/>
        <pc:sldMkLst>
          <pc:docMk/>
          <pc:sldMk cId="3782525988" sldId="321"/>
        </pc:sldMkLst>
        <pc:spChg chg="mod">
          <ac:chgData name="Dominic Graham" userId="80d46ba77b7de579" providerId="LiveId" clId="{1AE7EF3E-765B-4830-9F41-D7DA456DBC61}" dt="2025-11-30T13:01:35.326" v="1" actId="20577"/>
          <ac:spMkLst>
            <pc:docMk/>
            <pc:sldMk cId="3782525988" sldId="321"/>
            <ac:spMk id="5" creationId="{28515039-3787-452E-A454-D51A648EF289}"/>
          </ac:spMkLst>
        </pc:spChg>
      </pc:sldChg>
      <pc:sldChg chg="modSp mod">
        <pc:chgData name="Dominic Graham" userId="80d46ba77b7de579" providerId="LiveId" clId="{1AE7EF3E-765B-4830-9F41-D7DA456DBC61}" dt="2025-11-30T13:04:36.109" v="135" actId="20577"/>
        <pc:sldMkLst>
          <pc:docMk/>
          <pc:sldMk cId="3119685580" sldId="341"/>
        </pc:sldMkLst>
        <pc:spChg chg="mod">
          <ac:chgData name="Dominic Graham" userId="80d46ba77b7de579" providerId="LiveId" clId="{1AE7EF3E-765B-4830-9F41-D7DA456DBC61}" dt="2025-11-30T13:04:36.109" v="135" actId="20577"/>
          <ac:spMkLst>
            <pc:docMk/>
            <pc:sldMk cId="3119685580" sldId="341"/>
            <ac:spMk id="3" creationId="{279A4E25-D7C3-792D-85BD-8FDAAE781C75}"/>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72C3E47D-9945-4FC7-91C2-8905025DE915}" type="datetimeFigureOut">
              <a:rPr lang="en-GB" smtClean="0"/>
              <a:t>30/11/2025</a:t>
            </a:fld>
            <a:endParaRPr lang="en-GB"/>
          </a:p>
        </p:txBody>
      </p:sp>
      <p:sp>
        <p:nvSpPr>
          <p:cNvPr id="5" name="Footer Placeholder 4"/>
          <p:cNvSpPr>
            <a:spLocks noGrp="1"/>
          </p:cNvSpPr>
          <p:nvPr>
            <p:ph type="ftr" sz="quarter" idx="11"/>
          </p:nvPr>
        </p:nvSpPr>
        <p:spPr>
          <a:xfrm>
            <a:off x="3962399" y="5870575"/>
            <a:ext cx="4893958" cy="377825"/>
          </a:xfrm>
        </p:spPr>
        <p:txBody>
          <a:bodyPr/>
          <a:lstStyle/>
          <a:p>
            <a:endParaRPr lang="en-GB"/>
          </a:p>
        </p:txBody>
      </p:sp>
      <p:sp>
        <p:nvSpPr>
          <p:cNvPr id="6" name="Slide Number Placeholder 5"/>
          <p:cNvSpPr>
            <a:spLocks noGrp="1"/>
          </p:cNvSpPr>
          <p:nvPr>
            <p:ph type="sldNum" sz="quarter" idx="12"/>
          </p:nvPr>
        </p:nvSpPr>
        <p:spPr>
          <a:xfrm>
            <a:off x="10608958" y="5870575"/>
            <a:ext cx="551167" cy="377825"/>
          </a:xfrm>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195745248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1524660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2898232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C3E47D-9945-4FC7-91C2-8905025DE915}" type="datetimeFigureOut">
              <a:rPr lang="en-GB" smtClean="0"/>
              <a:t>30/11/2025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3380488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C3E47D-9945-4FC7-91C2-8905025DE915}" type="datetimeFigureOut">
              <a:rPr lang="en-GB" smtClean="0"/>
              <a:t>30/11/2025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2362208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C3E47D-9945-4FC7-91C2-8905025DE915}" type="datetimeFigureOut">
              <a:rPr lang="en-GB" smtClean="0"/>
              <a:t>30/11/2025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166310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72C3E47D-9945-4FC7-91C2-8905025DE915}" type="datetimeFigureOut">
              <a:rPr lang="en-GB" smtClean="0"/>
              <a:t>30/11/2025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1692296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2C3E47D-9945-4FC7-91C2-8905025DE915}" type="datetimeFigureOut">
              <a:rPr lang="en-GB" smtClean="0"/>
              <a:t>30/11/2025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539194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2C3E47D-9945-4FC7-91C2-8905025DE915}" type="datetimeFigureOut">
              <a:rPr lang="en-GB" smtClean="0"/>
              <a:t>30/11/2025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682505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fld id="{0353A5B1-D700-4701-BEEE-919EBEFE71E0}" type="datetimeFigureOut">
              <a:rPr lang="zh-CN" altLang="en-US" smtClean="0"/>
              <a:pPr>
                <a:defRPr/>
              </a:pPr>
              <a:t>2025/11/30</a:t>
            </a:fld>
            <a:endParaRPr lang="en-US" altLang="zh-CN"/>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160866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0353A5B1-D700-4701-BEEE-919EBEFE71E0}" type="datetimeFigureOut">
              <a:rPr lang="zh-CN" altLang="en-US" smtClean="0"/>
              <a:pPr>
                <a:defRPr/>
              </a:pPr>
              <a:t>2025/11/30</a:t>
            </a:fld>
            <a:endParaRPr lang="en-US" altLang="zh-CN"/>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2609532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0353A5B1-D700-4701-BEEE-919EBEFE71E0}" type="datetimeFigureOut">
              <a:rPr lang="zh-CN" altLang="en-US" smtClean="0"/>
              <a:pPr>
                <a:defRPr/>
              </a:pPr>
              <a:t>2025/11/30</a:t>
            </a:fld>
            <a:endParaRPr lang="en-US" altLang="zh-CN"/>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26656227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0353A5B1-D700-4701-BEEE-919EBEFE71E0}" type="datetimeFigureOut">
              <a:rPr lang="zh-CN" altLang="en-US" smtClean="0"/>
              <a:pPr>
                <a:defRPr/>
              </a:pPr>
              <a:t>2025/11/30</a:t>
            </a:fld>
            <a:endParaRPr lang="en-US" altLang="zh-CN"/>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2556774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0353A5B1-D700-4701-BEEE-919EBEFE71E0}" type="datetimeFigureOut">
              <a:rPr lang="zh-CN" altLang="en-US" smtClean="0"/>
              <a:pPr>
                <a:defRPr/>
              </a:pPr>
              <a:t>2025/11/30</a:t>
            </a:fld>
            <a:endParaRPr lang="en-US" altLang="zh-CN"/>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2212895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fld id="{0353A5B1-D700-4701-BEEE-919EBEFE71E0}" type="datetimeFigureOut">
              <a:rPr lang="zh-CN" altLang="en-US" smtClean="0"/>
              <a:pPr>
                <a:defRPr/>
              </a:pPr>
              <a:t>2025/11/30</a:t>
            </a:fld>
            <a:endParaRPr lang="en-US" altLang="zh-CN"/>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3118121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C33718-0899-4863-BC63-D6618D924FC9}" type="slidenum">
              <a:rPr lang="en-GB" smtClean="0"/>
              <a:t>‹#›</a:t>
            </a:fld>
            <a:endParaRPr lang="en-GB"/>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76808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1360679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30FBB-CE4E-64A1-3605-33B637FF10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725DA77-FE2A-2D0E-4EF0-287DA6501A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B53C3D5-8AC1-C7A5-A356-CDBA47D45E48}"/>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a:extLst>
              <a:ext uri="{FF2B5EF4-FFF2-40B4-BE49-F238E27FC236}">
                <a16:creationId xmlns:a16="http://schemas.microsoft.com/office/drawing/2014/main" id="{B7DFA469-4DA7-4846-FB69-6E840697E96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427198-3F8A-AA98-41B7-BA5383F927AE}"/>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7563714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951F4-2A53-C3CC-CE2D-D06ED98816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8DBD661-7414-008F-90DC-0B46181BFE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23B7526-44E0-9FE3-A6C9-0B9CE79C885B}"/>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a:extLst>
              <a:ext uri="{FF2B5EF4-FFF2-40B4-BE49-F238E27FC236}">
                <a16:creationId xmlns:a16="http://schemas.microsoft.com/office/drawing/2014/main" id="{F2652DB4-DFB8-DF49-67ED-8EB8A426C5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F94A53-199C-7C14-133F-55454D400B34}"/>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29402150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769BA-AB59-F9C9-28E0-FE85DCBF47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E6F9F82-018C-5755-651B-EB4D365E39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3CBA85-354D-00C6-A85C-5A64262B661C}"/>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a:extLst>
              <a:ext uri="{FF2B5EF4-FFF2-40B4-BE49-F238E27FC236}">
                <a16:creationId xmlns:a16="http://schemas.microsoft.com/office/drawing/2014/main" id="{456180D9-6DA0-F977-A6A6-979AB6AAB9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3E6A0B-3CB5-0925-9638-1E3CD4AAE6B8}"/>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3322100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471A9-B638-586F-A546-E032CDDEFB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1663594-8CA2-F290-81CA-BE3D5210A2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4D6D2B-DD2B-71F3-4590-0D2C0DC59A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77263E0-777B-E29D-0BCE-4E91EB017CAB}"/>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6" name="Footer Placeholder 5">
            <a:extLst>
              <a:ext uri="{FF2B5EF4-FFF2-40B4-BE49-F238E27FC236}">
                <a16:creationId xmlns:a16="http://schemas.microsoft.com/office/drawing/2014/main" id="{434C2CA0-A895-D7DE-1AC5-32093731EA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6DF28E-999C-DF72-658A-0FF3D2807494}"/>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35424702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0823-E15A-28BB-9582-BD9E22408AB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935931-4903-63C3-C4F6-6F27ADF1EA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193882-98BE-B13B-12A8-751C794F9C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CF182A6-E70D-1E54-6C8D-4EF14A72EA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31029-A2F6-3F08-4803-F3708A372E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E8EC2A-42E0-3630-154A-E63ADA31C929}"/>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8" name="Footer Placeholder 7">
            <a:extLst>
              <a:ext uri="{FF2B5EF4-FFF2-40B4-BE49-F238E27FC236}">
                <a16:creationId xmlns:a16="http://schemas.microsoft.com/office/drawing/2014/main" id="{E92FFE95-F846-5242-0E20-2E6518CD3CE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57FD4B6-983D-A6E3-4797-0ADE452CE412}"/>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7881304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D889C-0D90-D528-2523-14CED86D275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52FA04-BB95-7A3B-6A91-19F330B65BDD}"/>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4" name="Footer Placeholder 3">
            <a:extLst>
              <a:ext uri="{FF2B5EF4-FFF2-40B4-BE49-F238E27FC236}">
                <a16:creationId xmlns:a16="http://schemas.microsoft.com/office/drawing/2014/main" id="{F0104217-70B0-3F8A-1A66-E1D914BC365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3549CE8-71CB-BCFF-9E59-8E4FF8D712C4}"/>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2247234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B83E5-BEA5-A486-9EA3-2681D413EEEE}"/>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3" name="Footer Placeholder 2">
            <a:extLst>
              <a:ext uri="{FF2B5EF4-FFF2-40B4-BE49-F238E27FC236}">
                <a16:creationId xmlns:a16="http://schemas.microsoft.com/office/drawing/2014/main" id="{438143F3-6597-9C78-2204-A7907C10D53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586DF5-7223-CEE0-54B1-477E18A73A94}"/>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252345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1F644-1C2A-0D95-09A7-0D9547919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CC2EF9E-4B35-A97F-D4C5-52EEDF4F79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3339B41-5286-2683-2774-572854587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9454DB-A9C4-6585-42C3-65C04D31E8B8}"/>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6" name="Footer Placeholder 5">
            <a:extLst>
              <a:ext uri="{FF2B5EF4-FFF2-40B4-BE49-F238E27FC236}">
                <a16:creationId xmlns:a16="http://schemas.microsoft.com/office/drawing/2014/main" id="{183F53EC-D149-9AF4-8F4E-D5CC10D6F1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FEBD0E-94AA-0F49-04CE-306348AC6B05}"/>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15933090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5547-5EDB-FF26-CEC7-756ED8352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C487341-3389-548E-23FD-A15E2035AA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6647E020-DA93-8ABC-1938-D85A20B745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E29FC3-5EE0-FBD6-C9AE-F332F571904A}"/>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6" name="Footer Placeholder 5">
            <a:extLst>
              <a:ext uri="{FF2B5EF4-FFF2-40B4-BE49-F238E27FC236}">
                <a16:creationId xmlns:a16="http://schemas.microsoft.com/office/drawing/2014/main" id="{D0EDBEBE-652F-F8CF-3A3A-91356C1EF4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037D321-EFF1-48C3-A007-9837E4B97E98}"/>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33810283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0885-8639-FA99-B514-82DF2B09FFA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C3C800-6841-2133-DDED-7478501BCE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C47FE8D-0A10-D92E-3E6E-A65724C41A5C}"/>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a:extLst>
              <a:ext uri="{FF2B5EF4-FFF2-40B4-BE49-F238E27FC236}">
                <a16:creationId xmlns:a16="http://schemas.microsoft.com/office/drawing/2014/main" id="{794ED353-965F-B9BF-7445-07535B01BB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DA88D9-F7F7-EEB0-BB7D-DC4D10690FA7}"/>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752109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C17749-E0DD-DB17-C820-0A108C694A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7624463-675D-EE3F-D940-F4A311F53E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EC5806-D7C7-E52F-84DD-09EAFB0AF7A1}"/>
              </a:ext>
            </a:extLst>
          </p:cNvPr>
          <p:cNvSpPr>
            <a:spLocks noGrp="1"/>
          </p:cNvSpPr>
          <p:nvPr>
            <p:ph type="dt" sz="half" idx="10"/>
          </p:nvPr>
        </p:nvSpPr>
        <p:spPr/>
        <p:txBody>
          <a:bodyPr/>
          <a:lstStyle/>
          <a:p>
            <a:fld id="{72C3E47D-9945-4FC7-91C2-8905025DE915}" type="datetimeFigureOut">
              <a:rPr lang="en-GB" smtClean="0"/>
              <a:t>30/11/2025</a:t>
            </a:fld>
            <a:endParaRPr lang="en-GB"/>
          </a:p>
        </p:txBody>
      </p:sp>
      <p:sp>
        <p:nvSpPr>
          <p:cNvPr id="5" name="Footer Placeholder 4">
            <a:extLst>
              <a:ext uri="{FF2B5EF4-FFF2-40B4-BE49-F238E27FC236}">
                <a16:creationId xmlns:a16="http://schemas.microsoft.com/office/drawing/2014/main" id="{39A7D784-8365-EE47-766D-357F2632CD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014ED3-011B-1825-872D-0BD153139466}"/>
              </a:ext>
            </a:extLst>
          </p:cNvPr>
          <p:cNvSpPr>
            <a:spLocks noGrp="1"/>
          </p:cNvSpPr>
          <p:nvPr>
            <p:ph type="sldNum" sz="quarter" idx="12"/>
          </p:nvPr>
        </p:nvSpPr>
        <p:spPr/>
        <p:txBody>
          <a:bodyPr/>
          <a:lstStyle/>
          <a:p>
            <a:fld id="{03C33718-0899-4863-BC63-D6618D924FC9}" type="slidenum">
              <a:rPr lang="en-GB" smtClean="0"/>
              <a:t>‹#›</a:t>
            </a:fld>
            <a:endParaRPr lang="en-GB"/>
          </a:p>
        </p:txBody>
      </p:sp>
    </p:spTree>
    <p:extLst>
      <p:ext uri="{BB962C8B-B14F-4D97-AF65-F5344CB8AC3E}">
        <p14:creationId xmlns:p14="http://schemas.microsoft.com/office/powerpoint/2010/main" val="3006951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a:defRPr/>
            </a:pPr>
            <a:fld id="{0353A5B1-D700-4701-BEEE-919EBEFE71E0}" type="datetimeFigureOut">
              <a:rPr lang="zh-CN" altLang="en-US" smtClean="0"/>
              <a:pPr>
                <a:defRPr/>
              </a:pPr>
              <a:t>2025/11/30</a:t>
            </a:fld>
            <a:endParaRPr lang="en-US" altLang="zh-C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pPr>
              <a:defRPr/>
            </a:pPr>
            <a:endParaRPr lang="zh-CN" alt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3978198088"/>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E5C70B-0E98-13D5-F644-2685A1150E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3C29D6-A019-ED32-F197-8BEB5E7799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5DEB15-03EC-A38A-C04A-C4471E4DD0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353A5B1-D700-4701-BEEE-919EBEFE71E0}" type="datetimeFigureOut">
              <a:rPr lang="zh-CN" altLang="en-US" smtClean="0"/>
              <a:pPr>
                <a:defRPr/>
              </a:pPr>
              <a:t>2025/11/30</a:t>
            </a:fld>
            <a:endParaRPr lang="en-US" altLang="zh-CN"/>
          </a:p>
        </p:txBody>
      </p:sp>
      <p:sp>
        <p:nvSpPr>
          <p:cNvPr id="5" name="Footer Placeholder 4">
            <a:extLst>
              <a:ext uri="{FF2B5EF4-FFF2-40B4-BE49-F238E27FC236}">
                <a16:creationId xmlns:a16="http://schemas.microsoft.com/office/drawing/2014/main" id="{6EFAFBC0-6549-3817-57D8-14CDD75F50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a:extLst>
              <a:ext uri="{FF2B5EF4-FFF2-40B4-BE49-F238E27FC236}">
                <a16:creationId xmlns:a16="http://schemas.microsoft.com/office/drawing/2014/main" id="{ECCE8060-3619-6B53-94C2-67CD9175F0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B3745-4412-4C82-B67B-957CAFB0DAB2}" type="slidenum">
              <a:rPr lang="zh-CN" altLang="en-US" smtClean="0"/>
              <a:pPr/>
              <a:t>‹#›</a:t>
            </a:fld>
            <a:endParaRPr lang="en-US" altLang="zh-CN"/>
          </a:p>
        </p:txBody>
      </p:sp>
    </p:spTree>
    <p:extLst>
      <p:ext uri="{BB962C8B-B14F-4D97-AF65-F5344CB8AC3E}">
        <p14:creationId xmlns:p14="http://schemas.microsoft.com/office/powerpoint/2010/main" val="355811068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A6B58-AFB7-4B11-A5E3-F9446D62C86A}"/>
              </a:ext>
            </a:extLst>
          </p:cNvPr>
          <p:cNvSpPr>
            <a:spLocks noGrp="1"/>
          </p:cNvSpPr>
          <p:nvPr>
            <p:ph type="ctrTitle"/>
          </p:nvPr>
        </p:nvSpPr>
        <p:spPr>
          <a:xfrm>
            <a:off x="3962399" y="1553720"/>
            <a:ext cx="7197726" cy="2421464"/>
          </a:xfrm>
        </p:spPr>
        <p:txBody>
          <a:bodyPr/>
          <a:lstStyle/>
          <a:p>
            <a:r>
              <a:rPr lang="en-GB" dirty="0"/>
              <a:t>Appreciation of English and American literature</a:t>
            </a:r>
          </a:p>
        </p:txBody>
      </p:sp>
      <p:sp>
        <p:nvSpPr>
          <p:cNvPr id="5" name="Subtitle 4">
            <a:extLst>
              <a:ext uri="{FF2B5EF4-FFF2-40B4-BE49-F238E27FC236}">
                <a16:creationId xmlns:a16="http://schemas.microsoft.com/office/drawing/2014/main" id="{28515039-3787-452E-A454-D51A648EF289}"/>
              </a:ext>
            </a:extLst>
          </p:cNvPr>
          <p:cNvSpPr>
            <a:spLocks noGrp="1"/>
          </p:cNvSpPr>
          <p:nvPr>
            <p:ph type="subTitle" idx="1"/>
          </p:nvPr>
        </p:nvSpPr>
        <p:spPr/>
        <p:txBody>
          <a:bodyPr>
            <a:normAutofit/>
          </a:bodyPr>
          <a:lstStyle/>
          <a:p>
            <a:r>
              <a:rPr lang="en-GB" sz="4000" dirty="0"/>
              <a:t>Week 12: Postmodern Poetry</a:t>
            </a:r>
          </a:p>
        </p:txBody>
      </p:sp>
    </p:spTree>
    <p:extLst>
      <p:ext uri="{BB962C8B-B14F-4D97-AF65-F5344CB8AC3E}">
        <p14:creationId xmlns:p14="http://schemas.microsoft.com/office/powerpoint/2010/main" val="3782525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p:nvPr>
        </p:nvSpPr>
        <p:spPr>
          <a:xfrm>
            <a:off x="685801" y="490330"/>
            <a:ext cx="10131425" cy="1456267"/>
          </a:xfrm>
        </p:spPr>
        <p:txBody>
          <a:bodyPr/>
          <a:lstStyle/>
          <a:p>
            <a:pPr algn="l" eaLnBrk="1" hangingPunct="1">
              <a:defRPr/>
            </a:pPr>
            <a:r>
              <a:rPr lang="en-US" altLang="zh-CN" sz="4800" dirty="0"/>
              <a:t>The Scream</a:t>
            </a:r>
          </a:p>
        </p:txBody>
      </p:sp>
      <p:sp>
        <p:nvSpPr>
          <p:cNvPr id="89091" name="Rectangle 3"/>
          <p:cNvSpPr>
            <a:spLocks noGrp="1" noChangeArrowheads="1"/>
          </p:cNvSpPr>
          <p:nvPr>
            <p:ph idx="1"/>
          </p:nvPr>
        </p:nvSpPr>
        <p:spPr>
          <a:xfrm>
            <a:off x="685801" y="1721542"/>
            <a:ext cx="8229600" cy="4525963"/>
          </a:xfrm>
        </p:spPr>
        <p:txBody>
          <a:bodyPr>
            <a:normAutofit/>
          </a:bodyPr>
          <a:lstStyle/>
          <a:p>
            <a:pPr eaLnBrk="1" hangingPunct="1">
              <a:buFont typeface="Wingdings" panose="05000000000000000000" pitchFamily="2" charset="2"/>
              <a:buNone/>
              <a:defRPr/>
            </a:pPr>
            <a:r>
              <a:rPr lang="en-US" altLang="zh-CN" sz="3200" dirty="0"/>
              <a:t>1893 – Edvard Munch</a:t>
            </a:r>
          </a:p>
          <a:p>
            <a:pPr eaLnBrk="1" hangingPunct="1">
              <a:buFont typeface="Wingdings" panose="05000000000000000000" pitchFamily="2" charset="2"/>
              <a:buNone/>
              <a:defRPr/>
            </a:pPr>
            <a:r>
              <a:rPr lang="en-US" altLang="zh-CN" sz="3200" dirty="0"/>
              <a:t>Expressionism</a:t>
            </a:r>
          </a:p>
          <a:p>
            <a:pPr eaLnBrk="1" hangingPunct="1">
              <a:buFont typeface="Wingdings" panose="05000000000000000000" pitchFamily="2" charset="2"/>
              <a:buNone/>
              <a:defRPr/>
            </a:pPr>
            <a:endParaRPr lang="en-US" altLang="zh-CN" sz="3200" dirty="0"/>
          </a:p>
          <a:p>
            <a:pPr eaLnBrk="1" hangingPunct="1">
              <a:buFont typeface="Wingdings" panose="05000000000000000000" pitchFamily="2" charset="2"/>
              <a:buNone/>
              <a:defRPr/>
            </a:pPr>
            <a:r>
              <a:rPr lang="en-US" altLang="zh-CN" sz="3200" dirty="0"/>
              <a:t>A life without foundation – </a:t>
            </a:r>
          </a:p>
          <a:p>
            <a:pPr eaLnBrk="1" hangingPunct="1">
              <a:buFont typeface="Wingdings" panose="05000000000000000000" pitchFamily="2" charset="2"/>
              <a:buNone/>
              <a:defRPr/>
            </a:pPr>
            <a:r>
              <a:rPr lang="en-US" altLang="zh-CN" sz="3200" dirty="0"/>
              <a:t>‘existential angst.’</a:t>
            </a:r>
          </a:p>
          <a:p>
            <a:pPr eaLnBrk="1" hangingPunct="1">
              <a:buFont typeface="Wingdings" panose="05000000000000000000" pitchFamily="2" charset="2"/>
              <a:buNone/>
              <a:defRPr/>
            </a:pPr>
            <a:endParaRPr lang="en-US" altLang="zh-CN" sz="3200" dirty="0"/>
          </a:p>
        </p:txBody>
      </p:sp>
      <p:pic>
        <p:nvPicPr>
          <p:cNvPr id="72707" name="Picture 4" descr="The_Scre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250645"/>
            <a:ext cx="5049078" cy="6389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494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rrowheads="1"/>
          </p:cNvSpPr>
          <p:nvPr>
            <p:ph type="title"/>
          </p:nvPr>
        </p:nvSpPr>
        <p:spPr>
          <a:xfrm>
            <a:off x="1547193" y="217355"/>
            <a:ext cx="10131425" cy="1456267"/>
          </a:xfrm>
        </p:spPr>
        <p:txBody>
          <a:bodyPr/>
          <a:lstStyle/>
          <a:p>
            <a:pPr eaLnBrk="1" hangingPunct="1">
              <a:defRPr/>
            </a:pPr>
            <a:r>
              <a:rPr lang="en-US" altLang="zh-CN" sz="4000" dirty="0"/>
              <a:t>1920 </a:t>
            </a:r>
            <a:r>
              <a:rPr lang="en-US" altLang="zh-CN" sz="4000" dirty="0">
                <a:latin typeface="Arial"/>
              </a:rPr>
              <a:t>–</a:t>
            </a:r>
            <a:r>
              <a:rPr lang="en-US" altLang="zh-CN" sz="4000" dirty="0"/>
              <a:t> Claude Monet </a:t>
            </a:r>
            <a:r>
              <a:rPr lang="en-US" altLang="zh-CN" sz="4000" dirty="0">
                <a:latin typeface="Arial"/>
              </a:rPr>
              <a:t>–</a:t>
            </a:r>
            <a:r>
              <a:rPr lang="en-US" altLang="zh-CN" sz="4000" dirty="0"/>
              <a:t> Impressionism</a:t>
            </a:r>
            <a:br>
              <a:rPr lang="en-US" altLang="zh-CN" sz="4000" dirty="0"/>
            </a:br>
            <a:endParaRPr lang="en-US" altLang="zh-CN" sz="4000" dirty="0"/>
          </a:p>
        </p:txBody>
      </p:sp>
      <p:sp>
        <p:nvSpPr>
          <p:cNvPr id="88067" name="Rectangle 3"/>
          <p:cNvSpPr>
            <a:spLocks noGrp="1" noChangeArrowheads="1"/>
          </p:cNvSpPr>
          <p:nvPr>
            <p:ph idx="1"/>
          </p:nvPr>
        </p:nvSpPr>
        <p:spPr/>
        <p:txBody>
          <a:bodyPr/>
          <a:lstStyle/>
          <a:p>
            <a:pPr eaLnBrk="1" hangingPunct="1">
              <a:defRPr/>
            </a:pPr>
            <a:endParaRPr lang="zh-CN" altLang="en-US"/>
          </a:p>
        </p:txBody>
      </p:sp>
      <p:pic>
        <p:nvPicPr>
          <p:cNvPr id="71683" name="Picture 4" descr="Water Lilies by Claude Monet OSA0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854" y="1205177"/>
            <a:ext cx="6624638" cy="552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2511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p:nvPr>
        </p:nvSpPr>
        <p:spPr/>
        <p:txBody>
          <a:bodyPr/>
          <a:lstStyle/>
          <a:p>
            <a:pPr algn="l" eaLnBrk="1" hangingPunct="1">
              <a:defRPr/>
            </a:pPr>
            <a:r>
              <a:rPr lang="en-US" altLang="zh-CN" sz="5400" cap="none" dirty="0"/>
              <a:t>Picasso</a:t>
            </a:r>
          </a:p>
        </p:txBody>
      </p:sp>
      <p:sp>
        <p:nvSpPr>
          <p:cNvPr id="90115" name="Rectangle 3"/>
          <p:cNvSpPr>
            <a:spLocks noGrp="1" noChangeArrowheads="1"/>
          </p:cNvSpPr>
          <p:nvPr>
            <p:ph idx="1"/>
          </p:nvPr>
        </p:nvSpPr>
        <p:spPr/>
        <p:txBody>
          <a:bodyPr>
            <a:normAutofit fontScale="92500" lnSpcReduction="20000"/>
          </a:bodyPr>
          <a:lstStyle/>
          <a:p>
            <a:pPr eaLnBrk="1" hangingPunct="1">
              <a:buFont typeface="Wingdings" panose="05000000000000000000" pitchFamily="2" charset="2"/>
              <a:buNone/>
              <a:defRPr/>
            </a:pPr>
            <a:r>
              <a:rPr lang="en-US" altLang="zh-CN" sz="4000" dirty="0"/>
              <a:t>1937</a:t>
            </a:r>
          </a:p>
          <a:p>
            <a:pPr eaLnBrk="1" hangingPunct="1">
              <a:buFont typeface="Wingdings" panose="05000000000000000000" pitchFamily="2" charset="2"/>
              <a:buNone/>
              <a:defRPr/>
            </a:pPr>
            <a:r>
              <a:rPr lang="en-US" altLang="zh-CN" sz="4000" dirty="0"/>
              <a:t>Cubism</a:t>
            </a:r>
          </a:p>
          <a:p>
            <a:pPr eaLnBrk="1" hangingPunct="1">
              <a:buFont typeface="Wingdings" panose="05000000000000000000" pitchFamily="2" charset="2"/>
              <a:buNone/>
              <a:defRPr/>
            </a:pPr>
            <a:endParaRPr lang="en-US" altLang="zh-CN" sz="4000" dirty="0"/>
          </a:p>
          <a:p>
            <a:pPr eaLnBrk="1" hangingPunct="1">
              <a:buFont typeface="Wingdings" panose="05000000000000000000" pitchFamily="2" charset="2"/>
              <a:buNone/>
              <a:defRPr/>
            </a:pPr>
            <a:r>
              <a:rPr lang="en-US" altLang="zh-CN" sz="4000" i="1" dirty="0">
                <a:latin typeface="Arial"/>
              </a:rPr>
              <a:t>“</a:t>
            </a:r>
            <a:r>
              <a:rPr lang="en-US" altLang="zh-CN" sz="4000" i="1" dirty="0"/>
              <a:t>It was the deep </a:t>
            </a:r>
          </a:p>
          <a:p>
            <a:pPr eaLnBrk="1" hangingPunct="1">
              <a:buFont typeface="Wingdings" panose="05000000000000000000" pitchFamily="2" charset="2"/>
              <a:buNone/>
              <a:defRPr/>
            </a:pPr>
            <a:r>
              <a:rPr lang="en-US" altLang="zh-CN" sz="4000" i="1" dirty="0"/>
              <a:t>reality, not the </a:t>
            </a:r>
          </a:p>
          <a:p>
            <a:pPr eaLnBrk="1" hangingPunct="1">
              <a:buFont typeface="Wingdings" panose="05000000000000000000" pitchFamily="2" charset="2"/>
              <a:buNone/>
              <a:defRPr/>
            </a:pPr>
            <a:r>
              <a:rPr lang="en-US" altLang="zh-CN" sz="4000" i="1" dirty="0"/>
              <a:t>superficial one.</a:t>
            </a:r>
            <a:r>
              <a:rPr lang="en-US" altLang="zh-CN" sz="4000" i="1" dirty="0">
                <a:latin typeface="Arial"/>
              </a:rPr>
              <a:t>”</a:t>
            </a:r>
            <a:r>
              <a:rPr lang="en-US" altLang="zh-CN" dirty="0"/>
              <a:t> </a:t>
            </a:r>
          </a:p>
        </p:txBody>
      </p:sp>
      <p:pic>
        <p:nvPicPr>
          <p:cNvPr id="73731" name="Picture 4" descr="the-weeping-wom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8901" y="0"/>
            <a:ext cx="56118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3815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a:xfrm>
            <a:off x="1905830" y="462615"/>
            <a:ext cx="10131425" cy="1456267"/>
          </a:xfrm>
        </p:spPr>
        <p:txBody>
          <a:bodyPr/>
          <a:lstStyle/>
          <a:p>
            <a:pPr eaLnBrk="1" hangingPunct="1">
              <a:defRPr/>
            </a:pPr>
            <a:r>
              <a:rPr lang="zh-CN" altLang="en-US" sz="4000" dirty="0"/>
              <a:t>  </a:t>
            </a:r>
            <a:r>
              <a:rPr lang="en-US" altLang="zh-CN" sz="4000" cap="none" dirty="0"/>
              <a:t>Cubist Architecture (and Art Deco)</a:t>
            </a:r>
            <a:br>
              <a:rPr lang="en-US" altLang="zh-CN" sz="4000" cap="none" dirty="0"/>
            </a:br>
            <a:endParaRPr lang="en-US" altLang="zh-CN" sz="40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732" y="1613925"/>
            <a:ext cx="4776005" cy="470701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792" y="1636519"/>
            <a:ext cx="3110458" cy="468442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00" y="1613925"/>
            <a:ext cx="3989210" cy="4684425"/>
          </a:xfrm>
          <a:prstGeom prst="rect">
            <a:avLst/>
          </a:prstGeom>
        </p:spPr>
      </p:pic>
    </p:spTree>
    <p:extLst>
      <p:ext uri="{BB962C8B-B14F-4D97-AF65-F5344CB8AC3E}">
        <p14:creationId xmlns:p14="http://schemas.microsoft.com/office/powerpoint/2010/main" val="1062047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4"/>
          <p:cNvSpPr>
            <a:spLocks noGrp="1" noChangeArrowheads="1"/>
          </p:cNvSpPr>
          <p:nvPr>
            <p:ph type="ctrTitle"/>
          </p:nvPr>
        </p:nvSpPr>
        <p:spPr>
          <a:xfrm>
            <a:off x="1155101" y="998377"/>
            <a:ext cx="10226351" cy="1920875"/>
          </a:xfrm>
        </p:spPr>
        <p:txBody>
          <a:bodyPr>
            <a:normAutofit/>
          </a:bodyPr>
          <a:lstStyle/>
          <a:p>
            <a:pPr algn="l" eaLnBrk="1" hangingPunct="1">
              <a:defRPr/>
            </a:pPr>
            <a:r>
              <a:rPr lang="en-US" altLang="zh-CN" cap="none" dirty="0"/>
              <a:t>Then, after World War II, came </a:t>
            </a:r>
            <a:r>
              <a:rPr lang="en-US" altLang="zh-CN" b="1" cap="none" dirty="0"/>
              <a:t>Post-modernism</a:t>
            </a:r>
            <a:r>
              <a:rPr lang="en-US" altLang="zh-CN" cap="none" dirty="0"/>
              <a:t> and </a:t>
            </a:r>
            <a:r>
              <a:rPr lang="en-US" altLang="zh-CN" b="1" cap="none" dirty="0"/>
              <a:t>Post-structuralism</a:t>
            </a:r>
          </a:p>
        </p:txBody>
      </p:sp>
      <p:sp>
        <p:nvSpPr>
          <p:cNvPr id="99333" name="Rectangle 5"/>
          <p:cNvSpPr>
            <a:spLocks noGrp="1" noChangeArrowheads="1"/>
          </p:cNvSpPr>
          <p:nvPr>
            <p:ph type="subTitle" idx="1"/>
          </p:nvPr>
        </p:nvSpPr>
        <p:spPr>
          <a:xfrm>
            <a:off x="1007706" y="3429000"/>
            <a:ext cx="10590245" cy="2905539"/>
          </a:xfrm>
        </p:spPr>
        <p:txBody>
          <a:bodyPr>
            <a:normAutofit fontScale="92500" lnSpcReduction="10000"/>
          </a:bodyPr>
          <a:lstStyle/>
          <a:p>
            <a:pPr algn="l" eaLnBrk="1" hangingPunct="1">
              <a:defRPr/>
            </a:pPr>
            <a:r>
              <a:rPr lang="en-US" altLang="zh-CN" sz="2800" cap="none" dirty="0"/>
              <a:t>After all the war and disaster from modernist ideas, structures and theories, people didn’t trust them any longer. They couldn’t continue with those failed concepts, not exactly as before, and began to subtly change them. But… what to believe in from here…?”</a:t>
            </a:r>
          </a:p>
          <a:p>
            <a:pPr algn="l" eaLnBrk="1" hangingPunct="1">
              <a:defRPr/>
            </a:pPr>
            <a:endParaRPr lang="en-US" altLang="zh-CN" sz="1400" cap="none" dirty="0"/>
          </a:p>
          <a:p>
            <a:pPr algn="l" eaLnBrk="1" hangingPunct="1">
              <a:defRPr/>
            </a:pPr>
            <a:r>
              <a:rPr lang="en-US" altLang="zh-CN" sz="2800" cap="none" dirty="0"/>
              <a:t>In the 1960s, academics began to question the meaning of a text, of narratives, and of culture (though didn’t question their own interpretations).</a:t>
            </a:r>
          </a:p>
        </p:txBody>
      </p:sp>
    </p:spTree>
    <p:extLst>
      <p:ext uri="{BB962C8B-B14F-4D97-AF65-F5344CB8AC3E}">
        <p14:creationId xmlns:p14="http://schemas.microsoft.com/office/powerpoint/2010/main" val="2269009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5A1B7-6613-49BA-A702-C348AF90C01D}"/>
              </a:ext>
            </a:extLst>
          </p:cNvPr>
          <p:cNvSpPr>
            <a:spLocks noGrp="1"/>
          </p:cNvSpPr>
          <p:nvPr>
            <p:ph type="title"/>
          </p:nvPr>
        </p:nvSpPr>
        <p:spPr>
          <a:xfrm>
            <a:off x="1371601" y="548705"/>
            <a:ext cx="10131425" cy="1456267"/>
          </a:xfrm>
        </p:spPr>
        <p:txBody>
          <a:bodyPr/>
          <a:lstStyle/>
          <a:p>
            <a:r>
              <a:rPr lang="en-US" dirty="0"/>
              <a:t>Postmodern Thinkers</a:t>
            </a:r>
            <a:endParaRPr lang="en-GB" dirty="0"/>
          </a:p>
        </p:txBody>
      </p:sp>
      <p:sp>
        <p:nvSpPr>
          <p:cNvPr id="6" name="TextBox 5">
            <a:extLst>
              <a:ext uri="{FF2B5EF4-FFF2-40B4-BE49-F238E27FC236}">
                <a16:creationId xmlns:a16="http://schemas.microsoft.com/office/drawing/2014/main" id="{9D7C882E-7B29-43C4-A806-24314CEB24CD}"/>
              </a:ext>
            </a:extLst>
          </p:cNvPr>
          <p:cNvSpPr txBox="1"/>
          <p:nvPr/>
        </p:nvSpPr>
        <p:spPr>
          <a:xfrm>
            <a:off x="1371601" y="1633091"/>
            <a:ext cx="5477068" cy="138499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Calibri" panose="020F0502020204030204"/>
                <a:ea typeface="+mn-ea"/>
                <a:cs typeface="+mn-cs"/>
              </a:rPr>
              <a:t>Roland Barthes (1915-80)  Semiotics, language as signs; overthrowing the author:</a:t>
            </a:r>
            <a:endParaRPr kumimoji="0" lang="en-GB" sz="2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Content Placeholder 6">
            <a:extLst>
              <a:ext uri="{FF2B5EF4-FFF2-40B4-BE49-F238E27FC236}">
                <a16:creationId xmlns:a16="http://schemas.microsoft.com/office/drawing/2014/main" id="{8272B892-2C30-4399-926D-432006E72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3820" y="699504"/>
            <a:ext cx="3223676" cy="2869426"/>
          </a:xfrm>
        </p:spPr>
      </p:pic>
      <p:pic>
        <p:nvPicPr>
          <p:cNvPr id="11" name="Picture 10">
            <a:extLst>
              <a:ext uri="{FF2B5EF4-FFF2-40B4-BE49-F238E27FC236}">
                <a16:creationId xmlns:a16="http://schemas.microsoft.com/office/drawing/2014/main" id="{6E7FF3C4-7CEF-4D7B-9149-C5F687623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7166" y="3297764"/>
            <a:ext cx="4222945" cy="3438938"/>
          </a:xfrm>
          <a:prstGeom prst="rect">
            <a:avLst/>
          </a:prstGeom>
        </p:spPr>
      </p:pic>
      <p:sp>
        <p:nvSpPr>
          <p:cNvPr id="13" name="TextBox 12">
            <a:extLst>
              <a:ext uri="{FF2B5EF4-FFF2-40B4-BE49-F238E27FC236}">
                <a16:creationId xmlns:a16="http://schemas.microsoft.com/office/drawing/2014/main" id="{70141B99-C75D-4160-8997-580A70A3B4F4}"/>
              </a:ext>
            </a:extLst>
          </p:cNvPr>
          <p:cNvSpPr txBox="1"/>
          <p:nvPr/>
        </p:nvSpPr>
        <p:spPr>
          <a:xfrm>
            <a:off x="5632370" y="3664664"/>
            <a:ext cx="6338806" cy="267765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He wrote an essay, ‘</a:t>
            </a:r>
            <a:r>
              <a:rPr kumimoji="0" lang="en-US" sz="2400" b="0" i="1" u="none" strike="noStrike" kern="1200" cap="none" spc="0" normalizeH="0" baseline="0" noProof="0" dirty="0">
                <a:ln>
                  <a:noFill/>
                </a:ln>
                <a:solidFill>
                  <a:prstClr val="white"/>
                </a:solidFill>
                <a:effectLst/>
                <a:uLnTx/>
                <a:uFillTx/>
                <a:latin typeface="Calibri" panose="020F0502020204030204"/>
                <a:ea typeface="+mn-ea"/>
                <a:cs typeface="+mn-cs"/>
              </a:rPr>
              <a:t>The Death of the Author</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 about how the meaning the author intended cannot simply be found in the text. He later </a:t>
            </a:r>
            <a:r>
              <a:rPr lang="en-US" sz="2400" dirty="0">
                <a:solidFill>
                  <a:prstClr val="white"/>
                </a:solidFill>
                <a:latin typeface="Calibri" panose="020F0502020204030204"/>
              </a:rPr>
              <a:t>said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the author is a myth, “tyrannical”, keeping the reader prisoner with a certain meaning. This influenced post-structuralism, and ideas of reader ‘reception’ in textual interpretation. </a:t>
            </a:r>
            <a:endPar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8570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45A1B7-6613-49BA-A702-C348AF90C01D}"/>
              </a:ext>
            </a:extLst>
          </p:cNvPr>
          <p:cNvSpPr>
            <a:spLocks noGrp="1"/>
          </p:cNvSpPr>
          <p:nvPr>
            <p:ph type="title"/>
          </p:nvPr>
        </p:nvSpPr>
        <p:spPr>
          <a:xfrm>
            <a:off x="513345" y="191847"/>
            <a:ext cx="10131425" cy="1456267"/>
          </a:xfrm>
        </p:spPr>
        <p:txBody>
          <a:bodyPr/>
          <a:lstStyle/>
          <a:p>
            <a:r>
              <a:rPr lang="en-US" dirty="0"/>
              <a:t>Postmodern Thinkers</a:t>
            </a:r>
            <a:endParaRPr lang="en-GB" dirty="0"/>
          </a:p>
        </p:txBody>
      </p:sp>
      <p:pic>
        <p:nvPicPr>
          <p:cNvPr id="14" name="Content Placeholder 13">
            <a:extLst>
              <a:ext uri="{FF2B5EF4-FFF2-40B4-BE49-F238E27FC236}">
                <a16:creationId xmlns:a16="http://schemas.microsoft.com/office/drawing/2014/main" id="{28063C51-45F6-4704-8117-79EAC22142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4258" y="2693846"/>
            <a:ext cx="2609029" cy="3852203"/>
          </a:xfrm>
        </p:spPr>
      </p:pic>
      <p:sp>
        <p:nvSpPr>
          <p:cNvPr id="6" name="TextBox 5">
            <a:extLst>
              <a:ext uri="{FF2B5EF4-FFF2-40B4-BE49-F238E27FC236}">
                <a16:creationId xmlns:a16="http://schemas.microsoft.com/office/drawing/2014/main" id="{9D7C882E-7B29-43C4-A806-24314CEB24CD}"/>
              </a:ext>
            </a:extLst>
          </p:cNvPr>
          <p:cNvSpPr txBox="1"/>
          <p:nvPr/>
        </p:nvSpPr>
        <p:spPr>
          <a:xfrm>
            <a:off x="513346" y="1436877"/>
            <a:ext cx="4303656"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prstClr val="white"/>
                </a:solidFill>
                <a:effectLst/>
                <a:uLnTx/>
                <a:uFillTx/>
                <a:latin typeface="Calibri" panose="020F0502020204030204"/>
                <a:ea typeface="+mn-ea"/>
                <a:cs typeface="+mn-cs"/>
              </a:rPr>
              <a:t>Jacques Derrida (1930 – 2004) –Deconstructionism</a:t>
            </a:r>
            <a:endParaRPr kumimoji="0" lang="en-GB" sz="3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ACD588FC-758F-4EFD-BD2B-B470098C4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1140" y="44143"/>
            <a:ext cx="1982566" cy="3852203"/>
          </a:xfrm>
          <a:prstGeom prst="rect">
            <a:avLst/>
          </a:prstGeom>
        </p:spPr>
      </p:pic>
      <p:pic>
        <p:nvPicPr>
          <p:cNvPr id="12" name="Content Placeholder 2">
            <a:extLst>
              <a:ext uri="{FF2B5EF4-FFF2-40B4-BE49-F238E27FC236}">
                <a16:creationId xmlns:a16="http://schemas.microsoft.com/office/drawing/2014/main" id="{59F9C17A-7751-4083-AE35-2C376ECF48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7654" y="1344267"/>
            <a:ext cx="2253588" cy="2333716"/>
          </a:xfrm>
          <a:prstGeom prst="rect">
            <a:avLst/>
          </a:prstGeom>
        </p:spPr>
      </p:pic>
      <p:pic>
        <p:nvPicPr>
          <p:cNvPr id="9" name="Picture 8">
            <a:extLst>
              <a:ext uri="{FF2B5EF4-FFF2-40B4-BE49-F238E27FC236}">
                <a16:creationId xmlns:a16="http://schemas.microsoft.com/office/drawing/2014/main" id="{60126065-8A8A-4BF3-82AA-D48B776CCE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1535" y="1344267"/>
            <a:ext cx="1813022" cy="2339383"/>
          </a:xfrm>
          <a:prstGeom prst="rect">
            <a:avLst/>
          </a:prstGeom>
        </p:spPr>
      </p:pic>
      <p:sp>
        <p:nvSpPr>
          <p:cNvPr id="2" name="TextBox 1">
            <a:extLst>
              <a:ext uri="{FF2B5EF4-FFF2-40B4-BE49-F238E27FC236}">
                <a16:creationId xmlns:a16="http://schemas.microsoft.com/office/drawing/2014/main" id="{52E7E89D-8946-43DC-92A7-9472562844EA}"/>
              </a:ext>
            </a:extLst>
          </p:cNvPr>
          <p:cNvSpPr txBox="1"/>
          <p:nvPr/>
        </p:nvSpPr>
        <p:spPr>
          <a:xfrm>
            <a:off x="3554963" y="3945700"/>
            <a:ext cx="8388221"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rPr>
              <a:t>He said: “There is nothing outside the text.”  Derrida thought that words didn’t point to any firm meaning. Yet… then said that the text should be broken down, ‘deconstructed’, to find its meaning – for postmodernists, usually that was ‘power discourse’.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white"/>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white"/>
                </a:solidFill>
                <a:effectLst/>
                <a:uLnTx/>
                <a:uFillTx/>
                <a:latin typeface="Calibri" panose="020F0502020204030204"/>
                <a:ea typeface="+mn-ea"/>
                <a:cs typeface="+mn-cs"/>
              </a:rPr>
              <a:t>“I have attempted deconstructive criticism in opposition to the authority of meaning… against… the history of meaning.”</a:t>
            </a:r>
          </a:p>
        </p:txBody>
      </p:sp>
    </p:spTree>
    <p:extLst>
      <p:ext uri="{BB962C8B-B14F-4D97-AF65-F5344CB8AC3E}">
        <p14:creationId xmlns:p14="http://schemas.microsoft.com/office/powerpoint/2010/main" val="1133190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rrowheads="1"/>
          </p:cNvSpPr>
          <p:nvPr>
            <p:ph type="title"/>
          </p:nvPr>
        </p:nvSpPr>
        <p:spPr>
          <a:xfrm>
            <a:off x="1308654" y="119269"/>
            <a:ext cx="10131425" cy="1456267"/>
          </a:xfrm>
        </p:spPr>
        <p:txBody>
          <a:bodyPr/>
          <a:lstStyle/>
          <a:p>
            <a:pPr eaLnBrk="1" hangingPunct="1">
              <a:defRPr/>
            </a:pPr>
            <a:r>
              <a:rPr lang="en-US" altLang="zh-CN" sz="4000" dirty="0"/>
              <a:t>Post-modernism, Post-structuralism</a:t>
            </a:r>
          </a:p>
        </p:txBody>
      </p:sp>
      <p:sp>
        <p:nvSpPr>
          <p:cNvPr id="101379" name="Rectangle 3"/>
          <p:cNvSpPr>
            <a:spLocks noGrp="1" noChangeArrowheads="1"/>
          </p:cNvSpPr>
          <p:nvPr>
            <p:ph idx="1"/>
          </p:nvPr>
        </p:nvSpPr>
        <p:spPr/>
        <p:txBody>
          <a:bodyPr/>
          <a:lstStyle/>
          <a:p>
            <a:pPr eaLnBrk="1" hangingPunct="1">
              <a:defRPr/>
            </a:pPr>
            <a:endParaRPr lang="zh-CN" altLang="en-US" dirty="0"/>
          </a:p>
        </p:txBody>
      </p:sp>
      <p:pic>
        <p:nvPicPr>
          <p:cNvPr id="76803" name="Picture 4" descr="Dancing_House_-_Side_Vi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1" y="1261533"/>
            <a:ext cx="5173663"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0316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rrowheads="1"/>
          </p:cNvSpPr>
          <p:nvPr>
            <p:ph type="title"/>
          </p:nvPr>
        </p:nvSpPr>
        <p:spPr>
          <a:xfrm>
            <a:off x="1981200" y="152400"/>
            <a:ext cx="8229600" cy="1143000"/>
          </a:xfrm>
        </p:spPr>
        <p:txBody>
          <a:bodyPr>
            <a:normAutofit/>
          </a:bodyPr>
          <a:lstStyle/>
          <a:p>
            <a:pPr algn="ctr" eaLnBrk="1" hangingPunct="1">
              <a:defRPr/>
            </a:pPr>
            <a:r>
              <a:rPr lang="en-US" altLang="zh-CN" sz="4000" cap="none" dirty="0"/>
              <a:t>Why make this ‘art’?</a:t>
            </a:r>
          </a:p>
        </p:txBody>
      </p:sp>
      <p:sp>
        <p:nvSpPr>
          <p:cNvPr id="102403" name="Rectangle 3"/>
          <p:cNvSpPr>
            <a:spLocks noGrp="1" noChangeArrowheads="1"/>
          </p:cNvSpPr>
          <p:nvPr>
            <p:ph idx="1"/>
          </p:nvPr>
        </p:nvSpPr>
        <p:spPr/>
        <p:txBody>
          <a:bodyPr>
            <a:normAutofit/>
          </a:bodyPr>
          <a:lstStyle/>
          <a:p>
            <a:pPr marL="0" indent="0">
              <a:buNone/>
              <a:defRPr/>
            </a:pPr>
            <a:r>
              <a:rPr lang="en-GB" altLang="zh-CN" sz="3600" dirty="0"/>
              <a:t>Andy Warhol</a:t>
            </a:r>
          </a:p>
          <a:p>
            <a:pPr marL="0" indent="0" eaLnBrk="1" hangingPunct="1">
              <a:buNone/>
              <a:defRPr/>
            </a:pPr>
            <a:r>
              <a:rPr lang="en-GB" altLang="zh-CN" sz="3600" dirty="0"/>
              <a:t>1962</a:t>
            </a:r>
          </a:p>
          <a:p>
            <a:pPr marL="0" indent="0" eaLnBrk="1" hangingPunct="1">
              <a:buNone/>
              <a:defRPr/>
            </a:pPr>
            <a:r>
              <a:rPr lang="en-GB" altLang="zh-CN" sz="3600" i="1" dirty="0"/>
              <a:t>Marilyn </a:t>
            </a:r>
          </a:p>
          <a:p>
            <a:pPr marL="0" indent="0" eaLnBrk="1" hangingPunct="1">
              <a:buNone/>
              <a:defRPr/>
            </a:pPr>
            <a:r>
              <a:rPr lang="en-GB" altLang="zh-CN" sz="3600" i="1" dirty="0"/>
              <a:t>Diptych</a:t>
            </a:r>
            <a:endParaRPr lang="zh-CN" altLang="en-US" sz="3600" i="1" dirty="0"/>
          </a:p>
        </p:txBody>
      </p:sp>
      <p:pic>
        <p:nvPicPr>
          <p:cNvPr id="77827" name="Picture 4" descr="c0017925d7061a82fb57a86c9da9550297a45d85_lar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7276" y="1143000"/>
            <a:ext cx="5715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2860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p:nvPr>
        </p:nvSpPr>
        <p:spPr>
          <a:xfrm>
            <a:off x="1560444" y="132522"/>
            <a:ext cx="10131425" cy="1456267"/>
          </a:xfrm>
        </p:spPr>
        <p:txBody>
          <a:bodyPr/>
          <a:lstStyle/>
          <a:p>
            <a:pPr eaLnBrk="1" hangingPunct="1">
              <a:defRPr/>
            </a:pPr>
            <a:r>
              <a:rPr lang="en-US" altLang="zh-CN" sz="4000" dirty="0"/>
              <a:t>Post-modernism, Post-structuralism</a:t>
            </a:r>
            <a:endParaRPr lang="zh-CN" altLang="en-US" sz="4000" dirty="0"/>
          </a:p>
        </p:txBody>
      </p:sp>
      <p:sp>
        <p:nvSpPr>
          <p:cNvPr id="104451" name="Rectangle 3"/>
          <p:cNvSpPr>
            <a:spLocks noGrp="1" noChangeArrowheads="1"/>
          </p:cNvSpPr>
          <p:nvPr>
            <p:ph idx="1"/>
          </p:nvPr>
        </p:nvSpPr>
        <p:spPr/>
        <p:txBody>
          <a:bodyPr/>
          <a:lstStyle/>
          <a:p>
            <a:pPr eaLnBrk="1" hangingPunct="1">
              <a:defRPr/>
            </a:pPr>
            <a:endParaRPr lang="zh-CN" altLang="en-US" dirty="0"/>
          </a:p>
        </p:txBody>
      </p:sp>
      <p:pic>
        <p:nvPicPr>
          <p:cNvPr id="78851" name="Picture 4" descr="architecture_s6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270000"/>
            <a:ext cx="8382000"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5530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9554" y="133351"/>
            <a:ext cx="10131425" cy="1456267"/>
          </a:xfrm>
        </p:spPr>
        <p:txBody>
          <a:bodyPr>
            <a:normAutofit/>
          </a:bodyPr>
          <a:lstStyle/>
          <a:p>
            <a:pPr algn="ctr"/>
            <a:r>
              <a:rPr lang="en-US" sz="4000" cap="none" dirty="0"/>
              <a:t>Identify the architecture…</a:t>
            </a:r>
            <a:endParaRPr lang="en-GB" sz="4000" cap="none" dirty="0"/>
          </a:p>
        </p:txBody>
      </p:sp>
      <p:pic>
        <p:nvPicPr>
          <p:cNvPr id="3074" name="Picture 2" descr="Shanghai | History, Population, Map, &amp; Facts | Britannica">
            <a:extLst>
              <a:ext uri="{FF2B5EF4-FFF2-40B4-BE49-F238E27FC236}">
                <a16:creationId xmlns:a16="http://schemas.microsoft.com/office/drawing/2014/main" id="{AE87E5A9-E4D8-8849-1197-5217DB6308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876" y="1297537"/>
            <a:ext cx="7984247" cy="532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948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idx="1"/>
          </p:nvPr>
        </p:nvSpPr>
        <p:spPr>
          <a:xfrm>
            <a:off x="1266825" y="2142067"/>
            <a:ext cx="9550401" cy="3649133"/>
          </a:xfrm>
        </p:spPr>
        <p:txBody>
          <a:bodyPr/>
          <a:lstStyle/>
          <a:p>
            <a:pPr eaLnBrk="1" hangingPunct="1">
              <a:buFont typeface="Wingdings" panose="05000000000000000000" pitchFamily="2" charset="2"/>
              <a:buNone/>
              <a:defRPr/>
            </a:pPr>
            <a:r>
              <a:rPr lang="en-US" altLang="zh-CN" sz="4000" dirty="0"/>
              <a:t>Shanghai</a:t>
            </a:r>
            <a:r>
              <a:rPr lang="en-US" altLang="zh-CN" sz="4000" dirty="0">
                <a:latin typeface="Arial"/>
              </a:rPr>
              <a:t>’</a:t>
            </a:r>
            <a:r>
              <a:rPr lang="en-US" altLang="zh-CN" sz="4000" dirty="0"/>
              <a:t>s</a:t>
            </a:r>
          </a:p>
          <a:p>
            <a:pPr eaLnBrk="1" hangingPunct="1">
              <a:buFont typeface="Wingdings" panose="05000000000000000000" pitchFamily="2" charset="2"/>
              <a:buNone/>
              <a:defRPr/>
            </a:pPr>
            <a:r>
              <a:rPr lang="en-US" altLang="zh-CN" sz="4000" dirty="0"/>
              <a:t>Modernist /</a:t>
            </a:r>
          </a:p>
          <a:p>
            <a:pPr eaLnBrk="1" hangingPunct="1">
              <a:buFont typeface="Wingdings" panose="05000000000000000000" pitchFamily="2" charset="2"/>
              <a:buNone/>
              <a:defRPr/>
            </a:pPr>
            <a:r>
              <a:rPr lang="en-US" altLang="zh-CN" sz="4000" dirty="0"/>
              <a:t>Post-modernist</a:t>
            </a:r>
          </a:p>
          <a:p>
            <a:pPr eaLnBrk="1" hangingPunct="1">
              <a:buFont typeface="Wingdings" panose="05000000000000000000" pitchFamily="2" charset="2"/>
              <a:buNone/>
              <a:defRPr/>
            </a:pPr>
            <a:r>
              <a:rPr lang="en-US" altLang="zh-CN" sz="4000" dirty="0"/>
              <a:t>architecture?</a:t>
            </a:r>
            <a:r>
              <a:rPr lang="en-US" altLang="zh-CN" sz="3600" dirty="0"/>
              <a:t> </a:t>
            </a:r>
          </a:p>
          <a:p>
            <a:pPr eaLnBrk="1" hangingPunct="1">
              <a:buFont typeface="Wingdings" panose="05000000000000000000" pitchFamily="2" charset="2"/>
              <a:buNone/>
              <a:defRPr/>
            </a:pPr>
            <a:endParaRPr lang="zh-CN" altLang="en-US" sz="3800" dirty="0"/>
          </a:p>
        </p:txBody>
      </p:sp>
      <p:pic>
        <p:nvPicPr>
          <p:cNvPr id="1026" name="Picture 2" descr="Fun Things to Do in Shanghai, China | WanderWisdom">
            <a:extLst>
              <a:ext uri="{FF2B5EF4-FFF2-40B4-BE49-F238E27FC236}">
                <a16:creationId xmlns:a16="http://schemas.microsoft.com/office/drawing/2014/main" id="{EA803C63-3154-235A-133E-EDE97C64F2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0649" y="661987"/>
            <a:ext cx="5534025" cy="553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6307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rrowheads="1"/>
          </p:cNvSpPr>
          <p:nvPr>
            <p:ph type="title"/>
          </p:nvPr>
        </p:nvSpPr>
        <p:spPr/>
        <p:txBody>
          <a:bodyPr/>
          <a:lstStyle/>
          <a:p>
            <a:pPr eaLnBrk="1" hangingPunct="1">
              <a:defRPr/>
            </a:pPr>
            <a:endParaRPr lang="zh-CN" altLang="en-US"/>
          </a:p>
        </p:txBody>
      </p:sp>
      <p:sp>
        <p:nvSpPr>
          <p:cNvPr id="106499" name="Rectangle 3"/>
          <p:cNvSpPr>
            <a:spLocks noGrp="1" noChangeArrowheads="1"/>
          </p:cNvSpPr>
          <p:nvPr>
            <p:ph idx="1"/>
          </p:nvPr>
        </p:nvSpPr>
        <p:spPr>
          <a:xfrm>
            <a:off x="685801" y="2142067"/>
            <a:ext cx="4648199" cy="3649133"/>
          </a:xfrm>
        </p:spPr>
        <p:txBody>
          <a:bodyPr>
            <a:normAutofit/>
          </a:bodyPr>
          <a:lstStyle/>
          <a:p>
            <a:pPr marL="0" eaLnBrk="1" hangingPunct="1">
              <a:buFont typeface="Wingdings" panose="05000000000000000000" pitchFamily="2" charset="2"/>
              <a:buNone/>
              <a:defRPr/>
            </a:pPr>
            <a:r>
              <a:rPr lang="en-US" altLang="zh-CN" sz="4000" dirty="0"/>
              <a:t>Shanghai</a:t>
            </a:r>
            <a:r>
              <a:rPr lang="en-US" altLang="zh-CN" sz="4000" dirty="0">
                <a:latin typeface="Arial"/>
              </a:rPr>
              <a:t>’</a:t>
            </a:r>
            <a:r>
              <a:rPr lang="en-US" altLang="zh-CN" sz="4000" dirty="0"/>
              <a:t>s Modernist architecture?</a:t>
            </a:r>
          </a:p>
          <a:p>
            <a:pPr marL="0" eaLnBrk="1" hangingPunct="1">
              <a:buFont typeface="Wingdings" panose="05000000000000000000" pitchFamily="2" charset="2"/>
              <a:buNone/>
              <a:defRPr/>
            </a:pPr>
            <a:r>
              <a:rPr lang="en-US" altLang="zh-CN" sz="4000" dirty="0"/>
              <a:t>Structuralism and overt symbolism.</a:t>
            </a:r>
          </a:p>
          <a:p>
            <a:pPr eaLnBrk="1" hangingPunct="1">
              <a:buFont typeface="Wingdings" panose="05000000000000000000" pitchFamily="2" charset="2"/>
              <a:buNone/>
              <a:defRPr/>
            </a:pPr>
            <a:endParaRPr lang="en-US" altLang="zh-CN" sz="4400" b="1" dirty="0"/>
          </a:p>
        </p:txBody>
      </p:sp>
      <p:pic>
        <p:nvPicPr>
          <p:cNvPr id="2050" name="Picture 2" descr="Oriental Pearl TV Tower – Shanghai – Nightlife – That’s Shanghai">
            <a:extLst>
              <a:ext uri="{FF2B5EF4-FFF2-40B4-BE49-F238E27FC236}">
                <a16:creationId xmlns:a16="http://schemas.microsoft.com/office/drawing/2014/main" id="{19DF91F3-4E6D-2445-F464-3E11BD93E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259" y="393997"/>
            <a:ext cx="4045265" cy="6070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984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rrowheads="1"/>
          </p:cNvSpPr>
          <p:nvPr>
            <p:ph type="title"/>
          </p:nvPr>
        </p:nvSpPr>
        <p:spPr>
          <a:xfrm>
            <a:off x="1030287" y="166470"/>
            <a:ext cx="10131425" cy="1456267"/>
          </a:xfrm>
        </p:spPr>
        <p:txBody>
          <a:bodyPr>
            <a:normAutofit/>
          </a:bodyPr>
          <a:lstStyle/>
          <a:p>
            <a:pPr algn="ctr" eaLnBrk="1" hangingPunct="1">
              <a:defRPr/>
            </a:pPr>
            <a:r>
              <a:rPr lang="en-US" altLang="zh-CN" sz="4000" cap="none" dirty="0"/>
              <a:t>Postmodern culture</a:t>
            </a:r>
          </a:p>
        </p:txBody>
      </p:sp>
      <p:sp>
        <p:nvSpPr>
          <p:cNvPr id="103427" name="Rectangle 3"/>
          <p:cNvSpPr>
            <a:spLocks noGrp="1" noChangeArrowheads="1"/>
          </p:cNvSpPr>
          <p:nvPr>
            <p:ph idx="1"/>
          </p:nvPr>
        </p:nvSpPr>
        <p:spPr/>
        <p:txBody>
          <a:bodyPr/>
          <a:lstStyle/>
          <a:p>
            <a:pPr eaLnBrk="1" hangingPunct="1">
              <a:defRPr/>
            </a:pPr>
            <a:endParaRPr lang="zh-CN" altLang="en-US" dirty="0"/>
          </a:p>
        </p:txBody>
      </p:sp>
      <p:pic>
        <p:nvPicPr>
          <p:cNvPr id="81923" name="Picture 5" descr="132772280_11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647" y="1270655"/>
            <a:ext cx="7681744" cy="54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241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cap="none" dirty="0"/>
              <a:t>Literature, Themes and Ideologies</a:t>
            </a:r>
            <a:endParaRPr lang="en-GB" sz="4000" cap="none" dirty="0"/>
          </a:p>
        </p:txBody>
      </p:sp>
      <p:sp>
        <p:nvSpPr>
          <p:cNvPr id="4" name="Content Placeholder 3"/>
          <p:cNvSpPr>
            <a:spLocks noGrp="1"/>
          </p:cNvSpPr>
          <p:nvPr>
            <p:ph idx="1"/>
          </p:nvPr>
        </p:nvSpPr>
        <p:spPr>
          <a:xfrm>
            <a:off x="685801" y="1941342"/>
            <a:ext cx="10370975" cy="4431323"/>
          </a:xfrm>
        </p:spPr>
        <p:txBody>
          <a:bodyPr>
            <a:noAutofit/>
          </a:bodyPr>
          <a:lstStyle/>
          <a:p>
            <a:r>
              <a:rPr lang="en-GB" sz="2600" dirty="0"/>
              <a:t>Modernist texts tend to have clear ideological structures of style and methodology. They may be ‘lost’ in terms of meaning, with a declared aim, such as stream of consciousness, etc. </a:t>
            </a:r>
          </a:p>
          <a:p>
            <a:endParaRPr lang="en-GB" sz="800" dirty="0"/>
          </a:p>
          <a:p>
            <a:r>
              <a:rPr lang="en-GB" sz="2600" dirty="0"/>
              <a:t>Postmodernist texts tend to be post-structuralist. There is no longer any pretence at a firm meaning or structure – even the idea of meaning is meaningless. Everything is relativist… and so nothing can be objectively evaluated. </a:t>
            </a:r>
          </a:p>
          <a:p>
            <a:endParaRPr lang="en-GB" sz="800" dirty="0"/>
          </a:p>
          <a:p>
            <a:r>
              <a:rPr lang="en-GB" sz="2600" dirty="0"/>
              <a:t>But of course, this lack of foundation still communicates through language.</a:t>
            </a:r>
          </a:p>
        </p:txBody>
      </p:sp>
    </p:spTree>
    <p:extLst>
      <p:ext uri="{BB962C8B-B14F-4D97-AF65-F5344CB8AC3E}">
        <p14:creationId xmlns:p14="http://schemas.microsoft.com/office/powerpoint/2010/main" val="147667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480229-13F5-4E63-BBA3-D88A52D88548}"/>
              </a:ext>
            </a:extLst>
          </p:cNvPr>
          <p:cNvSpPr>
            <a:spLocks noGrp="1"/>
          </p:cNvSpPr>
          <p:nvPr>
            <p:ph type="title"/>
          </p:nvPr>
        </p:nvSpPr>
        <p:spPr/>
        <p:txBody>
          <a:bodyPr>
            <a:normAutofit/>
          </a:bodyPr>
          <a:lstStyle/>
          <a:p>
            <a:r>
              <a:rPr lang="en-GB" sz="4800" dirty="0"/>
              <a:t>Postmodern Poetry</a:t>
            </a:r>
          </a:p>
        </p:txBody>
      </p:sp>
      <p:sp>
        <p:nvSpPr>
          <p:cNvPr id="5" name="Text Placeholder 4">
            <a:extLst>
              <a:ext uri="{FF2B5EF4-FFF2-40B4-BE49-F238E27FC236}">
                <a16:creationId xmlns:a16="http://schemas.microsoft.com/office/drawing/2014/main" id="{3B5E2AC9-7AE1-4723-B8EB-DDDFC4ABD8DD}"/>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390130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5400" cap="none" dirty="0"/>
              <a:t>Sylvia Plath (1932-63)</a:t>
            </a:r>
          </a:p>
        </p:txBody>
      </p:sp>
      <p:sp>
        <p:nvSpPr>
          <p:cNvPr id="3" name="Content Placeholder 2"/>
          <p:cNvSpPr>
            <a:spLocks noGrp="1"/>
          </p:cNvSpPr>
          <p:nvPr>
            <p:ph idx="1"/>
          </p:nvPr>
        </p:nvSpPr>
        <p:spPr>
          <a:xfrm>
            <a:off x="553279" y="1868556"/>
            <a:ext cx="10131425" cy="4641156"/>
          </a:xfrm>
        </p:spPr>
        <p:txBody>
          <a:bodyPr>
            <a:normAutofit fontScale="92500" lnSpcReduction="20000"/>
          </a:bodyPr>
          <a:lstStyle/>
          <a:p>
            <a:r>
              <a:rPr lang="en-GB" sz="2800" dirty="0"/>
              <a:t>Born in the U.S.A. in Boston.</a:t>
            </a:r>
          </a:p>
          <a:p>
            <a:r>
              <a:rPr lang="en-GB" sz="2800" dirty="0"/>
              <a:t>A famous poet (more so posthumously), who married another famous poet from England, called Ted Hughes.</a:t>
            </a:r>
          </a:p>
          <a:p>
            <a:r>
              <a:rPr lang="en-GB" sz="2800" dirty="0"/>
              <a:t>She wrote ‘confessional’ poetry about </a:t>
            </a:r>
          </a:p>
          <a:p>
            <a:pPr marL="0" indent="0">
              <a:buNone/>
            </a:pPr>
            <a:r>
              <a:rPr lang="en-GB" sz="2800" dirty="0"/>
              <a:t>    her feelings and personal traumas.</a:t>
            </a:r>
          </a:p>
          <a:p>
            <a:r>
              <a:rPr lang="en-GB" sz="2800" dirty="0"/>
              <a:t>She had depression, and was treated</a:t>
            </a:r>
          </a:p>
          <a:p>
            <a:pPr marL="0" indent="0">
              <a:buNone/>
            </a:pPr>
            <a:r>
              <a:rPr lang="en-GB" sz="2800" dirty="0"/>
              <a:t>    in her youth with electro-shock therapy.</a:t>
            </a:r>
          </a:p>
          <a:p>
            <a:r>
              <a:rPr lang="en-GB" sz="2800" dirty="0"/>
              <a:t>She is also sadly infamous for her death by                                                               </a:t>
            </a:r>
          </a:p>
          <a:p>
            <a:pPr marL="0" indent="0">
              <a:buNone/>
            </a:pPr>
            <a:r>
              <a:rPr lang="en-GB" sz="2800" dirty="0"/>
              <a:t>    suicide. She put her head into an oven and </a:t>
            </a:r>
          </a:p>
          <a:p>
            <a:pPr marL="0" indent="0">
              <a:buNone/>
            </a:pPr>
            <a:r>
              <a:rPr lang="en-GB" sz="2800" dirty="0"/>
              <a:t>    gassed herself.</a:t>
            </a:r>
          </a:p>
        </p:txBody>
      </p:sp>
      <p:pic>
        <p:nvPicPr>
          <p:cNvPr id="8"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4819" y="3046528"/>
            <a:ext cx="4965921" cy="3078871"/>
          </a:xfrm>
          <a:prstGeom prst="rect">
            <a:avLst/>
          </a:prstGeom>
        </p:spPr>
      </p:pic>
    </p:spTree>
    <p:extLst>
      <p:ext uri="{BB962C8B-B14F-4D97-AF65-F5344CB8AC3E}">
        <p14:creationId xmlns:p14="http://schemas.microsoft.com/office/powerpoint/2010/main" val="154604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99C6-444F-415B-9F44-B58B70179BBA}"/>
              </a:ext>
            </a:extLst>
          </p:cNvPr>
          <p:cNvSpPr>
            <a:spLocks noGrp="1"/>
          </p:cNvSpPr>
          <p:nvPr>
            <p:ph type="title"/>
          </p:nvPr>
        </p:nvSpPr>
        <p:spPr/>
        <p:txBody>
          <a:bodyPr>
            <a:normAutofit/>
          </a:bodyPr>
          <a:lstStyle/>
          <a:p>
            <a:r>
              <a:rPr lang="en-GB" sz="4000" dirty="0"/>
              <a:t>Sylvia Plath poems</a:t>
            </a:r>
          </a:p>
        </p:txBody>
      </p:sp>
      <p:sp>
        <p:nvSpPr>
          <p:cNvPr id="3" name="Content Placeholder 2">
            <a:extLst>
              <a:ext uri="{FF2B5EF4-FFF2-40B4-BE49-F238E27FC236}">
                <a16:creationId xmlns:a16="http://schemas.microsoft.com/office/drawing/2014/main" id="{9EE47A15-C9E9-4923-B1EF-EF1CAC01DFF2}"/>
              </a:ext>
            </a:extLst>
          </p:cNvPr>
          <p:cNvSpPr>
            <a:spLocks noGrp="1"/>
          </p:cNvSpPr>
          <p:nvPr>
            <p:ph idx="1"/>
          </p:nvPr>
        </p:nvSpPr>
        <p:spPr>
          <a:xfrm>
            <a:off x="685801" y="2142067"/>
            <a:ext cx="10828175" cy="4025468"/>
          </a:xfrm>
        </p:spPr>
        <p:txBody>
          <a:bodyPr>
            <a:normAutofit fontScale="70000" lnSpcReduction="20000"/>
          </a:bodyPr>
          <a:lstStyle/>
          <a:p>
            <a:r>
              <a:rPr lang="en-GB" sz="4200" dirty="0"/>
              <a:t>What is </a:t>
            </a:r>
            <a:r>
              <a:rPr lang="en-GB" sz="4200" i="1" dirty="0"/>
              <a:t>Morning Song </a:t>
            </a:r>
            <a:r>
              <a:rPr lang="en-GB" sz="4200" dirty="0"/>
              <a:t>about?</a:t>
            </a:r>
          </a:p>
          <a:p>
            <a:endParaRPr lang="en-GB" sz="2900" dirty="0"/>
          </a:p>
          <a:p>
            <a:r>
              <a:rPr lang="en-GB" sz="4200" dirty="0"/>
              <a:t>How might it be considered ‘confessional’ poetry?</a:t>
            </a:r>
          </a:p>
          <a:p>
            <a:endParaRPr lang="en-GB" sz="2900" dirty="0"/>
          </a:p>
          <a:p>
            <a:r>
              <a:rPr lang="en-GB" sz="4200" dirty="0"/>
              <a:t>What poetic techniques does Plath use?</a:t>
            </a:r>
          </a:p>
          <a:p>
            <a:pPr marL="0" indent="0">
              <a:buNone/>
            </a:pPr>
            <a:r>
              <a:rPr lang="en-GB" sz="4200" dirty="0"/>
              <a:t>	- Can you find </a:t>
            </a:r>
            <a:r>
              <a:rPr lang="en-GB" sz="4200" i="1" dirty="0"/>
              <a:t>‘enjambment’ </a:t>
            </a:r>
            <a:r>
              <a:rPr lang="en-GB" sz="4200" dirty="0"/>
              <a:t>– when a sentence or clause continues 	  on to the line below.</a:t>
            </a:r>
          </a:p>
          <a:p>
            <a:endParaRPr lang="en-GB" sz="2600" dirty="0"/>
          </a:p>
          <a:p>
            <a:r>
              <a:rPr lang="en-GB" sz="4200" dirty="0"/>
              <a:t>What is the poem’s tone and meaning?</a:t>
            </a:r>
          </a:p>
          <a:p>
            <a:endParaRPr lang="en-GB" sz="3000" dirty="0"/>
          </a:p>
        </p:txBody>
      </p:sp>
    </p:spTree>
    <p:extLst>
      <p:ext uri="{BB962C8B-B14F-4D97-AF65-F5344CB8AC3E}">
        <p14:creationId xmlns:p14="http://schemas.microsoft.com/office/powerpoint/2010/main" val="140532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99C6-444F-415B-9F44-B58B70179BBA}"/>
              </a:ext>
            </a:extLst>
          </p:cNvPr>
          <p:cNvSpPr>
            <a:spLocks noGrp="1"/>
          </p:cNvSpPr>
          <p:nvPr>
            <p:ph type="title"/>
          </p:nvPr>
        </p:nvSpPr>
        <p:spPr/>
        <p:txBody>
          <a:bodyPr>
            <a:normAutofit/>
          </a:bodyPr>
          <a:lstStyle/>
          <a:p>
            <a:r>
              <a:rPr lang="en-GB" sz="4000" dirty="0"/>
              <a:t>Sylvia Plath poems</a:t>
            </a:r>
          </a:p>
        </p:txBody>
      </p:sp>
      <p:sp>
        <p:nvSpPr>
          <p:cNvPr id="3" name="Content Placeholder 2">
            <a:extLst>
              <a:ext uri="{FF2B5EF4-FFF2-40B4-BE49-F238E27FC236}">
                <a16:creationId xmlns:a16="http://schemas.microsoft.com/office/drawing/2014/main" id="{9EE47A15-C9E9-4923-B1EF-EF1CAC01DFF2}"/>
              </a:ext>
            </a:extLst>
          </p:cNvPr>
          <p:cNvSpPr>
            <a:spLocks noGrp="1"/>
          </p:cNvSpPr>
          <p:nvPr>
            <p:ph idx="1"/>
          </p:nvPr>
        </p:nvSpPr>
        <p:spPr/>
        <p:txBody>
          <a:bodyPr>
            <a:normAutofit/>
          </a:bodyPr>
          <a:lstStyle/>
          <a:p>
            <a:r>
              <a:rPr lang="en-GB" sz="3000" dirty="0"/>
              <a:t>How does Sylvia Plath describe the scene of the </a:t>
            </a:r>
            <a:r>
              <a:rPr lang="en-GB" sz="3000" i="1" dirty="0"/>
              <a:t>Winter Trees</a:t>
            </a:r>
            <a:r>
              <a:rPr lang="en-GB" sz="3000" dirty="0"/>
              <a:t>?</a:t>
            </a:r>
          </a:p>
          <a:p>
            <a:endParaRPr lang="en-GB" sz="3000" dirty="0"/>
          </a:p>
          <a:p>
            <a:r>
              <a:rPr lang="en-GB" sz="3000" dirty="0"/>
              <a:t>What is ‘</a:t>
            </a:r>
            <a:r>
              <a:rPr lang="en-GB" sz="3000" dirty="0" err="1"/>
              <a:t>Ledas</a:t>
            </a:r>
            <a:r>
              <a:rPr lang="en-GB" sz="3000" dirty="0"/>
              <a:t>’ a reference to?</a:t>
            </a:r>
          </a:p>
          <a:p>
            <a:endParaRPr lang="en-GB" sz="3000" dirty="0"/>
          </a:p>
          <a:p>
            <a:r>
              <a:rPr lang="en-GB" sz="3000" dirty="0"/>
              <a:t>What is the mood and tone of the poem? What does it mean?</a:t>
            </a:r>
          </a:p>
          <a:p>
            <a:endParaRPr lang="en-GB" sz="3000" dirty="0"/>
          </a:p>
        </p:txBody>
      </p:sp>
    </p:spTree>
    <p:extLst>
      <p:ext uri="{BB962C8B-B14F-4D97-AF65-F5344CB8AC3E}">
        <p14:creationId xmlns:p14="http://schemas.microsoft.com/office/powerpoint/2010/main" val="7269693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0243-4770-C6E8-A658-62F70BA9C2F3}"/>
              </a:ext>
            </a:extLst>
          </p:cNvPr>
          <p:cNvSpPr>
            <a:spLocks noGrp="1"/>
          </p:cNvSpPr>
          <p:nvPr>
            <p:ph type="title"/>
          </p:nvPr>
        </p:nvSpPr>
        <p:spPr>
          <a:xfrm>
            <a:off x="685801" y="524020"/>
            <a:ext cx="10131425" cy="1456267"/>
          </a:xfrm>
        </p:spPr>
        <p:txBody>
          <a:bodyPr>
            <a:normAutofit/>
          </a:bodyPr>
          <a:lstStyle/>
          <a:p>
            <a:r>
              <a:rPr lang="en-GB" sz="5400" cap="none" dirty="0"/>
              <a:t>Seamus Heaney (1939-2013) </a:t>
            </a:r>
          </a:p>
        </p:txBody>
      </p:sp>
      <p:sp>
        <p:nvSpPr>
          <p:cNvPr id="3" name="Content Placeholder 2">
            <a:extLst>
              <a:ext uri="{FF2B5EF4-FFF2-40B4-BE49-F238E27FC236}">
                <a16:creationId xmlns:a16="http://schemas.microsoft.com/office/drawing/2014/main" id="{8840EB0C-50F7-3150-573E-C9F86B216E3D}"/>
              </a:ext>
            </a:extLst>
          </p:cNvPr>
          <p:cNvSpPr>
            <a:spLocks noGrp="1"/>
          </p:cNvSpPr>
          <p:nvPr>
            <p:ph idx="1"/>
          </p:nvPr>
        </p:nvSpPr>
        <p:spPr>
          <a:xfrm>
            <a:off x="685801" y="3085284"/>
            <a:ext cx="8738117" cy="3219061"/>
          </a:xfrm>
        </p:spPr>
        <p:txBody>
          <a:bodyPr>
            <a:normAutofit fontScale="92500" lnSpcReduction="20000"/>
          </a:bodyPr>
          <a:lstStyle/>
          <a:p>
            <a:r>
              <a:rPr lang="en-GB" sz="3000" dirty="0"/>
              <a:t>Born in Northern Ireland, one of nine children – but considered himself Irish.</a:t>
            </a:r>
          </a:p>
          <a:p>
            <a:r>
              <a:rPr lang="en-GB" sz="3000" dirty="0"/>
              <a:t>His father was a cattle farmer. </a:t>
            </a:r>
          </a:p>
          <a:p>
            <a:r>
              <a:rPr lang="en-GB" sz="3000" dirty="0"/>
              <a:t>Became one of Ireland’s most well-known poets.</a:t>
            </a:r>
          </a:p>
          <a:p>
            <a:r>
              <a:rPr lang="en-GB" sz="3000" dirty="0"/>
              <a:t>Translated </a:t>
            </a:r>
            <a:r>
              <a:rPr lang="en-GB" sz="3000" i="1" dirty="0"/>
              <a:t>Beowulf </a:t>
            </a:r>
            <a:r>
              <a:rPr lang="en-GB" sz="3000" dirty="0"/>
              <a:t>in 1999, which we read.</a:t>
            </a:r>
          </a:p>
          <a:p>
            <a:r>
              <a:rPr lang="en-GB" sz="3000" dirty="0"/>
              <a:t>Some of his poems make reference to                                    ‘the troubles’ in Ireland.</a:t>
            </a:r>
          </a:p>
          <a:p>
            <a:endParaRPr lang="en-GB" sz="2800" dirty="0"/>
          </a:p>
          <a:p>
            <a:endParaRPr lang="en-GB" sz="2800" dirty="0"/>
          </a:p>
          <a:p>
            <a:endParaRPr lang="en-GB" sz="2800" dirty="0"/>
          </a:p>
          <a:p>
            <a:endParaRPr lang="en-GB" sz="2800" dirty="0"/>
          </a:p>
          <a:p>
            <a:endParaRPr lang="en-GB" sz="2800" dirty="0"/>
          </a:p>
          <a:p>
            <a:endParaRPr lang="en-GB" sz="2800" dirty="0"/>
          </a:p>
        </p:txBody>
      </p:sp>
      <p:pic>
        <p:nvPicPr>
          <p:cNvPr id="4098" name="Picture 2" descr="Seamus Heaney: his 10 best poems - Telegraph">
            <a:extLst>
              <a:ext uri="{FF2B5EF4-FFF2-40B4-BE49-F238E27FC236}">
                <a16:creationId xmlns:a16="http://schemas.microsoft.com/office/drawing/2014/main" id="{7AC63362-BF0C-70E4-7B74-9ED0081480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863" y="3833475"/>
            <a:ext cx="4194273" cy="262019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eamus Heaney, Part 1">
            <a:extLst>
              <a:ext uri="{FF2B5EF4-FFF2-40B4-BE49-F238E27FC236}">
                <a16:creationId xmlns:a16="http://schemas.microsoft.com/office/drawing/2014/main" id="{774CC810-E383-5FA1-7683-BB78FD5B2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8333" y="928495"/>
            <a:ext cx="2500505" cy="25005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6702D59-6645-09E2-0768-CDEF601CA894}"/>
              </a:ext>
            </a:extLst>
          </p:cNvPr>
          <p:cNvSpPr txBox="1"/>
          <p:nvPr/>
        </p:nvSpPr>
        <p:spPr>
          <a:xfrm>
            <a:off x="399775" y="4877714"/>
            <a:ext cx="7506088" cy="2062103"/>
          </a:xfrm>
          <a:prstGeom prst="rect">
            <a:avLst/>
          </a:prstGeom>
          <a:noFill/>
        </p:spPr>
        <p:txBody>
          <a:bodyPr wrap="square" rtlCol="0">
            <a:spAutoFit/>
          </a:bodyPr>
          <a:lstStyle/>
          <a:p>
            <a:r>
              <a:rPr lang="en-GB" sz="2200" b="0" i="0" dirty="0">
                <a:effectLst/>
              </a:rPr>
              <a:t>“When a poem rhymes, when a form generates itself, when a metre provokes consciousness into new postures, it is already on the side of life… When language does more than enough, as it does in all achieved poetry, it opts for the condition of </a:t>
            </a:r>
            <a:r>
              <a:rPr lang="en-GB" sz="2200" b="0" i="0" dirty="0" err="1">
                <a:effectLst/>
              </a:rPr>
              <a:t>overlife</a:t>
            </a:r>
            <a:r>
              <a:rPr lang="en-GB" sz="2200" b="0" i="0" dirty="0">
                <a:effectLst/>
              </a:rPr>
              <a:t>, and rebels at limit.”</a:t>
            </a:r>
            <a:endParaRPr lang="en-GB" sz="2200" dirty="0"/>
          </a:p>
          <a:p>
            <a:endParaRPr lang="en-GB" dirty="0"/>
          </a:p>
        </p:txBody>
      </p:sp>
    </p:spTree>
    <p:extLst>
      <p:ext uri="{BB962C8B-B14F-4D97-AF65-F5344CB8AC3E}">
        <p14:creationId xmlns:p14="http://schemas.microsoft.com/office/powerpoint/2010/main" val="395010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E081D-BA90-A59E-6037-185332F40C4A}"/>
              </a:ext>
            </a:extLst>
          </p:cNvPr>
          <p:cNvSpPr>
            <a:spLocks noGrp="1"/>
          </p:cNvSpPr>
          <p:nvPr>
            <p:ph idx="1"/>
          </p:nvPr>
        </p:nvSpPr>
        <p:spPr>
          <a:xfrm>
            <a:off x="5803642" y="609600"/>
            <a:ext cx="6148872" cy="5837853"/>
          </a:xfrm>
        </p:spPr>
        <p:txBody>
          <a:bodyPr>
            <a:noAutofit/>
          </a:bodyPr>
          <a:lstStyle/>
          <a:p>
            <a:r>
              <a:rPr lang="en-GB" sz="2400" dirty="0"/>
              <a:t>1169 AD – Normans conquer part of Ireland.</a:t>
            </a:r>
          </a:p>
          <a:p>
            <a:r>
              <a:rPr lang="en-GB" sz="2400" dirty="0"/>
              <a:t>16</a:t>
            </a:r>
            <a:r>
              <a:rPr lang="en-GB" sz="2400" baseline="30000" dirty="0"/>
              <a:t>th</a:t>
            </a:r>
            <a:r>
              <a:rPr lang="en-GB" sz="2400" dirty="0"/>
              <a:t> Century English settlements. King Henry VIII also calls himself ‘King of Ireland’.</a:t>
            </a:r>
          </a:p>
          <a:p>
            <a:r>
              <a:rPr lang="en-GB" sz="2400" dirty="0"/>
              <a:t>19</a:t>
            </a:r>
            <a:r>
              <a:rPr lang="en-GB" sz="2400" baseline="30000" dirty="0"/>
              <a:t>th</a:t>
            </a:r>
            <a:r>
              <a:rPr lang="en-GB" sz="2400" dirty="0"/>
              <a:t> century – ‘Home Rule’ political campaign</a:t>
            </a:r>
          </a:p>
          <a:p>
            <a:r>
              <a:rPr lang="en-GB" sz="2400" dirty="0"/>
              <a:t>1916 – Easter Uprising against British rule.</a:t>
            </a:r>
          </a:p>
          <a:p>
            <a:r>
              <a:rPr lang="en-GB" sz="2400" dirty="0"/>
              <a:t>1922-37 – Southern ‘Ireland’ becomes a separate republic.</a:t>
            </a:r>
          </a:p>
          <a:p>
            <a:r>
              <a:rPr lang="en-GB" sz="2400" dirty="0"/>
              <a:t>1960s - 1998 – ‘The Troubles’: violence and terrorism in Northern Ireland and Britain.</a:t>
            </a:r>
          </a:p>
          <a:p>
            <a:r>
              <a:rPr lang="en-GB" sz="2400" dirty="0"/>
              <a:t>The </a:t>
            </a:r>
            <a:r>
              <a:rPr lang="en-GB" sz="2400" b="1" dirty="0"/>
              <a:t>Unionists</a:t>
            </a:r>
            <a:r>
              <a:rPr lang="en-GB" sz="2400" dirty="0"/>
              <a:t> in the north want to be part of the UK. The </a:t>
            </a:r>
            <a:r>
              <a:rPr lang="en-GB" sz="2400" b="1" dirty="0"/>
              <a:t>Republicans</a:t>
            </a:r>
            <a:r>
              <a:rPr lang="en-GB" sz="2400" dirty="0"/>
              <a:t> in southern Ireland want all of Ireland to be independent from the UK.</a:t>
            </a:r>
          </a:p>
        </p:txBody>
      </p:sp>
      <p:pic>
        <p:nvPicPr>
          <p:cNvPr id="1026" name="Picture 2" descr="Map Of Northern Ireland Conflict">
            <a:extLst>
              <a:ext uri="{FF2B5EF4-FFF2-40B4-BE49-F238E27FC236}">
                <a16:creationId xmlns:a16="http://schemas.microsoft.com/office/drawing/2014/main" id="{FBCCB31A-98FA-8771-6E77-8EF1B8457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558" y="609600"/>
            <a:ext cx="5283481" cy="56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97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7080D-1317-E796-E633-9F0B5AC2704F}"/>
              </a:ext>
            </a:extLst>
          </p:cNvPr>
          <p:cNvSpPr>
            <a:spLocks noGrp="1"/>
          </p:cNvSpPr>
          <p:nvPr>
            <p:ph idx="1"/>
          </p:nvPr>
        </p:nvSpPr>
        <p:spPr>
          <a:xfrm>
            <a:off x="402772" y="1953074"/>
            <a:ext cx="6844003" cy="3649133"/>
          </a:xfrm>
        </p:spPr>
        <p:txBody>
          <a:bodyPr>
            <a:normAutofit/>
          </a:bodyPr>
          <a:lstStyle/>
          <a:p>
            <a:r>
              <a:rPr lang="en-GB" sz="2400" dirty="0"/>
              <a:t>The IRA (Irish Republican Army) planted bombs to attack the British army, police, and civilians in Northern Ireland and the British Mainland, and also the British Government.</a:t>
            </a:r>
          </a:p>
          <a:p>
            <a:endParaRPr lang="en-GB" sz="600" dirty="0"/>
          </a:p>
          <a:p>
            <a:r>
              <a:rPr lang="en-GB" sz="2400" dirty="0"/>
              <a:t>The Omagh bombing in Northern Ireland, in 1998, killed 29 people in the town centre – after the public voted for a peace deal.</a:t>
            </a:r>
          </a:p>
          <a:p>
            <a:endParaRPr lang="en-GB" sz="2800" dirty="0"/>
          </a:p>
          <a:p>
            <a:endParaRPr lang="en-GB" sz="2800" dirty="0"/>
          </a:p>
          <a:p>
            <a:endParaRPr lang="en-GB" sz="2800" dirty="0"/>
          </a:p>
          <a:p>
            <a:endParaRPr lang="en-GB" sz="2800" dirty="0"/>
          </a:p>
          <a:p>
            <a:endParaRPr lang="en-GB" sz="2800" dirty="0"/>
          </a:p>
          <a:p>
            <a:endParaRPr lang="en-GB" sz="2800" dirty="0"/>
          </a:p>
          <a:p>
            <a:endParaRPr lang="en-GB" sz="2800" dirty="0"/>
          </a:p>
        </p:txBody>
      </p:sp>
      <p:pic>
        <p:nvPicPr>
          <p:cNvPr id="4098" name="Picture 2" descr="undefined">
            <a:extLst>
              <a:ext uri="{FF2B5EF4-FFF2-40B4-BE49-F238E27FC236}">
                <a16:creationId xmlns:a16="http://schemas.microsoft.com/office/drawing/2014/main" id="{74850A4C-2460-4952-30D8-6AB7388C4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5706" y="631871"/>
            <a:ext cx="3722914" cy="22949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C2F320-E988-B496-7B8E-323C01840D3A}"/>
              </a:ext>
            </a:extLst>
          </p:cNvPr>
          <p:cNvSpPr txBox="1"/>
          <p:nvPr/>
        </p:nvSpPr>
        <p:spPr>
          <a:xfrm>
            <a:off x="7697754" y="179347"/>
            <a:ext cx="4665306" cy="430887"/>
          </a:xfrm>
          <a:prstGeom prst="rect">
            <a:avLst/>
          </a:prstGeom>
          <a:noFill/>
        </p:spPr>
        <p:txBody>
          <a:bodyPr wrap="square" rtlCol="0">
            <a:spAutoFit/>
          </a:bodyPr>
          <a:lstStyle/>
          <a:p>
            <a:r>
              <a:rPr lang="en-GB" sz="2200" dirty="0"/>
              <a:t>The Grand Brighton Hotel, in 1984</a:t>
            </a:r>
          </a:p>
        </p:txBody>
      </p:sp>
      <p:pic>
        <p:nvPicPr>
          <p:cNvPr id="4100" name="Picture 4" descr="Charges Dropped Against Omagh Bombing Suspect Seamus Daly">
            <a:extLst>
              <a:ext uri="{FF2B5EF4-FFF2-40B4-BE49-F238E27FC236}">
                <a16:creationId xmlns:a16="http://schemas.microsoft.com/office/drawing/2014/main" id="{1BCEC8F9-E6FD-8AEE-2F89-56EC3E9D0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921" y="3677415"/>
            <a:ext cx="3648270" cy="247262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E284A08-CCAD-13B9-A6B9-F711EACF7740}"/>
              </a:ext>
            </a:extLst>
          </p:cNvPr>
          <p:cNvSpPr txBox="1"/>
          <p:nvPr/>
        </p:nvSpPr>
        <p:spPr>
          <a:xfrm>
            <a:off x="580921" y="6266020"/>
            <a:ext cx="4075055" cy="430887"/>
          </a:xfrm>
          <a:prstGeom prst="rect">
            <a:avLst/>
          </a:prstGeom>
          <a:noFill/>
        </p:spPr>
        <p:txBody>
          <a:bodyPr wrap="square" rtlCol="0">
            <a:spAutoFit/>
          </a:bodyPr>
          <a:lstStyle/>
          <a:p>
            <a:r>
              <a:rPr lang="en-GB" sz="2200" dirty="0"/>
              <a:t>Omagh after the bombing in 1998</a:t>
            </a:r>
          </a:p>
        </p:txBody>
      </p:sp>
      <p:pic>
        <p:nvPicPr>
          <p:cNvPr id="4104" name="Picture 8" descr="OnThisDayTheIRA på Twitter: &quot;#OnThisDay the IRA planted a 500 lb van bomb at the Ulsterbus depot ...">
            <a:extLst>
              <a:ext uri="{FF2B5EF4-FFF2-40B4-BE49-F238E27FC236}">
                <a16:creationId xmlns:a16="http://schemas.microsoft.com/office/drawing/2014/main" id="{465A296F-09F3-035B-71DE-E0F65F91C2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7340" y="3396661"/>
            <a:ext cx="4881280" cy="281137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0E84DBB9-3C98-A3F4-BF22-B07CE360146E}"/>
              </a:ext>
            </a:extLst>
          </p:cNvPr>
          <p:cNvSpPr txBox="1">
            <a:spLocks/>
          </p:cNvSpPr>
          <p:nvPr/>
        </p:nvSpPr>
        <p:spPr>
          <a:xfrm>
            <a:off x="9274620" y="4872340"/>
            <a:ext cx="2667697" cy="36491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GB" sz="2400" dirty="0"/>
              <a:t>The Northern Irish town of Magherafelt was attacked by an IRA bomb hidden in a van, in 1993.   </a:t>
            </a:r>
          </a:p>
          <a:p>
            <a:endParaRPr lang="en-GB" sz="2800" dirty="0"/>
          </a:p>
          <a:p>
            <a:endParaRPr lang="en-GB" sz="2800" dirty="0"/>
          </a:p>
          <a:p>
            <a:endParaRPr lang="en-GB" sz="2800" dirty="0"/>
          </a:p>
          <a:p>
            <a:endParaRPr lang="en-GB" sz="2800" dirty="0"/>
          </a:p>
          <a:p>
            <a:endParaRPr lang="en-GB" sz="2800" dirty="0"/>
          </a:p>
          <a:p>
            <a:endParaRPr lang="en-GB" sz="2800" dirty="0"/>
          </a:p>
          <a:p>
            <a:endParaRPr lang="en-GB" sz="2800" dirty="0"/>
          </a:p>
        </p:txBody>
      </p:sp>
    </p:spTree>
    <p:extLst>
      <p:ext uri="{BB962C8B-B14F-4D97-AF65-F5344CB8AC3E}">
        <p14:creationId xmlns:p14="http://schemas.microsoft.com/office/powerpoint/2010/main" val="1927268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685801" y="989045"/>
            <a:ext cx="10131425" cy="5784978"/>
          </a:xfrm>
        </p:spPr>
        <p:txBody>
          <a:bodyPr>
            <a:normAutofit/>
          </a:bodyPr>
          <a:lstStyle/>
          <a:p>
            <a:pPr>
              <a:lnSpc>
                <a:spcPct val="107000"/>
              </a:lnSpc>
              <a:spcAft>
                <a:spcPts val="800"/>
              </a:spcAft>
            </a:pPr>
            <a:r>
              <a:rPr lang="en-GB" sz="2400" kern="0" dirty="0">
                <a:effectLst/>
                <a:ea typeface="Times New Roman" panose="02020603050405020304" pitchFamily="18" charset="0"/>
                <a:cs typeface="Times New Roman" panose="02020603050405020304" pitchFamily="18" charset="0"/>
              </a:rPr>
              <a:t>It's raining on black coal and warm wet ashes.</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There are tyre-marks in the yard, Agnew's old lorry</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Has all its cribs down and Agnew the coalman</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With his Belfast accent's sweet-talking my mother.</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Would she ever go to a film in Magherafelt?</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But it's raining and he still has half the load</a:t>
            </a:r>
          </a:p>
          <a:p>
            <a:pPr>
              <a:lnSpc>
                <a:spcPct val="107000"/>
              </a:lnSpc>
              <a:spcAft>
                <a:spcPts val="800"/>
              </a:spcAft>
            </a:pPr>
            <a:endParaRPr lang="en-GB" sz="1200" kern="100" dirty="0">
              <a:effectLst/>
              <a:ea typeface="DengXian" panose="02010600030101010101" pitchFamily="2" charset="-122"/>
              <a:cs typeface="Times New Roman" panose="02020603050405020304" pitchFamily="18" charset="0"/>
            </a:endParaRPr>
          </a:p>
          <a:p>
            <a:r>
              <a:rPr lang="en-GB" sz="2400" kern="0" dirty="0">
                <a:effectLst/>
                <a:ea typeface="Times New Roman" panose="02020603050405020304" pitchFamily="18" charset="0"/>
              </a:rPr>
              <a:t>To deliver farther on. This time the lode</a:t>
            </a:r>
            <a:br>
              <a:rPr lang="en-GB" sz="2400" kern="0" dirty="0">
                <a:effectLst/>
                <a:ea typeface="Times New Roman" panose="02020603050405020304" pitchFamily="18" charset="0"/>
              </a:rPr>
            </a:br>
            <a:r>
              <a:rPr lang="en-GB" sz="2400" kern="0" dirty="0">
                <a:effectLst/>
                <a:ea typeface="Times New Roman" panose="02020603050405020304" pitchFamily="18" charset="0"/>
              </a:rPr>
              <a:t>Our coal came from was silk-black, so the ashes</a:t>
            </a:r>
            <a:br>
              <a:rPr lang="en-GB" sz="2400" kern="0" dirty="0">
                <a:effectLst/>
                <a:ea typeface="Times New Roman" panose="02020603050405020304" pitchFamily="18" charset="0"/>
              </a:rPr>
            </a:br>
            <a:r>
              <a:rPr lang="en-GB" sz="2400" kern="0" dirty="0">
                <a:effectLst/>
                <a:ea typeface="Times New Roman" panose="02020603050405020304" pitchFamily="18" charset="0"/>
              </a:rPr>
              <a:t>Will be the silkiest white. The Magherafelt</a:t>
            </a:r>
            <a:br>
              <a:rPr lang="en-GB" sz="2400" kern="0" dirty="0">
                <a:effectLst/>
                <a:ea typeface="Times New Roman" panose="02020603050405020304" pitchFamily="18" charset="0"/>
              </a:rPr>
            </a:br>
            <a:r>
              <a:rPr lang="en-GB" sz="2400" kern="0" dirty="0">
                <a:effectLst/>
                <a:ea typeface="Times New Roman" panose="02020603050405020304" pitchFamily="18" charset="0"/>
              </a:rPr>
              <a:t>(Via </a:t>
            </a:r>
            <a:r>
              <a:rPr lang="en-GB" sz="2400" kern="0" dirty="0" err="1">
                <a:effectLst/>
                <a:ea typeface="Times New Roman" panose="02020603050405020304" pitchFamily="18" charset="0"/>
              </a:rPr>
              <a:t>Toomebridge</a:t>
            </a:r>
            <a:r>
              <a:rPr lang="en-GB" sz="2400" kern="0" dirty="0">
                <a:effectLst/>
                <a:ea typeface="Times New Roman" panose="02020603050405020304" pitchFamily="18" charset="0"/>
              </a:rPr>
              <a:t>) bus goes by. The half-stripped lorry</a:t>
            </a:r>
            <a:br>
              <a:rPr lang="en-GB" sz="2400" kern="0" dirty="0">
                <a:effectLst/>
                <a:ea typeface="Times New Roman" panose="02020603050405020304" pitchFamily="18" charset="0"/>
              </a:rPr>
            </a:br>
            <a:r>
              <a:rPr lang="en-GB" sz="2400" kern="0" dirty="0">
                <a:effectLst/>
                <a:ea typeface="Times New Roman" panose="02020603050405020304" pitchFamily="18" charset="0"/>
              </a:rPr>
              <a:t>With its emptied, folded coal-bags moves my mother:</a:t>
            </a:r>
            <a:br>
              <a:rPr lang="en-GB" sz="2400" kern="0" dirty="0">
                <a:effectLst/>
                <a:ea typeface="Times New Roman" panose="02020603050405020304" pitchFamily="18" charset="0"/>
              </a:rPr>
            </a:br>
            <a:r>
              <a:rPr lang="en-GB" sz="2400" kern="0" dirty="0">
                <a:effectLst/>
                <a:ea typeface="Times New Roman" panose="02020603050405020304" pitchFamily="18" charset="0"/>
              </a:rPr>
              <a:t>The tasty ways of a leather-aproned coalman!</a:t>
            </a:r>
            <a:endParaRPr lang="en-GB" sz="3600" dirty="0"/>
          </a:p>
        </p:txBody>
      </p:sp>
      <p:sp>
        <p:nvSpPr>
          <p:cNvPr id="6" name="Title 1">
            <a:extLst>
              <a:ext uri="{FF2B5EF4-FFF2-40B4-BE49-F238E27FC236}">
                <a16:creationId xmlns:a16="http://schemas.microsoft.com/office/drawing/2014/main" id="{21A4DD91-6D57-328C-E2DF-FD656EDE7C58}"/>
              </a:ext>
            </a:extLst>
          </p:cNvPr>
          <p:cNvSpPr>
            <a:spLocks noGrp="1"/>
          </p:cNvSpPr>
          <p:nvPr>
            <p:ph type="title"/>
          </p:nvPr>
        </p:nvSpPr>
        <p:spPr>
          <a:xfrm>
            <a:off x="685801" y="609600"/>
            <a:ext cx="10131425" cy="510073"/>
          </a:xfrm>
        </p:spPr>
        <p:txBody>
          <a:bodyPr>
            <a:normAutofit fontScale="90000"/>
          </a:bodyPr>
          <a:lstStyle/>
          <a:p>
            <a:r>
              <a:rPr lang="en-GB" dirty="0"/>
              <a:t>Seamus Heaney poems:  </a:t>
            </a:r>
            <a:r>
              <a:rPr lang="en-GB" i="1" cap="none" dirty="0"/>
              <a:t>Two Lorries </a:t>
            </a:r>
            <a:endParaRPr lang="en-GB" dirty="0"/>
          </a:p>
        </p:txBody>
      </p:sp>
      <p:sp>
        <p:nvSpPr>
          <p:cNvPr id="7" name="TextBox 6">
            <a:extLst>
              <a:ext uri="{FF2B5EF4-FFF2-40B4-BE49-F238E27FC236}">
                <a16:creationId xmlns:a16="http://schemas.microsoft.com/office/drawing/2014/main" id="{9BE2644E-3246-6106-0972-39F83F88B250}"/>
              </a:ext>
            </a:extLst>
          </p:cNvPr>
          <p:cNvSpPr txBox="1"/>
          <p:nvPr/>
        </p:nvSpPr>
        <p:spPr>
          <a:xfrm>
            <a:off x="8425543" y="1567543"/>
            <a:ext cx="2995126" cy="3108543"/>
          </a:xfrm>
          <a:prstGeom prst="rect">
            <a:avLst/>
          </a:prstGeom>
          <a:noFill/>
        </p:spPr>
        <p:txBody>
          <a:bodyPr wrap="square" rtlCol="0">
            <a:spAutoFit/>
          </a:bodyPr>
          <a:lstStyle/>
          <a:p>
            <a:r>
              <a:rPr lang="en-GB" sz="2800" dirty="0"/>
              <a:t>What special structure does this poem have?</a:t>
            </a:r>
          </a:p>
          <a:p>
            <a:endParaRPr lang="en-GB" sz="2800" dirty="0"/>
          </a:p>
          <a:p>
            <a:r>
              <a:rPr lang="en-GB" sz="2800" dirty="0"/>
              <a:t>Compare the ends of the lines in both stanzas.</a:t>
            </a:r>
          </a:p>
        </p:txBody>
      </p:sp>
    </p:spTree>
    <p:extLst>
      <p:ext uri="{BB962C8B-B14F-4D97-AF65-F5344CB8AC3E}">
        <p14:creationId xmlns:p14="http://schemas.microsoft.com/office/powerpoint/2010/main" val="324064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685801" y="989045"/>
            <a:ext cx="10131425" cy="5784978"/>
          </a:xfrm>
        </p:spPr>
        <p:txBody>
          <a:bodyPr>
            <a:normAutofit/>
          </a:bodyPr>
          <a:lstStyle/>
          <a:p>
            <a:pPr>
              <a:lnSpc>
                <a:spcPct val="107000"/>
              </a:lnSpc>
              <a:spcAft>
                <a:spcPts val="800"/>
              </a:spcAft>
            </a:pPr>
            <a:r>
              <a:rPr lang="en-GB" sz="2400" kern="0" dirty="0">
                <a:effectLst/>
                <a:ea typeface="Times New Roman" panose="02020603050405020304" pitchFamily="18" charset="0"/>
                <a:cs typeface="Times New Roman" panose="02020603050405020304" pitchFamily="18" charset="0"/>
              </a:rPr>
              <a:t>It's raining on black coal and warm wet </a:t>
            </a:r>
            <a:r>
              <a:rPr lang="en-GB" sz="2400" kern="0" dirty="0">
                <a:solidFill>
                  <a:srgbClr val="FFFF00"/>
                </a:solidFill>
                <a:effectLst/>
                <a:ea typeface="Times New Roman" panose="02020603050405020304" pitchFamily="18" charset="0"/>
                <a:cs typeface="Times New Roman" panose="02020603050405020304" pitchFamily="18" charset="0"/>
              </a:rPr>
              <a:t>ashes.</a:t>
            </a:r>
            <a:r>
              <a:rPr lang="en-GB" sz="2400" kern="0" dirty="0">
                <a:effectLst/>
                <a:ea typeface="Times New Roman" panose="02020603050405020304" pitchFamily="18" charset="0"/>
                <a:cs typeface="Times New Roman" panose="02020603050405020304" pitchFamily="18" charset="0"/>
              </a:rPr>
              <a:t>  </a:t>
            </a:r>
            <a:r>
              <a:rPr lang="en-GB" sz="2400" kern="0" dirty="0">
                <a:solidFill>
                  <a:srgbClr val="FFFF00"/>
                </a:solidFill>
                <a:effectLst/>
                <a:ea typeface="Times New Roman" panose="02020603050405020304" pitchFamily="18" charset="0"/>
                <a:cs typeface="Times New Roman" panose="02020603050405020304" pitchFamily="18" charset="0"/>
              </a:rPr>
              <a:t>1</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There are tyre-marks in the yard, Agnew's old </a:t>
            </a:r>
            <a:r>
              <a:rPr lang="en-GB" sz="2400" kern="0" dirty="0">
                <a:solidFill>
                  <a:schemeClr val="accent5">
                    <a:lumMod val="60000"/>
                    <a:lumOff val="40000"/>
                  </a:schemeClr>
                </a:solidFill>
                <a:effectLst/>
                <a:ea typeface="Times New Roman" panose="02020603050405020304" pitchFamily="18" charset="0"/>
                <a:cs typeface="Times New Roman" panose="02020603050405020304" pitchFamily="18" charset="0"/>
              </a:rPr>
              <a:t>lorry  2</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Has all its cribs down and Agnew the </a:t>
            </a:r>
            <a:r>
              <a:rPr lang="en-GB" sz="2400" kern="0" dirty="0">
                <a:solidFill>
                  <a:schemeClr val="accent5">
                    <a:lumMod val="75000"/>
                  </a:schemeClr>
                </a:solidFill>
                <a:effectLst/>
                <a:ea typeface="Times New Roman" panose="02020603050405020304" pitchFamily="18" charset="0"/>
                <a:cs typeface="Times New Roman" panose="02020603050405020304" pitchFamily="18" charset="0"/>
              </a:rPr>
              <a:t>coalman  3</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With his Belfast accent's sweet-talking my </a:t>
            </a:r>
            <a:r>
              <a:rPr lang="en-GB" sz="2400" kern="0" dirty="0">
                <a:solidFill>
                  <a:schemeClr val="accent1">
                    <a:lumMod val="60000"/>
                    <a:lumOff val="40000"/>
                  </a:schemeClr>
                </a:solidFill>
                <a:effectLst/>
                <a:ea typeface="Times New Roman" panose="02020603050405020304" pitchFamily="18" charset="0"/>
                <a:cs typeface="Times New Roman" panose="02020603050405020304" pitchFamily="18" charset="0"/>
              </a:rPr>
              <a:t>mother.  4</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Would she ever go to a film in </a:t>
            </a:r>
            <a:r>
              <a:rPr lang="en-GB" sz="2400" kern="0" dirty="0">
                <a:solidFill>
                  <a:schemeClr val="accent6">
                    <a:lumMod val="60000"/>
                    <a:lumOff val="40000"/>
                  </a:schemeClr>
                </a:solidFill>
                <a:effectLst/>
                <a:ea typeface="Times New Roman" panose="02020603050405020304" pitchFamily="18" charset="0"/>
                <a:cs typeface="Times New Roman" panose="02020603050405020304" pitchFamily="18" charset="0"/>
              </a:rPr>
              <a:t>Magherafelt</a:t>
            </a:r>
            <a:r>
              <a:rPr lang="en-GB" sz="2400" kern="0" dirty="0">
                <a:solidFill>
                  <a:schemeClr val="accent6">
                    <a:lumMod val="60000"/>
                    <a:lumOff val="40000"/>
                  </a:schemeClr>
                </a:solidFill>
                <a:ea typeface="Times New Roman" panose="02020603050405020304" pitchFamily="18" charset="0"/>
                <a:cs typeface="Times New Roman" panose="02020603050405020304" pitchFamily="18" charset="0"/>
              </a:rPr>
              <a:t>?  5</a:t>
            </a:r>
            <a:br>
              <a:rPr lang="en-GB" sz="2400" kern="0" dirty="0">
                <a:effectLst/>
                <a:ea typeface="Times New Roman" panose="02020603050405020304" pitchFamily="18" charset="0"/>
                <a:cs typeface="Times New Roman" panose="02020603050405020304" pitchFamily="18" charset="0"/>
              </a:rPr>
            </a:br>
            <a:r>
              <a:rPr lang="en-GB" sz="2400" kern="0" dirty="0">
                <a:effectLst/>
                <a:ea typeface="Times New Roman" panose="02020603050405020304" pitchFamily="18" charset="0"/>
                <a:cs typeface="Times New Roman" panose="02020603050405020304" pitchFamily="18" charset="0"/>
              </a:rPr>
              <a:t>But it's raining and he still has half the </a:t>
            </a:r>
            <a:r>
              <a:rPr lang="en-GB" sz="2400" kern="0" dirty="0">
                <a:solidFill>
                  <a:schemeClr val="accent3">
                    <a:lumMod val="60000"/>
                    <a:lumOff val="40000"/>
                  </a:schemeClr>
                </a:solidFill>
                <a:effectLst/>
                <a:ea typeface="Times New Roman" panose="02020603050405020304" pitchFamily="18" charset="0"/>
                <a:cs typeface="Times New Roman" panose="02020603050405020304" pitchFamily="18" charset="0"/>
              </a:rPr>
              <a:t>load  6</a:t>
            </a:r>
          </a:p>
          <a:p>
            <a:pPr>
              <a:lnSpc>
                <a:spcPct val="107000"/>
              </a:lnSpc>
              <a:spcAft>
                <a:spcPts val="800"/>
              </a:spcAft>
            </a:pPr>
            <a:endParaRPr lang="en-GB" sz="1200" kern="100" dirty="0">
              <a:effectLst/>
              <a:ea typeface="DengXian" panose="02010600030101010101" pitchFamily="2" charset="-122"/>
              <a:cs typeface="Times New Roman" panose="02020603050405020304" pitchFamily="18" charset="0"/>
            </a:endParaRPr>
          </a:p>
          <a:p>
            <a:r>
              <a:rPr lang="en-GB" sz="2400" kern="0" dirty="0">
                <a:effectLst/>
                <a:ea typeface="Times New Roman" panose="02020603050405020304" pitchFamily="18" charset="0"/>
              </a:rPr>
              <a:t>To deliver farther on. This time the </a:t>
            </a:r>
            <a:r>
              <a:rPr lang="en-GB" sz="2400" kern="0" dirty="0">
                <a:solidFill>
                  <a:schemeClr val="accent3">
                    <a:lumMod val="60000"/>
                    <a:lumOff val="40000"/>
                  </a:schemeClr>
                </a:solidFill>
                <a:effectLst/>
                <a:ea typeface="Times New Roman" panose="02020603050405020304" pitchFamily="18" charset="0"/>
              </a:rPr>
              <a:t>lode  6</a:t>
            </a:r>
            <a:br>
              <a:rPr lang="en-GB" sz="2400" kern="0" dirty="0">
                <a:effectLst/>
                <a:ea typeface="Times New Roman" panose="02020603050405020304" pitchFamily="18" charset="0"/>
              </a:rPr>
            </a:br>
            <a:r>
              <a:rPr lang="en-GB" sz="2400" kern="0" dirty="0">
                <a:effectLst/>
                <a:ea typeface="Times New Roman" panose="02020603050405020304" pitchFamily="18" charset="0"/>
              </a:rPr>
              <a:t>Our coal came from was silk-black, so the </a:t>
            </a:r>
            <a:r>
              <a:rPr lang="en-GB" sz="2400" kern="0" dirty="0">
                <a:solidFill>
                  <a:srgbClr val="FFFF00"/>
                </a:solidFill>
                <a:effectLst/>
                <a:ea typeface="Times New Roman" panose="02020603050405020304" pitchFamily="18" charset="0"/>
              </a:rPr>
              <a:t>ashes  1</a:t>
            </a:r>
            <a:br>
              <a:rPr lang="en-GB" sz="2400" kern="0" dirty="0">
                <a:effectLst/>
                <a:ea typeface="Times New Roman" panose="02020603050405020304" pitchFamily="18" charset="0"/>
              </a:rPr>
            </a:br>
            <a:r>
              <a:rPr lang="en-GB" sz="2400" kern="0" dirty="0">
                <a:effectLst/>
                <a:ea typeface="Times New Roman" panose="02020603050405020304" pitchFamily="18" charset="0"/>
              </a:rPr>
              <a:t>Will be the silkiest white. The </a:t>
            </a:r>
            <a:r>
              <a:rPr lang="en-GB" sz="2400" kern="0" dirty="0">
                <a:solidFill>
                  <a:schemeClr val="accent6">
                    <a:lumMod val="60000"/>
                    <a:lumOff val="40000"/>
                  </a:schemeClr>
                </a:solidFill>
                <a:effectLst/>
                <a:ea typeface="Times New Roman" panose="02020603050405020304" pitchFamily="18" charset="0"/>
              </a:rPr>
              <a:t>Magherafelt  5</a:t>
            </a:r>
            <a:br>
              <a:rPr lang="en-GB" sz="2400" kern="0" dirty="0">
                <a:effectLst/>
                <a:ea typeface="Times New Roman" panose="02020603050405020304" pitchFamily="18" charset="0"/>
              </a:rPr>
            </a:br>
            <a:r>
              <a:rPr lang="en-GB" sz="2400" kern="0" dirty="0">
                <a:effectLst/>
                <a:ea typeface="Times New Roman" panose="02020603050405020304" pitchFamily="18" charset="0"/>
              </a:rPr>
              <a:t>(Via </a:t>
            </a:r>
            <a:r>
              <a:rPr lang="en-GB" sz="2400" kern="0" dirty="0" err="1">
                <a:effectLst/>
                <a:ea typeface="Times New Roman" panose="02020603050405020304" pitchFamily="18" charset="0"/>
              </a:rPr>
              <a:t>Toomebridge</a:t>
            </a:r>
            <a:r>
              <a:rPr lang="en-GB" sz="2400" kern="0" dirty="0">
                <a:effectLst/>
                <a:ea typeface="Times New Roman" panose="02020603050405020304" pitchFamily="18" charset="0"/>
              </a:rPr>
              <a:t>) bus goes by. The half-stripped </a:t>
            </a:r>
            <a:r>
              <a:rPr lang="en-GB" sz="2400" kern="0" dirty="0">
                <a:solidFill>
                  <a:schemeClr val="accent5">
                    <a:lumMod val="60000"/>
                    <a:lumOff val="40000"/>
                  </a:schemeClr>
                </a:solidFill>
                <a:effectLst/>
                <a:ea typeface="Times New Roman" panose="02020603050405020304" pitchFamily="18" charset="0"/>
              </a:rPr>
              <a:t>lorry  2</a:t>
            </a:r>
            <a:br>
              <a:rPr lang="en-GB" sz="2400" kern="0" dirty="0">
                <a:effectLst/>
                <a:ea typeface="Times New Roman" panose="02020603050405020304" pitchFamily="18" charset="0"/>
              </a:rPr>
            </a:br>
            <a:r>
              <a:rPr lang="en-GB" sz="2400" kern="0" dirty="0">
                <a:effectLst/>
                <a:ea typeface="Times New Roman" panose="02020603050405020304" pitchFamily="18" charset="0"/>
              </a:rPr>
              <a:t>With its emptied, folded coal-bags moves my </a:t>
            </a:r>
            <a:r>
              <a:rPr lang="en-GB" sz="2400" kern="0" dirty="0">
                <a:solidFill>
                  <a:schemeClr val="accent1">
                    <a:lumMod val="60000"/>
                    <a:lumOff val="40000"/>
                  </a:schemeClr>
                </a:solidFill>
                <a:effectLst/>
                <a:ea typeface="Times New Roman" panose="02020603050405020304" pitchFamily="18" charset="0"/>
              </a:rPr>
              <a:t>mother</a:t>
            </a:r>
            <a:r>
              <a:rPr lang="en-GB" sz="2400" kern="0" dirty="0">
                <a:solidFill>
                  <a:schemeClr val="accent1">
                    <a:lumMod val="60000"/>
                    <a:lumOff val="40000"/>
                  </a:schemeClr>
                </a:solidFill>
                <a:ea typeface="Times New Roman" panose="02020603050405020304" pitchFamily="18" charset="0"/>
              </a:rPr>
              <a:t>:  4</a:t>
            </a:r>
            <a:br>
              <a:rPr lang="en-GB" sz="2400" kern="0" dirty="0">
                <a:effectLst/>
                <a:ea typeface="Times New Roman" panose="02020603050405020304" pitchFamily="18" charset="0"/>
              </a:rPr>
            </a:br>
            <a:r>
              <a:rPr lang="en-GB" sz="2400" kern="0" dirty="0">
                <a:effectLst/>
                <a:ea typeface="Times New Roman" panose="02020603050405020304" pitchFamily="18" charset="0"/>
              </a:rPr>
              <a:t>The tasty ways of a leather-aproned </a:t>
            </a:r>
            <a:r>
              <a:rPr lang="en-GB" sz="2400" kern="0" dirty="0">
                <a:solidFill>
                  <a:schemeClr val="accent5">
                    <a:lumMod val="75000"/>
                  </a:schemeClr>
                </a:solidFill>
                <a:effectLst/>
                <a:ea typeface="Times New Roman" panose="02020603050405020304" pitchFamily="18" charset="0"/>
              </a:rPr>
              <a:t>coalman!  3</a:t>
            </a:r>
            <a:endParaRPr lang="en-GB" sz="3600" dirty="0"/>
          </a:p>
        </p:txBody>
      </p:sp>
      <p:sp>
        <p:nvSpPr>
          <p:cNvPr id="6" name="Title 1">
            <a:extLst>
              <a:ext uri="{FF2B5EF4-FFF2-40B4-BE49-F238E27FC236}">
                <a16:creationId xmlns:a16="http://schemas.microsoft.com/office/drawing/2014/main" id="{21A4DD91-6D57-328C-E2DF-FD656EDE7C58}"/>
              </a:ext>
            </a:extLst>
          </p:cNvPr>
          <p:cNvSpPr>
            <a:spLocks noGrp="1"/>
          </p:cNvSpPr>
          <p:nvPr>
            <p:ph type="title"/>
          </p:nvPr>
        </p:nvSpPr>
        <p:spPr>
          <a:xfrm>
            <a:off x="685801" y="609600"/>
            <a:ext cx="10131425" cy="510073"/>
          </a:xfrm>
        </p:spPr>
        <p:txBody>
          <a:bodyPr>
            <a:normAutofit fontScale="90000"/>
          </a:bodyPr>
          <a:lstStyle/>
          <a:p>
            <a:r>
              <a:rPr lang="en-GB" dirty="0"/>
              <a:t>Seamus Heaney poems:  </a:t>
            </a:r>
            <a:r>
              <a:rPr lang="en-GB" i="1" cap="none" dirty="0"/>
              <a:t>Two Lorries </a:t>
            </a:r>
            <a:endParaRPr lang="en-GB" dirty="0"/>
          </a:p>
        </p:txBody>
      </p:sp>
      <p:sp>
        <p:nvSpPr>
          <p:cNvPr id="7" name="TextBox 6">
            <a:extLst>
              <a:ext uri="{FF2B5EF4-FFF2-40B4-BE49-F238E27FC236}">
                <a16:creationId xmlns:a16="http://schemas.microsoft.com/office/drawing/2014/main" id="{9BE2644E-3246-6106-0972-39F83F88B250}"/>
              </a:ext>
            </a:extLst>
          </p:cNvPr>
          <p:cNvSpPr txBox="1"/>
          <p:nvPr/>
        </p:nvSpPr>
        <p:spPr>
          <a:xfrm>
            <a:off x="8425543" y="1567543"/>
            <a:ext cx="2995126" cy="3108543"/>
          </a:xfrm>
          <a:prstGeom prst="rect">
            <a:avLst/>
          </a:prstGeom>
          <a:noFill/>
        </p:spPr>
        <p:txBody>
          <a:bodyPr wrap="square" rtlCol="0">
            <a:spAutoFit/>
          </a:bodyPr>
          <a:lstStyle/>
          <a:p>
            <a:r>
              <a:rPr lang="en-GB" sz="2800" dirty="0"/>
              <a:t>What special structure does this poem have?</a:t>
            </a:r>
          </a:p>
          <a:p>
            <a:endParaRPr lang="en-GB" sz="2800" dirty="0"/>
          </a:p>
          <a:p>
            <a:r>
              <a:rPr lang="en-GB" sz="2800" dirty="0"/>
              <a:t>Compare the ends of the lines in both stanzas.</a:t>
            </a:r>
          </a:p>
        </p:txBody>
      </p:sp>
    </p:spTree>
    <p:extLst>
      <p:ext uri="{BB962C8B-B14F-4D97-AF65-F5344CB8AC3E}">
        <p14:creationId xmlns:p14="http://schemas.microsoft.com/office/powerpoint/2010/main" val="224271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685801" y="989045"/>
            <a:ext cx="10352313" cy="5784978"/>
          </a:xfrm>
        </p:spPr>
        <p:txBody>
          <a:bodyPr>
            <a:normAutofit/>
          </a:bodyPr>
          <a:lstStyle/>
          <a:p>
            <a:pPr>
              <a:lnSpc>
                <a:spcPct val="107000"/>
              </a:lnSpc>
              <a:spcAft>
                <a:spcPts val="800"/>
              </a:spcAft>
            </a:pPr>
            <a:r>
              <a:rPr lang="en-GB" sz="3200" kern="0" dirty="0">
                <a:effectLst/>
                <a:ea typeface="Times New Roman" panose="02020603050405020304" pitchFamily="18" charset="0"/>
                <a:cs typeface="Times New Roman" panose="02020603050405020304" pitchFamily="18" charset="0"/>
              </a:rPr>
              <a:t>This poem is a </a:t>
            </a:r>
            <a:r>
              <a:rPr lang="en-GB" sz="3200" b="1" kern="0" dirty="0">
                <a:effectLst/>
                <a:ea typeface="Times New Roman" panose="02020603050405020304" pitchFamily="18" charset="0"/>
                <a:cs typeface="Times New Roman" panose="02020603050405020304" pitchFamily="18" charset="0"/>
              </a:rPr>
              <a:t>sestina</a:t>
            </a:r>
          </a:p>
          <a:p>
            <a:pPr lvl="1">
              <a:lnSpc>
                <a:spcPct val="107000"/>
              </a:lnSpc>
              <a:spcAft>
                <a:spcPts val="800"/>
              </a:spcAft>
            </a:pPr>
            <a:r>
              <a:rPr lang="en-GB" sz="2800" kern="0" dirty="0">
                <a:cs typeface="Times New Roman" panose="02020603050405020304" pitchFamily="18" charset="0"/>
              </a:rPr>
              <a:t>Six stanzas</a:t>
            </a:r>
          </a:p>
          <a:p>
            <a:pPr lvl="1">
              <a:lnSpc>
                <a:spcPct val="107000"/>
              </a:lnSpc>
              <a:spcAft>
                <a:spcPts val="800"/>
              </a:spcAft>
            </a:pPr>
            <a:r>
              <a:rPr lang="en-GB" sz="2800" kern="0" dirty="0">
                <a:cs typeface="Times New Roman" panose="02020603050405020304" pitchFamily="18" charset="0"/>
              </a:rPr>
              <a:t>Six lines per stanza</a:t>
            </a:r>
          </a:p>
          <a:p>
            <a:pPr lvl="1">
              <a:lnSpc>
                <a:spcPct val="107000"/>
              </a:lnSpc>
              <a:spcAft>
                <a:spcPts val="800"/>
              </a:spcAft>
            </a:pPr>
            <a:r>
              <a:rPr lang="en-GB" sz="2800" kern="0" dirty="0">
                <a:cs typeface="Times New Roman" panose="02020603050405020304" pitchFamily="18" charset="0"/>
              </a:rPr>
              <a:t>Then a three line final ‘envoi’  = a short concluding stanza</a:t>
            </a:r>
          </a:p>
          <a:p>
            <a:pPr lvl="1">
              <a:lnSpc>
                <a:spcPct val="107000"/>
              </a:lnSpc>
              <a:spcAft>
                <a:spcPts val="800"/>
              </a:spcAft>
            </a:pPr>
            <a:endParaRPr lang="en-GB" sz="1800" kern="0" dirty="0">
              <a:cs typeface="Times New Roman" panose="02020603050405020304" pitchFamily="18" charset="0"/>
            </a:endParaRPr>
          </a:p>
          <a:p>
            <a:pPr>
              <a:lnSpc>
                <a:spcPct val="107000"/>
              </a:lnSpc>
              <a:spcAft>
                <a:spcPts val="800"/>
              </a:spcAft>
            </a:pPr>
            <a:r>
              <a:rPr lang="en-GB" sz="2800" kern="0" dirty="0">
                <a:cs typeface="Times New Roman" panose="02020603050405020304" pitchFamily="18" charset="0"/>
              </a:rPr>
              <a:t>This form was invented about 1200 AD in France by Arnaut Daniel. English sestinas were only written centuries later.</a:t>
            </a:r>
          </a:p>
          <a:p>
            <a:pPr>
              <a:lnSpc>
                <a:spcPct val="107000"/>
              </a:lnSpc>
              <a:spcAft>
                <a:spcPts val="800"/>
              </a:spcAft>
            </a:pPr>
            <a:endParaRPr lang="en-GB" sz="1400" kern="0" dirty="0">
              <a:cs typeface="Times New Roman" panose="02020603050405020304" pitchFamily="18" charset="0"/>
            </a:endParaRPr>
          </a:p>
          <a:p>
            <a:pPr>
              <a:lnSpc>
                <a:spcPct val="107000"/>
              </a:lnSpc>
              <a:spcAft>
                <a:spcPts val="800"/>
              </a:spcAft>
            </a:pPr>
            <a:r>
              <a:rPr lang="en-GB" sz="2800" kern="0" dirty="0">
                <a:cs typeface="Times New Roman" panose="02020603050405020304" pitchFamily="18" charset="0"/>
              </a:rPr>
              <a:t>They’re often in iambic pentameter (but Heaney uses ‘free verse’). </a:t>
            </a:r>
          </a:p>
          <a:p>
            <a:pPr>
              <a:lnSpc>
                <a:spcPct val="107000"/>
              </a:lnSpc>
              <a:spcAft>
                <a:spcPts val="800"/>
              </a:spcAft>
            </a:pPr>
            <a:r>
              <a:rPr lang="en-GB" sz="2800" kern="0" dirty="0">
                <a:cs typeface="Times New Roman" panose="02020603050405020304" pitchFamily="18" charset="0"/>
              </a:rPr>
              <a:t>Later sestinas include homophone endings to lines: ‘load’ and ‘lode’.</a:t>
            </a:r>
            <a:endParaRPr lang="en-GB" sz="4000" dirty="0"/>
          </a:p>
        </p:txBody>
      </p:sp>
      <p:sp>
        <p:nvSpPr>
          <p:cNvPr id="6" name="Title 1">
            <a:extLst>
              <a:ext uri="{FF2B5EF4-FFF2-40B4-BE49-F238E27FC236}">
                <a16:creationId xmlns:a16="http://schemas.microsoft.com/office/drawing/2014/main" id="{21A4DD91-6D57-328C-E2DF-FD656EDE7C58}"/>
              </a:ext>
            </a:extLst>
          </p:cNvPr>
          <p:cNvSpPr>
            <a:spLocks noGrp="1"/>
          </p:cNvSpPr>
          <p:nvPr>
            <p:ph type="title"/>
          </p:nvPr>
        </p:nvSpPr>
        <p:spPr>
          <a:xfrm>
            <a:off x="685801" y="609600"/>
            <a:ext cx="10131425" cy="510073"/>
          </a:xfrm>
        </p:spPr>
        <p:txBody>
          <a:bodyPr>
            <a:normAutofit fontScale="90000"/>
          </a:bodyPr>
          <a:lstStyle/>
          <a:p>
            <a:r>
              <a:rPr lang="en-GB" dirty="0"/>
              <a:t>Seamus Heaney poems:  </a:t>
            </a:r>
            <a:r>
              <a:rPr lang="en-GB" i="1" cap="none" dirty="0"/>
              <a:t>Two Lorries </a:t>
            </a:r>
            <a:endParaRPr lang="en-GB" dirty="0"/>
          </a:p>
        </p:txBody>
      </p:sp>
    </p:spTree>
    <p:extLst>
      <p:ext uri="{BB962C8B-B14F-4D97-AF65-F5344CB8AC3E}">
        <p14:creationId xmlns:p14="http://schemas.microsoft.com/office/powerpoint/2010/main" val="1065741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09055599-216D-9088-D9F1-AD9D3457C4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414" y="1310951"/>
            <a:ext cx="5180667" cy="28666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5826096-2EC4-EC03-44CC-0240E2C55847}"/>
              </a:ext>
            </a:extLst>
          </p:cNvPr>
          <p:cNvSpPr txBox="1"/>
          <p:nvPr/>
        </p:nvSpPr>
        <p:spPr>
          <a:xfrm>
            <a:off x="1800808" y="5103845"/>
            <a:ext cx="8798767" cy="523220"/>
          </a:xfrm>
          <a:prstGeom prst="rect">
            <a:avLst/>
          </a:prstGeom>
          <a:noFill/>
        </p:spPr>
        <p:txBody>
          <a:bodyPr wrap="square" rtlCol="0">
            <a:spAutoFit/>
          </a:bodyPr>
          <a:lstStyle/>
          <a:p>
            <a:r>
              <a:rPr lang="en-GB" sz="2800" dirty="0"/>
              <a:t>What is the effect of using this pattern of words and lines?</a:t>
            </a:r>
          </a:p>
        </p:txBody>
      </p:sp>
      <p:pic>
        <p:nvPicPr>
          <p:cNvPr id="1026" name="Picture 2" descr="How to Write a Sestina (with Examples and Diagrams) | Society of ...">
            <a:extLst>
              <a:ext uri="{FF2B5EF4-FFF2-40B4-BE49-F238E27FC236}">
                <a16:creationId xmlns:a16="http://schemas.microsoft.com/office/drawing/2014/main" id="{9808756A-D579-DE5B-1A77-9D86D1DAF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242" y="1118895"/>
            <a:ext cx="6521172" cy="3058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75078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Two Lorries </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685800" y="2412655"/>
            <a:ext cx="10131425" cy="3649133"/>
          </a:xfrm>
        </p:spPr>
        <p:txBody>
          <a:bodyPr>
            <a:normAutofit/>
          </a:bodyPr>
          <a:lstStyle/>
          <a:p>
            <a:r>
              <a:rPr lang="en-GB" sz="3000" dirty="0"/>
              <a:t>What happens in the first half of the poem? What changes in the second half?</a:t>
            </a:r>
          </a:p>
          <a:p>
            <a:endParaRPr lang="en-GB" sz="3000" dirty="0"/>
          </a:p>
          <a:p>
            <a:r>
              <a:rPr lang="en-GB" sz="3000" dirty="0"/>
              <a:t>What is the mood and tone of the poem?</a:t>
            </a:r>
          </a:p>
          <a:p>
            <a:endParaRPr lang="en-GB" sz="3000" dirty="0"/>
          </a:p>
          <a:p>
            <a:r>
              <a:rPr lang="en-GB" sz="3000" dirty="0"/>
              <a:t>What links does the poet draw between past and present?</a:t>
            </a:r>
          </a:p>
          <a:p>
            <a:endParaRPr lang="en-GB" sz="2800" dirty="0"/>
          </a:p>
        </p:txBody>
      </p:sp>
    </p:spTree>
    <p:extLst>
      <p:ext uri="{BB962C8B-B14F-4D97-AF65-F5344CB8AC3E}">
        <p14:creationId xmlns:p14="http://schemas.microsoft.com/office/powerpoint/2010/main" val="408122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780661" y="1933683"/>
            <a:ext cx="7562460" cy="3838855"/>
          </a:xfrm>
        </p:spPr>
        <p:txBody>
          <a:bodyPr>
            <a:noAutofit/>
          </a:bodyPr>
          <a:lstStyle/>
          <a:p>
            <a:r>
              <a:rPr lang="en-GB" sz="3200" dirty="0"/>
              <a:t>Who is following whom?</a:t>
            </a:r>
          </a:p>
          <a:p>
            <a:endParaRPr lang="en-GB" dirty="0"/>
          </a:p>
          <a:p>
            <a:r>
              <a:rPr lang="en-GB" sz="3200" dirty="0"/>
              <a:t>What is the metre (syllable pattern) and rhyme?</a:t>
            </a:r>
          </a:p>
          <a:p>
            <a:endParaRPr lang="en-GB" dirty="0"/>
          </a:p>
          <a:p>
            <a:endParaRPr lang="en-GB" sz="3000" dirty="0"/>
          </a:p>
        </p:txBody>
      </p:sp>
      <p:sp>
        <p:nvSpPr>
          <p:cNvPr id="4" name="TextBox 3">
            <a:extLst>
              <a:ext uri="{FF2B5EF4-FFF2-40B4-BE49-F238E27FC236}">
                <a16:creationId xmlns:a16="http://schemas.microsoft.com/office/drawing/2014/main" id="{BFDD08CB-D041-87B7-7609-0D2971EDA0D0}"/>
              </a:ext>
            </a:extLst>
          </p:cNvPr>
          <p:cNvSpPr txBox="1"/>
          <p:nvPr/>
        </p:nvSpPr>
        <p:spPr>
          <a:xfrm>
            <a:off x="8437981" y="1770873"/>
            <a:ext cx="2929812" cy="2185214"/>
          </a:xfrm>
          <a:prstGeom prst="rect">
            <a:avLst/>
          </a:prstGeom>
          <a:noFill/>
        </p:spPr>
        <p:txBody>
          <a:bodyPr wrap="square" rtlCol="0">
            <a:spAutoFit/>
          </a:bodyPr>
          <a:lstStyle/>
          <a:p>
            <a:r>
              <a:rPr lang="en-GB" sz="3200" dirty="0">
                <a:solidFill>
                  <a:srgbClr val="FFFF00"/>
                </a:solidFill>
              </a:rPr>
              <a:t>Based in iambic tetrameter: </a:t>
            </a:r>
            <a:r>
              <a:rPr lang="en-GB" sz="3200" i="1" dirty="0">
                <a:solidFill>
                  <a:srgbClr val="FFFF00"/>
                </a:solidFill>
              </a:rPr>
              <a:t>unstress-</a:t>
            </a:r>
            <a:r>
              <a:rPr lang="en-GB" sz="3600" i="1" dirty="0">
                <a:solidFill>
                  <a:srgbClr val="FFFF00"/>
                </a:solidFill>
              </a:rPr>
              <a:t>Stress</a:t>
            </a:r>
            <a:r>
              <a:rPr lang="en-GB" sz="3600" dirty="0">
                <a:solidFill>
                  <a:srgbClr val="FFFF00"/>
                </a:solidFill>
              </a:rPr>
              <a:t>, </a:t>
            </a:r>
            <a:r>
              <a:rPr lang="en-GB" sz="3200" dirty="0">
                <a:solidFill>
                  <a:srgbClr val="FFFF00"/>
                </a:solidFill>
              </a:rPr>
              <a:t>but also varies.</a:t>
            </a:r>
          </a:p>
        </p:txBody>
      </p:sp>
      <p:sp>
        <p:nvSpPr>
          <p:cNvPr id="5" name="TextBox 4">
            <a:extLst>
              <a:ext uri="{FF2B5EF4-FFF2-40B4-BE49-F238E27FC236}">
                <a16:creationId xmlns:a16="http://schemas.microsoft.com/office/drawing/2014/main" id="{AC157191-CB42-386D-930C-2C0D2C94424E}"/>
              </a:ext>
            </a:extLst>
          </p:cNvPr>
          <p:cNvSpPr txBox="1"/>
          <p:nvPr/>
        </p:nvSpPr>
        <p:spPr>
          <a:xfrm>
            <a:off x="3722074" y="4563362"/>
            <a:ext cx="7095152" cy="1077218"/>
          </a:xfrm>
          <a:prstGeom prst="rect">
            <a:avLst/>
          </a:prstGeom>
          <a:noFill/>
        </p:spPr>
        <p:txBody>
          <a:bodyPr wrap="square" rtlCol="0">
            <a:spAutoFit/>
          </a:bodyPr>
          <a:lstStyle/>
          <a:p>
            <a:r>
              <a:rPr lang="en-GB" sz="3200" dirty="0">
                <a:solidFill>
                  <a:srgbClr val="FFFF00"/>
                </a:solidFill>
              </a:rPr>
              <a:t>A B A B:  some rhymes are ‘perfect’ / ‘full’ and some are ‘slanting’ / ‘half’ / ‘near’.</a:t>
            </a:r>
            <a:endParaRPr lang="en-GB" sz="2400" dirty="0">
              <a:solidFill>
                <a:srgbClr val="FFFF00"/>
              </a:solidFill>
            </a:endParaRPr>
          </a:p>
        </p:txBody>
      </p:sp>
    </p:spTree>
    <p:extLst>
      <p:ext uri="{BB962C8B-B14F-4D97-AF65-F5344CB8AC3E}">
        <p14:creationId xmlns:p14="http://schemas.microsoft.com/office/powerpoint/2010/main" val="1015612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780661" y="1933684"/>
            <a:ext cx="7562460" cy="2433044"/>
          </a:xfrm>
        </p:spPr>
        <p:txBody>
          <a:bodyPr>
            <a:noAutofit/>
          </a:bodyPr>
          <a:lstStyle/>
          <a:p>
            <a:r>
              <a:rPr lang="en-GB" sz="3200" dirty="0">
                <a:effectLst/>
                <a:ea typeface="DengXian" panose="02010600030101010101" pitchFamily="2" charset="-122"/>
              </a:rPr>
              <a:t>My father worked with a horse-plough,</a:t>
            </a:r>
            <a:br>
              <a:rPr lang="en-GB" sz="3200" dirty="0">
                <a:effectLst/>
                <a:ea typeface="DengXian" panose="02010600030101010101" pitchFamily="2" charset="-122"/>
              </a:rPr>
            </a:br>
            <a:r>
              <a:rPr lang="en-GB" sz="3200" dirty="0">
                <a:effectLst/>
                <a:ea typeface="DengXian" panose="02010600030101010101" pitchFamily="2" charset="-122"/>
              </a:rPr>
              <a:t>His shoulders globed like a full sail strung</a:t>
            </a:r>
            <a:endParaRPr lang="en-GB" sz="3200" dirty="0"/>
          </a:p>
          <a:p>
            <a:endParaRPr lang="en-GB" sz="3000" dirty="0"/>
          </a:p>
        </p:txBody>
      </p:sp>
    </p:spTree>
    <p:extLst>
      <p:ext uri="{BB962C8B-B14F-4D97-AF65-F5344CB8AC3E}">
        <p14:creationId xmlns:p14="http://schemas.microsoft.com/office/powerpoint/2010/main" val="162013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780660" y="1933684"/>
            <a:ext cx="9445691" cy="2433044"/>
          </a:xfrm>
        </p:spPr>
        <p:txBody>
          <a:bodyPr>
            <a:noAutofit/>
          </a:bodyPr>
          <a:lstStyle/>
          <a:p>
            <a:r>
              <a:rPr lang="en-GB" sz="3200" dirty="0">
                <a:effectLst/>
                <a:ea typeface="DengXian" panose="02010600030101010101" pitchFamily="2" charset="-122"/>
              </a:rPr>
              <a:t>My </a:t>
            </a:r>
            <a:r>
              <a:rPr lang="en-GB" sz="3600" dirty="0">
                <a:solidFill>
                  <a:srgbClr val="FFFF00"/>
                </a:solidFill>
                <a:effectLst/>
                <a:ea typeface="DengXian" panose="02010600030101010101" pitchFamily="2" charset="-122"/>
              </a:rPr>
              <a:t>fa</a:t>
            </a:r>
            <a:r>
              <a:rPr lang="en-GB" sz="3200" dirty="0">
                <a:effectLst/>
                <a:ea typeface="DengXian" panose="02010600030101010101" pitchFamily="2" charset="-122"/>
              </a:rPr>
              <a:t>ther </a:t>
            </a:r>
            <a:r>
              <a:rPr lang="en-GB" sz="3600" dirty="0">
                <a:solidFill>
                  <a:srgbClr val="FFFF00"/>
                </a:solidFill>
                <a:effectLst/>
                <a:ea typeface="DengXian" panose="02010600030101010101" pitchFamily="2" charset="-122"/>
              </a:rPr>
              <a:t>worked</a:t>
            </a:r>
            <a:r>
              <a:rPr lang="en-GB" sz="3200" dirty="0">
                <a:effectLst/>
                <a:ea typeface="DengXian" panose="02010600030101010101" pitchFamily="2" charset="-122"/>
              </a:rPr>
              <a:t> with a </a:t>
            </a:r>
            <a:r>
              <a:rPr lang="en-GB" sz="3600" dirty="0">
                <a:solidFill>
                  <a:srgbClr val="FFFF00"/>
                </a:solidFill>
                <a:effectLst/>
                <a:ea typeface="DengXian" panose="02010600030101010101" pitchFamily="2" charset="-122"/>
              </a:rPr>
              <a:t>horse-plough</a:t>
            </a:r>
            <a:r>
              <a:rPr lang="en-GB" sz="3200" dirty="0">
                <a:effectLst/>
                <a:ea typeface="DengXian" panose="02010600030101010101" pitchFamily="2" charset="-122"/>
              </a:rPr>
              <a:t>,</a:t>
            </a:r>
            <a:br>
              <a:rPr lang="en-GB" sz="3200" dirty="0">
                <a:effectLst/>
                <a:ea typeface="DengXian" panose="02010600030101010101" pitchFamily="2" charset="-122"/>
              </a:rPr>
            </a:br>
            <a:r>
              <a:rPr lang="en-GB" sz="3200" dirty="0">
                <a:effectLst/>
                <a:ea typeface="DengXian" panose="02010600030101010101" pitchFamily="2" charset="-122"/>
              </a:rPr>
              <a:t>His </a:t>
            </a:r>
            <a:r>
              <a:rPr lang="en-GB" sz="3600" dirty="0">
                <a:solidFill>
                  <a:srgbClr val="FFFF00"/>
                </a:solidFill>
                <a:effectLst/>
                <a:ea typeface="DengXian" panose="02010600030101010101" pitchFamily="2" charset="-122"/>
              </a:rPr>
              <a:t>shoul</a:t>
            </a:r>
            <a:r>
              <a:rPr lang="en-GB" sz="3200" dirty="0">
                <a:effectLst/>
                <a:ea typeface="DengXian" panose="02010600030101010101" pitchFamily="2" charset="-122"/>
              </a:rPr>
              <a:t>ders </a:t>
            </a:r>
            <a:r>
              <a:rPr lang="en-GB" sz="3600" dirty="0">
                <a:solidFill>
                  <a:srgbClr val="FFFF00"/>
                </a:solidFill>
                <a:effectLst/>
                <a:ea typeface="DengXian" panose="02010600030101010101" pitchFamily="2" charset="-122"/>
              </a:rPr>
              <a:t>globed</a:t>
            </a:r>
            <a:r>
              <a:rPr lang="en-GB" sz="3200" dirty="0">
                <a:effectLst/>
                <a:ea typeface="DengXian" panose="02010600030101010101" pitchFamily="2" charset="-122"/>
              </a:rPr>
              <a:t> like a </a:t>
            </a:r>
            <a:r>
              <a:rPr lang="en-GB" sz="3600" dirty="0">
                <a:solidFill>
                  <a:srgbClr val="FFFF00"/>
                </a:solidFill>
                <a:effectLst/>
                <a:ea typeface="DengXian" panose="02010600030101010101" pitchFamily="2" charset="-122"/>
              </a:rPr>
              <a:t>full sail strung</a:t>
            </a:r>
            <a:endParaRPr lang="en-GB" sz="3200" dirty="0">
              <a:solidFill>
                <a:srgbClr val="FFFF00"/>
              </a:solidFill>
            </a:endParaRPr>
          </a:p>
          <a:p>
            <a:endParaRPr lang="en-GB" sz="3000" dirty="0"/>
          </a:p>
        </p:txBody>
      </p:sp>
    </p:spTree>
    <p:extLst>
      <p:ext uri="{BB962C8B-B14F-4D97-AF65-F5344CB8AC3E}">
        <p14:creationId xmlns:p14="http://schemas.microsoft.com/office/powerpoint/2010/main" val="48396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780660" y="1933684"/>
            <a:ext cx="9445691" cy="2433044"/>
          </a:xfrm>
        </p:spPr>
        <p:txBody>
          <a:bodyPr>
            <a:noAutofit/>
          </a:bodyPr>
          <a:lstStyle/>
          <a:p>
            <a:r>
              <a:rPr lang="en-GB" sz="3200" dirty="0">
                <a:effectLst/>
                <a:ea typeface="DengXian" panose="02010600030101010101" pitchFamily="2" charset="-122"/>
              </a:rPr>
              <a:t>My </a:t>
            </a:r>
            <a:r>
              <a:rPr lang="en-GB" sz="3600" dirty="0">
                <a:solidFill>
                  <a:srgbClr val="FFFF00"/>
                </a:solidFill>
                <a:effectLst/>
                <a:ea typeface="DengXian" panose="02010600030101010101" pitchFamily="2" charset="-122"/>
              </a:rPr>
              <a:t>fa</a:t>
            </a:r>
            <a:r>
              <a:rPr lang="en-GB" sz="3600" dirty="0">
                <a:effectLst/>
                <a:ea typeface="DengXian" panose="02010600030101010101" pitchFamily="2" charset="-122"/>
              </a:rPr>
              <a:t> / </a:t>
            </a:r>
            <a:r>
              <a:rPr lang="en-GB" sz="3200" dirty="0" err="1">
                <a:effectLst/>
                <a:ea typeface="DengXian" panose="02010600030101010101" pitchFamily="2" charset="-122"/>
              </a:rPr>
              <a:t>ther</a:t>
            </a:r>
            <a:r>
              <a:rPr lang="en-GB" sz="3200" dirty="0">
                <a:effectLst/>
                <a:ea typeface="DengXian" panose="02010600030101010101" pitchFamily="2" charset="-122"/>
              </a:rPr>
              <a:t> </a:t>
            </a:r>
            <a:r>
              <a:rPr lang="en-GB" sz="3600" dirty="0">
                <a:solidFill>
                  <a:srgbClr val="FFFF00"/>
                </a:solidFill>
                <a:effectLst/>
                <a:ea typeface="DengXian" panose="02010600030101010101" pitchFamily="2" charset="-122"/>
              </a:rPr>
              <a:t>worked</a:t>
            </a:r>
            <a:r>
              <a:rPr lang="en-GB" sz="3200" dirty="0">
                <a:effectLst/>
                <a:ea typeface="DengXian" panose="02010600030101010101" pitchFamily="2" charset="-122"/>
              </a:rPr>
              <a:t> / with a / </a:t>
            </a:r>
            <a:r>
              <a:rPr lang="en-GB" sz="3600" dirty="0">
                <a:solidFill>
                  <a:srgbClr val="FFFF00"/>
                </a:solidFill>
                <a:effectLst/>
                <a:ea typeface="DengXian" panose="02010600030101010101" pitchFamily="2" charset="-122"/>
              </a:rPr>
              <a:t>horse-plough</a:t>
            </a:r>
            <a:r>
              <a:rPr lang="en-GB" sz="3200" dirty="0">
                <a:effectLst/>
                <a:ea typeface="DengXian" panose="02010600030101010101" pitchFamily="2" charset="-122"/>
              </a:rPr>
              <a:t>,</a:t>
            </a:r>
            <a:br>
              <a:rPr lang="en-GB" sz="3200" dirty="0">
                <a:effectLst/>
                <a:ea typeface="DengXian" panose="02010600030101010101" pitchFamily="2" charset="-122"/>
              </a:rPr>
            </a:br>
            <a:r>
              <a:rPr lang="en-GB" sz="3200" dirty="0">
                <a:effectLst/>
                <a:ea typeface="DengXian" panose="02010600030101010101" pitchFamily="2" charset="-122"/>
              </a:rPr>
              <a:t>His </a:t>
            </a:r>
            <a:r>
              <a:rPr lang="en-GB" sz="3600" dirty="0" err="1">
                <a:solidFill>
                  <a:srgbClr val="FFFF00"/>
                </a:solidFill>
                <a:effectLst/>
                <a:ea typeface="DengXian" panose="02010600030101010101" pitchFamily="2" charset="-122"/>
              </a:rPr>
              <a:t>shoul</a:t>
            </a:r>
            <a:r>
              <a:rPr lang="en-GB" sz="3600" dirty="0">
                <a:solidFill>
                  <a:srgbClr val="FFFF00"/>
                </a:solidFill>
                <a:effectLst/>
                <a:ea typeface="DengXian" panose="02010600030101010101" pitchFamily="2" charset="-122"/>
              </a:rPr>
              <a:t> </a:t>
            </a:r>
            <a:r>
              <a:rPr lang="en-GB" sz="3600" dirty="0">
                <a:effectLst/>
                <a:ea typeface="DengXian" panose="02010600030101010101" pitchFamily="2" charset="-122"/>
              </a:rPr>
              <a:t>/</a:t>
            </a:r>
            <a:r>
              <a:rPr lang="en-GB" sz="3600" dirty="0">
                <a:solidFill>
                  <a:srgbClr val="FFFF00"/>
                </a:solidFill>
                <a:effectLst/>
                <a:ea typeface="DengXian" panose="02010600030101010101" pitchFamily="2" charset="-122"/>
              </a:rPr>
              <a:t> </a:t>
            </a:r>
            <a:r>
              <a:rPr lang="en-GB" sz="3200" dirty="0" err="1">
                <a:effectLst/>
                <a:ea typeface="DengXian" panose="02010600030101010101" pitchFamily="2" charset="-122"/>
              </a:rPr>
              <a:t>ders</a:t>
            </a:r>
            <a:r>
              <a:rPr lang="en-GB" sz="3200" dirty="0">
                <a:effectLst/>
                <a:ea typeface="DengXian" panose="02010600030101010101" pitchFamily="2" charset="-122"/>
              </a:rPr>
              <a:t> </a:t>
            </a:r>
            <a:r>
              <a:rPr lang="en-GB" sz="3600" dirty="0">
                <a:solidFill>
                  <a:srgbClr val="FFFF00"/>
                </a:solidFill>
                <a:effectLst/>
                <a:ea typeface="DengXian" panose="02010600030101010101" pitchFamily="2" charset="-122"/>
              </a:rPr>
              <a:t>globed</a:t>
            </a:r>
            <a:r>
              <a:rPr lang="en-GB" sz="3200" dirty="0">
                <a:effectLst/>
                <a:ea typeface="DengXian" panose="02010600030101010101" pitchFamily="2" charset="-122"/>
              </a:rPr>
              <a:t> / like a </a:t>
            </a:r>
            <a:r>
              <a:rPr lang="en-GB" sz="3600" dirty="0">
                <a:solidFill>
                  <a:srgbClr val="FFFF00"/>
                </a:solidFill>
                <a:effectLst/>
                <a:ea typeface="DengXian" panose="02010600030101010101" pitchFamily="2" charset="-122"/>
              </a:rPr>
              <a:t>full / sail strung</a:t>
            </a:r>
            <a:endParaRPr lang="en-GB" sz="3200" dirty="0">
              <a:solidFill>
                <a:srgbClr val="FFFF00"/>
              </a:solidFill>
            </a:endParaRPr>
          </a:p>
          <a:p>
            <a:endParaRPr lang="en-GB" sz="3000" dirty="0"/>
          </a:p>
        </p:txBody>
      </p:sp>
      <p:sp>
        <p:nvSpPr>
          <p:cNvPr id="4" name="TextBox 3">
            <a:extLst>
              <a:ext uri="{FF2B5EF4-FFF2-40B4-BE49-F238E27FC236}">
                <a16:creationId xmlns:a16="http://schemas.microsoft.com/office/drawing/2014/main" id="{A2FF3722-CEB4-973F-59D6-E45266CE5508}"/>
              </a:ext>
            </a:extLst>
          </p:cNvPr>
          <p:cNvSpPr txBox="1"/>
          <p:nvPr/>
        </p:nvSpPr>
        <p:spPr>
          <a:xfrm>
            <a:off x="497632" y="3909526"/>
            <a:ext cx="11196735" cy="2185214"/>
          </a:xfrm>
          <a:prstGeom prst="rect">
            <a:avLst/>
          </a:prstGeom>
          <a:noFill/>
        </p:spPr>
        <p:txBody>
          <a:bodyPr wrap="square" rtlCol="0">
            <a:spAutoFit/>
          </a:bodyPr>
          <a:lstStyle/>
          <a:p>
            <a:r>
              <a:rPr lang="en-GB" sz="2800" dirty="0">
                <a:solidFill>
                  <a:schemeClr val="accent3">
                    <a:lumMod val="60000"/>
                    <a:lumOff val="40000"/>
                  </a:schemeClr>
                </a:solidFill>
              </a:rPr>
              <a:t>Iamb</a:t>
            </a:r>
            <a:r>
              <a:rPr lang="en-GB" sz="2800" dirty="0"/>
              <a:t> = unstress-</a:t>
            </a:r>
            <a:r>
              <a:rPr lang="en-GB" sz="3200" dirty="0"/>
              <a:t>Stress</a:t>
            </a:r>
            <a:r>
              <a:rPr lang="en-GB" sz="2800" dirty="0"/>
              <a:t>			</a:t>
            </a:r>
            <a:r>
              <a:rPr lang="en-GB" sz="2800" dirty="0">
                <a:solidFill>
                  <a:schemeClr val="accent3">
                    <a:lumMod val="60000"/>
                    <a:lumOff val="40000"/>
                  </a:schemeClr>
                </a:solidFill>
              </a:rPr>
              <a:t>Trochee</a:t>
            </a:r>
            <a:r>
              <a:rPr lang="en-GB" sz="2800" dirty="0"/>
              <a:t> = </a:t>
            </a:r>
            <a:r>
              <a:rPr lang="en-GB" sz="3200" dirty="0"/>
              <a:t>Stress</a:t>
            </a:r>
            <a:r>
              <a:rPr lang="en-GB" sz="2800" dirty="0"/>
              <a:t>-unstress</a:t>
            </a:r>
          </a:p>
          <a:p>
            <a:endParaRPr lang="en-GB" sz="2000" dirty="0"/>
          </a:p>
          <a:p>
            <a:r>
              <a:rPr lang="en-GB" sz="2800" dirty="0">
                <a:solidFill>
                  <a:schemeClr val="accent3">
                    <a:lumMod val="60000"/>
                    <a:lumOff val="40000"/>
                  </a:schemeClr>
                </a:solidFill>
              </a:rPr>
              <a:t>Pyrrhic</a:t>
            </a:r>
            <a:r>
              <a:rPr lang="en-GB" sz="2800" dirty="0"/>
              <a:t> = unstress-unstress		</a:t>
            </a:r>
            <a:r>
              <a:rPr lang="en-GB" sz="2800" dirty="0">
                <a:solidFill>
                  <a:schemeClr val="accent3">
                    <a:lumMod val="60000"/>
                    <a:lumOff val="40000"/>
                  </a:schemeClr>
                </a:solidFill>
              </a:rPr>
              <a:t>Spondee</a:t>
            </a:r>
            <a:r>
              <a:rPr lang="en-GB" sz="2800" dirty="0"/>
              <a:t> = </a:t>
            </a:r>
            <a:r>
              <a:rPr lang="en-GB" sz="3200" dirty="0"/>
              <a:t>Stress-Stress</a:t>
            </a:r>
          </a:p>
          <a:p>
            <a:endParaRPr lang="en-GB" sz="2000" dirty="0"/>
          </a:p>
          <a:p>
            <a:r>
              <a:rPr lang="en-GB" sz="2800" dirty="0" err="1">
                <a:solidFill>
                  <a:schemeClr val="accent3">
                    <a:lumMod val="60000"/>
                    <a:lumOff val="40000"/>
                  </a:schemeClr>
                </a:solidFill>
              </a:rPr>
              <a:t>Anapest</a:t>
            </a:r>
            <a:r>
              <a:rPr lang="en-GB" sz="2800" dirty="0"/>
              <a:t> = unstress-unstress</a:t>
            </a:r>
            <a:r>
              <a:rPr lang="en-GB" sz="3200" dirty="0"/>
              <a:t>-Stress </a:t>
            </a:r>
            <a:r>
              <a:rPr lang="en-GB" sz="2800" dirty="0"/>
              <a:t>		</a:t>
            </a:r>
            <a:r>
              <a:rPr lang="en-GB" sz="2800" dirty="0">
                <a:solidFill>
                  <a:schemeClr val="accent3">
                    <a:lumMod val="60000"/>
                    <a:lumOff val="40000"/>
                  </a:schemeClr>
                </a:solidFill>
              </a:rPr>
              <a:t>Dactyl </a:t>
            </a:r>
            <a:r>
              <a:rPr lang="en-GB" sz="2800" dirty="0"/>
              <a:t>= </a:t>
            </a:r>
            <a:r>
              <a:rPr lang="en-GB" sz="3200" dirty="0"/>
              <a:t>Stress</a:t>
            </a:r>
            <a:r>
              <a:rPr lang="en-GB" sz="2800" dirty="0"/>
              <a:t>-unstress-unstress </a:t>
            </a:r>
          </a:p>
        </p:txBody>
      </p:sp>
    </p:spTree>
    <p:extLst>
      <p:ext uri="{BB962C8B-B14F-4D97-AF65-F5344CB8AC3E}">
        <p14:creationId xmlns:p14="http://schemas.microsoft.com/office/powerpoint/2010/main" val="108312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807100" y="3344161"/>
            <a:ext cx="7562460" cy="2106471"/>
          </a:xfrm>
        </p:spPr>
        <p:txBody>
          <a:bodyPr>
            <a:noAutofit/>
          </a:bodyPr>
          <a:lstStyle/>
          <a:p>
            <a:r>
              <a:rPr lang="en-GB" sz="3200" dirty="0"/>
              <a:t>What changes happen to the metre in the last stanza? Why?</a:t>
            </a:r>
          </a:p>
          <a:p>
            <a:endParaRPr lang="en-GB" dirty="0"/>
          </a:p>
          <a:p>
            <a:pPr marL="0" indent="0">
              <a:buNone/>
            </a:pPr>
            <a:r>
              <a:rPr lang="en-GB" sz="3200" dirty="0"/>
              <a:t>I was a nuisance, tripping, falling,</a:t>
            </a:r>
            <a:br>
              <a:rPr lang="en-GB" sz="3200" dirty="0"/>
            </a:br>
            <a:r>
              <a:rPr lang="en-GB" sz="3200" dirty="0"/>
              <a:t>Yapping always. But today</a:t>
            </a:r>
            <a:br>
              <a:rPr lang="en-GB" sz="3200" dirty="0"/>
            </a:br>
            <a:r>
              <a:rPr lang="en-GB" sz="3200" dirty="0"/>
              <a:t>It is my father who keeps stumbling</a:t>
            </a:r>
            <a:br>
              <a:rPr lang="en-GB" sz="3200" dirty="0"/>
            </a:br>
            <a:r>
              <a:rPr lang="en-GB" sz="3200" dirty="0"/>
              <a:t>Behind me, and will not go away.</a:t>
            </a:r>
          </a:p>
          <a:p>
            <a:endParaRPr lang="en-GB" sz="3200" dirty="0"/>
          </a:p>
          <a:p>
            <a:endParaRPr lang="en-GB" sz="3000" dirty="0"/>
          </a:p>
        </p:txBody>
      </p:sp>
    </p:spTree>
    <p:extLst>
      <p:ext uri="{BB962C8B-B14F-4D97-AF65-F5344CB8AC3E}">
        <p14:creationId xmlns:p14="http://schemas.microsoft.com/office/powerpoint/2010/main" val="214248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807100" y="3344161"/>
            <a:ext cx="7562460" cy="2106471"/>
          </a:xfrm>
        </p:spPr>
        <p:txBody>
          <a:bodyPr>
            <a:noAutofit/>
          </a:bodyPr>
          <a:lstStyle/>
          <a:p>
            <a:r>
              <a:rPr lang="en-GB" sz="3200" dirty="0"/>
              <a:t>What changes happen to the metre in the last stanza? Why?</a:t>
            </a:r>
          </a:p>
          <a:p>
            <a:endParaRPr lang="en-GB" dirty="0"/>
          </a:p>
          <a:p>
            <a:pPr marL="0" indent="0">
              <a:buNone/>
            </a:pPr>
            <a:r>
              <a:rPr lang="en-GB" sz="3200" dirty="0">
                <a:solidFill>
                  <a:srgbClr val="FFFF00"/>
                </a:solidFill>
              </a:rPr>
              <a:t>I</a:t>
            </a:r>
            <a:r>
              <a:rPr lang="en-GB" sz="3200" dirty="0"/>
              <a:t> was a </a:t>
            </a:r>
            <a:r>
              <a:rPr lang="en-GB" sz="3600" dirty="0">
                <a:solidFill>
                  <a:srgbClr val="FFFF00"/>
                </a:solidFill>
              </a:rPr>
              <a:t>nui</a:t>
            </a:r>
            <a:r>
              <a:rPr lang="en-GB" sz="3200" dirty="0"/>
              <a:t>sance, </a:t>
            </a:r>
            <a:r>
              <a:rPr lang="en-GB" sz="3600" dirty="0">
                <a:solidFill>
                  <a:srgbClr val="FFFF00"/>
                </a:solidFill>
              </a:rPr>
              <a:t>tripp</a:t>
            </a:r>
            <a:r>
              <a:rPr lang="en-GB" sz="3200" dirty="0"/>
              <a:t>ing, </a:t>
            </a:r>
            <a:r>
              <a:rPr lang="en-GB" sz="3600" dirty="0">
                <a:solidFill>
                  <a:srgbClr val="FFFF00"/>
                </a:solidFill>
              </a:rPr>
              <a:t>fall</a:t>
            </a:r>
            <a:r>
              <a:rPr lang="en-GB" sz="3200" dirty="0"/>
              <a:t>ing,</a:t>
            </a:r>
            <a:br>
              <a:rPr lang="en-GB" sz="3200" dirty="0"/>
            </a:br>
            <a:r>
              <a:rPr lang="en-GB" sz="3600" dirty="0">
                <a:solidFill>
                  <a:srgbClr val="FFFF00"/>
                </a:solidFill>
              </a:rPr>
              <a:t>Yapp</a:t>
            </a:r>
            <a:r>
              <a:rPr lang="en-GB" sz="3200" dirty="0"/>
              <a:t>ing </a:t>
            </a:r>
            <a:r>
              <a:rPr lang="en-GB" sz="3600" dirty="0">
                <a:solidFill>
                  <a:srgbClr val="FFFF00"/>
                </a:solidFill>
              </a:rPr>
              <a:t>al</a:t>
            </a:r>
            <a:r>
              <a:rPr lang="en-GB" sz="3200" dirty="0"/>
              <a:t>ways. </a:t>
            </a:r>
            <a:r>
              <a:rPr lang="en-GB" sz="3600" dirty="0">
                <a:solidFill>
                  <a:srgbClr val="FFFF00"/>
                </a:solidFill>
              </a:rPr>
              <a:t>But</a:t>
            </a:r>
            <a:r>
              <a:rPr lang="en-GB" sz="3200" dirty="0"/>
              <a:t> </a:t>
            </a:r>
            <a:r>
              <a:rPr lang="en-GB" sz="3600" dirty="0">
                <a:solidFill>
                  <a:srgbClr val="FFFF00"/>
                </a:solidFill>
              </a:rPr>
              <a:t>to</a:t>
            </a:r>
            <a:r>
              <a:rPr lang="en-GB" sz="3200" dirty="0"/>
              <a:t>day</a:t>
            </a:r>
            <a:br>
              <a:rPr lang="en-GB" sz="3200" dirty="0"/>
            </a:br>
            <a:r>
              <a:rPr lang="en-GB" sz="3200" dirty="0"/>
              <a:t>It </a:t>
            </a:r>
            <a:r>
              <a:rPr lang="en-GB" sz="3600" dirty="0">
                <a:solidFill>
                  <a:srgbClr val="FFFF00"/>
                </a:solidFill>
              </a:rPr>
              <a:t>is</a:t>
            </a:r>
            <a:r>
              <a:rPr lang="en-GB" sz="3200" dirty="0"/>
              <a:t> my </a:t>
            </a:r>
            <a:r>
              <a:rPr lang="en-GB" sz="3600" dirty="0">
                <a:solidFill>
                  <a:srgbClr val="FFFF00"/>
                </a:solidFill>
              </a:rPr>
              <a:t>fa</a:t>
            </a:r>
            <a:r>
              <a:rPr lang="en-GB" sz="3200" dirty="0"/>
              <a:t>ther who </a:t>
            </a:r>
            <a:r>
              <a:rPr lang="en-GB" sz="3600" dirty="0">
                <a:solidFill>
                  <a:srgbClr val="FFFF00"/>
                </a:solidFill>
              </a:rPr>
              <a:t>keeps</a:t>
            </a:r>
            <a:r>
              <a:rPr lang="en-GB" sz="3200" dirty="0"/>
              <a:t> </a:t>
            </a:r>
            <a:r>
              <a:rPr lang="en-GB" sz="3600" dirty="0">
                <a:solidFill>
                  <a:srgbClr val="FFFF00"/>
                </a:solidFill>
              </a:rPr>
              <a:t>stumb</a:t>
            </a:r>
            <a:r>
              <a:rPr lang="en-GB" sz="3200" dirty="0"/>
              <a:t>ling</a:t>
            </a:r>
            <a:br>
              <a:rPr lang="en-GB" sz="3200" dirty="0"/>
            </a:br>
            <a:r>
              <a:rPr lang="en-GB" sz="3600" dirty="0">
                <a:solidFill>
                  <a:srgbClr val="FFFF00"/>
                </a:solidFill>
              </a:rPr>
              <a:t>Be</a:t>
            </a:r>
            <a:r>
              <a:rPr lang="en-GB" sz="3200" dirty="0"/>
              <a:t>hind me, and </a:t>
            </a:r>
            <a:r>
              <a:rPr lang="en-GB" sz="3600" dirty="0">
                <a:solidFill>
                  <a:srgbClr val="FFFF00"/>
                </a:solidFill>
              </a:rPr>
              <a:t>will</a:t>
            </a:r>
            <a:r>
              <a:rPr lang="en-GB" sz="3200" dirty="0"/>
              <a:t> not </a:t>
            </a:r>
            <a:r>
              <a:rPr lang="en-GB" sz="3600" dirty="0">
                <a:solidFill>
                  <a:srgbClr val="FFFF00"/>
                </a:solidFill>
              </a:rPr>
              <a:t>go</a:t>
            </a:r>
            <a:r>
              <a:rPr lang="en-GB" sz="3200" dirty="0"/>
              <a:t> a</a:t>
            </a:r>
            <a:r>
              <a:rPr lang="en-GB" sz="3600" dirty="0">
                <a:solidFill>
                  <a:srgbClr val="FFFF00"/>
                </a:solidFill>
              </a:rPr>
              <a:t>way</a:t>
            </a:r>
            <a:r>
              <a:rPr lang="en-GB" sz="3200" dirty="0"/>
              <a:t>.</a:t>
            </a:r>
          </a:p>
          <a:p>
            <a:endParaRPr lang="en-GB" sz="3200" dirty="0"/>
          </a:p>
          <a:p>
            <a:endParaRPr lang="en-GB" sz="3000" dirty="0"/>
          </a:p>
        </p:txBody>
      </p:sp>
    </p:spTree>
    <p:extLst>
      <p:ext uri="{BB962C8B-B14F-4D97-AF65-F5344CB8AC3E}">
        <p14:creationId xmlns:p14="http://schemas.microsoft.com/office/powerpoint/2010/main" val="1072571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807100" y="3344161"/>
            <a:ext cx="7562460" cy="2106471"/>
          </a:xfrm>
        </p:spPr>
        <p:txBody>
          <a:bodyPr>
            <a:noAutofit/>
          </a:bodyPr>
          <a:lstStyle/>
          <a:p>
            <a:r>
              <a:rPr lang="en-GB" sz="3200" dirty="0"/>
              <a:t>What changes happen to the metre in the last stanza? Why?</a:t>
            </a:r>
          </a:p>
          <a:p>
            <a:endParaRPr lang="en-GB" dirty="0"/>
          </a:p>
          <a:p>
            <a:pPr marL="0" indent="0">
              <a:buNone/>
            </a:pPr>
            <a:r>
              <a:rPr lang="en-GB" sz="3200" dirty="0">
                <a:solidFill>
                  <a:srgbClr val="FFFF00"/>
                </a:solidFill>
              </a:rPr>
              <a:t>I</a:t>
            </a:r>
            <a:r>
              <a:rPr lang="en-GB" sz="3200" dirty="0"/>
              <a:t> was a / </a:t>
            </a:r>
            <a:r>
              <a:rPr lang="en-GB" sz="3600" dirty="0">
                <a:solidFill>
                  <a:srgbClr val="FFFF00"/>
                </a:solidFill>
              </a:rPr>
              <a:t>nui</a:t>
            </a:r>
            <a:r>
              <a:rPr lang="en-GB" sz="3200" dirty="0"/>
              <a:t>sance, / </a:t>
            </a:r>
            <a:r>
              <a:rPr lang="en-GB" sz="3600" dirty="0">
                <a:solidFill>
                  <a:srgbClr val="FFFF00"/>
                </a:solidFill>
              </a:rPr>
              <a:t>tripp</a:t>
            </a:r>
            <a:r>
              <a:rPr lang="en-GB" sz="3200" dirty="0"/>
              <a:t>ing, / </a:t>
            </a:r>
            <a:r>
              <a:rPr lang="en-GB" sz="3600" dirty="0">
                <a:solidFill>
                  <a:srgbClr val="FFFF00"/>
                </a:solidFill>
              </a:rPr>
              <a:t>fall</a:t>
            </a:r>
            <a:r>
              <a:rPr lang="en-GB" sz="3200" dirty="0"/>
              <a:t>ing,</a:t>
            </a:r>
            <a:br>
              <a:rPr lang="en-GB" sz="3200" dirty="0"/>
            </a:br>
            <a:r>
              <a:rPr lang="en-GB" sz="3600" dirty="0">
                <a:solidFill>
                  <a:srgbClr val="FFFF00"/>
                </a:solidFill>
              </a:rPr>
              <a:t>Yapp</a:t>
            </a:r>
            <a:r>
              <a:rPr lang="en-GB" sz="3200" dirty="0"/>
              <a:t>ing / </a:t>
            </a:r>
            <a:r>
              <a:rPr lang="en-GB" sz="3600" dirty="0">
                <a:solidFill>
                  <a:srgbClr val="FFFF00"/>
                </a:solidFill>
              </a:rPr>
              <a:t>al</a:t>
            </a:r>
            <a:r>
              <a:rPr lang="en-GB" sz="3200" dirty="0"/>
              <a:t>ways. / </a:t>
            </a:r>
            <a:r>
              <a:rPr lang="en-GB" sz="3600" dirty="0">
                <a:solidFill>
                  <a:srgbClr val="FFFF00"/>
                </a:solidFill>
              </a:rPr>
              <a:t>But</a:t>
            </a:r>
            <a:r>
              <a:rPr lang="en-GB" sz="3200" dirty="0"/>
              <a:t> </a:t>
            </a:r>
            <a:r>
              <a:rPr lang="en-GB" sz="3600" dirty="0">
                <a:solidFill>
                  <a:srgbClr val="FFFF00"/>
                </a:solidFill>
              </a:rPr>
              <a:t>to</a:t>
            </a:r>
            <a:r>
              <a:rPr lang="en-GB" sz="3200" dirty="0"/>
              <a:t>day</a:t>
            </a:r>
            <a:br>
              <a:rPr lang="en-GB" sz="3200" dirty="0"/>
            </a:br>
            <a:r>
              <a:rPr lang="en-GB" sz="3200" dirty="0"/>
              <a:t>It </a:t>
            </a:r>
            <a:r>
              <a:rPr lang="en-GB" sz="3600" dirty="0">
                <a:solidFill>
                  <a:srgbClr val="FFFF00"/>
                </a:solidFill>
              </a:rPr>
              <a:t>is</a:t>
            </a:r>
            <a:r>
              <a:rPr lang="en-GB" sz="3200" dirty="0"/>
              <a:t> / my </a:t>
            </a:r>
            <a:r>
              <a:rPr lang="en-GB" sz="3600" dirty="0">
                <a:solidFill>
                  <a:srgbClr val="FFFF00"/>
                </a:solidFill>
              </a:rPr>
              <a:t>fa </a:t>
            </a:r>
            <a:r>
              <a:rPr lang="en-GB" sz="3600" dirty="0"/>
              <a:t>/</a:t>
            </a:r>
            <a:r>
              <a:rPr lang="en-GB" sz="3600" dirty="0">
                <a:solidFill>
                  <a:srgbClr val="FFFF00"/>
                </a:solidFill>
              </a:rPr>
              <a:t> </a:t>
            </a:r>
            <a:r>
              <a:rPr lang="en-GB" sz="3200" dirty="0" err="1"/>
              <a:t>ther</a:t>
            </a:r>
            <a:r>
              <a:rPr lang="en-GB" sz="3200" dirty="0"/>
              <a:t> who / </a:t>
            </a:r>
            <a:r>
              <a:rPr lang="en-GB" sz="3600" dirty="0">
                <a:solidFill>
                  <a:srgbClr val="FFFF00"/>
                </a:solidFill>
              </a:rPr>
              <a:t>keeps</a:t>
            </a:r>
            <a:r>
              <a:rPr lang="en-GB" sz="3200" dirty="0"/>
              <a:t> </a:t>
            </a:r>
            <a:r>
              <a:rPr lang="en-GB" sz="3600" dirty="0">
                <a:solidFill>
                  <a:srgbClr val="FFFF00"/>
                </a:solidFill>
              </a:rPr>
              <a:t>stumb</a:t>
            </a:r>
            <a:r>
              <a:rPr lang="en-GB" sz="3200" dirty="0"/>
              <a:t>ling</a:t>
            </a:r>
            <a:br>
              <a:rPr lang="en-GB" sz="3200" dirty="0"/>
            </a:br>
            <a:r>
              <a:rPr lang="en-GB" sz="3600" dirty="0">
                <a:solidFill>
                  <a:srgbClr val="FFFF00"/>
                </a:solidFill>
              </a:rPr>
              <a:t>Be</a:t>
            </a:r>
            <a:r>
              <a:rPr lang="en-GB" sz="3200" dirty="0"/>
              <a:t>hind me, / and </a:t>
            </a:r>
            <a:r>
              <a:rPr lang="en-GB" sz="3600" dirty="0">
                <a:solidFill>
                  <a:srgbClr val="FFFF00"/>
                </a:solidFill>
              </a:rPr>
              <a:t>will</a:t>
            </a:r>
            <a:r>
              <a:rPr lang="en-GB" sz="3200" dirty="0"/>
              <a:t> / not </a:t>
            </a:r>
            <a:r>
              <a:rPr lang="en-GB" sz="3600" dirty="0">
                <a:solidFill>
                  <a:srgbClr val="FFFF00"/>
                </a:solidFill>
              </a:rPr>
              <a:t>go </a:t>
            </a:r>
            <a:r>
              <a:rPr lang="en-GB" sz="3600" dirty="0"/>
              <a:t>/</a:t>
            </a:r>
            <a:r>
              <a:rPr lang="en-GB" sz="3200" dirty="0"/>
              <a:t> a</a:t>
            </a:r>
            <a:r>
              <a:rPr lang="en-GB" sz="3600" dirty="0">
                <a:solidFill>
                  <a:srgbClr val="FFFF00"/>
                </a:solidFill>
              </a:rPr>
              <a:t>way</a:t>
            </a:r>
            <a:r>
              <a:rPr lang="en-GB" sz="3200" dirty="0"/>
              <a:t>.</a:t>
            </a:r>
          </a:p>
          <a:p>
            <a:endParaRPr lang="en-GB" sz="3200" dirty="0"/>
          </a:p>
          <a:p>
            <a:endParaRPr lang="en-GB" sz="3000" dirty="0"/>
          </a:p>
        </p:txBody>
      </p:sp>
      <p:sp>
        <p:nvSpPr>
          <p:cNvPr id="4" name="TextBox 3">
            <a:extLst>
              <a:ext uri="{FF2B5EF4-FFF2-40B4-BE49-F238E27FC236}">
                <a16:creationId xmlns:a16="http://schemas.microsoft.com/office/drawing/2014/main" id="{3318D526-EC45-1D29-ABCD-C7D964ACAB00}"/>
              </a:ext>
            </a:extLst>
          </p:cNvPr>
          <p:cNvSpPr txBox="1"/>
          <p:nvPr/>
        </p:nvSpPr>
        <p:spPr>
          <a:xfrm>
            <a:off x="8369560" y="2736502"/>
            <a:ext cx="3822440" cy="523220"/>
          </a:xfrm>
          <a:prstGeom prst="rect">
            <a:avLst/>
          </a:prstGeom>
          <a:noFill/>
        </p:spPr>
        <p:txBody>
          <a:bodyPr wrap="square" rtlCol="0">
            <a:spAutoFit/>
          </a:bodyPr>
          <a:lstStyle/>
          <a:p>
            <a:r>
              <a:rPr lang="en-GB" sz="2800" dirty="0">
                <a:solidFill>
                  <a:srgbClr val="00B0F0"/>
                </a:solidFill>
              </a:rPr>
              <a:t>Trochees</a:t>
            </a:r>
          </a:p>
        </p:txBody>
      </p:sp>
      <p:sp>
        <p:nvSpPr>
          <p:cNvPr id="5" name="TextBox 4">
            <a:extLst>
              <a:ext uri="{FF2B5EF4-FFF2-40B4-BE49-F238E27FC236}">
                <a16:creationId xmlns:a16="http://schemas.microsoft.com/office/drawing/2014/main" id="{65345B59-5E78-144E-F2AD-398D851D68D7}"/>
              </a:ext>
            </a:extLst>
          </p:cNvPr>
          <p:cNvSpPr txBox="1"/>
          <p:nvPr/>
        </p:nvSpPr>
        <p:spPr>
          <a:xfrm>
            <a:off x="8223379" y="4471872"/>
            <a:ext cx="3822440" cy="954107"/>
          </a:xfrm>
          <a:prstGeom prst="rect">
            <a:avLst/>
          </a:prstGeom>
          <a:noFill/>
        </p:spPr>
        <p:txBody>
          <a:bodyPr wrap="square" rtlCol="0">
            <a:spAutoFit/>
          </a:bodyPr>
          <a:lstStyle/>
          <a:p>
            <a:r>
              <a:rPr lang="en-GB" sz="2800" dirty="0"/>
              <a:t>Some lines are better described as ‘free verse’.</a:t>
            </a:r>
          </a:p>
        </p:txBody>
      </p:sp>
      <p:sp>
        <p:nvSpPr>
          <p:cNvPr id="6" name="TextBox 5">
            <a:extLst>
              <a:ext uri="{FF2B5EF4-FFF2-40B4-BE49-F238E27FC236}">
                <a16:creationId xmlns:a16="http://schemas.microsoft.com/office/drawing/2014/main" id="{9555CA3F-9A3D-E1FF-FB51-83E3AD882A2A}"/>
              </a:ext>
            </a:extLst>
          </p:cNvPr>
          <p:cNvSpPr txBox="1"/>
          <p:nvPr/>
        </p:nvSpPr>
        <p:spPr>
          <a:xfrm>
            <a:off x="1831912" y="5986790"/>
            <a:ext cx="3822440" cy="523220"/>
          </a:xfrm>
          <a:prstGeom prst="rect">
            <a:avLst/>
          </a:prstGeom>
          <a:noFill/>
        </p:spPr>
        <p:txBody>
          <a:bodyPr wrap="square" rtlCol="0">
            <a:spAutoFit/>
          </a:bodyPr>
          <a:lstStyle/>
          <a:p>
            <a:r>
              <a:rPr lang="en-GB" sz="2800" dirty="0">
                <a:solidFill>
                  <a:srgbClr val="00B0F0"/>
                </a:solidFill>
              </a:rPr>
              <a:t>Dactyl</a:t>
            </a:r>
          </a:p>
        </p:txBody>
      </p:sp>
      <p:cxnSp>
        <p:nvCxnSpPr>
          <p:cNvPr id="8" name="Straight Arrow Connector 7">
            <a:extLst>
              <a:ext uri="{FF2B5EF4-FFF2-40B4-BE49-F238E27FC236}">
                <a16:creationId xmlns:a16="http://schemas.microsoft.com/office/drawing/2014/main" id="{B6E6159F-039D-1AAB-36FE-257D16F92870}"/>
              </a:ext>
            </a:extLst>
          </p:cNvPr>
          <p:cNvCxnSpPr>
            <a:cxnSpLocks/>
          </p:cNvCxnSpPr>
          <p:nvPr/>
        </p:nvCxnSpPr>
        <p:spPr>
          <a:xfrm flipH="1">
            <a:off x="6969967" y="3034284"/>
            <a:ext cx="1412033" cy="42348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8712008F-F7F6-F034-0720-B462CEFED23F}"/>
              </a:ext>
            </a:extLst>
          </p:cNvPr>
          <p:cNvCxnSpPr/>
          <p:nvPr/>
        </p:nvCxnSpPr>
        <p:spPr>
          <a:xfrm flipH="1" flipV="1">
            <a:off x="2102498" y="5707349"/>
            <a:ext cx="158620" cy="3762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TextBox 13">
            <a:extLst>
              <a:ext uri="{FF2B5EF4-FFF2-40B4-BE49-F238E27FC236}">
                <a16:creationId xmlns:a16="http://schemas.microsoft.com/office/drawing/2014/main" id="{4D2B23EA-E757-2A9B-A5AE-13D755F94B6E}"/>
              </a:ext>
            </a:extLst>
          </p:cNvPr>
          <p:cNvSpPr txBox="1"/>
          <p:nvPr/>
        </p:nvSpPr>
        <p:spPr>
          <a:xfrm>
            <a:off x="7887478" y="3663121"/>
            <a:ext cx="4158341" cy="523220"/>
          </a:xfrm>
          <a:prstGeom prst="rect">
            <a:avLst/>
          </a:prstGeom>
          <a:noFill/>
        </p:spPr>
        <p:txBody>
          <a:bodyPr wrap="square" rtlCol="0">
            <a:spAutoFit/>
          </a:bodyPr>
          <a:lstStyle/>
          <a:p>
            <a:r>
              <a:rPr lang="en-GB" sz="2800" dirty="0">
                <a:solidFill>
                  <a:srgbClr val="00B0F0"/>
                </a:solidFill>
              </a:rPr>
              <a:t>Antibacchius (Greek term)</a:t>
            </a:r>
          </a:p>
        </p:txBody>
      </p:sp>
      <p:cxnSp>
        <p:nvCxnSpPr>
          <p:cNvPr id="15" name="Straight Arrow Connector 14">
            <a:extLst>
              <a:ext uri="{FF2B5EF4-FFF2-40B4-BE49-F238E27FC236}">
                <a16:creationId xmlns:a16="http://schemas.microsoft.com/office/drawing/2014/main" id="{9B622113-58C4-E006-05CB-1E418CCE636A}"/>
              </a:ext>
            </a:extLst>
          </p:cNvPr>
          <p:cNvCxnSpPr>
            <a:cxnSpLocks/>
          </p:cNvCxnSpPr>
          <p:nvPr/>
        </p:nvCxnSpPr>
        <p:spPr>
          <a:xfrm flipH="1">
            <a:off x="6624735" y="4110611"/>
            <a:ext cx="1508448" cy="4791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TextBox 16">
            <a:extLst>
              <a:ext uri="{FF2B5EF4-FFF2-40B4-BE49-F238E27FC236}">
                <a16:creationId xmlns:a16="http://schemas.microsoft.com/office/drawing/2014/main" id="{55D8FE79-82A6-108D-39D0-69DB98BD7FBF}"/>
              </a:ext>
            </a:extLst>
          </p:cNvPr>
          <p:cNvSpPr txBox="1"/>
          <p:nvPr/>
        </p:nvSpPr>
        <p:spPr>
          <a:xfrm>
            <a:off x="3743132" y="5986790"/>
            <a:ext cx="3822440" cy="523220"/>
          </a:xfrm>
          <a:prstGeom prst="rect">
            <a:avLst/>
          </a:prstGeom>
          <a:noFill/>
        </p:spPr>
        <p:txBody>
          <a:bodyPr wrap="square" rtlCol="0">
            <a:spAutoFit/>
          </a:bodyPr>
          <a:lstStyle/>
          <a:p>
            <a:r>
              <a:rPr lang="en-GB" sz="2800" dirty="0">
                <a:solidFill>
                  <a:srgbClr val="00B0F0"/>
                </a:solidFill>
              </a:rPr>
              <a:t>Pyrrhic</a:t>
            </a:r>
          </a:p>
        </p:txBody>
      </p:sp>
      <p:cxnSp>
        <p:nvCxnSpPr>
          <p:cNvPr id="18" name="Straight Arrow Connector 17">
            <a:extLst>
              <a:ext uri="{FF2B5EF4-FFF2-40B4-BE49-F238E27FC236}">
                <a16:creationId xmlns:a16="http://schemas.microsoft.com/office/drawing/2014/main" id="{9C12A97F-1190-64CC-507C-35E42B68F84F}"/>
              </a:ext>
            </a:extLst>
          </p:cNvPr>
          <p:cNvCxnSpPr>
            <a:cxnSpLocks/>
          </p:cNvCxnSpPr>
          <p:nvPr/>
        </p:nvCxnSpPr>
        <p:spPr>
          <a:xfrm flipH="1" flipV="1">
            <a:off x="3845766" y="5050743"/>
            <a:ext cx="65315" cy="9797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52036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14" grpId="0"/>
      <p:bldP spid="1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E8DCB-BCAB-154B-1200-576ADC884069}"/>
              </a:ext>
            </a:extLst>
          </p:cNvPr>
          <p:cNvSpPr>
            <a:spLocks noGrp="1"/>
          </p:cNvSpPr>
          <p:nvPr>
            <p:ph type="title"/>
          </p:nvPr>
        </p:nvSpPr>
        <p:spPr/>
        <p:txBody>
          <a:bodyPr/>
          <a:lstStyle/>
          <a:p>
            <a:r>
              <a:rPr lang="en-GB" dirty="0"/>
              <a:t>Seamus Heaney poems: </a:t>
            </a:r>
            <a:r>
              <a:rPr lang="en-GB" i="1" cap="none" dirty="0"/>
              <a:t>Follower</a:t>
            </a:r>
            <a:endParaRPr lang="en-GB" dirty="0"/>
          </a:p>
        </p:txBody>
      </p:sp>
      <p:sp>
        <p:nvSpPr>
          <p:cNvPr id="3" name="Content Placeholder 2">
            <a:extLst>
              <a:ext uri="{FF2B5EF4-FFF2-40B4-BE49-F238E27FC236}">
                <a16:creationId xmlns:a16="http://schemas.microsoft.com/office/drawing/2014/main" id="{77B40F0F-9B20-1FA5-FA94-233D04D79818}"/>
              </a:ext>
            </a:extLst>
          </p:cNvPr>
          <p:cNvSpPr>
            <a:spLocks noGrp="1"/>
          </p:cNvSpPr>
          <p:nvPr>
            <p:ph idx="1"/>
          </p:nvPr>
        </p:nvSpPr>
        <p:spPr>
          <a:xfrm>
            <a:off x="685801" y="2142067"/>
            <a:ext cx="10131425" cy="3838855"/>
          </a:xfrm>
        </p:spPr>
        <p:txBody>
          <a:bodyPr>
            <a:normAutofit/>
          </a:bodyPr>
          <a:lstStyle/>
          <a:p>
            <a:r>
              <a:rPr lang="en-GB" sz="3200" dirty="0"/>
              <a:t>How does young (and old) Seamus feel about his dad?</a:t>
            </a:r>
          </a:p>
          <a:p>
            <a:endParaRPr lang="en-GB" sz="3200" dirty="0"/>
          </a:p>
          <a:p>
            <a:r>
              <a:rPr lang="en-GB" sz="3200" dirty="0"/>
              <a:t>What feeling is expressed about the passage of time? </a:t>
            </a:r>
          </a:p>
          <a:p>
            <a:endParaRPr lang="en-GB" sz="2800" dirty="0"/>
          </a:p>
        </p:txBody>
      </p:sp>
    </p:spTree>
    <p:extLst>
      <p:ext uri="{BB962C8B-B14F-4D97-AF65-F5344CB8AC3E}">
        <p14:creationId xmlns:p14="http://schemas.microsoft.com/office/powerpoint/2010/main" val="239469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833FB-D0CD-CA31-0D8B-6755DA3C7E05}"/>
              </a:ext>
            </a:extLst>
          </p:cNvPr>
          <p:cNvSpPr>
            <a:spLocks noGrp="1"/>
          </p:cNvSpPr>
          <p:nvPr>
            <p:ph type="title"/>
          </p:nvPr>
        </p:nvSpPr>
        <p:spPr/>
        <p:txBody>
          <a:bodyPr/>
          <a:lstStyle/>
          <a:p>
            <a:r>
              <a:rPr lang="en-GB" dirty="0"/>
              <a:t>Homework Reading</a:t>
            </a:r>
          </a:p>
        </p:txBody>
      </p:sp>
      <p:sp>
        <p:nvSpPr>
          <p:cNvPr id="3" name="Content Placeholder 2">
            <a:extLst>
              <a:ext uri="{FF2B5EF4-FFF2-40B4-BE49-F238E27FC236}">
                <a16:creationId xmlns:a16="http://schemas.microsoft.com/office/drawing/2014/main" id="{279A4E25-D7C3-792D-85BD-8FDAAE781C75}"/>
              </a:ext>
            </a:extLst>
          </p:cNvPr>
          <p:cNvSpPr>
            <a:spLocks noGrp="1"/>
          </p:cNvSpPr>
          <p:nvPr>
            <p:ph idx="1"/>
          </p:nvPr>
        </p:nvSpPr>
        <p:spPr>
          <a:xfrm>
            <a:off x="685801" y="2332653"/>
            <a:ext cx="10131425" cy="2276669"/>
          </a:xfrm>
        </p:spPr>
        <p:txBody>
          <a:bodyPr>
            <a:normAutofit lnSpcReduction="10000"/>
          </a:bodyPr>
          <a:lstStyle/>
          <a:p>
            <a:r>
              <a:rPr lang="en-GB" sz="3200" dirty="0"/>
              <a:t>Please read the short excerpts from postmodern </a:t>
            </a:r>
            <a:r>
              <a:rPr lang="en-GB" sz="3200"/>
              <a:t>novels. </a:t>
            </a:r>
            <a:endParaRPr lang="en-GB" sz="3200" dirty="0"/>
          </a:p>
          <a:p>
            <a:pPr marL="0" indent="0">
              <a:buNone/>
            </a:pPr>
            <a:r>
              <a:rPr lang="en-GB" sz="3200" dirty="0"/>
              <a:t>   </a:t>
            </a:r>
          </a:p>
          <a:p>
            <a:r>
              <a:rPr lang="en-GB" sz="3200" dirty="0"/>
              <a:t>Also, take a look at the article, which gives advice about having a clear and focused thesis for your essay writing.</a:t>
            </a:r>
          </a:p>
        </p:txBody>
      </p:sp>
    </p:spTree>
    <p:extLst>
      <p:ext uri="{BB962C8B-B14F-4D97-AF65-F5344CB8AC3E}">
        <p14:creationId xmlns:p14="http://schemas.microsoft.com/office/powerpoint/2010/main" val="31196855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Geopolitic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politics" id="{2374027E-AC92-4EF8-9408-F8314E4BEA46}" vid="{2BC5E1F0-A625-461D-A696-72EA1839F59D}"/>
    </a:ext>
  </a:extLst>
</a:theme>
</file>

<file path=docProps/app.xml><?xml version="1.0" encoding="utf-8"?>
<Properties xmlns="http://schemas.openxmlformats.org/officeDocument/2006/extended-properties" xmlns:vt="http://schemas.openxmlformats.org/officeDocument/2006/docPropsVTypes">
  <Template>TM03457452[[fn=Celestial]]</Template>
  <TotalTime>1169</TotalTime>
  <Words>1786</Words>
  <Application>Microsoft Office PowerPoint</Application>
  <PresentationFormat>Widescreen</PresentationFormat>
  <Paragraphs>183</Paragraphs>
  <Slides>37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DengXian</vt:lpstr>
      <vt:lpstr>Arial</vt:lpstr>
      <vt:lpstr>Calibri</vt:lpstr>
      <vt:lpstr>Calibri Light</vt:lpstr>
      <vt:lpstr>Times New Roman</vt:lpstr>
      <vt:lpstr>Wingdings</vt:lpstr>
      <vt:lpstr>Celestial</vt:lpstr>
      <vt:lpstr>Geopolitics</vt:lpstr>
      <vt:lpstr>Appreciation of English and American literature</vt:lpstr>
      <vt:lpstr>The Scream</vt:lpstr>
      <vt:lpstr>1920 – Claude Monet – Impressionism </vt:lpstr>
      <vt:lpstr>Picasso</vt:lpstr>
      <vt:lpstr>  Cubist Architecture (and Art Deco) </vt:lpstr>
      <vt:lpstr>Then, after World War II, came Post-modernism and Post-structuralism</vt:lpstr>
      <vt:lpstr>Postmodern Thinkers</vt:lpstr>
      <vt:lpstr>Postmodern Thinkers</vt:lpstr>
      <vt:lpstr>Post-modernism, Post-structuralism</vt:lpstr>
      <vt:lpstr>Why make this ‘art’?</vt:lpstr>
      <vt:lpstr>Post-modernism, Post-structuralism</vt:lpstr>
      <vt:lpstr>Identify the architecture…</vt:lpstr>
      <vt:lpstr>PowerPoint Presentation</vt:lpstr>
      <vt:lpstr>PowerPoint Presentation</vt:lpstr>
      <vt:lpstr>Postmodern culture</vt:lpstr>
      <vt:lpstr>Literature, Themes and Ideologies</vt:lpstr>
      <vt:lpstr>Postmodern Poetry</vt:lpstr>
      <vt:lpstr>Sylvia Plath (1932-63)</vt:lpstr>
      <vt:lpstr>Sylvia Plath poems</vt:lpstr>
      <vt:lpstr>Sylvia Plath poems</vt:lpstr>
      <vt:lpstr>Seamus Heaney (1939-2013) </vt:lpstr>
      <vt:lpstr>PowerPoint Presentation</vt:lpstr>
      <vt:lpstr>PowerPoint Presentation</vt:lpstr>
      <vt:lpstr>Seamus Heaney poems:  Two Lorries </vt:lpstr>
      <vt:lpstr>Seamus Heaney poems:  Two Lorries </vt:lpstr>
      <vt:lpstr>Seamus Heaney poems:  Two Lorries </vt:lpstr>
      <vt:lpstr>PowerPoint Presentation</vt:lpstr>
      <vt:lpstr>Seamus Heaney poems:  Two Lorries </vt:lpstr>
      <vt:lpstr>Seamus Heaney poems: Follower</vt:lpstr>
      <vt:lpstr>Seamus Heaney poems: Follower</vt:lpstr>
      <vt:lpstr>Seamus Heaney poems: Follower</vt:lpstr>
      <vt:lpstr>Seamus Heaney poems: Follower</vt:lpstr>
      <vt:lpstr>Seamus Heaney poems: Follower</vt:lpstr>
      <vt:lpstr>Seamus Heaney poems: Follower</vt:lpstr>
      <vt:lpstr>Seamus Heaney poems: Follower</vt:lpstr>
      <vt:lpstr>Seamus Heaney poems: Follower</vt:lpstr>
      <vt:lpstr>Homework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our modern ideas have come from</dc:title>
  <dc:creator>Dom Graham</dc:creator>
  <cp:lastModifiedBy>Dominic Graham</cp:lastModifiedBy>
  <cp:revision>57</cp:revision>
  <dcterms:created xsi:type="dcterms:W3CDTF">2017-02-04T09:12:19Z</dcterms:created>
  <dcterms:modified xsi:type="dcterms:W3CDTF">2025-11-30T13:04:39Z</dcterms:modified>
</cp:coreProperties>
</file>