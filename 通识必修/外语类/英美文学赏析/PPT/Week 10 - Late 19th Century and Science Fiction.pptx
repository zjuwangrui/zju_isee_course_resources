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Override1.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96" r:id="rId1"/>
  </p:sldMasterIdLst>
  <p:sldIdLst>
    <p:sldId id="325" r:id="rId2"/>
    <p:sldId id="337" r:id="rId3"/>
    <p:sldId id="340" r:id="rId4"/>
    <p:sldId id="339" r:id="rId5"/>
    <p:sldId id="342" r:id="rId6"/>
    <p:sldId id="343" r:id="rId7"/>
    <p:sldId id="344" r:id="rId8"/>
    <p:sldId id="347" r:id="rId9"/>
    <p:sldId id="349" r:id="rId10"/>
    <p:sldId id="346" r:id="rId11"/>
    <p:sldId id="491" r:id="rId12"/>
    <p:sldId id="489" r:id="rId13"/>
    <p:sldId id="490" r:id="rId14"/>
    <p:sldId id="486" r:id="rId15"/>
    <p:sldId id="345" r:id="rId16"/>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Arial" charset="0"/>
      </a:defRPr>
    </a:lvl1pPr>
    <a:lvl2pPr marL="457200" algn="l" defTabSz="457200" rtl="0" fontAlgn="base">
      <a:spcBef>
        <a:spcPct val="0"/>
      </a:spcBef>
      <a:spcAft>
        <a:spcPct val="0"/>
      </a:spcAft>
      <a:defRPr kern="1200">
        <a:solidFill>
          <a:schemeClr val="tx1"/>
        </a:solidFill>
        <a:latin typeface="Arial" charset="0"/>
        <a:ea typeface="+mn-ea"/>
        <a:cs typeface="Arial" charset="0"/>
      </a:defRPr>
    </a:lvl2pPr>
    <a:lvl3pPr marL="914400" algn="l" defTabSz="457200" rtl="0" fontAlgn="base">
      <a:spcBef>
        <a:spcPct val="0"/>
      </a:spcBef>
      <a:spcAft>
        <a:spcPct val="0"/>
      </a:spcAft>
      <a:defRPr kern="1200">
        <a:solidFill>
          <a:schemeClr val="tx1"/>
        </a:solidFill>
        <a:latin typeface="Arial" charset="0"/>
        <a:ea typeface="+mn-ea"/>
        <a:cs typeface="Arial" charset="0"/>
      </a:defRPr>
    </a:lvl3pPr>
    <a:lvl4pPr marL="1371600" algn="l" defTabSz="457200" rtl="0" fontAlgn="base">
      <a:spcBef>
        <a:spcPct val="0"/>
      </a:spcBef>
      <a:spcAft>
        <a:spcPct val="0"/>
      </a:spcAft>
      <a:defRPr kern="1200">
        <a:solidFill>
          <a:schemeClr val="tx1"/>
        </a:solidFill>
        <a:latin typeface="Arial" charset="0"/>
        <a:ea typeface="+mn-ea"/>
        <a:cs typeface="Arial" charset="0"/>
      </a:defRPr>
    </a:lvl4pPr>
    <a:lvl5pPr marL="1828800" algn="l" defTabSz="457200"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8000"/>
    <a:srgbClr val="FF6600"/>
    <a:srgbClr val="00CC00"/>
    <a:srgbClr val="00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4"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1"/>
          <p:cNvSpPr>
            <a:spLocks noGrp="1"/>
          </p:cNvSpPr>
          <p:nvPr>
            <p:ph type="ctrTitle"/>
          </p:nvPr>
        </p:nvSpPr>
        <p:spPr>
          <a:xfrm>
            <a:off x="1261872" y="758952"/>
            <a:ext cx="9418320" cy="4041648"/>
          </a:xfrm>
        </p:spPr>
        <p:txBody>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5" name="Date Placeholder 3"/>
          <p:cNvSpPr>
            <a:spLocks noGrp="1"/>
          </p:cNvSpPr>
          <p:nvPr>
            <p:ph type="dt" sz="half" idx="10"/>
          </p:nvPr>
        </p:nvSpPr>
        <p:spPr/>
        <p:txBody>
          <a:bodyPr/>
          <a:lstStyle>
            <a:lvl1pPr>
              <a:defRPr smtClean="0">
                <a:solidFill>
                  <a:schemeClr val="tx1">
                    <a:lumMod val="50000"/>
                  </a:schemeClr>
                </a:solidFill>
              </a:defRPr>
            </a:lvl1pPr>
          </a:lstStyle>
          <a:p>
            <a:pPr>
              <a:defRPr/>
            </a:pPr>
            <a:fld id="{AAB0106F-BAC1-4CC8-9063-B1EC5C862CF3}" type="datetimeFigureOut">
              <a:rPr lang="en-GB"/>
              <a:pPr>
                <a:defRPr/>
              </a:pPr>
              <a:t>16/11/2025</a:t>
            </a:fld>
            <a:endParaRPr lang="en-GB"/>
          </a:p>
        </p:txBody>
      </p:sp>
      <p:sp>
        <p:nvSpPr>
          <p:cNvPr id="6" name="Footer Placeholder 4"/>
          <p:cNvSpPr>
            <a:spLocks noGrp="1"/>
          </p:cNvSpPr>
          <p:nvPr>
            <p:ph type="ftr" sz="quarter" idx="11"/>
          </p:nvPr>
        </p:nvSpPr>
        <p:spPr/>
        <p:txBody>
          <a:bodyPr/>
          <a:lstStyle>
            <a:lvl1pPr>
              <a:defRPr>
                <a:solidFill>
                  <a:schemeClr val="tx1">
                    <a:lumMod val="65000"/>
                  </a:schemeClr>
                </a:solidFill>
              </a:defRPr>
            </a:lvl1pPr>
          </a:lstStyle>
          <a:p>
            <a:pPr>
              <a:defRPr/>
            </a:pPr>
            <a:endParaRPr lang="en-GB"/>
          </a:p>
        </p:txBody>
      </p:sp>
      <p:sp>
        <p:nvSpPr>
          <p:cNvPr id="7" name="Slide Number Placeholder 5"/>
          <p:cNvSpPr>
            <a:spLocks noGrp="1"/>
          </p:cNvSpPr>
          <p:nvPr>
            <p:ph type="sldNum" sz="quarter" idx="12"/>
          </p:nvPr>
        </p:nvSpPr>
        <p:spPr/>
        <p:txBody>
          <a:bodyPr/>
          <a:lstStyle>
            <a:lvl1pPr>
              <a:defRPr smtClean="0">
                <a:solidFill>
                  <a:schemeClr val="tx1">
                    <a:lumMod val="65000"/>
                  </a:schemeClr>
                </a:solidFill>
              </a:defRPr>
            </a:lvl1pPr>
          </a:lstStyle>
          <a:p>
            <a:pPr>
              <a:defRPr/>
            </a:pPr>
            <a:fld id="{511EA043-5301-4CA2-9761-01B2E348818B}" type="slidenum">
              <a:rPr lang="en-GB"/>
              <a:pPr>
                <a:defRPr/>
              </a:pPr>
              <a:t>‹#›</a:t>
            </a:fld>
            <a:endParaRPr lang="en-GB"/>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96DD025-7568-49BE-A988-89DDD2F2CAB5}" type="datetimeFigureOut">
              <a:rPr lang="en-GB"/>
              <a:pPr>
                <a:defRPr/>
              </a:pPr>
              <a:t>16/11/2025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E1EF0F09-AFAD-41AE-A242-A6243C3A83D5}" type="slidenum">
              <a:rPr lang="en-GB"/>
              <a:pPr>
                <a:defRPr/>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9521655D-1B49-4C81-871C-C576C5473E4A}" type="datetimeFigureOut">
              <a:rPr lang="en-GB"/>
              <a:pPr>
                <a:defRPr/>
              </a:pPr>
              <a:t>16/11/2025</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E7063DC5-45AF-495A-A815-3D0FFE5230AD}" type="slidenum">
              <a:rPr lang="en-GB"/>
              <a:pPr>
                <a:defRPr/>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BB9B2F96-67BF-4BB2-8E22-79292E8930C4}" type="datetimeFigureOut">
              <a:rPr lang="en-GB"/>
              <a:pPr>
                <a:defRPr/>
              </a:pPr>
              <a:t>16/11/2025</a:t>
            </a:fld>
            <a:endParaRPr lang="en-GB"/>
          </a:p>
        </p:txBody>
      </p:sp>
      <p:sp>
        <p:nvSpPr>
          <p:cNvPr id="8" name="Footer Placeholder 4"/>
          <p:cNvSpPr>
            <a:spLocks noGrp="1"/>
          </p:cNvSpPr>
          <p:nvPr>
            <p:ph type="ftr" sz="quarter" idx="11"/>
          </p:nvPr>
        </p:nvSpPr>
        <p:spPr/>
        <p:txBody>
          <a:bodyPr/>
          <a:lstStyle>
            <a:lvl1pPr>
              <a:defRPr/>
            </a:lvl1pPr>
          </a:lstStyle>
          <a:p>
            <a:pPr>
              <a:defRPr/>
            </a:pPr>
            <a:endParaRPr lang="en-GB"/>
          </a:p>
        </p:txBody>
      </p:sp>
      <p:sp>
        <p:nvSpPr>
          <p:cNvPr id="9" name="Slide Number Placeholder 5"/>
          <p:cNvSpPr>
            <a:spLocks noGrp="1"/>
          </p:cNvSpPr>
          <p:nvPr>
            <p:ph type="sldNum" sz="quarter" idx="12"/>
          </p:nvPr>
        </p:nvSpPr>
        <p:spPr/>
        <p:txBody>
          <a:bodyPr/>
          <a:lstStyle>
            <a:lvl1pPr>
              <a:defRPr/>
            </a:lvl1pPr>
          </a:lstStyle>
          <a:p>
            <a:pPr>
              <a:defRPr/>
            </a:pPr>
            <a:fld id="{18E9C18E-51A9-4251-B71F-E186E5DF4EB8}" type="slidenum">
              <a:rPr lang="en-GB"/>
              <a:pPr>
                <a:defRPr/>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AA622AE3-5998-4EBD-B197-5D503B2254B7}" type="datetimeFigureOut">
              <a:rPr lang="en-GB"/>
              <a:pPr>
                <a:defRPr/>
              </a:pPr>
              <a:t>16/11/2025</a:t>
            </a:fld>
            <a:endParaRPr lang="en-GB"/>
          </a:p>
        </p:txBody>
      </p:sp>
      <p:sp>
        <p:nvSpPr>
          <p:cNvPr id="4" name="Footer Placeholder 4"/>
          <p:cNvSpPr>
            <a:spLocks noGrp="1"/>
          </p:cNvSpPr>
          <p:nvPr>
            <p:ph type="ftr" sz="quarter" idx="11"/>
          </p:nvPr>
        </p:nvSpPr>
        <p:spPr/>
        <p:txBody>
          <a:bodyPr/>
          <a:lstStyle>
            <a:lvl1pPr>
              <a:defRPr/>
            </a:lvl1pPr>
          </a:lstStyle>
          <a:p>
            <a:pPr>
              <a:defRPr/>
            </a:pPr>
            <a:endParaRPr lang="en-GB"/>
          </a:p>
        </p:txBody>
      </p:sp>
      <p:sp>
        <p:nvSpPr>
          <p:cNvPr id="5" name="Slide Number Placeholder 5"/>
          <p:cNvSpPr>
            <a:spLocks noGrp="1"/>
          </p:cNvSpPr>
          <p:nvPr>
            <p:ph type="sldNum" sz="quarter" idx="12"/>
          </p:nvPr>
        </p:nvSpPr>
        <p:spPr/>
        <p:txBody>
          <a:bodyPr/>
          <a:lstStyle>
            <a:lvl1pPr>
              <a:defRPr/>
            </a:lvl1pPr>
          </a:lstStyle>
          <a:p>
            <a:pPr>
              <a:defRPr/>
            </a:pPr>
            <a:fld id="{DFBC3B12-7BF8-41CF-8D12-6C1C1502CC9D}" type="slidenum">
              <a:rPr lang="en-GB"/>
              <a:pPr>
                <a:defRPr/>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8E37F07-07DD-47A2-AD35-60F8290007D1}" type="datetimeFigureOut">
              <a:rPr lang="en-GB"/>
              <a:pPr>
                <a:defRPr/>
              </a:pPr>
              <a:t>16/11/2025</a:t>
            </a:fld>
            <a:endParaRPr lang="en-GB"/>
          </a:p>
        </p:txBody>
      </p:sp>
      <p:sp>
        <p:nvSpPr>
          <p:cNvPr id="3" name="Footer Placeholder 4"/>
          <p:cNvSpPr>
            <a:spLocks noGrp="1"/>
          </p:cNvSpPr>
          <p:nvPr>
            <p:ph type="ftr" sz="quarter" idx="11"/>
          </p:nvPr>
        </p:nvSpPr>
        <p:spPr/>
        <p:txBody>
          <a:bodyPr/>
          <a:lstStyle>
            <a:lvl1pPr>
              <a:defRPr/>
            </a:lvl1pPr>
          </a:lstStyle>
          <a:p>
            <a:pPr>
              <a:defRPr/>
            </a:pPr>
            <a:endParaRPr lang="en-GB"/>
          </a:p>
        </p:txBody>
      </p:sp>
      <p:sp>
        <p:nvSpPr>
          <p:cNvPr id="4" name="Slide Number Placeholder 5"/>
          <p:cNvSpPr>
            <a:spLocks noGrp="1"/>
          </p:cNvSpPr>
          <p:nvPr>
            <p:ph type="sldNum" sz="quarter" idx="12"/>
          </p:nvPr>
        </p:nvSpPr>
        <p:spPr/>
        <p:txBody>
          <a:bodyPr/>
          <a:lstStyle>
            <a:lvl1pPr>
              <a:defRPr/>
            </a:lvl1pPr>
          </a:lstStyle>
          <a:p>
            <a:pPr>
              <a:defRPr/>
            </a:pPr>
            <a:fld id="{AB95BB84-9330-4E23-9C3E-A53BD4AFF408}" type="slidenum">
              <a:rPr lang="en-GB"/>
              <a:pPr>
                <a:defRPr/>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089D9199-441A-4E3C-B2EA-B014C4178407}" type="datetimeFigureOut">
              <a:rPr lang="en-GB"/>
              <a:pPr>
                <a:defRPr/>
              </a:pPr>
              <a:t>16/11/2025</a:t>
            </a:fld>
            <a:endParaRPr lang="en-GB"/>
          </a:p>
        </p:txBody>
      </p:sp>
      <p:sp>
        <p:nvSpPr>
          <p:cNvPr id="6" name="Footer Placeholder 4"/>
          <p:cNvSpPr>
            <a:spLocks noGrp="1"/>
          </p:cNvSpPr>
          <p:nvPr>
            <p:ph type="ftr" sz="quarter" idx="11"/>
          </p:nvPr>
        </p:nvSpPr>
        <p:spPr/>
        <p:txBody>
          <a:bodyPr/>
          <a:lstStyle>
            <a:lvl1pPr>
              <a:defRPr/>
            </a:lvl1pPr>
          </a:lstStyle>
          <a:p>
            <a:pPr>
              <a:defRPr/>
            </a:pPr>
            <a:endParaRPr lang="en-GB"/>
          </a:p>
        </p:txBody>
      </p:sp>
      <p:sp>
        <p:nvSpPr>
          <p:cNvPr id="7" name="Slide Number Placeholder 5"/>
          <p:cNvSpPr>
            <a:spLocks noGrp="1"/>
          </p:cNvSpPr>
          <p:nvPr>
            <p:ph type="sldNum" sz="quarter" idx="12"/>
          </p:nvPr>
        </p:nvSpPr>
        <p:spPr/>
        <p:txBody>
          <a:bodyPr/>
          <a:lstStyle>
            <a:lvl1pPr>
              <a:defRPr/>
            </a:lvl1pPr>
          </a:lstStyle>
          <a:p>
            <a:pPr>
              <a:defRPr/>
            </a:pPr>
            <a:fld id="{09D32707-9F36-4E7C-B751-ABE56DB10125}" type="slidenum">
              <a:rPr lang="en-GB"/>
              <a:pPr>
                <a:defRPr/>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5" name="Rectangle 7"/>
          <p:cNvSpPr/>
          <p:nvPr/>
        </p:nvSpPr>
        <p:spPr>
          <a:xfrm>
            <a:off x="0" y="5105400"/>
            <a:ext cx="11293475"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914400" y="6108589"/>
            <a:ext cx="9982200" cy="597011"/>
          </a:xfrm>
        </p:spPr>
        <p:txBody>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Date Placeholder 4"/>
          <p:cNvSpPr>
            <a:spLocks noGrp="1"/>
          </p:cNvSpPr>
          <p:nvPr>
            <p:ph type="dt" sz="half" idx="10"/>
          </p:nvPr>
        </p:nvSpPr>
        <p:spPr/>
        <p:txBody>
          <a:bodyPr/>
          <a:lstStyle>
            <a:lvl1pPr>
              <a:defRPr/>
            </a:lvl1pPr>
          </a:lstStyle>
          <a:p>
            <a:pPr>
              <a:defRPr/>
            </a:pPr>
            <a:fld id="{8FB8BAC6-52B3-47B1-8725-6CBFCBA6A2B9}" type="datetimeFigureOut">
              <a:rPr lang="en-GB"/>
              <a:pPr>
                <a:defRPr/>
              </a:pPr>
              <a:t>16/11/2025</a:t>
            </a:fld>
            <a:endParaRPr lang="en-GB"/>
          </a:p>
        </p:txBody>
      </p:sp>
      <p:sp>
        <p:nvSpPr>
          <p:cNvPr id="7" name="Footer Placeholder 5"/>
          <p:cNvSpPr>
            <a:spLocks noGrp="1"/>
          </p:cNvSpPr>
          <p:nvPr>
            <p:ph type="ftr" sz="quarter" idx="11"/>
          </p:nvPr>
        </p:nvSpPr>
        <p:spPr/>
        <p:txBody>
          <a:bodyPr/>
          <a:lstStyle>
            <a:lvl1pPr>
              <a:defRPr/>
            </a:lvl1pPr>
          </a:lstStyle>
          <a:p>
            <a:pPr>
              <a:defRPr/>
            </a:pPr>
            <a:endParaRPr lang="en-GB"/>
          </a:p>
        </p:txBody>
      </p:sp>
      <p:sp>
        <p:nvSpPr>
          <p:cNvPr id="8" name="Slide Number Placeholder 6"/>
          <p:cNvSpPr>
            <a:spLocks noGrp="1"/>
          </p:cNvSpPr>
          <p:nvPr>
            <p:ph type="sldNum" sz="quarter" idx="12"/>
          </p:nvPr>
        </p:nvSpPr>
        <p:spPr/>
        <p:txBody>
          <a:bodyPr/>
          <a:lstStyle>
            <a:lvl1pPr>
              <a:defRPr/>
            </a:lvl1pPr>
          </a:lstStyle>
          <a:p>
            <a:pPr>
              <a:defRPr/>
            </a:pPr>
            <a:fld id="{E642FE09-9AA1-4DDC-B1EF-65BDF050D5E7}" type="slidenum">
              <a:rPr lang="en-GB"/>
              <a:pPr>
                <a:defRPr/>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8256899F-BC67-4E2C-BEB7-23372247118A}" type="datetimeFigureOut">
              <a:rPr lang="en-GB"/>
              <a:pPr>
                <a:defRPr/>
              </a:pPr>
              <a:t>16/11/2025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7CFABBB7-AB5E-4FED-9FE6-172F2BD58697}" type="slidenum">
              <a:rPr lang="en-GB"/>
              <a:pPr>
                <a:defRPr/>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47C918FE-C6BB-4351-BC31-790485C8BB84}" type="datetimeFigureOut">
              <a:rPr lang="en-GB"/>
              <a:pPr>
                <a:defRPr/>
              </a:pPr>
              <a:t>16/11/2025</a:t>
            </a:fld>
            <a:endParaRPr lang="en-GB"/>
          </a:p>
        </p:txBody>
      </p:sp>
      <p:sp>
        <p:nvSpPr>
          <p:cNvPr id="5" name="Footer Placeholder 4"/>
          <p:cNvSpPr>
            <a:spLocks noGrp="1"/>
          </p:cNvSpPr>
          <p:nvPr>
            <p:ph type="ftr" sz="quarter" idx="11"/>
          </p:nvPr>
        </p:nvSpPr>
        <p:spPr/>
        <p:txBody>
          <a:bodyPr/>
          <a:lstStyle>
            <a:lvl1pPr>
              <a:defRPr/>
            </a:lvl1pPr>
          </a:lstStyle>
          <a:p>
            <a:pPr>
              <a:defRPr/>
            </a:pPr>
            <a:endParaRPr lang="en-GB"/>
          </a:p>
        </p:txBody>
      </p:sp>
      <p:sp>
        <p:nvSpPr>
          <p:cNvPr id="6" name="Slide Number Placeholder 5"/>
          <p:cNvSpPr>
            <a:spLocks noGrp="1"/>
          </p:cNvSpPr>
          <p:nvPr>
            <p:ph type="sldNum" sz="quarter" idx="12"/>
          </p:nvPr>
        </p:nvSpPr>
        <p:spPr/>
        <p:txBody>
          <a:bodyPr/>
          <a:lstStyle>
            <a:lvl1pPr>
              <a:defRPr/>
            </a:lvl1pPr>
          </a:lstStyle>
          <a:p>
            <a:pPr>
              <a:defRPr/>
            </a:pPr>
            <a:fld id="{8071ADE1-FFA1-43E2-ADA3-874A68DBED40}" type="slidenum">
              <a:rPr lang="en-GB"/>
              <a:pPr>
                <a:defRPr/>
              </a:pPr>
              <a:t>‹#›</a:t>
            </a:fld>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3475"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GB"/>
          </a:p>
        </p:txBody>
      </p:sp>
      <p:sp>
        <p:nvSpPr>
          <p:cNvPr id="2" name="Title Placeholder 1"/>
          <p:cNvSpPr>
            <a:spLocks noGrp="1"/>
          </p:cNvSpPr>
          <p:nvPr>
            <p:ph type="title"/>
          </p:nvPr>
        </p:nvSpPr>
        <p:spPr>
          <a:xfrm>
            <a:off x="1262063" y="365125"/>
            <a:ext cx="9691687"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2063" y="1828800"/>
            <a:ext cx="8594725"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8176" y="998537"/>
            <a:ext cx="1905000" cy="365125"/>
          </a:xfrm>
          <a:prstGeom prst="rect">
            <a:avLst/>
          </a:prstGeom>
        </p:spPr>
        <p:txBody>
          <a:bodyPr vert="horz" lIns="91440" tIns="45720" rIns="91440" bIns="45720" rtlCol="0" anchor="ctr"/>
          <a:lstStyle>
            <a:lvl1pPr algn="r" fontAlgn="auto">
              <a:spcBef>
                <a:spcPts val="0"/>
              </a:spcBef>
              <a:spcAft>
                <a:spcPts val="0"/>
              </a:spcAft>
              <a:defRPr sz="1050" b="0" smtClean="0">
                <a:solidFill>
                  <a:schemeClr val="tx2">
                    <a:lumMod val="20000"/>
                    <a:lumOff val="80000"/>
                  </a:schemeClr>
                </a:solidFill>
                <a:latin typeface="+mn-lt"/>
                <a:cs typeface="+mn-cs"/>
              </a:defRPr>
            </a:lvl1pPr>
          </a:lstStyle>
          <a:p>
            <a:pPr>
              <a:defRPr/>
            </a:pPr>
            <a:fld id="{39D60186-9EC8-49F3-A26A-E2CCE97A99F6}" type="datetimeFigureOut">
              <a:rPr lang="en-GB"/>
              <a:pPr>
                <a:defRPr/>
              </a:pPr>
              <a:t>16/11/2025</a:t>
            </a:fld>
            <a:endParaRPr lang="en-GB"/>
          </a:p>
        </p:txBody>
      </p:sp>
      <p:sp>
        <p:nvSpPr>
          <p:cNvPr id="5" name="Footer Placeholder 4"/>
          <p:cNvSpPr>
            <a:spLocks noGrp="1"/>
          </p:cNvSpPr>
          <p:nvPr>
            <p:ph type="ftr" sz="quarter" idx="3"/>
          </p:nvPr>
        </p:nvSpPr>
        <p:spPr>
          <a:xfrm rot="16200000">
            <a:off x="9959976" y="4046537"/>
            <a:ext cx="3581400" cy="365125"/>
          </a:xfrm>
          <a:prstGeom prst="rect">
            <a:avLst/>
          </a:prstGeom>
        </p:spPr>
        <p:txBody>
          <a:bodyPr vert="horz" lIns="91440" tIns="45720" rIns="91440" bIns="45720" rtlCol="0" anchor="ctr"/>
          <a:lstStyle>
            <a:lvl1pPr algn="l" fontAlgn="auto">
              <a:spcBef>
                <a:spcPts val="0"/>
              </a:spcBef>
              <a:spcAft>
                <a:spcPts val="0"/>
              </a:spcAft>
              <a:defRPr sz="1050">
                <a:solidFill>
                  <a:schemeClr val="tx2">
                    <a:lumMod val="20000"/>
                    <a:lumOff val="80000"/>
                  </a:schemeClr>
                </a:solidFill>
                <a:latin typeface="+mn-lt"/>
                <a:cs typeface="+mn-cs"/>
              </a:defRPr>
            </a:lvl1pPr>
          </a:lstStyle>
          <a:p>
            <a:pPr>
              <a:defRPr/>
            </a:pPr>
            <a:endParaRPr lang="en-GB"/>
          </a:p>
        </p:txBody>
      </p:sp>
      <p:sp>
        <p:nvSpPr>
          <p:cNvPr id="6" name="Slide Number Placeholder 5"/>
          <p:cNvSpPr>
            <a:spLocks noGrp="1"/>
          </p:cNvSpPr>
          <p:nvPr>
            <p:ph type="sldNum" sz="quarter" idx="4"/>
          </p:nvPr>
        </p:nvSpPr>
        <p:spPr>
          <a:xfrm>
            <a:off x="11293475" y="6172200"/>
            <a:ext cx="914400" cy="593725"/>
          </a:xfrm>
          <a:prstGeom prst="rect">
            <a:avLst/>
          </a:prstGeom>
        </p:spPr>
        <p:txBody>
          <a:bodyPr vert="horz" lIns="45720" tIns="45720" rIns="45720" bIns="45720" rtlCol="0" anchor="ctr">
            <a:normAutofit/>
          </a:bodyPr>
          <a:lstStyle>
            <a:lvl1pPr algn="ctr" fontAlgn="auto">
              <a:spcBef>
                <a:spcPts val="0"/>
              </a:spcBef>
              <a:spcAft>
                <a:spcPts val="0"/>
              </a:spcAft>
              <a:defRPr sz="3600" smtClean="0">
                <a:solidFill>
                  <a:schemeClr val="tx2">
                    <a:lumMod val="60000"/>
                    <a:lumOff val="40000"/>
                  </a:schemeClr>
                </a:solidFill>
                <a:latin typeface="+mn-lt"/>
                <a:cs typeface="+mn-cs"/>
              </a:defRPr>
            </a:lvl1pPr>
          </a:lstStyle>
          <a:p>
            <a:pPr>
              <a:defRPr/>
            </a:pPr>
            <a:fld id="{5A447199-5F78-4452-BF38-355C4EDC5D53}" type="slidenum">
              <a:rPr lang="en-GB"/>
              <a:pPr>
                <a:defRPr/>
              </a:pPr>
              <a:t>‹#›</a:t>
            </a:fld>
            <a:endParaRPr lang="en-GB"/>
          </a:p>
        </p:txBody>
      </p:sp>
    </p:spTree>
  </p:cSld>
  <p:clrMap bg1="lt1" tx1="dk1" bg2="lt2" tx2="dk2" accent1="accent1" accent2="accent2" accent3="accent3" accent4="accent4" accent5="accent5" accent6="accent6" hlink="hlink" folHlink="folHlink"/>
  <p:sldLayoutIdLst>
    <p:sldLayoutId id="2147483726" r:id="rId1"/>
    <p:sldLayoutId id="2147483725" r:id="rId2"/>
    <p:sldLayoutId id="2147483724" r:id="rId3"/>
    <p:sldLayoutId id="2147483723" r:id="rId4"/>
    <p:sldLayoutId id="2147483722" r:id="rId5"/>
    <p:sldLayoutId id="2147483721" r:id="rId6"/>
    <p:sldLayoutId id="2147483720" r:id="rId7"/>
    <p:sldLayoutId id="2147483727" r:id="rId8"/>
    <p:sldLayoutId id="2147483719" r:id="rId9"/>
    <p:sldLayoutId id="2147483718" r:id="rId10"/>
  </p:sldLayoutIdLst>
  <p:txStyles>
    <p:titleStyle>
      <a:lvl1pPr algn="l" rtl="0" fontAlgn="base">
        <a:lnSpc>
          <a:spcPct val="90000"/>
        </a:lnSpc>
        <a:spcBef>
          <a:spcPct val="0"/>
        </a:spcBef>
        <a:spcAft>
          <a:spcPct val="0"/>
        </a:spcAft>
        <a:defRPr sz="4400" kern="1200" spc="-5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entury Schoolbook" pitchFamily="18" charset="0"/>
        </a:defRPr>
      </a:lvl2pPr>
      <a:lvl3pPr algn="l" rtl="0" fontAlgn="base">
        <a:lnSpc>
          <a:spcPct val="90000"/>
        </a:lnSpc>
        <a:spcBef>
          <a:spcPct val="0"/>
        </a:spcBef>
        <a:spcAft>
          <a:spcPct val="0"/>
        </a:spcAft>
        <a:defRPr sz="4400">
          <a:solidFill>
            <a:schemeClr val="tx1"/>
          </a:solidFill>
          <a:latin typeface="Century Schoolbook" pitchFamily="18" charset="0"/>
        </a:defRPr>
      </a:lvl3pPr>
      <a:lvl4pPr algn="l" rtl="0" fontAlgn="base">
        <a:lnSpc>
          <a:spcPct val="90000"/>
        </a:lnSpc>
        <a:spcBef>
          <a:spcPct val="0"/>
        </a:spcBef>
        <a:spcAft>
          <a:spcPct val="0"/>
        </a:spcAft>
        <a:defRPr sz="4400">
          <a:solidFill>
            <a:schemeClr val="tx1"/>
          </a:solidFill>
          <a:latin typeface="Century Schoolbook" pitchFamily="18" charset="0"/>
        </a:defRPr>
      </a:lvl4pPr>
      <a:lvl5pPr algn="l" rtl="0" fontAlgn="base">
        <a:lnSpc>
          <a:spcPct val="90000"/>
        </a:lnSpc>
        <a:spcBef>
          <a:spcPct val="0"/>
        </a:spcBef>
        <a:spcAft>
          <a:spcPct val="0"/>
        </a:spcAft>
        <a:defRPr sz="4400">
          <a:solidFill>
            <a:schemeClr val="tx1"/>
          </a:solidFill>
          <a:latin typeface="Century Schoolbook" pitchFamily="18" charset="0"/>
        </a:defRPr>
      </a:lvl5pPr>
      <a:lvl6pPr marL="457200" algn="l" rtl="0" fontAlgn="base">
        <a:lnSpc>
          <a:spcPct val="90000"/>
        </a:lnSpc>
        <a:spcBef>
          <a:spcPct val="0"/>
        </a:spcBef>
        <a:spcAft>
          <a:spcPct val="0"/>
        </a:spcAft>
        <a:defRPr sz="4400">
          <a:solidFill>
            <a:schemeClr val="tx1"/>
          </a:solidFill>
          <a:latin typeface="Century Schoolbook" pitchFamily="18" charset="0"/>
        </a:defRPr>
      </a:lvl6pPr>
      <a:lvl7pPr marL="914400" algn="l" rtl="0" fontAlgn="base">
        <a:lnSpc>
          <a:spcPct val="90000"/>
        </a:lnSpc>
        <a:spcBef>
          <a:spcPct val="0"/>
        </a:spcBef>
        <a:spcAft>
          <a:spcPct val="0"/>
        </a:spcAft>
        <a:defRPr sz="4400">
          <a:solidFill>
            <a:schemeClr val="tx1"/>
          </a:solidFill>
          <a:latin typeface="Century Schoolbook" pitchFamily="18" charset="0"/>
        </a:defRPr>
      </a:lvl7pPr>
      <a:lvl8pPr marL="1371600" algn="l" rtl="0" fontAlgn="base">
        <a:lnSpc>
          <a:spcPct val="90000"/>
        </a:lnSpc>
        <a:spcBef>
          <a:spcPct val="0"/>
        </a:spcBef>
        <a:spcAft>
          <a:spcPct val="0"/>
        </a:spcAft>
        <a:defRPr sz="4400">
          <a:solidFill>
            <a:schemeClr val="tx1"/>
          </a:solidFill>
          <a:latin typeface="Century Schoolbook" pitchFamily="18" charset="0"/>
        </a:defRPr>
      </a:lvl8pPr>
      <a:lvl9pPr marL="1828800" algn="l" rtl="0" fontAlgn="base">
        <a:lnSpc>
          <a:spcPct val="90000"/>
        </a:lnSpc>
        <a:spcBef>
          <a:spcPct val="0"/>
        </a:spcBef>
        <a:spcAft>
          <a:spcPct val="0"/>
        </a:spcAft>
        <a:defRPr sz="4400">
          <a:solidFill>
            <a:schemeClr val="tx1"/>
          </a:solidFill>
          <a:latin typeface="Century Schoolbook" pitchFamily="18" charset="0"/>
        </a:defRPr>
      </a:lvl9pPr>
    </p:titleStyle>
    <p:bodyStyle>
      <a:lvl1pPr marL="182563" indent="-182563" algn="l" rtl="0" fontAlgn="base">
        <a:lnSpc>
          <a:spcPct val="95000"/>
        </a:lnSpc>
        <a:spcBef>
          <a:spcPts val="1400"/>
        </a:spcBef>
        <a:spcAft>
          <a:spcPts val="200"/>
        </a:spcAft>
        <a:buClr>
          <a:schemeClr val="accent1"/>
        </a:buClr>
        <a:buSzPct val="80000"/>
        <a:buFont typeface="Arial" charset="0"/>
        <a:buChar char="•"/>
        <a:defRPr kern="1200" spc="10">
          <a:solidFill>
            <a:schemeClr val="tx1"/>
          </a:solidFill>
          <a:latin typeface="+mn-lt"/>
          <a:ea typeface="+mn-ea"/>
          <a:cs typeface="+mn-cs"/>
        </a:defRPr>
      </a:lvl1pPr>
      <a:lvl2pPr marL="457200" indent="-182563" algn="l" rtl="0" fontAlgn="base">
        <a:lnSpc>
          <a:spcPct val="90000"/>
        </a:lnSpc>
        <a:spcBef>
          <a:spcPts val="300"/>
        </a:spcBef>
        <a:spcAft>
          <a:spcPts val="300"/>
        </a:spcAft>
        <a:buClr>
          <a:schemeClr val="accent1"/>
        </a:buClr>
        <a:buFont typeface="Wingdings 2" pitchFamily="18" charset="2"/>
        <a:buChar char=""/>
        <a:defRPr sz="1600" kern="1200">
          <a:solidFill>
            <a:srgbClr val="262626"/>
          </a:solidFill>
          <a:latin typeface="+mn-lt"/>
          <a:ea typeface="+mn-ea"/>
          <a:cs typeface="+mn-cs"/>
        </a:defRPr>
      </a:lvl2pPr>
      <a:lvl3pPr marL="730250" indent="-182563" algn="l" rtl="0" fontAlgn="base">
        <a:lnSpc>
          <a:spcPct val="90000"/>
        </a:lnSpc>
        <a:spcBef>
          <a:spcPts val="300"/>
        </a:spcBef>
        <a:spcAft>
          <a:spcPts val="300"/>
        </a:spcAft>
        <a:buClr>
          <a:schemeClr val="accent1"/>
        </a:buClr>
        <a:buFont typeface="Wingdings 2" pitchFamily="18" charset="2"/>
        <a:buChar char=""/>
        <a:defRPr sz="1400" kern="1200">
          <a:solidFill>
            <a:srgbClr val="262626"/>
          </a:solidFill>
          <a:latin typeface="+mn-lt"/>
          <a:ea typeface="+mn-ea"/>
          <a:cs typeface="+mn-cs"/>
        </a:defRPr>
      </a:lvl3pPr>
      <a:lvl4pPr marL="1004888" indent="-182563" algn="l" rtl="0" fontAlgn="base">
        <a:lnSpc>
          <a:spcPct val="90000"/>
        </a:lnSpc>
        <a:spcBef>
          <a:spcPts val="300"/>
        </a:spcBef>
        <a:spcAft>
          <a:spcPts val="300"/>
        </a:spcAft>
        <a:buClr>
          <a:schemeClr val="accent1"/>
        </a:buClr>
        <a:buFont typeface="Wingdings 2" pitchFamily="18" charset="2"/>
        <a:buChar char=""/>
        <a:defRPr sz="1400" kern="1200">
          <a:solidFill>
            <a:srgbClr val="262626"/>
          </a:solidFill>
          <a:latin typeface="+mn-lt"/>
          <a:ea typeface="+mn-ea"/>
          <a:cs typeface="+mn-cs"/>
        </a:defRPr>
      </a:lvl4pPr>
      <a:lvl5pPr marL="1279525" indent="-182563" algn="l" rtl="0" fontAlgn="base">
        <a:lnSpc>
          <a:spcPct val="90000"/>
        </a:lnSpc>
        <a:spcBef>
          <a:spcPts val="300"/>
        </a:spcBef>
        <a:spcAft>
          <a:spcPts val="300"/>
        </a:spcAft>
        <a:buClr>
          <a:schemeClr val="accent1"/>
        </a:buClr>
        <a:buFont typeface="Wingdings 2" pitchFamily="18" charset="2"/>
        <a:buChar char=""/>
        <a:defRPr sz="1400" kern="1200">
          <a:solidFill>
            <a:srgbClr val="262626"/>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1262062" y="497568"/>
            <a:ext cx="9418637" cy="4041775"/>
          </a:xfrm>
        </p:spPr>
        <p:txBody>
          <a:bodyPr>
            <a:normAutofit/>
          </a:bodyPr>
          <a:lstStyle/>
          <a:p>
            <a:pPr fontAlgn="auto">
              <a:spcAft>
                <a:spcPts val="0"/>
              </a:spcAft>
              <a:defRPr/>
            </a:pPr>
            <a:r>
              <a:rPr lang="en-GB" sz="4800" dirty="0"/>
              <a:t>Late Nineteenth Century – Twentieth Century</a:t>
            </a:r>
            <a:br>
              <a:rPr lang="en-GB" sz="4800" dirty="0"/>
            </a:br>
            <a:br>
              <a:rPr lang="en-GB" sz="3600" dirty="0"/>
            </a:br>
            <a:r>
              <a:rPr lang="en-GB" sz="4800" dirty="0"/>
              <a:t>Science Fiction</a:t>
            </a:r>
          </a:p>
        </p:txBody>
      </p:sp>
      <p:sp>
        <p:nvSpPr>
          <p:cNvPr id="7" name="Subtitle 6"/>
          <p:cNvSpPr>
            <a:spLocks noGrp="1"/>
          </p:cNvSpPr>
          <p:nvPr>
            <p:ph type="subTitle" idx="1"/>
          </p:nvPr>
        </p:nvSpPr>
        <p:spPr>
          <a:xfrm>
            <a:off x="1262063" y="497568"/>
            <a:ext cx="9906680" cy="1692275"/>
          </a:xfrm>
        </p:spPr>
        <p:txBody>
          <a:bodyPr/>
          <a:lstStyle/>
          <a:p>
            <a:pPr fontAlgn="auto">
              <a:buFont typeface="Arial" pitchFamily="34" charset="0"/>
              <a:buNone/>
              <a:defRPr/>
            </a:pPr>
            <a:endParaRPr lang="en-GB" dirty="0"/>
          </a:p>
          <a:p>
            <a:pPr fontAlgn="auto">
              <a:buFont typeface="Arial" pitchFamily="34" charset="0"/>
              <a:buNone/>
              <a:defRPr/>
            </a:pPr>
            <a:r>
              <a:rPr lang="en-GB" sz="3200" dirty="0">
                <a:solidFill>
                  <a:srgbClr val="0070C0"/>
                </a:solidFill>
              </a:rPr>
              <a:t>Appreciation of English and American Literature </a:t>
            </a:r>
          </a:p>
        </p:txBody>
      </p:sp>
      <p:sp>
        <p:nvSpPr>
          <p:cNvPr id="2" name="Subtitle 6">
            <a:extLst>
              <a:ext uri="{FF2B5EF4-FFF2-40B4-BE49-F238E27FC236}">
                <a16:creationId xmlns:a16="http://schemas.microsoft.com/office/drawing/2014/main" id="{2D79552E-588D-E518-B656-9717FAE55822}"/>
              </a:ext>
            </a:extLst>
          </p:cNvPr>
          <p:cNvSpPr txBox="1">
            <a:spLocks/>
          </p:cNvSpPr>
          <p:nvPr/>
        </p:nvSpPr>
        <p:spPr>
          <a:xfrm>
            <a:off x="1262062" y="4800600"/>
            <a:ext cx="9906680" cy="1692275"/>
          </a:xfrm>
          <a:prstGeom prst="rect">
            <a:avLst/>
          </a:prstGeom>
        </p:spPr>
        <p:txBody>
          <a:bodyPr vert="horz" lIns="91440" tIns="45720" rIns="91440" bIns="45720" rtlCol="0">
            <a:normAutofit/>
          </a:bodyPr>
          <a:lstStyle>
            <a:lvl1pPr marL="0" indent="0" algn="l" rtl="0" fontAlgn="base">
              <a:lnSpc>
                <a:spcPct val="95000"/>
              </a:lnSpc>
              <a:spcBef>
                <a:spcPts val="1400"/>
              </a:spcBef>
              <a:spcAft>
                <a:spcPts val="200"/>
              </a:spcAft>
              <a:buClr>
                <a:schemeClr val="accent1"/>
              </a:buClr>
              <a:buSzPct val="80000"/>
              <a:buFont typeface="Arial" charset="0"/>
              <a:buNone/>
              <a:defRPr sz="2200" kern="1200" spc="10" baseline="0">
                <a:solidFill>
                  <a:schemeClr val="tx1">
                    <a:lumMod val="75000"/>
                  </a:schemeClr>
                </a:solidFill>
                <a:latin typeface="+mn-lt"/>
                <a:ea typeface="+mn-ea"/>
                <a:cs typeface="+mn-cs"/>
              </a:defRPr>
            </a:lvl1pPr>
            <a:lvl2pPr marL="457200" indent="0" algn="ctr" rtl="0" fontAlgn="base">
              <a:lnSpc>
                <a:spcPct val="90000"/>
              </a:lnSpc>
              <a:spcBef>
                <a:spcPts val="300"/>
              </a:spcBef>
              <a:spcAft>
                <a:spcPts val="300"/>
              </a:spcAft>
              <a:buClr>
                <a:schemeClr val="accent1"/>
              </a:buClr>
              <a:buFont typeface="Wingdings 2" pitchFamily="18" charset="2"/>
              <a:buNone/>
              <a:defRPr sz="2200" kern="1200">
                <a:solidFill>
                  <a:srgbClr val="262626"/>
                </a:solidFill>
                <a:latin typeface="+mn-lt"/>
                <a:ea typeface="+mn-ea"/>
                <a:cs typeface="+mn-cs"/>
              </a:defRPr>
            </a:lvl2pPr>
            <a:lvl3pPr marL="914400" indent="0" algn="ctr" rtl="0" fontAlgn="base">
              <a:lnSpc>
                <a:spcPct val="90000"/>
              </a:lnSpc>
              <a:spcBef>
                <a:spcPts val="300"/>
              </a:spcBef>
              <a:spcAft>
                <a:spcPts val="300"/>
              </a:spcAft>
              <a:buClr>
                <a:schemeClr val="accent1"/>
              </a:buClr>
              <a:buFont typeface="Wingdings 2" pitchFamily="18" charset="2"/>
              <a:buNone/>
              <a:defRPr sz="2200" kern="1200">
                <a:solidFill>
                  <a:srgbClr val="262626"/>
                </a:solidFill>
                <a:latin typeface="+mn-lt"/>
                <a:ea typeface="+mn-ea"/>
                <a:cs typeface="+mn-cs"/>
              </a:defRPr>
            </a:lvl3pPr>
            <a:lvl4pPr marL="1371600" indent="0" algn="ctr" rtl="0" fontAlgn="base">
              <a:lnSpc>
                <a:spcPct val="90000"/>
              </a:lnSpc>
              <a:spcBef>
                <a:spcPts val="300"/>
              </a:spcBef>
              <a:spcAft>
                <a:spcPts val="300"/>
              </a:spcAft>
              <a:buClr>
                <a:schemeClr val="accent1"/>
              </a:buClr>
              <a:buFont typeface="Wingdings 2" pitchFamily="18" charset="2"/>
              <a:buNone/>
              <a:defRPr sz="2000" kern="1200">
                <a:solidFill>
                  <a:srgbClr val="262626"/>
                </a:solidFill>
                <a:latin typeface="+mn-lt"/>
                <a:ea typeface="+mn-ea"/>
                <a:cs typeface="+mn-cs"/>
              </a:defRPr>
            </a:lvl4pPr>
            <a:lvl5pPr marL="1828800" indent="0" algn="ctr" rtl="0" fontAlgn="base">
              <a:lnSpc>
                <a:spcPct val="90000"/>
              </a:lnSpc>
              <a:spcBef>
                <a:spcPts val="300"/>
              </a:spcBef>
              <a:spcAft>
                <a:spcPts val="300"/>
              </a:spcAft>
              <a:buClr>
                <a:schemeClr val="accent1"/>
              </a:buClr>
              <a:buFont typeface="Wingdings 2" pitchFamily="18" charset="2"/>
              <a:buNone/>
              <a:defRPr sz="2000" kern="1200">
                <a:solidFill>
                  <a:srgbClr val="262626"/>
                </a:solidFill>
                <a:latin typeface="+mn-lt"/>
                <a:ea typeface="+mn-ea"/>
                <a:cs typeface="+mn-cs"/>
              </a:defRPr>
            </a:lvl5pPr>
            <a:lvl6pPr marL="22860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6pPr>
            <a:lvl7pPr marL="27432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7pPr>
            <a:lvl8pPr marL="32004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8pPr>
            <a:lvl9pPr marL="3657600" indent="0" algn="ctr" defTabSz="914400" rtl="0" eaLnBrk="1" latinLnBrk="0" hangingPunct="1">
              <a:lnSpc>
                <a:spcPct val="90000"/>
              </a:lnSpc>
              <a:spcBef>
                <a:spcPts val="300"/>
              </a:spcBef>
              <a:spcAft>
                <a:spcPts val="300"/>
              </a:spcAft>
              <a:buClr>
                <a:schemeClr val="accent1"/>
              </a:buClr>
              <a:buFont typeface="Wingdings 2" pitchFamily="18" charset="2"/>
              <a:buNone/>
              <a:defRPr sz="2000" kern="1200">
                <a:solidFill>
                  <a:schemeClr val="tx1">
                    <a:lumMod val="85000"/>
                    <a:lumOff val="15000"/>
                  </a:schemeClr>
                </a:solidFill>
                <a:latin typeface="+mn-lt"/>
                <a:ea typeface="+mn-ea"/>
                <a:cs typeface="+mn-cs"/>
              </a:defRPr>
            </a:lvl9pPr>
          </a:lstStyle>
          <a:p>
            <a:pPr defTabSz="914400" fontAlgn="auto">
              <a:buFont typeface="Arial" pitchFamily="34" charset="0"/>
              <a:buNone/>
              <a:defRPr/>
            </a:pPr>
            <a:r>
              <a:rPr lang="en-GB" sz="3600" dirty="0"/>
              <a:t>H.G. Wells – </a:t>
            </a:r>
            <a:r>
              <a:rPr lang="en-GB" sz="3600" i="1" dirty="0"/>
              <a:t>The Time Machine</a:t>
            </a:r>
          </a:p>
          <a:p>
            <a:pPr defTabSz="914400" fontAlgn="auto">
              <a:buFont typeface="Arial" pitchFamily="34" charset="0"/>
              <a:buNone/>
              <a:defRPr/>
            </a:pPr>
            <a:r>
              <a:rPr lang="en-GB" sz="3600" dirty="0"/>
              <a:t>Ray Bradbury – </a:t>
            </a:r>
            <a:r>
              <a:rPr lang="en-GB" sz="3600" i="1" dirty="0"/>
              <a:t>There Will Come Soft Rains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85A2BAF-5948-4291-8944-B4218ACCDE00}"/>
              </a:ext>
            </a:extLst>
          </p:cNvPr>
          <p:cNvSpPr>
            <a:spLocks noGrp="1"/>
          </p:cNvSpPr>
          <p:nvPr>
            <p:ph type="ctrTitle"/>
          </p:nvPr>
        </p:nvSpPr>
        <p:spPr>
          <a:xfrm>
            <a:off x="1261872" y="507161"/>
            <a:ext cx="9418320" cy="4041648"/>
          </a:xfrm>
        </p:spPr>
        <p:txBody>
          <a:bodyPr>
            <a:normAutofit/>
          </a:bodyPr>
          <a:lstStyle/>
          <a:p>
            <a:r>
              <a:rPr lang="en-GB" sz="6000" dirty="0"/>
              <a:t>H.G. Wells</a:t>
            </a:r>
          </a:p>
        </p:txBody>
      </p:sp>
      <p:sp>
        <p:nvSpPr>
          <p:cNvPr id="5" name="Subtitle 4">
            <a:extLst>
              <a:ext uri="{FF2B5EF4-FFF2-40B4-BE49-F238E27FC236}">
                <a16:creationId xmlns:a16="http://schemas.microsoft.com/office/drawing/2014/main" id="{2212159B-3F64-4734-A976-48129E014887}"/>
              </a:ext>
            </a:extLst>
          </p:cNvPr>
          <p:cNvSpPr>
            <a:spLocks noGrp="1"/>
          </p:cNvSpPr>
          <p:nvPr>
            <p:ph type="subTitle" idx="1"/>
          </p:nvPr>
        </p:nvSpPr>
        <p:spPr>
          <a:xfrm>
            <a:off x="1261872" y="4376530"/>
            <a:ext cx="9418320" cy="1691640"/>
          </a:xfrm>
        </p:spPr>
        <p:txBody>
          <a:bodyPr/>
          <a:lstStyle/>
          <a:p>
            <a:endParaRPr lang="en-GB" i="1" dirty="0"/>
          </a:p>
          <a:p>
            <a:r>
              <a:rPr lang="en-GB" sz="4400" i="1" dirty="0"/>
              <a:t>The Time Machine </a:t>
            </a:r>
            <a:r>
              <a:rPr lang="en-GB" sz="4400" dirty="0"/>
              <a:t>(1895)</a:t>
            </a:r>
            <a:endParaRPr lang="en-GB" sz="4400" i="1" dirty="0"/>
          </a:p>
        </p:txBody>
      </p:sp>
    </p:spTree>
    <p:extLst>
      <p:ext uri="{BB962C8B-B14F-4D97-AF65-F5344CB8AC3E}">
        <p14:creationId xmlns:p14="http://schemas.microsoft.com/office/powerpoint/2010/main" val="3448495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957D5-CC6A-4BB8-AC88-F191FC3A3233}"/>
              </a:ext>
            </a:extLst>
          </p:cNvPr>
          <p:cNvSpPr>
            <a:spLocks noGrp="1"/>
          </p:cNvSpPr>
          <p:nvPr>
            <p:ph type="title"/>
          </p:nvPr>
        </p:nvSpPr>
        <p:spPr>
          <a:xfrm>
            <a:off x="1250156" y="-31500"/>
            <a:ext cx="9691687" cy="1325563"/>
          </a:xfrm>
        </p:spPr>
        <p:txBody>
          <a:bodyPr/>
          <a:lstStyle/>
          <a:p>
            <a:r>
              <a:rPr lang="en-GB" dirty="0"/>
              <a:t>H.G. Wells</a:t>
            </a:r>
          </a:p>
        </p:txBody>
      </p:sp>
      <p:sp>
        <p:nvSpPr>
          <p:cNvPr id="6" name="Content Placeholder 5">
            <a:extLst>
              <a:ext uri="{FF2B5EF4-FFF2-40B4-BE49-F238E27FC236}">
                <a16:creationId xmlns:a16="http://schemas.microsoft.com/office/drawing/2014/main" id="{AC87DCF8-1823-4681-AE85-CEB68B7D77F8}"/>
              </a:ext>
            </a:extLst>
          </p:cNvPr>
          <p:cNvSpPr>
            <a:spLocks noGrp="1"/>
          </p:cNvSpPr>
          <p:nvPr>
            <p:ph idx="1"/>
          </p:nvPr>
        </p:nvSpPr>
        <p:spPr>
          <a:xfrm>
            <a:off x="437322" y="1505325"/>
            <a:ext cx="7154656" cy="2703443"/>
          </a:xfrm>
        </p:spPr>
        <p:txBody>
          <a:bodyPr>
            <a:noAutofit/>
          </a:bodyPr>
          <a:lstStyle/>
          <a:p>
            <a:r>
              <a:rPr lang="en-GB" sz="2400" dirty="0"/>
              <a:t>Lived 1866-1946.  (Herbert George Wells.)</a:t>
            </a:r>
          </a:p>
          <a:p>
            <a:endParaRPr lang="en-GB" sz="800" dirty="0"/>
          </a:p>
          <a:p>
            <a:r>
              <a:rPr lang="en-GB" sz="2400" dirty="0"/>
              <a:t>One of the founders of science-fiction. He also wrote </a:t>
            </a:r>
            <a:r>
              <a:rPr lang="en-GB" sz="2400" i="1" dirty="0"/>
              <a:t>The War of the Worlds </a:t>
            </a:r>
            <a:r>
              <a:rPr lang="en-GB" sz="2400" dirty="0"/>
              <a:t>(1897)</a:t>
            </a:r>
            <a:r>
              <a:rPr lang="en-GB" sz="2400" i="1" dirty="0"/>
              <a:t> </a:t>
            </a:r>
            <a:endParaRPr lang="en-GB" sz="2400" dirty="0"/>
          </a:p>
          <a:p>
            <a:endParaRPr lang="en-GB" sz="800" dirty="0"/>
          </a:p>
          <a:p>
            <a:r>
              <a:rPr lang="en-GB" sz="2400" dirty="0"/>
              <a:t>He followed Darwinism, and was a proponent of some Eugenics thinking:</a:t>
            </a:r>
          </a:p>
          <a:p>
            <a:endParaRPr lang="en-GB" sz="2400" dirty="0"/>
          </a:p>
        </p:txBody>
      </p:sp>
      <p:pic>
        <p:nvPicPr>
          <p:cNvPr id="7" name="Content Placeholder 4">
            <a:extLst>
              <a:ext uri="{FF2B5EF4-FFF2-40B4-BE49-F238E27FC236}">
                <a16:creationId xmlns:a16="http://schemas.microsoft.com/office/drawing/2014/main" id="{5DF8D652-9FC5-4F04-83D8-693D0424CD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858539" y="382250"/>
            <a:ext cx="2572716" cy="3961307"/>
          </a:xfrm>
          <a:prstGeom prst="rect">
            <a:avLst/>
          </a:prstGeom>
        </p:spPr>
      </p:pic>
      <p:sp>
        <p:nvSpPr>
          <p:cNvPr id="8" name="TextBox 7">
            <a:extLst>
              <a:ext uri="{FF2B5EF4-FFF2-40B4-BE49-F238E27FC236}">
                <a16:creationId xmlns:a16="http://schemas.microsoft.com/office/drawing/2014/main" id="{5370F72E-67EC-410B-822F-5EB8581EFFB7}"/>
              </a:ext>
            </a:extLst>
          </p:cNvPr>
          <p:cNvSpPr txBox="1"/>
          <p:nvPr/>
        </p:nvSpPr>
        <p:spPr>
          <a:xfrm>
            <a:off x="583097" y="4631292"/>
            <a:ext cx="9848158" cy="1938992"/>
          </a:xfrm>
          <a:prstGeom prst="rect">
            <a:avLst/>
          </a:prstGeom>
          <a:noFill/>
        </p:spPr>
        <p:txBody>
          <a:bodyPr wrap="square" rtlCol="0">
            <a:spAutoFit/>
          </a:bodyPr>
          <a:lstStyle/>
          <a:p>
            <a:r>
              <a:rPr lang="en-GB" sz="2400" dirty="0">
                <a:latin typeface="+mn-lt"/>
              </a:rPr>
              <a:t>"The way of nature has always been to slay the hindmost, and there is still no other way, unless we can prevent those who would become the hindmost being born. It is in the sterilization of failures, and not in the selection of successes for breeding, that the possibility of an improvement of the human stock lies."</a:t>
            </a:r>
          </a:p>
        </p:txBody>
      </p:sp>
    </p:spTree>
    <p:extLst>
      <p:ext uri="{BB962C8B-B14F-4D97-AF65-F5344CB8AC3E}">
        <p14:creationId xmlns:p14="http://schemas.microsoft.com/office/powerpoint/2010/main" val="11561843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F9FE7-D678-48D5-9D9C-036ED959462F}"/>
              </a:ext>
            </a:extLst>
          </p:cNvPr>
          <p:cNvSpPr>
            <a:spLocks noGrp="1"/>
          </p:cNvSpPr>
          <p:nvPr>
            <p:ph type="title"/>
          </p:nvPr>
        </p:nvSpPr>
        <p:spPr/>
        <p:txBody>
          <a:bodyPr/>
          <a:lstStyle/>
          <a:p>
            <a:r>
              <a:rPr lang="en-GB" dirty="0"/>
              <a:t>The Fin de Siècle and Degeneration</a:t>
            </a:r>
          </a:p>
        </p:txBody>
      </p:sp>
      <p:sp>
        <p:nvSpPr>
          <p:cNvPr id="3" name="Content Placeholder 2">
            <a:extLst>
              <a:ext uri="{FF2B5EF4-FFF2-40B4-BE49-F238E27FC236}">
                <a16:creationId xmlns:a16="http://schemas.microsoft.com/office/drawing/2014/main" id="{8A420542-B287-4475-8FC4-D74A687B5559}"/>
              </a:ext>
            </a:extLst>
          </p:cNvPr>
          <p:cNvSpPr>
            <a:spLocks noGrp="1"/>
          </p:cNvSpPr>
          <p:nvPr>
            <p:ph idx="1"/>
          </p:nvPr>
        </p:nvSpPr>
        <p:spPr>
          <a:xfrm>
            <a:off x="1060175" y="2095330"/>
            <a:ext cx="8796614" cy="4112799"/>
          </a:xfrm>
        </p:spPr>
        <p:txBody>
          <a:bodyPr>
            <a:normAutofit/>
          </a:bodyPr>
          <a:lstStyle/>
          <a:p>
            <a:r>
              <a:rPr lang="en-GB" sz="2800" dirty="0"/>
              <a:t>At the end of the nineteenth century, there was a feeling in Europe that everything was coming to an end…</a:t>
            </a:r>
          </a:p>
          <a:p>
            <a:endParaRPr lang="en-GB" dirty="0"/>
          </a:p>
          <a:p>
            <a:r>
              <a:rPr lang="en-GB" sz="2800" dirty="0"/>
              <a:t>In France it was called the </a:t>
            </a:r>
            <a:r>
              <a:rPr lang="en-GB" sz="2800" b="1" dirty="0"/>
              <a:t>fin de siècle </a:t>
            </a:r>
            <a:r>
              <a:rPr lang="en-GB" sz="2800" dirty="0"/>
              <a:t>(end of the century). Some people felt that art, morality, and even humans were starting to collapse. </a:t>
            </a:r>
          </a:p>
        </p:txBody>
      </p:sp>
    </p:spTree>
    <p:extLst>
      <p:ext uri="{BB962C8B-B14F-4D97-AF65-F5344CB8AC3E}">
        <p14:creationId xmlns:p14="http://schemas.microsoft.com/office/powerpoint/2010/main" val="4147488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F9FE7-D678-48D5-9D9C-036ED959462F}"/>
              </a:ext>
            </a:extLst>
          </p:cNvPr>
          <p:cNvSpPr>
            <a:spLocks noGrp="1"/>
          </p:cNvSpPr>
          <p:nvPr>
            <p:ph type="title"/>
          </p:nvPr>
        </p:nvSpPr>
        <p:spPr/>
        <p:txBody>
          <a:bodyPr/>
          <a:lstStyle/>
          <a:p>
            <a:r>
              <a:rPr lang="en-GB" dirty="0"/>
              <a:t>The Fin de Siècle and Degeneration</a:t>
            </a:r>
          </a:p>
        </p:txBody>
      </p:sp>
      <p:sp>
        <p:nvSpPr>
          <p:cNvPr id="3" name="Content Placeholder 2">
            <a:extLst>
              <a:ext uri="{FF2B5EF4-FFF2-40B4-BE49-F238E27FC236}">
                <a16:creationId xmlns:a16="http://schemas.microsoft.com/office/drawing/2014/main" id="{8A420542-B287-4475-8FC4-D74A687B5559}"/>
              </a:ext>
            </a:extLst>
          </p:cNvPr>
          <p:cNvSpPr>
            <a:spLocks noGrp="1"/>
          </p:cNvSpPr>
          <p:nvPr>
            <p:ph idx="1"/>
          </p:nvPr>
        </p:nvSpPr>
        <p:spPr>
          <a:xfrm>
            <a:off x="165949" y="6234732"/>
            <a:ext cx="8796614" cy="693737"/>
          </a:xfrm>
        </p:spPr>
        <p:txBody>
          <a:bodyPr>
            <a:normAutofit/>
          </a:bodyPr>
          <a:lstStyle/>
          <a:p>
            <a:r>
              <a:rPr lang="en-GB" sz="2200" i="1" dirty="0"/>
              <a:t>The Scream, </a:t>
            </a:r>
            <a:r>
              <a:rPr lang="en-GB" sz="2200" dirty="0"/>
              <a:t>by Edvard Munch (1893)</a:t>
            </a:r>
          </a:p>
        </p:txBody>
      </p:sp>
      <p:pic>
        <p:nvPicPr>
          <p:cNvPr id="5" name="Picture 4">
            <a:extLst>
              <a:ext uri="{FF2B5EF4-FFF2-40B4-BE49-F238E27FC236}">
                <a16:creationId xmlns:a16="http://schemas.microsoft.com/office/drawing/2014/main" id="{ED050C02-009F-493A-9591-4A18A7758AE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4011" y="1825797"/>
            <a:ext cx="3443163" cy="4273826"/>
          </a:xfrm>
          <a:prstGeom prst="rect">
            <a:avLst/>
          </a:prstGeom>
        </p:spPr>
      </p:pic>
      <p:sp>
        <p:nvSpPr>
          <p:cNvPr id="8" name="TextBox 7">
            <a:extLst>
              <a:ext uri="{FF2B5EF4-FFF2-40B4-BE49-F238E27FC236}">
                <a16:creationId xmlns:a16="http://schemas.microsoft.com/office/drawing/2014/main" id="{7845918E-DF96-4219-8337-F0469872E970}"/>
              </a:ext>
            </a:extLst>
          </p:cNvPr>
          <p:cNvSpPr txBox="1"/>
          <p:nvPr/>
        </p:nvSpPr>
        <p:spPr>
          <a:xfrm>
            <a:off x="4741338" y="2069884"/>
            <a:ext cx="5661618" cy="3785652"/>
          </a:xfrm>
          <a:prstGeom prst="rect">
            <a:avLst/>
          </a:prstGeom>
          <a:noFill/>
        </p:spPr>
        <p:txBody>
          <a:bodyPr wrap="square" rtlCol="0">
            <a:spAutoFit/>
          </a:bodyPr>
          <a:lstStyle/>
          <a:p>
            <a:r>
              <a:rPr lang="en-GB" sz="2400" i="1" dirty="0"/>
              <a:t>“I was walking along the road with two friends – the sun was setting – suddenly the sky turned blood red – I paused, feeling exhausted, and leaned on the fence – there was blood and tongues of fire above the blue-black fjord and the city – my friends walked on, and I stood there trembling with anxiety – and I sensed an infinite scream passing through nature.”</a:t>
            </a:r>
          </a:p>
        </p:txBody>
      </p:sp>
    </p:spTree>
    <p:extLst>
      <p:ext uri="{BB962C8B-B14F-4D97-AF65-F5344CB8AC3E}">
        <p14:creationId xmlns:p14="http://schemas.microsoft.com/office/powerpoint/2010/main" val="2201399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F9FE7-D678-48D5-9D9C-036ED959462F}"/>
              </a:ext>
            </a:extLst>
          </p:cNvPr>
          <p:cNvSpPr>
            <a:spLocks noGrp="1"/>
          </p:cNvSpPr>
          <p:nvPr>
            <p:ph type="title"/>
          </p:nvPr>
        </p:nvSpPr>
        <p:spPr/>
        <p:txBody>
          <a:bodyPr/>
          <a:lstStyle/>
          <a:p>
            <a:r>
              <a:rPr lang="en-GB" dirty="0"/>
              <a:t>The Fin de Siècle and Degeneration</a:t>
            </a:r>
          </a:p>
        </p:txBody>
      </p:sp>
      <p:sp>
        <p:nvSpPr>
          <p:cNvPr id="3" name="Content Placeholder 2">
            <a:extLst>
              <a:ext uri="{FF2B5EF4-FFF2-40B4-BE49-F238E27FC236}">
                <a16:creationId xmlns:a16="http://schemas.microsoft.com/office/drawing/2014/main" id="{8A420542-B287-4475-8FC4-D74A687B5559}"/>
              </a:ext>
            </a:extLst>
          </p:cNvPr>
          <p:cNvSpPr>
            <a:spLocks noGrp="1"/>
          </p:cNvSpPr>
          <p:nvPr>
            <p:ph idx="1"/>
          </p:nvPr>
        </p:nvSpPr>
        <p:spPr>
          <a:xfrm>
            <a:off x="636105" y="2093842"/>
            <a:ext cx="7911548" cy="4764157"/>
          </a:xfrm>
        </p:spPr>
        <p:txBody>
          <a:bodyPr>
            <a:normAutofit fontScale="77500" lnSpcReduction="20000"/>
          </a:bodyPr>
          <a:lstStyle/>
          <a:p>
            <a:r>
              <a:rPr lang="en-GB" sz="3100" dirty="0"/>
              <a:t>In 1892 Max Nordau wrote a book called </a:t>
            </a:r>
            <a:r>
              <a:rPr lang="en-GB" sz="3100" i="1" dirty="0"/>
              <a:t>Degeneration,</a:t>
            </a:r>
            <a:r>
              <a:rPr lang="en-GB" sz="3100" dirty="0"/>
              <a:t> in which he said that humans were degrading into less developed forms, and that many writers and artists were examples of these people: </a:t>
            </a:r>
          </a:p>
          <a:p>
            <a:endParaRPr lang="en-GB" sz="2400" dirty="0"/>
          </a:p>
          <a:p>
            <a:r>
              <a:rPr lang="en-GB" sz="3100" dirty="0"/>
              <a:t>… “a</a:t>
            </a:r>
            <a:r>
              <a:rPr lang="en-US" sz="3100" dirty="0" err="1"/>
              <a:t>ll</a:t>
            </a:r>
            <a:r>
              <a:rPr lang="en-US" sz="3100" dirty="0"/>
              <a:t> these fin-de-siècle cases have, nevertheless, a common feature, to wit, a contempt for traditional views of custom and morality</a:t>
            </a:r>
            <a:r>
              <a:rPr lang="en-GB" sz="3100" dirty="0"/>
              <a:t> … This means unbridled lewdness, the unchaining of the beast in man; to the withered heart of the egoist, disdain of all consideration for his fellow-men, the trampling under foot of all barriers which enclose brutal greed of lucre and lust of pleasure; to the contemner of the world it means the shameless ascendency of base impulses and motives.”</a:t>
            </a:r>
          </a:p>
        </p:txBody>
      </p:sp>
      <p:pic>
        <p:nvPicPr>
          <p:cNvPr id="5" name="Picture 4">
            <a:extLst>
              <a:ext uri="{FF2B5EF4-FFF2-40B4-BE49-F238E27FC236}">
                <a16:creationId xmlns:a16="http://schemas.microsoft.com/office/drawing/2014/main" id="{AE028D4A-1CA9-40AF-BA83-E1FE3E1388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39199" y="1879518"/>
            <a:ext cx="1846028" cy="2676741"/>
          </a:xfrm>
          <a:prstGeom prst="rect">
            <a:avLst/>
          </a:prstGeom>
        </p:spPr>
      </p:pic>
      <p:pic>
        <p:nvPicPr>
          <p:cNvPr id="7" name="Picture 6">
            <a:extLst>
              <a:ext uri="{FF2B5EF4-FFF2-40B4-BE49-F238E27FC236}">
                <a16:creationId xmlns:a16="http://schemas.microsoft.com/office/drawing/2014/main" id="{633E97FA-BFFB-4630-9E61-0C6359321F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37157" y="4656135"/>
            <a:ext cx="2050112" cy="1978928"/>
          </a:xfrm>
          <a:prstGeom prst="rect">
            <a:avLst/>
          </a:prstGeom>
        </p:spPr>
      </p:pic>
    </p:spTree>
    <p:extLst>
      <p:ext uri="{BB962C8B-B14F-4D97-AF65-F5344CB8AC3E}">
        <p14:creationId xmlns:p14="http://schemas.microsoft.com/office/powerpoint/2010/main" val="2786051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2B6FA5-A04E-4C9C-9896-511FA9BF8546}"/>
              </a:ext>
            </a:extLst>
          </p:cNvPr>
          <p:cNvSpPr>
            <a:spLocks noGrp="1"/>
          </p:cNvSpPr>
          <p:nvPr>
            <p:ph type="title"/>
          </p:nvPr>
        </p:nvSpPr>
        <p:spPr/>
        <p:txBody>
          <a:bodyPr/>
          <a:lstStyle/>
          <a:p>
            <a:r>
              <a:rPr lang="en-GB" i="1" dirty="0"/>
              <a:t>The Time Machine</a:t>
            </a:r>
          </a:p>
        </p:txBody>
      </p:sp>
      <p:sp>
        <p:nvSpPr>
          <p:cNvPr id="3" name="Content Placeholder 2">
            <a:extLst>
              <a:ext uri="{FF2B5EF4-FFF2-40B4-BE49-F238E27FC236}">
                <a16:creationId xmlns:a16="http://schemas.microsoft.com/office/drawing/2014/main" id="{2FB0EBFC-824C-4C4F-91A8-F9DE28F8E29B}"/>
              </a:ext>
            </a:extLst>
          </p:cNvPr>
          <p:cNvSpPr>
            <a:spLocks noGrp="1"/>
          </p:cNvSpPr>
          <p:nvPr>
            <p:ph idx="1"/>
          </p:nvPr>
        </p:nvSpPr>
        <p:spPr>
          <a:xfrm>
            <a:off x="927653" y="1828799"/>
            <a:ext cx="8929136" cy="4664076"/>
          </a:xfrm>
        </p:spPr>
        <p:txBody>
          <a:bodyPr>
            <a:normAutofit/>
          </a:bodyPr>
          <a:lstStyle/>
          <a:p>
            <a:endParaRPr lang="en-GB" dirty="0"/>
          </a:p>
          <a:p>
            <a:r>
              <a:rPr lang="en-GB" sz="3000" dirty="0"/>
              <a:t>How does the story open?</a:t>
            </a:r>
          </a:p>
          <a:p>
            <a:endParaRPr lang="en-GB" sz="1000" dirty="0"/>
          </a:p>
          <a:p>
            <a:r>
              <a:rPr lang="en-GB" sz="3000" dirty="0"/>
              <a:t>What does the Time Traveller discover?</a:t>
            </a:r>
          </a:p>
          <a:p>
            <a:endParaRPr lang="en-GB" sz="1050" dirty="0"/>
          </a:p>
          <a:p>
            <a:r>
              <a:rPr lang="en-GB" sz="3000" dirty="0"/>
              <a:t>How does H.G. Wells use English?</a:t>
            </a:r>
          </a:p>
          <a:p>
            <a:pPr marL="0" indent="0">
              <a:buNone/>
            </a:pPr>
            <a:endParaRPr lang="en-GB" sz="3000" dirty="0"/>
          </a:p>
        </p:txBody>
      </p:sp>
      <p:pic>
        <p:nvPicPr>
          <p:cNvPr id="5" name="Picture 4">
            <a:extLst>
              <a:ext uri="{FF2B5EF4-FFF2-40B4-BE49-F238E27FC236}">
                <a16:creationId xmlns:a16="http://schemas.microsoft.com/office/drawing/2014/main" id="{415C30E8-F303-435D-9773-1A18909352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6404" y="459580"/>
            <a:ext cx="3938587" cy="2738437"/>
          </a:xfrm>
          <a:prstGeom prst="rect">
            <a:avLst/>
          </a:prstGeom>
        </p:spPr>
      </p:pic>
      <p:sp>
        <p:nvSpPr>
          <p:cNvPr id="6" name="TextBox 5">
            <a:extLst>
              <a:ext uri="{FF2B5EF4-FFF2-40B4-BE49-F238E27FC236}">
                <a16:creationId xmlns:a16="http://schemas.microsoft.com/office/drawing/2014/main" id="{36B5AF51-B12F-5CCE-31A4-943D9B270912}"/>
              </a:ext>
            </a:extLst>
          </p:cNvPr>
          <p:cNvSpPr txBox="1"/>
          <p:nvPr/>
        </p:nvSpPr>
        <p:spPr>
          <a:xfrm>
            <a:off x="1101012" y="5243804"/>
            <a:ext cx="9852738" cy="830997"/>
          </a:xfrm>
          <a:prstGeom prst="rect">
            <a:avLst/>
          </a:prstGeom>
          <a:noFill/>
        </p:spPr>
        <p:txBody>
          <a:bodyPr wrap="square" rtlCol="0">
            <a:spAutoFit/>
          </a:bodyPr>
          <a:lstStyle/>
          <a:p>
            <a:r>
              <a:rPr lang="en-GB" sz="2400" dirty="0">
                <a:solidFill>
                  <a:srgbClr val="0070C0"/>
                </a:solidFill>
              </a:rPr>
              <a:t>The novel uses a ‘frame story’ – a common technique in the 19</a:t>
            </a:r>
            <a:r>
              <a:rPr lang="en-GB" sz="2400" baseline="30000" dirty="0">
                <a:solidFill>
                  <a:srgbClr val="0070C0"/>
                </a:solidFill>
              </a:rPr>
              <a:t>th</a:t>
            </a:r>
            <a:r>
              <a:rPr lang="en-GB" sz="2400" dirty="0">
                <a:solidFill>
                  <a:srgbClr val="0070C0"/>
                </a:solidFill>
              </a:rPr>
              <a:t> century:</a:t>
            </a:r>
            <a:r>
              <a:rPr lang="en-GB" sz="2400" i="1" dirty="0">
                <a:solidFill>
                  <a:srgbClr val="0070C0"/>
                </a:solidFill>
              </a:rPr>
              <a:t> the narrator tells us the story that the time traveller told him.</a:t>
            </a:r>
          </a:p>
        </p:txBody>
      </p:sp>
    </p:spTree>
    <p:extLst>
      <p:ext uri="{BB962C8B-B14F-4D97-AF65-F5344CB8AC3E}">
        <p14:creationId xmlns:p14="http://schemas.microsoft.com/office/powerpoint/2010/main" val="29460447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0" end="0"/>
                                            </p:txEl>
                                          </p:spTgt>
                                        </p:tgtEl>
                                        <p:attrNameLst>
                                          <p:attrName>style.visibility</p:attrName>
                                        </p:attrNameLst>
                                      </p:cBhvr>
                                      <p:to>
                                        <p:strVal val="visible"/>
                                      </p:to>
                                    </p:set>
                                    <p:anim calcmode="lin" valueType="num">
                                      <p:cBhvr additive="base">
                                        <p:cTn id="19"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8B9D81-BFC9-3E1A-67DA-708BCDB839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466C3E-AC09-54A3-167C-09206884CC9F}"/>
              </a:ext>
            </a:extLst>
          </p:cNvPr>
          <p:cNvSpPr>
            <a:spLocks noGrp="1"/>
          </p:cNvSpPr>
          <p:nvPr>
            <p:ph type="title"/>
          </p:nvPr>
        </p:nvSpPr>
        <p:spPr/>
        <p:txBody>
          <a:bodyPr/>
          <a:lstStyle/>
          <a:p>
            <a:r>
              <a:rPr lang="en-GB" i="1" dirty="0"/>
              <a:t>The Time Machine</a:t>
            </a:r>
          </a:p>
        </p:txBody>
      </p:sp>
      <p:sp>
        <p:nvSpPr>
          <p:cNvPr id="3" name="Content Placeholder 2">
            <a:extLst>
              <a:ext uri="{FF2B5EF4-FFF2-40B4-BE49-F238E27FC236}">
                <a16:creationId xmlns:a16="http://schemas.microsoft.com/office/drawing/2014/main" id="{CA7DCA6B-9558-1512-22AE-3F6F3A15ACCE}"/>
              </a:ext>
            </a:extLst>
          </p:cNvPr>
          <p:cNvSpPr>
            <a:spLocks noGrp="1"/>
          </p:cNvSpPr>
          <p:nvPr>
            <p:ph idx="1"/>
          </p:nvPr>
        </p:nvSpPr>
        <p:spPr>
          <a:xfrm>
            <a:off x="927652" y="1828799"/>
            <a:ext cx="9373343" cy="4664076"/>
          </a:xfrm>
        </p:spPr>
        <p:txBody>
          <a:bodyPr>
            <a:normAutofit/>
          </a:bodyPr>
          <a:lstStyle/>
          <a:p>
            <a:endParaRPr lang="en-GB" dirty="0"/>
          </a:p>
          <a:p>
            <a:r>
              <a:rPr lang="en-GB" sz="3000" dirty="0"/>
              <a:t>What does the story reveal                                         about H.G. Wells, and his                                          views about people and society?</a:t>
            </a:r>
          </a:p>
          <a:p>
            <a:endParaRPr lang="en-GB" sz="3000" dirty="0"/>
          </a:p>
          <a:p>
            <a:r>
              <a:rPr lang="en-GB" sz="3000" dirty="0"/>
              <a:t>What does it suggest about the fears and debates of his era?</a:t>
            </a:r>
          </a:p>
        </p:txBody>
      </p:sp>
      <p:pic>
        <p:nvPicPr>
          <p:cNvPr id="5" name="Picture 4">
            <a:extLst>
              <a:ext uri="{FF2B5EF4-FFF2-40B4-BE49-F238E27FC236}">
                <a16:creationId xmlns:a16="http://schemas.microsoft.com/office/drawing/2014/main" id="{44406E6C-948A-B7B8-CC23-A754C3ADF7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76404" y="459580"/>
            <a:ext cx="3938587" cy="2738437"/>
          </a:xfrm>
          <a:prstGeom prst="rect">
            <a:avLst/>
          </a:prstGeom>
        </p:spPr>
      </p:pic>
    </p:spTree>
    <p:extLst>
      <p:ext uri="{BB962C8B-B14F-4D97-AF65-F5344CB8AC3E}">
        <p14:creationId xmlns:p14="http://schemas.microsoft.com/office/powerpoint/2010/main" val="3949311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600D95-A5D4-429E-BC12-CA97CC4FD0A4}"/>
              </a:ext>
            </a:extLst>
          </p:cNvPr>
          <p:cNvSpPr>
            <a:spLocks noGrp="1"/>
          </p:cNvSpPr>
          <p:nvPr>
            <p:ph type="title"/>
          </p:nvPr>
        </p:nvSpPr>
        <p:spPr>
          <a:xfrm>
            <a:off x="1262063" y="103868"/>
            <a:ext cx="9691687" cy="1325563"/>
          </a:xfrm>
        </p:spPr>
        <p:txBody>
          <a:bodyPr/>
          <a:lstStyle/>
          <a:p>
            <a:r>
              <a:rPr lang="en-GB" dirty="0"/>
              <a:t>Ray Bradbury</a:t>
            </a:r>
          </a:p>
        </p:txBody>
      </p:sp>
      <p:sp>
        <p:nvSpPr>
          <p:cNvPr id="3" name="Content Placeholder 2">
            <a:extLst>
              <a:ext uri="{FF2B5EF4-FFF2-40B4-BE49-F238E27FC236}">
                <a16:creationId xmlns:a16="http://schemas.microsoft.com/office/drawing/2014/main" id="{86F30351-D564-583C-F861-0D5F6C7B440E}"/>
              </a:ext>
            </a:extLst>
          </p:cNvPr>
          <p:cNvSpPr>
            <a:spLocks noGrp="1"/>
          </p:cNvSpPr>
          <p:nvPr>
            <p:ph idx="1"/>
          </p:nvPr>
        </p:nvSpPr>
        <p:spPr>
          <a:xfrm>
            <a:off x="979715" y="1828800"/>
            <a:ext cx="7692012" cy="4351338"/>
          </a:xfrm>
        </p:spPr>
        <p:txBody>
          <a:bodyPr>
            <a:normAutofit/>
          </a:bodyPr>
          <a:lstStyle/>
          <a:p>
            <a:r>
              <a:rPr lang="en-GB" sz="2400" dirty="0"/>
              <a:t>Lived 1920-2012.</a:t>
            </a:r>
          </a:p>
          <a:p>
            <a:r>
              <a:rPr lang="en-GB" sz="2400" dirty="0"/>
              <a:t>An American writer, born in Illinois, but lived largely in Los Angeles.</a:t>
            </a:r>
          </a:p>
          <a:p>
            <a:r>
              <a:rPr lang="en-GB" sz="2400" dirty="0"/>
              <a:t>He wrote short stories on a range of science-fiction, fantasy, and horror topics, and is most well-known for the novel </a:t>
            </a:r>
            <a:r>
              <a:rPr lang="en-GB" sz="2400" i="1" dirty="0"/>
              <a:t>Fahrenheit 451 </a:t>
            </a:r>
            <a:r>
              <a:rPr lang="en-GB" sz="2400" dirty="0"/>
              <a:t>in 1953.</a:t>
            </a:r>
          </a:p>
          <a:p>
            <a:r>
              <a:rPr lang="en-GB" sz="2400" i="1" dirty="0"/>
              <a:t>There Will Come Soft Rains </a:t>
            </a:r>
            <a:r>
              <a:rPr lang="en-GB" sz="2400" dirty="0"/>
              <a:t>(1950) is a post-apocalyptic short story. It was published in a magazine, and the book of stories, </a:t>
            </a:r>
            <a:r>
              <a:rPr lang="en-GB" sz="2400" i="1" dirty="0"/>
              <a:t>The Martian Chronicles.</a:t>
            </a:r>
            <a:endParaRPr lang="en-GB" sz="2400" dirty="0"/>
          </a:p>
          <a:p>
            <a:endParaRPr lang="en-GB" sz="900" i="1" dirty="0"/>
          </a:p>
          <a:p>
            <a:endParaRPr lang="en-GB" sz="2400" dirty="0"/>
          </a:p>
        </p:txBody>
      </p:sp>
      <p:pic>
        <p:nvPicPr>
          <p:cNvPr id="2050" name="Picture 2" descr="Ray Bradbury - In memoriam">
            <a:extLst>
              <a:ext uri="{FF2B5EF4-FFF2-40B4-BE49-F238E27FC236}">
                <a16:creationId xmlns:a16="http://schemas.microsoft.com/office/drawing/2014/main" id="{8AB028F5-2EF8-01F1-83CB-84788A015B9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966717" y="883281"/>
            <a:ext cx="3031811" cy="37208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0248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7DC46-EF11-3DBD-0477-1763AE808F97}"/>
              </a:ext>
            </a:extLst>
          </p:cNvPr>
          <p:cNvSpPr>
            <a:spLocks noGrp="1"/>
          </p:cNvSpPr>
          <p:nvPr>
            <p:ph type="title"/>
          </p:nvPr>
        </p:nvSpPr>
        <p:spPr>
          <a:xfrm>
            <a:off x="1250156" y="230958"/>
            <a:ext cx="9691687" cy="1325563"/>
          </a:xfrm>
        </p:spPr>
        <p:txBody>
          <a:bodyPr/>
          <a:lstStyle/>
          <a:p>
            <a:r>
              <a:rPr lang="en-GB" dirty="0"/>
              <a:t>Sara Teasdale </a:t>
            </a:r>
            <a:r>
              <a:rPr lang="en-GB" sz="4000" dirty="0"/>
              <a:t>(1884-1933) </a:t>
            </a:r>
            <a:endParaRPr lang="en-GB" dirty="0"/>
          </a:p>
        </p:txBody>
      </p:sp>
      <p:sp>
        <p:nvSpPr>
          <p:cNvPr id="3" name="Content Placeholder 2">
            <a:extLst>
              <a:ext uri="{FF2B5EF4-FFF2-40B4-BE49-F238E27FC236}">
                <a16:creationId xmlns:a16="http://schemas.microsoft.com/office/drawing/2014/main" id="{8F93B412-F12A-BE06-1DA6-349F5B83A092}"/>
              </a:ext>
            </a:extLst>
          </p:cNvPr>
          <p:cNvSpPr>
            <a:spLocks noGrp="1"/>
          </p:cNvSpPr>
          <p:nvPr>
            <p:ph idx="1"/>
          </p:nvPr>
        </p:nvSpPr>
        <p:spPr>
          <a:xfrm>
            <a:off x="942392" y="2085552"/>
            <a:ext cx="7417837" cy="4408553"/>
          </a:xfrm>
        </p:spPr>
        <p:txBody>
          <a:bodyPr>
            <a:normAutofit/>
          </a:bodyPr>
          <a:lstStyle/>
          <a:p>
            <a:r>
              <a:rPr lang="en-GB" sz="2400" dirty="0"/>
              <a:t>The title of Bradbury’s short story is from a poem by Sara Teasdale, written in 1918, during World War I and after the Spanish Flu pandemic began.</a:t>
            </a:r>
          </a:p>
          <a:p>
            <a:endParaRPr lang="en-GB" sz="1600" dirty="0"/>
          </a:p>
          <a:p>
            <a:r>
              <a:rPr lang="en-GB" sz="2400" dirty="0"/>
              <a:t>She lived 1884-1933. She died by suicide.</a:t>
            </a:r>
          </a:p>
          <a:p>
            <a:endParaRPr lang="en-GB" sz="1600" dirty="0"/>
          </a:p>
          <a:p>
            <a:r>
              <a:rPr lang="en-GB" sz="2400" dirty="0"/>
              <a:t>She was an American ‘lyric poet’ – a personal style that often uses a formal metre.</a:t>
            </a:r>
          </a:p>
          <a:p>
            <a:endParaRPr lang="en-GB" sz="500" dirty="0"/>
          </a:p>
        </p:txBody>
      </p:sp>
      <p:pic>
        <p:nvPicPr>
          <p:cNvPr id="2052" name="Picture 4" descr="Sara Teasdale Shows You the &quot;Stars&quot; With Words">
            <a:extLst>
              <a:ext uri="{FF2B5EF4-FFF2-40B4-BE49-F238E27FC236}">
                <a16:creationId xmlns:a16="http://schemas.microsoft.com/office/drawing/2014/main" id="{9246C518-897F-512D-2D34-CE05FF33EDE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28181" y="1523782"/>
            <a:ext cx="2956572" cy="3777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34912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E344F5-E6E9-29D3-11B0-177404F5A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B9D1BD-21CF-D13E-971A-57961ECC2B0B}"/>
              </a:ext>
            </a:extLst>
          </p:cNvPr>
          <p:cNvSpPr>
            <a:spLocks noGrp="1"/>
          </p:cNvSpPr>
          <p:nvPr>
            <p:ph type="title"/>
          </p:nvPr>
        </p:nvSpPr>
        <p:spPr>
          <a:xfrm>
            <a:off x="1250156" y="230958"/>
            <a:ext cx="9691687" cy="1325563"/>
          </a:xfrm>
        </p:spPr>
        <p:txBody>
          <a:bodyPr/>
          <a:lstStyle/>
          <a:p>
            <a:r>
              <a:rPr lang="en-GB" dirty="0"/>
              <a:t>Sara Teasdale </a:t>
            </a:r>
            <a:r>
              <a:rPr lang="en-GB" sz="4000" dirty="0"/>
              <a:t>(1884-1933) </a:t>
            </a:r>
            <a:endParaRPr lang="en-GB" dirty="0"/>
          </a:p>
        </p:txBody>
      </p:sp>
      <p:sp>
        <p:nvSpPr>
          <p:cNvPr id="3" name="Content Placeholder 2">
            <a:extLst>
              <a:ext uri="{FF2B5EF4-FFF2-40B4-BE49-F238E27FC236}">
                <a16:creationId xmlns:a16="http://schemas.microsoft.com/office/drawing/2014/main" id="{0FB15C23-CCBF-1DC4-141F-3CB367F2F5AC}"/>
              </a:ext>
            </a:extLst>
          </p:cNvPr>
          <p:cNvSpPr>
            <a:spLocks noGrp="1"/>
          </p:cNvSpPr>
          <p:nvPr>
            <p:ph idx="1"/>
          </p:nvPr>
        </p:nvSpPr>
        <p:spPr>
          <a:xfrm>
            <a:off x="942392" y="2057560"/>
            <a:ext cx="7417837" cy="4408553"/>
          </a:xfrm>
        </p:spPr>
        <p:txBody>
          <a:bodyPr>
            <a:normAutofit/>
          </a:bodyPr>
          <a:lstStyle/>
          <a:p>
            <a:endParaRPr lang="en-GB" sz="500" dirty="0"/>
          </a:p>
          <a:p>
            <a:r>
              <a:rPr lang="en-GB" sz="2400" dirty="0"/>
              <a:t>What is the poem about?</a:t>
            </a:r>
          </a:p>
          <a:p>
            <a:endParaRPr lang="en-GB" sz="2400" dirty="0"/>
          </a:p>
          <a:p>
            <a:r>
              <a:rPr lang="en-GB" sz="2400" dirty="0"/>
              <a:t>How is it composed – metre, rhyme, techniques?</a:t>
            </a:r>
          </a:p>
          <a:p>
            <a:endParaRPr lang="en-GB" sz="2400" dirty="0"/>
          </a:p>
          <a:p>
            <a:r>
              <a:rPr lang="en-GB" sz="2400" dirty="0"/>
              <a:t>The poem is written in tetrameter, but an irregular one (four feet – usually 4 stresses – but varying syllables), and rhyming couplets.</a:t>
            </a:r>
          </a:p>
        </p:txBody>
      </p:sp>
      <p:pic>
        <p:nvPicPr>
          <p:cNvPr id="2052" name="Picture 4" descr="Sara Teasdale Shows You the &quot;Stars&quot; With Words">
            <a:extLst>
              <a:ext uri="{FF2B5EF4-FFF2-40B4-BE49-F238E27FC236}">
                <a16:creationId xmlns:a16="http://schemas.microsoft.com/office/drawing/2014/main" id="{51D9C493-8139-6F7B-4ED4-86125CEC8C0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528181" y="1523782"/>
            <a:ext cx="2956572" cy="37776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07831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D0E32-4ABD-BFB4-AC46-515194420A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2B5F00-F731-7419-A6B5-2BA21EB0C432}"/>
              </a:ext>
            </a:extLst>
          </p:cNvPr>
          <p:cNvSpPr>
            <a:spLocks noGrp="1"/>
          </p:cNvSpPr>
          <p:nvPr>
            <p:ph type="title"/>
          </p:nvPr>
        </p:nvSpPr>
        <p:spPr>
          <a:xfrm>
            <a:off x="1150096" y="122529"/>
            <a:ext cx="9691687" cy="1325563"/>
          </a:xfrm>
        </p:spPr>
        <p:txBody>
          <a:bodyPr>
            <a:normAutofit/>
          </a:bodyPr>
          <a:lstStyle/>
          <a:p>
            <a:r>
              <a:rPr lang="en-GB" sz="3600" dirty="0"/>
              <a:t>Ray Bradbury – </a:t>
            </a:r>
            <a:r>
              <a:rPr lang="en-GB" sz="3600" i="1" dirty="0"/>
              <a:t>There Will Come Soft Rains</a:t>
            </a:r>
          </a:p>
        </p:txBody>
      </p:sp>
      <p:sp>
        <p:nvSpPr>
          <p:cNvPr id="3" name="Content Placeholder 2">
            <a:extLst>
              <a:ext uri="{FF2B5EF4-FFF2-40B4-BE49-F238E27FC236}">
                <a16:creationId xmlns:a16="http://schemas.microsoft.com/office/drawing/2014/main" id="{0237CDB7-3281-10AE-C557-C427EC0B91E5}"/>
              </a:ext>
            </a:extLst>
          </p:cNvPr>
          <p:cNvSpPr>
            <a:spLocks noGrp="1"/>
          </p:cNvSpPr>
          <p:nvPr>
            <p:ph idx="1"/>
          </p:nvPr>
        </p:nvSpPr>
        <p:spPr>
          <a:xfrm>
            <a:off x="1047459" y="2080726"/>
            <a:ext cx="9262868" cy="4351338"/>
          </a:xfrm>
        </p:spPr>
        <p:txBody>
          <a:bodyPr>
            <a:normAutofit/>
          </a:bodyPr>
          <a:lstStyle/>
          <a:p>
            <a:r>
              <a:rPr lang="en-GB" sz="2600" dirty="0"/>
              <a:t>What happens in the story?</a:t>
            </a:r>
          </a:p>
          <a:p>
            <a:endParaRPr lang="en-GB" sz="2000" dirty="0"/>
          </a:p>
          <a:p>
            <a:r>
              <a:rPr lang="en-GB" sz="2600" dirty="0"/>
              <a:t>What relevance does the poem have to the story?</a:t>
            </a:r>
          </a:p>
          <a:p>
            <a:endParaRPr lang="en-GB" sz="2000" dirty="0"/>
          </a:p>
          <a:p>
            <a:r>
              <a:rPr lang="en-GB" sz="2600" dirty="0"/>
              <a:t>What is Bradbury’s style like? How is his use of English different to H. G. Wells’ style?</a:t>
            </a:r>
          </a:p>
          <a:p>
            <a:endParaRPr lang="en-GB" sz="1100" dirty="0"/>
          </a:p>
          <a:p>
            <a:pPr marL="547687" lvl="2" indent="0">
              <a:buNone/>
            </a:pPr>
            <a:r>
              <a:rPr lang="en-GB" sz="2600" dirty="0"/>
              <a:t>- Find an interesting example to show your classmates.</a:t>
            </a:r>
          </a:p>
          <a:p>
            <a:pPr marL="0" indent="0">
              <a:buNone/>
            </a:pPr>
            <a:endParaRPr lang="en-GB" sz="2500" dirty="0"/>
          </a:p>
        </p:txBody>
      </p:sp>
    </p:spTree>
    <p:extLst>
      <p:ext uri="{BB962C8B-B14F-4D97-AF65-F5344CB8AC3E}">
        <p14:creationId xmlns:p14="http://schemas.microsoft.com/office/powerpoint/2010/main" val="2960666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E548E0-42E0-05B4-0B01-0A7421AA44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086256-4CD8-EE5F-1534-FA9B410703C0}"/>
              </a:ext>
            </a:extLst>
          </p:cNvPr>
          <p:cNvSpPr>
            <a:spLocks noGrp="1"/>
          </p:cNvSpPr>
          <p:nvPr>
            <p:ph type="title"/>
          </p:nvPr>
        </p:nvSpPr>
        <p:spPr>
          <a:xfrm>
            <a:off x="1150096" y="122529"/>
            <a:ext cx="9691687" cy="1325563"/>
          </a:xfrm>
        </p:spPr>
        <p:txBody>
          <a:bodyPr>
            <a:normAutofit/>
          </a:bodyPr>
          <a:lstStyle/>
          <a:p>
            <a:r>
              <a:rPr lang="en-GB" sz="3600" dirty="0"/>
              <a:t>Ray Bradbury – </a:t>
            </a:r>
            <a:r>
              <a:rPr lang="en-GB" sz="3600" i="1" dirty="0"/>
              <a:t>There Will Come Soft Rains</a:t>
            </a:r>
          </a:p>
        </p:txBody>
      </p:sp>
      <p:sp>
        <p:nvSpPr>
          <p:cNvPr id="3" name="Content Placeholder 2">
            <a:extLst>
              <a:ext uri="{FF2B5EF4-FFF2-40B4-BE49-F238E27FC236}">
                <a16:creationId xmlns:a16="http://schemas.microsoft.com/office/drawing/2014/main" id="{4DF577F7-6F6B-3E03-E5D8-FDB260AF7271}"/>
              </a:ext>
            </a:extLst>
          </p:cNvPr>
          <p:cNvSpPr>
            <a:spLocks noGrp="1"/>
          </p:cNvSpPr>
          <p:nvPr>
            <p:ph idx="1"/>
          </p:nvPr>
        </p:nvSpPr>
        <p:spPr>
          <a:xfrm>
            <a:off x="1047459" y="1959428"/>
            <a:ext cx="8594725" cy="4351338"/>
          </a:xfrm>
        </p:spPr>
        <p:txBody>
          <a:bodyPr>
            <a:normAutofit/>
          </a:bodyPr>
          <a:lstStyle/>
          <a:p>
            <a:endParaRPr lang="en-GB" sz="2500" dirty="0"/>
          </a:p>
          <a:p>
            <a:r>
              <a:rPr lang="en-GB" sz="2600" dirty="0"/>
              <a:t>What can we learn about Bradbury’s view of his own era and the future?</a:t>
            </a:r>
          </a:p>
          <a:p>
            <a:endParaRPr lang="en-GB" sz="2600" dirty="0"/>
          </a:p>
          <a:p>
            <a:r>
              <a:rPr lang="en-GB" sz="2600" dirty="0"/>
              <a:t>How accurate are Wells and Bradbury with their science-fiction?</a:t>
            </a:r>
          </a:p>
        </p:txBody>
      </p:sp>
    </p:spTree>
    <p:extLst>
      <p:ext uri="{BB962C8B-B14F-4D97-AF65-F5344CB8AC3E}">
        <p14:creationId xmlns:p14="http://schemas.microsoft.com/office/powerpoint/2010/main" val="16597003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8F7EE-96F6-EB43-E4E0-2291DD4FAE83}"/>
              </a:ext>
            </a:extLst>
          </p:cNvPr>
          <p:cNvSpPr>
            <a:spLocks noGrp="1"/>
          </p:cNvSpPr>
          <p:nvPr>
            <p:ph type="title"/>
          </p:nvPr>
        </p:nvSpPr>
        <p:spPr/>
        <p:txBody>
          <a:bodyPr/>
          <a:lstStyle/>
          <a:p>
            <a:r>
              <a:rPr lang="en-GB" dirty="0"/>
              <a:t>Writing Practice</a:t>
            </a:r>
          </a:p>
        </p:txBody>
      </p:sp>
      <p:sp>
        <p:nvSpPr>
          <p:cNvPr id="3" name="Content Placeholder 2">
            <a:extLst>
              <a:ext uri="{FF2B5EF4-FFF2-40B4-BE49-F238E27FC236}">
                <a16:creationId xmlns:a16="http://schemas.microsoft.com/office/drawing/2014/main" id="{BAEE77E7-8AEF-CB28-7267-09C44900256E}"/>
              </a:ext>
            </a:extLst>
          </p:cNvPr>
          <p:cNvSpPr>
            <a:spLocks noGrp="1"/>
          </p:cNvSpPr>
          <p:nvPr>
            <p:ph idx="1"/>
          </p:nvPr>
        </p:nvSpPr>
        <p:spPr>
          <a:xfrm>
            <a:off x="685801" y="2142067"/>
            <a:ext cx="10697546" cy="3649133"/>
          </a:xfrm>
        </p:spPr>
        <p:txBody>
          <a:bodyPr>
            <a:normAutofit fontScale="92500" lnSpcReduction="10000"/>
          </a:bodyPr>
          <a:lstStyle/>
          <a:p>
            <a:r>
              <a:rPr lang="en-GB" sz="2800" dirty="0"/>
              <a:t>1. Write a couple of academic paragraphs to explain how 19</a:t>
            </a:r>
            <a:r>
              <a:rPr lang="en-GB" sz="2800" baseline="30000" dirty="0"/>
              <a:t>th</a:t>
            </a:r>
            <a:r>
              <a:rPr lang="en-GB" sz="2800" dirty="0"/>
              <a:t> century cultural debates shaped literature.</a:t>
            </a:r>
          </a:p>
          <a:p>
            <a:endParaRPr lang="en-GB" sz="2800" dirty="0"/>
          </a:p>
          <a:p>
            <a:r>
              <a:rPr lang="en-GB" sz="2800" dirty="0"/>
              <a:t>2. Analyse a recent literary/film science-fiction story in terms of current cultural concerns.</a:t>
            </a:r>
          </a:p>
          <a:p>
            <a:endParaRPr lang="en-GB" sz="2800" dirty="0"/>
          </a:p>
          <a:p>
            <a:r>
              <a:rPr lang="en-GB" sz="2800" dirty="0"/>
              <a:t>3. Write a short story about the future, which reflects the fears of present culture. (You could include a framing device.)</a:t>
            </a:r>
          </a:p>
        </p:txBody>
      </p:sp>
    </p:spTree>
    <p:extLst>
      <p:ext uri="{BB962C8B-B14F-4D97-AF65-F5344CB8AC3E}">
        <p14:creationId xmlns:p14="http://schemas.microsoft.com/office/powerpoint/2010/main" val="3828500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1AA50-3195-46AD-BC20-00AD786F9B2B}"/>
              </a:ext>
            </a:extLst>
          </p:cNvPr>
          <p:cNvSpPr>
            <a:spLocks noGrp="1"/>
          </p:cNvSpPr>
          <p:nvPr>
            <p:ph type="title"/>
          </p:nvPr>
        </p:nvSpPr>
        <p:spPr/>
        <p:txBody>
          <a:bodyPr/>
          <a:lstStyle/>
          <a:p>
            <a:r>
              <a:rPr lang="en-GB" dirty="0"/>
              <a:t>Homework reading</a:t>
            </a:r>
          </a:p>
        </p:txBody>
      </p:sp>
      <p:sp>
        <p:nvSpPr>
          <p:cNvPr id="3" name="Content Placeholder 2">
            <a:extLst>
              <a:ext uri="{FF2B5EF4-FFF2-40B4-BE49-F238E27FC236}">
                <a16:creationId xmlns:a16="http://schemas.microsoft.com/office/drawing/2014/main" id="{21AEE51A-335B-45E4-A0FE-D5674BDE2E44}"/>
              </a:ext>
            </a:extLst>
          </p:cNvPr>
          <p:cNvSpPr>
            <a:spLocks noGrp="1"/>
          </p:cNvSpPr>
          <p:nvPr>
            <p:ph idx="1"/>
          </p:nvPr>
        </p:nvSpPr>
        <p:spPr/>
        <p:txBody>
          <a:bodyPr>
            <a:normAutofit fontScale="92500" lnSpcReduction="20000"/>
          </a:bodyPr>
          <a:lstStyle/>
          <a:p>
            <a:endParaRPr lang="en-GB" sz="2800" dirty="0"/>
          </a:p>
          <a:p>
            <a:r>
              <a:rPr lang="en-GB" sz="2800" dirty="0"/>
              <a:t>Read the short excerpts of modernist texts:</a:t>
            </a:r>
          </a:p>
          <a:p>
            <a:endParaRPr lang="en-GB" sz="1600" dirty="0"/>
          </a:p>
          <a:p>
            <a:r>
              <a:rPr lang="en-US" sz="2800" dirty="0"/>
              <a:t>Virginia Wolfe’s, </a:t>
            </a:r>
            <a:r>
              <a:rPr lang="en-US" sz="2800" i="1" dirty="0"/>
              <a:t>To the Lighthouse</a:t>
            </a:r>
          </a:p>
          <a:p>
            <a:r>
              <a:rPr lang="en-US" sz="2800" dirty="0"/>
              <a:t>Scott, F. Fitzgerald’s, </a:t>
            </a:r>
            <a:r>
              <a:rPr lang="en-US" sz="2800" i="1" dirty="0"/>
              <a:t>The Great Gatsby</a:t>
            </a:r>
          </a:p>
          <a:p>
            <a:r>
              <a:rPr lang="en-GB" sz="2800" dirty="0"/>
              <a:t>James Joyce’s </a:t>
            </a:r>
            <a:r>
              <a:rPr lang="en-GB" sz="2800" i="1" dirty="0"/>
              <a:t>Dubliners</a:t>
            </a:r>
          </a:p>
          <a:p>
            <a:pPr marL="0" indent="0">
              <a:buNone/>
            </a:pPr>
            <a:endParaRPr lang="en-GB" sz="2800" i="1" dirty="0"/>
          </a:p>
          <a:p>
            <a:pPr marL="0" indent="0">
              <a:buNone/>
            </a:pPr>
            <a:r>
              <a:rPr lang="en-GB" sz="2800" dirty="0"/>
              <a:t>Consider the style of English and the presentation of characters and reality.</a:t>
            </a:r>
            <a:endParaRPr lang="en-US" sz="2800" dirty="0"/>
          </a:p>
        </p:txBody>
      </p:sp>
    </p:spTree>
    <p:extLst>
      <p:ext uri="{BB962C8B-B14F-4D97-AF65-F5344CB8AC3E}">
        <p14:creationId xmlns:p14="http://schemas.microsoft.com/office/powerpoint/2010/main" val="3690343984"/>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Override1.xml><?xml version="1.0" encoding="utf-8"?>
<a:themeOverride xmlns:a="http://schemas.openxmlformats.org/drawingml/2006/main">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themeOverride>
</file>

<file path=docProps/app.xml><?xml version="1.0" encoding="utf-8"?>
<Properties xmlns="http://schemas.openxmlformats.org/officeDocument/2006/extended-properties" xmlns:vt="http://schemas.openxmlformats.org/officeDocument/2006/docPropsVTypes">
  <Template/>
  <TotalTime>1227</TotalTime>
  <Words>908</Words>
  <Application>Microsoft Office PowerPoint</Application>
  <PresentationFormat>Widescreen</PresentationFormat>
  <Paragraphs>85</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Century Schoolbook</vt:lpstr>
      <vt:lpstr>Wingdings 2</vt:lpstr>
      <vt:lpstr>View</vt:lpstr>
      <vt:lpstr>Late Nineteenth Century – Twentieth Century  Science Fiction</vt:lpstr>
      <vt:lpstr>H.G. Wells</vt:lpstr>
      <vt:lpstr>H.G. Wells</vt:lpstr>
      <vt:lpstr>The Fin de Siècle and Degeneration</vt:lpstr>
      <vt:lpstr>The Fin de Siècle and Degeneration</vt:lpstr>
      <vt:lpstr>The Fin de Siècle and Degeneration</vt:lpstr>
      <vt:lpstr>The Time Machine</vt:lpstr>
      <vt:lpstr>The Time Machine</vt:lpstr>
      <vt:lpstr>Ray Bradbury</vt:lpstr>
      <vt:lpstr>Sara Teasdale (1884-1933) </vt:lpstr>
      <vt:lpstr>Sara Teasdale (1884-1933) </vt:lpstr>
      <vt:lpstr>Ray Bradbury – There Will Come Soft Rains</vt:lpstr>
      <vt:lpstr>Ray Bradbury – There Will Come Soft Rains</vt:lpstr>
      <vt:lpstr>Writing Practice</vt:lpstr>
      <vt:lpstr>Homework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Dom Graham</dc:creator>
  <cp:lastModifiedBy>Dominic Graham</cp:lastModifiedBy>
  <cp:revision>55</cp:revision>
  <dcterms:created xsi:type="dcterms:W3CDTF">2016-11-04T11:23:45Z</dcterms:created>
  <dcterms:modified xsi:type="dcterms:W3CDTF">2025-11-16T13:26:46Z</dcterms:modified>
</cp:coreProperties>
</file>