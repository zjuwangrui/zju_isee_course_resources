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6"/>
  </p:notesMasterIdLst>
  <p:sldIdLst>
    <p:sldId id="256" r:id="rId2"/>
    <p:sldId id="414" r:id="rId3"/>
    <p:sldId id="391" r:id="rId4"/>
    <p:sldId id="384" r:id="rId5"/>
    <p:sldId id="362" r:id="rId6"/>
    <p:sldId id="325" r:id="rId7"/>
    <p:sldId id="389" r:id="rId8"/>
    <p:sldId id="392" r:id="rId9"/>
    <p:sldId id="388" r:id="rId10"/>
    <p:sldId id="424" r:id="rId11"/>
    <p:sldId id="373" r:id="rId12"/>
    <p:sldId id="422" r:id="rId13"/>
    <p:sldId id="421" r:id="rId14"/>
    <p:sldId id="415" r:id="rId15"/>
    <p:sldId id="417" r:id="rId16"/>
    <p:sldId id="416" r:id="rId17"/>
    <p:sldId id="425" r:id="rId18"/>
    <p:sldId id="429" r:id="rId19"/>
    <p:sldId id="397" r:id="rId20"/>
    <p:sldId id="398" r:id="rId21"/>
    <p:sldId id="402" r:id="rId22"/>
    <p:sldId id="406" r:id="rId23"/>
    <p:sldId id="407" r:id="rId24"/>
    <p:sldId id="405" r:id="rId25"/>
    <p:sldId id="400" r:id="rId26"/>
    <p:sldId id="401" r:id="rId27"/>
    <p:sldId id="404" r:id="rId28"/>
    <p:sldId id="410" r:id="rId29"/>
    <p:sldId id="426" r:id="rId30"/>
    <p:sldId id="411" r:id="rId31"/>
    <p:sldId id="427" r:id="rId32"/>
    <p:sldId id="428" r:id="rId33"/>
    <p:sldId id="413" r:id="rId34"/>
    <p:sldId id="34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minic Graham" userId="80d46ba77b7de579" providerId="LiveId" clId="{1AE7EF3E-765B-4830-9F41-D7DA456DBC61}"/>
    <pc:docChg chg="custSel addSld modSld">
      <pc:chgData name="Dominic Graham" userId="80d46ba77b7de579" providerId="LiveId" clId="{1AE7EF3E-765B-4830-9F41-D7DA456DBC61}" dt="2025-11-09T02:15:33.357" v="326" actId="20577"/>
      <pc:docMkLst>
        <pc:docMk/>
      </pc:docMkLst>
      <pc:sldChg chg="modSp mod">
        <pc:chgData name="Dominic Graham" userId="80d46ba77b7de579" providerId="LiveId" clId="{1AE7EF3E-765B-4830-9F41-D7DA456DBC61}" dt="2025-11-09T02:07:40.379" v="27" actId="20577"/>
        <pc:sldMkLst>
          <pc:docMk/>
          <pc:sldMk cId="459545488" sldId="391"/>
        </pc:sldMkLst>
        <pc:spChg chg="mod">
          <ac:chgData name="Dominic Graham" userId="80d46ba77b7de579" providerId="LiveId" clId="{1AE7EF3E-765B-4830-9F41-D7DA456DBC61}" dt="2025-11-09T02:07:40.379" v="27" actId="20577"/>
          <ac:spMkLst>
            <pc:docMk/>
            <pc:sldMk cId="459545488" sldId="391"/>
            <ac:spMk id="3" creationId="{A1AB1BB2-9FD4-1522-730A-969D15847561}"/>
          </ac:spMkLst>
        </pc:spChg>
      </pc:sldChg>
      <pc:sldChg chg="modTransition">
        <pc:chgData name="Dominic Graham" userId="80d46ba77b7de579" providerId="LiveId" clId="{1AE7EF3E-765B-4830-9F41-D7DA456DBC61}" dt="2025-11-09T02:15:08.401" v="312"/>
        <pc:sldMkLst>
          <pc:docMk/>
          <pc:sldMk cId="1316668205" sldId="397"/>
        </pc:sldMkLst>
      </pc:sldChg>
      <pc:sldChg chg="modSp new mod modTransition modAnim">
        <pc:chgData name="Dominic Graham" userId="80d46ba77b7de579" providerId="LiveId" clId="{1AE7EF3E-765B-4830-9F41-D7DA456DBC61}" dt="2025-11-09T02:15:33.357" v="326" actId="20577"/>
        <pc:sldMkLst>
          <pc:docMk/>
          <pc:sldMk cId="3206655930" sldId="429"/>
        </pc:sldMkLst>
        <pc:spChg chg="mod">
          <ac:chgData name="Dominic Graham" userId="80d46ba77b7de579" providerId="LiveId" clId="{1AE7EF3E-765B-4830-9F41-D7DA456DBC61}" dt="2025-11-09T02:11:45.070" v="52" actId="20577"/>
          <ac:spMkLst>
            <pc:docMk/>
            <pc:sldMk cId="3206655930" sldId="429"/>
            <ac:spMk id="2" creationId="{784DCBF5-078E-529E-4303-DE5A6CFF7493}"/>
          </ac:spMkLst>
        </pc:spChg>
        <pc:spChg chg="mod">
          <ac:chgData name="Dominic Graham" userId="80d46ba77b7de579" providerId="LiveId" clId="{1AE7EF3E-765B-4830-9F41-D7DA456DBC61}" dt="2025-11-09T02:15:33.357" v="326" actId="20577"/>
          <ac:spMkLst>
            <pc:docMk/>
            <pc:sldMk cId="3206655930" sldId="429"/>
            <ac:spMk id="3" creationId="{A436B0C6-83E0-87D0-5B4B-7737A9AE817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43354C-F865-498E-9F91-09CE3B91B154}" type="datetimeFigureOut">
              <a:rPr lang="en-GB" smtClean="0"/>
              <a:t>09/11/2025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BD0979-CBD0-4E6C-BA01-8072EAD78619}" type="slidenum">
              <a:rPr lang="en-GB" smtClean="0"/>
              <a:t>‹#›</a:t>
            </a:fld>
            <a:endParaRPr lang="en-GB"/>
          </a:p>
        </p:txBody>
      </p:sp>
    </p:spTree>
    <p:extLst>
      <p:ext uri="{BB962C8B-B14F-4D97-AF65-F5344CB8AC3E}">
        <p14:creationId xmlns:p14="http://schemas.microsoft.com/office/powerpoint/2010/main" val="315752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a:extLst>
              <a:ext uri="{FF2B5EF4-FFF2-40B4-BE49-F238E27FC236}">
                <a16:creationId xmlns:a16="http://schemas.microsoft.com/office/drawing/2014/main" id="{6AC3A354-E8DE-4E4D-99AB-E6EE54509059}"/>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8" name="Notes Placeholder 2">
            <a:extLst>
              <a:ext uri="{FF2B5EF4-FFF2-40B4-BE49-F238E27FC236}">
                <a16:creationId xmlns:a16="http://schemas.microsoft.com/office/drawing/2014/main" id="{DB189D1D-C7BC-494B-9B2A-AF350BFBE8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Maryland was named after Queen Henrietta Maria, the wife of King Charles I</a:t>
            </a:r>
          </a:p>
          <a:p>
            <a:pPr eaLnBrk="1" hangingPunct="1"/>
            <a:r>
              <a:rPr lang="en-US" altLang="en-US">
                <a:ea typeface="ＭＳ Ｐゴシック" panose="020B0600070205080204" pitchFamily="34" charset="-128"/>
              </a:rPr>
              <a:t>Virginia was named after Queen Elizabeth I, ‘The Virgin Queen’</a:t>
            </a:r>
          </a:p>
          <a:p>
            <a:pPr eaLnBrk="1" hangingPunct="1"/>
            <a:r>
              <a:rPr lang="en-US" altLang="en-US">
                <a:ea typeface="ＭＳ Ｐゴシック" panose="020B0600070205080204" pitchFamily="34" charset="-128"/>
              </a:rPr>
              <a:t>North and South Carolina was named by King Charles II in honour of his father King Charles I</a:t>
            </a:r>
          </a:p>
          <a:p>
            <a:pPr eaLnBrk="1" hangingPunct="1"/>
            <a:r>
              <a:rPr lang="en-US" altLang="en-US">
                <a:ea typeface="ＭＳ Ｐゴシック" panose="020B0600070205080204" pitchFamily="34" charset="-128"/>
              </a:rPr>
              <a:t>Georgia was named after King George II</a:t>
            </a:r>
          </a:p>
        </p:txBody>
      </p:sp>
      <p:sp>
        <p:nvSpPr>
          <p:cNvPr id="19459" name="Slide Number Placeholder 3">
            <a:extLst>
              <a:ext uri="{FF2B5EF4-FFF2-40B4-BE49-F238E27FC236}">
                <a16:creationId xmlns:a16="http://schemas.microsoft.com/office/drawing/2014/main" id="{4D2D9892-5E6F-4995-A526-CE2B9447CFA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5CB433D1-7857-44DA-82EA-5846BC447E5B}"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38543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a:extLst>
              <a:ext uri="{FF2B5EF4-FFF2-40B4-BE49-F238E27FC236}">
                <a16:creationId xmlns:a16="http://schemas.microsoft.com/office/drawing/2014/main" id="{238E70D2-3683-41C3-9D9A-7736779C6C72}"/>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6" name="Notes Placeholder 2">
            <a:extLst>
              <a:ext uri="{FF2B5EF4-FFF2-40B4-BE49-F238E27FC236}">
                <a16:creationId xmlns:a16="http://schemas.microsoft.com/office/drawing/2014/main" id="{9423B352-5BC2-402C-B661-5D83B13991A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ea typeface="ＭＳ Ｐゴシック" panose="020B0600070205080204" pitchFamily="34" charset="-128"/>
            </a:endParaRPr>
          </a:p>
        </p:txBody>
      </p:sp>
      <p:sp>
        <p:nvSpPr>
          <p:cNvPr id="21507" name="Slide Number Placeholder 3">
            <a:extLst>
              <a:ext uri="{FF2B5EF4-FFF2-40B4-BE49-F238E27FC236}">
                <a16:creationId xmlns:a16="http://schemas.microsoft.com/office/drawing/2014/main" id="{F72F0CD4-7456-4F3B-987B-9408CE84E2E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789B553E-2A46-4FF2-9763-4C7FCE111E8F}"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483408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30FBB-CE4E-64A1-3605-33B637FF10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725DA77-FE2A-2D0E-4EF0-287DA6501A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B53C3D5-8AC1-C7A5-A356-CDBA47D45E48}"/>
              </a:ext>
            </a:extLst>
          </p:cNvPr>
          <p:cNvSpPr>
            <a:spLocks noGrp="1"/>
          </p:cNvSpPr>
          <p:nvPr>
            <p:ph type="dt" sz="half" idx="10"/>
          </p:nvPr>
        </p:nvSpPr>
        <p:spPr/>
        <p:txBody>
          <a:bodyPr/>
          <a:lstStyle/>
          <a:p>
            <a:fld id="{C1B60E61-E8C1-426E-801F-BE52F56507AE}" type="datetimeFigureOut">
              <a:rPr lang="en-GB" smtClean="0"/>
              <a:t>09/11/2025</a:t>
            </a:fld>
            <a:endParaRPr lang="en-GB"/>
          </a:p>
        </p:txBody>
      </p:sp>
      <p:sp>
        <p:nvSpPr>
          <p:cNvPr id="5" name="Footer Placeholder 4">
            <a:extLst>
              <a:ext uri="{FF2B5EF4-FFF2-40B4-BE49-F238E27FC236}">
                <a16:creationId xmlns:a16="http://schemas.microsoft.com/office/drawing/2014/main" id="{B7DFA469-4DA7-4846-FB69-6E840697E96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427198-3F8A-AA98-41B7-BA5383F927AE}"/>
              </a:ext>
            </a:extLst>
          </p:cNvPr>
          <p:cNvSpPr>
            <a:spLocks noGrp="1"/>
          </p:cNvSpPr>
          <p:nvPr>
            <p:ph type="sldNum" sz="quarter" idx="12"/>
          </p:nvPr>
        </p:nvSpPr>
        <p:spPr/>
        <p:txBody>
          <a:bodyPr/>
          <a:lstStyle/>
          <a:p>
            <a:fld id="{6DE2C4E6-1F6F-4688-BCA3-E10FCD15E431}" type="slidenum">
              <a:rPr lang="en-GB" smtClean="0"/>
              <a:t>‹#›</a:t>
            </a:fld>
            <a:endParaRPr lang="en-GB"/>
          </a:p>
        </p:txBody>
      </p:sp>
    </p:spTree>
    <p:extLst>
      <p:ext uri="{BB962C8B-B14F-4D97-AF65-F5344CB8AC3E}">
        <p14:creationId xmlns:p14="http://schemas.microsoft.com/office/powerpoint/2010/main" val="3573353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951F4-2A53-C3CC-CE2D-D06ED988164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8DBD661-7414-008F-90DC-0B46181BFE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23B7526-44E0-9FE3-A6C9-0B9CE79C885B}"/>
              </a:ext>
            </a:extLst>
          </p:cNvPr>
          <p:cNvSpPr>
            <a:spLocks noGrp="1"/>
          </p:cNvSpPr>
          <p:nvPr>
            <p:ph type="dt" sz="half" idx="10"/>
          </p:nvPr>
        </p:nvSpPr>
        <p:spPr/>
        <p:txBody>
          <a:bodyPr/>
          <a:lstStyle/>
          <a:p>
            <a:fld id="{C1B60E61-E8C1-426E-801F-BE52F56507AE}" type="datetimeFigureOut">
              <a:rPr lang="en-GB" smtClean="0"/>
              <a:t>09/11/2025</a:t>
            </a:fld>
            <a:endParaRPr lang="en-GB"/>
          </a:p>
        </p:txBody>
      </p:sp>
      <p:sp>
        <p:nvSpPr>
          <p:cNvPr id="5" name="Footer Placeholder 4">
            <a:extLst>
              <a:ext uri="{FF2B5EF4-FFF2-40B4-BE49-F238E27FC236}">
                <a16:creationId xmlns:a16="http://schemas.microsoft.com/office/drawing/2014/main" id="{F2652DB4-DFB8-DF49-67ED-8EB8A426C5F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EF94A53-199C-7C14-133F-55454D400B34}"/>
              </a:ext>
            </a:extLst>
          </p:cNvPr>
          <p:cNvSpPr>
            <a:spLocks noGrp="1"/>
          </p:cNvSpPr>
          <p:nvPr>
            <p:ph type="sldNum" sz="quarter" idx="12"/>
          </p:nvPr>
        </p:nvSpPr>
        <p:spPr/>
        <p:txBody>
          <a:bodyPr/>
          <a:lstStyle/>
          <a:p>
            <a:fld id="{6DE2C4E6-1F6F-4688-BCA3-E10FCD15E431}" type="slidenum">
              <a:rPr lang="en-GB" smtClean="0"/>
              <a:t>‹#›</a:t>
            </a:fld>
            <a:endParaRPr lang="en-GB"/>
          </a:p>
        </p:txBody>
      </p:sp>
    </p:spTree>
    <p:extLst>
      <p:ext uri="{BB962C8B-B14F-4D97-AF65-F5344CB8AC3E}">
        <p14:creationId xmlns:p14="http://schemas.microsoft.com/office/powerpoint/2010/main" val="329752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769BA-AB59-F9C9-28E0-FE85DCBF47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E6F9F82-018C-5755-651B-EB4D365E39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3CBA85-354D-00C6-A85C-5A64262B661C}"/>
              </a:ext>
            </a:extLst>
          </p:cNvPr>
          <p:cNvSpPr>
            <a:spLocks noGrp="1"/>
          </p:cNvSpPr>
          <p:nvPr>
            <p:ph type="dt" sz="half" idx="10"/>
          </p:nvPr>
        </p:nvSpPr>
        <p:spPr/>
        <p:txBody>
          <a:bodyPr/>
          <a:lstStyle/>
          <a:p>
            <a:fld id="{C1B60E61-E8C1-426E-801F-BE52F56507AE}" type="datetimeFigureOut">
              <a:rPr lang="en-GB" smtClean="0"/>
              <a:t>09/11/2025</a:t>
            </a:fld>
            <a:endParaRPr lang="en-GB"/>
          </a:p>
        </p:txBody>
      </p:sp>
      <p:sp>
        <p:nvSpPr>
          <p:cNvPr id="5" name="Footer Placeholder 4">
            <a:extLst>
              <a:ext uri="{FF2B5EF4-FFF2-40B4-BE49-F238E27FC236}">
                <a16:creationId xmlns:a16="http://schemas.microsoft.com/office/drawing/2014/main" id="{456180D9-6DA0-F977-A6A6-979AB6AAB9D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13E6A0B-3CB5-0925-9638-1E3CD4AAE6B8}"/>
              </a:ext>
            </a:extLst>
          </p:cNvPr>
          <p:cNvSpPr>
            <a:spLocks noGrp="1"/>
          </p:cNvSpPr>
          <p:nvPr>
            <p:ph type="sldNum" sz="quarter" idx="12"/>
          </p:nvPr>
        </p:nvSpPr>
        <p:spPr/>
        <p:txBody>
          <a:bodyPr/>
          <a:lstStyle/>
          <a:p>
            <a:fld id="{6DE2C4E6-1F6F-4688-BCA3-E10FCD15E431}" type="slidenum">
              <a:rPr lang="en-GB" smtClean="0"/>
              <a:t>‹#›</a:t>
            </a:fld>
            <a:endParaRPr lang="en-GB"/>
          </a:p>
        </p:txBody>
      </p:sp>
    </p:spTree>
    <p:extLst>
      <p:ext uri="{BB962C8B-B14F-4D97-AF65-F5344CB8AC3E}">
        <p14:creationId xmlns:p14="http://schemas.microsoft.com/office/powerpoint/2010/main" val="2121708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471A9-B638-586F-A546-E032CDDEFB4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1663594-8CA2-F290-81CA-BE3D5210A2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B4D6D2B-DD2B-71F3-4590-0D2C0DC59A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77263E0-777B-E29D-0BCE-4E91EB017CAB}"/>
              </a:ext>
            </a:extLst>
          </p:cNvPr>
          <p:cNvSpPr>
            <a:spLocks noGrp="1"/>
          </p:cNvSpPr>
          <p:nvPr>
            <p:ph type="dt" sz="half" idx="10"/>
          </p:nvPr>
        </p:nvSpPr>
        <p:spPr/>
        <p:txBody>
          <a:bodyPr/>
          <a:lstStyle/>
          <a:p>
            <a:fld id="{C1B60E61-E8C1-426E-801F-BE52F56507AE}" type="datetimeFigureOut">
              <a:rPr lang="en-GB" smtClean="0"/>
              <a:t>09/11/2025</a:t>
            </a:fld>
            <a:endParaRPr lang="en-GB"/>
          </a:p>
        </p:txBody>
      </p:sp>
      <p:sp>
        <p:nvSpPr>
          <p:cNvPr id="6" name="Footer Placeholder 5">
            <a:extLst>
              <a:ext uri="{FF2B5EF4-FFF2-40B4-BE49-F238E27FC236}">
                <a16:creationId xmlns:a16="http://schemas.microsoft.com/office/drawing/2014/main" id="{434C2CA0-A895-D7DE-1AC5-32093731EAE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16DF28E-999C-DF72-658A-0FF3D2807494}"/>
              </a:ext>
            </a:extLst>
          </p:cNvPr>
          <p:cNvSpPr>
            <a:spLocks noGrp="1"/>
          </p:cNvSpPr>
          <p:nvPr>
            <p:ph type="sldNum" sz="quarter" idx="12"/>
          </p:nvPr>
        </p:nvSpPr>
        <p:spPr/>
        <p:txBody>
          <a:bodyPr/>
          <a:lstStyle/>
          <a:p>
            <a:fld id="{6DE2C4E6-1F6F-4688-BCA3-E10FCD15E431}" type="slidenum">
              <a:rPr lang="en-GB" smtClean="0"/>
              <a:t>‹#›</a:t>
            </a:fld>
            <a:endParaRPr lang="en-GB"/>
          </a:p>
        </p:txBody>
      </p:sp>
    </p:spTree>
    <p:extLst>
      <p:ext uri="{BB962C8B-B14F-4D97-AF65-F5344CB8AC3E}">
        <p14:creationId xmlns:p14="http://schemas.microsoft.com/office/powerpoint/2010/main" val="142400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10823-E15A-28BB-9582-BD9E22408AB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4935931-4903-63C3-C4F6-6F27ADF1EA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193882-98BE-B13B-12A8-751C794F9C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CF182A6-E70D-1E54-6C8D-4EF14A72EA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931029-A2F6-3F08-4803-F3708A372E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E8EC2A-42E0-3630-154A-E63ADA31C929}"/>
              </a:ext>
            </a:extLst>
          </p:cNvPr>
          <p:cNvSpPr>
            <a:spLocks noGrp="1"/>
          </p:cNvSpPr>
          <p:nvPr>
            <p:ph type="dt" sz="half" idx="10"/>
          </p:nvPr>
        </p:nvSpPr>
        <p:spPr/>
        <p:txBody>
          <a:bodyPr/>
          <a:lstStyle/>
          <a:p>
            <a:fld id="{C1B60E61-E8C1-426E-801F-BE52F56507AE}" type="datetimeFigureOut">
              <a:rPr lang="en-GB" smtClean="0"/>
              <a:t>09/11/2025</a:t>
            </a:fld>
            <a:endParaRPr lang="en-GB"/>
          </a:p>
        </p:txBody>
      </p:sp>
      <p:sp>
        <p:nvSpPr>
          <p:cNvPr id="8" name="Footer Placeholder 7">
            <a:extLst>
              <a:ext uri="{FF2B5EF4-FFF2-40B4-BE49-F238E27FC236}">
                <a16:creationId xmlns:a16="http://schemas.microsoft.com/office/drawing/2014/main" id="{E92FFE95-F846-5242-0E20-2E6518CD3CE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57FD4B6-983D-A6E3-4797-0ADE452CE412}"/>
              </a:ext>
            </a:extLst>
          </p:cNvPr>
          <p:cNvSpPr>
            <a:spLocks noGrp="1"/>
          </p:cNvSpPr>
          <p:nvPr>
            <p:ph type="sldNum" sz="quarter" idx="12"/>
          </p:nvPr>
        </p:nvSpPr>
        <p:spPr/>
        <p:txBody>
          <a:bodyPr/>
          <a:lstStyle/>
          <a:p>
            <a:fld id="{6DE2C4E6-1F6F-4688-BCA3-E10FCD15E431}" type="slidenum">
              <a:rPr lang="en-GB" smtClean="0"/>
              <a:t>‹#›</a:t>
            </a:fld>
            <a:endParaRPr lang="en-GB"/>
          </a:p>
        </p:txBody>
      </p:sp>
    </p:spTree>
    <p:extLst>
      <p:ext uri="{BB962C8B-B14F-4D97-AF65-F5344CB8AC3E}">
        <p14:creationId xmlns:p14="http://schemas.microsoft.com/office/powerpoint/2010/main" val="1671192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D889C-0D90-D528-2523-14CED86D275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652FA04-BB95-7A3B-6A91-19F330B65BDD}"/>
              </a:ext>
            </a:extLst>
          </p:cNvPr>
          <p:cNvSpPr>
            <a:spLocks noGrp="1"/>
          </p:cNvSpPr>
          <p:nvPr>
            <p:ph type="dt" sz="half" idx="10"/>
          </p:nvPr>
        </p:nvSpPr>
        <p:spPr/>
        <p:txBody>
          <a:bodyPr/>
          <a:lstStyle/>
          <a:p>
            <a:fld id="{C1B60E61-E8C1-426E-801F-BE52F56507AE}" type="datetimeFigureOut">
              <a:rPr lang="en-GB" smtClean="0"/>
              <a:t>09/11/2025</a:t>
            </a:fld>
            <a:endParaRPr lang="en-GB"/>
          </a:p>
        </p:txBody>
      </p:sp>
      <p:sp>
        <p:nvSpPr>
          <p:cNvPr id="4" name="Footer Placeholder 3">
            <a:extLst>
              <a:ext uri="{FF2B5EF4-FFF2-40B4-BE49-F238E27FC236}">
                <a16:creationId xmlns:a16="http://schemas.microsoft.com/office/drawing/2014/main" id="{F0104217-70B0-3F8A-1A66-E1D914BC365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3549CE8-71CB-BCFF-9E59-8E4FF8D712C4}"/>
              </a:ext>
            </a:extLst>
          </p:cNvPr>
          <p:cNvSpPr>
            <a:spLocks noGrp="1"/>
          </p:cNvSpPr>
          <p:nvPr>
            <p:ph type="sldNum" sz="quarter" idx="12"/>
          </p:nvPr>
        </p:nvSpPr>
        <p:spPr/>
        <p:txBody>
          <a:bodyPr/>
          <a:lstStyle/>
          <a:p>
            <a:fld id="{6DE2C4E6-1F6F-4688-BCA3-E10FCD15E431}" type="slidenum">
              <a:rPr lang="en-GB" smtClean="0"/>
              <a:t>‹#›</a:t>
            </a:fld>
            <a:endParaRPr lang="en-GB"/>
          </a:p>
        </p:txBody>
      </p:sp>
    </p:spTree>
    <p:extLst>
      <p:ext uri="{BB962C8B-B14F-4D97-AF65-F5344CB8AC3E}">
        <p14:creationId xmlns:p14="http://schemas.microsoft.com/office/powerpoint/2010/main" val="779524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FB83E5-BEA5-A486-9EA3-2681D413EEEE}"/>
              </a:ext>
            </a:extLst>
          </p:cNvPr>
          <p:cNvSpPr>
            <a:spLocks noGrp="1"/>
          </p:cNvSpPr>
          <p:nvPr>
            <p:ph type="dt" sz="half" idx="10"/>
          </p:nvPr>
        </p:nvSpPr>
        <p:spPr/>
        <p:txBody>
          <a:bodyPr/>
          <a:lstStyle/>
          <a:p>
            <a:fld id="{C1B60E61-E8C1-426E-801F-BE52F56507AE}" type="datetimeFigureOut">
              <a:rPr lang="en-GB" smtClean="0"/>
              <a:t>09/11/2025</a:t>
            </a:fld>
            <a:endParaRPr lang="en-GB"/>
          </a:p>
        </p:txBody>
      </p:sp>
      <p:sp>
        <p:nvSpPr>
          <p:cNvPr id="3" name="Footer Placeholder 2">
            <a:extLst>
              <a:ext uri="{FF2B5EF4-FFF2-40B4-BE49-F238E27FC236}">
                <a16:creationId xmlns:a16="http://schemas.microsoft.com/office/drawing/2014/main" id="{438143F3-6597-9C78-2204-A7907C10D53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C586DF5-7223-CEE0-54B1-477E18A73A94}"/>
              </a:ext>
            </a:extLst>
          </p:cNvPr>
          <p:cNvSpPr>
            <a:spLocks noGrp="1"/>
          </p:cNvSpPr>
          <p:nvPr>
            <p:ph type="sldNum" sz="quarter" idx="12"/>
          </p:nvPr>
        </p:nvSpPr>
        <p:spPr/>
        <p:txBody>
          <a:bodyPr/>
          <a:lstStyle/>
          <a:p>
            <a:fld id="{6DE2C4E6-1F6F-4688-BCA3-E10FCD15E431}" type="slidenum">
              <a:rPr lang="en-GB" smtClean="0"/>
              <a:t>‹#›</a:t>
            </a:fld>
            <a:endParaRPr lang="en-GB"/>
          </a:p>
        </p:txBody>
      </p:sp>
    </p:spTree>
    <p:extLst>
      <p:ext uri="{BB962C8B-B14F-4D97-AF65-F5344CB8AC3E}">
        <p14:creationId xmlns:p14="http://schemas.microsoft.com/office/powerpoint/2010/main" val="1052452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1F644-1C2A-0D95-09A7-0D95479191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CC2EF9E-4B35-A97F-D4C5-52EEDF4F79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3339B41-5286-2683-2774-572854587B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9454DB-A9C4-6585-42C3-65C04D31E8B8}"/>
              </a:ext>
            </a:extLst>
          </p:cNvPr>
          <p:cNvSpPr>
            <a:spLocks noGrp="1"/>
          </p:cNvSpPr>
          <p:nvPr>
            <p:ph type="dt" sz="half" idx="10"/>
          </p:nvPr>
        </p:nvSpPr>
        <p:spPr/>
        <p:txBody>
          <a:bodyPr/>
          <a:lstStyle/>
          <a:p>
            <a:fld id="{C1B60E61-E8C1-426E-801F-BE52F56507AE}" type="datetimeFigureOut">
              <a:rPr lang="en-GB" smtClean="0"/>
              <a:t>09/11/2025</a:t>
            </a:fld>
            <a:endParaRPr lang="en-GB"/>
          </a:p>
        </p:txBody>
      </p:sp>
      <p:sp>
        <p:nvSpPr>
          <p:cNvPr id="6" name="Footer Placeholder 5">
            <a:extLst>
              <a:ext uri="{FF2B5EF4-FFF2-40B4-BE49-F238E27FC236}">
                <a16:creationId xmlns:a16="http://schemas.microsoft.com/office/drawing/2014/main" id="{183F53EC-D149-9AF4-8F4E-D5CC10D6F13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FEBD0E-94AA-0F49-04CE-306348AC6B05}"/>
              </a:ext>
            </a:extLst>
          </p:cNvPr>
          <p:cNvSpPr>
            <a:spLocks noGrp="1"/>
          </p:cNvSpPr>
          <p:nvPr>
            <p:ph type="sldNum" sz="quarter" idx="12"/>
          </p:nvPr>
        </p:nvSpPr>
        <p:spPr/>
        <p:txBody>
          <a:bodyPr/>
          <a:lstStyle/>
          <a:p>
            <a:fld id="{6DE2C4E6-1F6F-4688-BCA3-E10FCD15E431}" type="slidenum">
              <a:rPr lang="en-GB" smtClean="0"/>
              <a:t>‹#›</a:t>
            </a:fld>
            <a:endParaRPr lang="en-GB"/>
          </a:p>
        </p:txBody>
      </p:sp>
    </p:spTree>
    <p:extLst>
      <p:ext uri="{BB962C8B-B14F-4D97-AF65-F5344CB8AC3E}">
        <p14:creationId xmlns:p14="http://schemas.microsoft.com/office/powerpoint/2010/main" val="1259226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15547-5EDB-FF26-CEC7-756ED83523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C487341-3389-548E-23FD-A15E2035AA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6647E020-DA93-8ABC-1938-D85A20B745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E29FC3-5EE0-FBD6-C9AE-F332F571904A}"/>
              </a:ext>
            </a:extLst>
          </p:cNvPr>
          <p:cNvSpPr>
            <a:spLocks noGrp="1"/>
          </p:cNvSpPr>
          <p:nvPr>
            <p:ph type="dt" sz="half" idx="10"/>
          </p:nvPr>
        </p:nvSpPr>
        <p:spPr/>
        <p:txBody>
          <a:bodyPr/>
          <a:lstStyle/>
          <a:p>
            <a:fld id="{C1B60E61-E8C1-426E-801F-BE52F56507AE}" type="datetimeFigureOut">
              <a:rPr lang="en-GB" smtClean="0"/>
              <a:t>09/11/2025</a:t>
            </a:fld>
            <a:endParaRPr lang="en-GB"/>
          </a:p>
        </p:txBody>
      </p:sp>
      <p:sp>
        <p:nvSpPr>
          <p:cNvPr id="6" name="Footer Placeholder 5">
            <a:extLst>
              <a:ext uri="{FF2B5EF4-FFF2-40B4-BE49-F238E27FC236}">
                <a16:creationId xmlns:a16="http://schemas.microsoft.com/office/drawing/2014/main" id="{D0EDBEBE-652F-F8CF-3A3A-91356C1EF4B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037D321-EFF1-48C3-A007-9837E4B97E98}"/>
              </a:ext>
            </a:extLst>
          </p:cNvPr>
          <p:cNvSpPr>
            <a:spLocks noGrp="1"/>
          </p:cNvSpPr>
          <p:nvPr>
            <p:ph type="sldNum" sz="quarter" idx="12"/>
          </p:nvPr>
        </p:nvSpPr>
        <p:spPr/>
        <p:txBody>
          <a:bodyPr/>
          <a:lstStyle/>
          <a:p>
            <a:fld id="{6DE2C4E6-1F6F-4688-BCA3-E10FCD15E431}" type="slidenum">
              <a:rPr lang="en-GB" smtClean="0"/>
              <a:t>‹#›</a:t>
            </a:fld>
            <a:endParaRPr lang="en-GB"/>
          </a:p>
        </p:txBody>
      </p:sp>
    </p:spTree>
    <p:extLst>
      <p:ext uri="{BB962C8B-B14F-4D97-AF65-F5344CB8AC3E}">
        <p14:creationId xmlns:p14="http://schemas.microsoft.com/office/powerpoint/2010/main" val="384278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0885-8639-FA99-B514-82DF2B09FF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6C3C800-6841-2133-DDED-7478501BCE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C47FE8D-0A10-D92E-3E6E-A65724C41A5C}"/>
              </a:ext>
            </a:extLst>
          </p:cNvPr>
          <p:cNvSpPr>
            <a:spLocks noGrp="1"/>
          </p:cNvSpPr>
          <p:nvPr>
            <p:ph type="dt" sz="half" idx="10"/>
          </p:nvPr>
        </p:nvSpPr>
        <p:spPr/>
        <p:txBody>
          <a:bodyPr/>
          <a:lstStyle/>
          <a:p>
            <a:fld id="{C1B60E61-E8C1-426E-801F-BE52F56507AE}" type="datetimeFigureOut">
              <a:rPr lang="en-GB" smtClean="0"/>
              <a:t>09/11/2025</a:t>
            </a:fld>
            <a:endParaRPr lang="en-GB"/>
          </a:p>
        </p:txBody>
      </p:sp>
      <p:sp>
        <p:nvSpPr>
          <p:cNvPr id="5" name="Footer Placeholder 4">
            <a:extLst>
              <a:ext uri="{FF2B5EF4-FFF2-40B4-BE49-F238E27FC236}">
                <a16:creationId xmlns:a16="http://schemas.microsoft.com/office/drawing/2014/main" id="{794ED353-965F-B9BF-7445-07535B01BB6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DA88D9-F7F7-EEB0-BB7D-DC4D10690FA7}"/>
              </a:ext>
            </a:extLst>
          </p:cNvPr>
          <p:cNvSpPr>
            <a:spLocks noGrp="1"/>
          </p:cNvSpPr>
          <p:nvPr>
            <p:ph type="sldNum" sz="quarter" idx="12"/>
          </p:nvPr>
        </p:nvSpPr>
        <p:spPr/>
        <p:txBody>
          <a:bodyPr/>
          <a:lstStyle/>
          <a:p>
            <a:fld id="{6DE2C4E6-1F6F-4688-BCA3-E10FCD15E431}" type="slidenum">
              <a:rPr lang="en-GB" smtClean="0"/>
              <a:t>‹#›</a:t>
            </a:fld>
            <a:endParaRPr lang="en-GB"/>
          </a:p>
        </p:txBody>
      </p:sp>
    </p:spTree>
    <p:extLst>
      <p:ext uri="{BB962C8B-B14F-4D97-AF65-F5344CB8AC3E}">
        <p14:creationId xmlns:p14="http://schemas.microsoft.com/office/powerpoint/2010/main" val="2511563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C17749-E0DD-DB17-C820-0A108C694A8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7624463-675D-EE3F-D940-F4A311F53E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AEC5806-D7C7-E52F-84DD-09EAFB0AF7A1}"/>
              </a:ext>
            </a:extLst>
          </p:cNvPr>
          <p:cNvSpPr>
            <a:spLocks noGrp="1"/>
          </p:cNvSpPr>
          <p:nvPr>
            <p:ph type="dt" sz="half" idx="10"/>
          </p:nvPr>
        </p:nvSpPr>
        <p:spPr/>
        <p:txBody>
          <a:bodyPr/>
          <a:lstStyle/>
          <a:p>
            <a:fld id="{C1B60E61-E8C1-426E-801F-BE52F56507AE}" type="datetimeFigureOut">
              <a:rPr lang="en-GB" smtClean="0"/>
              <a:t>09/11/2025</a:t>
            </a:fld>
            <a:endParaRPr lang="en-GB"/>
          </a:p>
        </p:txBody>
      </p:sp>
      <p:sp>
        <p:nvSpPr>
          <p:cNvPr id="5" name="Footer Placeholder 4">
            <a:extLst>
              <a:ext uri="{FF2B5EF4-FFF2-40B4-BE49-F238E27FC236}">
                <a16:creationId xmlns:a16="http://schemas.microsoft.com/office/drawing/2014/main" id="{39A7D784-8365-EE47-766D-357F2632CD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8014ED3-011B-1825-872D-0BD153139466}"/>
              </a:ext>
            </a:extLst>
          </p:cNvPr>
          <p:cNvSpPr>
            <a:spLocks noGrp="1"/>
          </p:cNvSpPr>
          <p:nvPr>
            <p:ph type="sldNum" sz="quarter" idx="12"/>
          </p:nvPr>
        </p:nvSpPr>
        <p:spPr/>
        <p:txBody>
          <a:bodyPr/>
          <a:lstStyle/>
          <a:p>
            <a:fld id="{6DE2C4E6-1F6F-4688-BCA3-E10FCD15E431}" type="slidenum">
              <a:rPr lang="en-GB" smtClean="0"/>
              <a:t>‹#›</a:t>
            </a:fld>
            <a:endParaRPr lang="en-GB"/>
          </a:p>
        </p:txBody>
      </p:sp>
    </p:spTree>
    <p:extLst>
      <p:ext uri="{BB962C8B-B14F-4D97-AF65-F5344CB8AC3E}">
        <p14:creationId xmlns:p14="http://schemas.microsoft.com/office/powerpoint/2010/main" val="2837904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E5C70B-0E98-13D5-F644-2685A1150E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53C29D6-A019-ED32-F197-8BEB5E7799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D5DEB15-03EC-A38A-C04A-C4471E4DD0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B60E61-E8C1-426E-801F-BE52F56507AE}" type="datetimeFigureOut">
              <a:rPr lang="en-GB" smtClean="0"/>
              <a:t>09/11/2025</a:t>
            </a:fld>
            <a:endParaRPr lang="en-GB"/>
          </a:p>
        </p:txBody>
      </p:sp>
      <p:sp>
        <p:nvSpPr>
          <p:cNvPr id="5" name="Footer Placeholder 4">
            <a:extLst>
              <a:ext uri="{FF2B5EF4-FFF2-40B4-BE49-F238E27FC236}">
                <a16:creationId xmlns:a16="http://schemas.microsoft.com/office/drawing/2014/main" id="{6EFAFBC0-6549-3817-57D8-14CDD75F50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CCE8060-3619-6B53-94C2-67CD9175F0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E2C4E6-1F6F-4688-BCA3-E10FCD15E431}" type="slidenum">
              <a:rPr lang="en-GB" smtClean="0"/>
              <a:t>‹#›</a:t>
            </a:fld>
            <a:endParaRPr lang="en-GB"/>
          </a:p>
        </p:txBody>
      </p:sp>
    </p:spTree>
    <p:extLst>
      <p:ext uri="{BB962C8B-B14F-4D97-AF65-F5344CB8AC3E}">
        <p14:creationId xmlns:p14="http://schemas.microsoft.com/office/powerpoint/2010/main" val="163205988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0C0B7-7EA5-05F0-B5CD-182A4307F7C6}"/>
              </a:ext>
            </a:extLst>
          </p:cNvPr>
          <p:cNvSpPr>
            <a:spLocks noGrp="1"/>
          </p:cNvSpPr>
          <p:nvPr>
            <p:ph type="ctrTitle"/>
          </p:nvPr>
        </p:nvSpPr>
        <p:spPr/>
        <p:txBody>
          <a:bodyPr/>
          <a:lstStyle/>
          <a:p>
            <a:r>
              <a:rPr lang="en-GB" dirty="0">
                <a:solidFill>
                  <a:schemeClr val="accent2"/>
                </a:solidFill>
              </a:rPr>
              <a:t>Appreciation of English and American Literature</a:t>
            </a:r>
          </a:p>
        </p:txBody>
      </p:sp>
      <p:sp>
        <p:nvSpPr>
          <p:cNvPr id="3" name="Subtitle 2">
            <a:extLst>
              <a:ext uri="{FF2B5EF4-FFF2-40B4-BE49-F238E27FC236}">
                <a16:creationId xmlns:a16="http://schemas.microsoft.com/office/drawing/2014/main" id="{1B79C974-464C-0EB0-DCFF-897C4C08FA43}"/>
              </a:ext>
            </a:extLst>
          </p:cNvPr>
          <p:cNvSpPr>
            <a:spLocks noGrp="1"/>
          </p:cNvSpPr>
          <p:nvPr>
            <p:ph type="subTitle" idx="1"/>
          </p:nvPr>
        </p:nvSpPr>
        <p:spPr>
          <a:xfrm>
            <a:off x="1906555" y="3807312"/>
            <a:ext cx="9144000" cy="1655762"/>
          </a:xfrm>
        </p:spPr>
        <p:txBody>
          <a:bodyPr/>
          <a:lstStyle/>
          <a:p>
            <a:endParaRPr lang="en-GB" dirty="0"/>
          </a:p>
          <a:p>
            <a:pPr algn="l"/>
            <a:r>
              <a:rPr lang="en-GB" sz="3200" dirty="0"/>
              <a:t>Week 8: </a:t>
            </a:r>
            <a:r>
              <a:rPr lang="en-GB" sz="3200" i="1" dirty="0"/>
              <a:t>Little Women</a:t>
            </a:r>
          </a:p>
          <a:p>
            <a:pPr algn="l"/>
            <a:r>
              <a:rPr lang="en-GB" sz="3200" i="1" dirty="0"/>
              <a:t>	      </a:t>
            </a:r>
            <a:r>
              <a:rPr lang="en-GB" sz="3200" dirty="0"/>
              <a:t>Adaptation – Literature to Film</a:t>
            </a:r>
          </a:p>
        </p:txBody>
      </p:sp>
    </p:spTree>
    <p:extLst>
      <p:ext uri="{BB962C8B-B14F-4D97-AF65-F5344CB8AC3E}">
        <p14:creationId xmlns:p14="http://schemas.microsoft.com/office/powerpoint/2010/main" val="2145990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D2FF3-22D7-70EE-DEB2-85B8989F27A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A07369A-B4E2-C91C-4156-7F5BBFC71C76}"/>
              </a:ext>
            </a:extLst>
          </p:cNvPr>
          <p:cNvSpPr>
            <a:spLocks noGrp="1"/>
          </p:cNvSpPr>
          <p:nvPr>
            <p:ph idx="1"/>
          </p:nvPr>
        </p:nvSpPr>
        <p:spPr/>
        <p:txBody>
          <a:bodyPr/>
          <a:lstStyle/>
          <a:p>
            <a:r>
              <a:rPr lang="en-GB" dirty="0"/>
              <a:t>What is the purpose of ‘literature’? </a:t>
            </a:r>
          </a:p>
          <a:p>
            <a:endParaRPr lang="en-GB" dirty="0"/>
          </a:p>
          <a:p>
            <a:r>
              <a:rPr lang="en-GB" dirty="0"/>
              <a:t>What is the purpose of ‘children’s literature’?</a:t>
            </a:r>
          </a:p>
          <a:p>
            <a:endParaRPr lang="en-GB" dirty="0"/>
          </a:p>
          <a:p>
            <a:r>
              <a:rPr lang="en-GB" dirty="0"/>
              <a:t>What is the purpose of ‘autobiography’?</a:t>
            </a:r>
          </a:p>
          <a:p>
            <a:endParaRPr lang="en-GB" dirty="0"/>
          </a:p>
          <a:p>
            <a:r>
              <a:rPr lang="en-GB" dirty="0"/>
              <a:t>What do you think Louisa May Alcott thought was the purpose of her writing?</a:t>
            </a:r>
          </a:p>
        </p:txBody>
      </p:sp>
    </p:spTree>
    <p:extLst>
      <p:ext uri="{BB962C8B-B14F-4D97-AF65-F5344CB8AC3E}">
        <p14:creationId xmlns:p14="http://schemas.microsoft.com/office/powerpoint/2010/main" val="3586900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9D5B2-0DF2-44E0-7629-30AD36CC2DC0}"/>
              </a:ext>
            </a:extLst>
          </p:cNvPr>
          <p:cNvSpPr>
            <a:spLocks noGrp="1"/>
          </p:cNvSpPr>
          <p:nvPr>
            <p:ph type="title"/>
          </p:nvPr>
        </p:nvSpPr>
        <p:spPr/>
        <p:txBody>
          <a:bodyPr/>
          <a:lstStyle/>
          <a:p>
            <a:r>
              <a:rPr lang="en-GB" dirty="0"/>
              <a:t>Little Women, and American history</a:t>
            </a:r>
          </a:p>
        </p:txBody>
      </p:sp>
      <p:sp>
        <p:nvSpPr>
          <p:cNvPr id="3" name="Content Placeholder 2">
            <a:extLst>
              <a:ext uri="{FF2B5EF4-FFF2-40B4-BE49-F238E27FC236}">
                <a16:creationId xmlns:a16="http://schemas.microsoft.com/office/drawing/2014/main" id="{A1AB1BB2-9FD4-1522-730A-969D15847561}"/>
              </a:ext>
            </a:extLst>
          </p:cNvPr>
          <p:cNvSpPr>
            <a:spLocks noGrp="1"/>
          </p:cNvSpPr>
          <p:nvPr>
            <p:ph idx="1"/>
          </p:nvPr>
        </p:nvSpPr>
        <p:spPr>
          <a:xfrm>
            <a:off x="721904" y="1690688"/>
            <a:ext cx="7992888" cy="4943377"/>
          </a:xfrm>
        </p:spPr>
        <p:txBody>
          <a:bodyPr>
            <a:normAutofit fontScale="85000" lnSpcReduction="20000"/>
          </a:bodyPr>
          <a:lstStyle/>
          <a:p>
            <a:pPr>
              <a:lnSpc>
                <a:spcPct val="100000"/>
              </a:lnSpc>
              <a:spcBef>
                <a:spcPts val="1200"/>
              </a:spcBef>
            </a:pPr>
            <a:r>
              <a:rPr lang="en-GB" sz="2600" dirty="0"/>
              <a:t>Louisa May Alcott (1832-88)</a:t>
            </a:r>
          </a:p>
          <a:p>
            <a:pPr>
              <a:lnSpc>
                <a:spcPct val="100000"/>
              </a:lnSpc>
              <a:spcBef>
                <a:spcPts val="1200"/>
              </a:spcBef>
            </a:pPr>
            <a:r>
              <a:rPr lang="en-GB" sz="2600" dirty="0"/>
              <a:t>Her parents were ‘transcendentalists’ (some spiritual ideas about nature, and the innate goodness of man).</a:t>
            </a:r>
          </a:p>
          <a:p>
            <a:pPr>
              <a:lnSpc>
                <a:spcPct val="100000"/>
              </a:lnSpc>
              <a:spcBef>
                <a:spcPts val="1200"/>
              </a:spcBef>
            </a:pPr>
            <a:r>
              <a:rPr lang="en-GB" sz="2600" dirty="0"/>
              <a:t>Her childhood involved an experimental school and a ‘utopian’ community, which both failed. They moved home almost 30 times.</a:t>
            </a:r>
          </a:p>
          <a:p>
            <a:pPr>
              <a:lnSpc>
                <a:spcPct val="100000"/>
              </a:lnSpc>
              <a:spcBef>
                <a:spcPts val="1200"/>
              </a:spcBef>
            </a:pPr>
            <a:r>
              <a:rPr lang="en-GB" sz="2600" dirty="0"/>
              <a:t>Her family knew transcendentalist writers like Ralph Waldo Emerson.</a:t>
            </a:r>
          </a:p>
          <a:p>
            <a:pPr>
              <a:lnSpc>
                <a:spcPct val="100000"/>
              </a:lnSpc>
              <a:spcBef>
                <a:spcPts val="1200"/>
              </a:spcBef>
            </a:pPr>
            <a:r>
              <a:rPr lang="en-GB" sz="2600" dirty="0"/>
              <a:t>She had three sisters, Anna, Elizabeth, and Abigail May. Anna and Louisa put on plays together. Elizabeth caught scarlet fever and died after two years in 1858. Anna married a man named John Pratt and they had sons. Abigail liked art, but only studied in Europe after </a:t>
            </a:r>
            <a:r>
              <a:rPr lang="en-GB" sz="2600" i="1" dirty="0"/>
              <a:t>Little Women </a:t>
            </a:r>
            <a:r>
              <a:rPr lang="en-GB" sz="2600" dirty="0"/>
              <a:t>was published. Laurie may be based on more than one person they knew.</a:t>
            </a:r>
          </a:p>
          <a:p>
            <a:pPr>
              <a:lnSpc>
                <a:spcPct val="100000"/>
              </a:lnSpc>
              <a:spcBef>
                <a:spcPts val="1200"/>
              </a:spcBef>
            </a:pPr>
            <a:r>
              <a:rPr lang="en-GB" sz="2600" dirty="0"/>
              <a:t>The sisters worked as seamstresses, teachers, etc. Louisa also wrote ‘pulp fiction’ stories under the name Barnard.</a:t>
            </a:r>
            <a:endParaRPr lang="en-GB" sz="3200" dirty="0"/>
          </a:p>
        </p:txBody>
      </p:sp>
      <p:pic>
        <p:nvPicPr>
          <p:cNvPr id="1028" name="Picture 4" descr="Encyclopedia of Trivia: Louisa May Alcott">
            <a:extLst>
              <a:ext uri="{FF2B5EF4-FFF2-40B4-BE49-F238E27FC236}">
                <a16:creationId xmlns:a16="http://schemas.microsoft.com/office/drawing/2014/main" id="{E49885EF-4392-A0CA-E7B0-F91CDA7A04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4792" y="1604848"/>
            <a:ext cx="3127604" cy="4034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9545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12D36-0468-4091-947C-55EAEFE16A3D}"/>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5FFE0ACB-6811-4DAB-A41D-5690580E17F0}"/>
              </a:ext>
            </a:extLst>
          </p:cNvPr>
          <p:cNvPicPr>
            <a:picLocks noGrp="1" noChangeAspect="1"/>
          </p:cNvPicPr>
          <p:nvPr>
            <p:ph idx="1"/>
          </p:nvPr>
        </p:nvPicPr>
        <p:blipFill>
          <a:blip r:embed="rId2"/>
          <a:stretch>
            <a:fillRect/>
          </a:stretch>
        </p:blipFill>
        <p:spPr>
          <a:xfrm>
            <a:off x="1066800" y="392035"/>
            <a:ext cx="7403263" cy="6365423"/>
          </a:xfrm>
        </p:spPr>
      </p:pic>
      <p:sp>
        <p:nvSpPr>
          <p:cNvPr id="4" name="TextBox 3">
            <a:extLst>
              <a:ext uri="{FF2B5EF4-FFF2-40B4-BE49-F238E27FC236}">
                <a16:creationId xmlns:a16="http://schemas.microsoft.com/office/drawing/2014/main" id="{70A32F30-788D-4B3A-B50B-84A7E5C7118A}"/>
              </a:ext>
            </a:extLst>
          </p:cNvPr>
          <p:cNvSpPr txBox="1"/>
          <p:nvPr/>
        </p:nvSpPr>
        <p:spPr>
          <a:xfrm>
            <a:off x="8747381" y="897091"/>
            <a:ext cx="2478156" cy="267765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effectLst/>
                <a:uLnTx/>
                <a:uFillTx/>
                <a:latin typeface="Calibri"/>
                <a:ea typeface="+mn-ea"/>
                <a:cs typeface="+mn-cs"/>
              </a:rPr>
              <a:t>Jamestown was founded in 1607, the first English settlement in North America</a:t>
            </a:r>
          </a:p>
        </p:txBody>
      </p:sp>
    </p:spTree>
    <p:extLst>
      <p:ext uri="{BB962C8B-B14F-4D97-AF65-F5344CB8AC3E}">
        <p14:creationId xmlns:p14="http://schemas.microsoft.com/office/powerpoint/2010/main" val="4161921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462CAED7-6F06-4346-A31D-5F0816C54F0D}"/>
              </a:ext>
            </a:extLst>
          </p:cNvPr>
          <p:cNvSpPr txBox="1">
            <a:spLocks/>
          </p:cNvSpPr>
          <p:nvPr/>
        </p:nvSpPr>
        <p:spPr bwMode="auto">
          <a:xfrm>
            <a:off x="2362200" y="5438775"/>
            <a:ext cx="7772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altLang="en-US" sz="6000" b="1" i="0" u="none" strike="noStrike" kern="1200" cap="none" spc="0" normalizeH="0" baseline="0" noProof="0">
              <a:ln>
                <a:noFill/>
              </a:ln>
              <a:solidFill>
                <a:prstClr val="white"/>
              </a:solidFill>
              <a:effectLst/>
              <a:uLnTx/>
              <a:uFillTx/>
              <a:latin typeface="Calibri" panose="020F0502020204030204" pitchFamily="34" charset="0"/>
              <a:ea typeface="ＭＳ Ｐゴシック" panose="020B0600070205080204" pitchFamily="34" charset="-128"/>
              <a:cs typeface="+mn-cs"/>
            </a:endParaRPr>
          </a:p>
        </p:txBody>
      </p:sp>
      <p:sp>
        <p:nvSpPr>
          <p:cNvPr id="18435" name="Title 1">
            <a:extLst>
              <a:ext uri="{FF2B5EF4-FFF2-40B4-BE49-F238E27FC236}">
                <a16:creationId xmlns:a16="http://schemas.microsoft.com/office/drawing/2014/main" id="{AC3C28FC-08BB-4B7F-BB60-5E7EE071639A}"/>
              </a:ext>
            </a:extLst>
          </p:cNvPr>
          <p:cNvSpPr txBox="1">
            <a:spLocks/>
          </p:cNvSpPr>
          <p:nvPr/>
        </p:nvSpPr>
        <p:spPr bwMode="auto">
          <a:xfrm>
            <a:off x="6868107" y="835122"/>
            <a:ext cx="3115647"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sng" strike="noStrike" kern="1200" cap="none" spc="0" normalizeH="0" baseline="0" noProof="0" dirty="0">
                <a:ln>
                  <a:noFill/>
                </a:ln>
                <a:solidFill>
                  <a:srgbClr val="FF0000"/>
                </a:solidFill>
                <a:effectLst/>
                <a:uLnTx/>
                <a:uFillTx/>
                <a:latin typeface="Helvetica" panose="020B0604020202020204" pitchFamily="34" charset="0"/>
                <a:ea typeface="ＭＳ Ｐゴシック" panose="020B0600070205080204" pitchFamily="34" charset="-128"/>
                <a:cs typeface="+mn-cs"/>
              </a:rPr>
              <a:t>NEW ENGLAND</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rgbClr val="FF0000"/>
                </a:solidFill>
                <a:effectLst/>
                <a:uLnTx/>
                <a:uFillTx/>
                <a:latin typeface="Helvetica" panose="020B0604020202020204" pitchFamily="34" charset="0"/>
                <a:ea typeface="ＭＳ Ｐゴシック" panose="020B0600070205080204" pitchFamily="34" charset="-128"/>
                <a:cs typeface="+mn-cs"/>
              </a:rPr>
              <a:t>New Hampshire</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rgbClr val="FF0000"/>
                </a:solidFill>
                <a:effectLst/>
                <a:uLnTx/>
                <a:uFillTx/>
                <a:latin typeface="Helvetica" panose="020B0604020202020204" pitchFamily="34" charset="0"/>
                <a:ea typeface="ＭＳ Ｐゴシック" panose="020B0600070205080204" pitchFamily="34" charset="-128"/>
                <a:cs typeface="+mn-cs"/>
              </a:rPr>
              <a:t>Massachusetts</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rgbClr val="FF0000"/>
                </a:solidFill>
                <a:effectLst/>
                <a:uLnTx/>
                <a:uFillTx/>
                <a:latin typeface="Helvetica" panose="020B0604020202020204" pitchFamily="34" charset="0"/>
                <a:ea typeface="ＭＳ Ｐゴシック" panose="020B0600070205080204" pitchFamily="34" charset="-128"/>
                <a:cs typeface="+mn-cs"/>
              </a:rPr>
              <a:t>Connecticut</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rgbClr val="FF0000"/>
                </a:solidFill>
                <a:effectLst/>
                <a:uLnTx/>
                <a:uFillTx/>
                <a:latin typeface="Helvetica" panose="020B0604020202020204" pitchFamily="34" charset="0"/>
                <a:ea typeface="ＭＳ Ｐゴシック" panose="020B0600070205080204" pitchFamily="34" charset="-128"/>
                <a:cs typeface="+mn-cs"/>
              </a:rPr>
              <a:t>Rhode Island</a:t>
            </a: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altLang="en-US" sz="2200" b="1"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r>
              <a:rPr lang="en-US" altLang="en-US" sz="2200" b="1" dirty="0">
                <a:latin typeface="Helvetica" panose="020B0604020202020204" pitchFamily="34" charset="0"/>
              </a:rPr>
              <a:t>      </a:t>
            </a:r>
          </a:p>
          <a:p>
            <a:pPr marL="0" marR="0" lvl="0" indent="0" algn="l" defTabSz="457200" rtl="0" eaLnBrk="1" fontAlgn="base" latinLnBrk="0" hangingPunct="1">
              <a:lnSpc>
                <a:spcPct val="90000"/>
              </a:lnSpc>
              <a:spcBef>
                <a:spcPct val="0"/>
              </a:spcBef>
              <a:spcAft>
                <a:spcPct val="0"/>
              </a:spcAft>
              <a:buClrTx/>
              <a:buSzTx/>
              <a:buFontTx/>
              <a:buNone/>
              <a:tabLst/>
              <a:defRPr/>
            </a:pPr>
            <a:r>
              <a:rPr lang="en-US" altLang="en-US" sz="2200" b="1" dirty="0">
                <a:latin typeface="Helvetica" panose="020B0604020202020204" pitchFamily="34" charset="0"/>
              </a:rPr>
              <a:t> 	   		  </a:t>
            </a:r>
            <a:r>
              <a:rPr kumimoji="0" lang="en-US" altLang="en-US" sz="2200" b="1" i="0" u="sng" strike="noStrike" kern="1200" cap="none" spc="0" normalizeH="0" baseline="0" noProof="0" dirty="0">
                <a:ln>
                  <a:noFill/>
                </a:ln>
                <a:solidFill>
                  <a:schemeClr val="accent4">
                    <a:lumMod val="75000"/>
                  </a:schemeClr>
                </a:solidFill>
                <a:effectLst/>
                <a:uLnTx/>
                <a:uFillTx/>
                <a:latin typeface="Helvetica" panose="020B0604020202020204" pitchFamily="34" charset="0"/>
                <a:ea typeface="ＭＳ Ｐゴシック" panose="020B0600070205080204" pitchFamily="34" charset="-128"/>
                <a:cs typeface="+mn-cs"/>
              </a:rPr>
              <a:t>MIDDLE</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chemeClr val="accent4">
                    <a:lumMod val="75000"/>
                  </a:schemeClr>
                </a:solidFill>
                <a:effectLst/>
                <a:uLnTx/>
                <a:uFillTx/>
                <a:latin typeface="Helvetica" panose="020B0604020202020204" pitchFamily="34" charset="0"/>
                <a:ea typeface="ＭＳ Ｐゴシック" panose="020B0600070205080204" pitchFamily="34" charset="-128"/>
                <a:cs typeface="+mn-cs"/>
              </a:rPr>
              <a:t>New York</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chemeClr val="accent4">
                    <a:lumMod val="75000"/>
                  </a:schemeClr>
                </a:solidFill>
                <a:effectLst/>
                <a:uLnTx/>
                <a:uFillTx/>
                <a:latin typeface="Helvetica" panose="020B0604020202020204" pitchFamily="34" charset="0"/>
                <a:ea typeface="ＭＳ Ｐゴシック" panose="020B0600070205080204" pitchFamily="34" charset="-128"/>
                <a:cs typeface="+mn-cs"/>
              </a:rPr>
              <a:t>Pennsylvania</a:t>
            </a: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altLang="en-US" sz="2200" b="1" i="1" u="none" strike="noStrike" kern="1200" cap="none" spc="0" normalizeH="0" baseline="0" noProof="0" dirty="0">
              <a:ln>
                <a:noFill/>
              </a:ln>
              <a:solidFill>
                <a:srgbClr val="FFFF00"/>
              </a:solidFill>
              <a:effectLst/>
              <a:uLnTx/>
              <a:uFillTx/>
              <a:latin typeface="Helvetica" panose="020B0604020202020204" pitchFamily="34" charset="0"/>
              <a:ea typeface="ＭＳ Ｐゴシック" panose="020B0600070205080204" pitchFamily="34" charset="-128"/>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altLang="en-US" sz="2200" b="1" i="0" u="none" strike="noStrike" kern="1200" cap="none" spc="0" normalizeH="0" baseline="0" noProof="0" dirty="0">
              <a:ln>
                <a:noFill/>
              </a:ln>
              <a:solidFill>
                <a:prstClr val="white"/>
              </a:solidFill>
              <a:effectLst/>
              <a:uLnTx/>
              <a:uFillTx/>
              <a:latin typeface="Helvetica" panose="020B0604020202020204" pitchFamily="34" charset="0"/>
              <a:ea typeface="ＭＳ Ｐゴシック" panose="020B0600070205080204" pitchFamily="34" charset="-128"/>
              <a:cs typeface="+mn-cs"/>
            </a:endParaRPr>
          </a:p>
        </p:txBody>
      </p:sp>
      <p:sp>
        <p:nvSpPr>
          <p:cNvPr id="18439" name="Title 1">
            <a:extLst>
              <a:ext uri="{FF2B5EF4-FFF2-40B4-BE49-F238E27FC236}">
                <a16:creationId xmlns:a16="http://schemas.microsoft.com/office/drawing/2014/main" id="{FEBE0A53-3892-4FBF-BA53-38CB4481F486}"/>
              </a:ext>
            </a:extLst>
          </p:cNvPr>
          <p:cNvSpPr txBox="1">
            <a:spLocks/>
          </p:cNvSpPr>
          <p:nvPr/>
        </p:nvSpPr>
        <p:spPr bwMode="auto">
          <a:xfrm>
            <a:off x="9486900" y="802482"/>
            <a:ext cx="22098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sng" strike="noStrike" kern="1200" cap="none" spc="0" normalizeH="0" baseline="0" noProof="0" dirty="0">
                <a:ln>
                  <a:noFill/>
                </a:ln>
                <a:solidFill>
                  <a:srgbClr val="92D050"/>
                </a:solidFill>
                <a:effectLst/>
                <a:uLnTx/>
                <a:uFillTx/>
                <a:latin typeface="Helvetica" panose="020B0604020202020204" pitchFamily="34" charset="0"/>
                <a:ea typeface="ＭＳ Ｐゴシック" panose="020B0600070205080204" pitchFamily="34" charset="-128"/>
                <a:cs typeface="+mn-cs"/>
              </a:rPr>
              <a:t>SOUTHERN</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rgbClr val="92D050"/>
                </a:solidFill>
                <a:effectLst/>
                <a:uLnTx/>
                <a:uFillTx/>
                <a:latin typeface="Helvetica" panose="020B0604020202020204" pitchFamily="34" charset="0"/>
                <a:ea typeface="ＭＳ Ｐゴシック" panose="020B0600070205080204" pitchFamily="34" charset="-128"/>
                <a:cs typeface="+mn-cs"/>
              </a:rPr>
              <a:t>Maryland</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rgbClr val="92D050"/>
                </a:solidFill>
                <a:effectLst/>
                <a:uLnTx/>
                <a:uFillTx/>
                <a:latin typeface="Helvetica" panose="020B0604020202020204" pitchFamily="34" charset="0"/>
                <a:ea typeface="ＭＳ Ｐゴシック" panose="020B0600070205080204" pitchFamily="34" charset="-128"/>
                <a:cs typeface="+mn-cs"/>
              </a:rPr>
              <a:t>Virginia</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rgbClr val="92D050"/>
                </a:solidFill>
                <a:effectLst/>
                <a:uLnTx/>
                <a:uFillTx/>
                <a:latin typeface="Helvetica" panose="020B0604020202020204" pitchFamily="34" charset="0"/>
                <a:ea typeface="ＭＳ Ｐゴシック" panose="020B0600070205080204" pitchFamily="34" charset="-128"/>
                <a:cs typeface="+mn-cs"/>
              </a:rPr>
              <a:t>North Carolina</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rgbClr val="92D050"/>
                </a:solidFill>
                <a:effectLst/>
                <a:uLnTx/>
                <a:uFillTx/>
                <a:latin typeface="Helvetica" panose="020B0604020202020204" pitchFamily="34" charset="0"/>
                <a:ea typeface="ＭＳ Ｐゴシック" panose="020B0600070205080204" pitchFamily="34" charset="-128"/>
                <a:cs typeface="+mn-cs"/>
              </a:rPr>
              <a:t>South Carolina</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rgbClr val="92D050"/>
                </a:solidFill>
                <a:effectLst/>
                <a:uLnTx/>
                <a:uFillTx/>
                <a:latin typeface="Helvetica" panose="020B0604020202020204" pitchFamily="34" charset="0"/>
                <a:ea typeface="ＭＳ Ｐゴシック" panose="020B0600070205080204" pitchFamily="34" charset="-128"/>
                <a:cs typeface="+mn-cs"/>
              </a:rPr>
              <a:t>Georgia</a:t>
            </a: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altLang="en-US" sz="2200" b="1" i="1"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altLang="en-US" sz="2200" b="1" i="0" u="none" strike="noStrike" kern="1200" cap="none" spc="0" normalizeH="0" baseline="0" noProof="0" dirty="0">
              <a:ln>
                <a:noFill/>
              </a:ln>
              <a:solidFill>
                <a:prstClr val="white"/>
              </a:solidFill>
              <a:effectLst/>
              <a:uLnTx/>
              <a:uFillTx/>
              <a:latin typeface="Helvetica" panose="020B0604020202020204" pitchFamily="34" charset="0"/>
              <a:ea typeface="ＭＳ Ｐゴシック" panose="020B0600070205080204" pitchFamily="34" charset="-128"/>
              <a:cs typeface="+mn-cs"/>
            </a:endParaRPr>
          </a:p>
        </p:txBody>
      </p:sp>
      <p:sp>
        <p:nvSpPr>
          <p:cNvPr id="10" name="Title 1">
            <a:extLst>
              <a:ext uri="{FF2B5EF4-FFF2-40B4-BE49-F238E27FC236}">
                <a16:creationId xmlns:a16="http://schemas.microsoft.com/office/drawing/2014/main" id="{5ED7B216-5E25-4AF9-9CF6-E7E0BD2798E9}"/>
              </a:ext>
            </a:extLst>
          </p:cNvPr>
          <p:cNvSpPr txBox="1">
            <a:spLocks/>
          </p:cNvSpPr>
          <p:nvPr/>
        </p:nvSpPr>
        <p:spPr bwMode="auto">
          <a:xfrm>
            <a:off x="6868107" y="4401263"/>
            <a:ext cx="5029200" cy="1588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457200" rtl="0" eaLnBrk="1" fontAlgn="base" latinLnBrk="0" hangingPunct="1">
              <a:lnSpc>
                <a:spcPct val="90000"/>
              </a:lnSpc>
              <a:spcBef>
                <a:spcPct val="0"/>
              </a:spcBef>
              <a:spcAft>
                <a:spcPct val="0"/>
              </a:spcAft>
              <a:buClrTx/>
              <a:buSzTx/>
              <a:buFont typeface="Arial" panose="020B0604020202020204" pitchFamily="34" charset="0"/>
              <a:buChar char="•"/>
              <a:tabLst/>
              <a:defRPr/>
            </a:pPr>
            <a:r>
              <a:rPr kumimoji="0" lang="en-US" altLang="en-US" sz="2200" b="1"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Founded 16</a:t>
            </a:r>
            <a:r>
              <a:rPr kumimoji="0" lang="en-US" altLang="en-US" sz="2200" b="1" i="0" u="none" strike="noStrike" kern="1200" cap="none" spc="0" normalizeH="0" baseline="30000" noProof="0" dirty="0">
                <a:ln>
                  <a:noFill/>
                </a:ln>
                <a:effectLst/>
                <a:uLnTx/>
                <a:uFillTx/>
                <a:latin typeface="Helvetica" panose="020B0604020202020204" pitchFamily="34" charset="0"/>
                <a:ea typeface="ＭＳ Ｐゴシック" panose="020B0600070205080204" pitchFamily="34" charset="-128"/>
                <a:cs typeface="+mn-cs"/>
              </a:rPr>
              <a:t>th</a:t>
            </a:r>
            <a:r>
              <a:rPr kumimoji="0" lang="en-US" altLang="en-US" sz="2200" b="1"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 &amp; 17</a:t>
            </a:r>
            <a:r>
              <a:rPr kumimoji="0" lang="en-US" altLang="en-US" sz="2200" b="1" i="0" u="none" strike="noStrike" kern="1200" cap="none" spc="0" normalizeH="0" baseline="30000" noProof="0" dirty="0">
                <a:ln>
                  <a:noFill/>
                </a:ln>
                <a:effectLst/>
                <a:uLnTx/>
                <a:uFillTx/>
                <a:latin typeface="Helvetica" panose="020B0604020202020204" pitchFamily="34" charset="0"/>
                <a:ea typeface="ＭＳ Ｐゴシック" panose="020B0600070205080204" pitchFamily="34" charset="-128"/>
                <a:cs typeface="+mn-cs"/>
              </a:rPr>
              <a:t>th</a:t>
            </a:r>
            <a:r>
              <a:rPr kumimoji="0" lang="en-US" altLang="en-US" sz="2200" b="1"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 centuries</a:t>
            </a:r>
          </a:p>
          <a:p>
            <a:pPr marL="342900" marR="0" lvl="0" indent="-342900" algn="l" defTabSz="457200" rtl="0" eaLnBrk="1" fontAlgn="base" latinLnBrk="0" hangingPunct="1">
              <a:lnSpc>
                <a:spcPct val="90000"/>
              </a:lnSpc>
              <a:spcBef>
                <a:spcPct val="0"/>
              </a:spcBef>
              <a:spcAft>
                <a:spcPct val="0"/>
              </a:spcAft>
              <a:buClrTx/>
              <a:buSzTx/>
              <a:buFont typeface="Arial" panose="020B0604020202020204" pitchFamily="34" charset="0"/>
              <a:buChar char="•"/>
              <a:tabLst/>
              <a:defRPr/>
            </a:pPr>
            <a:r>
              <a:rPr kumimoji="0" lang="en-US" altLang="en-US" sz="2200" b="1"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East coast of North America</a:t>
            </a:r>
          </a:p>
          <a:p>
            <a:pPr marL="342900" marR="0" lvl="0" indent="-342900" algn="l" defTabSz="457200" rtl="0" eaLnBrk="1" fontAlgn="base" latinLnBrk="0" hangingPunct="1">
              <a:lnSpc>
                <a:spcPct val="90000"/>
              </a:lnSpc>
              <a:spcBef>
                <a:spcPct val="0"/>
              </a:spcBef>
              <a:spcAft>
                <a:spcPct val="0"/>
              </a:spcAft>
              <a:buClrTx/>
              <a:buSzTx/>
              <a:buFont typeface="Arial" panose="020B0604020202020204" pitchFamily="34" charset="0"/>
              <a:buChar char="•"/>
              <a:tabLst/>
              <a:defRPr/>
            </a:pPr>
            <a:r>
              <a:rPr kumimoji="0" lang="en-US" altLang="en-US" sz="2200" b="1"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Southern colonies named after British kings and queens</a:t>
            </a:r>
          </a:p>
        </p:txBody>
      </p:sp>
      <p:sp>
        <p:nvSpPr>
          <p:cNvPr id="18441" name="Title 1">
            <a:extLst>
              <a:ext uri="{FF2B5EF4-FFF2-40B4-BE49-F238E27FC236}">
                <a16:creationId xmlns:a16="http://schemas.microsoft.com/office/drawing/2014/main" id="{7C6FBAF3-0763-4D9D-95BF-36BE7711D280}"/>
              </a:ext>
            </a:extLst>
          </p:cNvPr>
          <p:cNvSpPr txBox="1">
            <a:spLocks/>
          </p:cNvSpPr>
          <p:nvPr/>
        </p:nvSpPr>
        <p:spPr bwMode="auto">
          <a:xfrm>
            <a:off x="9595368" y="3212063"/>
            <a:ext cx="2362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chemeClr val="accent4">
                    <a:lumMod val="75000"/>
                  </a:schemeClr>
                </a:solidFill>
                <a:effectLst/>
                <a:uLnTx/>
                <a:uFillTx/>
                <a:latin typeface="Helvetica" panose="020B0604020202020204" pitchFamily="34" charset="0"/>
                <a:ea typeface="ＭＳ Ｐゴシック" panose="020B0600070205080204" pitchFamily="34" charset="-128"/>
                <a:cs typeface="+mn-cs"/>
              </a:rPr>
              <a:t>New Jersey</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chemeClr val="accent4">
                    <a:lumMod val="75000"/>
                  </a:schemeClr>
                </a:solidFill>
                <a:effectLst/>
                <a:uLnTx/>
                <a:uFillTx/>
                <a:latin typeface="Helvetica" panose="020B0604020202020204" pitchFamily="34" charset="0"/>
                <a:ea typeface="ＭＳ Ｐゴシック" panose="020B0600070205080204" pitchFamily="34" charset="-128"/>
                <a:cs typeface="+mn-cs"/>
              </a:rPr>
              <a:t>Delaware</a:t>
            </a: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altLang="en-US" sz="2200" b="1" i="1" u="none" strike="noStrike" kern="1200" cap="none" spc="0" normalizeH="0" baseline="0" noProof="0" dirty="0">
              <a:ln>
                <a:noFill/>
              </a:ln>
              <a:solidFill>
                <a:srgbClr val="FFFF00"/>
              </a:solidFill>
              <a:effectLst/>
              <a:uLnTx/>
              <a:uFillTx/>
              <a:latin typeface="Helvetica" panose="020B0604020202020204" pitchFamily="34" charset="0"/>
              <a:ea typeface="ＭＳ Ｐゴシック" panose="020B0600070205080204" pitchFamily="34" charset="-128"/>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altLang="en-US" sz="2200" b="1" i="0" u="none" strike="noStrike" kern="1200" cap="none" spc="0" normalizeH="0" baseline="0" noProof="0" dirty="0">
              <a:ln>
                <a:noFill/>
              </a:ln>
              <a:solidFill>
                <a:prstClr val="white"/>
              </a:solidFill>
              <a:effectLst/>
              <a:uLnTx/>
              <a:uFillTx/>
              <a:latin typeface="Helvetica" panose="020B0604020202020204" pitchFamily="34" charset="0"/>
              <a:ea typeface="ＭＳ Ｐゴシック" panose="020B0600070205080204" pitchFamily="34" charset="-128"/>
              <a:cs typeface="+mn-cs"/>
            </a:endParaRPr>
          </a:p>
        </p:txBody>
      </p:sp>
      <p:pic>
        <p:nvPicPr>
          <p:cNvPr id="2" name="Picture 2" descr="Map Of United States 13 Colonies - First Day Of Spring 2024 Countdown">
            <a:extLst>
              <a:ext uri="{FF2B5EF4-FFF2-40B4-BE49-F238E27FC236}">
                <a16:creationId xmlns:a16="http://schemas.microsoft.com/office/drawing/2014/main" id="{ADCA9752-08F9-B2BC-8FA6-23929B1D8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703" y="606490"/>
            <a:ext cx="5955141" cy="5896947"/>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C23DC6AD-E05C-9E1F-0FEA-B5F0FF23C2D9}"/>
              </a:ext>
            </a:extLst>
          </p:cNvPr>
          <p:cNvSpPr txBox="1">
            <a:spLocks/>
          </p:cNvSpPr>
          <p:nvPr/>
        </p:nvSpPr>
        <p:spPr>
          <a:xfrm>
            <a:off x="6654281" y="70044"/>
            <a:ext cx="5105400" cy="609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3600" b="1">
                <a:latin typeface="Helvetica" panose="020B0604020202020204" pitchFamily="34" charset="0"/>
                <a:ea typeface="ＭＳ Ｐゴシック" panose="020B0600070205080204" pitchFamily="34" charset="-128"/>
              </a:rPr>
              <a:t>The 13 Colonies</a:t>
            </a:r>
            <a:endParaRPr lang="en-US" altLang="en-US" sz="3600" b="1" dirty="0">
              <a:latin typeface="Helvetica"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668283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17BF0E9-F404-468C-85C4-F63B665E37CF}"/>
              </a:ext>
            </a:extLst>
          </p:cNvPr>
          <p:cNvSpPr>
            <a:spLocks noGrp="1"/>
          </p:cNvSpPr>
          <p:nvPr>
            <p:ph type="ctrTitle"/>
          </p:nvPr>
        </p:nvSpPr>
        <p:spPr>
          <a:xfrm>
            <a:off x="6654281" y="70044"/>
            <a:ext cx="5105400" cy="609600"/>
          </a:xfrm>
        </p:spPr>
        <p:txBody>
          <a:bodyPr>
            <a:normAutofit/>
          </a:bodyPr>
          <a:lstStyle/>
          <a:p>
            <a:pPr eaLnBrk="1" hangingPunct="1"/>
            <a:r>
              <a:rPr lang="en-US" altLang="en-US" sz="3600" b="1" dirty="0">
                <a:latin typeface="Helvetica" panose="020B0604020202020204" pitchFamily="34" charset="0"/>
                <a:ea typeface="ＭＳ Ｐゴシック" panose="020B0600070205080204" pitchFamily="34" charset="-128"/>
              </a:rPr>
              <a:t>The 13 Colonies</a:t>
            </a:r>
          </a:p>
        </p:txBody>
      </p:sp>
      <p:sp>
        <p:nvSpPr>
          <p:cNvPr id="20482" name="Title 1">
            <a:extLst>
              <a:ext uri="{FF2B5EF4-FFF2-40B4-BE49-F238E27FC236}">
                <a16:creationId xmlns:a16="http://schemas.microsoft.com/office/drawing/2014/main" id="{59219727-1602-4949-B8A9-03BE28FDA839}"/>
              </a:ext>
            </a:extLst>
          </p:cNvPr>
          <p:cNvSpPr txBox="1">
            <a:spLocks/>
          </p:cNvSpPr>
          <p:nvPr/>
        </p:nvSpPr>
        <p:spPr bwMode="auto">
          <a:xfrm>
            <a:off x="2362200" y="5438775"/>
            <a:ext cx="7772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altLang="en-US" sz="6000" b="1" i="0" u="none" strike="noStrike" kern="1200" cap="none" spc="0" normalizeH="0" baseline="0" noProof="0">
              <a:ln>
                <a:noFill/>
              </a:ln>
              <a:solidFill>
                <a:prstClr val="white"/>
              </a:solidFill>
              <a:effectLst/>
              <a:uLnTx/>
              <a:uFillTx/>
              <a:latin typeface="Calibri" panose="020F0502020204030204" pitchFamily="34" charset="0"/>
              <a:ea typeface="ＭＳ Ｐゴシック" panose="020B0600070205080204" pitchFamily="34" charset="-128"/>
              <a:cs typeface="+mn-cs"/>
            </a:endParaRPr>
          </a:p>
        </p:txBody>
      </p:sp>
      <p:sp>
        <p:nvSpPr>
          <p:cNvPr id="20483" name="Title 1">
            <a:extLst>
              <a:ext uri="{FF2B5EF4-FFF2-40B4-BE49-F238E27FC236}">
                <a16:creationId xmlns:a16="http://schemas.microsoft.com/office/drawing/2014/main" id="{8DBE79EA-F223-4CC0-AF4D-B1DAA6D850C4}"/>
              </a:ext>
            </a:extLst>
          </p:cNvPr>
          <p:cNvSpPr txBox="1">
            <a:spLocks/>
          </p:cNvSpPr>
          <p:nvPr/>
        </p:nvSpPr>
        <p:spPr bwMode="auto">
          <a:xfrm>
            <a:off x="7481598" y="685800"/>
            <a:ext cx="51054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000" b="1" i="0" u="sng"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Population estimates</a:t>
            </a:r>
            <a:r>
              <a:rPr kumimoji="0" lang="en-US" altLang="en-US" sz="2000" b="1"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 </a:t>
            </a:r>
            <a:r>
              <a:rPr kumimoji="0" lang="en-US" altLang="en-US" sz="2000" b="0"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(not including </a:t>
            </a:r>
            <a:r>
              <a:rPr lang="en-US" altLang="en-US" sz="2000" dirty="0">
                <a:latin typeface="Helvetica" panose="020B0604020202020204" pitchFamily="34" charset="0"/>
              </a:rPr>
              <a:t>N</a:t>
            </a:r>
            <a:r>
              <a:rPr kumimoji="0" lang="en-US" altLang="en-US" sz="2000" b="0" i="0" u="none" strike="noStrike" kern="1200" cap="none" spc="0" normalizeH="0" baseline="0" noProof="0" dirty="0" err="1">
                <a:ln>
                  <a:noFill/>
                </a:ln>
                <a:effectLst/>
                <a:uLnTx/>
                <a:uFillTx/>
                <a:latin typeface="Helvetica" panose="020B0604020202020204" pitchFamily="34" charset="0"/>
                <a:ea typeface="ＭＳ Ｐゴシック" panose="020B0600070205080204" pitchFamily="34" charset="-128"/>
                <a:cs typeface="+mn-cs"/>
              </a:rPr>
              <a:t>ative</a:t>
            </a:r>
            <a:r>
              <a:rPr kumimoji="0" lang="en-US" altLang="en-US" sz="2000" b="0"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 </a:t>
            </a:r>
            <a:r>
              <a:rPr lang="en-US" altLang="en-US" sz="2000" dirty="0">
                <a:latin typeface="Helvetica" panose="020B0604020202020204" pitchFamily="34" charset="0"/>
              </a:rPr>
              <a:t>A</a:t>
            </a:r>
            <a:r>
              <a:rPr kumimoji="0" lang="en-US" altLang="en-US" sz="2000" b="0" i="0" u="none" strike="noStrike" kern="1200" cap="none" spc="0" normalizeH="0" baseline="0" noProof="0" dirty="0" err="1">
                <a:ln>
                  <a:noFill/>
                </a:ln>
                <a:effectLst/>
                <a:uLnTx/>
                <a:uFillTx/>
                <a:latin typeface="Helvetica" panose="020B0604020202020204" pitchFamily="34" charset="0"/>
                <a:ea typeface="ＭＳ Ｐゴシック" panose="020B0600070205080204" pitchFamily="34" charset="-128"/>
                <a:cs typeface="+mn-cs"/>
              </a:rPr>
              <a:t>mericans</a:t>
            </a:r>
            <a:r>
              <a:rPr kumimoji="0" lang="en-US" altLang="en-US" sz="2000" b="0"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 slaves or servants):</a:t>
            </a: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altLang="en-US" sz="2000" b="1" i="1"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altLang="en-US" sz="2000" b="1" i="0" u="none" strike="noStrike" kern="1200" cap="none" spc="0" normalizeH="0" baseline="0" noProof="0" dirty="0">
              <a:ln>
                <a:noFill/>
              </a:ln>
              <a:solidFill>
                <a:prstClr val="white"/>
              </a:solidFill>
              <a:effectLst/>
              <a:uLnTx/>
              <a:uFillTx/>
              <a:latin typeface="Helvetica" panose="020B0604020202020204" pitchFamily="34" charset="0"/>
              <a:ea typeface="ＭＳ Ｐゴシック" panose="020B0600070205080204" pitchFamily="34" charset="-128"/>
              <a:cs typeface="+mn-cs"/>
            </a:endParaRPr>
          </a:p>
        </p:txBody>
      </p:sp>
      <p:graphicFrame>
        <p:nvGraphicFramePr>
          <p:cNvPr id="4" name="Table 3">
            <a:extLst>
              <a:ext uri="{FF2B5EF4-FFF2-40B4-BE49-F238E27FC236}">
                <a16:creationId xmlns:a16="http://schemas.microsoft.com/office/drawing/2014/main" id="{D80FD0D1-6D47-4A20-91BE-18DEA912A353}"/>
              </a:ext>
            </a:extLst>
          </p:cNvPr>
          <p:cNvGraphicFramePr>
            <a:graphicFrameLocks noGrp="1"/>
          </p:cNvGraphicFramePr>
          <p:nvPr>
            <p:extLst>
              <p:ext uri="{D42A27DB-BD31-4B8C-83A1-F6EECF244321}">
                <p14:modId xmlns:p14="http://schemas.microsoft.com/office/powerpoint/2010/main" val="179155367"/>
              </p:ext>
            </p:extLst>
          </p:nvPr>
        </p:nvGraphicFramePr>
        <p:xfrm>
          <a:off x="7557798" y="1549400"/>
          <a:ext cx="3581400" cy="3708400"/>
        </p:xfrm>
        <a:graphic>
          <a:graphicData uri="http://schemas.openxmlformats.org/drawingml/2006/table">
            <a:tbl>
              <a:tblPr firstRow="1" bandRow="1">
                <a:tableStyleId>{21E4AEA4-8DFA-4A89-87EB-49C32662AFE0}</a:tableStyleId>
              </a:tblPr>
              <a:tblGrid>
                <a:gridCol w="17907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tblGrid>
              <a:tr h="370840">
                <a:tc>
                  <a:txBody>
                    <a:bodyPr/>
                    <a:lstStyle/>
                    <a:p>
                      <a:r>
                        <a:rPr lang="en-US" dirty="0"/>
                        <a:t>Year</a:t>
                      </a:r>
                    </a:p>
                  </a:txBody>
                  <a:tcPr/>
                </a:tc>
                <a:tc>
                  <a:txBody>
                    <a:bodyPr/>
                    <a:lstStyle/>
                    <a:p>
                      <a:pPr algn="r"/>
                      <a:r>
                        <a:rPr lang="en-US" dirty="0"/>
                        <a:t>Population</a:t>
                      </a:r>
                    </a:p>
                  </a:txBody>
                  <a:tcPr/>
                </a:tc>
                <a:extLst>
                  <a:ext uri="{0D108BD9-81ED-4DB2-BD59-A6C34878D82A}">
                    <a16:rowId xmlns:a16="http://schemas.microsoft.com/office/drawing/2014/main" val="10000"/>
                  </a:ext>
                </a:extLst>
              </a:tr>
              <a:tr h="370840">
                <a:tc>
                  <a:txBody>
                    <a:bodyPr/>
                    <a:lstStyle/>
                    <a:p>
                      <a:r>
                        <a:rPr lang="en-US" dirty="0"/>
                        <a:t>1625</a:t>
                      </a:r>
                    </a:p>
                  </a:txBody>
                  <a:tcPr/>
                </a:tc>
                <a:tc>
                  <a:txBody>
                    <a:bodyPr/>
                    <a:lstStyle/>
                    <a:p>
                      <a:pPr algn="r"/>
                      <a:r>
                        <a:rPr lang="en-US" dirty="0"/>
                        <a:t>1,980</a:t>
                      </a:r>
                    </a:p>
                  </a:txBody>
                  <a:tcPr/>
                </a:tc>
                <a:extLst>
                  <a:ext uri="{0D108BD9-81ED-4DB2-BD59-A6C34878D82A}">
                    <a16:rowId xmlns:a16="http://schemas.microsoft.com/office/drawing/2014/main" val="10001"/>
                  </a:ext>
                </a:extLst>
              </a:tr>
              <a:tr h="370840">
                <a:tc>
                  <a:txBody>
                    <a:bodyPr/>
                    <a:lstStyle/>
                    <a:p>
                      <a:r>
                        <a:rPr lang="en-US" dirty="0"/>
                        <a:t>1641</a:t>
                      </a:r>
                    </a:p>
                  </a:txBody>
                  <a:tcPr/>
                </a:tc>
                <a:tc>
                  <a:txBody>
                    <a:bodyPr/>
                    <a:lstStyle/>
                    <a:p>
                      <a:pPr algn="r"/>
                      <a:r>
                        <a:rPr lang="en-US" dirty="0"/>
                        <a:t>50,000</a:t>
                      </a:r>
                    </a:p>
                  </a:txBody>
                  <a:tcPr/>
                </a:tc>
                <a:extLst>
                  <a:ext uri="{0D108BD9-81ED-4DB2-BD59-A6C34878D82A}">
                    <a16:rowId xmlns:a16="http://schemas.microsoft.com/office/drawing/2014/main" val="10002"/>
                  </a:ext>
                </a:extLst>
              </a:tr>
              <a:tr h="370840">
                <a:tc>
                  <a:txBody>
                    <a:bodyPr/>
                    <a:lstStyle/>
                    <a:p>
                      <a:r>
                        <a:rPr lang="en-US" dirty="0"/>
                        <a:t>1688</a:t>
                      </a:r>
                    </a:p>
                  </a:txBody>
                  <a:tcPr/>
                </a:tc>
                <a:tc>
                  <a:txBody>
                    <a:bodyPr/>
                    <a:lstStyle/>
                    <a:p>
                      <a:pPr algn="r"/>
                      <a:r>
                        <a:rPr lang="en-US" dirty="0"/>
                        <a:t>200,000</a:t>
                      </a:r>
                    </a:p>
                  </a:txBody>
                  <a:tcPr/>
                </a:tc>
                <a:extLst>
                  <a:ext uri="{0D108BD9-81ED-4DB2-BD59-A6C34878D82A}">
                    <a16:rowId xmlns:a16="http://schemas.microsoft.com/office/drawing/2014/main" val="10003"/>
                  </a:ext>
                </a:extLst>
              </a:tr>
              <a:tr h="370840">
                <a:tc>
                  <a:txBody>
                    <a:bodyPr/>
                    <a:lstStyle/>
                    <a:p>
                      <a:r>
                        <a:rPr lang="en-US" dirty="0"/>
                        <a:t>1702</a:t>
                      </a:r>
                    </a:p>
                  </a:txBody>
                  <a:tcPr/>
                </a:tc>
                <a:tc>
                  <a:txBody>
                    <a:bodyPr/>
                    <a:lstStyle/>
                    <a:p>
                      <a:pPr algn="r"/>
                      <a:r>
                        <a:rPr lang="en-US" dirty="0"/>
                        <a:t>270,000</a:t>
                      </a:r>
                    </a:p>
                  </a:txBody>
                  <a:tcPr/>
                </a:tc>
                <a:extLst>
                  <a:ext uri="{0D108BD9-81ED-4DB2-BD59-A6C34878D82A}">
                    <a16:rowId xmlns:a16="http://schemas.microsoft.com/office/drawing/2014/main" val="10004"/>
                  </a:ext>
                </a:extLst>
              </a:tr>
              <a:tr h="370840">
                <a:tc>
                  <a:txBody>
                    <a:bodyPr/>
                    <a:lstStyle/>
                    <a:p>
                      <a:r>
                        <a:rPr lang="en-US" dirty="0"/>
                        <a:t>1715</a:t>
                      </a:r>
                    </a:p>
                  </a:txBody>
                  <a:tcPr/>
                </a:tc>
                <a:tc>
                  <a:txBody>
                    <a:bodyPr/>
                    <a:lstStyle/>
                    <a:p>
                      <a:pPr algn="r"/>
                      <a:r>
                        <a:rPr lang="en-US" dirty="0"/>
                        <a:t>435,000</a:t>
                      </a:r>
                    </a:p>
                  </a:txBody>
                  <a:tcPr/>
                </a:tc>
                <a:extLst>
                  <a:ext uri="{0D108BD9-81ED-4DB2-BD59-A6C34878D82A}">
                    <a16:rowId xmlns:a16="http://schemas.microsoft.com/office/drawing/2014/main" val="10005"/>
                  </a:ext>
                </a:extLst>
              </a:tr>
              <a:tr h="370840">
                <a:tc>
                  <a:txBody>
                    <a:bodyPr/>
                    <a:lstStyle/>
                    <a:p>
                      <a:r>
                        <a:rPr lang="en-US" dirty="0"/>
                        <a:t>1749</a:t>
                      </a:r>
                    </a:p>
                  </a:txBody>
                  <a:tcPr/>
                </a:tc>
                <a:tc>
                  <a:txBody>
                    <a:bodyPr/>
                    <a:lstStyle/>
                    <a:p>
                      <a:pPr algn="r"/>
                      <a:r>
                        <a:rPr lang="en-US" dirty="0"/>
                        <a:t>1,000,000</a:t>
                      </a:r>
                    </a:p>
                  </a:txBody>
                  <a:tcPr/>
                </a:tc>
                <a:extLst>
                  <a:ext uri="{0D108BD9-81ED-4DB2-BD59-A6C34878D82A}">
                    <a16:rowId xmlns:a16="http://schemas.microsoft.com/office/drawing/2014/main" val="10006"/>
                  </a:ext>
                </a:extLst>
              </a:tr>
              <a:tr h="370840">
                <a:tc>
                  <a:txBody>
                    <a:bodyPr/>
                    <a:lstStyle/>
                    <a:p>
                      <a:r>
                        <a:rPr lang="en-US" dirty="0"/>
                        <a:t>1754</a:t>
                      </a:r>
                    </a:p>
                  </a:txBody>
                  <a:tcPr/>
                </a:tc>
                <a:tc>
                  <a:txBody>
                    <a:bodyPr/>
                    <a:lstStyle/>
                    <a:p>
                      <a:pPr algn="r"/>
                      <a:r>
                        <a:rPr lang="en-US" dirty="0"/>
                        <a:t>1,500,000</a:t>
                      </a:r>
                    </a:p>
                  </a:txBody>
                  <a:tcPr/>
                </a:tc>
                <a:extLst>
                  <a:ext uri="{0D108BD9-81ED-4DB2-BD59-A6C34878D82A}">
                    <a16:rowId xmlns:a16="http://schemas.microsoft.com/office/drawing/2014/main" val="10007"/>
                  </a:ext>
                </a:extLst>
              </a:tr>
              <a:tr h="370840">
                <a:tc>
                  <a:txBody>
                    <a:bodyPr/>
                    <a:lstStyle/>
                    <a:p>
                      <a:r>
                        <a:rPr lang="en-US" dirty="0"/>
                        <a:t>1765</a:t>
                      </a:r>
                    </a:p>
                  </a:txBody>
                  <a:tcPr/>
                </a:tc>
                <a:tc>
                  <a:txBody>
                    <a:bodyPr/>
                    <a:lstStyle/>
                    <a:p>
                      <a:pPr algn="r"/>
                      <a:r>
                        <a:rPr lang="en-US" dirty="0"/>
                        <a:t>2,200,000</a:t>
                      </a:r>
                    </a:p>
                  </a:txBody>
                  <a:tcPr/>
                </a:tc>
                <a:extLst>
                  <a:ext uri="{0D108BD9-81ED-4DB2-BD59-A6C34878D82A}">
                    <a16:rowId xmlns:a16="http://schemas.microsoft.com/office/drawing/2014/main" val="10008"/>
                  </a:ext>
                </a:extLst>
              </a:tr>
              <a:tr h="370840">
                <a:tc>
                  <a:txBody>
                    <a:bodyPr/>
                    <a:lstStyle/>
                    <a:p>
                      <a:r>
                        <a:rPr lang="en-US" dirty="0"/>
                        <a:t>1775</a:t>
                      </a:r>
                    </a:p>
                  </a:txBody>
                  <a:tcPr/>
                </a:tc>
                <a:tc>
                  <a:txBody>
                    <a:bodyPr/>
                    <a:lstStyle/>
                    <a:p>
                      <a:pPr algn="r"/>
                      <a:r>
                        <a:rPr lang="en-US" dirty="0"/>
                        <a:t>2,400,000</a:t>
                      </a:r>
                    </a:p>
                  </a:txBody>
                  <a:tcPr/>
                </a:tc>
                <a:extLst>
                  <a:ext uri="{0D108BD9-81ED-4DB2-BD59-A6C34878D82A}">
                    <a16:rowId xmlns:a16="http://schemas.microsoft.com/office/drawing/2014/main" val="10009"/>
                  </a:ext>
                </a:extLst>
              </a:tr>
            </a:tbl>
          </a:graphicData>
        </a:graphic>
      </p:graphicFrame>
      <p:sp>
        <p:nvSpPr>
          <p:cNvPr id="20522" name="Title 1">
            <a:extLst>
              <a:ext uri="{FF2B5EF4-FFF2-40B4-BE49-F238E27FC236}">
                <a16:creationId xmlns:a16="http://schemas.microsoft.com/office/drawing/2014/main" id="{8E1A64E9-2318-4F71-8CEB-A04653EE1B8E}"/>
              </a:ext>
            </a:extLst>
          </p:cNvPr>
          <p:cNvSpPr txBox="1">
            <a:spLocks/>
          </p:cNvSpPr>
          <p:nvPr/>
        </p:nvSpPr>
        <p:spPr bwMode="auto">
          <a:xfrm>
            <a:off x="7557798" y="5308600"/>
            <a:ext cx="4953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000" b="1" i="0" u="sng"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Population origins, 1776:</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000" b="1"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85% - English, Irish, Scottish, Welsh</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000" b="1"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  9% - German</a:t>
            </a: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en-US" sz="2000" b="1"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rPr>
              <a:t>  4% - Dutch</a:t>
            </a:r>
            <a:endParaRPr kumimoji="0" lang="en-US" altLang="en-US" sz="2000" b="0" i="0"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altLang="en-US" sz="2000" b="1" i="1" u="none" strike="noStrike" kern="1200" cap="none" spc="0" normalizeH="0" baseline="0" noProof="0" dirty="0">
              <a:ln>
                <a:noFill/>
              </a:ln>
              <a:effectLst/>
              <a:uLnTx/>
              <a:uFillTx/>
              <a:latin typeface="Helvetica" panose="020B0604020202020204" pitchFamily="34" charset="0"/>
              <a:ea typeface="ＭＳ Ｐゴシック" panose="020B0600070205080204" pitchFamily="34" charset="-128"/>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altLang="en-US" sz="2000" b="1" i="0" u="none" strike="noStrike" kern="1200" cap="none" spc="0" normalizeH="0" baseline="0" noProof="0" dirty="0">
              <a:ln>
                <a:noFill/>
              </a:ln>
              <a:solidFill>
                <a:prstClr val="white"/>
              </a:solidFill>
              <a:effectLst/>
              <a:uLnTx/>
              <a:uFillTx/>
              <a:latin typeface="Helvetica" panose="020B0604020202020204" pitchFamily="34" charset="0"/>
              <a:ea typeface="ＭＳ Ｐゴシック" panose="020B0600070205080204" pitchFamily="34" charset="-128"/>
              <a:cs typeface="+mn-cs"/>
            </a:endParaRPr>
          </a:p>
        </p:txBody>
      </p:sp>
      <p:pic>
        <p:nvPicPr>
          <p:cNvPr id="2" name="Picture 6" descr="The Most Beautiful Towns in New England: A Guide to Charming and ...">
            <a:extLst>
              <a:ext uri="{FF2B5EF4-FFF2-40B4-BE49-F238E27FC236}">
                <a16:creationId xmlns:a16="http://schemas.microsoft.com/office/drawing/2014/main" id="{50E82F13-DA7A-A1B8-03BF-D3B27A6DB1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3683" y="117215"/>
            <a:ext cx="4796052" cy="319256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33C6A0-F960-20AD-A61B-B8A3CAE5736D}"/>
              </a:ext>
            </a:extLst>
          </p:cNvPr>
          <p:cNvSpPr txBox="1"/>
          <p:nvPr/>
        </p:nvSpPr>
        <p:spPr>
          <a:xfrm>
            <a:off x="166063" y="942063"/>
            <a:ext cx="2037620" cy="5847755"/>
          </a:xfrm>
          <a:prstGeom prst="rect">
            <a:avLst/>
          </a:prstGeom>
          <a:noFill/>
        </p:spPr>
        <p:txBody>
          <a:bodyPr wrap="square" rtlCol="0">
            <a:spAutoFit/>
          </a:bodyPr>
          <a:lstStyle/>
          <a:p>
            <a:r>
              <a:rPr lang="en-GB" sz="2200" dirty="0"/>
              <a:t>A New England Scene</a:t>
            </a:r>
          </a:p>
          <a:p>
            <a:endParaRPr lang="en-GB" sz="2200" dirty="0"/>
          </a:p>
          <a:p>
            <a:endParaRPr lang="en-GB" sz="2200" dirty="0"/>
          </a:p>
          <a:p>
            <a:endParaRPr lang="en-GB" sz="2200" dirty="0"/>
          </a:p>
          <a:p>
            <a:endParaRPr lang="en-GB" sz="2200" dirty="0"/>
          </a:p>
          <a:p>
            <a:endParaRPr lang="en-GB" sz="2200" dirty="0"/>
          </a:p>
          <a:p>
            <a:endParaRPr lang="en-GB" sz="2200" dirty="0"/>
          </a:p>
          <a:p>
            <a:r>
              <a:rPr lang="en-GB" sz="2200" dirty="0"/>
              <a:t>Louisa May Alcott’s family’s home in Concord, Massachusetts, from 1858, where she wrote </a:t>
            </a:r>
            <a:r>
              <a:rPr lang="en-GB" sz="2200" i="1" dirty="0"/>
              <a:t>Little Women</a:t>
            </a:r>
            <a:r>
              <a:rPr lang="en-GB" sz="2200" dirty="0"/>
              <a:t>. </a:t>
            </a:r>
          </a:p>
        </p:txBody>
      </p:sp>
      <p:pic>
        <p:nvPicPr>
          <p:cNvPr id="1032" name="Picture 8" descr="Louisa May Alcott Orchard House • Concord, Massachusetts - Inbound ...">
            <a:extLst>
              <a:ext uri="{FF2B5EF4-FFF2-40B4-BE49-F238E27FC236}">
                <a16:creationId xmlns:a16="http://schemas.microsoft.com/office/drawing/2014/main" id="{BE242CDF-6827-CCC0-5B03-B864A55FFA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670" y="3586742"/>
            <a:ext cx="4731065" cy="3154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813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25" y="173039"/>
            <a:ext cx="8788400" cy="731837"/>
          </a:xfrm>
        </p:spPr>
        <p:txBody>
          <a:bodyPr/>
          <a:lstStyle/>
          <a:p>
            <a:r>
              <a:rPr lang="en-US" altLang="en-US" sz="4000" dirty="0">
                <a:cs typeface="Calibri" pitchFamily="34" charset="0"/>
              </a:rPr>
              <a:t>The US Declaration of Independence</a:t>
            </a:r>
          </a:p>
        </p:txBody>
      </p:sp>
      <p:pic>
        <p:nvPicPr>
          <p:cNvPr id="4" name="Picture 3"/>
          <p:cNvPicPr>
            <a:picLocks noChangeAspect="1"/>
          </p:cNvPicPr>
          <p:nvPr/>
        </p:nvPicPr>
        <p:blipFill>
          <a:blip r:embed="rId2"/>
          <a:srcRect/>
          <a:stretch>
            <a:fillRect/>
          </a:stretch>
        </p:blipFill>
        <p:spPr bwMode="auto">
          <a:xfrm>
            <a:off x="7410449" y="4108450"/>
            <a:ext cx="3952875" cy="2636838"/>
          </a:xfrm>
          <a:prstGeom prst="rect">
            <a:avLst/>
          </a:prstGeom>
          <a:noFill/>
          <a:ln w="9525">
            <a:solidFill>
              <a:schemeClr val="tx2"/>
            </a:solidFill>
            <a:miter lim="800000"/>
            <a:headEnd/>
            <a:tailEnd/>
          </a:ln>
        </p:spPr>
      </p:pic>
      <p:pic>
        <p:nvPicPr>
          <p:cNvPr id="5" name="Picture 4"/>
          <p:cNvPicPr>
            <a:picLocks noChangeAspect="1"/>
          </p:cNvPicPr>
          <p:nvPr/>
        </p:nvPicPr>
        <p:blipFill>
          <a:blip r:embed="rId3"/>
          <a:srcRect/>
          <a:stretch>
            <a:fillRect/>
          </a:stretch>
        </p:blipFill>
        <p:spPr bwMode="auto">
          <a:xfrm>
            <a:off x="7872316" y="1007269"/>
            <a:ext cx="2411412" cy="2998788"/>
          </a:xfrm>
          <a:prstGeom prst="rect">
            <a:avLst/>
          </a:prstGeom>
          <a:noFill/>
          <a:ln w="9525">
            <a:solidFill>
              <a:schemeClr val="tx2"/>
            </a:solidFill>
            <a:miter lim="800000"/>
            <a:headEnd/>
            <a:tailEnd/>
          </a:ln>
        </p:spPr>
      </p:pic>
      <p:sp>
        <p:nvSpPr>
          <p:cNvPr id="6" name="TextBox 5">
            <a:extLst>
              <a:ext uri="{FF2B5EF4-FFF2-40B4-BE49-F238E27FC236}">
                <a16:creationId xmlns:a16="http://schemas.microsoft.com/office/drawing/2014/main" id="{A31B8EEB-B61B-FCB5-B695-121689CCB4F4}"/>
              </a:ext>
            </a:extLst>
          </p:cNvPr>
          <p:cNvSpPr txBox="1"/>
          <p:nvPr/>
        </p:nvSpPr>
        <p:spPr>
          <a:xfrm>
            <a:off x="828676" y="1352808"/>
            <a:ext cx="6176867" cy="4678204"/>
          </a:xfrm>
          <a:prstGeom prst="rect">
            <a:avLst/>
          </a:prstGeom>
          <a:noFill/>
        </p:spPr>
        <p:txBody>
          <a:bodyPr wrap="square" rtlCol="0">
            <a:spAutoFit/>
          </a:bodyPr>
          <a:lstStyle/>
          <a:p>
            <a:pPr marL="284163" indent="-284163">
              <a:buFont typeface="Arial" charset="0"/>
              <a:buChar char="•"/>
            </a:pPr>
            <a:r>
              <a:rPr lang="en-US" altLang="en-US" sz="2800" dirty="0"/>
              <a:t>The Declaration was made on July 4, 1776, by the ‘Founding Fathers’: Thomas Jefferson, Benjamin Franklin, John Adams, and others.</a:t>
            </a:r>
          </a:p>
          <a:p>
            <a:pPr marL="284163" indent="-284163">
              <a:buFont typeface="Arial" charset="0"/>
              <a:buChar char="•"/>
            </a:pPr>
            <a:endParaRPr lang="en-US" altLang="en-US" sz="2800" dirty="0"/>
          </a:p>
          <a:p>
            <a:pPr marL="284163" indent="-284163">
              <a:buFont typeface="Arial" charset="0"/>
              <a:buChar char="•"/>
            </a:pPr>
            <a:r>
              <a:rPr lang="en-US" altLang="en-US" sz="2800" dirty="0"/>
              <a:t>It announced that the 13 American colonies, then at war with Great Britain, regarded themselves as independent sovereign states, no longer part of the British Empire.</a:t>
            </a:r>
            <a:endParaRPr lang="en-US" altLang="en-US" sz="2000" dirty="0"/>
          </a:p>
          <a:p>
            <a:endParaRPr lang="en-GB"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C4C8FD-AA60-711E-9A14-3AEBF6DA510B}"/>
              </a:ext>
            </a:extLst>
          </p:cNvPr>
          <p:cNvSpPr>
            <a:spLocks noGrp="1"/>
          </p:cNvSpPr>
          <p:nvPr>
            <p:ph idx="1"/>
          </p:nvPr>
        </p:nvSpPr>
        <p:spPr>
          <a:xfrm>
            <a:off x="447869" y="1732319"/>
            <a:ext cx="2476715" cy="4351338"/>
          </a:xfrm>
        </p:spPr>
        <p:txBody>
          <a:bodyPr>
            <a:normAutofit/>
          </a:bodyPr>
          <a:lstStyle/>
          <a:p>
            <a:pPr marL="0" indent="0">
              <a:buNone/>
            </a:pPr>
            <a:r>
              <a:rPr lang="en-GB" sz="3000" dirty="0"/>
              <a:t>Map of </a:t>
            </a:r>
          </a:p>
          <a:p>
            <a:pPr marL="0" indent="0">
              <a:buNone/>
            </a:pPr>
            <a:r>
              <a:rPr lang="en-GB" sz="3000" dirty="0"/>
              <a:t>North America </a:t>
            </a:r>
          </a:p>
          <a:p>
            <a:pPr marL="0" indent="0">
              <a:buNone/>
            </a:pPr>
            <a:r>
              <a:rPr lang="en-GB" sz="3000" dirty="0"/>
              <a:t>in 1820</a:t>
            </a:r>
          </a:p>
        </p:txBody>
      </p:sp>
      <p:pic>
        <p:nvPicPr>
          <p:cNvPr id="3074" name="Picture 2" descr="US History Timeline | Timetoast timelines">
            <a:extLst>
              <a:ext uri="{FF2B5EF4-FFF2-40B4-BE49-F238E27FC236}">
                <a16:creationId xmlns:a16="http://schemas.microsoft.com/office/drawing/2014/main" id="{07ADA472-4690-79DE-DB39-E663951535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4584" y="271203"/>
            <a:ext cx="8563517" cy="6315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2233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EC5AB-6FC3-EAE4-43FF-5C08F393B03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63C98A7-EFDD-E9A3-E78B-17A2E560A916}"/>
              </a:ext>
            </a:extLst>
          </p:cNvPr>
          <p:cNvSpPr>
            <a:spLocks noGrp="1"/>
          </p:cNvSpPr>
          <p:nvPr>
            <p:ph idx="1"/>
          </p:nvPr>
        </p:nvSpPr>
        <p:spPr/>
        <p:txBody>
          <a:bodyPr/>
          <a:lstStyle/>
          <a:p>
            <a:endParaRPr lang="en-GB"/>
          </a:p>
        </p:txBody>
      </p:sp>
      <p:pic>
        <p:nvPicPr>
          <p:cNvPr id="2050" name="Picture 2" descr="The Louisiana Purchase (French: Vente de la Louisiane &quot;Sale of ...">
            <a:extLst>
              <a:ext uri="{FF2B5EF4-FFF2-40B4-BE49-F238E27FC236}">
                <a16:creationId xmlns:a16="http://schemas.microsoft.com/office/drawing/2014/main" id="{ED96D25A-E003-E440-172E-BBD1C123A8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838" y="157163"/>
            <a:ext cx="10982325" cy="654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251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A105EF-5B60-69FA-16A0-65891278D28F}"/>
              </a:ext>
            </a:extLst>
          </p:cNvPr>
          <p:cNvSpPr>
            <a:spLocks noGrp="1"/>
          </p:cNvSpPr>
          <p:nvPr>
            <p:ph idx="1"/>
          </p:nvPr>
        </p:nvSpPr>
        <p:spPr>
          <a:xfrm>
            <a:off x="139182" y="1315002"/>
            <a:ext cx="3284375" cy="5215812"/>
          </a:xfrm>
        </p:spPr>
        <p:txBody>
          <a:bodyPr>
            <a:normAutofit fontScale="92500" lnSpcReduction="10000"/>
          </a:bodyPr>
          <a:lstStyle/>
          <a:p>
            <a:r>
              <a:rPr lang="en-GB" dirty="0"/>
              <a:t>At issue was whether newly admitted states could allow slavery, and whether the federal government in Washington could force states to stop slavery. </a:t>
            </a:r>
          </a:p>
          <a:p>
            <a:r>
              <a:rPr lang="en-GB" dirty="0"/>
              <a:t>War was declared when the southern slave owning states seceded from the Union and formed The Confederacy. </a:t>
            </a:r>
          </a:p>
        </p:txBody>
      </p:sp>
      <p:sp>
        <p:nvSpPr>
          <p:cNvPr id="4" name="AutoShape 2" descr="Boundary Between The Union And The Confederacy | National Geographic | Printable Map Of The United States During The Civil War">
            <a:extLst>
              <a:ext uri="{FF2B5EF4-FFF2-40B4-BE49-F238E27FC236}">
                <a16:creationId xmlns:a16="http://schemas.microsoft.com/office/drawing/2014/main" id="{988B0BE3-127D-1E30-6C6F-C498D449B5F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2052" name="Picture 4" descr="Comparing &amp; Union and Confederacy">
            <a:extLst>
              <a:ext uri="{FF2B5EF4-FFF2-40B4-BE49-F238E27FC236}">
                <a16:creationId xmlns:a16="http://schemas.microsoft.com/office/drawing/2014/main" id="{6AFA7AFF-B694-1E81-953D-205F578269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5565" y="1092200"/>
            <a:ext cx="8572500" cy="54006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AD5F0C92-1D24-B3C3-5B81-EBDB765FB24F}"/>
              </a:ext>
            </a:extLst>
          </p:cNvPr>
          <p:cNvSpPr>
            <a:spLocks noGrp="1" noChangeArrowheads="1"/>
          </p:cNvSpPr>
          <p:nvPr>
            <p:ph type="title"/>
          </p:nvPr>
        </p:nvSpPr>
        <p:spPr>
          <a:xfrm>
            <a:off x="838200" y="365125"/>
            <a:ext cx="10515600" cy="1325563"/>
          </a:xfrm>
        </p:spPr>
        <p:txBody>
          <a:bodyPr/>
          <a:lstStyle/>
          <a:p>
            <a:pPr eaLnBrk="1" hangingPunct="1">
              <a:defRPr/>
            </a:pPr>
            <a:r>
              <a:rPr lang="en-US" altLang="zh-CN" sz="4000" dirty="0"/>
              <a:t>The U.S.A. Civil War – 1861-5</a:t>
            </a:r>
            <a:br>
              <a:rPr lang="en-US" altLang="zh-CN" sz="4000" dirty="0"/>
            </a:br>
            <a:endParaRPr lang="en-US" altLang="zh-CN" sz="4000" dirty="0"/>
          </a:p>
        </p:txBody>
      </p:sp>
    </p:spTree>
    <p:extLst>
      <p:ext uri="{BB962C8B-B14F-4D97-AF65-F5344CB8AC3E}">
        <p14:creationId xmlns:p14="http://schemas.microsoft.com/office/powerpoint/2010/main" val="3617829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6C234270-08AC-4730-9B19-9DA1B7D59026}"/>
              </a:ext>
            </a:extLst>
          </p:cNvPr>
          <p:cNvSpPr>
            <a:spLocks noGrp="1" noChangeArrowheads="1"/>
          </p:cNvSpPr>
          <p:nvPr>
            <p:ph type="title"/>
          </p:nvPr>
        </p:nvSpPr>
        <p:spPr/>
        <p:txBody>
          <a:bodyPr/>
          <a:lstStyle/>
          <a:p>
            <a:pPr eaLnBrk="1" hangingPunct="1">
              <a:defRPr/>
            </a:pPr>
            <a:r>
              <a:rPr lang="en-US" altLang="zh-CN" sz="4000" dirty="0"/>
              <a:t>The U.S.A. Civil War – 1861-5</a:t>
            </a:r>
            <a:br>
              <a:rPr lang="en-US" altLang="zh-CN" sz="4000" dirty="0"/>
            </a:br>
            <a:endParaRPr lang="en-US" altLang="zh-CN" sz="4000" dirty="0"/>
          </a:p>
        </p:txBody>
      </p:sp>
      <p:pic>
        <p:nvPicPr>
          <p:cNvPr id="9220" name="Picture 4">
            <a:extLst>
              <a:ext uri="{FF2B5EF4-FFF2-40B4-BE49-F238E27FC236}">
                <a16:creationId xmlns:a16="http://schemas.microsoft.com/office/drawing/2014/main" id="{69690796-5A46-4E19-89C0-BC24BFA58A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7700" y="494053"/>
            <a:ext cx="3681150" cy="326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AE0CFF2E-481C-F8DB-AAA5-B7B3F4F189F1}"/>
              </a:ext>
            </a:extLst>
          </p:cNvPr>
          <p:cNvSpPr txBox="1">
            <a:spLocks noChangeArrowheads="1"/>
          </p:cNvSpPr>
          <p:nvPr/>
        </p:nvSpPr>
        <p:spPr>
          <a:xfrm>
            <a:off x="8160049" y="3663375"/>
            <a:ext cx="3681150" cy="194543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endParaRPr lang="en-US" altLang="zh-CN" dirty="0"/>
          </a:p>
          <a:p>
            <a:pPr>
              <a:defRPr/>
            </a:pPr>
            <a:r>
              <a:rPr lang="en-US" altLang="zh-CN" sz="3400" dirty="0"/>
              <a:t>Confederate paper currency issued during the war, ranging in value from 5 to 100 dollars</a:t>
            </a:r>
            <a:endParaRPr lang="en-US" altLang="zh-CN" sz="3400" b="1" dirty="0"/>
          </a:p>
        </p:txBody>
      </p:sp>
      <p:sp>
        <p:nvSpPr>
          <p:cNvPr id="4" name="Content Placeholder 3">
            <a:extLst>
              <a:ext uri="{FF2B5EF4-FFF2-40B4-BE49-F238E27FC236}">
                <a16:creationId xmlns:a16="http://schemas.microsoft.com/office/drawing/2014/main" id="{36039BAC-B5BA-FEBC-6D02-46366D1885BD}"/>
              </a:ext>
            </a:extLst>
          </p:cNvPr>
          <p:cNvSpPr>
            <a:spLocks noGrp="1"/>
          </p:cNvSpPr>
          <p:nvPr>
            <p:ph idx="1"/>
          </p:nvPr>
        </p:nvSpPr>
        <p:spPr>
          <a:xfrm>
            <a:off x="4656880" y="5511945"/>
            <a:ext cx="3290820" cy="933159"/>
          </a:xfrm>
        </p:spPr>
        <p:txBody>
          <a:bodyPr>
            <a:normAutofit fontScale="85000" lnSpcReduction="10000"/>
          </a:bodyPr>
          <a:lstStyle/>
          <a:p>
            <a:r>
              <a:rPr lang="en-GB" dirty="0"/>
              <a:t>A Confederate General, Robert E. Lee</a:t>
            </a:r>
          </a:p>
        </p:txBody>
      </p:sp>
      <p:pic>
        <p:nvPicPr>
          <p:cNvPr id="5" name="Picture 4">
            <a:extLst>
              <a:ext uri="{FF2B5EF4-FFF2-40B4-BE49-F238E27FC236}">
                <a16:creationId xmlns:a16="http://schemas.microsoft.com/office/drawing/2014/main" id="{69902109-EFE5-4603-A7AD-DAA15C356B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5352" y="1557096"/>
            <a:ext cx="2801297" cy="3686707"/>
          </a:xfrm>
          <a:prstGeom prst="rect">
            <a:avLst/>
          </a:prstGeom>
        </p:spPr>
      </p:pic>
      <p:sp>
        <p:nvSpPr>
          <p:cNvPr id="6" name="Content Placeholder 3">
            <a:extLst>
              <a:ext uri="{FF2B5EF4-FFF2-40B4-BE49-F238E27FC236}">
                <a16:creationId xmlns:a16="http://schemas.microsoft.com/office/drawing/2014/main" id="{8F2A78DE-8114-3F50-F170-12830AD6BBCF}"/>
              </a:ext>
            </a:extLst>
          </p:cNvPr>
          <p:cNvSpPr txBox="1">
            <a:spLocks/>
          </p:cNvSpPr>
          <p:nvPr/>
        </p:nvSpPr>
        <p:spPr>
          <a:xfrm>
            <a:off x="741133" y="5509500"/>
            <a:ext cx="3290820" cy="933159"/>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A Union General, and later U.S. President </a:t>
            </a:r>
            <a:r>
              <a:rPr lang="en-GB" sz="2800" dirty="0"/>
              <a:t>Ulysses S. Grant</a:t>
            </a:r>
          </a:p>
          <a:p>
            <a:endParaRPr lang="en-GB" dirty="0"/>
          </a:p>
        </p:txBody>
      </p:sp>
      <p:pic>
        <p:nvPicPr>
          <p:cNvPr id="8" name="Picture 7" descr="A person wearing a uniform&#10;&#10;Description automatically generated">
            <a:extLst>
              <a:ext uri="{FF2B5EF4-FFF2-40B4-BE49-F238E27FC236}">
                <a16:creationId xmlns:a16="http://schemas.microsoft.com/office/drawing/2014/main" id="{48CE9C56-17C3-4689-AFB2-ADE5779BA9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4221" y="1557096"/>
            <a:ext cx="2804644" cy="368670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A93DCE6-F105-4E2B-9962-8FC38EE8E858}"/>
              </a:ext>
            </a:extLst>
          </p:cNvPr>
          <p:cNvSpPr>
            <a:spLocks noGrp="1" noChangeArrowheads="1"/>
          </p:cNvSpPr>
          <p:nvPr>
            <p:ph type="title"/>
          </p:nvPr>
        </p:nvSpPr>
        <p:spPr/>
        <p:txBody>
          <a:bodyPr/>
          <a:lstStyle/>
          <a:p>
            <a:pPr eaLnBrk="1" hangingPunct="1">
              <a:defRPr/>
            </a:pPr>
            <a:r>
              <a:rPr lang="en-US" altLang="zh-CN" sz="4000" dirty="0"/>
              <a:t>Civil War Casualties</a:t>
            </a:r>
            <a:br>
              <a:rPr lang="en-US" altLang="zh-CN" sz="4000" dirty="0"/>
            </a:br>
            <a:endParaRPr lang="en-US" altLang="zh-CN" sz="4000" dirty="0"/>
          </a:p>
        </p:txBody>
      </p:sp>
      <p:sp>
        <p:nvSpPr>
          <p:cNvPr id="59395" name="Rectangle 3">
            <a:extLst>
              <a:ext uri="{FF2B5EF4-FFF2-40B4-BE49-F238E27FC236}">
                <a16:creationId xmlns:a16="http://schemas.microsoft.com/office/drawing/2014/main" id="{A7F67095-401B-4FA9-8768-EE93C7D5EFB9}"/>
              </a:ext>
            </a:extLst>
          </p:cNvPr>
          <p:cNvSpPr>
            <a:spLocks noGrp="1" noChangeArrowheads="1"/>
          </p:cNvSpPr>
          <p:nvPr>
            <p:ph idx="1"/>
          </p:nvPr>
        </p:nvSpPr>
        <p:spPr>
          <a:xfrm>
            <a:off x="285651" y="1166018"/>
            <a:ext cx="11345516" cy="4525963"/>
          </a:xfrm>
        </p:spPr>
        <p:txBody>
          <a:bodyPr/>
          <a:lstStyle/>
          <a:p>
            <a:pPr eaLnBrk="1" hangingPunct="1">
              <a:lnSpc>
                <a:spcPct val="90000"/>
              </a:lnSpc>
              <a:defRPr/>
            </a:pPr>
            <a:r>
              <a:rPr lang="en-US" altLang="zh-CN" sz="2600" dirty="0"/>
              <a:t>The Battle of Gettysburg was on 1</a:t>
            </a:r>
            <a:r>
              <a:rPr lang="en-US" altLang="zh-CN" sz="2600" baseline="30000" dirty="0"/>
              <a:t>st</a:t>
            </a:r>
            <a:r>
              <a:rPr lang="en-US" altLang="zh-CN" sz="2600" dirty="0"/>
              <a:t> July 1863. By this time, half a million people had died. By the end of the Civil War over a million Americans had died:  15% of all Union soldiers; 15-19% of all men in some Southern States. 60,000 soldiers had lost limbs.</a:t>
            </a:r>
          </a:p>
          <a:p>
            <a:pPr marL="0" indent="0" eaLnBrk="1" hangingPunct="1">
              <a:lnSpc>
                <a:spcPct val="90000"/>
              </a:lnSpc>
              <a:buNone/>
              <a:defRPr/>
            </a:pPr>
            <a:r>
              <a:rPr lang="en-US" altLang="zh-CN" sz="2600" dirty="0"/>
              <a:t> </a:t>
            </a:r>
            <a:endParaRPr lang="en-US" altLang="zh-CN" sz="2600" b="1" dirty="0"/>
          </a:p>
        </p:txBody>
      </p:sp>
      <p:pic>
        <p:nvPicPr>
          <p:cNvPr id="5" name="Picture 4">
            <a:extLst>
              <a:ext uri="{FF2B5EF4-FFF2-40B4-BE49-F238E27FC236}">
                <a16:creationId xmlns:a16="http://schemas.microsoft.com/office/drawing/2014/main" id="{632656FA-7DF0-43BC-B6C8-2472BBC24C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8035" y="2541263"/>
            <a:ext cx="5492297" cy="4113502"/>
          </a:xfrm>
          <a:prstGeom prst="rect">
            <a:avLst/>
          </a:prstGeom>
        </p:spPr>
      </p:pic>
      <p:pic>
        <p:nvPicPr>
          <p:cNvPr id="7" name="Picture 6">
            <a:extLst>
              <a:ext uri="{FF2B5EF4-FFF2-40B4-BE49-F238E27FC236}">
                <a16:creationId xmlns:a16="http://schemas.microsoft.com/office/drawing/2014/main" id="{66CFE6F8-D1A5-4587-9BDE-3FE9296EB3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391" y="2671307"/>
            <a:ext cx="5938479" cy="3853413"/>
          </a:xfrm>
          <a:prstGeom prst="rect">
            <a:avLst/>
          </a:prstGeom>
        </p:spPr>
      </p:pic>
    </p:spTree>
    <p:extLst>
      <p:ext uri="{BB962C8B-B14F-4D97-AF65-F5344CB8AC3E}">
        <p14:creationId xmlns:p14="http://schemas.microsoft.com/office/powerpoint/2010/main" val="2338291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48445AE6-6855-4111-B750-68F013EC7F43}"/>
              </a:ext>
            </a:extLst>
          </p:cNvPr>
          <p:cNvSpPr>
            <a:spLocks noGrp="1" noChangeArrowheads="1"/>
          </p:cNvSpPr>
          <p:nvPr>
            <p:ph type="title"/>
          </p:nvPr>
        </p:nvSpPr>
        <p:spPr>
          <a:xfrm>
            <a:off x="980910" y="5841579"/>
            <a:ext cx="5473598" cy="1325563"/>
          </a:xfrm>
        </p:spPr>
        <p:txBody>
          <a:bodyPr>
            <a:normAutofit/>
          </a:bodyPr>
          <a:lstStyle/>
          <a:p>
            <a:pPr eaLnBrk="1" hangingPunct="1">
              <a:defRPr/>
            </a:pPr>
            <a:br>
              <a:rPr lang="en-US" altLang="zh-CN" sz="4000" dirty="0"/>
            </a:br>
            <a:endParaRPr lang="en-US" altLang="zh-CN" sz="4000" dirty="0"/>
          </a:p>
        </p:txBody>
      </p:sp>
      <p:pic>
        <p:nvPicPr>
          <p:cNvPr id="4" name="Picture 3">
            <a:extLst>
              <a:ext uri="{FF2B5EF4-FFF2-40B4-BE49-F238E27FC236}">
                <a16:creationId xmlns:a16="http://schemas.microsoft.com/office/drawing/2014/main" id="{34C3F7B8-CF1A-421B-9537-BBA173D495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3480" y="709368"/>
            <a:ext cx="3652720" cy="2956963"/>
          </a:xfrm>
          <a:prstGeom prst="rect">
            <a:avLst/>
          </a:prstGeom>
        </p:spPr>
      </p:pic>
      <p:sp>
        <p:nvSpPr>
          <p:cNvPr id="5" name="TextBox 4">
            <a:extLst>
              <a:ext uri="{FF2B5EF4-FFF2-40B4-BE49-F238E27FC236}">
                <a16:creationId xmlns:a16="http://schemas.microsoft.com/office/drawing/2014/main" id="{BDA76A57-AD32-1604-726A-E030B06E50E9}"/>
              </a:ext>
            </a:extLst>
          </p:cNvPr>
          <p:cNvSpPr txBox="1"/>
          <p:nvPr/>
        </p:nvSpPr>
        <p:spPr>
          <a:xfrm>
            <a:off x="7921690" y="0"/>
            <a:ext cx="3741575" cy="769441"/>
          </a:xfrm>
          <a:prstGeom prst="rect">
            <a:avLst/>
          </a:prstGeom>
          <a:noFill/>
        </p:spPr>
        <p:txBody>
          <a:bodyPr wrap="square" rtlCol="0">
            <a:spAutoFit/>
          </a:bodyPr>
          <a:lstStyle/>
          <a:p>
            <a:r>
              <a:rPr lang="en-US" altLang="zh-CN" sz="2200" dirty="0"/>
              <a:t>Abraham Lincoln during the war, at the Battle of Antietam</a:t>
            </a:r>
            <a:endParaRPr lang="en-GB" sz="2200" dirty="0"/>
          </a:p>
        </p:txBody>
      </p:sp>
      <p:sp>
        <p:nvSpPr>
          <p:cNvPr id="6" name="Rectangle 3">
            <a:extLst>
              <a:ext uri="{FF2B5EF4-FFF2-40B4-BE49-F238E27FC236}">
                <a16:creationId xmlns:a16="http://schemas.microsoft.com/office/drawing/2014/main" id="{9AE5539F-3DEF-385B-FB96-2806584D0A10}"/>
              </a:ext>
            </a:extLst>
          </p:cNvPr>
          <p:cNvSpPr txBox="1">
            <a:spLocks noChangeArrowheads="1"/>
          </p:cNvSpPr>
          <p:nvPr/>
        </p:nvSpPr>
        <p:spPr>
          <a:xfrm>
            <a:off x="285651" y="1166018"/>
            <a:ext cx="7126326" cy="55333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tLang="zh-CN" dirty="0"/>
              <a:t>Confederate General Robert E. Lee surrendered on April 9</a:t>
            </a:r>
            <a:r>
              <a:rPr lang="en-US" altLang="zh-CN" baseline="30000" dirty="0"/>
              <a:t>th</a:t>
            </a:r>
            <a:r>
              <a:rPr lang="en-US" altLang="zh-CN" dirty="0"/>
              <a:t>, 1865. </a:t>
            </a:r>
          </a:p>
          <a:p>
            <a:pPr>
              <a:defRPr/>
            </a:pPr>
            <a:r>
              <a:rPr lang="en-US" altLang="zh-CN" dirty="0"/>
              <a:t>On 14</a:t>
            </a:r>
            <a:r>
              <a:rPr lang="en-US" altLang="zh-CN" baseline="30000" dirty="0"/>
              <a:t>th</a:t>
            </a:r>
            <a:r>
              <a:rPr lang="en-US" altLang="zh-CN" dirty="0"/>
              <a:t> April, President Lincoln was shot and assassinated at a theatre.</a:t>
            </a:r>
          </a:p>
          <a:p>
            <a:pPr>
              <a:defRPr/>
            </a:pPr>
            <a:r>
              <a:rPr lang="en-US" altLang="zh-CN" dirty="0"/>
              <a:t>Later that year America began the ‘Reconstruction era’, in which slaves were freed, and the Confederate States readmitted to the Union.</a:t>
            </a:r>
          </a:p>
          <a:p>
            <a:pPr>
              <a:defRPr/>
            </a:pPr>
            <a:r>
              <a:rPr lang="en-US" altLang="zh-CN" dirty="0"/>
              <a:t>New President Andrew Johnson pardoned many Confederate soldiers. Rebuilding of the south’s farms, railways, and cities began. Some southern paramilitary groups attacked black people and black civil rights.</a:t>
            </a:r>
            <a:endParaRPr lang="en-US" altLang="zh-CN" sz="2600" b="1" dirty="0"/>
          </a:p>
        </p:txBody>
      </p:sp>
      <p:sp>
        <p:nvSpPr>
          <p:cNvPr id="7" name="Rectangle 2">
            <a:extLst>
              <a:ext uri="{FF2B5EF4-FFF2-40B4-BE49-F238E27FC236}">
                <a16:creationId xmlns:a16="http://schemas.microsoft.com/office/drawing/2014/main" id="{5F73AFE8-05CA-2EF3-5053-543265E38D14}"/>
              </a:ext>
            </a:extLst>
          </p:cNvPr>
          <p:cNvSpPr txBox="1">
            <a:spLocks noChangeArrowheads="1"/>
          </p:cNvSpPr>
          <p:nvPr/>
        </p:nvSpPr>
        <p:spPr>
          <a:xfrm>
            <a:off x="838200" y="24492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zh-CN" sz="4000"/>
              <a:t>The U.S.A. Civil War – 1861-5</a:t>
            </a:r>
            <a:br>
              <a:rPr lang="en-US" altLang="zh-CN" sz="4000"/>
            </a:br>
            <a:endParaRPr lang="en-US" altLang="zh-CN" sz="4000" dirty="0"/>
          </a:p>
        </p:txBody>
      </p:sp>
      <p:sp>
        <p:nvSpPr>
          <p:cNvPr id="11" name="AutoShape 2" descr="(Although most of us don't like him) Rest in peace Andrew Johnson who ...">
            <a:extLst>
              <a:ext uri="{FF2B5EF4-FFF2-40B4-BE49-F238E27FC236}">
                <a16:creationId xmlns:a16="http://schemas.microsoft.com/office/drawing/2014/main" id="{8B84EE0E-B583-3B88-89F9-995B6E40CBD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 name="AutoShape 4" descr="(Although most of us don't like him) Rest in peace Andrew Johnson who ...">
            <a:extLst>
              <a:ext uri="{FF2B5EF4-FFF2-40B4-BE49-F238E27FC236}">
                <a16:creationId xmlns:a16="http://schemas.microsoft.com/office/drawing/2014/main" id="{AA3F1C67-AAD4-ECC8-E5AD-A75FFB55F3A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 name="AutoShape 6" descr="Andrew Johnson | American Battlefield Trust">
            <a:extLst>
              <a:ext uri="{FF2B5EF4-FFF2-40B4-BE49-F238E27FC236}">
                <a16:creationId xmlns:a16="http://schemas.microsoft.com/office/drawing/2014/main" id="{76FA29B5-AA7B-CA3D-6E36-2717866175A6}"/>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3080" name="Picture 8" descr="Portrait of Democratic President Andrew Johnson. 1865">
            <a:extLst>
              <a:ext uri="{FF2B5EF4-FFF2-40B4-BE49-F238E27FC236}">
                <a16:creationId xmlns:a16="http://schemas.microsoft.com/office/drawing/2014/main" id="{56A9E0B1-B416-073B-6A05-4C7ECCC62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3480" y="3733800"/>
            <a:ext cx="2588665" cy="327660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6E5CBC1-F154-6E5C-8B83-D7808D6CCAFC}"/>
              </a:ext>
            </a:extLst>
          </p:cNvPr>
          <p:cNvSpPr txBox="1"/>
          <p:nvPr/>
        </p:nvSpPr>
        <p:spPr>
          <a:xfrm>
            <a:off x="10570806" y="4664214"/>
            <a:ext cx="1718388" cy="769441"/>
          </a:xfrm>
          <a:prstGeom prst="rect">
            <a:avLst/>
          </a:prstGeom>
          <a:noFill/>
        </p:spPr>
        <p:txBody>
          <a:bodyPr wrap="square" rtlCol="0">
            <a:spAutoFit/>
          </a:bodyPr>
          <a:lstStyle/>
          <a:p>
            <a:r>
              <a:rPr lang="en-US" altLang="zh-CN" sz="2200" dirty="0"/>
              <a:t>Andrew Johnson</a:t>
            </a:r>
            <a:endParaRPr lang="en-GB" sz="2200" dirty="0"/>
          </a:p>
        </p:txBody>
      </p:sp>
    </p:spTree>
    <p:extLst>
      <p:ext uri="{BB962C8B-B14F-4D97-AF65-F5344CB8AC3E}">
        <p14:creationId xmlns:p14="http://schemas.microsoft.com/office/powerpoint/2010/main" val="2748468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50AB1-F85D-B0B6-6030-82FE313C4898}"/>
              </a:ext>
            </a:extLst>
          </p:cNvPr>
          <p:cNvSpPr>
            <a:spLocks noGrp="1"/>
          </p:cNvSpPr>
          <p:nvPr>
            <p:ph type="title"/>
          </p:nvPr>
        </p:nvSpPr>
        <p:spPr/>
        <p:txBody>
          <a:bodyPr/>
          <a:lstStyle/>
          <a:p>
            <a:r>
              <a:rPr lang="en-GB" dirty="0"/>
              <a:t>Chapter 1</a:t>
            </a:r>
          </a:p>
        </p:txBody>
      </p:sp>
      <p:sp>
        <p:nvSpPr>
          <p:cNvPr id="3" name="Content Placeholder 2">
            <a:extLst>
              <a:ext uri="{FF2B5EF4-FFF2-40B4-BE49-F238E27FC236}">
                <a16:creationId xmlns:a16="http://schemas.microsoft.com/office/drawing/2014/main" id="{7B4D7929-0550-180A-31D0-C1D5BA55655F}"/>
              </a:ext>
            </a:extLst>
          </p:cNvPr>
          <p:cNvSpPr>
            <a:spLocks noGrp="1"/>
          </p:cNvSpPr>
          <p:nvPr>
            <p:ph idx="1"/>
          </p:nvPr>
        </p:nvSpPr>
        <p:spPr>
          <a:xfrm>
            <a:off x="838200" y="1617786"/>
            <a:ext cx="10515600" cy="4969626"/>
          </a:xfrm>
        </p:spPr>
        <p:txBody>
          <a:bodyPr>
            <a:normAutofit lnSpcReduction="10000"/>
          </a:bodyPr>
          <a:lstStyle/>
          <a:p>
            <a:r>
              <a:rPr lang="en-GB" dirty="0"/>
              <a:t>What is revealed of the story’s wider setting – the civil war, American sentiments, etc?</a:t>
            </a:r>
          </a:p>
          <a:p>
            <a:endParaRPr lang="en-GB" sz="2400" dirty="0"/>
          </a:p>
          <a:p>
            <a:r>
              <a:rPr lang="en-GB" dirty="0"/>
              <a:t>What are the ‘pilgrim’ references about?</a:t>
            </a:r>
          </a:p>
          <a:p>
            <a:endParaRPr lang="en-GB" sz="2400" dirty="0"/>
          </a:p>
          <a:p>
            <a:r>
              <a:rPr lang="en-GB" dirty="0"/>
              <a:t>How is the chapter structured?</a:t>
            </a:r>
          </a:p>
          <a:p>
            <a:pPr lvl="1"/>
            <a:endParaRPr lang="en-GB" sz="1400" dirty="0"/>
          </a:p>
          <a:p>
            <a:pPr lvl="2"/>
            <a:r>
              <a:rPr lang="en-GB" sz="2400" dirty="0"/>
              <a:t>The sisters face a new situation.</a:t>
            </a:r>
          </a:p>
          <a:p>
            <a:pPr lvl="2"/>
            <a:r>
              <a:rPr lang="en-GB" sz="2400" dirty="0"/>
              <a:t>They make an error in how to behave / think / feel.</a:t>
            </a:r>
          </a:p>
          <a:p>
            <a:pPr lvl="2"/>
            <a:r>
              <a:rPr lang="en-GB" sz="2400" dirty="0"/>
              <a:t>They learn from experience, and/or good advice.</a:t>
            </a:r>
          </a:p>
          <a:p>
            <a:pPr lvl="2"/>
            <a:r>
              <a:rPr lang="en-GB" sz="2400" dirty="0"/>
              <a:t>They correct their mistakes wherever possible.</a:t>
            </a:r>
          </a:p>
          <a:p>
            <a:pPr lvl="2"/>
            <a:r>
              <a:rPr lang="en-GB" sz="2400" dirty="0"/>
              <a:t>There is forgiveness, improved character, and resolution to do better.</a:t>
            </a:r>
          </a:p>
        </p:txBody>
      </p:sp>
      <p:pic>
        <p:nvPicPr>
          <p:cNvPr id="4" name="Picture 3">
            <a:extLst>
              <a:ext uri="{FF2B5EF4-FFF2-40B4-BE49-F238E27FC236}">
                <a16:creationId xmlns:a16="http://schemas.microsoft.com/office/drawing/2014/main" id="{DBFF356B-8920-40C3-7A3A-91CD44A76F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80469" y="2230016"/>
            <a:ext cx="2391063" cy="3519644"/>
          </a:xfrm>
          <a:prstGeom prst="rect">
            <a:avLst/>
          </a:prstGeom>
        </p:spPr>
      </p:pic>
      <p:sp>
        <p:nvSpPr>
          <p:cNvPr id="5" name="TextBox 4">
            <a:extLst>
              <a:ext uri="{FF2B5EF4-FFF2-40B4-BE49-F238E27FC236}">
                <a16:creationId xmlns:a16="http://schemas.microsoft.com/office/drawing/2014/main" id="{1097F81E-DAC2-0F2F-2EDC-347EC0A854AD}"/>
              </a:ext>
            </a:extLst>
          </p:cNvPr>
          <p:cNvSpPr txBox="1"/>
          <p:nvPr/>
        </p:nvSpPr>
        <p:spPr>
          <a:xfrm>
            <a:off x="7533008" y="2302918"/>
            <a:ext cx="1847461" cy="1569660"/>
          </a:xfrm>
          <a:prstGeom prst="rect">
            <a:avLst/>
          </a:prstGeom>
          <a:noFill/>
        </p:spPr>
        <p:txBody>
          <a:bodyPr wrap="square" rtlCol="0">
            <a:spAutoFit/>
          </a:bodyPr>
          <a:lstStyle/>
          <a:p>
            <a:r>
              <a:rPr lang="en-GB" sz="2400" i="1" dirty="0">
                <a:solidFill>
                  <a:srgbClr val="0070C0"/>
                </a:solidFill>
              </a:rPr>
              <a:t>The Pilgrim’s Progress </a:t>
            </a:r>
            <a:r>
              <a:rPr lang="en-GB" sz="2400" dirty="0">
                <a:solidFill>
                  <a:srgbClr val="0070C0"/>
                </a:solidFill>
              </a:rPr>
              <a:t>(1678) by John Bunyan</a:t>
            </a:r>
            <a:endParaRPr lang="en-GB" sz="2400" i="1" dirty="0">
              <a:solidFill>
                <a:srgbClr val="0070C0"/>
              </a:solidFill>
            </a:endParaRPr>
          </a:p>
        </p:txBody>
      </p:sp>
    </p:spTree>
    <p:extLst>
      <p:ext uri="{BB962C8B-B14F-4D97-AF65-F5344CB8AC3E}">
        <p14:creationId xmlns:p14="http://schemas.microsoft.com/office/powerpoint/2010/main" val="17653692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554F0-E21E-7911-09D3-CF2CC0B08E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145D5-F132-9D2E-9733-7E15626B6420}"/>
              </a:ext>
            </a:extLst>
          </p:cNvPr>
          <p:cNvSpPr>
            <a:spLocks noGrp="1"/>
          </p:cNvSpPr>
          <p:nvPr>
            <p:ph type="title"/>
          </p:nvPr>
        </p:nvSpPr>
        <p:spPr/>
        <p:txBody>
          <a:bodyPr/>
          <a:lstStyle/>
          <a:p>
            <a:r>
              <a:rPr lang="en-GB" dirty="0"/>
              <a:t>Chapter 1</a:t>
            </a:r>
          </a:p>
        </p:txBody>
      </p:sp>
      <p:sp>
        <p:nvSpPr>
          <p:cNvPr id="3" name="Content Placeholder 2">
            <a:extLst>
              <a:ext uri="{FF2B5EF4-FFF2-40B4-BE49-F238E27FC236}">
                <a16:creationId xmlns:a16="http://schemas.microsoft.com/office/drawing/2014/main" id="{2B617C79-661E-8571-4378-80D2DCC6C4F5}"/>
              </a:ext>
            </a:extLst>
          </p:cNvPr>
          <p:cNvSpPr>
            <a:spLocks noGrp="1"/>
          </p:cNvSpPr>
          <p:nvPr>
            <p:ph idx="1"/>
          </p:nvPr>
        </p:nvSpPr>
        <p:spPr>
          <a:xfrm>
            <a:off x="838200" y="1825625"/>
            <a:ext cx="10515600" cy="4667250"/>
          </a:xfrm>
        </p:spPr>
        <p:txBody>
          <a:bodyPr>
            <a:normAutofit fontScale="92500" lnSpcReduction="20000"/>
          </a:bodyPr>
          <a:lstStyle/>
          <a:p>
            <a:r>
              <a:rPr lang="en-GB" dirty="0"/>
              <a:t>What are the sisters’ characters like? </a:t>
            </a:r>
          </a:p>
          <a:p>
            <a:pPr marL="0" indent="0">
              <a:buNone/>
            </a:pPr>
            <a:endParaRPr lang="en-GB" sz="500" dirty="0"/>
          </a:p>
          <a:p>
            <a:r>
              <a:rPr lang="en-GB" dirty="0"/>
              <a:t>Who is </a:t>
            </a:r>
            <a:r>
              <a:rPr lang="en-GB" i="1" dirty="0"/>
              <a:t>Little Women </a:t>
            </a:r>
            <a:r>
              <a:rPr lang="en-GB" dirty="0"/>
              <a:t>written for? </a:t>
            </a:r>
          </a:p>
          <a:p>
            <a:endParaRPr lang="en-GB" sz="600" dirty="0"/>
          </a:p>
          <a:p>
            <a:r>
              <a:rPr lang="en-GB" dirty="0"/>
              <a:t>What was Louisa M. Alcott’s purpose in writing? </a:t>
            </a:r>
          </a:p>
          <a:p>
            <a:endParaRPr lang="en-GB" dirty="0">
              <a:latin typeface="+mj-lt"/>
            </a:endParaRPr>
          </a:p>
          <a:p>
            <a:pPr lvl="1"/>
            <a:r>
              <a:rPr lang="en-GB" sz="2600" b="1" dirty="0">
                <a:latin typeface="+mj-lt"/>
              </a:rPr>
              <a:t>She wrote in her diary: “</a:t>
            </a:r>
            <a:r>
              <a:rPr lang="en-GB" sz="2600" b="1" i="1" dirty="0">
                <a:latin typeface="+mj-lt"/>
              </a:rPr>
              <a:t>And I begin Little Women. So I plod away, though I don’t enjoy this sort of thing. Never liked girls or knew many, except my sisters; though our queer plays and experiences may prove interesting, though I doubt it.”</a:t>
            </a:r>
          </a:p>
          <a:p>
            <a:pPr lvl="1"/>
            <a:endParaRPr lang="en-GB" sz="2600" b="1" dirty="0">
              <a:latin typeface="+mj-lt"/>
            </a:endParaRPr>
          </a:p>
          <a:p>
            <a:pPr lvl="1"/>
            <a:r>
              <a:rPr lang="en-GB" sz="2600" b="1" dirty="0">
                <a:latin typeface="+mj-lt"/>
              </a:rPr>
              <a:t>“</a:t>
            </a:r>
            <a:r>
              <a:rPr lang="en-GB" sz="2600" b="1" i="1" dirty="0">
                <a:effectLst/>
                <a:latin typeface="+mj-lt"/>
              </a:rPr>
              <a:t>Proof of whole book came. It reads better than I expected. Not a bit sensational, but simple and true, for we really lived most of it; and if it succeeds that will be the reason of it. Mr. N. Likes it better now, and says some girls who have read the manuscripts say it is ‘splendid!” As it is for them, they are the best critics, so I should be satisfied.”</a:t>
            </a:r>
            <a:endParaRPr lang="en-GB" sz="2600" dirty="0">
              <a:latin typeface="+mj-lt"/>
            </a:endParaRPr>
          </a:p>
        </p:txBody>
      </p:sp>
      <p:sp>
        <p:nvSpPr>
          <p:cNvPr id="4" name="TextBox 3">
            <a:extLst>
              <a:ext uri="{FF2B5EF4-FFF2-40B4-BE49-F238E27FC236}">
                <a16:creationId xmlns:a16="http://schemas.microsoft.com/office/drawing/2014/main" id="{B4871929-62AC-2EB0-FD5C-3D0959900D6E}"/>
              </a:ext>
            </a:extLst>
          </p:cNvPr>
          <p:cNvSpPr txBox="1"/>
          <p:nvPr/>
        </p:nvSpPr>
        <p:spPr>
          <a:xfrm>
            <a:off x="8444204" y="1398265"/>
            <a:ext cx="2517710" cy="1384995"/>
          </a:xfrm>
          <a:prstGeom prst="rect">
            <a:avLst/>
          </a:prstGeom>
          <a:noFill/>
        </p:spPr>
        <p:txBody>
          <a:bodyPr wrap="square" rtlCol="0">
            <a:spAutoFit/>
          </a:bodyPr>
          <a:lstStyle/>
          <a:p>
            <a:r>
              <a:rPr lang="en-GB" sz="2800" dirty="0">
                <a:solidFill>
                  <a:srgbClr val="0070C0"/>
                </a:solidFill>
              </a:rPr>
              <a:t>Do writers always know why they write?</a:t>
            </a:r>
          </a:p>
        </p:txBody>
      </p:sp>
    </p:spTree>
    <p:extLst>
      <p:ext uri="{BB962C8B-B14F-4D97-AF65-F5344CB8AC3E}">
        <p14:creationId xmlns:p14="http://schemas.microsoft.com/office/powerpoint/2010/main" val="509395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1875A-5D61-C7A9-3466-95BD21E178FE}"/>
              </a:ext>
            </a:extLst>
          </p:cNvPr>
          <p:cNvSpPr>
            <a:spLocks noGrp="1"/>
          </p:cNvSpPr>
          <p:nvPr>
            <p:ph type="title"/>
          </p:nvPr>
        </p:nvSpPr>
        <p:spPr/>
        <p:txBody>
          <a:bodyPr/>
          <a:lstStyle/>
          <a:p>
            <a:r>
              <a:rPr lang="en-GB" dirty="0"/>
              <a:t>Volume One </a:t>
            </a:r>
            <a:r>
              <a:rPr lang="en-GB" sz="4000" dirty="0"/>
              <a:t>(and this continues in Volume 2)</a:t>
            </a:r>
            <a:endParaRPr lang="en-GB" dirty="0"/>
          </a:p>
        </p:txBody>
      </p:sp>
      <p:sp>
        <p:nvSpPr>
          <p:cNvPr id="3" name="Content Placeholder 2">
            <a:extLst>
              <a:ext uri="{FF2B5EF4-FFF2-40B4-BE49-F238E27FC236}">
                <a16:creationId xmlns:a16="http://schemas.microsoft.com/office/drawing/2014/main" id="{81799F10-B337-6C73-0E6C-C529C9C783CE}"/>
              </a:ext>
            </a:extLst>
          </p:cNvPr>
          <p:cNvSpPr>
            <a:spLocks noGrp="1"/>
          </p:cNvSpPr>
          <p:nvPr>
            <p:ph idx="1"/>
          </p:nvPr>
        </p:nvSpPr>
        <p:spPr/>
        <p:txBody>
          <a:bodyPr>
            <a:normAutofit fontScale="92500"/>
          </a:bodyPr>
          <a:lstStyle/>
          <a:p>
            <a:r>
              <a:rPr lang="en-GB" dirty="0"/>
              <a:t>Jo learns to control her bad temper.</a:t>
            </a:r>
          </a:p>
          <a:p>
            <a:r>
              <a:rPr lang="en-GB" dirty="0"/>
              <a:t>Meg learns not to focus selfishly on fashion and trivial things.</a:t>
            </a:r>
          </a:p>
          <a:p>
            <a:r>
              <a:rPr lang="en-GB" dirty="0"/>
              <a:t>Beth learns to be brave and talk to people.</a:t>
            </a:r>
          </a:p>
          <a:p>
            <a:r>
              <a:rPr lang="en-GB" dirty="0"/>
              <a:t>Amy learns not to follow the crowd at school.</a:t>
            </a:r>
          </a:p>
          <a:p>
            <a:r>
              <a:rPr lang="en-GB" dirty="0"/>
              <a:t>Laurie learns to be loyal to his grandfather and study better.</a:t>
            </a:r>
          </a:p>
          <a:p>
            <a:r>
              <a:rPr lang="en-GB" dirty="0"/>
              <a:t>Mr Laurence learns to be relaxed with Laurie’s education.</a:t>
            </a:r>
          </a:p>
          <a:p>
            <a:endParaRPr lang="en-GB" dirty="0"/>
          </a:p>
          <a:p>
            <a:r>
              <a:rPr lang="en-GB" dirty="0"/>
              <a:t>(Mrs March, the girls’ mother, is usually an example of an older woman who has learnt life’s lessons and is applying them humbly and effectively.)</a:t>
            </a:r>
          </a:p>
        </p:txBody>
      </p:sp>
    </p:spTree>
    <p:extLst>
      <p:ext uri="{BB962C8B-B14F-4D97-AF65-F5344CB8AC3E}">
        <p14:creationId xmlns:p14="http://schemas.microsoft.com/office/powerpoint/2010/main" val="275759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05AD6-F77A-C5A9-A4D2-FF519897E12F}"/>
              </a:ext>
            </a:extLst>
          </p:cNvPr>
          <p:cNvSpPr>
            <a:spLocks noGrp="1"/>
          </p:cNvSpPr>
          <p:nvPr>
            <p:ph type="title"/>
          </p:nvPr>
        </p:nvSpPr>
        <p:spPr/>
        <p:txBody>
          <a:bodyPr/>
          <a:lstStyle/>
          <a:p>
            <a:r>
              <a:rPr lang="en-GB" dirty="0"/>
              <a:t>Chapter 1</a:t>
            </a:r>
          </a:p>
        </p:txBody>
      </p:sp>
      <p:sp>
        <p:nvSpPr>
          <p:cNvPr id="3" name="Content Placeholder 2">
            <a:extLst>
              <a:ext uri="{FF2B5EF4-FFF2-40B4-BE49-F238E27FC236}">
                <a16:creationId xmlns:a16="http://schemas.microsoft.com/office/drawing/2014/main" id="{B700B231-2B61-B7C6-12C7-AFBB447A1C64}"/>
              </a:ext>
            </a:extLst>
          </p:cNvPr>
          <p:cNvSpPr>
            <a:spLocks noGrp="1"/>
          </p:cNvSpPr>
          <p:nvPr>
            <p:ph idx="1"/>
          </p:nvPr>
        </p:nvSpPr>
        <p:spPr/>
        <p:txBody>
          <a:bodyPr>
            <a:normAutofit lnSpcReduction="10000"/>
          </a:bodyPr>
          <a:lstStyle/>
          <a:p>
            <a:endParaRPr lang="en-GB" sz="1600" dirty="0"/>
          </a:p>
          <a:p>
            <a:r>
              <a:rPr lang="en-GB" sz="3000" dirty="0"/>
              <a:t>How much of chapter 1’s content is depicted in the 2019 film? </a:t>
            </a:r>
          </a:p>
          <a:p>
            <a:pPr marL="0" indent="0">
              <a:buNone/>
            </a:pPr>
            <a:r>
              <a:rPr lang="en-GB" sz="3000" dirty="0"/>
              <a:t>	</a:t>
            </a:r>
            <a:r>
              <a:rPr lang="en-GB" dirty="0"/>
              <a:t>(after 25 minutes, when we have seen Jo in New York with her 	publisher, talking to Bhaer, earlier meeting Laurie, Amy with 	Laurie at a French ball, etc… and then Jo receiving news that 	Beth is ill).</a:t>
            </a:r>
          </a:p>
          <a:p>
            <a:pPr marL="0" indent="0">
              <a:buNone/>
            </a:pPr>
            <a:endParaRPr lang="en-GB" sz="3000" dirty="0"/>
          </a:p>
          <a:p>
            <a:r>
              <a:rPr lang="en-GB" sz="3000" dirty="0"/>
              <a:t>What is similar / different to the original novel?</a:t>
            </a:r>
          </a:p>
          <a:p>
            <a:endParaRPr lang="en-GB" sz="3000" dirty="0"/>
          </a:p>
          <a:p>
            <a:r>
              <a:rPr lang="en-GB" sz="3000" dirty="0"/>
              <a:t>Is this a ‘fair’ and ‘faithful’ adaptation? Why, or why not?</a:t>
            </a:r>
          </a:p>
        </p:txBody>
      </p:sp>
    </p:spTree>
    <p:extLst>
      <p:ext uri="{BB962C8B-B14F-4D97-AF65-F5344CB8AC3E}">
        <p14:creationId xmlns:p14="http://schemas.microsoft.com/office/powerpoint/2010/main" val="734938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DCBF5-078E-529E-4303-DE5A6CFF7493}"/>
              </a:ext>
            </a:extLst>
          </p:cNvPr>
          <p:cNvSpPr>
            <a:spLocks noGrp="1"/>
          </p:cNvSpPr>
          <p:nvPr>
            <p:ph type="title"/>
          </p:nvPr>
        </p:nvSpPr>
        <p:spPr/>
        <p:txBody>
          <a:bodyPr/>
          <a:lstStyle/>
          <a:p>
            <a:r>
              <a:rPr lang="en-GB" dirty="0"/>
              <a:t>‘Faithful’ adaptations</a:t>
            </a:r>
          </a:p>
        </p:txBody>
      </p:sp>
      <p:sp>
        <p:nvSpPr>
          <p:cNvPr id="3" name="Content Placeholder 2">
            <a:extLst>
              <a:ext uri="{FF2B5EF4-FFF2-40B4-BE49-F238E27FC236}">
                <a16:creationId xmlns:a16="http://schemas.microsoft.com/office/drawing/2014/main" id="{A436B0C6-83E0-87D0-5B4B-7737A9AE8172}"/>
              </a:ext>
            </a:extLst>
          </p:cNvPr>
          <p:cNvSpPr>
            <a:spLocks noGrp="1"/>
          </p:cNvSpPr>
          <p:nvPr>
            <p:ph idx="1"/>
          </p:nvPr>
        </p:nvSpPr>
        <p:spPr/>
        <p:txBody>
          <a:bodyPr>
            <a:normAutofit/>
          </a:bodyPr>
          <a:lstStyle/>
          <a:p>
            <a:r>
              <a:rPr lang="en-GB" sz="3200" dirty="0"/>
              <a:t>Brainstorm:</a:t>
            </a:r>
          </a:p>
          <a:p>
            <a:pPr marL="914400" lvl="2" indent="0">
              <a:buNone/>
            </a:pPr>
            <a:endParaRPr lang="en-GB" sz="2400" dirty="0"/>
          </a:p>
          <a:p>
            <a:pPr marL="914400" lvl="2" indent="0">
              <a:buNone/>
            </a:pPr>
            <a:r>
              <a:rPr lang="en-GB" sz="2800" dirty="0">
                <a:solidFill>
                  <a:srgbClr val="0070C0"/>
                </a:solidFill>
              </a:rPr>
              <a:t>How many films adapted from literature can you think of?</a:t>
            </a:r>
          </a:p>
          <a:p>
            <a:pPr marL="914400" lvl="2" indent="0">
              <a:buNone/>
            </a:pPr>
            <a:endParaRPr lang="en-GB" sz="2800" dirty="0"/>
          </a:p>
          <a:p>
            <a:pPr marL="914400" lvl="2" indent="0">
              <a:buNone/>
            </a:pPr>
            <a:r>
              <a:rPr lang="en-GB" sz="2800" dirty="0"/>
              <a:t>What makes them </a:t>
            </a:r>
            <a:r>
              <a:rPr lang="en-GB" sz="2800" dirty="0">
                <a:solidFill>
                  <a:srgbClr val="00B050"/>
                </a:solidFill>
              </a:rPr>
              <a:t>‘faithful’?</a:t>
            </a:r>
          </a:p>
          <a:p>
            <a:pPr marL="914400" lvl="2" indent="0">
              <a:buNone/>
            </a:pPr>
            <a:endParaRPr lang="en-GB" sz="2800" dirty="0"/>
          </a:p>
          <a:p>
            <a:pPr marL="914400" lvl="2" indent="0">
              <a:buNone/>
            </a:pPr>
            <a:r>
              <a:rPr lang="en-GB" sz="2800" dirty="0"/>
              <a:t>Are they reliable, accurate, trustworthy, reflecting the author’s aims/style of storytelling… ?</a:t>
            </a:r>
          </a:p>
        </p:txBody>
      </p:sp>
    </p:spTree>
    <p:extLst>
      <p:ext uri="{BB962C8B-B14F-4D97-AF65-F5344CB8AC3E}">
        <p14:creationId xmlns:p14="http://schemas.microsoft.com/office/powerpoint/2010/main" val="32066559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C2A48-F0B4-0673-70E6-A1E81635660A}"/>
              </a:ext>
            </a:extLst>
          </p:cNvPr>
          <p:cNvSpPr>
            <a:spLocks noGrp="1"/>
          </p:cNvSpPr>
          <p:nvPr>
            <p:ph type="title"/>
          </p:nvPr>
        </p:nvSpPr>
        <p:spPr/>
        <p:txBody>
          <a:bodyPr/>
          <a:lstStyle/>
          <a:p>
            <a:r>
              <a:rPr lang="en-GB" dirty="0"/>
              <a:t>Adaptation – Literature and Film</a:t>
            </a:r>
          </a:p>
        </p:txBody>
      </p:sp>
      <p:sp>
        <p:nvSpPr>
          <p:cNvPr id="3" name="Content Placeholder 2">
            <a:extLst>
              <a:ext uri="{FF2B5EF4-FFF2-40B4-BE49-F238E27FC236}">
                <a16:creationId xmlns:a16="http://schemas.microsoft.com/office/drawing/2014/main" id="{E2C988E0-3AC8-C785-7647-AB1DF094DC4F}"/>
              </a:ext>
            </a:extLst>
          </p:cNvPr>
          <p:cNvSpPr>
            <a:spLocks noGrp="1"/>
          </p:cNvSpPr>
          <p:nvPr>
            <p:ph idx="1"/>
          </p:nvPr>
        </p:nvSpPr>
        <p:spPr>
          <a:xfrm>
            <a:off x="838200" y="2141537"/>
            <a:ext cx="10515600" cy="4351338"/>
          </a:xfrm>
        </p:spPr>
        <p:txBody>
          <a:bodyPr>
            <a:normAutofit/>
          </a:bodyPr>
          <a:lstStyle/>
          <a:p>
            <a:r>
              <a:rPr lang="en-GB" sz="3000" dirty="0"/>
              <a:t>What can a novel do that a film can’t?</a:t>
            </a:r>
          </a:p>
          <a:p>
            <a:endParaRPr lang="en-GB" sz="3000" dirty="0"/>
          </a:p>
          <a:p>
            <a:r>
              <a:rPr lang="en-GB" sz="3000" dirty="0"/>
              <a:t>What can a film do that a novel can’t?</a:t>
            </a:r>
          </a:p>
          <a:p>
            <a:endParaRPr lang="en-GB" sz="3000" dirty="0"/>
          </a:p>
          <a:p>
            <a:r>
              <a:rPr lang="en-GB" sz="3000" dirty="0"/>
              <a:t>How do their natures as art forms affect their storytelling?</a:t>
            </a:r>
          </a:p>
        </p:txBody>
      </p:sp>
    </p:spTree>
    <p:extLst>
      <p:ext uri="{BB962C8B-B14F-4D97-AF65-F5344CB8AC3E}">
        <p14:creationId xmlns:p14="http://schemas.microsoft.com/office/powerpoint/2010/main" val="13166682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1B09-A758-C50F-7A51-4A3F21946AFE}"/>
              </a:ext>
            </a:extLst>
          </p:cNvPr>
          <p:cNvSpPr>
            <a:spLocks noGrp="1"/>
          </p:cNvSpPr>
          <p:nvPr>
            <p:ph type="title"/>
          </p:nvPr>
        </p:nvSpPr>
        <p:spPr/>
        <p:txBody>
          <a:bodyPr/>
          <a:lstStyle/>
          <a:p>
            <a:r>
              <a:rPr lang="en-GB" dirty="0"/>
              <a:t>Adaptation – Literature and Film</a:t>
            </a:r>
          </a:p>
        </p:txBody>
      </p:sp>
      <p:sp>
        <p:nvSpPr>
          <p:cNvPr id="4" name="Content Placeholder 3">
            <a:extLst>
              <a:ext uri="{FF2B5EF4-FFF2-40B4-BE49-F238E27FC236}">
                <a16:creationId xmlns:a16="http://schemas.microsoft.com/office/drawing/2014/main" id="{3F6668A6-BA17-6149-B535-CB8489C52485}"/>
              </a:ext>
            </a:extLst>
          </p:cNvPr>
          <p:cNvSpPr>
            <a:spLocks noGrp="1"/>
          </p:cNvSpPr>
          <p:nvPr>
            <p:ph sz="half" idx="1"/>
          </p:nvPr>
        </p:nvSpPr>
        <p:spPr>
          <a:xfrm>
            <a:off x="838200" y="1825624"/>
            <a:ext cx="5777204" cy="4817771"/>
          </a:xfrm>
        </p:spPr>
        <p:txBody>
          <a:bodyPr>
            <a:normAutofit/>
          </a:bodyPr>
          <a:lstStyle/>
          <a:p>
            <a:r>
              <a:rPr lang="en-GB" b="1" dirty="0"/>
              <a:t>Novel</a:t>
            </a:r>
          </a:p>
          <a:p>
            <a:endParaRPr lang="en-GB" dirty="0"/>
          </a:p>
          <a:p>
            <a:r>
              <a:rPr lang="en-GB" dirty="0"/>
              <a:t>Time – malleable, by tense and 	     	     narrative voice.</a:t>
            </a:r>
          </a:p>
          <a:p>
            <a:endParaRPr lang="en-GB" dirty="0"/>
          </a:p>
          <a:p>
            <a:r>
              <a:rPr lang="en-GB" i="1" dirty="0"/>
              <a:t>Film is very much a ‘temporal art’</a:t>
            </a:r>
          </a:p>
          <a:p>
            <a:endParaRPr lang="en-GB" sz="1100" i="1" dirty="0"/>
          </a:p>
          <a:p>
            <a:r>
              <a:rPr lang="en-GB" i="1" dirty="0"/>
              <a:t>How are other arts experienced through time?</a:t>
            </a:r>
          </a:p>
        </p:txBody>
      </p:sp>
      <p:sp>
        <p:nvSpPr>
          <p:cNvPr id="5" name="Content Placeholder 4">
            <a:extLst>
              <a:ext uri="{FF2B5EF4-FFF2-40B4-BE49-F238E27FC236}">
                <a16:creationId xmlns:a16="http://schemas.microsoft.com/office/drawing/2014/main" id="{F4855EBD-61B5-C39C-A008-7F2864EB74DE}"/>
              </a:ext>
            </a:extLst>
          </p:cNvPr>
          <p:cNvSpPr>
            <a:spLocks noGrp="1"/>
          </p:cNvSpPr>
          <p:nvPr>
            <p:ph sz="half" idx="2"/>
          </p:nvPr>
        </p:nvSpPr>
        <p:spPr>
          <a:xfrm>
            <a:off x="6172200" y="1825624"/>
            <a:ext cx="5181600" cy="4108644"/>
          </a:xfrm>
        </p:spPr>
        <p:txBody>
          <a:bodyPr>
            <a:normAutofit/>
          </a:bodyPr>
          <a:lstStyle/>
          <a:p>
            <a:r>
              <a:rPr lang="en-GB" b="1" dirty="0"/>
              <a:t>Film</a:t>
            </a:r>
          </a:p>
          <a:p>
            <a:endParaRPr lang="en-GB" sz="2700" dirty="0"/>
          </a:p>
          <a:p>
            <a:r>
              <a:rPr lang="en-GB" dirty="0"/>
              <a:t>Time – always forwards, locked to progression of frames. Limited slow motion…</a:t>
            </a:r>
          </a:p>
          <a:p>
            <a:endParaRPr lang="en-GB" dirty="0"/>
          </a:p>
        </p:txBody>
      </p:sp>
      <p:pic>
        <p:nvPicPr>
          <p:cNvPr id="1026" name="Picture 2" descr="Stage Positions. Download and print a copy of this… | by Cool Bill ...">
            <a:extLst>
              <a:ext uri="{FF2B5EF4-FFF2-40B4-BE49-F238E27FC236}">
                <a16:creationId xmlns:a16="http://schemas.microsoft.com/office/drawing/2014/main" id="{8ADFCC72-1169-17D7-AE29-C952D3334F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5189" y="4497355"/>
            <a:ext cx="3670681" cy="22809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ig Bronze Sculptures Statues and Fountains: Bronze Horse Statues ...">
            <a:extLst>
              <a:ext uri="{FF2B5EF4-FFF2-40B4-BE49-F238E27FC236}">
                <a16:creationId xmlns:a16="http://schemas.microsoft.com/office/drawing/2014/main" id="{396E20C8-75B7-EDF3-CF2F-695114CE2B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5870" y="3749866"/>
            <a:ext cx="2193534" cy="3028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1147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26"/>
                                        </p:tgtEl>
                                        <p:attrNameLst>
                                          <p:attrName>style.visibility</p:attrName>
                                        </p:attrNameLst>
                                      </p:cBhvr>
                                      <p:to>
                                        <p:strVal val="visible"/>
                                      </p:to>
                                    </p:set>
                                    <p:anim calcmode="lin" valueType="num">
                                      <p:cBhvr additive="base">
                                        <p:cTn id="25" dur="500" fill="hold"/>
                                        <p:tgtEl>
                                          <p:spTgt spid="1026"/>
                                        </p:tgtEl>
                                        <p:attrNameLst>
                                          <p:attrName>ppt_x</p:attrName>
                                        </p:attrNameLst>
                                      </p:cBhvr>
                                      <p:tavLst>
                                        <p:tav tm="0">
                                          <p:val>
                                            <p:strVal val="#ppt_x"/>
                                          </p:val>
                                        </p:tav>
                                        <p:tav tm="100000">
                                          <p:val>
                                            <p:strVal val="#ppt_x"/>
                                          </p:val>
                                        </p:tav>
                                      </p:tavLst>
                                    </p:anim>
                                    <p:anim calcmode="lin" valueType="num">
                                      <p:cBhvr additive="base">
                                        <p:cTn id="26" dur="500" fill="hold"/>
                                        <p:tgtEl>
                                          <p:spTgt spid="1026"/>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28"/>
                                        </p:tgtEl>
                                        <p:attrNameLst>
                                          <p:attrName>style.visibility</p:attrName>
                                        </p:attrNameLst>
                                      </p:cBhvr>
                                      <p:to>
                                        <p:strVal val="visible"/>
                                      </p:to>
                                    </p:set>
                                    <p:anim calcmode="lin" valueType="num">
                                      <p:cBhvr additive="base">
                                        <p:cTn id="29" dur="500" fill="hold"/>
                                        <p:tgtEl>
                                          <p:spTgt spid="1028"/>
                                        </p:tgtEl>
                                        <p:attrNameLst>
                                          <p:attrName>ppt_x</p:attrName>
                                        </p:attrNameLst>
                                      </p:cBhvr>
                                      <p:tavLst>
                                        <p:tav tm="0">
                                          <p:val>
                                            <p:strVal val="#ppt_x"/>
                                          </p:val>
                                        </p:tav>
                                        <p:tav tm="100000">
                                          <p:val>
                                            <p:strVal val="#ppt_x"/>
                                          </p:val>
                                        </p:tav>
                                      </p:tavLst>
                                    </p:anim>
                                    <p:anim calcmode="lin" valueType="num">
                                      <p:cBhvr additive="base">
                                        <p:cTn id="30"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1B09-A758-C50F-7A51-4A3F21946AFE}"/>
              </a:ext>
            </a:extLst>
          </p:cNvPr>
          <p:cNvSpPr>
            <a:spLocks noGrp="1"/>
          </p:cNvSpPr>
          <p:nvPr>
            <p:ph type="title"/>
          </p:nvPr>
        </p:nvSpPr>
        <p:spPr/>
        <p:txBody>
          <a:bodyPr/>
          <a:lstStyle/>
          <a:p>
            <a:r>
              <a:rPr lang="en-GB" dirty="0"/>
              <a:t>Adaptation – Literature and Film</a:t>
            </a:r>
          </a:p>
        </p:txBody>
      </p:sp>
      <p:sp>
        <p:nvSpPr>
          <p:cNvPr id="4" name="Content Placeholder 3">
            <a:extLst>
              <a:ext uri="{FF2B5EF4-FFF2-40B4-BE49-F238E27FC236}">
                <a16:creationId xmlns:a16="http://schemas.microsoft.com/office/drawing/2014/main" id="{3F6668A6-BA17-6149-B535-CB8489C52485}"/>
              </a:ext>
            </a:extLst>
          </p:cNvPr>
          <p:cNvSpPr>
            <a:spLocks noGrp="1"/>
          </p:cNvSpPr>
          <p:nvPr>
            <p:ph sz="half" idx="1"/>
          </p:nvPr>
        </p:nvSpPr>
        <p:spPr>
          <a:xfrm>
            <a:off x="838201" y="1825625"/>
            <a:ext cx="5257800" cy="4351338"/>
          </a:xfrm>
        </p:spPr>
        <p:txBody>
          <a:bodyPr>
            <a:normAutofit/>
          </a:bodyPr>
          <a:lstStyle/>
          <a:p>
            <a:r>
              <a:rPr lang="en-GB" b="1" dirty="0"/>
              <a:t>Novel</a:t>
            </a:r>
          </a:p>
          <a:p>
            <a:endParaRPr lang="en-GB" dirty="0"/>
          </a:p>
          <a:p>
            <a:r>
              <a:rPr lang="en-GB" dirty="0"/>
              <a:t>Space – malleable, by description, and narrative voice.</a:t>
            </a:r>
          </a:p>
          <a:p>
            <a:endParaRPr lang="en-GB" sz="2400" dirty="0"/>
          </a:p>
          <a:p>
            <a:pPr marL="0" indent="0">
              <a:buNone/>
            </a:pPr>
            <a:r>
              <a:rPr lang="en-GB" i="1" dirty="0"/>
              <a:t>Film language                                        uses shot                                             choices and                                                                   mise-</a:t>
            </a:r>
            <a:r>
              <a:rPr lang="en-GB" i="1" dirty="0" err="1"/>
              <a:t>en</a:t>
            </a:r>
            <a:r>
              <a:rPr lang="en-GB" i="1" dirty="0"/>
              <a:t>-scene:</a:t>
            </a:r>
          </a:p>
        </p:txBody>
      </p:sp>
      <p:sp>
        <p:nvSpPr>
          <p:cNvPr id="5" name="Content Placeholder 4">
            <a:extLst>
              <a:ext uri="{FF2B5EF4-FFF2-40B4-BE49-F238E27FC236}">
                <a16:creationId xmlns:a16="http://schemas.microsoft.com/office/drawing/2014/main" id="{F4855EBD-61B5-C39C-A008-7F2864EB74DE}"/>
              </a:ext>
            </a:extLst>
          </p:cNvPr>
          <p:cNvSpPr>
            <a:spLocks noGrp="1"/>
          </p:cNvSpPr>
          <p:nvPr>
            <p:ph sz="half" idx="2"/>
          </p:nvPr>
        </p:nvSpPr>
        <p:spPr>
          <a:xfrm>
            <a:off x="6186196" y="1825625"/>
            <a:ext cx="5823110" cy="4351338"/>
          </a:xfrm>
        </p:spPr>
        <p:txBody>
          <a:bodyPr>
            <a:normAutofit/>
          </a:bodyPr>
          <a:lstStyle/>
          <a:p>
            <a:r>
              <a:rPr lang="en-GB" b="1" dirty="0"/>
              <a:t>Film</a:t>
            </a:r>
          </a:p>
          <a:p>
            <a:endParaRPr lang="en-GB" dirty="0"/>
          </a:p>
          <a:p>
            <a:r>
              <a:rPr lang="en-GB" dirty="0"/>
              <a:t>Space – locked within the frame. 	       	      Can be changed by cutting, 	   	      shot selection, zoom, etc. </a:t>
            </a:r>
          </a:p>
          <a:p>
            <a:endParaRPr lang="en-GB" dirty="0"/>
          </a:p>
        </p:txBody>
      </p:sp>
      <p:pic>
        <p:nvPicPr>
          <p:cNvPr id="3074" name="Picture 2" descr="Movie Review: Little Women (2019) | The Ace Black Movie Blog">
            <a:extLst>
              <a:ext uri="{FF2B5EF4-FFF2-40B4-BE49-F238E27FC236}">
                <a16:creationId xmlns:a16="http://schemas.microsoft.com/office/drawing/2014/main" id="{3FE39D68-0FA7-A8A4-93B8-8A9073D34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1" y="4445454"/>
            <a:ext cx="4177003" cy="231584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The Biggest Differences Between The Little Women Book And The 2019 ...">
            <a:extLst>
              <a:ext uri="{FF2B5EF4-FFF2-40B4-BE49-F238E27FC236}">
                <a16:creationId xmlns:a16="http://schemas.microsoft.com/office/drawing/2014/main" id="{362E1830-7BAE-43EC-8909-77CD2344C8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7479" y="4445454"/>
            <a:ext cx="4121827" cy="2315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18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1B09-A758-C50F-7A51-4A3F21946AFE}"/>
              </a:ext>
            </a:extLst>
          </p:cNvPr>
          <p:cNvSpPr>
            <a:spLocks noGrp="1"/>
          </p:cNvSpPr>
          <p:nvPr>
            <p:ph type="title"/>
          </p:nvPr>
        </p:nvSpPr>
        <p:spPr/>
        <p:txBody>
          <a:bodyPr/>
          <a:lstStyle/>
          <a:p>
            <a:r>
              <a:rPr lang="en-GB" dirty="0"/>
              <a:t>Adaptation – Literature and Film</a:t>
            </a:r>
          </a:p>
        </p:txBody>
      </p:sp>
      <p:sp>
        <p:nvSpPr>
          <p:cNvPr id="4" name="Content Placeholder 3">
            <a:extLst>
              <a:ext uri="{FF2B5EF4-FFF2-40B4-BE49-F238E27FC236}">
                <a16:creationId xmlns:a16="http://schemas.microsoft.com/office/drawing/2014/main" id="{3F6668A6-BA17-6149-B535-CB8489C52485}"/>
              </a:ext>
            </a:extLst>
          </p:cNvPr>
          <p:cNvSpPr>
            <a:spLocks noGrp="1"/>
          </p:cNvSpPr>
          <p:nvPr>
            <p:ph idx="1"/>
          </p:nvPr>
        </p:nvSpPr>
        <p:spPr>
          <a:xfrm>
            <a:off x="838199" y="1825624"/>
            <a:ext cx="10731759" cy="4939069"/>
          </a:xfrm>
        </p:spPr>
        <p:txBody>
          <a:bodyPr>
            <a:normAutofit/>
          </a:bodyPr>
          <a:lstStyle/>
          <a:p>
            <a:pPr marL="0" indent="0">
              <a:buNone/>
            </a:pPr>
            <a:r>
              <a:rPr lang="en-GB" i="1" dirty="0"/>
              <a:t>‘The student did her homework and then ate her dinner.’</a:t>
            </a:r>
          </a:p>
          <a:p>
            <a:endParaRPr lang="en-GB" i="1" dirty="0"/>
          </a:p>
          <a:p>
            <a:pPr marL="0" indent="0">
              <a:spcAft>
                <a:spcPts val="600"/>
              </a:spcAft>
              <a:buNone/>
            </a:pPr>
            <a:r>
              <a:rPr lang="en-GB" b="1" dirty="0"/>
              <a:t>Discourse time</a:t>
            </a:r>
            <a:r>
              <a:rPr lang="en-GB" dirty="0"/>
              <a:t>: the time it takes to read or experience the sentence/clip.</a:t>
            </a:r>
          </a:p>
          <a:p>
            <a:pPr marL="0" indent="0">
              <a:spcAft>
                <a:spcPts val="600"/>
              </a:spcAft>
              <a:buNone/>
            </a:pPr>
            <a:r>
              <a:rPr lang="en-GB" b="1" dirty="0"/>
              <a:t>Narrative time</a:t>
            </a:r>
            <a:r>
              <a:rPr lang="en-GB" dirty="0"/>
              <a:t>: the time that passes in the narrative world.</a:t>
            </a:r>
          </a:p>
          <a:p>
            <a:pPr marL="0" indent="0">
              <a:spcAft>
                <a:spcPts val="600"/>
              </a:spcAft>
              <a:buNone/>
            </a:pPr>
            <a:endParaRPr lang="en-GB" sz="1800" dirty="0"/>
          </a:p>
          <a:p>
            <a:pPr marL="0" indent="0">
              <a:spcAft>
                <a:spcPts val="600"/>
              </a:spcAft>
              <a:buNone/>
            </a:pPr>
            <a:r>
              <a:rPr lang="en-GB" b="1" dirty="0"/>
              <a:t>Focalisation</a:t>
            </a:r>
            <a:r>
              <a:rPr lang="en-GB" dirty="0"/>
              <a:t>: the viewpoint of the narrator, which reveals character and 		 </a:t>
            </a:r>
            <a:r>
              <a:rPr lang="en-GB" dirty="0" err="1"/>
              <a:t>storyworld</a:t>
            </a:r>
            <a:r>
              <a:rPr lang="en-GB" dirty="0"/>
              <a:t> - how near or distant are they; what do they tell 		 or not tell? etc.</a:t>
            </a:r>
            <a:endParaRPr lang="en-GB" i="1" dirty="0"/>
          </a:p>
          <a:p>
            <a:pPr marL="0" indent="0">
              <a:spcAft>
                <a:spcPts val="600"/>
              </a:spcAft>
              <a:buNone/>
            </a:pPr>
            <a:r>
              <a:rPr lang="en-GB" dirty="0"/>
              <a:t>	(Terms taken from structuralist theorist, Gerard Genette.)</a:t>
            </a:r>
            <a:endParaRPr lang="en-GB" i="1" dirty="0"/>
          </a:p>
          <a:p>
            <a:pPr marL="0" indent="0">
              <a:spcAft>
                <a:spcPts val="600"/>
              </a:spcAft>
              <a:buNone/>
            </a:pPr>
            <a:endParaRPr lang="en-GB" i="1" dirty="0"/>
          </a:p>
        </p:txBody>
      </p:sp>
    </p:spTree>
    <p:extLst>
      <p:ext uri="{BB962C8B-B14F-4D97-AF65-F5344CB8AC3E}">
        <p14:creationId xmlns:p14="http://schemas.microsoft.com/office/powerpoint/2010/main" val="236681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1B09-A758-C50F-7A51-4A3F21946AFE}"/>
              </a:ext>
            </a:extLst>
          </p:cNvPr>
          <p:cNvSpPr>
            <a:spLocks noGrp="1"/>
          </p:cNvSpPr>
          <p:nvPr>
            <p:ph type="title"/>
          </p:nvPr>
        </p:nvSpPr>
        <p:spPr/>
        <p:txBody>
          <a:bodyPr/>
          <a:lstStyle/>
          <a:p>
            <a:r>
              <a:rPr lang="en-GB" dirty="0"/>
              <a:t>Adaptation – Literature and Film</a:t>
            </a:r>
          </a:p>
        </p:txBody>
      </p:sp>
      <p:sp>
        <p:nvSpPr>
          <p:cNvPr id="4" name="Content Placeholder 3">
            <a:extLst>
              <a:ext uri="{FF2B5EF4-FFF2-40B4-BE49-F238E27FC236}">
                <a16:creationId xmlns:a16="http://schemas.microsoft.com/office/drawing/2014/main" id="{3F6668A6-BA17-6149-B535-CB8489C52485}"/>
              </a:ext>
            </a:extLst>
          </p:cNvPr>
          <p:cNvSpPr>
            <a:spLocks noGrp="1"/>
          </p:cNvSpPr>
          <p:nvPr>
            <p:ph idx="1"/>
          </p:nvPr>
        </p:nvSpPr>
        <p:spPr>
          <a:xfrm>
            <a:off x="838200" y="1586204"/>
            <a:ext cx="10668000" cy="4906671"/>
          </a:xfrm>
        </p:spPr>
        <p:txBody>
          <a:bodyPr>
            <a:normAutofit lnSpcReduction="10000"/>
          </a:bodyPr>
          <a:lstStyle/>
          <a:p>
            <a:pPr>
              <a:lnSpc>
                <a:spcPct val="115000"/>
              </a:lnSpc>
              <a:spcAft>
                <a:spcPts val="600"/>
              </a:spcAft>
              <a:buNone/>
            </a:pPr>
            <a:r>
              <a:rPr lang="en-GB" sz="2000" i="1" kern="100" dirty="0">
                <a:effectLst/>
                <a:latin typeface="Calibri" panose="020F0502020204030204" pitchFamily="34" charset="0"/>
                <a:ea typeface="DengXian" panose="02010600030101010101" pitchFamily="2" charset="-122"/>
                <a:cs typeface="Times New Roman" panose="02020603050405020304" pitchFamily="18" charset="0"/>
              </a:rPr>
              <a:t>"Well, dearies, how have you got on to-day? There was so much to do, getting the boxes ready to go to-morrow, that I didn't come home to dinner. Has any one called, Beth? How is your cold, Meg? Jo, you look tired to death. Come and kiss me, baby."</a:t>
            </a:r>
            <a:endParaRPr lang="en-GB" sz="2000" i="1"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600"/>
              </a:spcAft>
              <a:buNone/>
            </a:pPr>
            <a:r>
              <a:rPr lang="en-GB" sz="2000" i="1" kern="100" dirty="0">
                <a:effectLst/>
                <a:latin typeface="Calibri" panose="020F0502020204030204" pitchFamily="34" charset="0"/>
                <a:ea typeface="DengXian" panose="02010600030101010101" pitchFamily="2" charset="-122"/>
                <a:cs typeface="Times New Roman" panose="02020603050405020304" pitchFamily="18" charset="0"/>
              </a:rPr>
              <a:t>While making these maternal inquiries Mrs. March got her wet things off, her warm slippers on, and sitting down in the easy-chair, drew Amy to her lap, preparing to enjoy the happiest hour of her busy day. The girls flew about, trying to make things comfortable, each in her own way. Meg arranged the tea-table; Jo brought wood and set chairs, dropping, overturning, and clattering everything she touched; Beth trotted to and </a:t>
            </a:r>
            <a:r>
              <a:rPr lang="en-GB" sz="2000" i="1" kern="100" dirty="0" err="1">
                <a:effectLst/>
                <a:latin typeface="Calibri" panose="020F0502020204030204" pitchFamily="34" charset="0"/>
                <a:ea typeface="DengXian" panose="02010600030101010101" pitchFamily="2" charset="-122"/>
                <a:cs typeface="Times New Roman" panose="02020603050405020304" pitchFamily="18" charset="0"/>
              </a:rPr>
              <a:t>fro</a:t>
            </a:r>
            <a:r>
              <a:rPr lang="en-GB" sz="2000" i="1" kern="100" dirty="0">
                <a:effectLst/>
                <a:latin typeface="Calibri" panose="020F0502020204030204" pitchFamily="34" charset="0"/>
                <a:ea typeface="DengXian" panose="02010600030101010101" pitchFamily="2" charset="-122"/>
                <a:cs typeface="Times New Roman" panose="02020603050405020304" pitchFamily="18" charset="0"/>
              </a:rPr>
              <a:t> between </a:t>
            </a:r>
            <a:r>
              <a:rPr lang="en-GB" sz="2000" i="1" kern="100" dirty="0" err="1">
                <a:effectLst/>
                <a:latin typeface="Calibri" panose="020F0502020204030204" pitchFamily="34" charset="0"/>
                <a:ea typeface="DengXian" panose="02010600030101010101" pitchFamily="2" charset="-122"/>
                <a:cs typeface="Times New Roman" panose="02020603050405020304" pitchFamily="18" charset="0"/>
              </a:rPr>
              <a:t>parlor</a:t>
            </a:r>
            <a:r>
              <a:rPr lang="en-GB" sz="2000" i="1" kern="100" dirty="0">
                <a:effectLst/>
                <a:latin typeface="Calibri" panose="020F0502020204030204" pitchFamily="34" charset="0"/>
                <a:ea typeface="DengXian" panose="02010600030101010101" pitchFamily="2" charset="-122"/>
                <a:cs typeface="Times New Roman" panose="02020603050405020304" pitchFamily="18" charset="0"/>
              </a:rPr>
              <a:t> and kitchen, quiet and busy; while Amy gave directions to every one, as she sat with her hands folded.</a:t>
            </a:r>
            <a:endParaRPr lang="en-GB" sz="2000" i="1"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600"/>
              </a:spcAft>
              <a:buNone/>
            </a:pPr>
            <a:r>
              <a:rPr lang="en-GB" sz="2000" i="1" kern="100" dirty="0">
                <a:effectLst/>
                <a:latin typeface="Calibri" panose="020F0502020204030204" pitchFamily="34" charset="0"/>
                <a:ea typeface="DengXian" panose="02010600030101010101" pitchFamily="2" charset="-122"/>
                <a:cs typeface="Times New Roman" panose="02020603050405020304" pitchFamily="18" charset="0"/>
              </a:rPr>
              <a:t>As they gathered about the table, Mrs. March said, with a particularly happy face, "I've got a treat for you after supper."</a:t>
            </a:r>
            <a:endParaRPr lang="en-GB" sz="2000" i="1"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600"/>
              </a:spcAft>
            </a:pPr>
            <a:r>
              <a:rPr lang="en-GB" sz="2000" i="1" kern="100" dirty="0">
                <a:effectLst/>
                <a:latin typeface="Calibri" panose="020F0502020204030204" pitchFamily="34" charset="0"/>
                <a:ea typeface="DengXian" panose="02010600030101010101" pitchFamily="2" charset="-122"/>
                <a:cs typeface="Times New Roman" panose="02020603050405020304" pitchFamily="18" charset="0"/>
              </a:rPr>
              <a:t>A quick, bright smile went round like a streak of sunshine. Beth clapped her hands, regardless of the biscuit she held, and Jo tossed up her napkin, crying, "A letter! a letter! Three cheers for father!"</a:t>
            </a:r>
            <a:endParaRPr lang="en-GB" sz="2000" i="1"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66876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1B09-A758-C50F-7A51-4A3F21946AFE}"/>
              </a:ext>
            </a:extLst>
          </p:cNvPr>
          <p:cNvSpPr>
            <a:spLocks noGrp="1"/>
          </p:cNvSpPr>
          <p:nvPr>
            <p:ph type="title"/>
          </p:nvPr>
        </p:nvSpPr>
        <p:spPr/>
        <p:txBody>
          <a:bodyPr/>
          <a:lstStyle/>
          <a:p>
            <a:r>
              <a:rPr lang="en-GB" dirty="0"/>
              <a:t>Adaptation – Literature and Film</a:t>
            </a:r>
          </a:p>
        </p:txBody>
      </p:sp>
      <p:sp>
        <p:nvSpPr>
          <p:cNvPr id="4" name="Content Placeholder 3">
            <a:extLst>
              <a:ext uri="{FF2B5EF4-FFF2-40B4-BE49-F238E27FC236}">
                <a16:creationId xmlns:a16="http://schemas.microsoft.com/office/drawing/2014/main" id="{3F6668A6-BA17-6149-B535-CB8489C52485}"/>
              </a:ext>
            </a:extLst>
          </p:cNvPr>
          <p:cNvSpPr>
            <a:spLocks noGrp="1"/>
          </p:cNvSpPr>
          <p:nvPr>
            <p:ph sz="half" idx="1"/>
          </p:nvPr>
        </p:nvSpPr>
        <p:spPr>
          <a:xfrm>
            <a:off x="838200" y="1825625"/>
            <a:ext cx="4993434" cy="4061991"/>
          </a:xfrm>
        </p:spPr>
        <p:txBody>
          <a:bodyPr>
            <a:normAutofit fontScale="92500" lnSpcReduction="10000"/>
          </a:bodyPr>
          <a:lstStyle/>
          <a:p>
            <a:r>
              <a:rPr lang="en-GB" b="1" dirty="0"/>
              <a:t>Novel</a:t>
            </a:r>
          </a:p>
          <a:p>
            <a:endParaRPr lang="en-GB" sz="1700" dirty="0"/>
          </a:p>
          <a:p>
            <a:r>
              <a:rPr lang="en-GB" dirty="0"/>
              <a:t>Reading time – 15hrs – 50 hrs? (over many weeks?)</a:t>
            </a:r>
          </a:p>
          <a:p>
            <a:r>
              <a:rPr lang="en-GB" dirty="0"/>
              <a:t>Wide range of structures</a:t>
            </a:r>
          </a:p>
          <a:p>
            <a:r>
              <a:rPr lang="en-GB" dirty="0"/>
              <a:t>Detailed character arcs</a:t>
            </a:r>
          </a:p>
          <a:p>
            <a:r>
              <a:rPr lang="en-GB" dirty="0"/>
              <a:t>No music or sound</a:t>
            </a:r>
          </a:p>
          <a:p>
            <a:r>
              <a:rPr lang="en-GB" dirty="0"/>
              <a:t>Imagination: ‘show and tell’</a:t>
            </a:r>
          </a:p>
          <a:p>
            <a:r>
              <a:rPr lang="en-GB" dirty="0"/>
              <a:t>Written by one person</a:t>
            </a:r>
          </a:p>
          <a:p>
            <a:endParaRPr lang="en-GB" dirty="0"/>
          </a:p>
        </p:txBody>
      </p:sp>
      <p:sp>
        <p:nvSpPr>
          <p:cNvPr id="5" name="Content Placeholder 4">
            <a:extLst>
              <a:ext uri="{FF2B5EF4-FFF2-40B4-BE49-F238E27FC236}">
                <a16:creationId xmlns:a16="http://schemas.microsoft.com/office/drawing/2014/main" id="{F4855EBD-61B5-C39C-A008-7F2864EB74DE}"/>
              </a:ext>
            </a:extLst>
          </p:cNvPr>
          <p:cNvSpPr>
            <a:spLocks noGrp="1"/>
          </p:cNvSpPr>
          <p:nvPr>
            <p:ph sz="half" idx="2"/>
          </p:nvPr>
        </p:nvSpPr>
        <p:spPr>
          <a:xfrm>
            <a:off x="6172200" y="1825625"/>
            <a:ext cx="5593702" cy="4351338"/>
          </a:xfrm>
        </p:spPr>
        <p:txBody>
          <a:bodyPr>
            <a:normAutofit fontScale="92500" lnSpcReduction="10000"/>
          </a:bodyPr>
          <a:lstStyle/>
          <a:p>
            <a:r>
              <a:rPr lang="en-GB" b="1" dirty="0"/>
              <a:t>Film</a:t>
            </a:r>
          </a:p>
          <a:p>
            <a:endParaRPr lang="en-GB" sz="1700" dirty="0"/>
          </a:p>
          <a:p>
            <a:r>
              <a:rPr lang="en-GB" dirty="0"/>
              <a:t>Watching time – 2 hrs average </a:t>
            </a:r>
          </a:p>
          <a:p>
            <a:endParaRPr lang="en-GB" sz="1600" dirty="0"/>
          </a:p>
          <a:p>
            <a:r>
              <a:rPr lang="en-GB" dirty="0"/>
              <a:t>Three act structure</a:t>
            </a:r>
          </a:p>
          <a:p>
            <a:r>
              <a:rPr lang="en-GB" dirty="0"/>
              <a:t>Limited character arcs</a:t>
            </a:r>
          </a:p>
          <a:p>
            <a:r>
              <a:rPr lang="en-GB" dirty="0"/>
              <a:t>Music and sound</a:t>
            </a:r>
          </a:p>
          <a:p>
            <a:r>
              <a:rPr lang="en-GB" dirty="0"/>
              <a:t>Visual images: ‘show don’t tell’</a:t>
            </a:r>
          </a:p>
          <a:p>
            <a:r>
              <a:rPr lang="en-GB" dirty="0"/>
              <a:t>Directed by one person; screenplay written by one or more people; made by an industry</a:t>
            </a:r>
          </a:p>
        </p:txBody>
      </p:sp>
    </p:spTree>
    <p:extLst>
      <p:ext uri="{BB962C8B-B14F-4D97-AF65-F5344CB8AC3E}">
        <p14:creationId xmlns:p14="http://schemas.microsoft.com/office/powerpoint/2010/main" val="18721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1B09-A758-C50F-7A51-4A3F21946AFE}"/>
              </a:ext>
            </a:extLst>
          </p:cNvPr>
          <p:cNvSpPr>
            <a:spLocks noGrp="1"/>
          </p:cNvSpPr>
          <p:nvPr>
            <p:ph type="title"/>
          </p:nvPr>
        </p:nvSpPr>
        <p:spPr/>
        <p:txBody>
          <a:bodyPr/>
          <a:lstStyle/>
          <a:p>
            <a:r>
              <a:rPr lang="en-GB" dirty="0"/>
              <a:t>Adaptation – Form and Content </a:t>
            </a:r>
          </a:p>
        </p:txBody>
      </p:sp>
      <p:sp>
        <p:nvSpPr>
          <p:cNvPr id="5" name="Content Placeholder 4">
            <a:extLst>
              <a:ext uri="{FF2B5EF4-FFF2-40B4-BE49-F238E27FC236}">
                <a16:creationId xmlns:a16="http://schemas.microsoft.com/office/drawing/2014/main" id="{F4855EBD-61B5-C39C-A008-7F2864EB74DE}"/>
              </a:ext>
            </a:extLst>
          </p:cNvPr>
          <p:cNvSpPr>
            <a:spLocks noGrp="1"/>
          </p:cNvSpPr>
          <p:nvPr>
            <p:ph idx="1"/>
          </p:nvPr>
        </p:nvSpPr>
        <p:spPr>
          <a:xfrm>
            <a:off x="838200" y="1825625"/>
            <a:ext cx="6477000" cy="4351338"/>
          </a:xfrm>
        </p:spPr>
        <p:txBody>
          <a:bodyPr/>
          <a:lstStyle/>
          <a:p>
            <a:r>
              <a:rPr lang="en-GB" dirty="0"/>
              <a:t>What is form?</a:t>
            </a:r>
          </a:p>
          <a:p>
            <a:r>
              <a:rPr lang="en-GB" dirty="0"/>
              <a:t>What is content?</a:t>
            </a:r>
          </a:p>
          <a:p>
            <a:endParaRPr lang="en-GB" sz="1800" dirty="0"/>
          </a:p>
          <a:p>
            <a:r>
              <a:rPr lang="en-GB" b="1" dirty="0">
                <a:solidFill>
                  <a:srgbClr val="FF0000"/>
                </a:solidFill>
              </a:rPr>
              <a:t>Form</a:t>
            </a:r>
            <a:r>
              <a:rPr lang="en-GB" dirty="0">
                <a:solidFill>
                  <a:srgbClr val="FF0000"/>
                </a:solidFill>
              </a:rPr>
              <a:t>: the composition, structure, design, kind of medium…</a:t>
            </a:r>
          </a:p>
          <a:p>
            <a:endParaRPr lang="en-GB" sz="1600" dirty="0">
              <a:solidFill>
                <a:srgbClr val="FF0000"/>
              </a:solidFill>
            </a:endParaRPr>
          </a:p>
          <a:p>
            <a:r>
              <a:rPr lang="en-GB" b="1" dirty="0">
                <a:solidFill>
                  <a:schemeClr val="accent2">
                    <a:lumMod val="75000"/>
                  </a:schemeClr>
                </a:solidFill>
              </a:rPr>
              <a:t>Content: </a:t>
            </a:r>
            <a:r>
              <a:rPr lang="en-GB" dirty="0">
                <a:solidFill>
                  <a:schemeClr val="accent2">
                    <a:lumMod val="75000"/>
                  </a:schemeClr>
                </a:solidFill>
              </a:rPr>
              <a:t>the meaning, subject-matter, topic, communicated through the medium… </a:t>
            </a:r>
            <a:endParaRPr lang="en-GB" b="1" dirty="0">
              <a:solidFill>
                <a:schemeClr val="accent2">
                  <a:lumMod val="75000"/>
                </a:schemeClr>
              </a:solidFill>
            </a:endParaRPr>
          </a:p>
        </p:txBody>
      </p:sp>
      <p:pic>
        <p:nvPicPr>
          <p:cNvPr id="6146" name="Picture 2" descr="Form And Content Quotes &amp; Sayings | Form And Content Picture Quotes">
            <a:extLst>
              <a:ext uri="{FF2B5EF4-FFF2-40B4-BE49-F238E27FC236}">
                <a16:creationId xmlns:a16="http://schemas.microsoft.com/office/drawing/2014/main" id="{0AA78FA1-C587-A9DE-4088-44F6ACBC9F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7559" y="1551600"/>
            <a:ext cx="3829488" cy="4941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0127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6146"/>
                                        </p:tgtEl>
                                        <p:attrNameLst>
                                          <p:attrName>style.visibility</p:attrName>
                                        </p:attrNameLst>
                                      </p:cBhvr>
                                      <p:to>
                                        <p:strVal val="visible"/>
                                      </p:to>
                                    </p:set>
                                    <p:anim calcmode="lin" valueType="num">
                                      <p:cBhvr additive="base">
                                        <p:cTn id="15" dur="500" fill="hold"/>
                                        <p:tgtEl>
                                          <p:spTgt spid="6146"/>
                                        </p:tgtEl>
                                        <p:attrNameLst>
                                          <p:attrName>ppt_x</p:attrName>
                                        </p:attrNameLst>
                                      </p:cBhvr>
                                      <p:tavLst>
                                        <p:tav tm="0">
                                          <p:val>
                                            <p:strVal val="1+#ppt_w/2"/>
                                          </p:val>
                                        </p:tav>
                                        <p:tav tm="100000">
                                          <p:val>
                                            <p:strVal val="#ppt_x"/>
                                          </p:val>
                                        </p:tav>
                                      </p:tavLst>
                                    </p:anim>
                                    <p:anim calcmode="lin" valueType="num">
                                      <p:cBhvr additive="base">
                                        <p:cTn id="16" dur="500" fill="hold"/>
                                        <p:tgtEl>
                                          <p:spTgt spid="61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1B09-A758-C50F-7A51-4A3F21946AFE}"/>
              </a:ext>
            </a:extLst>
          </p:cNvPr>
          <p:cNvSpPr>
            <a:spLocks noGrp="1"/>
          </p:cNvSpPr>
          <p:nvPr>
            <p:ph type="title"/>
          </p:nvPr>
        </p:nvSpPr>
        <p:spPr/>
        <p:txBody>
          <a:bodyPr/>
          <a:lstStyle/>
          <a:p>
            <a:r>
              <a:rPr lang="en-GB" dirty="0"/>
              <a:t>Adaptation – Form and Content </a:t>
            </a:r>
          </a:p>
        </p:txBody>
      </p:sp>
      <p:sp>
        <p:nvSpPr>
          <p:cNvPr id="5" name="Content Placeholder 4">
            <a:extLst>
              <a:ext uri="{FF2B5EF4-FFF2-40B4-BE49-F238E27FC236}">
                <a16:creationId xmlns:a16="http://schemas.microsoft.com/office/drawing/2014/main" id="{F4855EBD-61B5-C39C-A008-7F2864EB74DE}"/>
              </a:ext>
            </a:extLst>
          </p:cNvPr>
          <p:cNvSpPr>
            <a:spLocks noGrp="1"/>
          </p:cNvSpPr>
          <p:nvPr>
            <p:ph idx="1"/>
          </p:nvPr>
        </p:nvSpPr>
        <p:spPr>
          <a:xfrm>
            <a:off x="838200" y="1623527"/>
            <a:ext cx="10515600" cy="4553436"/>
          </a:xfrm>
        </p:spPr>
        <p:txBody>
          <a:bodyPr/>
          <a:lstStyle/>
          <a:p>
            <a:r>
              <a:rPr lang="en-GB" dirty="0"/>
              <a:t>Change the form and you change the content (somewhat…); change the content and you change the form (somewhat…).</a:t>
            </a:r>
          </a:p>
          <a:p>
            <a:endParaRPr lang="en-GB" dirty="0"/>
          </a:p>
        </p:txBody>
      </p:sp>
      <p:pic>
        <p:nvPicPr>
          <p:cNvPr id="8196" name="Picture 4" descr="What's so special about the Mona Lisa?">
            <a:extLst>
              <a:ext uri="{FF2B5EF4-FFF2-40B4-BE49-F238E27FC236}">
                <a16:creationId xmlns:a16="http://schemas.microsoft.com/office/drawing/2014/main" id="{44CFC421-5542-7C34-FA2D-9FA305040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072" y="2506662"/>
            <a:ext cx="2858279" cy="4259319"/>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Interesting Facts About The Louvre Museum in Paris. – Jace Inspires">
            <a:extLst>
              <a:ext uri="{FF2B5EF4-FFF2-40B4-BE49-F238E27FC236}">
                <a16:creationId xmlns:a16="http://schemas.microsoft.com/office/drawing/2014/main" id="{9A00B522-4F58-7041-BFEF-662FA3C9D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6032" y="2506662"/>
            <a:ext cx="3305043" cy="4285050"/>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Pediatric endocrinologist gives iconic 'Mona Lisa' a second medical opinion - Classicult">
            <a:extLst>
              <a:ext uri="{FF2B5EF4-FFF2-40B4-BE49-F238E27FC236}">
                <a16:creationId xmlns:a16="http://schemas.microsoft.com/office/drawing/2014/main" id="{50D62E3D-5932-1E03-14E9-FD19DADCB9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7131" y="2506662"/>
            <a:ext cx="3654797" cy="305995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DFCE3C6-CAE6-E6EB-624C-91F4F1A6F9F3}"/>
              </a:ext>
            </a:extLst>
          </p:cNvPr>
          <p:cNvSpPr txBox="1"/>
          <p:nvPr/>
        </p:nvSpPr>
        <p:spPr>
          <a:xfrm>
            <a:off x="7662640" y="5859371"/>
            <a:ext cx="3961300" cy="523220"/>
          </a:xfrm>
          <a:prstGeom prst="rect">
            <a:avLst/>
          </a:prstGeom>
          <a:noFill/>
        </p:spPr>
        <p:txBody>
          <a:bodyPr wrap="square" rtlCol="0">
            <a:spAutoFit/>
          </a:bodyPr>
          <a:lstStyle/>
          <a:p>
            <a:r>
              <a:rPr lang="en-GB" sz="2800" dirty="0"/>
              <a:t>Which is the </a:t>
            </a:r>
            <a:r>
              <a:rPr lang="en-GB" sz="2800" i="1" dirty="0"/>
              <a:t>Mona Lisa</a:t>
            </a:r>
            <a:r>
              <a:rPr lang="en-GB" sz="2800" dirty="0"/>
              <a:t>?</a:t>
            </a:r>
          </a:p>
        </p:txBody>
      </p:sp>
    </p:spTree>
    <p:extLst>
      <p:ext uri="{BB962C8B-B14F-4D97-AF65-F5344CB8AC3E}">
        <p14:creationId xmlns:p14="http://schemas.microsoft.com/office/powerpoint/2010/main" val="23122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19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19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20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1B09-A758-C50F-7A51-4A3F21946AFE}"/>
              </a:ext>
            </a:extLst>
          </p:cNvPr>
          <p:cNvSpPr>
            <a:spLocks noGrp="1"/>
          </p:cNvSpPr>
          <p:nvPr>
            <p:ph type="title"/>
          </p:nvPr>
        </p:nvSpPr>
        <p:spPr/>
        <p:txBody>
          <a:bodyPr/>
          <a:lstStyle/>
          <a:p>
            <a:r>
              <a:rPr lang="en-GB" dirty="0"/>
              <a:t>Adaptation – Form and Content </a:t>
            </a:r>
          </a:p>
        </p:txBody>
      </p:sp>
      <p:sp>
        <p:nvSpPr>
          <p:cNvPr id="5" name="Content Placeholder 4">
            <a:extLst>
              <a:ext uri="{FF2B5EF4-FFF2-40B4-BE49-F238E27FC236}">
                <a16:creationId xmlns:a16="http://schemas.microsoft.com/office/drawing/2014/main" id="{F4855EBD-61B5-C39C-A008-7F2864EB74DE}"/>
              </a:ext>
            </a:extLst>
          </p:cNvPr>
          <p:cNvSpPr>
            <a:spLocks noGrp="1"/>
          </p:cNvSpPr>
          <p:nvPr>
            <p:ph idx="1"/>
          </p:nvPr>
        </p:nvSpPr>
        <p:spPr>
          <a:xfrm>
            <a:off x="838200" y="1623527"/>
            <a:ext cx="10515600" cy="4553436"/>
          </a:xfrm>
        </p:spPr>
        <p:txBody>
          <a:bodyPr/>
          <a:lstStyle/>
          <a:p>
            <a:r>
              <a:rPr lang="en-GB" dirty="0"/>
              <a:t>Change the form and you change the content (somewhat…); change the content and you change the form (somewhat…).</a:t>
            </a:r>
          </a:p>
          <a:p>
            <a:endParaRPr lang="en-GB" dirty="0"/>
          </a:p>
        </p:txBody>
      </p:sp>
      <p:pic>
        <p:nvPicPr>
          <p:cNvPr id="8194" name="Picture 2" descr="Mona Lisa’s Unseen Profile – Destination Creation">
            <a:extLst>
              <a:ext uri="{FF2B5EF4-FFF2-40B4-BE49-F238E27FC236}">
                <a16:creationId xmlns:a16="http://schemas.microsoft.com/office/drawing/2014/main" id="{184F130B-9AB7-8C75-E8C9-388580D11D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7511" y="2506662"/>
            <a:ext cx="2858279" cy="42652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What's so special about the Mona Lisa?">
            <a:extLst>
              <a:ext uri="{FF2B5EF4-FFF2-40B4-BE49-F238E27FC236}">
                <a16:creationId xmlns:a16="http://schemas.microsoft.com/office/drawing/2014/main" id="{D029736C-B996-CDDD-A124-C0AAD0C90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072" y="2506662"/>
            <a:ext cx="2858279" cy="4259319"/>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VERONICA SAUER – Abstract Realism and Expressionism Artwork">
            <a:extLst>
              <a:ext uri="{FF2B5EF4-FFF2-40B4-BE49-F238E27FC236}">
                <a16:creationId xmlns:a16="http://schemas.microsoft.com/office/drawing/2014/main" id="{8B75661F-F582-BD08-6687-7C4C04C760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4950" y="2506661"/>
            <a:ext cx="2858278" cy="42874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BAA7327-5288-A518-925B-9D714E5935F1}"/>
              </a:ext>
            </a:extLst>
          </p:cNvPr>
          <p:cNvSpPr txBox="1"/>
          <p:nvPr/>
        </p:nvSpPr>
        <p:spPr>
          <a:xfrm>
            <a:off x="9503228" y="2432016"/>
            <a:ext cx="2589245" cy="4154984"/>
          </a:xfrm>
          <a:prstGeom prst="rect">
            <a:avLst/>
          </a:prstGeom>
          <a:noFill/>
        </p:spPr>
        <p:txBody>
          <a:bodyPr wrap="square" rtlCol="0">
            <a:spAutoFit/>
          </a:bodyPr>
          <a:lstStyle/>
          <a:p>
            <a:r>
              <a:rPr lang="en-GB" sz="2400" dirty="0"/>
              <a:t>Are these ‘adaptations’ also both the</a:t>
            </a:r>
            <a:r>
              <a:rPr lang="en-GB" sz="2400" i="1" dirty="0"/>
              <a:t> Mona Lisa?</a:t>
            </a:r>
          </a:p>
          <a:p>
            <a:endParaRPr lang="en-GB" sz="2400" i="1" dirty="0"/>
          </a:p>
          <a:p>
            <a:r>
              <a:rPr lang="en-GB" sz="2400" dirty="0"/>
              <a:t>What amount of form/content change can be tolerated, and the art still be a faithful adaptation?</a:t>
            </a:r>
          </a:p>
        </p:txBody>
      </p:sp>
    </p:spTree>
    <p:extLst>
      <p:ext uri="{BB962C8B-B14F-4D97-AF65-F5344CB8AC3E}">
        <p14:creationId xmlns:p14="http://schemas.microsoft.com/office/powerpoint/2010/main" val="2084827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CF7CE-C01B-463B-ABB5-9C7F3EA88807}"/>
              </a:ext>
            </a:extLst>
          </p:cNvPr>
          <p:cNvSpPr>
            <a:spLocks noGrp="1"/>
          </p:cNvSpPr>
          <p:nvPr>
            <p:ph type="title"/>
          </p:nvPr>
        </p:nvSpPr>
        <p:spPr/>
        <p:txBody>
          <a:bodyPr/>
          <a:lstStyle/>
          <a:p>
            <a:r>
              <a:rPr lang="en-GB" i="1" dirty="0"/>
              <a:t>Little Women</a:t>
            </a:r>
            <a:r>
              <a:rPr lang="en-GB" dirty="0"/>
              <a:t> – Chapter 18  </a:t>
            </a:r>
            <a:r>
              <a:rPr lang="en-GB" sz="3600" dirty="0"/>
              <a:t>(excerpts page 14)</a:t>
            </a:r>
            <a:endParaRPr lang="en-GB" dirty="0"/>
          </a:p>
        </p:txBody>
      </p:sp>
      <p:sp>
        <p:nvSpPr>
          <p:cNvPr id="3" name="Content Placeholder 2">
            <a:extLst>
              <a:ext uri="{FF2B5EF4-FFF2-40B4-BE49-F238E27FC236}">
                <a16:creationId xmlns:a16="http://schemas.microsoft.com/office/drawing/2014/main" id="{8AC9617D-FA1B-46BB-1E40-9DC2D2706DE4}"/>
              </a:ext>
            </a:extLst>
          </p:cNvPr>
          <p:cNvSpPr>
            <a:spLocks noGrp="1"/>
          </p:cNvSpPr>
          <p:nvPr>
            <p:ph idx="1"/>
          </p:nvPr>
        </p:nvSpPr>
        <p:spPr>
          <a:xfrm>
            <a:off x="838200" y="2002906"/>
            <a:ext cx="10515600" cy="4351338"/>
          </a:xfrm>
        </p:spPr>
        <p:txBody>
          <a:bodyPr>
            <a:normAutofit/>
          </a:bodyPr>
          <a:lstStyle/>
          <a:p>
            <a:r>
              <a:rPr lang="en-GB" sz="3200" dirty="0"/>
              <a:t>What happens in the excerpt from chapter 18?</a:t>
            </a:r>
          </a:p>
          <a:p>
            <a:endParaRPr lang="en-GB" sz="3200" dirty="0"/>
          </a:p>
          <a:p>
            <a:r>
              <a:rPr lang="en-GB" sz="3200" dirty="0"/>
              <a:t>What is learnt about the characters?</a:t>
            </a:r>
          </a:p>
          <a:p>
            <a:endParaRPr lang="en-GB" sz="3200" dirty="0"/>
          </a:p>
          <a:p>
            <a:r>
              <a:rPr lang="en-GB" sz="3200" dirty="0"/>
              <a:t>How does the content and style of literature differ from that of Chapter 1?</a:t>
            </a:r>
          </a:p>
          <a:p>
            <a:endParaRPr lang="en-GB" dirty="0"/>
          </a:p>
        </p:txBody>
      </p:sp>
    </p:spTree>
    <p:extLst>
      <p:ext uri="{BB962C8B-B14F-4D97-AF65-F5344CB8AC3E}">
        <p14:creationId xmlns:p14="http://schemas.microsoft.com/office/powerpoint/2010/main" val="328593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BAD74-B505-DB31-822B-40466BD51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72461-6FA6-390A-98EA-0271183A9EBF}"/>
              </a:ext>
            </a:extLst>
          </p:cNvPr>
          <p:cNvSpPr>
            <a:spLocks noGrp="1"/>
          </p:cNvSpPr>
          <p:nvPr>
            <p:ph type="title"/>
          </p:nvPr>
        </p:nvSpPr>
        <p:spPr/>
        <p:txBody>
          <a:bodyPr/>
          <a:lstStyle/>
          <a:p>
            <a:r>
              <a:rPr lang="en-GB" dirty="0"/>
              <a:t>Adaptation – Chapters 34, 35, 41, 43, 46</a:t>
            </a:r>
          </a:p>
        </p:txBody>
      </p:sp>
      <p:sp>
        <p:nvSpPr>
          <p:cNvPr id="3" name="Content Placeholder 2">
            <a:extLst>
              <a:ext uri="{FF2B5EF4-FFF2-40B4-BE49-F238E27FC236}">
                <a16:creationId xmlns:a16="http://schemas.microsoft.com/office/drawing/2014/main" id="{6E472A88-6965-D773-0A79-E7EF2EAC6775}"/>
              </a:ext>
            </a:extLst>
          </p:cNvPr>
          <p:cNvSpPr>
            <a:spLocks noGrp="1"/>
          </p:cNvSpPr>
          <p:nvPr>
            <p:ph idx="1"/>
          </p:nvPr>
        </p:nvSpPr>
        <p:spPr>
          <a:xfrm>
            <a:off x="838200" y="2002906"/>
            <a:ext cx="10515600" cy="4351338"/>
          </a:xfrm>
        </p:spPr>
        <p:txBody>
          <a:bodyPr>
            <a:normAutofit lnSpcReduction="10000"/>
          </a:bodyPr>
          <a:lstStyle/>
          <a:p>
            <a:r>
              <a:rPr lang="en-GB" sz="3200" dirty="0"/>
              <a:t>Consider…</a:t>
            </a:r>
          </a:p>
          <a:p>
            <a:endParaRPr lang="en-GB" sz="2400" dirty="0"/>
          </a:p>
          <a:p>
            <a:pPr lvl="1"/>
            <a:r>
              <a:rPr lang="en-GB" sz="3200" b="1" dirty="0"/>
              <a:t>Story</a:t>
            </a:r>
            <a:r>
              <a:rPr lang="en-GB" sz="3200" dirty="0"/>
              <a:t> – the overall telling of the tale.</a:t>
            </a:r>
          </a:p>
          <a:p>
            <a:pPr lvl="1"/>
            <a:r>
              <a:rPr lang="en-GB" sz="3200" b="1" dirty="0"/>
              <a:t>Plot</a:t>
            </a:r>
            <a:r>
              <a:rPr lang="en-GB" sz="3200" dirty="0"/>
              <a:t> / </a:t>
            </a:r>
            <a:r>
              <a:rPr lang="en-GB" sz="3200" b="1" dirty="0"/>
              <a:t>Storyline</a:t>
            </a:r>
            <a:r>
              <a:rPr lang="en-GB" sz="3200" dirty="0"/>
              <a:t> – the sequence of events that have cause and effect and make the story.</a:t>
            </a:r>
          </a:p>
          <a:p>
            <a:pPr lvl="1"/>
            <a:r>
              <a:rPr lang="en-GB" sz="3200" b="1" dirty="0"/>
              <a:t>Narrative</a:t>
            </a:r>
            <a:r>
              <a:rPr lang="en-GB" sz="3200" dirty="0"/>
              <a:t> – the way the plot and story are told (narrativization may be done in different ways, yet the plot is similar).</a:t>
            </a:r>
          </a:p>
          <a:p>
            <a:pPr lvl="1"/>
            <a:r>
              <a:rPr lang="en-GB" sz="3200" b="1" dirty="0"/>
              <a:t>Characterisation – </a:t>
            </a:r>
            <a:r>
              <a:rPr lang="en-GB" sz="3200" dirty="0"/>
              <a:t>how characters are formed through narrative, plot, and story.  </a:t>
            </a:r>
          </a:p>
          <a:p>
            <a:endParaRPr lang="en-GB" sz="3200" dirty="0"/>
          </a:p>
          <a:p>
            <a:endParaRPr lang="en-GB" dirty="0"/>
          </a:p>
        </p:txBody>
      </p:sp>
    </p:spTree>
    <p:extLst>
      <p:ext uri="{BB962C8B-B14F-4D97-AF65-F5344CB8AC3E}">
        <p14:creationId xmlns:p14="http://schemas.microsoft.com/office/powerpoint/2010/main" val="1191398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CF7CE-C01B-463B-ABB5-9C7F3EA88807}"/>
              </a:ext>
            </a:extLst>
          </p:cNvPr>
          <p:cNvSpPr>
            <a:spLocks noGrp="1"/>
          </p:cNvSpPr>
          <p:nvPr>
            <p:ph type="title"/>
          </p:nvPr>
        </p:nvSpPr>
        <p:spPr/>
        <p:txBody>
          <a:bodyPr/>
          <a:lstStyle/>
          <a:p>
            <a:r>
              <a:rPr lang="en-GB" dirty="0"/>
              <a:t>Adaptation – Chapters 34, 35, 41, 43, 46</a:t>
            </a:r>
          </a:p>
        </p:txBody>
      </p:sp>
      <p:sp>
        <p:nvSpPr>
          <p:cNvPr id="3" name="Content Placeholder 2">
            <a:extLst>
              <a:ext uri="{FF2B5EF4-FFF2-40B4-BE49-F238E27FC236}">
                <a16:creationId xmlns:a16="http://schemas.microsoft.com/office/drawing/2014/main" id="{8AC9617D-FA1B-46BB-1E40-9DC2D2706DE4}"/>
              </a:ext>
            </a:extLst>
          </p:cNvPr>
          <p:cNvSpPr>
            <a:spLocks noGrp="1"/>
          </p:cNvSpPr>
          <p:nvPr>
            <p:ph idx="1"/>
          </p:nvPr>
        </p:nvSpPr>
        <p:spPr>
          <a:xfrm>
            <a:off x="838200" y="2002906"/>
            <a:ext cx="10515600" cy="4351338"/>
          </a:xfrm>
        </p:spPr>
        <p:txBody>
          <a:bodyPr>
            <a:normAutofit/>
          </a:bodyPr>
          <a:lstStyle/>
          <a:p>
            <a:r>
              <a:rPr lang="en-GB" sz="3200" dirty="0"/>
              <a:t>Chapter XXXIV (34) – Jo, publishing short stories, and Prof 					 Bhaer.</a:t>
            </a:r>
          </a:p>
          <a:p>
            <a:r>
              <a:rPr lang="en-GB" sz="3200" dirty="0"/>
              <a:t>Chapter XXXV (35) – Laurie and Jo, proposal.</a:t>
            </a:r>
          </a:p>
          <a:p>
            <a:r>
              <a:rPr lang="en-GB" sz="3200" dirty="0"/>
              <a:t>Chapter XLI (41) – Amy and Laurie in France. </a:t>
            </a:r>
          </a:p>
          <a:p>
            <a:r>
              <a:rPr lang="en-GB" sz="3200" dirty="0"/>
              <a:t>Chapter XLIII (43) – Amy and Laurie back at home, with Jo; 				        Fritz Bhaer arrives.</a:t>
            </a:r>
          </a:p>
          <a:p>
            <a:r>
              <a:rPr lang="en-GB" sz="3200" dirty="0"/>
              <a:t>Chapter XLVI (46) – Jo and Fritz Bhaer. </a:t>
            </a:r>
          </a:p>
          <a:p>
            <a:endParaRPr lang="en-GB" sz="3200" dirty="0"/>
          </a:p>
          <a:p>
            <a:endParaRPr lang="en-GB" sz="3200" dirty="0"/>
          </a:p>
          <a:p>
            <a:endParaRPr lang="en-GB" sz="3200" dirty="0"/>
          </a:p>
          <a:p>
            <a:endParaRPr lang="en-GB" dirty="0"/>
          </a:p>
        </p:txBody>
      </p:sp>
    </p:spTree>
    <p:extLst>
      <p:ext uri="{BB962C8B-B14F-4D97-AF65-F5344CB8AC3E}">
        <p14:creationId xmlns:p14="http://schemas.microsoft.com/office/powerpoint/2010/main" val="537514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CD631-71FC-B726-7C26-807262416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BC00E-5FF8-30F5-0ACF-928F81FFD94A}"/>
              </a:ext>
            </a:extLst>
          </p:cNvPr>
          <p:cNvSpPr>
            <a:spLocks noGrp="1"/>
          </p:cNvSpPr>
          <p:nvPr>
            <p:ph type="title"/>
          </p:nvPr>
        </p:nvSpPr>
        <p:spPr/>
        <p:txBody>
          <a:bodyPr/>
          <a:lstStyle/>
          <a:p>
            <a:r>
              <a:rPr lang="en-GB" dirty="0"/>
              <a:t>Adaptation – Chapters 34, 35, 41, 43, 46</a:t>
            </a:r>
          </a:p>
        </p:txBody>
      </p:sp>
      <p:sp>
        <p:nvSpPr>
          <p:cNvPr id="3" name="Content Placeholder 2">
            <a:extLst>
              <a:ext uri="{FF2B5EF4-FFF2-40B4-BE49-F238E27FC236}">
                <a16:creationId xmlns:a16="http://schemas.microsoft.com/office/drawing/2014/main" id="{B6E976E0-3053-300A-B11C-4A4535EB6454}"/>
              </a:ext>
            </a:extLst>
          </p:cNvPr>
          <p:cNvSpPr>
            <a:spLocks noGrp="1"/>
          </p:cNvSpPr>
          <p:nvPr>
            <p:ph idx="1"/>
          </p:nvPr>
        </p:nvSpPr>
        <p:spPr>
          <a:xfrm>
            <a:off x="838200" y="2002906"/>
            <a:ext cx="10657114" cy="4351338"/>
          </a:xfrm>
        </p:spPr>
        <p:txBody>
          <a:bodyPr>
            <a:normAutofit lnSpcReduction="10000"/>
          </a:bodyPr>
          <a:lstStyle/>
          <a:p>
            <a:r>
              <a:rPr lang="en-GB" sz="3200" dirty="0"/>
              <a:t>How are the novel and the film narratives similar / different?</a:t>
            </a:r>
          </a:p>
          <a:p>
            <a:endParaRPr lang="en-GB" sz="3200" dirty="0"/>
          </a:p>
          <a:p>
            <a:r>
              <a:rPr lang="en-GB" sz="3200" dirty="0"/>
              <a:t>How do they differently show plot, story, and character?</a:t>
            </a:r>
          </a:p>
          <a:p>
            <a:endParaRPr lang="en-GB" sz="3200" dirty="0"/>
          </a:p>
          <a:p>
            <a:r>
              <a:rPr lang="en-GB" sz="3200" dirty="0"/>
              <a:t>How does chronological order of narrative (linear/non-linear, etc.) affect meaning?</a:t>
            </a:r>
          </a:p>
          <a:p>
            <a:endParaRPr lang="en-GB" sz="3200" dirty="0"/>
          </a:p>
          <a:p>
            <a:r>
              <a:rPr lang="en-GB" sz="3200" dirty="0"/>
              <a:t>How ‘faithful’ is the film adaptation to the novel?</a:t>
            </a:r>
          </a:p>
          <a:p>
            <a:endParaRPr lang="en-GB" sz="3200" dirty="0"/>
          </a:p>
          <a:p>
            <a:endParaRPr lang="en-GB" sz="3200" dirty="0"/>
          </a:p>
          <a:p>
            <a:endParaRPr lang="en-GB" sz="3200" dirty="0"/>
          </a:p>
          <a:p>
            <a:endParaRPr lang="en-GB" dirty="0"/>
          </a:p>
        </p:txBody>
      </p:sp>
    </p:spTree>
    <p:extLst>
      <p:ext uri="{BB962C8B-B14F-4D97-AF65-F5344CB8AC3E}">
        <p14:creationId xmlns:p14="http://schemas.microsoft.com/office/powerpoint/2010/main" val="175874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653D2-2C2B-20A5-FFB5-FC3B868E8E5E}"/>
              </a:ext>
            </a:extLst>
          </p:cNvPr>
          <p:cNvSpPr>
            <a:spLocks noGrp="1"/>
          </p:cNvSpPr>
          <p:nvPr>
            <p:ph type="title"/>
          </p:nvPr>
        </p:nvSpPr>
        <p:spPr/>
        <p:txBody>
          <a:bodyPr/>
          <a:lstStyle/>
          <a:p>
            <a:r>
              <a:rPr lang="en-GB" dirty="0"/>
              <a:t>Chapter 34 </a:t>
            </a:r>
            <a:r>
              <a:rPr lang="en-GB" sz="3600" dirty="0"/>
              <a:t>(page 20) (the first and final film scenes)</a:t>
            </a:r>
            <a:endParaRPr lang="en-GB" dirty="0"/>
          </a:p>
        </p:txBody>
      </p:sp>
      <p:sp>
        <p:nvSpPr>
          <p:cNvPr id="3" name="Content Placeholder 2">
            <a:extLst>
              <a:ext uri="{FF2B5EF4-FFF2-40B4-BE49-F238E27FC236}">
                <a16:creationId xmlns:a16="http://schemas.microsoft.com/office/drawing/2014/main" id="{FC1BF113-4396-CA53-577B-C0DF45E36A38}"/>
              </a:ext>
            </a:extLst>
          </p:cNvPr>
          <p:cNvSpPr>
            <a:spLocks noGrp="1"/>
          </p:cNvSpPr>
          <p:nvPr>
            <p:ph idx="1"/>
          </p:nvPr>
        </p:nvSpPr>
        <p:spPr>
          <a:xfrm>
            <a:off x="838200" y="1825624"/>
            <a:ext cx="10515600" cy="4667251"/>
          </a:xfrm>
        </p:spPr>
        <p:txBody>
          <a:bodyPr>
            <a:normAutofit fontScale="92500" lnSpcReduction="10000"/>
          </a:bodyPr>
          <a:lstStyle/>
          <a:p>
            <a:r>
              <a:rPr lang="en-GB" dirty="0"/>
              <a:t>The film ends with scenes at a publishers, discussing the story’s ending – partly based on the publisher from Chapter 34, but significantly added to and changed.</a:t>
            </a:r>
          </a:p>
          <a:p>
            <a:endParaRPr lang="en-GB" dirty="0"/>
          </a:p>
          <a:p>
            <a:pPr>
              <a:spcAft>
                <a:spcPts val="600"/>
              </a:spcAft>
            </a:pPr>
            <a:r>
              <a:rPr lang="en-GB" dirty="0"/>
              <a:t>Is this showing Jo, or Louisa M. Alcott the author?</a:t>
            </a:r>
          </a:p>
          <a:p>
            <a:r>
              <a:rPr lang="en-GB" dirty="0"/>
              <a:t>Is this adaptation moral and ethical? </a:t>
            </a:r>
          </a:p>
          <a:p>
            <a:pPr marL="0" indent="0">
              <a:buNone/>
            </a:pPr>
            <a:endParaRPr lang="en-GB" dirty="0"/>
          </a:p>
          <a:p>
            <a:r>
              <a:rPr lang="en-GB" b="1" dirty="0"/>
              <a:t>Metafiction </a:t>
            </a:r>
            <a:r>
              <a:rPr lang="en-GB" dirty="0"/>
              <a:t>– a postmodern term, for when the fiction of a story is 			    highlighted or questioned. </a:t>
            </a:r>
            <a:r>
              <a:rPr lang="en-GB" i="1" dirty="0"/>
              <a:t>(Sometimes an author might put 		    themselves into the story; a fictional story we’ve been told 			    might be revealed to be false; it becomes unclear if we are 			    watching a character or the novelist, or in some way both.)</a:t>
            </a:r>
          </a:p>
          <a:p>
            <a:endParaRPr lang="en-GB" i="1" dirty="0"/>
          </a:p>
          <a:p>
            <a:endParaRPr lang="en-GB" i="1" dirty="0"/>
          </a:p>
        </p:txBody>
      </p:sp>
    </p:spTree>
    <p:extLst>
      <p:ext uri="{BB962C8B-B14F-4D97-AF65-F5344CB8AC3E}">
        <p14:creationId xmlns:p14="http://schemas.microsoft.com/office/powerpoint/2010/main" val="192824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1B202-49F3-7305-E806-B6F369B8ABC9}"/>
              </a:ext>
            </a:extLst>
          </p:cNvPr>
          <p:cNvSpPr>
            <a:spLocks noGrp="1"/>
          </p:cNvSpPr>
          <p:nvPr>
            <p:ph type="title"/>
          </p:nvPr>
        </p:nvSpPr>
        <p:spPr/>
        <p:txBody>
          <a:bodyPr/>
          <a:lstStyle/>
          <a:p>
            <a:r>
              <a:rPr lang="en-GB" dirty="0"/>
              <a:t>Creative Writing</a:t>
            </a:r>
          </a:p>
        </p:txBody>
      </p:sp>
      <p:sp>
        <p:nvSpPr>
          <p:cNvPr id="3" name="Content Placeholder 2">
            <a:extLst>
              <a:ext uri="{FF2B5EF4-FFF2-40B4-BE49-F238E27FC236}">
                <a16:creationId xmlns:a16="http://schemas.microsoft.com/office/drawing/2014/main" id="{807C3846-736B-1ACA-62D7-DD32A0EEF972}"/>
              </a:ext>
            </a:extLst>
          </p:cNvPr>
          <p:cNvSpPr>
            <a:spLocks noGrp="1"/>
          </p:cNvSpPr>
          <p:nvPr>
            <p:ph idx="1"/>
          </p:nvPr>
        </p:nvSpPr>
        <p:spPr/>
        <p:txBody>
          <a:bodyPr/>
          <a:lstStyle/>
          <a:p>
            <a:r>
              <a:rPr lang="en-GB" b="1" dirty="0"/>
              <a:t>How should adaptation be done well from literature to film? </a:t>
            </a:r>
          </a:p>
          <a:p>
            <a:r>
              <a:rPr lang="en-GB" dirty="0"/>
              <a:t>What should be included and what left out?</a:t>
            </a:r>
          </a:p>
          <a:p>
            <a:r>
              <a:rPr lang="en-GB" dirty="0"/>
              <a:t>Can some aspects be changed and the adaptation be authentic?</a:t>
            </a:r>
          </a:p>
          <a:p>
            <a:endParaRPr lang="en-GB" sz="2400" dirty="0"/>
          </a:p>
          <a:p>
            <a:pPr lvl="1"/>
            <a:r>
              <a:rPr lang="en-GB" sz="3200" dirty="0">
                <a:solidFill>
                  <a:srgbClr val="0070C0"/>
                </a:solidFill>
              </a:rPr>
              <a:t>Choose any text from the course so far and adapt one scene into a film scene.</a:t>
            </a:r>
          </a:p>
          <a:p>
            <a:pPr marL="457200" lvl="1" indent="0">
              <a:buNone/>
            </a:pPr>
            <a:endParaRPr lang="en-GB" sz="2800" dirty="0">
              <a:solidFill>
                <a:srgbClr val="0070C0"/>
              </a:solidFill>
            </a:endParaRPr>
          </a:p>
          <a:p>
            <a:pPr marL="457200" lvl="1" indent="0">
              <a:buNone/>
            </a:pPr>
            <a:r>
              <a:rPr lang="en-GB" sz="2800" dirty="0"/>
              <a:t>(You can refer to the screenplay for the </a:t>
            </a:r>
            <a:r>
              <a:rPr lang="en-GB" sz="2800" i="1" dirty="0"/>
              <a:t>Little Women </a:t>
            </a:r>
            <a:r>
              <a:rPr lang="en-GB" sz="2800" dirty="0"/>
              <a:t>film</a:t>
            </a:r>
            <a:r>
              <a:rPr lang="en-GB" sz="2800" i="1" dirty="0"/>
              <a:t> </a:t>
            </a:r>
            <a:r>
              <a:rPr lang="en-GB" sz="2800" dirty="0"/>
              <a:t>to see how it is presented in writing.)</a:t>
            </a:r>
          </a:p>
        </p:txBody>
      </p:sp>
    </p:spTree>
    <p:extLst>
      <p:ext uri="{BB962C8B-B14F-4D97-AF65-F5344CB8AC3E}">
        <p14:creationId xmlns:p14="http://schemas.microsoft.com/office/powerpoint/2010/main" val="3315702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83432-29C8-6EA0-F4F3-31974B9FB8BC}"/>
              </a:ext>
            </a:extLst>
          </p:cNvPr>
          <p:cNvSpPr>
            <a:spLocks noGrp="1"/>
          </p:cNvSpPr>
          <p:nvPr>
            <p:ph type="title"/>
          </p:nvPr>
        </p:nvSpPr>
        <p:spPr/>
        <p:txBody>
          <a:bodyPr>
            <a:normAutofit/>
          </a:bodyPr>
          <a:lstStyle/>
          <a:p>
            <a:r>
              <a:rPr lang="en-GB" sz="4000" dirty="0"/>
              <a:t>Homework</a:t>
            </a:r>
          </a:p>
        </p:txBody>
      </p:sp>
      <p:sp>
        <p:nvSpPr>
          <p:cNvPr id="3" name="Content Placeholder 2">
            <a:extLst>
              <a:ext uri="{FF2B5EF4-FFF2-40B4-BE49-F238E27FC236}">
                <a16:creationId xmlns:a16="http://schemas.microsoft.com/office/drawing/2014/main" id="{A707C89B-14DA-64C0-B84C-3BAEAAB87DD1}"/>
              </a:ext>
            </a:extLst>
          </p:cNvPr>
          <p:cNvSpPr>
            <a:spLocks noGrp="1"/>
          </p:cNvSpPr>
          <p:nvPr>
            <p:ph idx="1"/>
          </p:nvPr>
        </p:nvSpPr>
        <p:spPr>
          <a:xfrm>
            <a:off x="581192" y="2180496"/>
            <a:ext cx="11029615" cy="3511177"/>
          </a:xfrm>
        </p:spPr>
        <p:txBody>
          <a:bodyPr>
            <a:normAutofit/>
          </a:bodyPr>
          <a:lstStyle/>
          <a:p>
            <a:r>
              <a:rPr lang="en-GB" sz="3200" dirty="0"/>
              <a:t>The end of the 19</a:t>
            </a:r>
            <a:r>
              <a:rPr lang="en-GB" sz="3200" baseline="30000" dirty="0"/>
              <a:t>th</a:t>
            </a:r>
            <a:r>
              <a:rPr lang="en-GB" sz="3200" dirty="0"/>
              <a:t> Century;  Science Fiction: </a:t>
            </a:r>
          </a:p>
          <a:p>
            <a:endParaRPr lang="en-GB" dirty="0"/>
          </a:p>
          <a:p>
            <a:pPr>
              <a:lnSpc>
                <a:spcPct val="100000"/>
              </a:lnSpc>
            </a:pPr>
            <a:r>
              <a:rPr lang="en-GB" sz="2800" dirty="0"/>
              <a:t>Please read the excerpts from </a:t>
            </a:r>
            <a:r>
              <a:rPr lang="en-GB" sz="2800" i="1" dirty="0"/>
              <a:t>The Time Machine </a:t>
            </a:r>
            <a:r>
              <a:rPr lang="en-GB" sz="2800" dirty="0"/>
              <a:t>(1895) by H. G. Wells, and also the short story </a:t>
            </a:r>
            <a:r>
              <a:rPr lang="en-GB" sz="2800" i="1" dirty="0"/>
              <a:t>There Will Come Soft Rains </a:t>
            </a:r>
            <a:r>
              <a:rPr lang="en-GB" sz="2800" dirty="0"/>
              <a:t>(1950) by Ray Bradbury.</a:t>
            </a:r>
          </a:p>
        </p:txBody>
      </p:sp>
    </p:spTree>
    <p:extLst>
      <p:ext uri="{BB962C8B-B14F-4D97-AF65-F5344CB8AC3E}">
        <p14:creationId xmlns:p14="http://schemas.microsoft.com/office/powerpoint/2010/main" val="3548535233"/>
      </p:ext>
    </p:extLst>
  </p:cSld>
  <p:clrMapOvr>
    <a:masterClrMapping/>
  </p:clrMapOvr>
</p:sld>
</file>

<file path=ppt/theme/theme1.xml><?xml version="1.0" encoding="utf-8"?>
<a:theme xmlns:a="http://schemas.openxmlformats.org/drawingml/2006/main" name="Geopolitic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politics" id="{2374027E-AC92-4EF8-9408-F8314E4BEA46}" vid="{2BC5E1F0-A625-461D-A696-72EA1839F59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Geopolitics</Template>
  <TotalTime>1413</TotalTime>
  <Words>2513</Words>
  <Application>Microsoft Office PowerPoint</Application>
  <PresentationFormat>Widescreen</PresentationFormat>
  <Paragraphs>278</Paragraphs>
  <Slides>34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ＭＳ Ｐゴシック</vt:lpstr>
      <vt:lpstr>Aptos</vt:lpstr>
      <vt:lpstr>Arial</vt:lpstr>
      <vt:lpstr>Calibri</vt:lpstr>
      <vt:lpstr>Calibri Light</vt:lpstr>
      <vt:lpstr>Helvetica</vt:lpstr>
      <vt:lpstr>Geopolitics</vt:lpstr>
      <vt:lpstr>Appreciation of English and American Literature</vt:lpstr>
      <vt:lpstr>PowerPoint Presentation</vt:lpstr>
      <vt:lpstr>Little Women, and American history</vt:lpstr>
      <vt:lpstr>PowerPoint Presentation</vt:lpstr>
      <vt:lpstr>PowerPoint Presentation</vt:lpstr>
      <vt:lpstr>The 13 Colonies</vt:lpstr>
      <vt:lpstr>The US Declaration of Independence</vt:lpstr>
      <vt:lpstr>PowerPoint Presentation</vt:lpstr>
      <vt:lpstr>PowerPoint Presentation</vt:lpstr>
      <vt:lpstr>The U.S.A. Civil War – 1861-5 </vt:lpstr>
      <vt:lpstr>The U.S.A. Civil War – 1861-5 </vt:lpstr>
      <vt:lpstr>Civil War Casualties </vt:lpstr>
      <vt:lpstr> </vt:lpstr>
      <vt:lpstr>Chapter 1</vt:lpstr>
      <vt:lpstr>Chapter 1</vt:lpstr>
      <vt:lpstr>Volume One (and this continues in Volume 2)</vt:lpstr>
      <vt:lpstr>Chapter 1</vt:lpstr>
      <vt:lpstr>‘Faithful’ adaptations</vt:lpstr>
      <vt:lpstr>Adaptation – Literature and Film</vt:lpstr>
      <vt:lpstr>Adaptation – Literature and Film</vt:lpstr>
      <vt:lpstr>Adaptation – Literature and Film</vt:lpstr>
      <vt:lpstr>Adaptation – Literature and Film</vt:lpstr>
      <vt:lpstr>Adaptation – Literature and Film</vt:lpstr>
      <vt:lpstr>Adaptation – Literature and Film</vt:lpstr>
      <vt:lpstr>Adaptation – Form and Content </vt:lpstr>
      <vt:lpstr>Adaptation – Form and Content </vt:lpstr>
      <vt:lpstr>Adaptation – Form and Content </vt:lpstr>
      <vt:lpstr>Little Women – Chapter 18  (excerpts page 14)</vt:lpstr>
      <vt:lpstr>Adaptation – Chapters 34, 35, 41, 43, 46</vt:lpstr>
      <vt:lpstr>Adaptation – Chapters 34, 35, 41, 43, 46</vt:lpstr>
      <vt:lpstr>Adaptation – Chapters 34, 35, 41, 43, 46</vt:lpstr>
      <vt:lpstr>Chapter 34 (page 20) (the first and final film scenes)</vt:lpstr>
      <vt:lpstr>Creative Writing</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Appreciation of English and American Literature</dc:title>
  <dc:creator>Dominic Graham</dc:creator>
  <cp:lastModifiedBy>Dominic Graham</cp:lastModifiedBy>
  <cp:revision>5</cp:revision>
  <dcterms:created xsi:type="dcterms:W3CDTF">2023-10-23T05:53:35Z</dcterms:created>
  <dcterms:modified xsi:type="dcterms:W3CDTF">2025-11-09T02:44:31Z</dcterms:modified>
</cp:coreProperties>
</file>