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680" r:id="rId2"/>
  </p:sldMasterIdLst>
  <p:sldIdLst>
    <p:sldId id="257" r:id="rId3"/>
    <p:sldId id="258" r:id="rId4"/>
    <p:sldId id="259" r:id="rId5"/>
    <p:sldId id="311" r:id="rId6"/>
    <p:sldId id="262" r:id="rId7"/>
    <p:sldId id="350" r:id="rId8"/>
    <p:sldId id="265" r:id="rId9"/>
    <p:sldId id="266" r:id="rId10"/>
    <p:sldId id="267" r:id="rId11"/>
    <p:sldId id="271" r:id="rId12"/>
    <p:sldId id="317" r:id="rId13"/>
    <p:sldId id="426" r:id="rId14"/>
    <p:sldId id="318" r:id="rId15"/>
    <p:sldId id="394" r:id="rId16"/>
    <p:sldId id="395" r:id="rId17"/>
    <p:sldId id="424" r:id="rId18"/>
    <p:sldId id="459" r:id="rId19"/>
    <p:sldId id="460" r:id="rId20"/>
    <p:sldId id="425" r:id="rId21"/>
    <p:sldId id="315" r:id="rId22"/>
    <p:sldId id="429" r:id="rId23"/>
    <p:sldId id="428" r:id="rId24"/>
    <p:sldId id="431" r:id="rId25"/>
    <p:sldId id="432" r:id="rId26"/>
    <p:sldId id="433" r:id="rId27"/>
    <p:sldId id="434" r:id="rId28"/>
    <p:sldId id="435" r:id="rId29"/>
    <p:sldId id="430" r:id="rId30"/>
    <p:sldId id="441" r:id="rId31"/>
    <p:sldId id="440" r:id="rId32"/>
    <p:sldId id="436" r:id="rId33"/>
    <p:sldId id="439" r:id="rId34"/>
    <p:sldId id="442" r:id="rId35"/>
    <p:sldId id="443" r:id="rId36"/>
    <p:sldId id="445" r:id="rId37"/>
    <p:sldId id="446" r:id="rId38"/>
    <p:sldId id="447" r:id="rId39"/>
    <p:sldId id="444" r:id="rId40"/>
    <p:sldId id="448" r:id="rId41"/>
    <p:sldId id="449" r:id="rId42"/>
    <p:sldId id="451" r:id="rId43"/>
    <p:sldId id="321" r:id="rId44"/>
    <p:sldId id="454" r:id="rId45"/>
    <p:sldId id="455" r:id="rId46"/>
    <p:sldId id="456" r:id="rId47"/>
    <p:sldId id="457" r:id="rId48"/>
    <p:sldId id="341" r:id="rId4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Graham" userId="80d46ba77b7de579" providerId="LiveId" clId="{1AE7EF3E-765B-4830-9F41-D7DA456DBC61}"/>
    <pc:docChg chg="custSel modSld">
      <pc:chgData name="Dominic Graham" userId="80d46ba77b7de579" providerId="LiveId" clId="{1AE7EF3E-765B-4830-9F41-D7DA456DBC61}" dt="2025-09-17T09:19:07.614" v="15" actId="27636"/>
      <pc:docMkLst>
        <pc:docMk/>
      </pc:docMkLst>
      <pc:sldChg chg="modSp mod">
        <pc:chgData name="Dominic Graham" userId="80d46ba77b7de579" providerId="LiveId" clId="{1AE7EF3E-765B-4830-9F41-D7DA456DBC61}" dt="2025-09-13T06:14:26.850" v="1" actId="27636"/>
        <pc:sldMkLst>
          <pc:docMk/>
          <pc:sldMk cId="0" sldId="265"/>
        </pc:sldMkLst>
        <pc:spChg chg="mod">
          <ac:chgData name="Dominic Graham" userId="80d46ba77b7de579" providerId="LiveId" clId="{1AE7EF3E-765B-4830-9F41-D7DA456DBC61}" dt="2025-09-13T06:14:26.850" v="1" actId="27636"/>
          <ac:spMkLst>
            <pc:docMk/>
            <pc:sldMk cId="0" sldId="265"/>
            <ac:spMk id="13315" creationId="{00000000-0000-0000-0000-000000000000}"/>
          </ac:spMkLst>
        </pc:spChg>
      </pc:sldChg>
      <pc:sldChg chg="modSp mod">
        <pc:chgData name="Dominic Graham" userId="80d46ba77b7de579" providerId="LiveId" clId="{1AE7EF3E-765B-4830-9F41-D7DA456DBC61}" dt="2025-09-13T06:25:33.091" v="11" actId="20577"/>
        <pc:sldMkLst>
          <pc:docMk/>
          <pc:sldMk cId="0" sldId="341"/>
        </pc:sldMkLst>
        <pc:spChg chg="mod">
          <ac:chgData name="Dominic Graham" userId="80d46ba77b7de579" providerId="LiveId" clId="{1AE7EF3E-765B-4830-9F41-D7DA456DBC61}" dt="2025-09-13T06:25:33.091" v="11" actId="20577"/>
          <ac:spMkLst>
            <pc:docMk/>
            <pc:sldMk cId="0" sldId="341"/>
            <ac:spMk id="3" creationId="{00000000-0000-0000-0000-000000000000}"/>
          </ac:spMkLst>
        </pc:spChg>
      </pc:sldChg>
      <pc:sldChg chg="modSp">
        <pc:chgData name="Dominic Graham" userId="80d46ba77b7de579" providerId="LiveId" clId="{1AE7EF3E-765B-4830-9F41-D7DA456DBC61}" dt="2025-09-13T06:24:39.661" v="9" actId="313"/>
        <pc:sldMkLst>
          <pc:docMk/>
          <pc:sldMk cId="4156638907" sldId="454"/>
        </pc:sldMkLst>
        <pc:spChg chg="mod">
          <ac:chgData name="Dominic Graham" userId="80d46ba77b7de579" providerId="LiveId" clId="{1AE7EF3E-765B-4830-9F41-D7DA456DBC61}" dt="2025-09-13T06:24:39.661" v="9" actId="313"/>
          <ac:spMkLst>
            <pc:docMk/>
            <pc:sldMk cId="4156638907" sldId="454"/>
            <ac:spMk id="2" creationId="{655276B6-662C-B7B4-87CE-4774E25DE553}"/>
          </ac:spMkLst>
        </pc:spChg>
      </pc:sldChg>
      <pc:sldChg chg="modSp mod modAnim">
        <pc:chgData name="Dominic Graham" userId="80d46ba77b7de579" providerId="LiveId" clId="{1AE7EF3E-765B-4830-9F41-D7DA456DBC61}" dt="2025-09-17T09:19:07.614" v="15" actId="27636"/>
        <pc:sldMkLst>
          <pc:docMk/>
          <pc:sldMk cId="2759113825" sldId="460"/>
        </pc:sldMkLst>
        <pc:spChg chg="mod">
          <ac:chgData name="Dominic Graham" userId="80d46ba77b7de579" providerId="LiveId" clId="{1AE7EF3E-765B-4830-9F41-D7DA456DBC61}" dt="2025-09-17T09:19:07.614" v="15" actId="27636"/>
          <ac:spMkLst>
            <pc:docMk/>
            <pc:sldMk cId="2759113825" sldId="460"/>
            <ac:spMk id="54274" creationId="{E2A108AD-6E11-64CA-4256-608820FA93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sp>
          <p:nvSpPr>
            <p:cNvPr id="5" name="Freeform 14"/>
            <p:cNvSpPr/>
            <p:nvPr/>
          </p:nvSpPr>
          <p:spPr>
            <a:xfrm>
              <a:off x="0" y="-8467"/>
              <a:ext cx="863600" cy="569797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6" name="Straight Connector 18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9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Isosceles Triangle 22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26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CBFA0-FD59-4C60-9C6B-E63D223DE4DF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EAE88-0041-4CE5-9F5F-A7B334C170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3B7DC-EBDB-41E8-A223-FE317061D957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0A639-BA70-489B-B20F-A465E8A4B0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65394-03EB-42E8-B087-5D6D7F3D299E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E0E6D-24AC-4EF4-84E8-E5DACA41FF7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B43E1-D039-4806-8D4C-CBDCB9C4E444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C1CBE-6DC6-414E-BA6E-5CB28F6FD6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26A10-50BB-43D0-A383-E20A720A98EE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D4EA8-8503-40DC-9C22-081C238B88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9FEDB-4E40-4B56-8F37-2F595803612C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70688-142B-42C4-920A-D00FE06F86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FD1AC-34A3-432B-A24D-9127B9AA2F61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4804B-423E-4671-892B-2F00723102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9B425-D207-41A6-B5CE-98B193B46911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9364D-F3C9-490E-ACC3-49FA4254B5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83336-6079-45F9-A2CC-12B24C9A292A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3A74-4CFF-4CA7-B2C2-B9161BE6FD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9DCFC-FC49-4A47-9961-FFE33176F016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E2880-EFD0-4B4B-BDB5-C12422FF6D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541338" y="790575"/>
            <a:ext cx="609600" cy="5842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8893175" y="2886075"/>
            <a:ext cx="609600" cy="585788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E96E66-D89E-4787-85BF-FC412534AACD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F698-1D1A-413C-BB3E-A9B673D820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B627A-1E93-44C2-8DD7-A4A5E6C665B9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3AC16-968E-4046-B4C0-CDE55C0794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541338" y="790575"/>
            <a:ext cx="609600" cy="5842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8893175" y="2886075"/>
            <a:ext cx="609600" cy="585788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1AFB2-9A42-4D0E-BA20-01C41C65F4F2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5BEBB-F2F8-4358-9E33-D51C3B47FB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1E002-AB96-46F6-8C26-EDE5A07E7414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59B7D-4275-46E0-8750-FBC5D00A25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2A104-8EC9-4B95-A631-6C869A5DAF06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4B23D-872E-4C04-9AB3-EB3A71A8BF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93BFD-C426-459D-BFFC-89415F12FE82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754B8-DB3A-4263-9FB6-97714535BF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sp>
          <p:nvSpPr>
            <p:cNvPr id="5" name="Freeform 14"/>
            <p:cNvSpPr/>
            <p:nvPr/>
          </p:nvSpPr>
          <p:spPr>
            <a:xfrm>
              <a:off x="0" y="-8467"/>
              <a:ext cx="863600" cy="569797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6" name="Straight Connector 18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9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Isosceles Triangle 22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26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C5136-5127-4B8B-AE0F-13A38EEFABD5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4E15C-6F77-4A39-AFE7-5963F85DFC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02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41777-B540-48A4-BF23-58DB4129078E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85A1A-2965-47D8-BD70-F5633C5315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097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51ACA-2B71-43F3-81FD-0F983E5D5256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BC42F3-1634-4B33-BEC5-01D880F185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811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E234C-D341-4192-B401-90F02E01F8A1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B3DF6-4A8F-4979-A9E7-58E49725F7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212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191DC-742B-40F5-8C54-A11D559F3B6C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EF3A8-2084-4A55-84ED-BE07326E90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35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0F611-6A44-40B3-AAA9-B1E1B1A7ADEC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7BCB7-AEF6-4008-9CB6-432FAFE161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634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9133A-41A6-4F08-8383-502FB0637F31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A56FD-66FD-4F7D-B07B-977FF0B64B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5997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D8CB1-5D9E-4EF2-B0B0-F96E219AD844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547D9-44D9-4029-8B3F-9CF7D98837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4017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B10D6-0D02-497E-9232-840C7C8189D4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D0C4A-DE97-4A70-9C77-71D45F5BD8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091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5CE80-AFA8-4599-8725-0005F475DB8B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AFD3C-8020-4AC9-B7FD-11F2105059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210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541338" y="790575"/>
            <a:ext cx="609600" cy="5842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8893175" y="2886075"/>
            <a:ext cx="609600" cy="585788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18180B-412E-4391-B612-B0E0003B7D0C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82E92-C573-43A5-B7F4-99183B3CC2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3567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C8695-5F3F-47E5-8D24-42094495297F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9C4E7-C689-467F-B51A-7F13949764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277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541338" y="790575"/>
            <a:ext cx="609600" cy="5842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8893175" y="2886075"/>
            <a:ext cx="609600" cy="585788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DFCE7-D621-4529-8A33-ACA6BC7A9C12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D7CCA-C5F5-49D6-935E-201C24F209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1916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64753-8D44-4878-AD89-EDFAD9CE6659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FB830-89B2-4AB5-953D-8AC93D4C5A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2569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54986-BFAD-4FB0-8B36-ABB5DB4C28E8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53A48-96F0-4A87-8056-232399AB7A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8545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FFC9A-DA8D-4C04-8F7E-77257B9772A0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1526B-4C78-4747-9626-6476163320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49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3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2981"/>
              <a:ext cx="449263" cy="2845019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77863" y="609600"/>
            <a:ext cx="859631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863" y="2160588"/>
            <a:ext cx="8596312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663" y="6042025"/>
            <a:ext cx="9112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BDB115-8416-403A-8DCC-40A526EBEF36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863" y="6042025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9963" y="6042025"/>
            <a:ext cx="684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D369C9-5C20-4ACF-B6C1-93227E8C6D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8" r:id="rId11"/>
    <p:sldLayoutId id="2147483673" r:id="rId12"/>
    <p:sldLayoutId id="2147483679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3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2981"/>
              <a:ext cx="449263" cy="2845019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77863" y="609600"/>
            <a:ext cx="859631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863" y="2160588"/>
            <a:ext cx="8596312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663" y="6042025"/>
            <a:ext cx="9112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A9AE6A-98FB-47E0-9D81-9C4DADFAECF5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863" y="6042025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9963" y="6042025"/>
            <a:ext cx="684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E0777AF-1656-409D-AF91-FDAAEE9582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dommgraham@outlook.co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ctrTitle"/>
          </p:nvPr>
        </p:nvSpPr>
        <p:spPr>
          <a:xfrm>
            <a:off x="2135187" y="3503613"/>
            <a:ext cx="7260740" cy="1644650"/>
          </a:xfrm>
        </p:spPr>
        <p:txBody>
          <a:bodyPr/>
          <a:lstStyle/>
          <a:p>
            <a:pPr algn="ctr" eaLnBrk="1" hangingPunct="1"/>
            <a:br>
              <a:rPr lang="en-GB" dirty="0">
                <a:solidFill>
                  <a:srgbClr val="0070C0"/>
                </a:solidFill>
              </a:rPr>
            </a:br>
            <a:r>
              <a:rPr lang="en-GB" dirty="0">
                <a:solidFill>
                  <a:srgbClr val="0070C0"/>
                </a:solidFill>
              </a:rPr>
              <a:t>  Welcome to </a:t>
            </a:r>
            <a:br>
              <a:rPr lang="en-GB" sz="6000" dirty="0">
                <a:solidFill>
                  <a:srgbClr val="0070C0"/>
                </a:solidFill>
              </a:rPr>
            </a:br>
            <a:r>
              <a:rPr lang="en-GB" sz="6000" dirty="0">
                <a:solidFill>
                  <a:srgbClr val="0070C0"/>
                </a:solidFill>
              </a:rPr>
              <a:t>  </a:t>
            </a:r>
            <a:r>
              <a:rPr lang="en-GB" b="1" dirty="0">
                <a:solidFill>
                  <a:srgbClr val="0070C0"/>
                </a:solidFill>
              </a:rPr>
              <a:t>Appreciation of English and American Literature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457" y="4051300"/>
            <a:ext cx="7767637" cy="1096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>
                <a:solidFill>
                  <a:srgbClr val="0070C0"/>
                </a:solidFill>
              </a:rPr>
              <a:t>Meet your classmates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2160588"/>
            <a:ext cx="9268570" cy="38814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Turn to the people nearby.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Say hello and ask what their names are.</a:t>
            </a:r>
            <a:endParaRPr lang="en-US" altLang="zh-CN" sz="3200" dirty="0">
              <a:solidFill>
                <a:srgbClr val="00B0F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Tell them something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interesting about yourself.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 sz="5400" dirty="0">
                <a:solidFill>
                  <a:srgbClr val="0070C0"/>
                </a:solidFill>
              </a:rPr>
              <a:t>English Literature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3200" dirty="0"/>
              <a:t>What is your favourite piece of English or American Literature? </a:t>
            </a:r>
          </a:p>
          <a:p>
            <a:pPr eaLnBrk="1" hangingPunct="1"/>
            <a:endParaRPr lang="en-GB" sz="3200" dirty="0"/>
          </a:p>
          <a:p>
            <a:pPr eaLnBrk="1" hangingPunct="1"/>
            <a:r>
              <a:rPr lang="en-GB" sz="3200" dirty="0"/>
              <a:t>What is the favourite piece of English or American Literature </a:t>
            </a:r>
            <a:r>
              <a:rPr lang="en-GB" sz="3200" i="1" dirty="0"/>
              <a:t>you’ve read in English?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 sz="5400" dirty="0">
                <a:solidFill>
                  <a:srgbClr val="0070C0"/>
                </a:solidFill>
              </a:rPr>
              <a:t>English Literature</a:t>
            </a: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>
          <a:xfrm>
            <a:off x="677862" y="2160588"/>
            <a:ext cx="9632465" cy="3881437"/>
          </a:xfrm>
        </p:spPr>
        <p:txBody>
          <a:bodyPr/>
          <a:lstStyle/>
          <a:p>
            <a:pPr marL="571500" lvl="2" indent="-571500" eaLnBrk="1" hangingPunct="1">
              <a:defRPr/>
            </a:pPr>
            <a:r>
              <a:rPr lang="en-GB" sz="3200" dirty="0"/>
              <a:t>What is English literature or American literature?</a:t>
            </a:r>
          </a:p>
          <a:p>
            <a:pPr marL="571500" lvl="2" indent="-571500" eaLnBrk="1" hangingPunct="1">
              <a:defRPr/>
            </a:pPr>
            <a:endParaRPr lang="en-GB" sz="3200" dirty="0"/>
          </a:p>
          <a:p>
            <a:pPr marL="571500" lvl="2" indent="-571500" eaLnBrk="1" hangingPunct="1">
              <a:defRPr/>
            </a:pPr>
            <a:r>
              <a:rPr lang="en-GB" sz="3200" dirty="0"/>
              <a:t>What is ‘good’ literature?</a:t>
            </a:r>
          </a:p>
          <a:p>
            <a:pPr marL="571500" lvl="2" indent="-571500" eaLnBrk="1" hangingPunct="1">
              <a:defRPr/>
            </a:pPr>
            <a:r>
              <a:rPr lang="en-GB" sz="3200" dirty="0"/>
              <a:t>Why is it something that should be appreciated? </a:t>
            </a:r>
          </a:p>
          <a:p>
            <a:pPr algn="ctr" eaLnBrk="1" hangingPunct="1">
              <a:defRPr/>
            </a:pPr>
            <a:endParaRPr lang="en-GB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06538" y="2405063"/>
            <a:ext cx="7767637" cy="1646237"/>
          </a:xfrm>
        </p:spPr>
        <p:txBody>
          <a:bodyPr/>
          <a:lstStyle/>
          <a:p>
            <a:pPr eaLnBrk="1" hangingPunct="1"/>
            <a:r>
              <a:rPr lang="en-US" altLang="zh-CN" sz="6600" b="1">
                <a:solidFill>
                  <a:schemeClr val="accent2"/>
                </a:solidFill>
              </a:rPr>
              <a:t>The Syllabus</a:t>
            </a:r>
          </a:p>
        </p:txBody>
      </p:sp>
      <p:sp>
        <p:nvSpPr>
          <p:cNvPr id="1024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506538" y="4051300"/>
            <a:ext cx="7767637" cy="1096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070C0"/>
                </a:solidFill>
              </a:rPr>
              <a:t>Course Aims: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1" y="1726163"/>
            <a:ext cx="10742807" cy="4814596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000" b="1" dirty="0">
                <a:solidFill>
                  <a:srgbClr val="0070C0"/>
                </a:solidFill>
              </a:rPr>
              <a:t> </a:t>
            </a:r>
            <a:r>
              <a:rPr lang="en-US" altLang="zh-CN" sz="3300" b="1" dirty="0">
                <a:solidFill>
                  <a:srgbClr val="0070C0"/>
                </a:solidFill>
              </a:rPr>
              <a:t>Learn about English verse and prose stylistically</a:t>
            </a:r>
          </a:p>
          <a:p>
            <a:pPr marL="853200" lvl="1" indent="-460800" eaLnBrk="1" fontAlgn="auto" hangingPunct="1">
              <a:lnSpc>
                <a:spcPct val="12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it works in form and composition, on the page, when spoken, and in performance.</a:t>
            </a:r>
          </a:p>
          <a:p>
            <a:pPr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-457200" eaLnBrk="1" fontAlgn="auto" hangingPunct="1">
              <a:spcAft>
                <a:spcPts val="0"/>
              </a:spcAft>
              <a:defRPr/>
            </a:pPr>
            <a:r>
              <a:rPr lang="en-US" altLang="zh-CN" sz="3300" b="1" dirty="0">
                <a:solidFill>
                  <a:srgbClr val="0070C0"/>
                </a:solidFill>
              </a:rPr>
              <a:t>Learn about the content of literature</a:t>
            </a:r>
          </a:p>
          <a:p>
            <a:pPr marL="857250" lvl="2" indent="-457200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was it written?</a:t>
            </a:r>
          </a:p>
          <a:p>
            <a:pPr marL="857250" lvl="2" indent="-457200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was the context of its creation, and of its readership since?</a:t>
            </a:r>
          </a:p>
          <a:p>
            <a:pPr marL="0" lvl="1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-457200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300" b="1" dirty="0">
                <a:solidFill>
                  <a:srgbClr val="0070C0"/>
                </a:solidFill>
              </a:rPr>
              <a:t>Consider what the result of that form and content may be</a:t>
            </a:r>
          </a:p>
          <a:p>
            <a:pPr marL="857250" lvl="3" indent="-457200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form affects content, and vice versa – to create meaning.</a:t>
            </a:r>
          </a:p>
          <a:p>
            <a:pPr marL="857250" lvl="3" indent="-457200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the whole may have value and be worth appreciating – or not.</a:t>
            </a:r>
          </a:p>
          <a:p>
            <a:pPr marL="857250" lvl="3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06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070C0"/>
                </a:solidFill>
              </a:rPr>
              <a:t>Course Aims: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2" y="1787362"/>
            <a:ext cx="10322929" cy="4529461"/>
          </a:xfrm>
        </p:spPr>
        <p:txBody>
          <a:bodyPr rtlCol="0">
            <a:normAutofit fontScale="92500" lnSpcReduction="10000"/>
          </a:bodyPr>
          <a:lstStyle/>
          <a:p>
            <a:pPr marL="457200" indent="-457200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b="1" dirty="0">
                <a:solidFill>
                  <a:srgbClr val="0070C0"/>
                </a:solidFill>
              </a:rPr>
              <a:t>Gain an understanding of the English Literature canon: </a:t>
            </a:r>
          </a:p>
          <a:p>
            <a:pPr marL="853200" lvl="1" indent="-460800"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circa 700AD to the present, covering various movements and styles, British and American… etc.</a:t>
            </a:r>
          </a:p>
          <a:p>
            <a:pPr marL="853200" lvl="1" indent="-460800" eaLnBrk="1" fontAlgn="auto" hangingPunct="1">
              <a:spcBef>
                <a:spcPts val="600"/>
              </a:spcBef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1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b="1" dirty="0">
                <a:solidFill>
                  <a:srgbClr val="0070C0"/>
                </a:solidFill>
              </a:rPr>
              <a:t>Practice writing in the various styles we study, engaging with their literary themes.</a:t>
            </a:r>
          </a:p>
          <a:p>
            <a:pPr marL="857250" lvl="2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Try poetry and prose techniques, and learn about them through creativity.</a:t>
            </a:r>
          </a:p>
          <a:p>
            <a:pPr marL="857250" lvl="2" indent="-457200" eaLnBrk="1" fontAlgn="auto" hangingPunct="1">
              <a:spcBef>
                <a:spcPts val="600"/>
              </a:spcBef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2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b="1" dirty="0">
                <a:solidFill>
                  <a:srgbClr val="0070C0"/>
                </a:solidFill>
              </a:rPr>
              <a:t>Develop your interests in literature and enjoy reading!</a:t>
            </a:r>
          </a:p>
          <a:p>
            <a:pPr marL="853200" lvl="2" indent="-460800" eaLnBrk="1" fontAlgn="auto" hangingPunct="1"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Write an academic essay, referencing research on a literary topic.</a:t>
            </a:r>
          </a:p>
          <a:p>
            <a:pPr marL="400050" lvl="2" indent="0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CN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06538" y="2405063"/>
            <a:ext cx="7767637" cy="1646237"/>
          </a:xfrm>
        </p:spPr>
        <p:txBody>
          <a:bodyPr/>
          <a:lstStyle/>
          <a:p>
            <a:pPr eaLnBrk="1" hangingPunct="1"/>
            <a:r>
              <a:rPr lang="en-US" altLang="zh-CN" sz="8000" b="1">
                <a:solidFill>
                  <a:schemeClr val="accent2"/>
                </a:solidFill>
              </a:rPr>
              <a:t>Grading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506538" y="4051300"/>
            <a:ext cx="7767637" cy="1096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70C0"/>
                </a:solidFill>
              </a:rPr>
              <a:t>Grading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	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5% 		Attendance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None/>
              <a:defRPr/>
            </a:pP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sym typeface="Calibri" panose="020F0502020204030204" pitchFamily="34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	15%		Class Participation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sym typeface="Calibri" panose="020F0502020204030204" pitchFamily="34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	20%  		Creative Writing Portfolio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						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	60% 		Final Literature Essay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b="1" dirty="0">
                <a:solidFill>
                  <a:srgbClr val="0070C0"/>
                </a:solidFill>
              </a:rPr>
              <a:t>Attendance 5%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1846425"/>
            <a:ext cx="9156602" cy="4674636"/>
          </a:xfrm>
        </p:spPr>
        <p:txBody>
          <a:bodyPr rtlCol="0">
            <a:normAutofit fontScale="70000" lnSpcReduction="20000"/>
          </a:bodyPr>
          <a:lstStyle/>
          <a:p>
            <a:pPr fontAlgn="auto">
              <a:spcBef>
                <a:spcPts val="70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Attendance is important! Why?</a:t>
            </a:r>
          </a:p>
          <a:p>
            <a:pPr fontAlgn="auto">
              <a:spcBef>
                <a:spcPts val="700"/>
              </a:spcBef>
              <a:spcAft>
                <a:spcPts val="0"/>
              </a:spcAft>
              <a:buFont typeface="Wingdings 3" charset="2"/>
              <a:buNone/>
              <a:defRPr/>
            </a:pP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lvl="1" fontAlgn="auto">
              <a:spcBef>
                <a:spcPts val="70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400" b="1" dirty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sym typeface="Times New Roman" panose="02020603050405020304" pitchFamily="18" charset="0"/>
              </a:rPr>
              <a:t>If you are absent </a:t>
            </a:r>
            <a:r>
              <a:rPr lang="en-US" altLang="zh-CN" sz="3400" b="1" i="1" dirty="0">
                <a:solidFill>
                  <a:srgbClr val="FF0000"/>
                </a:solidFill>
                <a:ea typeface="ＭＳ Ｐゴシック" panose="020B0600070205080204" pitchFamily="34" charset="-128"/>
                <a:sym typeface="Times New Roman" panose="02020603050405020304" pitchFamily="18" charset="0"/>
              </a:rPr>
              <a:t>for over 1/3 of the classes</a:t>
            </a:r>
            <a:r>
              <a:rPr lang="en-US" altLang="zh-CN" sz="3400" b="1" dirty="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panose="020B0600070205080204" pitchFamily="34" charset="-128"/>
                <a:sym typeface="Times New Roman" panose="02020603050405020304" pitchFamily="18" charset="0"/>
              </a:rPr>
              <a:t> you will fail the course!</a:t>
            </a:r>
          </a:p>
          <a:p>
            <a:pPr lvl="1" fontAlgn="auto">
              <a:spcBef>
                <a:spcPts val="700"/>
              </a:spcBef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sym typeface="Times New Roman" panose="02020603050405020304" pitchFamily="18" charset="0"/>
            </a:endParaRPr>
          </a:p>
          <a:p>
            <a:pPr lvl="1">
              <a:spcBef>
                <a:spcPts val="700"/>
              </a:spcBef>
            </a:pPr>
            <a:r>
              <a:rPr lang="en-US" altLang="zh-CN" sz="3400" b="1" dirty="0">
                <a:cs typeface="Times New Roman" pitchFamily="18" charset="0"/>
                <a:sym typeface="Times New Roman" pitchFamily="18" charset="0"/>
              </a:rPr>
              <a:t>Outside activities like internships will be excused if the university grants you permission.</a:t>
            </a:r>
          </a:p>
          <a:p>
            <a:pPr>
              <a:spcBef>
                <a:spcPts val="700"/>
              </a:spcBef>
            </a:pPr>
            <a:endParaRPr lang="en-US" altLang="zh-CN" sz="2400" b="1" dirty="0">
              <a:cs typeface="Times New Roman" pitchFamily="18" charset="0"/>
              <a:sym typeface="Times New Roman" pitchFamily="18" charset="0"/>
            </a:endParaRPr>
          </a:p>
          <a:p>
            <a:pPr lvl="1">
              <a:spcBef>
                <a:spcPts val="700"/>
              </a:spcBef>
            </a:pPr>
            <a:r>
              <a:rPr lang="en-US" altLang="zh-CN" sz="3400" b="1" dirty="0">
                <a:cs typeface="Times New Roman" pitchFamily="18" charset="0"/>
                <a:sym typeface="Times New Roman" pitchFamily="18" charset="0"/>
              </a:rPr>
              <a:t>If you are ill or have any valid reason for being absent, please give me a signed form from the university.</a:t>
            </a:r>
          </a:p>
          <a:p>
            <a:pPr lvl="1">
              <a:spcBef>
                <a:spcPts val="700"/>
              </a:spcBef>
            </a:pPr>
            <a:endParaRPr lang="en-US" altLang="zh-CN" sz="2400" b="1" dirty="0">
              <a:cs typeface="Times New Roman" pitchFamily="18" charset="0"/>
              <a:sym typeface="Times New Roman" pitchFamily="18" charset="0"/>
            </a:endParaRPr>
          </a:p>
          <a:p>
            <a:pPr lvl="1">
              <a:spcBef>
                <a:spcPts val="700"/>
              </a:spcBef>
            </a:pPr>
            <a:r>
              <a:rPr lang="en-US" altLang="zh-CN" sz="3400" b="1" dirty="0">
                <a:cs typeface="Times New Roman" pitchFamily="18" charset="0"/>
                <a:sym typeface="Times New Roman" pitchFamily="18" charset="0"/>
              </a:rPr>
              <a:t>If you miss classes, then do your best to catch up with the missed material.</a:t>
            </a:r>
          </a:p>
          <a:p>
            <a:pPr lvl="1" fontAlgn="auto">
              <a:spcBef>
                <a:spcPts val="700"/>
              </a:spcBef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ea typeface="ＭＳ Ｐゴシック" panose="020B0600070205080204" pitchFamily="34" charset="-128"/>
              <a:sym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 b="1" dirty="0">
                <a:solidFill>
                  <a:srgbClr val="0070C0"/>
                </a:solidFill>
              </a:rPr>
              <a:t>Participation – 15%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>
          <a:xfrm>
            <a:off x="676656" y="2011680"/>
            <a:ext cx="10753725" cy="418384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ym typeface="Calibri" pitchFamily="34" charset="0"/>
              </a:rPr>
              <a:t>This score applies to general participation in class, and in preparation for class:</a:t>
            </a:r>
          </a:p>
          <a:p>
            <a:pPr>
              <a:buFontTx/>
              <a:buNone/>
            </a:pPr>
            <a:r>
              <a:rPr lang="en-US" altLang="zh-CN" sz="3200" b="1" dirty="0">
                <a:sym typeface="Calibri" pitchFamily="34" charset="0"/>
              </a:rPr>
              <a:t>			</a:t>
            </a:r>
            <a:r>
              <a:rPr lang="en-US" altLang="zh-CN" sz="2600" b="1" dirty="0">
                <a:sym typeface="Calibri" pitchFamily="34" charset="0"/>
              </a:rPr>
              <a:t>-	paying attention</a:t>
            </a:r>
          </a:p>
          <a:p>
            <a:pPr>
              <a:buFontTx/>
              <a:buNone/>
            </a:pPr>
            <a:r>
              <a:rPr lang="en-US" altLang="zh-CN" sz="2600" b="1" dirty="0">
                <a:sym typeface="Calibri" pitchFamily="34" charset="0"/>
              </a:rPr>
              <a:t>			- 	answering questions and having group discussions </a:t>
            </a:r>
          </a:p>
          <a:p>
            <a:pPr>
              <a:buFontTx/>
              <a:buNone/>
            </a:pPr>
            <a:r>
              <a:rPr lang="en-US" altLang="zh-CN" sz="2600" b="1" dirty="0">
                <a:sym typeface="Calibri" pitchFamily="34" charset="0"/>
              </a:rPr>
              <a:t>			- 	writing in class</a:t>
            </a:r>
          </a:p>
          <a:p>
            <a:pPr>
              <a:buFontTx/>
              <a:buNone/>
            </a:pPr>
            <a:r>
              <a:rPr lang="en-US" altLang="zh-CN" sz="2600" b="1" dirty="0">
                <a:sym typeface="Calibri" pitchFamily="34" charset="0"/>
              </a:rPr>
              <a:t>			- 	completing homework reading and writing</a:t>
            </a:r>
          </a:p>
          <a:p>
            <a:pPr>
              <a:buFontTx/>
              <a:buNone/>
            </a:pPr>
            <a:r>
              <a:rPr lang="en-US" altLang="zh-CN" sz="2600" b="1" dirty="0">
                <a:sym typeface="Calibri" pitchFamily="34" charset="0"/>
              </a:rPr>
              <a:t>			-	punctuality</a:t>
            </a:r>
          </a:p>
          <a:p>
            <a:pPr>
              <a:buFontTx/>
              <a:buNone/>
            </a:pPr>
            <a:r>
              <a:rPr lang="en-US" altLang="zh-CN" sz="2600" b="1" dirty="0">
                <a:sym typeface="Calibri" pitchFamily="34" charset="0"/>
              </a:rPr>
              <a:t>			-	and not sleeping, </a:t>
            </a:r>
            <a:r>
              <a:rPr lang="en-US" altLang="zh-CN" sz="2600" b="1" dirty="0" err="1">
                <a:sym typeface="Calibri" pitchFamily="34" charset="0"/>
              </a:rPr>
              <a:t>etc</a:t>
            </a:r>
            <a:r>
              <a:rPr lang="en-US" altLang="zh-CN" sz="2600" b="1" dirty="0">
                <a:sym typeface="Calibri" pitchFamily="34" charset="0"/>
              </a:rPr>
              <a:t>…</a:t>
            </a:r>
          </a:p>
          <a:p>
            <a:pPr>
              <a:buFontTx/>
              <a:buNone/>
            </a:pPr>
            <a:endParaRPr lang="en-US" altLang="zh-CN" sz="2800" b="1" dirty="0">
              <a:sym typeface="Calibri" pitchFamily="34" charset="0"/>
            </a:endParaRPr>
          </a:p>
          <a:p>
            <a:pPr>
              <a:buFontTx/>
              <a:buNone/>
            </a:pPr>
            <a:endParaRPr lang="en-US" altLang="zh-CN" sz="2800" b="1" dirty="0">
              <a:sym typeface="Calibr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 b="1" dirty="0">
                <a:solidFill>
                  <a:srgbClr val="0070C0"/>
                </a:solidFill>
              </a:rPr>
              <a:t>Writing Portfolio – 20%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>
          <a:xfrm>
            <a:off x="677863" y="1646239"/>
            <a:ext cx="10753725" cy="481563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9600" b="1" dirty="0">
                <a:sym typeface="Calibri" pitchFamily="34" charset="0"/>
              </a:rPr>
              <a:t>During the course you will attempt some of your own creative writing, based on the literature we study.</a:t>
            </a:r>
          </a:p>
          <a:p>
            <a:pPr>
              <a:lnSpc>
                <a:spcPct val="120000"/>
              </a:lnSpc>
            </a:pPr>
            <a:endParaRPr lang="en-US" altLang="zh-CN" sz="2500" b="1" dirty="0">
              <a:sym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9600" b="1" dirty="0">
                <a:sym typeface="Calibri" pitchFamily="34" charset="0"/>
              </a:rPr>
              <a:t>The main objective is to try your best and take part. You are not expected to write as well as Shakespeare. Some tasks will be difficult – just make a good effort!</a:t>
            </a:r>
          </a:p>
          <a:p>
            <a:pPr>
              <a:lnSpc>
                <a:spcPct val="120000"/>
              </a:lnSpc>
            </a:pPr>
            <a:endParaRPr lang="en-US" altLang="zh-CN" sz="2800" b="1" dirty="0">
              <a:sym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9600" b="1" i="1" dirty="0">
                <a:sym typeface="Calibri" pitchFamily="34" charset="0"/>
              </a:rPr>
              <a:t>You should submit a portfolio of at least 4 different pieces of writing written during the course. At least 3 pieces should be creative poetry/prose and 1 may be academic (handed in week 16).</a:t>
            </a:r>
          </a:p>
          <a:p>
            <a:pPr>
              <a:lnSpc>
                <a:spcPct val="120000"/>
              </a:lnSpc>
            </a:pPr>
            <a:endParaRPr lang="en-US" altLang="zh-CN" sz="2500" b="1" dirty="0">
              <a:sym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9600" b="1" dirty="0">
                <a:sym typeface="Calibri" pitchFamily="34" charset="0"/>
              </a:rPr>
              <a:t>If you complete the portfolio (showing your active participation) then you will score well. However, if you write some wonderful pieces then you could also score extra points.</a:t>
            </a:r>
          </a:p>
        </p:txBody>
      </p:sp>
    </p:spTree>
    <p:extLst>
      <p:ext uri="{BB962C8B-B14F-4D97-AF65-F5344CB8AC3E}">
        <p14:creationId xmlns:p14="http://schemas.microsoft.com/office/powerpoint/2010/main" val="136173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b="1" dirty="0">
                <a:solidFill>
                  <a:srgbClr val="0070C0"/>
                </a:solidFill>
              </a:rPr>
              <a:t>Final Literature Essay – 60%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>
          <a:xfrm>
            <a:off x="598030" y="1688841"/>
            <a:ext cx="10995940" cy="5169159"/>
          </a:xfrm>
        </p:spPr>
        <p:txBody>
          <a:bodyPr rtlCol="0">
            <a:normAutofit fontScale="70000" lnSpcReduction="2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An Argumentative Research Essay – 1200 – 1500 words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													  </a:t>
            </a:r>
            <a:r>
              <a:rPr lang="en-US" altLang="zh-CN" sz="4000" b="1" i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(Handed in Week 16)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Font typeface="Wingdings 3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sym typeface="Calibri" panose="020F0502020204030204" pitchFamily="34" charset="0"/>
            </a:endParaRP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300" b="1" dirty="0"/>
              <a:t>The essay should be researched and written about a literature topic of your own choosing (confirmed with Dominic). As an argumentative essay it should set out a thesis and then try to prove this throughout a series of paragraphs (no abstract or subtitles are needed).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endParaRPr lang="en-US" sz="1300" b="1" dirty="0"/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300" b="1" dirty="0"/>
              <a:t>It should have an academic style and structure, and correctly reference at least 3 different academic sources (in addition to the literature studied).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endParaRPr lang="en-US" sz="1300" b="1" dirty="0"/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300" b="1" dirty="0"/>
              <a:t>Class time in weeks 14 and 15 will be spent as essay writing workshops, for you to ask any questions and build your essay argument.</a:t>
            </a:r>
            <a:endParaRPr lang="en-US" altLang="zh-CN" sz="3300" b="1" dirty="0">
              <a:solidFill>
                <a:schemeClr val="tx1">
                  <a:lumMod val="75000"/>
                  <a:lumOff val="25000"/>
                </a:schemeClr>
              </a:solidFill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06538" y="2405063"/>
            <a:ext cx="7767637" cy="1646237"/>
          </a:xfrm>
        </p:spPr>
        <p:txBody>
          <a:bodyPr>
            <a:normAutofit fontScale="90000"/>
          </a:bodyPr>
          <a:lstStyle/>
          <a:p>
            <a:r>
              <a:rPr lang="en-US" altLang="zh-CN" sz="6000"/>
              <a:t>A word about </a:t>
            </a:r>
            <a:br>
              <a:rPr lang="en-US" altLang="zh-CN" sz="6000"/>
            </a:br>
            <a:br>
              <a:rPr lang="en-US" altLang="zh-CN" sz="2400"/>
            </a:br>
            <a:r>
              <a:rPr lang="en-US" altLang="zh-CN" sz="7200" b="1">
                <a:solidFill>
                  <a:srgbClr val="FF0000"/>
                </a:solidFill>
              </a:rPr>
              <a:t>PLAGIARISM !!!!!</a:t>
            </a:r>
          </a:p>
        </p:txBody>
      </p:sp>
      <p:sp>
        <p:nvSpPr>
          <p:cNvPr id="3584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506538" y="4051300"/>
            <a:ext cx="7767637" cy="109696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70C0"/>
                </a:solidFill>
              </a:rPr>
              <a:t>What is plagiarism?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677863" y="2067282"/>
            <a:ext cx="9352545" cy="3881437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means using someone else’s words as if they were your own. 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is cheating.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is intellectual theft. 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many countries you can be thrown out of university, or lose your job if you do this.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Be careful not to </a:t>
            </a:r>
            <a:r>
              <a:rPr lang="en-US" altLang="zh-CN" b="1" dirty="0" err="1">
                <a:solidFill>
                  <a:srgbClr val="0070C0"/>
                </a:solidFill>
              </a:rPr>
              <a:t>plagiarise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858416" y="1845734"/>
            <a:ext cx="9983755" cy="4834984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/>
              <a:t>Keep notes of where you get quotes and ideas from – which book, article, etc., so you don’t forget later.</a:t>
            </a:r>
          </a:p>
          <a:p>
            <a:endParaRPr lang="en-US" altLang="zh-CN" sz="2000" dirty="0"/>
          </a:p>
          <a:p>
            <a:r>
              <a:rPr lang="en-US" altLang="zh-CN" sz="2800" dirty="0"/>
              <a:t>When you write any work in class, for homework, or for assessment, remember to give credit for original ideas to their creators.</a:t>
            </a:r>
          </a:p>
          <a:p>
            <a:endParaRPr lang="en-US" altLang="zh-CN" sz="2000" dirty="0"/>
          </a:p>
          <a:p>
            <a:r>
              <a:rPr lang="en-US" altLang="zh-CN" sz="2800" dirty="0"/>
              <a:t>You can use signal phrases such as, “As George Herbert writes…” and then add a reference to your work. (Also, paraphrasing and quoting someone can be powerful techniques.)</a:t>
            </a:r>
          </a:p>
          <a:p>
            <a:endParaRPr lang="en-US" altLang="zh-CN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33C5A-6D29-B436-1F06-C8D290B5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EA63E2C-3F19-1035-ACC3-E94EC794E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Be careful not to </a:t>
            </a:r>
            <a:r>
              <a:rPr lang="en-US" altLang="zh-CN" b="1" dirty="0" err="1">
                <a:solidFill>
                  <a:srgbClr val="0070C0"/>
                </a:solidFill>
              </a:rPr>
              <a:t>plagiarise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8B2D2239-C599-18FE-06C9-938DB04809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7279" y="1845734"/>
            <a:ext cx="9922174" cy="4825654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Using ‘ChatGPT,’ or similar programs to get ideas for an essay is still technically a form of plagiarism: </a:t>
            </a:r>
          </a:p>
          <a:p>
            <a:pPr marL="201168" lvl="1" indent="0">
              <a:buNone/>
            </a:pPr>
            <a:endParaRPr lang="en-US" altLang="zh-CN" sz="2400" dirty="0"/>
          </a:p>
          <a:p>
            <a:pPr marL="201168" lvl="1" indent="0">
              <a:buNone/>
            </a:pPr>
            <a:r>
              <a:rPr lang="en-US" altLang="zh-CN" sz="2400" dirty="0"/>
              <a:t>	</a:t>
            </a:r>
            <a:r>
              <a:rPr lang="en-US" altLang="zh-CN" sz="2600" dirty="0"/>
              <a:t>- ChatGPT works by drawing its answers from many different 	  	  sources on the internet (other people’s words and ideas).</a:t>
            </a:r>
          </a:p>
          <a:p>
            <a:pPr marL="201168" lvl="1" indent="0">
              <a:buNone/>
            </a:pPr>
            <a:endParaRPr lang="en-US" altLang="zh-CN" sz="2400" dirty="0"/>
          </a:p>
          <a:p>
            <a:pPr marL="201168" lvl="1" indent="0">
              <a:buNone/>
            </a:pPr>
            <a:r>
              <a:rPr lang="en-US" altLang="zh-CN" sz="2800" dirty="0"/>
              <a:t>However, we need to be realistic, that this kind of technology, and internet searches, can be useful methods to gather information.</a:t>
            </a:r>
          </a:p>
          <a:p>
            <a:pPr marL="201168" lvl="1" indent="0"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96482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F5926-6C04-D7AF-C70A-7A889451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6A270778-03BA-EA49-5046-A78A8E149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Be careful not to </a:t>
            </a:r>
            <a:r>
              <a:rPr lang="en-US" altLang="zh-CN" b="1" dirty="0" err="1">
                <a:solidFill>
                  <a:srgbClr val="0070C0"/>
                </a:solidFill>
              </a:rPr>
              <a:t>plagiarise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E2A108AD-6E11-64CA-4256-608820FA93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7279" y="1845733"/>
            <a:ext cx="9922174" cy="4575849"/>
          </a:xfrm>
        </p:spPr>
        <p:txBody>
          <a:bodyPr>
            <a:normAutofit fontScale="85000" lnSpcReduction="20000"/>
          </a:bodyPr>
          <a:lstStyle/>
          <a:p>
            <a:pPr marL="201168" lvl="1" indent="0">
              <a:buNone/>
            </a:pPr>
            <a:r>
              <a:rPr lang="en-US" altLang="zh-CN" sz="2800" dirty="0"/>
              <a:t>So, you can use this technology to a limited amount. </a:t>
            </a:r>
            <a:r>
              <a:rPr lang="en-US" altLang="zh-CN" sz="2800"/>
              <a:t>Perhaps, if you get stuck, then find some ideas from the internet, but then build on them, be creative and original, consider your own arguments, and use your own words.</a:t>
            </a:r>
          </a:p>
          <a:p>
            <a:pPr marL="201168" lvl="1" indent="0">
              <a:buNone/>
            </a:pPr>
            <a:endParaRPr lang="en-US" altLang="zh-CN" sz="2800" dirty="0"/>
          </a:p>
          <a:p>
            <a:pPr marL="201168" lvl="1" indent="0">
              <a:buNone/>
            </a:pPr>
            <a:r>
              <a:rPr lang="en-US" altLang="zh-CN" sz="2800" dirty="0"/>
              <a:t>Your essay and your creative portfolio </a:t>
            </a:r>
            <a:r>
              <a:rPr lang="en-US" altLang="zh-CN" sz="2800" b="1" dirty="0"/>
              <a:t>must be self-written. </a:t>
            </a:r>
            <a:r>
              <a:rPr lang="en-US" altLang="zh-CN" sz="2800" dirty="0"/>
              <a:t>Also, limit your use of Chinese-English translation programs. You should write your own English as much as possible.</a:t>
            </a:r>
          </a:p>
          <a:p>
            <a:pPr marL="201168" lvl="1" indent="0">
              <a:buNone/>
            </a:pPr>
            <a:endParaRPr lang="en-US" altLang="zh-CN" sz="2800" dirty="0"/>
          </a:p>
          <a:p>
            <a:pPr marL="201168" lvl="1" indent="0">
              <a:buNone/>
            </a:pPr>
            <a:r>
              <a:rPr lang="en-US" altLang="zh-CN" sz="2800" dirty="0"/>
              <a:t>ChatGPT gives derivative, typical answers, and internet translations do not read as well-expressed English. They fail to be original (because AI has no creativity – it’s not human) and will not get you a good score. </a:t>
            </a:r>
          </a:p>
          <a:p>
            <a:pPr marL="201168" lvl="1" indent="0"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75911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70C0"/>
                </a:solidFill>
              </a:rPr>
              <a:t>Contacting Me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77863" y="1930400"/>
            <a:ext cx="8596312" cy="3881437"/>
          </a:xfrm>
        </p:spPr>
        <p:txBody>
          <a:bodyPr rtlCol="0">
            <a:normAutofit fontScale="92500" lnSpcReduction="1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send me a message on </a:t>
            </a:r>
            <a:r>
              <a:rPr lang="en-US" altLang="zh-CN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DingTalk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or email me at: </a:t>
            </a:r>
            <a:r>
              <a:rPr lang="en-US" altLang="zh-CN" sz="28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dommgraham@outlook.com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800" dirty="0">
              <a:solidFill>
                <a:srgbClr val="0070C0"/>
              </a:solidFill>
            </a:endParaRPr>
          </a:p>
          <a:p>
            <a:pPr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My WeChat ID is </a:t>
            </a:r>
            <a:r>
              <a:rPr lang="en-US" altLang="zh-CN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DominicGraham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endParaRPr lang="en-US" altLang="zh-CN" sz="2800" dirty="0">
              <a:solidFill>
                <a:srgbClr val="0070C0"/>
              </a:solidFill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dirty="0"/>
              <a:t>My office is in East 6 building – 203B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you’d like to talk in person, then please get in touch and we can arrange a meeting time.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3"/>
          <p:cNvSpPr>
            <a:spLocks noGrp="1"/>
          </p:cNvSpPr>
          <p:nvPr>
            <p:ph type="title"/>
          </p:nvPr>
        </p:nvSpPr>
        <p:spPr>
          <a:xfrm>
            <a:off x="677863" y="2625693"/>
            <a:ext cx="8596312" cy="1827212"/>
          </a:xfrm>
        </p:spPr>
        <p:txBody>
          <a:bodyPr/>
          <a:lstStyle/>
          <a:p>
            <a:pPr algn="ctr" eaLnBrk="1" hangingPunct="1"/>
            <a:r>
              <a:rPr lang="en-GB" sz="4400" dirty="0">
                <a:solidFill>
                  <a:srgbClr val="0070C0"/>
                </a:solidFill>
              </a:rPr>
              <a:t>The Meaning and Interpretation of Literature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77863" y="4527550"/>
            <a:ext cx="8596312" cy="860425"/>
          </a:xfrm>
        </p:spPr>
        <p:txBody>
          <a:bodyPr/>
          <a:lstStyle/>
          <a:p>
            <a:pPr eaLnBrk="1" hangingPunct="1">
              <a:defRPr/>
            </a:pPr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9645CF-ADEF-C636-268A-78C79E73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>
                <a:solidFill>
                  <a:srgbClr val="0070C0"/>
                </a:solidFill>
              </a:rPr>
              <a:t>The Appreciation of Literature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69A3A2-EE23-1316-19F7-91B451DDD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2160588"/>
            <a:ext cx="10024349" cy="3881437"/>
          </a:xfrm>
        </p:spPr>
        <p:txBody>
          <a:bodyPr/>
          <a:lstStyle/>
          <a:p>
            <a:pPr marL="571500" lvl="2" indent="-571500" eaLnBrk="1" hangingPunct="1">
              <a:spcAft>
                <a:spcPts val="1200"/>
              </a:spcAft>
              <a:defRPr/>
            </a:pPr>
            <a:r>
              <a:rPr lang="en-GB" sz="3000" dirty="0"/>
              <a:t>Why should we appreciate literature?</a:t>
            </a:r>
          </a:p>
          <a:p>
            <a:pPr marL="571500" lvl="2" indent="-571500" eaLnBrk="1" hangingPunct="1">
              <a:spcAft>
                <a:spcPts val="1200"/>
              </a:spcAft>
              <a:defRPr/>
            </a:pPr>
            <a:r>
              <a:rPr lang="en-GB" sz="3000" dirty="0"/>
              <a:t>Is there something that makes literature, </a:t>
            </a:r>
            <a:r>
              <a:rPr lang="en-GB" sz="3000" i="1" dirty="0"/>
              <a:t>literature?</a:t>
            </a:r>
          </a:p>
          <a:p>
            <a:pPr marL="571500" lvl="2" indent="-571500" eaLnBrk="1" hangingPunct="1">
              <a:spcAft>
                <a:spcPts val="1200"/>
              </a:spcAft>
              <a:defRPr/>
            </a:pPr>
            <a:r>
              <a:rPr lang="en-GB" sz="3000" dirty="0"/>
              <a:t>Why does a book/poem/writer get a place in the ‘canon’ of English/American literature?</a:t>
            </a:r>
          </a:p>
          <a:p>
            <a:pPr marL="571500" lvl="2" indent="-571500" eaLnBrk="1" hangingPunct="1">
              <a:spcAft>
                <a:spcPts val="1200"/>
              </a:spcAft>
              <a:defRPr/>
            </a:pPr>
            <a:r>
              <a:rPr lang="en-GB" sz="3000" dirty="0"/>
              <a:t>What makes something ‘good’ literature?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326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clasps the crag with crooked hands;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Close to the sun in lonely lands,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Ringed with the azure world, he stands.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walls,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falls.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8CDA2-E650-6283-A31C-BE40B693F9B1}"/>
              </a:ext>
            </a:extLst>
          </p:cNvPr>
          <p:cNvSpPr txBox="1"/>
          <p:nvPr/>
        </p:nvSpPr>
        <p:spPr>
          <a:xfrm>
            <a:off x="8565208" y="830425"/>
            <a:ext cx="2995421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2060"/>
                </a:solidFill>
              </a:rPr>
              <a:t>Is this ‘good’ literature that we should study?</a:t>
            </a:r>
          </a:p>
          <a:p>
            <a:endParaRPr lang="en-GB" sz="2400" b="1" dirty="0">
              <a:solidFill>
                <a:srgbClr val="002060"/>
              </a:solidFill>
            </a:endParaRPr>
          </a:p>
          <a:p>
            <a:r>
              <a:rPr lang="en-GB" sz="2400" b="1" dirty="0">
                <a:solidFill>
                  <a:srgbClr val="002060"/>
                </a:solidFill>
              </a:rPr>
              <a:t>How can you tell?</a:t>
            </a:r>
          </a:p>
          <a:p>
            <a:endParaRPr lang="en-GB" sz="2400" b="1" dirty="0">
              <a:solidFill>
                <a:srgbClr val="002060"/>
              </a:solidFill>
            </a:endParaRPr>
          </a:p>
          <a:p>
            <a:r>
              <a:rPr lang="en-GB" sz="2400" b="1" dirty="0">
                <a:solidFill>
                  <a:srgbClr val="002060"/>
                </a:solidFill>
              </a:rPr>
              <a:t>Discuss together about the poem:</a:t>
            </a:r>
          </a:p>
          <a:p>
            <a:endParaRPr lang="en-GB" sz="900" b="1" dirty="0">
              <a:solidFill>
                <a:srgbClr val="002060"/>
              </a:solidFill>
            </a:endParaRPr>
          </a:p>
          <a:p>
            <a:r>
              <a:rPr lang="en-GB" sz="2400" b="1" i="1" dirty="0">
                <a:solidFill>
                  <a:srgbClr val="002060"/>
                </a:solidFill>
              </a:rPr>
              <a:t>What is it about?</a:t>
            </a:r>
          </a:p>
          <a:p>
            <a:endParaRPr lang="en-GB" sz="900" b="1" i="1" dirty="0">
              <a:solidFill>
                <a:srgbClr val="002060"/>
              </a:solidFill>
            </a:endParaRPr>
          </a:p>
          <a:p>
            <a:r>
              <a:rPr lang="en-GB" sz="2400" b="1" i="1" dirty="0">
                <a:solidFill>
                  <a:srgbClr val="002060"/>
                </a:solidFill>
              </a:rPr>
              <a:t>How does the writer use English?</a:t>
            </a:r>
          </a:p>
          <a:p>
            <a:endParaRPr lang="en-GB" sz="900" b="1" i="1" dirty="0">
              <a:solidFill>
                <a:srgbClr val="002060"/>
              </a:solidFill>
            </a:endParaRPr>
          </a:p>
          <a:p>
            <a:r>
              <a:rPr lang="en-GB" sz="2400" b="1" i="1" dirty="0">
                <a:solidFill>
                  <a:srgbClr val="002060"/>
                </a:solidFill>
              </a:rPr>
              <a:t>How should we value it?</a:t>
            </a:r>
          </a:p>
        </p:txBody>
      </p:sp>
    </p:spTree>
    <p:extLst>
      <p:ext uri="{BB962C8B-B14F-4D97-AF65-F5344CB8AC3E}">
        <p14:creationId xmlns:p14="http://schemas.microsoft.com/office/powerpoint/2010/main" val="64369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clasps the crag with crooked </a:t>
            </a:r>
            <a:r>
              <a:rPr lang="en-GB" sz="3000" dirty="0">
                <a:solidFill>
                  <a:srgbClr val="00B0F0"/>
                </a:solidFill>
              </a:rPr>
              <a:t>hands</a:t>
            </a:r>
            <a:r>
              <a:rPr lang="en-GB" sz="3000" dirty="0">
                <a:solidFill>
                  <a:schemeClr val="tx1"/>
                </a:solidFill>
              </a:rPr>
              <a:t>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Close to the sun in lonely </a:t>
            </a:r>
            <a:r>
              <a:rPr lang="en-GB" sz="3000" dirty="0">
                <a:solidFill>
                  <a:srgbClr val="00B0F0"/>
                </a:solidFill>
              </a:rPr>
              <a:t>lands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Ringed with the azure world, he </a:t>
            </a:r>
            <a:r>
              <a:rPr lang="en-GB" sz="3000" dirty="0">
                <a:solidFill>
                  <a:srgbClr val="00B0F0"/>
                </a:solidFill>
              </a:rPr>
              <a:t>stands</a:t>
            </a:r>
            <a:r>
              <a:rPr lang="en-GB" sz="3000" dirty="0">
                <a:solidFill>
                  <a:schemeClr val="tx1"/>
                </a:solidFill>
              </a:rPr>
              <a:t>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</a:t>
            </a:r>
            <a:r>
              <a:rPr lang="en-GB" sz="3000" dirty="0">
                <a:solidFill>
                  <a:srgbClr val="00B050"/>
                </a:solidFill>
              </a:rPr>
              <a:t>crawls</a:t>
            </a:r>
            <a:r>
              <a:rPr lang="en-GB" sz="3000" dirty="0">
                <a:solidFill>
                  <a:schemeClr val="tx1"/>
                </a:solidFill>
              </a:rPr>
              <a:t>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</a:t>
            </a:r>
            <a:r>
              <a:rPr lang="en-GB" sz="3000" dirty="0">
                <a:solidFill>
                  <a:srgbClr val="00B050"/>
                </a:solidFill>
              </a:rPr>
              <a:t>walls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</a:t>
            </a:r>
            <a:r>
              <a:rPr lang="en-GB" sz="3000" dirty="0">
                <a:solidFill>
                  <a:srgbClr val="00B050"/>
                </a:solidFill>
              </a:rPr>
              <a:t>falls</a:t>
            </a:r>
            <a:r>
              <a:rPr lang="en-GB" sz="3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50EBD-03A9-E5BB-A3FD-74B6DD7208B9}"/>
              </a:ext>
            </a:extLst>
          </p:cNvPr>
          <p:cNvSpPr txBox="1"/>
          <p:nvPr/>
        </p:nvSpPr>
        <p:spPr>
          <a:xfrm>
            <a:off x="8369559" y="1763485"/>
            <a:ext cx="28271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</a:rPr>
              <a:t>Two stanzas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Each stanza has three lines – called a ‘tercet’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They rhyme in a pattern of AAA BBB</a:t>
            </a:r>
          </a:p>
        </p:txBody>
      </p:sp>
    </p:spTree>
    <p:extLst>
      <p:ext uri="{BB962C8B-B14F-4D97-AF65-F5344CB8AC3E}">
        <p14:creationId xmlns:p14="http://schemas.microsoft.com/office/powerpoint/2010/main" val="259542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clasps the crag with crooked hands;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Close to the sun in lonely lands,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Ringed with the azure world, he stands.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walls,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falls.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3E4866-4DF0-D38D-93FA-1EBABC707271}"/>
              </a:ext>
            </a:extLst>
          </p:cNvPr>
          <p:cNvSpPr txBox="1"/>
          <p:nvPr/>
        </p:nvSpPr>
        <p:spPr>
          <a:xfrm>
            <a:off x="8537218" y="1502229"/>
            <a:ext cx="27618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</a:rPr>
              <a:t>What is the ‘metre’?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How many syllables are there per line?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What is the syllable pattern of </a:t>
            </a:r>
            <a:r>
              <a:rPr lang="en-GB" sz="2800" dirty="0">
                <a:solidFill>
                  <a:srgbClr val="00B050"/>
                </a:solidFill>
              </a:rPr>
              <a:t>unstressed</a:t>
            </a:r>
            <a:r>
              <a:rPr lang="en-GB" sz="2800" dirty="0">
                <a:solidFill>
                  <a:srgbClr val="0070C0"/>
                </a:solidFill>
              </a:rPr>
              <a:t> </a:t>
            </a:r>
            <a:r>
              <a:rPr lang="en-GB" sz="2800" dirty="0"/>
              <a:t>–</a:t>
            </a:r>
            <a:r>
              <a:rPr lang="en-GB" sz="2800" dirty="0">
                <a:solidFill>
                  <a:srgbClr val="0070C0"/>
                </a:solidFill>
              </a:rPr>
              <a:t> stressed</a:t>
            </a:r>
            <a:r>
              <a:rPr lang="en-GB" sz="2800" dirty="0">
                <a:solidFill>
                  <a:srgbClr val="002060"/>
                </a:solidFill>
              </a:rPr>
              <a:t> </a:t>
            </a:r>
            <a:r>
              <a:rPr lang="en-GB" sz="2800" dirty="0"/>
              <a:t>?</a:t>
            </a:r>
            <a:endParaRPr lang="en-GB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90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00B050"/>
                </a:solidFill>
              </a:rPr>
              <a:t>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clasps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the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crag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with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crook</a:t>
            </a:r>
            <a:r>
              <a:rPr lang="en-GB" sz="3000" dirty="0">
                <a:solidFill>
                  <a:srgbClr val="00B050"/>
                </a:solidFill>
              </a:rPr>
              <a:t>ed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hands</a:t>
            </a:r>
            <a:r>
              <a:rPr lang="en-GB" sz="3000" dirty="0">
                <a:solidFill>
                  <a:schemeClr val="tx1"/>
                </a:solidFill>
              </a:rPr>
              <a:t>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0070C0"/>
                </a:solidFill>
              </a:rPr>
              <a:t>Close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to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the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sun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in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lone</a:t>
            </a:r>
            <a:r>
              <a:rPr lang="en-GB" sz="3000" dirty="0">
                <a:solidFill>
                  <a:srgbClr val="00B050"/>
                </a:solidFill>
              </a:rPr>
              <a:t>ly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lands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200" dirty="0">
                <a:solidFill>
                  <a:srgbClr val="0070C0"/>
                </a:solidFill>
              </a:rPr>
              <a:t>Ringed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with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the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az</a:t>
            </a:r>
            <a:r>
              <a:rPr lang="en-GB" sz="3000" dirty="0">
                <a:solidFill>
                  <a:srgbClr val="00B050"/>
                </a:solidFill>
              </a:rPr>
              <a:t>ure</a:t>
            </a:r>
            <a:r>
              <a:rPr lang="en-GB" sz="3000" dirty="0">
                <a:solidFill>
                  <a:srgbClr val="0070C0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world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  <a:r>
              <a:rPr lang="en-GB" sz="3000" dirty="0">
                <a:solidFill>
                  <a:srgbClr val="00B050"/>
                </a:solidFill>
              </a:rPr>
              <a:t>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stands</a:t>
            </a:r>
            <a:r>
              <a:rPr lang="en-GB" sz="3000" dirty="0">
                <a:solidFill>
                  <a:schemeClr val="tx1"/>
                </a:solidFill>
              </a:rPr>
              <a:t>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walls,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falls.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5144B-A0A5-953A-B09A-E0F0B958D554}"/>
              </a:ext>
            </a:extLst>
          </p:cNvPr>
          <p:cNvSpPr txBox="1"/>
          <p:nvPr/>
        </p:nvSpPr>
        <p:spPr>
          <a:xfrm>
            <a:off x="3797559" y="424258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This metre is called ‘Iambic tetrameter.’ </a:t>
            </a:r>
          </a:p>
          <a:p>
            <a:r>
              <a:rPr lang="en-GB" sz="2400" b="1" i="1" dirty="0"/>
              <a:t>However, lines 2 and 3 begin with a ‘trochee.’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CA3B5-8A51-FFA7-324F-70ADCEC6F648}"/>
              </a:ext>
            </a:extLst>
          </p:cNvPr>
          <p:cNvSpPr txBox="1"/>
          <p:nvPr/>
        </p:nvSpPr>
        <p:spPr>
          <a:xfrm>
            <a:off x="8537218" y="1502229"/>
            <a:ext cx="27618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</a:rPr>
              <a:t>What is the ‘metre’?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How many syllables are there per line?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What is the syllable pattern of </a:t>
            </a:r>
            <a:r>
              <a:rPr lang="en-GB" sz="2800" dirty="0">
                <a:solidFill>
                  <a:srgbClr val="00B050"/>
                </a:solidFill>
              </a:rPr>
              <a:t>unstressed</a:t>
            </a:r>
            <a:r>
              <a:rPr lang="en-GB" sz="2800" dirty="0">
                <a:solidFill>
                  <a:srgbClr val="0070C0"/>
                </a:solidFill>
              </a:rPr>
              <a:t> </a:t>
            </a:r>
            <a:r>
              <a:rPr lang="en-GB" sz="2800" dirty="0"/>
              <a:t>–</a:t>
            </a:r>
            <a:r>
              <a:rPr lang="en-GB" sz="2800" dirty="0">
                <a:solidFill>
                  <a:srgbClr val="0070C0"/>
                </a:solidFill>
              </a:rPr>
              <a:t> stressed</a:t>
            </a:r>
            <a:r>
              <a:rPr lang="en-GB" sz="2800" dirty="0">
                <a:solidFill>
                  <a:srgbClr val="002060"/>
                </a:solidFill>
              </a:rPr>
              <a:t> </a:t>
            </a:r>
            <a:r>
              <a:rPr lang="en-GB" sz="2800" dirty="0"/>
              <a:t>?</a:t>
            </a:r>
            <a:endParaRPr lang="en-GB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173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00B050"/>
                </a:solidFill>
              </a:rPr>
              <a:t>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clasps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the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crag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with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crook</a:t>
            </a:r>
            <a:r>
              <a:rPr lang="en-GB" sz="3000" dirty="0">
                <a:solidFill>
                  <a:srgbClr val="00B050"/>
                </a:solidFill>
              </a:rPr>
              <a:t>ed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hands</a:t>
            </a:r>
            <a:r>
              <a:rPr lang="en-GB" sz="3000" dirty="0">
                <a:solidFill>
                  <a:schemeClr val="tx1"/>
                </a:solidFill>
              </a:rPr>
              <a:t>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0070C0"/>
                </a:solidFill>
              </a:rPr>
              <a:t>Close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to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the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sun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in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lone</a:t>
            </a:r>
            <a:r>
              <a:rPr lang="en-GB" sz="3000" dirty="0">
                <a:solidFill>
                  <a:srgbClr val="00B050"/>
                </a:solidFill>
              </a:rPr>
              <a:t>ly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lands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200" dirty="0">
                <a:solidFill>
                  <a:srgbClr val="0070C0"/>
                </a:solidFill>
              </a:rPr>
              <a:t>Ringed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with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the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az</a:t>
            </a:r>
            <a:r>
              <a:rPr lang="en-GB" sz="3000" dirty="0">
                <a:solidFill>
                  <a:srgbClr val="00B050"/>
                </a:solidFill>
              </a:rPr>
              <a:t>ure</a:t>
            </a:r>
            <a:r>
              <a:rPr lang="en-GB" sz="3000" dirty="0">
                <a:solidFill>
                  <a:srgbClr val="0070C0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world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  <a:r>
              <a:rPr lang="en-GB" sz="3000" dirty="0">
                <a:solidFill>
                  <a:srgbClr val="00B050"/>
                </a:solidFill>
              </a:rPr>
              <a:t>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stands</a:t>
            </a:r>
            <a:r>
              <a:rPr lang="en-GB" sz="3000" dirty="0">
                <a:solidFill>
                  <a:schemeClr val="tx1"/>
                </a:solidFill>
              </a:rPr>
              <a:t>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00B050"/>
                </a:solidFill>
              </a:rPr>
              <a:t>The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wrin</a:t>
            </a:r>
            <a:r>
              <a:rPr lang="en-GB" sz="3000" dirty="0">
                <a:solidFill>
                  <a:srgbClr val="00B050"/>
                </a:solidFill>
              </a:rPr>
              <a:t>kled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sea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be</a:t>
            </a:r>
            <a:r>
              <a:rPr lang="en-GB" sz="3200" dirty="0">
                <a:solidFill>
                  <a:srgbClr val="0070C0"/>
                </a:solidFill>
              </a:rPr>
              <a:t>neath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him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crawls</a:t>
            </a:r>
            <a:r>
              <a:rPr lang="en-GB" sz="3000" dirty="0">
                <a:solidFill>
                  <a:schemeClr val="tx1"/>
                </a:solidFill>
              </a:rPr>
              <a:t>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00B050"/>
                </a:solidFill>
              </a:rPr>
              <a:t>He </a:t>
            </a:r>
            <a:r>
              <a:rPr lang="en-GB" sz="3200" dirty="0">
                <a:solidFill>
                  <a:srgbClr val="0070C0"/>
                </a:solidFill>
              </a:rPr>
              <a:t>watch</a:t>
            </a:r>
            <a:r>
              <a:rPr lang="en-GB" sz="3000" dirty="0">
                <a:solidFill>
                  <a:srgbClr val="00B050"/>
                </a:solidFill>
              </a:rPr>
              <a:t>es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from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his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moun</a:t>
            </a:r>
            <a:r>
              <a:rPr lang="en-GB" sz="3000" dirty="0">
                <a:solidFill>
                  <a:srgbClr val="00B050"/>
                </a:solidFill>
              </a:rPr>
              <a:t>tain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walls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00B050"/>
                </a:solidFill>
              </a:rPr>
              <a:t>And</a:t>
            </a:r>
            <a:r>
              <a:rPr lang="en-GB" sz="3000" dirty="0">
                <a:solidFill>
                  <a:schemeClr val="tx1"/>
                </a:solidFill>
              </a:rPr>
              <a:t> </a:t>
            </a:r>
            <a:r>
              <a:rPr lang="en-GB" sz="3200" dirty="0">
                <a:solidFill>
                  <a:srgbClr val="0070C0"/>
                </a:solidFill>
              </a:rPr>
              <a:t>like</a:t>
            </a:r>
            <a:r>
              <a:rPr lang="en-GB" sz="3000" dirty="0">
                <a:solidFill>
                  <a:srgbClr val="00B050"/>
                </a:solidFill>
              </a:rPr>
              <a:t> a </a:t>
            </a:r>
            <a:r>
              <a:rPr lang="en-GB" sz="3200" dirty="0">
                <a:solidFill>
                  <a:srgbClr val="0070C0"/>
                </a:solidFill>
              </a:rPr>
              <a:t>thun</a:t>
            </a:r>
            <a:r>
              <a:rPr lang="en-GB" sz="3000" dirty="0">
                <a:solidFill>
                  <a:srgbClr val="00B050"/>
                </a:solidFill>
              </a:rPr>
              <a:t>der</a:t>
            </a:r>
            <a:r>
              <a:rPr lang="en-GB" sz="3200" dirty="0">
                <a:solidFill>
                  <a:srgbClr val="0070C0"/>
                </a:solidFill>
              </a:rPr>
              <a:t>bolt</a:t>
            </a:r>
            <a:r>
              <a:rPr lang="en-GB" sz="3000" dirty="0">
                <a:solidFill>
                  <a:srgbClr val="0070C0"/>
                </a:solidFill>
              </a:rPr>
              <a:t> </a:t>
            </a:r>
            <a:r>
              <a:rPr lang="en-GB" sz="3000" dirty="0">
                <a:solidFill>
                  <a:srgbClr val="00B050"/>
                </a:solidFill>
              </a:rPr>
              <a:t>he </a:t>
            </a:r>
            <a:r>
              <a:rPr lang="en-GB" sz="3200" dirty="0">
                <a:solidFill>
                  <a:srgbClr val="0070C0"/>
                </a:solidFill>
              </a:rPr>
              <a:t>falls</a:t>
            </a:r>
            <a:r>
              <a:rPr lang="en-GB" sz="3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5144B-A0A5-953A-B09A-E0F0B958D554}"/>
              </a:ext>
            </a:extLst>
          </p:cNvPr>
          <p:cNvSpPr txBox="1"/>
          <p:nvPr/>
        </p:nvSpPr>
        <p:spPr>
          <a:xfrm>
            <a:off x="3797559" y="424258"/>
            <a:ext cx="6904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This metre is called ‘Iambic tetrameter.’</a:t>
            </a:r>
          </a:p>
          <a:p>
            <a:r>
              <a:rPr lang="en-GB" sz="2400" b="1" i="1" dirty="0"/>
              <a:t>However, lines 2 and 3 begin with a ‘trochee.’</a:t>
            </a:r>
            <a:endParaRPr lang="en-GB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BDFD2-5C73-DDA1-0E91-DD29B05B3D95}"/>
              </a:ext>
            </a:extLst>
          </p:cNvPr>
          <p:cNvSpPr txBox="1"/>
          <p:nvPr/>
        </p:nvSpPr>
        <p:spPr>
          <a:xfrm>
            <a:off x="8537218" y="1502229"/>
            <a:ext cx="27618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</a:rPr>
              <a:t>What is the ‘metre’?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How many syllables are there per line?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What is the syllable pattern of </a:t>
            </a:r>
            <a:r>
              <a:rPr lang="en-GB" sz="2800" dirty="0">
                <a:solidFill>
                  <a:srgbClr val="00B050"/>
                </a:solidFill>
              </a:rPr>
              <a:t>unstressed</a:t>
            </a:r>
            <a:r>
              <a:rPr lang="en-GB" sz="2800" dirty="0">
                <a:solidFill>
                  <a:srgbClr val="0070C0"/>
                </a:solidFill>
              </a:rPr>
              <a:t> </a:t>
            </a:r>
            <a:r>
              <a:rPr lang="en-GB" sz="2800" dirty="0"/>
              <a:t>–</a:t>
            </a:r>
            <a:r>
              <a:rPr lang="en-GB" sz="2800" dirty="0">
                <a:solidFill>
                  <a:srgbClr val="0070C0"/>
                </a:solidFill>
              </a:rPr>
              <a:t> stressed</a:t>
            </a:r>
            <a:r>
              <a:rPr lang="en-GB" sz="2800" dirty="0">
                <a:solidFill>
                  <a:srgbClr val="002060"/>
                </a:solidFill>
              </a:rPr>
              <a:t> </a:t>
            </a: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8805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clasps the crag with crooked hands;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Close to the sun in lonely lands,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Ringed with the azure world, he stands.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walls,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falls.</a:t>
            </a:r>
          </a:p>
        </p:txBody>
      </p:sp>
    </p:spTree>
    <p:extLst>
      <p:ext uri="{BB962C8B-B14F-4D97-AF65-F5344CB8AC3E}">
        <p14:creationId xmlns:p14="http://schemas.microsoft.com/office/powerpoint/2010/main" val="3309526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</a:t>
            </a:r>
            <a:r>
              <a:rPr lang="en-GB" sz="3000" dirty="0">
                <a:solidFill>
                  <a:srgbClr val="FF0000"/>
                </a:solidFill>
              </a:rPr>
              <a:t>cl</a:t>
            </a:r>
            <a:r>
              <a:rPr lang="en-GB" sz="3000" dirty="0">
                <a:solidFill>
                  <a:srgbClr val="FFC000"/>
                </a:solidFill>
              </a:rPr>
              <a:t>a</a:t>
            </a:r>
            <a:r>
              <a:rPr lang="en-GB" sz="3000" dirty="0">
                <a:solidFill>
                  <a:schemeClr val="tx1"/>
                </a:solidFill>
              </a:rPr>
              <a:t>sps the </a:t>
            </a:r>
            <a:r>
              <a:rPr lang="en-GB" sz="3000" dirty="0">
                <a:solidFill>
                  <a:srgbClr val="FF0000"/>
                </a:solidFill>
              </a:rPr>
              <a:t>cr</a:t>
            </a:r>
            <a:r>
              <a:rPr lang="en-GB" sz="3000" dirty="0">
                <a:solidFill>
                  <a:srgbClr val="FFC000"/>
                </a:solidFill>
              </a:rPr>
              <a:t>a</a:t>
            </a:r>
            <a:r>
              <a:rPr lang="en-GB" sz="3000" dirty="0">
                <a:solidFill>
                  <a:schemeClr val="tx1"/>
                </a:solidFill>
              </a:rPr>
              <a:t>g with </a:t>
            </a:r>
            <a:r>
              <a:rPr lang="en-GB" sz="3000" dirty="0">
                <a:solidFill>
                  <a:srgbClr val="FF0000"/>
                </a:solidFill>
              </a:rPr>
              <a:t>cr</a:t>
            </a:r>
            <a:r>
              <a:rPr lang="en-GB" sz="3000" dirty="0">
                <a:solidFill>
                  <a:schemeClr val="tx1"/>
                </a:solidFill>
              </a:rPr>
              <a:t>ooked h</a:t>
            </a:r>
            <a:r>
              <a:rPr lang="en-GB" sz="3000" dirty="0">
                <a:solidFill>
                  <a:srgbClr val="FFC000"/>
                </a:solidFill>
              </a:rPr>
              <a:t>a</a:t>
            </a:r>
            <a:r>
              <a:rPr lang="en-GB" sz="3000" dirty="0">
                <a:solidFill>
                  <a:schemeClr val="tx1"/>
                </a:solidFill>
              </a:rPr>
              <a:t>nds;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FF0000"/>
                </a:solidFill>
              </a:rPr>
              <a:t>Cl</a:t>
            </a:r>
            <a:r>
              <a:rPr lang="en-GB" sz="3000" dirty="0">
                <a:solidFill>
                  <a:srgbClr val="FFC000"/>
                </a:solidFill>
              </a:rPr>
              <a:t>o</a:t>
            </a:r>
            <a:r>
              <a:rPr lang="en-GB" sz="3000" dirty="0">
                <a:solidFill>
                  <a:schemeClr val="tx1"/>
                </a:solidFill>
              </a:rPr>
              <a:t>se to the sun in </a:t>
            </a:r>
            <a:r>
              <a:rPr lang="en-GB" sz="3000" dirty="0">
                <a:solidFill>
                  <a:srgbClr val="FF0000"/>
                </a:solidFill>
              </a:rPr>
              <a:t>l</a:t>
            </a:r>
            <a:r>
              <a:rPr lang="en-GB" sz="3000" dirty="0">
                <a:solidFill>
                  <a:srgbClr val="FFC000"/>
                </a:solidFill>
              </a:rPr>
              <a:t>o</a:t>
            </a:r>
            <a:r>
              <a:rPr lang="en-GB" sz="3000" dirty="0">
                <a:solidFill>
                  <a:schemeClr val="tx1"/>
                </a:solidFill>
              </a:rPr>
              <a:t>nely </a:t>
            </a:r>
            <a:r>
              <a:rPr lang="en-GB" sz="3000" dirty="0">
                <a:solidFill>
                  <a:srgbClr val="FF0000"/>
                </a:solidFill>
              </a:rPr>
              <a:t>l</a:t>
            </a:r>
            <a:r>
              <a:rPr lang="en-GB" sz="3000" dirty="0">
                <a:solidFill>
                  <a:srgbClr val="FFC000"/>
                </a:solidFill>
              </a:rPr>
              <a:t>a</a:t>
            </a:r>
            <a:r>
              <a:rPr lang="en-GB" sz="3000" dirty="0">
                <a:solidFill>
                  <a:schemeClr val="tx1"/>
                </a:solidFill>
              </a:rPr>
              <a:t>nds,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92D050"/>
                </a:solidFill>
              </a:rPr>
              <a:t>Ringed</a:t>
            </a:r>
            <a:r>
              <a:rPr lang="en-GB" sz="3000" dirty="0">
                <a:solidFill>
                  <a:schemeClr val="tx1"/>
                </a:solidFill>
              </a:rPr>
              <a:t> with the azure world, he st</a:t>
            </a:r>
            <a:r>
              <a:rPr lang="en-GB" sz="3000" dirty="0">
                <a:solidFill>
                  <a:srgbClr val="FFC000"/>
                </a:solidFill>
              </a:rPr>
              <a:t>a</a:t>
            </a:r>
            <a:r>
              <a:rPr lang="en-GB" sz="3000" dirty="0">
                <a:solidFill>
                  <a:schemeClr val="tx1"/>
                </a:solidFill>
              </a:rPr>
              <a:t>nds.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</a:t>
            </a:r>
            <a:r>
              <a:rPr lang="en-GB" sz="3000" dirty="0">
                <a:solidFill>
                  <a:srgbClr val="92D050"/>
                </a:solidFill>
              </a:rPr>
              <a:t>wrinkled</a:t>
            </a:r>
            <a:r>
              <a:rPr lang="en-GB" sz="3000" dirty="0">
                <a:solidFill>
                  <a:schemeClr val="tx1"/>
                </a:solidFill>
              </a:rPr>
              <a:t> s</a:t>
            </a:r>
            <a:r>
              <a:rPr lang="en-GB" sz="3000" dirty="0">
                <a:solidFill>
                  <a:srgbClr val="FFC000"/>
                </a:solidFill>
              </a:rPr>
              <a:t>ea</a:t>
            </a:r>
            <a:r>
              <a:rPr lang="en-GB" sz="3000" dirty="0">
                <a:solidFill>
                  <a:schemeClr val="tx1"/>
                </a:solidFill>
              </a:rPr>
              <a:t> ben</a:t>
            </a:r>
            <a:r>
              <a:rPr lang="en-GB" sz="3000" dirty="0">
                <a:solidFill>
                  <a:srgbClr val="FFC000"/>
                </a:solidFill>
              </a:rPr>
              <a:t>ea</a:t>
            </a:r>
            <a:r>
              <a:rPr lang="en-GB" sz="3000" dirty="0">
                <a:solidFill>
                  <a:schemeClr val="tx1"/>
                </a:solidFill>
              </a:rPr>
              <a:t>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</a:t>
            </a:r>
            <a:r>
              <a:rPr lang="en-GB" sz="3000" dirty="0">
                <a:solidFill>
                  <a:srgbClr val="FF0000"/>
                </a:solidFill>
              </a:rPr>
              <a:t>w</a:t>
            </a:r>
            <a:r>
              <a:rPr lang="en-GB" sz="3000" dirty="0">
                <a:solidFill>
                  <a:schemeClr val="tx1"/>
                </a:solidFill>
              </a:rPr>
              <a:t>atches from his mountain </a:t>
            </a:r>
            <a:r>
              <a:rPr lang="en-GB" sz="3000" dirty="0">
                <a:solidFill>
                  <a:srgbClr val="FF0000"/>
                </a:solidFill>
              </a:rPr>
              <a:t>w</a:t>
            </a:r>
            <a:r>
              <a:rPr lang="en-GB" sz="3000" dirty="0">
                <a:solidFill>
                  <a:schemeClr val="tx1"/>
                </a:solidFill>
              </a:rPr>
              <a:t>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</a:t>
            </a:r>
            <a:r>
              <a:rPr lang="en-GB" sz="3000" dirty="0">
                <a:solidFill>
                  <a:srgbClr val="00B0F0"/>
                </a:solidFill>
              </a:rPr>
              <a:t>like a thunderbolt </a:t>
            </a:r>
            <a:r>
              <a:rPr lang="en-GB" sz="3000" dirty="0">
                <a:solidFill>
                  <a:schemeClr val="tx1"/>
                </a:solidFill>
              </a:rPr>
              <a:t>he falls.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642A6-F60C-8E28-455E-92CA89D79414}"/>
              </a:ext>
            </a:extLst>
          </p:cNvPr>
          <p:cNvSpPr txBox="1"/>
          <p:nvPr/>
        </p:nvSpPr>
        <p:spPr>
          <a:xfrm>
            <a:off x="8471903" y="1576874"/>
            <a:ext cx="25659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Alliteration</a:t>
            </a:r>
          </a:p>
          <a:p>
            <a:endParaRPr lang="en-GB" b="1" dirty="0"/>
          </a:p>
          <a:p>
            <a:r>
              <a:rPr lang="en-GB" sz="2800" b="1" dirty="0">
                <a:solidFill>
                  <a:srgbClr val="FFC000"/>
                </a:solidFill>
              </a:rPr>
              <a:t>Assonance</a:t>
            </a:r>
          </a:p>
          <a:p>
            <a:r>
              <a:rPr lang="en-GB" sz="2800" b="1" dirty="0">
                <a:solidFill>
                  <a:srgbClr val="FFC000"/>
                </a:solidFill>
              </a:rPr>
              <a:t>(vowels)</a:t>
            </a:r>
          </a:p>
          <a:p>
            <a:endParaRPr lang="en-GB" sz="2800" b="1" dirty="0"/>
          </a:p>
          <a:p>
            <a:r>
              <a:rPr lang="en-GB" sz="2800" b="1" dirty="0">
                <a:solidFill>
                  <a:srgbClr val="92D050"/>
                </a:solidFill>
              </a:rPr>
              <a:t>Both of the above, plus Consonance</a:t>
            </a:r>
          </a:p>
          <a:p>
            <a:endParaRPr lang="en-GB" sz="2800" b="1" dirty="0">
              <a:solidFill>
                <a:srgbClr val="92D050"/>
              </a:solidFill>
            </a:endParaRPr>
          </a:p>
          <a:p>
            <a:r>
              <a:rPr lang="en-GB" sz="2800" b="1" dirty="0">
                <a:solidFill>
                  <a:srgbClr val="00B0F0"/>
                </a:solidFill>
              </a:rPr>
              <a:t>Simile</a:t>
            </a:r>
          </a:p>
        </p:txBody>
      </p:sp>
    </p:spTree>
    <p:extLst>
      <p:ext uri="{BB962C8B-B14F-4D97-AF65-F5344CB8AC3E}">
        <p14:creationId xmlns:p14="http://schemas.microsoft.com/office/powerpoint/2010/main" val="327215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i="1" dirty="0">
                <a:solidFill>
                  <a:schemeClr val="tx1"/>
                </a:solidFill>
              </a:rPr>
              <a:t>He </a:t>
            </a:r>
            <a:r>
              <a:rPr lang="en-GB" sz="3000" i="1" dirty="0">
                <a:solidFill>
                  <a:srgbClr val="FF0000"/>
                </a:solidFill>
              </a:rPr>
              <a:t>cl</a:t>
            </a:r>
            <a:r>
              <a:rPr lang="en-GB" sz="3000" i="1" dirty="0">
                <a:solidFill>
                  <a:srgbClr val="FFC000"/>
                </a:solidFill>
              </a:rPr>
              <a:t>a</a:t>
            </a:r>
            <a:r>
              <a:rPr lang="en-GB" sz="3000" i="1" dirty="0">
                <a:solidFill>
                  <a:schemeClr val="tx1"/>
                </a:solidFill>
              </a:rPr>
              <a:t>sps the </a:t>
            </a:r>
            <a:r>
              <a:rPr lang="en-GB" sz="3000" i="1" dirty="0">
                <a:solidFill>
                  <a:srgbClr val="FF0000"/>
                </a:solidFill>
              </a:rPr>
              <a:t>cr</a:t>
            </a:r>
            <a:r>
              <a:rPr lang="en-GB" sz="3000" i="1" dirty="0">
                <a:solidFill>
                  <a:srgbClr val="FFC000"/>
                </a:solidFill>
              </a:rPr>
              <a:t>a</a:t>
            </a:r>
            <a:r>
              <a:rPr lang="en-GB" sz="3000" i="1" dirty="0">
                <a:solidFill>
                  <a:schemeClr val="tx1"/>
                </a:solidFill>
              </a:rPr>
              <a:t>g with </a:t>
            </a:r>
            <a:r>
              <a:rPr lang="en-GB" sz="3000" i="1" dirty="0">
                <a:solidFill>
                  <a:srgbClr val="FF0000"/>
                </a:solidFill>
              </a:rPr>
              <a:t>cr</a:t>
            </a:r>
            <a:r>
              <a:rPr lang="en-GB" sz="3000" i="1" dirty="0">
                <a:solidFill>
                  <a:schemeClr val="tx1"/>
                </a:solidFill>
              </a:rPr>
              <a:t>ooked h</a:t>
            </a:r>
            <a:r>
              <a:rPr lang="en-GB" sz="3000" i="1" dirty="0">
                <a:solidFill>
                  <a:srgbClr val="FFC000"/>
                </a:solidFill>
              </a:rPr>
              <a:t>a</a:t>
            </a:r>
            <a:r>
              <a:rPr lang="en-GB" sz="3000" i="1" dirty="0">
                <a:solidFill>
                  <a:schemeClr val="tx1"/>
                </a:solidFill>
              </a:rPr>
              <a:t>nds</a:t>
            </a:r>
            <a:r>
              <a:rPr lang="en-GB" sz="3000" dirty="0">
                <a:solidFill>
                  <a:schemeClr val="tx1"/>
                </a:solidFill>
              </a:rPr>
              <a:t>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FF0000"/>
                </a:solidFill>
              </a:rPr>
              <a:t>Cl</a:t>
            </a:r>
            <a:r>
              <a:rPr lang="en-GB" sz="3000" dirty="0">
                <a:solidFill>
                  <a:srgbClr val="FFC000"/>
                </a:solidFill>
              </a:rPr>
              <a:t>o</a:t>
            </a:r>
            <a:r>
              <a:rPr lang="en-GB" sz="3000" dirty="0">
                <a:solidFill>
                  <a:schemeClr val="tx1"/>
                </a:solidFill>
              </a:rPr>
              <a:t>se to the sun in </a:t>
            </a:r>
            <a:r>
              <a:rPr lang="en-GB" sz="3000" dirty="0">
                <a:solidFill>
                  <a:srgbClr val="FF0000"/>
                </a:solidFill>
              </a:rPr>
              <a:t>l</a:t>
            </a:r>
            <a:r>
              <a:rPr lang="en-GB" sz="3000" dirty="0">
                <a:solidFill>
                  <a:srgbClr val="FFC000"/>
                </a:solidFill>
              </a:rPr>
              <a:t>o</a:t>
            </a:r>
            <a:r>
              <a:rPr lang="en-GB" sz="3000" dirty="0">
                <a:solidFill>
                  <a:schemeClr val="tx1"/>
                </a:solidFill>
              </a:rPr>
              <a:t>nely </a:t>
            </a:r>
            <a:r>
              <a:rPr lang="en-GB" sz="3000" dirty="0">
                <a:solidFill>
                  <a:srgbClr val="FF0000"/>
                </a:solidFill>
              </a:rPr>
              <a:t>l</a:t>
            </a:r>
            <a:r>
              <a:rPr lang="en-GB" sz="3000" dirty="0">
                <a:solidFill>
                  <a:srgbClr val="FFC000"/>
                </a:solidFill>
              </a:rPr>
              <a:t>a</a:t>
            </a:r>
            <a:r>
              <a:rPr lang="en-GB" sz="3000" dirty="0">
                <a:solidFill>
                  <a:schemeClr val="tx1"/>
                </a:solidFill>
              </a:rPr>
              <a:t>nds,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</a:t>
            </a:r>
            <a:r>
              <a:rPr lang="en-GB" sz="3000" dirty="0">
                <a:solidFill>
                  <a:srgbClr val="92D050"/>
                </a:solidFill>
              </a:rPr>
              <a:t>Ringed</a:t>
            </a:r>
            <a:r>
              <a:rPr lang="en-GB" sz="3000" dirty="0">
                <a:solidFill>
                  <a:schemeClr val="tx1"/>
                </a:solidFill>
              </a:rPr>
              <a:t> with the azure world, he st</a:t>
            </a:r>
            <a:r>
              <a:rPr lang="en-GB" sz="3000" dirty="0">
                <a:solidFill>
                  <a:srgbClr val="FFC000"/>
                </a:solidFill>
              </a:rPr>
              <a:t>a</a:t>
            </a:r>
            <a:r>
              <a:rPr lang="en-GB" sz="3000" dirty="0">
                <a:solidFill>
                  <a:schemeClr val="tx1"/>
                </a:solidFill>
              </a:rPr>
              <a:t>nds.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</a:t>
            </a:r>
            <a:r>
              <a:rPr lang="en-GB" sz="3000" dirty="0">
                <a:solidFill>
                  <a:srgbClr val="92D050"/>
                </a:solidFill>
              </a:rPr>
              <a:t>wrinkled</a:t>
            </a:r>
            <a:r>
              <a:rPr lang="en-GB" sz="3000" dirty="0">
                <a:solidFill>
                  <a:schemeClr val="tx1"/>
                </a:solidFill>
              </a:rPr>
              <a:t> s</a:t>
            </a:r>
            <a:r>
              <a:rPr lang="en-GB" sz="3000" dirty="0">
                <a:solidFill>
                  <a:srgbClr val="FFC000"/>
                </a:solidFill>
              </a:rPr>
              <a:t>ea</a:t>
            </a:r>
            <a:r>
              <a:rPr lang="en-GB" sz="3000" dirty="0">
                <a:solidFill>
                  <a:schemeClr val="tx1"/>
                </a:solidFill>
              </a:rPr>
              <a:t> ben</a:t>
            </a:r>
            <a:r>
              <a:rPr lang="en-GB" sz="3000" dirty="0">
                <a:solidFill>
                  <a:srgbClr val="FFC000"/>
                </a:solidFill>
              </a:rPr>
              <a:t>ea</a:t>
            </a:r>
            <a:r>
              <a:rPr lang="en-GB" sz="3000" dirty="0">
                <a:solidFill>
                  <a:schemeClr val="tx1"/>
                </a:solidFill>
              </a:rPr>
              <a:t>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</a:t>
            </a:r>
            <a:r>
              <a:rPr lang="en-GB" sz="3000" dirty="0">
                <a:solidFill>
                  <a:srgbClr val="FF0000"/>
                </a:solidFill>
              </a:rPr>
              <a:t>w</a:t>
            </a:r>
            <a:r>
              <a:rPr lang="en-GB" sz="3000" dirty="0">
                <a:solidFill>
                  <a:schemeClr val="tx1"/>
                </a:solidFill>
              </a:rPr>
              <a:t>atches from his mountain </a:t>
            </a:r>
            <a:r>
              <a:rPr lang="en-GB" sz="3000" dirty="0">
                <a:solidFill>
                  <a:srgbClr val="FF0000"/>
                </a:solidFill>
              </a:rPr>
              <a:t>w</a:t>
            </a:r>
            <a:r>
              <a:rPr lang="en-GB" sz="3000" dirty="0">
                <a:solidFill>
                  <a:schemeClr val="tx1"/>
                </a:solidFill>
              </a:rPr>
              <a:t>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</a:t>
            </a:r>
            <a:r>
              <a:rPr lang="en-GB" sz="3000" dirty="0">
                <a:solidFill>
                  <a:srgbClr val="00B0F0"/>
                </a:solidFill>
              </a:rPr>
              <a:t>like a thunderbolt </a:t>
            </a:r>
            <a:r>
              <a:rPr lang="en-GB" sz="3000" dirty="0">
                <a:solidFill>
                  <a:schemeClr val="tx1"/>
                </a:solidFill>
              </a:rPr>
              <a:t>he falls.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4A575-012C-6E3A-0E2A-8DC8E783C49A}"/>
              </a:ext>
            </a:extLst>
          </p:cNvPr>
          <p:cNvSpPr txBox="1"/>
          <p:nvPr/>
        </p:nvSpPr>
        <p:spPr>
          <a:xfrm>
            <a:off x="5010539" y="1118969"/>
            <a:ext cx="2963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1" dirty="0"/>
              <a:t>Personification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A8397-5D7F-0E93-0921-135C774D9D54}"/>
              </a:ext>
            </a:extLst>
          </p:cNvPr>
          <p:cNvSpPr txBox="1"/>
          <p:nvPr/>
        </p:nvSpPr>
        <p:spPr>
          <a:xfrm>
            <a:off x="8471903" y="1576874"/>
            <a:ext cx="25659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Alliteration</a:t>
            </a:r>
          </a:p>
          <a:p>
            <a:endParaRPr lang="en-GB" b="1" dirty="0"/>
          </a:p>
          <a:p>
            <a:r>
              <a:rPr lang="en-GB" sz="2800" b="1" dirty="0">
                <a:solidFill>
                  <a:srgbClr val="FFC000"/>
                </a:solidFill>
              </a:rPr>
              <a:t>Assonance</a:t>
            </a:r>
          </a:p>
          <a:p>
            <a:r>
              <a:rPr lang="en-GB" sz="2800" b="1" dirty="0">
                <a:solidFill>
                  <a:srgbClr val="FFC000"/>
                </a:solidFill>
              </a:rPr>
              <a:t>(vowels)</a:t>
            </a:r>
          </a:p>
          <a:p>
            <a:endParaRPr lang="en-GB" sz="2800" b="1" dirty="0"/>
          </a:p>
          <a:p>
            <a:r>
              <a:rPr lang="en-GB" sz="2800" b="1" dirty="0">
                <a:solidFill>
                  <a:srgbClr val="92D050"/>
                </a:solidFill>
              </a:rPr>
              <a:t>Both of the above, plus Consonance</a:t>
            </a:r>
          </a:p>
          <a:p>
            <a:endParaRPr lang="en-GB" sz="2800" b="1" dirty="0">
              <a:solidFill>
                <a:srgbClr val="92D050"/>
              </a:solidFill>
            </a:endParaRPr>
          </a:p>
          <a:p>
            <a:r>
              <a:rPr lang="en-GB" sz="2800" b="1" dirty="0">
                <a:solidFill>
                  <a:srgbClr val="00B0F0"/>
                </a:solidFill>
              </a:rPr>
              <a:t>Simile</a:t>
            </a:r>
          </a:p>
        </p:txBody>
      </p:sp>
    </p:spTree>
    <p:extLst>
      <p:ext uri="{BB962C8B-B14F-4D97-AF65-F5344CB8AC3E}">
        <p14:creationId xmlns:p14="http://schemas.microsoft.com/office/powerpoint/2010/main" val="2436609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clasps the crag with crooked hands;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Close to the sun in lonely lands,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Ringed with the azure world, he stands.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walls,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falls.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C218BF-64D3-18DD-6BED-77A4865FF79F}"/>
              </a:ext>
            </a:extLst>
          </p:cNvPr>
          <p:cNvSpPr txBox="1"/>
          <p:nvPr/>
        </p:nvSpPr>
        <p:spPr>
          <a:xfrm>
            <a:off x="8546841" y="1760358"/>
            <a:ext cx="27522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</a:rPr>
              <a:t>What is the poem about?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Is it about an eagle?</a:t>
            </a: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Is it about anything else?</a:t>
            </a:r>
          </a:p>
        </p:txBody>
      </p:sp>
    </p:spTree>
    <p:extLst>
      <p:ext uri="{BB962C8B-B14F-4D97-AF65-F5344CB8AC3E}">
        <p14:creationId xmlns:p14="http://schemas.microsoft.com/office/powerpoint/2010/main" val="2902171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99B5-3C6E-7A0C-2DD1-F91FD647C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2" y="609600"/>
            <a:ext cx="9688447" cy="1320800"/>
          </a:xfrm>
        </p:spPr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Does it matter who wrote </a:t>
            </a:r>
            <a:r>
              <a:rPr lang="en-GB" i="1" dirty="0">
                <a:solidFill>
                  <a:srgbClr val="0070C0"/>
                </a:solidFill>
              </a:rPr>
              <a:t>The Eagle</a:t>
            </a:r>
            <a:r>
              <a:rPr lang="en-GB" dirty="0">
                <a:solidFill>
                  <a:srgbClr val="0070C0"/>
                </a:solidFill>
              </a:rPr>
              <a:t>, when they wrote it, or why they wrote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ECEA-425E-6EA6-CE13-8A97F0E2A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904" y="2160588"/>
            <a:ext cx="10714815" cy="3881437"/>
          </a:xfrm>
        </p:spPr>
        <p:txBody>
          <a:bodyPr/>
          <a:lstStyle/>
          <a:p>
            <a:r>
              <a:rPr lang="en-GB" sz="2800" dirty="0"/>
              <a:t>Can we figure out the poem just by its text?</a:t>
            </a:r>
          </a:p>
          <a:p>
            <a:endParaRPr lang="en-GB" sz="1600" dirty="0"/>
          </a:p>
          <a:p>
            <a:r>
              <a:rPr lang="en-GB" sz="2400" dirty="0"/>
              <a:t>In the mid-twentieth century a method called </a:t>
            </a:r>
            <a:r>
              <a:rPr lang="en-GB" sz="2400" b="1" dirty="0"/>
              <a:t>New Criticism </a:t>
            </a:r>
            <a:r>
              <a:rPr lang="en-GB" sz="2400" dirty="0"/>
              <a:t>tried to appreciate writing by the text alone, with no need to consider the author, the cultural context, or the reader’s subjectivity.</a:t>
            </a:r>
          </a:p>
          <a:p>
            <a:endParaRPr lang="en-GB" sz="1600" dirty="0"/>
          </a:p>
          <a:p>
            <a:r>
              <a:rPr lang="en-GB" sz="2400" dirty="0"/>
              <a:t>Later in the century, a way of academic reading called </a:t>
            </a:r>
            <a:r>
              <a:rPr lang="en-GB" sz="2400" b="1" i="1" dirty="0"/>
              <a:t>New Historicism </a:t>
            </a:r>
            <a:r>
              <a:rPr lang="en-GB" sz="2400" dirty="0"/>
              <a:t>said we need to understand cultural context to understand a text. However, it tends to assume that culture and texts are formed based on </a:t>
            </a:r>
            <a:r>
              <a:rPr lang="en-GB" sz="2400" i="1" dirty="0"/>
              <a:t>Power Discourse Theory </a:t>
            </a:r>
            <a:r>
              <a:rPr lang="en-GB" sz="2400" dirty="0"/>
              <a:t>and that writing should be </a:t>
            </a:r>
            <a:r>
              <a:rPr lang="en-GB" sz="2400" i="1" dirty="0"/>
              <a:t>deconstructed</a:t>
            </a:r>
            <a:r>
              <a:rPr lang="en-GB" sz="2400" dirty="0"/>
              <a:t> and reinterpreted – such as in Feminist/Post-colonial/Racial, readings, etc.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814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br>
              <a:rPr lang="en-GB" sz="4000" dirty="0">
                <a:solidFill>
                  <a:srgbClr val="002060"/>
                </a:solidFill>
              </a:rPr>
            </a:b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2000" dirty="0">
                <a:solidFill>
                  <a:schemeClr val="tx1"/>
                </a:solidFill>
              </a:rPr>
              <a:t>	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clasps the crag with crooked hands;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Close to the sun in lonely lands,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Ringed with the azure world, he stands.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walls,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falls.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5C1516-5037-77CE-E114-01EBC0617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714" y="508759"/>
            <a:ext cx="3288195" cy="414130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4256F89-2771-66C6-D10F-8477BD075E94}"/>
              </a:ext>
            </a:extLst>
          </p:cNvPr>
          <p:cNvSpPr txBox="1">
            <a:spLocks/>
          </p:cNvSpPr>
          <p:nvPr/>
        </p:nvSpPr>
        <p:spPr bwMode="auto">
          <a:xfrm>
            <a:off x="892921" y="646249"/>
            <a:ext cx="859631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rebuchet MS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rebuchet MS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rebuchet MS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br>
              <a:rPr lang="en-GB" sz="4000" dirty="0">
                <a:solidFill>
                  <a:srgbClr val="002060"/>
                </a:solidFill>
              </a:rPr>
            </a:br>
            <a:r>
              <a:rPr lang="en-GB" sz="3200" dirty="0">
                <a:solidFill>
                  <a:srgbClr val="002060"/>
                </a:solidFill>
              </a:rPr>
              <a:t>by Alfred Lord Tennyson (1851)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37305-F815-BCD0-6DF9-582F75C5357A}"/>
              </a:ext>
            </a:extLst>
          </p:cNvPr>
          <p:cNvSpPr txBox="1"/>
          <p:nvPr/>
        </p:nvSpPr>
        <p:spPr>
          <a:xfrm>
            <a:off x="8488714" y="4807573"/>
            <a:ext cx="31927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1809-1892</a:t>
            </a:r>
          </a:p>
          <a:p>
            <a:r>
              <a:rPr lang="en-GB" sz="2400" dirty="0"/>
              <a:t>He was poet Laureate (Britain’s official poet) during much of Queen Victoria’s reign</a:t>
            </a:r>
          </a:p>
        </p:txBody>
      </p:sp>
    </p:spTree>
    <p:extLst>
      <p:ext uri="{BB962C8B-B14F-4D97-AF65-F5344CB8AC3E}">
        <p14:creationId xmlns:p14="http://schemas.microsoft.com/office/powerpoint/2010/main" val="235469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br>
              <a:rPr lang="en-GB" sz="4000" dirty="0">
                <a:solidFill>
                  <a:srgbClr val="002060"/>
                </a:solidFill>
              </a:rPr>
            </a:b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2000" dirty="0">
                <a:solidFill>
                  <a:schemeClr val="tx1"/>
                </a:solidFill>
              </a:rPr>
              <a:t>	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clasps the crag with crooked hands;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Close to the sun in lonely lands,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Ringed with the azure world, he stands.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crawls;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walls,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falls.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256F89-2771-66C6-D10F-8477BD075E94}"/>
              </a:ext>
            </a:extLst>
          </p:cNvPr>
          <p:cNvSpPr txBox="1">
            <a:spLocks/>
          </p:cNvSpPr>
          <p:nvPr/>
        </p:nvSpPr>
        <p:spPr bwMode="auto">
          <a:xfrm>
            <a:off x="892921" y="646249"/>
            <a:ext cx="859631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rebuchet MS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rebuchet MS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rebuchet MS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rebuchet MS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br>
              <a:rPr lang="en-GB" sz="4000" dirty="0">
                <a:solidFill>
                  <a:srgbClr val="002060"/>
                </a:solidFill>
              </a:rPr>
            </a:br>
            <a:r>
              <a:rPr lang="en-GB" sz="3200" dirty="0">
                <a:solidFill>
                  <a:srgbClr val="002060"/>
                </a:solidFill>
              </a:rPr>
              <a:t>by Alfred Lord Tennyson (1851)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37305-F815-BCD0-6DF9-582F75C5357A}"/>
              </a:ext>
            </a:extLst>
          </p:cNvPr>
          <p:cNvSpPr txBox="1"/>
          <p:nvPr/>
        </p:nvSpPr>
        <p:spPr>
          <a:xfrm>
            <a:off x="8253935" y="839241"/>
            <a:ext cx="350263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Does the eagle represent tyranny and isolation, or is it positive about a lonely strength? </a:t>
            </a:r>
          </a:p>
          <a:p>
            <a:endParaRPr lang="en-GB" sz="2400" dirty="0"/>
          </a:p>
          <a:p>
            <a:r>
              <a:rPr lang="en-GB" sz="2400" dirty="0"/>
              <a:t>Should its interpretation be based on what Tennyson thought, or what, you, or I, or critics think?</a:t>
            </a:r>
          </a:p>
          <a:p>
            <a:endParaRPr lang="en-GB" sz="2400" dirty="0"/>
          </a:p>
          <a:p>
            <a:r>
              <a:rPr lang="en-GB" sz="2400" dirty="0"/>
              <a:t>Is it ‘good’ writing, which should be appreciated on a course like this?</a:t>
            </a:r>
          </a:p>
        </p:txBody>
      </p:sp>
    </p:spTree>
    <p:extLst>
      <p:ext uri="{BB962C8B-B14F-4D97-AF65-F5344CB8AC3E}">
        <p14:creationId xmlns:p14="http://schemas.microsoft.com/office/powerpoint/2010/main" val="2779833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3D64-0179-9BB6-238E-74A3AD2B9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Excerpt from the play </a:t>
            </a:r>
            <a:r>
              <a:rPr lang="en-GB" i="1" dirty="0">
                <a:solidFill>
                  <a:srgbClr val="002060"/>
                </a:solidFill>
              </a:rPr>
              <a:t>‘De Montfort’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sz="2600" dirty="0">
                <a:solidFill>
                  <a:srgbClr val="002060"/>
                </a:solidFill>
              </a:rPr>
              <a:t>(De Montfort is becoming lost in hate – worsened by believing lies – and blaming it all on </a:t>
            </a:r>
            <a:r>
              <a:rPr lang="en-GB" sz="2600" dirty="0" err="1">
                <a:solidFill>
                  <a:srgbClr val="002060"/>
                </a:solidFill>
              </a:rPr>
              <a:t>Rezenvelt</a:t>
            </a:r>
            <a:r>
              <a:rPr lang="en-GB" sz="2600" dirty="0">
                <a:solidFill>
                  <a:srgbClr val="002060"/>
                </a:solidFill>
              </a:rPr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BCD7-27A4-020A-E21B-C6D6DEE41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2253894"/>
            <a:ext cx="9193925" cy="3881437"/>
          </a:xfrm>
        </p:spPr>
        <p:txBody>
          <a:bodyPr/>
          <a:lstStyle/>
          <a:p>
            <a:pPr marL="0" indent="0" algn="l">
              <a:buNone/>
            </a:pP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De Montfort - </a:t>
            </a:r>
            <a:r>
              <a:rPr lang="en-GB" sz="2300" b="0" i="0" dirty="0" err="1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Think'st</a:t>
            </a: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thou there are no serpents in the world</a:t>
            </a:r>
          </a:p>
          <a:p>
            <a:pPr marL="0" indent="0" algn="l">
              <a:buNone/>
            </a:pP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			 	But those that slide along the grassy sod,</a:t>
            </a:r>
          </a:p>
          <a:p>
            <a:pPr marL="0" indent="0" algn="l">
              <a:buNone/>
            </a:pP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				And sting the luckless foot that presses them?</a:t>
            </a:r>
          </a:p>
          <a:p>
            <a:pPr marL="0" indent="0" algn="l">
              <a:buNone/>
            </a:pP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				There are who in the path of social life</a:t>
            </a:r>
          </a:p>
          <a:p>
            <a:pPr marL="0" indent="0" algn="l">
              <a:buNone/>
            </a:pP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				Do bask their spotted skins in Fortune's sun,</a:t>
            </a:r>
          </a:p>
          <a:p>
            <a:pPr marL="0" indent="0" algn="l">
              <a:buNone/>
            </a:pP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				And sting the soul - Ay, till its healthful frame</a:t>
            </a:r>
          </a:p>
          <a:p>
            <a:pPr marL="0" indent="0" algn="l">
              <a:buNone/>
            </a:pP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				Is </a:t>
            </a:r>
            <a:r>
              <a:rPr lang="en-GB" sz="2300" b="0" i="0" dirty="0" err="1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chang'd</a:t>
            </a: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to secret, </a:t>
            </a:r>
            <a:r>
              <a:rPr lang="en-GB" sz="2300" b="0" i="0" dirty="0" err="1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fest'ring</a:t>
            </a: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, sore disease,</a:t>
            </a:r>
          </a:p>
          <a:p>
            <a:pPr marL="0" indent="0" algn="l">
              <a:buNone/>
            </a:pPr>
            <a:r>
              <a:rPr lang="en-GB" sz="23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				So deadly is the wound.</a:t>
            </a:r>
          </a:p>
          <a:p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6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3D64-0179-9BB6-238E-74A3AD2B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9371206" cy="1320800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Excerpt from the play </a:t>
            </a:r>
            <a:r>
              <a:rPr lang="en-GB" i="1" dirty="0">
                <a:solidFill>
                  <a:srgbClr val="002060"/>
                </a:solidFill>
              </a:rPr>
              <a:t>‘De Montfort’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sz="2600" dirty="0">
                <a:solidFill>
                  <a:srgbClr val="002060"/>
                </a:solidFill>
              </a:rPr>
              <a:t>(</a:t>
            </a:r>
            <a:r>
              <a:rPr lang="en-GB" sz="2600" dirty="0" err="1">
                <a:solidFill>
                  <a:srgbClr val="002060"/>
                </a:solidFill>
              </a:rPr>
              <a:t>Rezenvelt</a:t>
            </a:r>
            <a:r>
              <a:rPr lang="en-GB" sz="2600" dirty="0">
                <a:solidFill>
                  <a:srgbClr val="002060"/>
                </a:solidFill>
              </a:rPr>
              <a:t> walks through a wood, blind to De Montfort’s hate, and unknowing that De Montfort waits to murder him.)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BCD7-27A4-020A-E21B-C6D6DEE41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2253894"/>
            <a:ext cx="10789459" cy="3881437"/>
          </a:xfrm>
        </p:spPr>
        <p:txBody>
          <a:bodyPr/>
          <a:lstStyle/>
          <a:p>
            <a:pPr algn="l"/>
            <a:r>
              <a:rPr lang="en-GB" sz="2300" b="0" i="0" dirty="0" err="1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Rezenvelt</a:t>
            </a:r>
            <a:r>
              <a:rPr lang="en-GB" sz="2300" dirty="0">
                <a:solidFill>
                  <a:srgbClr val="002060"/>
                </a:solidFill>
                <a:latin typeface="Trebuchet MS" panose="020B0603020202020204" pitchFamily="34" charset="0"/>
              </a:rPr>
              <a:t> – Between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me and the star-bespangled sky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	 Those aged oaks their crossing branches wave,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	 And thro’ them looks the pale and placid moon.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	 How like a crocodile, or winged snake,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	 Yon sailing cloud bears on its dusky length!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	 And now </a:t>
            </a:r>
            <a:r>
              <a:rPr lang="en-GB" sz="2400" b="0" i="0" dirty="0" err="1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transform’d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by the passing wind,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	 Methinks it seems a flying Pegasus…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                                             (a bell heard at some distance)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435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3D64-0179-9BB6-238E-74A3AD2B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9371206" cy="1320800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Excerpt from the play </a:t>
            </a:r>
            <a:r>
              <a:rPr lang="en-GB" i="1" dirty="0">
                <a:solidFill>
                  <a:srgbClr val="002060"/>
                </a:solidFill>
              </a:rPr>
              <a:t>‘De Montfort’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sz="2600" dirty="0">
                <a:solidFill>
                  <a:srgbClr val="002060"/>
                </a:solidFill>
              </a:rPr>
              <a:t>(</a:t>
            </a:r>
            <a:r>
              <a:rPr lang="en-GB" sz="2600" dirty="0" err="1">
                <a:solidFill>
                  <a:srgbClr val="002060"/>
                </a:solidFill>
              </a:rPr>
              <a:t>Rezenvelt</a:t>
            </a:r>
            <a:r>
              <a:rPr lang="en-GB" sz="2600" dirty="0">
                <a:solidFill>
                  <a:srgbClr val="002060"/>
                </a:solidFill>
              </a:rPr>
              <a:t> walks through a wood, blind to De Montfort’s hate, and unknowing that De Montfort waits to murder him.)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BCD7-27A4-020A-E21B-C6D6DEE41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2253894"/>
            <a:ext cx="10789459" cy="3881437"/>
          </a:xfrm>
        </p:spPr>
        <p:txBody>
          <a:bodyPr/>
          <a:lstStyle/>
          <a:p>
            <a:pPr algn="l"/>
            <a:r>
              <a:rPr lang="en-GB" sz="2300" b="0" i="0" dirty="0" err="1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Rezenvelt</a:t>
            </a:r>
            <a:r>
              <a:rPr lang="en-GB" sz="2300" dirty="0">
                <a:solidFill>
                  <a:srgbClr val="002060"/>
                </a:solidFill>
                <a:latin typeface="Trebuchet MS" panose="020B0603020202020204" pitchFamily="34" charset="0"/>
              </a:rPr>
              <a:t> –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What bell is this?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It sends a solemn sound upon the breeze.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Now, to a fearful superstitious mind,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In such a scene, ‘</a:t>
            </a:r>
            <a:r>
              <a:rPr lang="en-GB" sz="2400" b="0" i="0" dirty="0" err="1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twould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like a death-knell come;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For me it tells but of a shelter near,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And so I bid it welcome.</a:t>
            </a:r>
          </a:p>
          <a:p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278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3D64-0179-9BB6-238E-74A3AD2B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9371206" cy="1320800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Excerpt from the play </a:t>
            </a:r>
            <a:r>
              <a:rPr lang="en-GB" i="1" dirty="0">
                <a:solidFill>
                  <a:srgbClr val="002060"/>
                </a:solidFill>
              </a:rPr>
              <a:t>‘De Montfort’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sz="2600" dirty="0">
                <a:solidFill>
                  <a:srgbClr val="002060"/>
                </a:solidFill>
              </a:rPr>
              <a:t>(</a:t>
            </a:r>
            <a:r>
              <a:rPr lang="en-GB" sz="2600" dirty="0" err="1">
                <a:solidFill>
                  <a:srgbClr val="002060"/>
                </a:solidFill>
              </a:rPr>
              <a:t>Rezenvelt</a:t>
            </a:r>
            <a:r>
              <a:rPr lang="en-GB" sz="2600" dirty="0">
                <a:solidFill>
                  <a:srgbClr val="002060"/>
                </a:solidFill>
              </a:rPr>
              <a:t> walks through a wood, blind to De Montfort’s hate, and unknowing that De Montfort waits to murder him.)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BCD7-27A4-020A-E21B-C6D6DEE41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2253894"/>
            <a:ext cx="10789459" cy="3881437"/>
          </a:xfrm>
        </p:spPr>
        <p:txBody>
          <a:bodyPr/>
          <a:lstStyle/>
          <a:p>
            <a:pPr algn="l"/>
            <a:r>
              <a:rPr lang="en-GB" sz="2300" b="0" i="0" dirty="0" err="1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Rezenvelt</a:t>
            </a:r>
            <a:r>
              <a:rPr lang="en-GB" sz="2300" dirty="0">
                <a:solidFill>
                  <a:srgbClr val="002060"/>
                </a:solidFill>
                <a:latin typeface="Trebuchet MS" panose="020B0603020202020204" pitchFamily="34" charset="0"/>
              </a:rPr>
              <a:t> –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What bell is this?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It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sends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a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sol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emn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sound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up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on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the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breeze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Now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,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to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a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fear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ful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su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per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stit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ious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mind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,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In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such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a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scene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,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‘</a:t>
            </a:r>
            <a:r>
              <a:rPr lang="en-GB" sz="2400" b="0" i="0" dirty="0" err="1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twould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like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a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death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-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knell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come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;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2060"/>
                </a:solidFill>
                <a:effectLst/>
                <a:latin typeface="Trebuchet MS" panose="020B0603020202020204" pitchFamily="34" charset="0"/>
              </a:rPr>
              <a:t>                  	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For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me</a:t>
            </a: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it</a:t>
            </a: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tells</a:t>
            </a: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but</a:t>
            </a: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of</a:t>
            </a: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a</a:t>
            </a: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shel</a:t>
            </a:r>
            <a:r>
              <a:rPr lang="en-GB" sz="2400" b="0" i="0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ter</a:t>
            </a: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GB" sz="26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near</a:t>
            </a: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,</a:t>
            </a:r>
          </a:p>
          <a:p>
            <a:pPr marL="0" indent="0" algn="l">
              <a:buNone/>
            </a:pPr>
            <a:r>
              <a:rPr lang="en-GB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rebuchet MS" panose="020B0603020202020204" pitchFamily="34" charset="0"/>
              </a:rPr>
              <a:t>                  	 And so I bid it welcome.</a:t>
            </a:r>
          </a:p>
          <a:p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BB093-7AD8-D1B9-E6BF-7EF0F997BF10}"/>
              </a:ext>
            </a:extLst>
          </p:cNvPr>
          <p:cNvSpPr txBox="1"/>
          <p:nvPr/>
        </p:nvSpPr>
        <p:spPr>
          <a:xfrm>
            <a:off x="329681" y="5570998"/>
            <a:ext cx="1153263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00" b="1" dirty="0"/>
              <a:t>10 syllables per line in an </a:t>
            </a:r>
            <a:r>
              <a:rPr lang="en-GB" sz="2300" b="1" dirty="0">
                <a:solidFill>
                  <a:srgbClr val="00B050"/>
                </a:solidFill>
              </a:rPr>
              <a:t>unstressed</a:t>
            </a:r>
            <a:r>
              <a:rPr lang="en-GB" sz="2300" b="1" dirty="0"/>
              <a:t>-</a:t>
            </a:r>
            <a:r>
              <a:rPr lang="en-GB" sz="2300" b="1" dirty="0">
                <a:solidFill>
                  <a:srgbClr val="0070C0"/>
                </a:solidFill>
              </a:rPr>
              <a:t>stressed </a:t>
            </a:r>
            <a:r>
              <a:rPr lang="en-GB" sz="2300" b="1" dirty="0"/>
              <a:t>metre – called </a:t>
            </a:r>
            <a:r>
              <a:rPr lang="en-GB" sz="2300" b="1" i="1" dirty="0"/>
              <a:t>Iambic Pentameter</a:t>
            </a:r>
          </a:p>
        </p:txBody>
      </p:sp>
    </p:spTree>
    <p:extLst>
      <p:ext uri="{BB962C8B-B14F-4D97-AF65-F5344CB8AC3E}">
        <p14:creationId xmlns:p14="http://schemas.microsoft.com/office/powerpoint/2010/main" val="1146299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3D64-0179-9BB6-238E-74A3AD2B9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>
                <a:solidFill>
                  <a:srgbClr val="002060"/>
                </a:solidFill>
              </a:rPr>
              <a:t>‘De Montfort’ </a:t>
            </a:r>
            <a:r>
              <a:rPr lang="en-GB" dirty="0">
                <a:solidFill>
                  <a:srgbClr val="002060"/>
                </a:solidFill>
              </a:rPr>
              <a:t>by Joanna Baillie</a:t>
            </a:r>
            <a:endParaRPr lang="en-GB" sz="2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BCD7-27A4-020A-E21B-C6D6DEE41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791252"/>
            <a:ext cx="8123237" cy="388143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sz="2400" dirty="0"/>
              <a:t>Written in 1798 as part of a series of plays, each focusing on a passion – this play examines hatred.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She was admired by famous writers such as Walter Scott and was well known in the early 19</a:t>
            </a:r>
            <a:r>
              <a:rPr lang="en-GB" sz="2400" baseline="30000" dirty="0"/>
              <a:t>th</a:t>
            </a:r>
            <a:r>
              <a:rPr lang="en-GB" sz="2400" dirty="0"/>
              <a:t> century.</a:t>
            </a:r>
          </a:p>
          <a:p>
            <a:pPr>
              <a:spcAft>
                <a:spcPts val="600"/>
              </a:spcAft>
            </a:pPr>
            <a:r>
              <a:rPr lang="en-GB" sz="2400" i="1" dirty="0"/>
              <a:t>De Montfort: A Tragedy </a:t>
            </a:r>
            <a:r>
              <a:rPr lang="en-GB" sz="2400" dirty="0"/>
              <a:t>was staged in a London theatre, but not well-received. Most of her plays have never been performed in a theatre.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The 19</a:t>
            </a:r>
            <a:r>
              <a:rPr lang="en-GB" sz="2400" baseline="30000" dirty="0"/>
              <a:t>th</a:t>
            </a:r>
            <a:r>
              <a:rPr lang="en-GB" sz="2400" dirty="0"/>
              <a:t> century trend was for Romantic poetry, and then the Novel, not for tragic theatre. Joanna Baillie gradually lost prominence.   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A15475E5-5CC4-2A6F-3441-D06850824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325" y="728690"/>
            <a:ext cx="3117849" cy="387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FA5008-59FA-1925-9526-E3E8F8DB9694}"/>
              </a:ext>
            </a:extLst>
          </p:cNvPr>
          <p:cNvSpPr txBox="1"/>
          <p:nvPr/>
        </p:nvSpPr>
        <p:spPr>
          <a:xfrm>
            <a:off x="9140825" y="4726015"/>
            <a:ext cx="253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Joanna Baillie</a:t>
            </a:r>
          </a:p>
          <a:p>
            <a:r>
              <a:rPr lang="en-GB" sz="2400" dirty="0"/>
              <a:t>1762-1851</a:t>
            </a:r>
          </a:p>
        </p:txBody>
      </p:sp>
    </p:spTree>
    <p:extLst>
      <p:ext uri="{BB962C8B-B14F-4D97-AF65-F5344CB8AC3E}">
        <p14:creationId xmlns:p14="http://schemas.microsoft.com/office/powerpoint/2010/main" val="117924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B3AE-D760-89F5-A748-54A2770BB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2" y="609600"/>
            <a:ext cx="9492503" cy="1320800"/>
          </a:xfrm>
        </p:spPr>
        <p:txBody>
          <a:bodyPr/>
          <a:lstStyle/>
          <a:p>
            <a:r>
              <a:rPr lang="en-GB" sz="3200" dirty="0">
                <a:solidFill>
                  <a:srgbClr val="002060"/>
                </a:solidFill>
              </a:rPr>
              <a:t>To consider a contrary example: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sz="3200" i="1" dirty="0">
                <a:solidFill>
                  <a:srgbClr val="002060"/>
                </a:solidFill>
              </a:rPr>
              <a:t>Pride and Prejudice </a:t>
            </a:r>
            <a:r>
              <a:rPr lang="en-GB" sz="3200" dirty="0">
                <a:solidFill>
                  <a:srgbClr val="002060"/>
                </a:solidFill>
              </a:rPr>
              <a:t>(1813) and </a:t>
            </a:r>
            <a:r>
              <a:rPr lang="en-GB" sz="3200" i="1" dirty="0">
                <a:solidFill>
                  <a:srgbClr val="002060"/>
                </a:solidFill>
              </a:rPr>
              <a:t>Emma </a:t>
            </a:r>
            <a:r>
              <a:rPr lang="en-GB" sz="3200" dirty="0">
                <a:solidFill>
                  <a:srgbClr val="002060"/>
                </a:solidFill>
              </a:rPr>
              <a:t>(1815) </a:t>
            </a:r>
            <a:br>
              <a:rPr lang="en-GB" sz="3200" dirty="0">
                <a:solidFill>
                  <a:srgbClr val="002060"/>
                </a:solidFill>
              </a:rPr>
            </a:br>
            <a:r>
              <a:rPr lang="en-GB" sz="3200" dirty="0">
                <a:solidFill>
                  <a:srgbClr val="002060"/>
                </a:solidFill>
              </a:rPr>
              <a:t>by Jane Austen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67AF4-4025-B9AA-FD63-B25C3A20C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2366963"/>
            <a:ext cx="9492504" cy="3881437"/>
          </a:xfrm>
        </p:spPr>
        <p:txBody>
          <a:bodyPr/>
          <a:lstStyle/>
          <a:p>
            <a:r>
              <a:rPr lang="en-GB" sz="2400" dirty="0"/>
              <a:t>The novels did quite well when first published, but generally weren’t considered anything too remarkable.</a:t>
            </a:r>
          </a:p>
          <a:p>
            <a:r>
              <a:rPr lang="en-GB" sz="2400" dirty="0"/>
              <a:t>The novelist Charlotte Bronte wrote in a letter to a friend about Austen and </a:t>
            </a:r>
            <a:r>
              <a:rPr lang="en-GB" sz="2400" i="1" dirty="0"/>
              <a:t>Emma: </a:t>
            </a:r>
          </a:p>
          <a:p>
            <a:pPr marL="720000" lvl="1" indent="0">
              <a:buNone/>
            </a:pPr>
            <a:r>
              <a:rPr lang="en-GB" sz="2400" b="1" dirty="0"/>
              <a:t>“Can there be a great artist without poetry?... the Passions are perfectly unknown to her… ; even to the Feelings she vouchsafes no more than an occasional graceful but distant recognition; too frequent converse with them would ruffle the smooth elegance of her progress.”</a:t>
            </a:r>
            <a:endParaRPr lang="en-GB" sz="2400" i="1" dirty="0"/>
          </a:p>
        </p:txBody>
      </p:sp>
      <p:pic>
        <p:nvPicPr>
          <p:cNvPr id="4" name="Picture 2" descr="Pride and Prejudice Jane Austen First Edition Rare Book">
            <a:extLst>
              <a:ext uri="{FF2B5EF4-FFF2-40B4-BE49-F238E27FC236}">
                <a16:creationId xmlns:a16="http://schemas.microsoft.com/office/drawing/2014/main" id="{F48CF76A-2DF0-4E47-CECD-AB334B035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694" y="74645"/>
            <a:ext cx="3038669" cy="221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86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67AF4-4025-B9AA-FD63-B25C3A20C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2366964"/>
            <a:ext cx="6286760" cy="2223698"/>
          </a:xfrm>
        </p:spPr>
        <p:txBody>
          <a:bodyPr/>
          <a:lstStyle/>
          <a:p>
            <a:r>
              <a:rPr lang="en-GB" sz="2400" dirty="0"/>
              <a:t>Yet, her novels remained popular during the later 19</a:t>
            </a:r>
            <a:r>
              <a:rPr lang="en-GB" sz="2400" baseline="30000" dirty="0"/>
              <a:t>th</a:t>
            </a:r>
            <a:r>
              <a:rPr lang="en-GB" sz="2400" dirty="0"/>
              <a:t> century.</a:t>
            </a:r>
          </a:p>
          <a:p>
            <a:r>
              <a:rPr lang="en-GB" sz="2400" dirty="0"/>
              <a:t>In 1940 there was a Hollywood movie of </a:t>
            </a:r>
            <a:r>
              <a:rPr lang="en-GB" sz="2400" i="1" dirty="0"/>
              <a:t>Pride and Prejudice, </a:t>
            </a:r>
            <a:r>
              <a:rPr lang="en-GB" sz="2400" dirty="0"/>
              <a:t>staring Laurence Olivier and Greer Garson</a:t>
            </a:r>
            <a:r>
              <a:rPr lang="en-GB" sz="2400" i="1" dirty="0"/>
              <a:t>.</a:t>
            </a:r>
          </a:p>
        </p:txBody>
      </p:sp>
      <p:pic>
        <p:nvPicPr>
          <p:cNvPr id="3074" name="Picture 2" descr="Amazon.com: Odsan Gallery Pride and Prejudice, Laurence Olivier, Greer ...">
            <a:extLst>
              <a:ext uri="{FF2B5EF4-FFF2-40B4-BE49-F238E27FC236}">
                <a16:creationId xmlns:a16="http://schemas.microsoft.com/office/drawing/2014/main" id="{60926708-347C-83DE-0914-79E613154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703" y="1728377"/>
            <a:ext cx="3766457" cy="286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D7C095-BDA2-0316-683C-3C098FCDE797}"/>
              </a:ext>
            </a:extLst>
          </p:cNvPr>
          <p:cNvSpPr txBox="1">
            <a:spLocks/>
          </p:cNvSpPr>
          <p:nvPr/>
        </p:nvSpPr>
        <p:spPr bwMode="auto">
          <a:xfrm>
            <a:off x="677862" y="4590662"/>
            <a:ext cx="11069379" cy="20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Academics began to write about her, and in 1949 F. W. Leavis placed Austen in the top five of all English novelists, in his book </a:t>
            </a:r>
            <a:r>
              <a:rPr lang="en-GB" sz="2400" i="1" dirty="0"/>
              <a:t>The Great Tradition.</a:t>
            </a:r>
          </a:p>
          <a:p>
            <a:r>
              <a:rPr lang="en-GB" sz="2400" dirty="0"/>
              <a:t>In 1995 the BBC made a TV series of </a:t>
            </a:r>
            <a:r>
              <a:rPr lang="en-GB" sz="2400" i="1" dirty="0"/>
              <a:t>Pride and Prejudice </a:t>
            </a:r>
            <a:r>
              <a:rPr lang="en-GB" sz="2400" dirty="0"/>
              <a:t>that has since been shown around the world. Another film was released in 2013, soon regarded as a classic period adaptation.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97F699-CB47-DD6A-44EC-EE44992D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2" y="609600"/>
            <a:ext cx="9492503" cy="1320800"/>
          </a:xfrm>
        </p:spPr>
        <p:txBody>
          <a:bodyPr/>
          <a:lstStyle/>
          <a:p>
            <a:r>
              <a:rPr lang="en-GB" sz="3200" dirty="0">
                <a:solidFill>
                  <a:srgbClr val="002060"/>
                </a:solidFill>
              </a:rPr>
              <a:t>To consider a contrary example: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sz="3200" i="1" dirty="0">
                <a:solidFill>
                  <a:srgbClr val="002060"/>
                </a:solidFill>
              </a:rPr>
              <a:t>Pride and Prejudice </a:t>
            </a:r>
            <a:r>
              <a:rPr lang="en-GB" sz="3200" dirty="0">
                <a:solidFill>
                  <a:srgbClr val="002060"/>
                </a:solidFill>
              </a:rPr>
              <a:t>(1813) and </a:t>
            </a:r>
            <a:r>
              <a:rPr lang="en-GB" sz="3200" i="1" dirty="0">
                <a:solidFill>
                  <a:srgbClr val="002060"/>
                </a:solidFill>
              </a:rPr>
              <a:t>Emma </a:t>
            </a:r>
            <a:r>
              <a:rPr lang="en-GB" sz="3200" dirty="0">
                <a:solidFill>
                  <a:srgbClr val="002060"/>
                </a:solidFill>
              </a:rPr>
              <a:t>(1815) </a:t>
            </a:r>
            <a:br>
              <a:rPr lang="en-GB" sz="3200" dirty="0">
                <a:solidFill>
                  <a:srgbClr val="002060"/>
                </a:solidFill>
              </a:rPr>
            </a:br>
            <a:r>
              <a:rPr lang="en-GB" sz="3200" dirty="0">
                <a:solidFill>
                  <a:srgbClr val="002060"/>
                </a:solidFill>
              </a:rPr>
              <a:t>by Jane Austen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4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67AF4-4025-B9AA-FD63-B25C3A20C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2366963"/>
            <a:ext cx="6684963" cy="3881437"/>
          </a:xfrm>
        </p:spPr>
        <p:txBody>
          <a:bodyPr/>
          <a:lstStyle/>
          <a:p>
            <a:r>
              <a:rPr lang="en-GB" sz="2400" dirty="0"/>
              <a:t>Why is Jane Austen considered part of the literary canon?</a:t>
            </a:r>
          </a:p>
          <a:p>
            <a:r>
              <a:rPr lang="en-GB" sz="2400" dirty="0"/>
              <a:t>Is it because of her writing style and content, or the tastes of readership?</a:t>
            </a:r>
          </a:p>
          <a:p>
            <a:r>
              <a:rPr lang="en-GB" sz="2400" dirty="0"/>
              <a:t>Is it connected to a certain kind of characterisation and storytelling, which appeals to subsequent societal trends </a:t>
            </a:r>
            <a:r>
              <a:rPr lang="en-GB" sz="2400" i="1" dirty="0"/>
              <a:t>(and crucially, longing for what is missing)</a:t>
            </a:r>
            <a:r>
              <a:rPr lang="en-GB" sz="2400" dirty="0"/>
              <a:t>: some feminine independence, with purity; gentlemanly emotion and self-control?  </a:t>
            </a:r>
          </a:p>
        </p:txBody>
      </p:sp>
      <p:pic>
        <p:nvPicPr>
          <p:cNvPr id="4098" name="Picture 2" descr="Laurence in 'Pride and Prejudice' - Laurence Olivier Image (5123427 ...">
            <a:extLst>
              <a:ext uri="{FF2B5EF4-FFF2-40B4-BE49-F238E27FC236}">
                <a16:creationId xmlns:a16="http://schemas.microsoft.com/office/drawing/2014/main" id="{9D7F023E-2B2D-EBBC-36E9-38F069DCC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25" y="1851362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7740EB-374E-AA87-CA84-1413F38A71A5}"/>
              </a:ext>
            </a:extLst>
          </p:cNvPr>
          <p:cNvSpPr txBox="1"/>
          <p:nvPr/>
        </p:nvSpPr>
        <p:spPr>
          <a:xfrm>
            <a:off x="7651750" y="5386625"/>
            <a:ext cx="429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Laurence Olivier and Greer Garson in </a:t>
            </a:r>
            <a:r>
              <a:rPr lang="en-GB" sz="2000" i="1" dirty="0"/>
              <a:t>Pride and Prejudice </a:t>
            </a:r>
            <a:r>
              <a:rPr lang="en-GB" sz="2000" dirty="0"/>
              <a:t>(1940)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B62657-7854-FA28-1AA7-9B25512CB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2" y="609600"/>
            <a:ext cx="9492503" cy="1320800"/>
          </a:xfrm>
        </p:spPr>
        <p:txBody>
          <a:bodyPr/>
          <a:lstStyle/>
          <a:p>
            <a:r>
              <a:rPr lang="en-GB" sz="3200" dirty="0">
                <a:solidFill>
                  <a:srgbClr val="002060"/>
                </a:solidFill>
              </a:rPr>
              <a:t>To consider a contrary example: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sz="3200" i="1" dirty="0">
                <a:solidFill>
                  <a:srgbClr val="002060"/>
                </a:solidFill>
              </a:rPr>
              <a:t>Pride and Prejudice </a:t>
            </a:r>
            <a:r>
              <a:rPr lang="en-GB" sz="3200" dirty="0">
                <a:solidFill>
                  <a:srgbClr val="002060"/>
                </a:solidFill>
              </a:rPr>
              <a:t>(1813) and </a:t>
            </a:r>
            <a:r>
              <a:rPr lang="en-GB" sz="3200" i="1" dirty="0">
                <a:solidFill>
                  <a:srgbClr val="002060"/>
                </a:solidFill>
              </a:rPr>
              <a:t>Emma </a:t>
            </a:r>
            <a:r>
              <a:rPr lang="en-GB" sz="3200" dirty="0">
                <a:solidFill>
                  <a:srgbClr val="002060"/>
                </a:solidFill>
              </a:rPr>
              <a:t>(1815) </a:t>
            </a:r>
            <a:br>
              <a:rPr lang="en-GB" sz="3200" dirty="0">
                <a:solidFill>
                  <a:srgbClr val="002060"/>
                </a:solidFill>
              </a:rPr>
            </a:br>
            <a:r>
              <a:rPr lang="en-GB" sz="3200" dirty="0">
                <a:solidFill>
                  <a:srgbClr val="002060"/>
                </a:solidFill>
              </a:rPr>
              <a:t>by Jane Austen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37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863" y="4527550"/>
            <a:ext cx="8596312" cy="860425"/>
          </a:xfrm>
        </p:spPr>
        <p:txBody>
          <a:bodyPr/>
          <a:lstStyle/>
          <a:p>
            <a:pPr eaLnBrk="1" hangingPunct="1">
              <a:defRPr/>
            </a:pPr>
            <a:endParaRPr lang="en-GB"/>
          </a:p>
        </p:txBody>
      </p:sp>
      <p:pic>
        <p:nvPicPr>
          <p:cNvPr id="1026" name="Picture 2" descr="Literary maps by Geoff Sawers and Bridget Hannigan">
            <a:extLst>
              <a:ext uri="{FF2B5EF4-FFF2-40B4-BE49-F238E27FC236}">
                <a16:creationId xmlns:a16="http://schemas.microsoft.com/office/drawing/2014/main" id="{E051B3DD-F218-E893-950D-DB4ECB18E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2334" y="0"/>
            <a:ext cx="6859361" cy="685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2A7C095-261F-998F-710C-B143358D2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638" y="0"/>
            <a:ext cx="6859362" cy="685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696CA4-11E8-3120-21A2-7B35C4B041E0}"/>
              </a:ext>
            </a:extLst>
          </p:cNvPr>
          <p:cNvSpPr txBox="1"/>
          <p:nvPr/>
        </p:nvSpPr>
        <p:spPr>
          <a:xfrm>
            <a:off x="3918857" y="335902"/>
            <a:ext cx="5971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Literary Maps of Britain and America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1B045-B619-563C-895F-4487FDDBA239}"/>
              </a:ext>
            </a:extLst>
          </p:cNvPr>
          <p:cNvSpPr txBox="1"/>
          <p:nvPr/>
        </p:nvSpPr>
        <p:spPr>
          <a:xfrm>
            <a:off x="5430417" y="5708169"/>
            <a:ext cx="6279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How do you decide what to value and appreciate about a writer and their work?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E28718-6277-BE01-80DD-0EA9E90D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2" y="609600"/>
            <a:ext cx="9464513" cy="1320800"/>
          </a:xfrm>
        </p:spPr>
        <p:txBody>
          <a:bodyPr/>
          <a:lstStyle/>
          <a:p>
            <a:r>
              <a:rPr lang="en-GB" sz="3200" dirty="0">
                <a:solidFill>
                  <a:srgbClr val="0070C0"/>
                </a:solidFill>
              </a:rPr>
              <a:t>Appreciation of English and American Literature</a:t>
            </a:r>
            <a:br>
              <a:rPr lang="en-GB" sz="3200" dirty="0">
                <a:solidFill>
                  <a:srgbClr val="0070C0"/>
                </a:solidFill>
              </a:rPr>
            </a:br>
            <a:r>
              <a:rPr lang="en-GB" sz="3200" dirty="0">
                <a:solidFill>
                  <a:srgbClr val="0070C0"/>
                </a:solidFill>
              </a:rPr>
              <a:t>Course Reading List: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A8E4F7-355D-6771-0236-20D32734F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1790440"/>
            <a:ext cx="8596312" cy="3881437"/>
          </a:xfrm>
        </p:spPr>
        <p:txBody>
          <a:bodyPr/>
          <a:lstStyle/>
          <a:p>
            <a:r>
              <a:rPr lang="en-GB" i="1" dirty="0"/>
              <a:t>Beowulf – </a:t>
            </a:r>
            <a:r>
              <a:rPr lang="en-GB" dirty="0"/>
              <a:t>by unknown</a:t>
            </a:r>
          </a:p>
          <a:p>
            <a:r>
              <a:rPr lang="en-GB" i="1" dirty="0"/>
              <a:t>Sir Gawain and the Green Knight </a:t>
            </a:r>
            <a:r>
              <a:rPr lang="en-GB" dirty="0"/>
              <a:t>– by unknown</a:t>
            </a:r>
            <a:endParaRPr lang="en-GB" i="1" dirty="0"/>
          </a:p>
          <a:p>
            <a:r>
              <a:rPr lang="en-GB" i="1" dirty="0"/>
              <a:t>The Canterbury Tales – </a:t>
            </a:r>
            <a:r>
              <a:rPr lang="en-GB" dirty="0"/>
              <a:t>by Geoffrey Chaucer</a:t>
            </a:r>
          </a:p>
          <a:p>
            <a:r>
              <a:rPr lang="en-GB" i="1" dirty="0"/>
              <a:t>Paradise Lost </a:t>
            </a:r>
            <a:r>
              <a:rPr lang="en-GB" dirty="0"/>
              <a:t>– by John Milton </a:t>
            </a:r>
          </a:p>
          <a:p>
            <a:r>
              <a:rPr lang="en-GB" i="1" dirty="0"/>
              <a:t>Robinson Crusoe </a:t>
            </a:r>
            <a:r>
              <a:rPr lang="en-GB" dirty="0"/>
              <a:t>– by Daniel Defoe</a:t>
            </a:r>
          </a:p>
          <a:p>
            <a:r>
              <a:rPr lang="en-GB" i="1" dirty="0"/>
              <a:t>The Last of the Mohicans </a:t>
            </a:r>
            <a:r>
              <a:rPr lang="en-GB" dirty="0"/>
              <a:t>– by James Fenimore Cooper</a:t>
            </a:r>
            <a:endParaRPr lang="en-GB" i="1" dirty="0"/>
          </a:p>
          <a:p>
            <a:r>
              <a:rPr lang="en-GB" i="1" dirty="0"/>
              <a:t>Lyrical Ballads (poems) </a:t>
            </a:r>
            <a:r>
              <a:rPr lang="en-GB" dirty="0"/>
              <a:t>– by William Wordsworth and Samuel Taylor Coleridge</a:t>
            </a:r>
          </a:p>
          <a:p>
            <a:r>
              <a:rPr lang="en-GB" i="1" dirty="0"/>
              <a:t>Odes… (poems) </a:t>
            </a:r>
            <a:r>
              <a:rPr lang="en-GB" dirty="0"/>
              <a:t>– by John Keats</a:t>
            </a:r>
          </a:p>
          <a:p>
            <a:r>
              <a:rPr lang="en-GB" i="1" dirty="0"/>
              <a:t>Ivanhoe </a:t>
            </a:r>
            <a:r>
              <a:rPr lang="en-GB" dirty="0"/>
              <a:t>– by Walter Scott</a:t>
            </a:r>
          </a:p>
          <a:p>
            <a:r>
              <a:rPr lang="en-GB" i="1" dirty="0"/>
              <a:t>Pride and Prejudice </a:t>
            </a:r>
            <a:r>
              <a:rPr lang="en-GB" dirty="0"/>
              <a:t>– by Jane Austen</a:t>
            </a:r>
            <a:endParaRPr lang="en-GB" i="1" dirty="0"/>
          </a:p>
          <a:p>
            <a:r>
              <a:rPr lang="en-GB" i="1" dirty="0"/>
              <a:t>The Borough (poems) – </a:t>
            </a:r>
            <a:r>
              <a:rPr lang="en-GB" dirty="0"/>
              <a:t>by George Crabbe</a:t>
            </a:r>
          </a:p>
          <a:p>
            <a:r>
              <a:rPr lang="en-GB" i="1" dirty="0"/>
              <a:t>Little Women – </a:t>
            </a:r>
            <a:r>
              <a:rPr lang="en-GB" dirty="0"/>
              <a:t>Louisa May Alcott</a:t>
            </a:r>
            <a:endParaRPr lang="en-GB" i="1" dirty="0"/>
          </a:p>
          <a:p>
            <a:endParaRPr lang="en-GB" i="1" dirty="0"/>
          </a:p>
          <a:p>
            <a:endParaRPr lang="en-GB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5276B6-662C-B7B4-87CE-4774E25DE553}"/>
              </a:ext>
            </a:extLst>
          </p:cNvPr>
          <p:cNvSpPr txBox="1"/>
          <p:nvPr/>
        </p:nvSpPr>
        <p:spPr>
          <a:xfrm>
            <a:off x="7184571" y="1930400"/>
            <a:ext cx="26032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00B0F0"/>
                </a:solidFill>
              </a:rPr>
              <a:t>Perhaps choose one to read in full during the semester (all on ‘Learning in ZJU’)</a:t>
            </a:r>
          </a:p>
        </p:txBody>
      </p:sp>
    </p:spTree>
    <p:extLst>
      <p:ext uri="{BB962C8B-B14F-4D97-AF65-F5344CB8AC3E}">
        <p14:creationId xmlns:p14="http://schemas.microsoft.com/office/powerpoint/2010/main" val="415663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E28718-6277-BE01-80DD-0EA9E90D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2" y="609600"/>
            <a:ext cx="9464513" cy="1320800"/>
          </a:xfrm>
        </p:spPr>
        <p:txBody>
          <a:bodyPr/>
          <a:lstStyle/>
          <a:p>
            <a:r>
              <a:rPr lang="en-GB" sz="3200" dirty="0">
                <a:solidFill>
                  <a:srgbClr val="0070C0"/>
                </a:solidFill>
              </a:rPr>
              <a:t>Appreciation of English and American Literature</a:t>
            </a:r>
            <a:br>
              <a:rPr lang="en-GB" sz="3200" dirty="0">
                <a:solidFill>
                  <a:srgbClr val="0070C0"/>
                </a:solidFill>
              </a:rPr>
            </a:br>
            <a:r>
              <a:rPr lang="en-GB" sz="3200" dirty="0">
                <a:solidFill>
                  <a:srgbClr val="0070C0"/>
                </a:solidFill>
              </a:rPr>
              <a:t>Course Reading List: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A8E4F7-355D-6771-0236-20D32734F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1824686"/>
            <a:ext cx="8596312" cy="3881437"/>
          </a:xfrm>
        </p:spPr>
        <p:txBody>
          <a:bodyPr/>
          <a:lstStyle/>
          <a:p>
            <a:r>
              <a:rPr lang="en-GB" i="1" dirty="0"/>
              <a:t>The Time Machine </a:t>
            </a:r>
            <a:r>
              <a:rPr lang="en-GB" dirty="0"/>
              <a:t>– by H. G. Wells</a:t>
            </a:r>
          </a:p>
          <a:p>
            <a:r>
              <a:rPr lang="en-GB" i="1" dirty="0"/>
              <a:t>The Waste Land (poem) </a:t>
            </a:r>
            <a:r>
              <a:rPr lang="en-GB" dirty="0"/>
              <a:t>– by T. S. Eliot</a:t>
            </a:r>
          </a:p>
          <a:p>
            <a:r>
              <a:rPr lang="en-GB" i="1" dirty="0"/>
              <a:t>The Great Gatsby </a:t>
            </a:r>
            <a:r>
              <a:rPr lang="en-GB" dirty="0"/>
              <a:t>– by F. Scott Fitzgerald</a:t>
            </a:r>
          </a:p>
          <a:p>
            <a:r>
              <a:rPr lang="en-GB" i="1" dirty="0"/>
              <a:t>Dubliners </a:t>
            </a:r>
            <a:r>
              <a:rPr lang="en-GB" dirty="0"/>
              <a:t>– by James Joyce</a:t>
            </a:r>
            <a:endParaRPr lang="en-GB" i="1" dirty="0"/>
          </a:p>
          <a:p>
            <a:r>
              <a:rPr lang="en-GB" i="1" dirty="0"/>
              <a:t>The Lighthouse </a:t>
            </a:r>
            <a:r>
              <a:rPr lang="en-GB" dirty="0"/>
              <a:t>– by Virginia Woolf</a:t>
            </a:r>
          </a:p>
          <a:p>
            <a:r>
              <a:rPr lang="en-GB" i="1" dirty="0"/>
              <a:t>The Famous Five Series – </a:t>
            </a:r>
            <a:r>
              <a:rPr lang="en-GB" dirty="0"/>
              <a:t>Enid Blyton</a:t>
            </a:r>
          </a:p>
          <a:p>
            <a:r>
              <a:rPr lang="en-GB" i="1" dirty="0"/>
              <a:t>The Call of the Wild </a:t>
            </a:r>
            <a:r>
              <a:rPr lang="en-GB" dirty="0"/>
              <a:t>– Jack London</a:t>
            </a:r>
          </a:p>
          <a:p>
            <a:r>
              <a:rPr lang="en-GB" i="1" dirty="0"/>
              <a:t>Winter Trees (poems) – </a:t>
            </a:r>
            <a:r>
              <a:rPr lang="en-GB" dirty="0"/>
              <a:t>by </a:t>
            </a:r>
            <a:r>
              <a:rPr lang="en-GB" i="1" dirty="0"/>
              <a:t>Sylvia Plath</a:t>
            </a:r>
          </a:p>
          <a:p>
            <a:r>
              <a:rPr lang="en-GB" i="1" dirty="0"/>
              <a:t>There Will Come Soft Rains </a:t>
            </a:r>
            <a:r>
              <a:rPr lang="en-GB" dirty="0"/>
              <a:t>– Ray Bradbury</a:t>
            </a:r>
            <a:endParaRPr lang="en-GB" i="1" dirty="0"/>
          </a:p>
          <a:p>
            <a:r>
              <a:rPr lang="en-GB" i="1" dirty="0"/>
              <a:t>The Spirit Level (poems) – </a:t>
            </a:r>
            <a:r>
              <a:rPr lang="en-GB" dirty="0"/>
              <a:t>by</a:t>
            </a:r>
            <a:r>
              <a:rPr lang="en-GB" i="1" dirty="0"/>
              <a:t> Seamus Heaney</a:t>
            </a:r>
          </a:p>
          <a:p>
            <a:r>
              <a:rPr lang="en-GB" i="1" dirty="0"/>
              <a:t>The </a:t>
            </a:r>
            <a:r>
              <a:rPr lang="en-GB" i="1" dirty="0" err="1"/>
              <a:t>Bourne</a:t>
            </a:r>
            <a:r>
              <a:rPr lang="en-GB" i="1" dirty="0"/>
              <a:t> Identity – </a:t>
            </a:r>
            <a:r>
              <a:rPr lang="en-GB" dirty="0"/>
              <a:t>by Robert Ludlam</a:t>
            </a:r>
          </a:p>
          <a:p>
            <a:r>
              <a:rPr lang="en-GB" i="1" dirty="0"/>
              <a:t>The Cuckoos calling – </a:t>
            </a:r>
            <a:r>
              <a:rPr lang="en-GB" dirty="0"/>
              <a:t>by J. K. Rowling</a:t>
            </a:r>
            <a:endParaRPr lang="en-GB" i="1" dirty="0"/>
          </a:p>
          <a:p>
            <a:pPr marL="0" indent="0">
              <a:buNone/>
            </a:pPr>
            <a:endParaRPr lang="en-GB" i="1" dirty="0"/>
          </a:p>
          <a:p>
            <a:endParaRPr lang="en-GB" i="1" dirty="0"/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24415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92921" y="609600"/>
            <a:ext cx="8596312" cy="1320800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002060"/>
                </a:solidFill>
              </a:rPr>
              <a:t>The Eagle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531845" y="1576874"/>
            <a:ext cx="8957388" cy="4525346"/>
          </a:xfrm>
        </p:spPr>
        <p:txBody>
          <a:bodyPr/>
          <a:lstStyle/>
          <a:p>
            <a:pPr marL="0" indent="0" eaLnBrk="1" hangingPunct="1">
              <a:buFont typeface="Wingdings 3" pitchFamily="18" charset="2"/>
              <a:buNone/>
            </a:pPr>
            <a:endParaRPr lang="en-GB" sz="800" dirty="0">
              <a:solidFill>
                <a:schemeClr val="tx1"/>
              </a:solidFill>
            </a:endParaRP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clasps the crag with crooked </a:t>
            </a:r>
            <a:r>
              <a:rPr lang="en-GB" sz="3000" dirty="0">
                <a:solidFill>
                  <a:srgbClr val="00B0F0"/>
                </a:solidFill>
              </a:rPr>
              <a:t>hands</a:t>
            </a:r>
            <a:r>
              <a:rPr lang="en-GB" sz="3000" dirty="0">
                <a:solidFill>
                  <a:schemeClr val="tx1"/>
                </a:solidFill>
              </a:rPr>
              <a:t>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Close to the sun in lonely </a:t>
            </a:r>
            <a:r>
              <a:rPr lang="en-GB" sz="3000" dirty="0">
                <a:solidFill>
                  <a:srgbClr val="00B0F0"/>
                </a:solidFill>
              </a:rPr>
              <a:t>lands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Ringed with the azure world, he </a:t>
            </a:r>
            <a:r>
              <a:rPr lang="en-GB" sz="3000" dirty="0">
                <a:solidFill>
                  <a:srgbClr val="00B0F0"/>
                </a:solidFill>
              </a:rPr>
              <a:t>stands</a:t>
            </a:r>
            <a:r>
              <a:rPr lang="en-GB" sz="3000" dirty="0">
                <a:solidFill>
                  <a:schemeClr val="tx1"/>
                </a:solidFill>
              </a:rPr>
              <a:t>.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The wrinkled sea beneath him </a:t>
            </a:r>
            <a:r>
              <a:rPr lang="en-GB" sz="3000" dirty="0">
                <a:solidFill>
                  <a:srgbClr val="00B050"/>
                </a:solidFill>
              </a:rPr>
              <a:t>crawls</a:t>
            </a:r>
            <a:r>
              <a:rPr lang="en-GB" sz="3000" dirty="0">
                <a:solidFill>
                  <a:schemeClr val="tx1"/>
                </a:solidFill>
              </a:rPr>
              <a:t>;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He watches from his mountain </a:t>
            </a:r>
            <a:r>
              <a:rPr lang="en-GB" sz="3000" dirty="0">
                <a:solidFill>
                  <a:srgbClr val="00B050"/>
                </a:solidFill>
              </a:rPr>
              <a:t>walls</a:t>
            </a:r>
            <a:r>
              <a:rPr lang="en-GB" sz="3000" dirty="0">
                <a:solidFill>
                  <a:schemeClr val="tx1"/>
                </a:solidFill>
              </a:rPr>
              <a:t>, </a:t>
            </a:r>
          </a:p>
          <a:p>
            <a:pPr marL="0" indent="0" eaLnBrk="1" hangingPunct="1">
              <a:buFont typeface="Wingdings 3" pitchFamily="18" charset="2"/>
              <a:buNone/>
            </a:pPr>
            <a:r>
              <a:rPr lang="en-GB" sz="3000" dirty="0">
                <a:solidFill>
                  <a:schemeClr val="tx1"/>
                </a:solidFill>
              </a:rPr>
              <a:t>	And like a thunderbolt he </a:t>
            </a:r>
            <a:r>
              <a:rPr lang="en-GB" sz="3000" dirty="0">
                <a:solidFill>
                  <a:srgbClr val="00B050"/>
                </a:solidFill>
              </a:rPr>
              <a:t>falls</a:t>
            </a:r>
            <a:r>
              <a:rPr lang="en-GB" sz="3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50EBD-03A9-E5BB-A3FD-74B6DD7208B9}"/>
              </a:ext>
            </a:extLst>
          </p:cNvPr>
          <p:cNvSpPr txBox="1"/>
          <p:nvPr/>
        </p:nvSpPr>
        <p:spPr>
          <a:xfrm>
            <a:off x="8369559" y="1763485"/>
            <a:ext cx="28271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Two stanzas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Each stanza has three lines – called a ‘tercet’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They rhyme in a pattern of AAA BBB</a:t>
            </a:r>
          </a:p>
        </p:txBody>
      </p:sp>
    </p:spTree>
    <p:extLst>
      <p:ext uri="{BB962C8B-B14F-4D97-AF65-F5344CB8AC3E}">
        <p14:creationId xmlns:p14="http://schemas.microsoft.com/office/powerpoint/2010/main" val="276511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0AEA-42CF-2270-F7D5-EB72D9B7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0070C0"/>
                </a:solidFill>
              </a:rPr>
              <a:t>Poetry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D84BE-ECC9-3534-253A-8C7374452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930400"/>
            <a:ext cx="7561261" cy="3881437"/>
          </a:xfrm>
        </p:spPr>
        <p:txBody>
          <a:bodyPr/>
          <a:lstStyle/>
          <a:p>
            <a:r>
              <a:rPr lang="en-GB" sz="2800" dirty="0">
                <a:solidFill>
                  <a:srgbClr val="002060"/>
                </a:solidFill>
              </a:rPr>
              <a:t>Have a go at writing a poem like </a:t>
            </a:r>
            <a:r>
              <a:rPr lang="en-GB" sz="2800" i="1" dirty="0">
                <a:solidFill>
                  <a:srgbClr val="002060"/>
                </a:solidFill>
              </a:rPr>
              <a:t>The Eagle, </a:t>
            </a:r>
            <a:r>
              <a:rPr lang="en-GB" sz="2800" dirty="0">
                <a:solidFill>
                  <a:srgbClr val="002060"/>
                </a:solidFill>
              </a:rPr>
              <a:t>about a bird or animal. </a:t>
            </a:r>
          </a:p>
          <a:p>
            <a:endParaRPr lang="en-GB" sz="10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Attempt to make an AAA BBB rhyme pattern and see if you can even structure 8 syllables per line.</a:t>
            </a:r>
          </a:p>
          <a:p>
            <a:endParaRPr lang="en-GB" dirty="0"/>
          </a:p>
        </p:txBody>
      </p:sp>
      <p:pic>
        <p:nvPicPr>
          <p:cNvPr id="1026" name="Picture 2" descr="Lincoln's Sparrow vs. Song Sparrow - PSU Fall Banding by Alex Lamoreaux ...">
            <a:extLst>
              <a:ext uri="{FF2B5EF4-FFF2-40B4-BE49-F238E27FC236}">
                <a16:creationId xmlns:a16="http://schemas.microsoft.com/office/drawing/2014/main" id="{E57B483C-446B-5E72-F0C1-8721EAFCE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971" y="276354"/>
            <a:ext cx="3786725" cy="253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49A0CD-5F5D-AC71-6336-09C7C76DE6B2}"/>
              </a:ext>
            </a:extLst>
          </p:cNvPr>
          <p:cNvSpPr txBox="1"/>
          <p:nvPr/>
        </p:nvSpPr>
        <p:spPr>
          <a:xfrm>
            <a:off x="9115425" y="2870087"/>
            <a:ext cx="275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Sparrow</a:t>
            </a:r>
          </a:p>
        </p:txBody>
      </p:sp>
      <p:pic>
        <p:nvPicPr>
          <p:cNvPr id="1030" name="Picture 6" descr="Everything you need to know about lions">
            <a:extLst>
              <a:ext uri="{FF2B5EF4-FFF2-40B4-BE49-F238E27FC236}">
                <a16:creationId xmlns:a16="http://schemas.microsoft.com/office/drawing/2014/main" id="{50BECD9C-1477-15DD-127E-17D8A5203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056" y="4249328"/>
            <a:ext cx="3801640" cy="253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0CBA64-0B99-BEBC-CC0B-00BC3D056829}"/>
              </a:ext>
            </a:extLst>
          </p:cNvPr>
          <p:cNvSpPr txBox="1"/>
          <p:nvPr/>
        </p:nvSpPr>
        <p:spPr>
          <a:xfrm>
            <a:off x="9440863" y="3711852"/>
            <a:ext cx="275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Lion</a:t>
            </a:r>
          </a:p>
        </p:txBody>
      </p:sp>
      <p:pic>
        <p:nvPicPr>
          <p:cNvPr id="1032" name="Picture 8" descr="Albatrosses – On Wildlife">
            <a:extLst>
              <a:ext uri="{FF2B5EF4-FFF2-40B4-BE49-F238E27FC236}">
                <a16:creationId xmlns:a16="http://schemas.microsoft.com/office/drawing/2014/main" id="{3D441835-1EF1-7110-C4CA-48DE4D8D3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180" y="4249328"/>
            <a:ext cx="3801640" cy="253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47A4D-255B-17AC-3C50-46F8CBBFAA0E}"/>
              </a:ext>
            </a:extLst>
          </p:cNvPr>
          <p:cNvSpPr txBox="1"/>
          <p:nvPr/>
        </p:nvSpPr>
        <p:spPr>
          <a:xfrm>
            <a:off x="1943310" y="5652571"/>
            <a:ext cx="275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Albatross</a:t>
            </a:r>
          </a:p>
        </p:txBody>
      </p:sp>
    </p:spTree>
    <p:extLst>
      <p:ext uri="{BB962C8B-B14F-4D97-AF65-F5344CB8AC3E}">
        <p14:creationId xmlns:p14="http://schemas.microsoft.com/office/powerpoint/2010/main" val="196466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 sz="4400">
                <a:solidFill>
                  <a:srgbClr val="002060"/>
                </a:solidFill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2800" dirty="0"/>
              <a:t>Read short excerpts from </a:t>
            </a:r>
            <a:r>
              <a:rPr lang="en-GB" sz="2800" i="1" dirty="0"/>
              <a:t>Beowulf </a:t>
            </a:r>
            <a:r>
              <a:rPr lang="en-GB" sz="2800" dirty="0"/>
              <a:t>and from Geoffrey Chaucer’s </a:t>
            </a:r>
            <a:r>
              <a:rPr lang="en-GB" sz="2800" i="1" dirty="0"/>
              <a:t>The Canterbury Tales, </a:t>
            </a:r>
            <a:endParaRPr lang="en-GB" sz="2800" dirty="0"/>
          </a:p>
          <a:p>
            <a:pPr eaLnBrk="1" hangingPunct="1">
              <a:defRPr/>
            </a:pPr>
            <a:endParaRPr lang="en-GB" sz="2800" dirty="0"/>
          </a:p>
          <a:p>
            <a:pPr eaLnBrk="1" hangingPunct="1">
              <a:defRPr/>
            </a:pPr>
            <a:r>
              <a:rPr lang="en-GB" sz="2800" dirty="0"/>
              <a:t>There is also extra reading, if you are interested: an essay on </a:t>
            </a:r>
            <a:r>
              <a:rPr lang="en-GB" sz="2800" i="1" dirty="0"/>
              <a:t>Beowulf</a:t>
            </a:r>
            <a:r>
              <a:rPr lang="en-GB" sz="2800" dirty="0"/>
              <a:t> by J. R. R. Tolkien. (</a:t>
            </a:r>
            <a:r>
              <a:rPr lang="en-GB" sz="2800"/>
              <a:t>on Learning </a:t>
            </a:r>
            <a:r>
              <a:rPr lang="en-GB" sz="2800" dirty="0"/>
              <a:t>in ZJU)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2208</TotalTime>
  <Words>3547</Words>
  <Application>Microsoft Office PowerPoint</Application>
  <PresentationFormat>Widescreen</PresentationFormat>
  <Paragraphs>405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ＭＳ Ｐゴシック</vt:lpstr>
      <vt:lpstr>Arial</vt:lpstr>
      <vt:lpstr>Calibri</vt:lpstr>
      <vt:lpstr>Times New Roman</vt:lpstr>
      <vt:lpstr>Trebuchet MS</vt:lpstr>
      <vt:lpstr>Wingdings 3</vt:lpstr>
      <vt:lpstr>Facet</vt:lpstr>
      <vt:lpstr>1_Facet</vt:lpstr>
      <vt:lpstr>   Welcome to    Appreciation of English and American Literature</vt:lpstr>
      <vt:lpstr>Meet your classmates</vt:lpstr>
      <vt:lpstr>English Literature</vt:lpstr>
      <vt:lpstr>English Literature</vt:lpstr>
      <vt:lpstr>The Syllabus</vt:lpstr>
      <vt:lpstr>Course Aims:</vt:lpstr>
      <vt:lpstr>Course Aims:</vt:lpstr>
      <vt:lpstr>Grading</vt:lpstr>
      <vt:lpstr>Grading</vt:lpstr>
      <vt:lpstr>Attendance 5%</vt:lpstr>
      <vt:lpstr>Participation – 15%</vt:lpstr>
      <vt:lpstr>Writing Portfolio – 20%</vt:lpstr>
      <vt:lpstr>Final Literature Essay – 60%</vt:lpstr>
      <vt:lpstr>A word about   PLAGIARISM !!!!!</vt:lpstr>
      <vt:lpstr>What is plagiarism?</vt:lpstr>
      <vt:lpstr>Be careful not to plagiarise</vt:lpstr>
      <vt:lpstr>Be careful not to plagiarise</vt:lpstr>
      <vt:lpstr>Be careful not to plagiarise</vt:lpstr>
      <vt:lpstr>Contacting Me</vt:lpstr>
      <vt:lpstr>The Meaning and Interpretation of Literature</vt:lpstr>
      <vt:lpstr>The Appreciation of Literature</vt:lpstr>
      <vt:lpstr>The Eagle</vt:lpstr>
      <vt:lpstr>The Eagle</vt:lpstr>
      <vt:lpstr>The Eagle</vt:lpstr>
      <vt:lpstr>The Eagle</vt:lpstr>
      <vt:lpstr>The Eagle</vt:lpstr>
      <vt:lpstr>The Eagle</vt:lpstr>
      <vt:lpstr>The Eagle</vt:lpstr>
      <vt:lpstr>The Eagle</vt:lpstr>
      <vt:lpstr>The Eagle</vt:lpstr>
      <vt:lpstr>Does it matter who wrote The Eagle, when they wrote it, or why they wrote it?</vt:lpstr>
      <vt:lpstr>The Eagle </vt:lpstr>
      <vt:lpstr>The Eagle </vt:lpstr>
      <vt:lpstr>Excerpt from the play ‘De Montfort’ (De Montfort is becoming lost in hate – worsened by believing lies – and blaming it all on Rezenvelt.)</vt:lpstr>
      <vt:lpstr>Excerpt from the play ‘De Montfort’ (Rezenvelt walks through a wood, blind to De Montfort’s hate, and unknowing that De Montfort waits to murder him.)</vt:lpstr>
      <vt:lpstr>Excerpt from the play ‘De Montfort’ (Rezenvelt walks through a wood, blind to De Montfort’s hate, and unknowing that De Montfort waits to murder him.)</vt:lpstr>
      <vt:lpstr>Excerpt from the play ‘De Montfort’ (Rezenvelt walks through a wood, blind to De Montfort’s hate, and unknowing that De Montfort waits to murder him.)</vt:lpstr>
      <vt:lpstr>‘De Montfort’ by Joanna Baillie</vt:lpstr>
      <vt:lpstr>To consider a contrary example: Pride and Prejudice (1813) and Emma (1815)  by Jane Austen</vt:lpstr>
      <vt:lpstr>To consider a contrary example: Pride and Prejudice (1813) and Emma (1815)  by Jane Austen</vt:lpstr>
      <vt:lpstr>To consider a contrary example: Pride and Prejudice (1813) and Emma (1815)  by Jane Austen</vt:lpstr>
      <vt:lpstr>PowerPoint Presentation</vt:lpstr>
      <vt:lpstr>Appreciation of English and American Literature Course Reading List:</vt:lpstr>
      <vt:lpstr>Appreciation of English and American Literature Course Reading List:</vt:lpstr>
      <vt:lpstr>The Eagle</vt:lpstr>
      <vt:lpstr>Poetry Writing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 Graham</dc:creator>
  <cp:lastModifiedBy>Dominic Graham</cp:lastModifiedBy>
  <cp:revision>43</cp:revision>
  <dcterms:created xsi:type="dcterms:W3CDTF">2018-01-31T06:14:43Z</dcterms:created>
  <dcterms:modified xsi:type="dcterms:W3CDTF">2025-09-17T09:19:22Z</dcterms:modified>
</cp:coreProperties>
</file>