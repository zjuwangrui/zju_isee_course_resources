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8"/>
  </p:notesMasterIdLst>
  <p:sldIdLst>
    <p:sldId id="256" r:id="rId2"/>
    <p:sldId id="346" r:id="rId3"/>
    <p:sldId id="347" r:id="rId4"/>
    <p:sldId id="367" r:id="rId5"/>
    <p:sldId id="304" r:id="rId6"/>
    <p:sldId id="318" r:id="rId7"/>
    <p:sldId id="319" r:id="rId8"/>
    <p:sldId id="320" r:id="rId9"/>
    <p:sldId id="321" r:id="rId10"/>
    <p:sldId id="326" r:id="rId11"/>
    <p:sldId id="329" r:id="rId12"/>
    <p:sldId id="322" r:id="rId13"/>
    <p:sldId id="344" r:id="rId14"/>
    <p:sldId id="345" r:id="rId15"/>
    <p:sldId id="343" r:id="rId16"/>
    <p:sldId id="348" r:id="rId17"/>
    <p:sldId id="331" r:id="rId18"/>
    <p:sldId id="332" r:id="rId19"/>
    <p:sldId id="333" r:id="rId20"/>
    <p:sldId id="358" r:id="rId21"/>
    <p:sldId id="359" r:id="rId22"/>
    <p:sldId id="351" r:id="rId23"/>
    <p:sldId id="352" r:id="rId24"/>
    <p:sldId id="357" r:id="rId25"/>
    <p:sldId id="360" r:id="rId26"/>
    <p:sldId id="361" r:id="rId27"/>
    <p:sldId id="368" r:id="rId28"/>
    <p:sldId id="369" r:id="rId29"/>
    <p:sldId id="370" r:id="rId30"/>
    <p:sldId id="371" r:id="rId31"/>
    <p:sldId id="372" r:id="rId32"/>
    <p:sldId id="374" r:id="rId33"/>
    <p:sldId id="375" r:id="rId34"/>
    <p:sldId id="377" r:id="rId35"/>
    <p:sldId id="355" r:id="rId36"/>
    <p:sldId id="349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c Graham" userId="80d46ba77b7de579" providerId="LiveId" clId="{1AE7EF3E-765B-4830-9F41-D7DA456DBC61}"/>
    <pc:docChg chg="undo custSel modSld">
      <pc:chgData name="Dominic Graham" userId="80d46ba77b7de579" providerId="LiveId" clId="{1AE7EF3E-765B-4830-9F41-D7DA456DBC61}" dt="2025-11-02T13:03:13.890" v="24" actId="34135"/>
      <pc:docMkLst>
        <pc:docMk/>
      </pc:docMkLst>
      <pc:sldChg chg="modSp mod">
        <pc:chgData name="Dominic Graham" userId="80d46ba77b7de579" providerId="LiveId" clId="{1AE7EF3E-765B-4830-9F41-D7DA456DBC61}" dt="2025-11-02T12:54:04.319" v="1" actId="20577"/>
        <pc:sldMkLst>
          <pc:docMk/>
          <pc:sldMk cId="1912786321" sldId="256"/>
        </pc:sldMkLst>
        <pc:spChg chg="mod">
          <ac:chgData name="Dominic Graham" userId="80d46ba77b7de579" providerId="LiveId" clId="{1AE7EF3E-765B-4830-9F41-D7DA456DBC61}" dt="2025-11-02T12:54:04.319" v="1" actId="20577"/>
          <ac:spMkLst>
            <pc:docMk/>
            <pc:sldMk cId="1912786321" sldId="256"/>
            <ac:spMk id="2" creationId="{F0CA9240-8140-0232-93C6-D64466BAE425}"/>
          </ac:spMkLst>
        </pc:spChg>
      </pc:sldChg>
      <pc:sldChg chg="modSp mod">
        <pc:chgData name="Dominic Graham" userId="80d46ba77b7de579" providerId="LiveId" clId="{1AE7EF3E-765B-4830-9F41-D7DA456DBC61}" dt="2025-11-02T13:01:51.222" v="12" actId="34135"/>
        <pc:sldMkLst>
          <pc:docMk/>
          <pc:sldMk cId="353602562" sldId="304"/>
        </pc:sldMkLst>
        <pc:spChg chg="mod">
          <ac:chgData name="Dominic Graham" userId="80d46ba77b7de579" providerId="LiveId" clId="{1AE7EF3E-765B-4830-9F41-D7DA456DBC61}" dt="2025-11-02T13:01:51.222" v="12" actId="34135"/>
          <ac:spMkLst>
            <pc:docMk/>
            <pc:sldMk cId="353602562" sldId="304"/>
            <ac:spMk id="24579" creationId="{ADFD7983-EF9E-42FE-A725-0DC04F8F5444}"/>
          </ac:spMkLst>
        </pc:spChg>
      </pc:sldChg>
      <pc:sldChg chg="modSp mod">
        <pc:chgData name="Dominic Graham" userId="80d46ba77b7de579" providerId="LiveId" clId="{1AE7EF3E-765B-4830-9F41-D7DA456DBC61}" dt="2025-11-02T13:00:39.077" v="5" actId="34135"/>
        <pc:sldMkLst>
          <pc:docMk/>
          <pc:sldMk cId="4162906078" sldId="333"/>
        </pc:sldMkLst>
        <pc:spChg chg="mod">
          <ac:chgData name="Dominic Graham" userId="80d46ba77b7de579" providerId="LiveId" clId="{1AE7EF3E-765B-4830-9F41-D7DA456DBC61}" dt="2025-11-02T13:00:39.077" v="5" actId="34135"/>
          <ac:spMkLst>
            <pc:docMk/>
            <pc:sldMk cId="4162906078" sldId="333"/>
            <ac:spMk id="4" creationId="{00000000-0000-0000-0000-000000000000}"/>
          </ac:spMkLst>
        </pc:spChg>
      </pc:sldChg>
      <pc:sldChg chg="modSp mod">
        <pc:chgData name="Dominic Graham" userId="80d46ba77b7de579" providerId="LiveId" clId="{1AE7EF3E-765B-4830-9F41-D7DA456DBC61}" dt="2025-11-02T13:01:21.905" v="10" actId="1076"/>
        <pc:sldMkLst>
          <pc:docMk/>
          <pc:sldMk cId="974305061" sldId="343"/>
        </pc:sldMkLst>
        <pc:spChg chg="mod">
          <ac:chgData name="Dominic Graham" userId="80d46ba77b7de579" providerId="LiveId" clId="{1AE7EF3E-765B-4830-9F41-D7DA456DBC61}" dt="2025-11-02T13:01:21.905" v="10" actId="1076"/>
          <ac:spMkLst>
            <pc:docMk/>
            <pc:sldMk cId="974305061" sldId="343"/>
            <ac:spMk id="3" creationId="{FC536595-660B-76B1-3BF1-EFD71E6419A0}"/>
          </ac:spMkLst>
        </pc:spChg>
      </pc:sldChg>
      <pc:sldChg chg="modSp mod">
        <pc:chgData name="Dominic Graham" userId="80d46ba77b7de579" providerId="LiveId" clId="{1AE7EF3E-765B-4830-9F41-D7DA456DBC61}" dt="2025-11-02T13:02:01.408" v="14" actId="34135"/>
        <pc:sldMkLst>
          <pc:docMk/>
          <pc:sldMk cId="552217710" sldId="346"/>
        </pc:sldMkLst>
        <pc:spChg chg="mod">
          <ac:chgData name="Dominic Graham" userId="80d46ba77b7de579" providerId="LiveId" clId="{1AE7EF3E-765B-4830-9F41-D7DA456DBC61}" dt="2025-11-02T13:02:01.408" v="14" actId="34135"/>
          <ac:spMkLst>
            <pc:docMk/>
            <pc:sldMk cId="552217710" sldId="346"/>
            <ac:spMk id="3" creationId="{CD6A8E6C-5087-620C-D7D1-A554E82ED3D4}"/>
          </ac:spMkLst>
        </pc:spChg>
      </pc:sldChg>
      <pc:sldChg chg="modSp mod">
        <pc:chgData name="Dominic Graham" userId="80d46ba77b7de579" providerId="LiveId" clId="{1AE7EF3E-765B-4830-9F41-D7DA456DBC61}" dt="2025-11-02T13:01:39.481" v="11" actId="34135"/>
        <pc:sldMkLst>
          <pc:docMk/>
          <pc:sldMk cId="2325829448" sldId="348"/>
        </pc:sldMkLst>
        <pc:spChg chg="mod">
          <ac:chgData name="Dominic Graham" userId="80d46ba77b7de579" providerId="LiveId" clId="{1AE7EF3E-765B-4830-9F41-D7DA456DBC61}" dt="2025-11-02T13:01:01.980" v="8" actId="34135"/>
          <ac:spMkLst>
            <pc:docMk/>
            <pc:sldMk cId="2325829448" sldId="348"/>
            <ac:spMk id="3" creationId="{FC536595-660B-76B1-3BF1-EFD71E6419A0}"/>
          </ac:spMkLst>
        </pc:spChg>
        <pc:spChg chg="mod">
          <ac:chgData name="Dominic Graham" userId="80d46ba77b7de579" providerId="LiveId" clId="{1AE7EF3E-765B-4830-9F41-D7DA456DBC61}" dt="2025-11-02T13:00:56.970" v="7" actId="34135"/>
          <ac:spMkLst>
            <pc:docMk/>
            <pc:sldMk cId="2325829448" sldId="348"/>
            <ac:spMk id="4" creationId="{C93C8FE8-884C-438D-8C18-6902FA543CAE}"/>
          </ac:spMkLst>
        </pc:spChg>
        <pc:spChg chg="mod">
          <ac:chgData name="Dominic Graham" userId="80d46ba77b7de579" providerId="LiveId" clId="{1AE7EF3E-765B-4830-9F41-D7DA456DBC61}" dt="2025-11-02T13:00:51.126" v="6" actId="34135"/>
          <ac:spMkLst>
            <pc:docMk/>
            <pc:sldMk cId="2325829448" sldId="348"/>
            <ac:spMk id="5" creationId="{5FA6E09D-CF87-C3B7-8483-65A3878F9070}"/>
          </ac:spMkLst>
        </pc:spChg>
        <pc:spChg chg="mod">
          <ac:chgData name="Dominic Graham" userId="80d46ba77b7de579" providerId="LiveId" clId="{1AE7EF3E-765B-4830-9F41-D7DA456DBC61}" dt="2025-11-02T13:01:39.481" v="11" actId="34135"/>
          <ac:spMkLst>
            <pc:docMk/>
            <pc:sldMk cId="2325829448" sldId="348"/>
            <ac:spMk id="6" creationId="{E748CDA5-1C45-7D6B-E441-48F8D9DCCED9}"/>
          </ac:spMkLst>
        </pc:spChg>
      </pc:sldChg>
      <pc:sldChg chg="modSp mod">
        <pc:chgData name="Dominic Graham" userId="80d46ba77b7de579" providerId="LiveId" clId="{1AE7EF3E-765B-4830-9F41-D7DA456DBC61}" dt="2025-11-02T13:02:13.093" v="15" actId="34135"/>
        <pc:sldMkLst>
          <pc:docMk/>
          <pc:sldMk cId="3662133628" sldId="357"/>
        </pc:sldMkLst>
        <pc:spChg chg="mod">
          <ac:chgData name="Dominic Graham" userId="80d46ba77b7de579" providerId="LiveId" clId="{1AE7EF3E-765B-4830-9F41-D7DA456DBC61}" dt="2025-11-02T13:02:13.093" v="15" actId="34135"/>
          <ac:spMkLst>
            <pc:docMk/>
            <pc:sldMk cId="3662133628" sldId="357"/>
            <ac:spMk id="3" creationId="{D54CDD5F-ABF2-44E0-AC7F-4CCEE38F238A}"/>
          </ac:spMkLst>
        </pc:spChg>
      </pc:sldChg>
      <pc:sldChg chg="modSp mod">
        <pc:chgData name="Dominic Graham" userId="80d46ba77b7de579" providerId="LiveId" clId="{1AE7EF3E-765B-4830-9F41-D7DA456DBC61}" dt="2025-11-02T13:00:34.736" v="4" actId="34135"/>
        <pc:sldMkLst>
          <pc:docMk/>
          <pc:sldMk cId="721946480" sldId="358"/>
        </pc:sldMkLst>
        <pc:spChg chg="mod">
          <ac:chgData name="Dominic Graham" userId="80d46ba77b7de579" providerId="LiveId" clId="{1AE7EF3E-765B-4830-9F41-D7DA456DBC61}" dt="2025-11-02T13:00:34.736" v="4" actId="34135"/>
          <ac:spMkLst>
            <pc:docMk/>
            <pc:sldMk cId="721946480" sldId="358"/>
            <ac:spMk id="3" creationId="{6FB2C68D-AB5C-B3C3-A1F8-45821CE77782}"/>
          </ac:spMkLst>
        </pc:spChg>
      </pc:sldChg>
      <pc:sldChg chg="modSp mod">
        <pc:chgData name="Dominic Graham" userId="80d46ba77b7de579" providerId="LiveId" clId="{1AE7EF3E-765B-4830-9F41-D7DA456DBC61}" dt="2025-11-02T12:59:29.720" v="3" actId="34135"/>
        <pc:sldMkLst>
          <pc:docMk/>
          <pc:sldMk cId="1782551949" sldId="360"/>
        </pc:sldMkLst>
        <pc:spChg chg="mod">
          <ac:chgData name="Dominic Graham" userId="80d46ba77b7de579" providerId="LiveId" clId="{1AE7EF3E-765B-4830-9F41-D7DA456DBC61}" dt="2025-11-02T12:59:29.720" v="3" actId="34135"/>
          <ac:spMkLst>
            <pc:docMk/>
            <pc:sldMk cId="1782551949" sldId="360"/>
            <ac:spMk id="3" creationId="{204030B3-6019-BAEC-CA15-227F99570BC2}"/>
          </ac:spMkLst>
        </pc:spChg>
      </pc:sldChg>
      <pc:sldChg chg="modSp mod">
        <pc:chgData name="Dominic Graham" userId="80d46ba77b7de579" providerId="LiveId" clId="{1AE7EF3E-765B-4830-9F41-D7DA456DBC61}" dt="2025-11-02T12:59:09.690" v="2" actId="34135"/>
        <pc:sldMkLst>
          <pc:docMk/>
          <pc:sldMk cId="44074394" sldId="361"/>
        </pc:sldMkLst>
        <pc:spChg chg="mod">
          <ac:chgData name="Dominic Graham" userId="80d46ba77b7de579" providerId="LiveId" clId="{1AE7EF3E-765B-4830-9F41-D7DA456DBC61}" dt="2025-11-02T12:59:09.690" v="2" actId="34135"/>
          <ac:spMkLst>
            <pc:docMk/>
            <pc:sldMk cId="44074394" sldId="361"/>
            <ac:spMk id="3" creationId="{204030B3-6019-BAEC-CA15-227F99570BC2}"/>
          </ac:spMkLst>
        </pc:spChg>
      </pc:sldChg>
      <pc:sldChg chg="modSp mod">
        <pc:chgData name="Dominic Graham" userId="80d46ba77b7de579" providerId="LiveId" clId="{1AE7EF3E-765B-4830-9F41-D7DA456DBC61}" dt="2025-11-02T13:01:56.618" v="13" actId="34135"/>
        <pc:sldMkLst>
          <pc:docMk/>
          <pc:sldMk cId="4262544395" sldId="367"/>
        </pc:sldMkLst>
        <pc:spChg chg="mod">
          <ac:chgData name="Dominic Graham" userId="80d46ba77b7de579" providerId="LiveId" clId="{1AE7EF3E-765B-4830-9F41-D7DA456DBC61}" dt="2025-11-02T13:01:56.618" v="13" actId="34135"/>
          <ac:spMkLst>
            <pc:docMk/>
            <pc:sldMk cId="4262544395" sldId="367"/>
            <ac:spMk id="3" creationId="{017EED09-FF36-723F-C54C-263D298345F0}"/>
          </ac:spMkLst>
        </pc:spChg>
      </pc:sldChg>
      <pc:sldChg chg="modSp mod">
        <pc:chgData name="Dominic Graham" userId="80d46ba77b7de579" providerId="LiveId" clId="{1AE7EF3E-765B-4830-9F41-D7DA456DBC61}" dt="2025-11-02T13:02:28.561" v="16" actId="34135"/>
        <pc:sldMkLst>
          <pc:docMk/>
          <pc:sldMk cId="4219888256" sldId="368"/>
        </pc:sldMkLst>
        <pc:spChg chg="mod">
          <ac:chgData name="Dominic Graham" userId="80d46ba77b7de579" providerId="LiveId" clId="{1AE7EF3E-765B-4830-9F41-D7DA456DBC61}" dt="2025-11-02T13:02:28.561" v="16" actId="34135"/>
          <ac:spMkLst>
            <pc:docMk/>
            <pc:sldMk cId="4219888256" sldId="368"/>
            <ac:spMk id="3" creationId="{038897E4-80B9-7203-9EC8-E2E2DF28AC82}"/>
          </ac:spMkLst>
        </pc:spChg>
      </pc:sldChg>
      <pc:sldChg chg="modSp mod">
        <pc:chgData name="Dominic Graham" userId="80d46ba77b7de579" providerId="LiveId" clId="{1AE7EF3E-765B-4830-9F41-D7DA456DBC61}" dt="2025-11-02T13:02:49.086" v="18" actId="34135"/>
        <pc:sldMkLst>
          <pc:docMk/>
          <pc:sldMk cId="3319816116" sldId="372"/>
        </pc:sldMkLst>
        <pc:spChg chg="mod">
          <ac:chgData name="Dominic Graham" userId="80d46ba77b7de579" providerId="LiveId" clId="{1AE7EF3E-765B-4830-9F41-D7DA456DBC61}" dt="2025-11-02T13:02:46.539" v="17" actId="34135"/>
          <ac:spMkLst>
            <pc:docMk/>
            <pc:sldMk cId="3319816116" sldId="372"/>
            <ac:spMk id="3" creationId="{321375D4-35B4-3B53-2213-4E121C9ABB2C}"/>
          </ac:spMkLst>
        </pc:spChg>
        <pc:picChg chg="mod">
          <ac:chgData name="Dominic Graham" userId="80d46ba77b7de579" providerId="LiveId" clId="{1AE7EF3E-765B-4830-9F41-D7DA456DBC61}" dt="2025-11-02T13:02:49.086" v="18" actId="34135"/>
          <ac:picMkLst>
            <pc:docMk/>
            <pc:sldMk cId="3319816116" sldId="372"/>
            <ac:picMk id="4098" creationId="{4D14C364-2303-1F14-8B70-7A558078C2F8}"/>
          </ac:picMkLst>
        </pc:picChg>
      </pc:sldChg>
      <pc:sldChg chg="modSp mod">
        <pc:chgData name="Dominic Graham" userId="80d46ba77b7de579" providerId="LiveId" clId="{1AE7EF3E-765B-4830-9F41-D7DA456DBC61}" dt="2025-11-02T13:02:57.748" v="20" actId="34135"/>
        <pc:sldMkLst>
          <pc:docMk/>
          <pc:sldMk cId="3547584306" sldId="374"/>
        </pc:sldMkLst>
        <pc:spChg chg="mod">
          <ac:chgData name="Dominic Graham" userId="80d46ba77b7de579" providerId="LiveId" clId="{1AE7EF3E-765B-4830-9F41-D7DA456DBC61}" dt="2025-11-02T13:02:57.748" v="20" actId="34135"/>
          <ac:spMkLst>
            <pc:docMk/>
            <pc:sldMk cId="3547584306" sldId="374"/>
            <ac:spMk id="4" creationId="{E5976392-9427-3F5D-08D5-EE7436D8C8DC}"/>
          </ac:spMkLst>
        </pc:spChg>
        <pc:spChg chg="mod">
          <ac:chgData name="Dominic Graham" userId="80d46ba77b7de579" providerId="LiveId" clId="{1AE7EF3E-765B-4830-9F41-D7DA456DBC61}" dt="2025-11-02T13:02:55.639" v="19" actId="34135"/>
          <ac:spMkLst>
            <pc:docMk/>
            <pc:sldMk cId="3547584306" sldId="374"/>
            <ac:spMk id="5" creationId="{AE931FC8-E1B8-E4DB-6913-21A22F009FD4}"/>
          </ac:spMkLst>
        </pc:spChg>
      </pc:sldChg>
      <pc:sldChg chg="modSp mod">
        <pc:chgData name="Dominic Graham" userId="80d46ba77b7de579" providerId="LiveId" clId="{1AE7EF3E-765B-4830-9F41-D7DA456DBC61}" dt="2025-11-02T13:03:06.482" v="22" actId="34135"/>
        <pc:sldMkLst>
          <pc:docMk/>
          <pc:sldMk cId="4187291873" sldId="375"/>
        </pc:sldMkLst>
        <pc:spChg chg="mod">
          <ac:chgData name="Dominic Graham" userId="80d46ba77b7de579" providerId="LiveId" clId="{1AE7EF3E-765B-4830-9F41-D7DA456DBC61}" dt="2025-11-02T13:03:04.429" v="21" actId="34135"/>
          <ac:spMkLst>
            <pc:docMk/>
            <pc:sldMk cId="4187291873" sldId="375"/>
            <ac:spMk id="4" creationId="{266792D4-ADFB-1A2C-FEC2-C4B6EAA04530}"/>
          </ac:spMkLst>
        </pc:spChg>
        <pc:spChg chg="mod">
          <ac:chgData name="Dominic Graham" userId="80d46ba77b7de579" providerId="LiveId" clId="{1AE7EF3E-765B-4830-9F41-D7DA456DBC61}" dt="2025-11-02T13:03:06.482" v="22" actId="34135"/>
          <ac:spMkLst>
            <pc:docMk/>
            <pc:sldMk cId="4187291873" sldId="375"/>
            <ac:spMk id="5" creationId="{E6D64A69-D57B-2DC3-A911-34D6F4CFBB0B}"/>
          </ac:spMkLst>
        </pc:spChg>
      </pc:sldChg>
      <pc:sldChg chg="modSp mod">
        <pc:chgData name="Dominic Graham" userId="80d46ba77b7de579" providerId="LiveId" clId="{1AE7EF3E-765B-4830-9F41-D7DA456DBC61}" dt="2025-11-02T13:03:13.890" v="24" actId="34135"/>
        <pc:sldMkLst>
          <pc:docMk/>
          <pc:sldMk cId="2144397898" sldId="377"/>
        </pc:sldMkLst>
        <pc:spChg chg="mod">
          <ac:chgData name="Dominic Graham" userId="80d46ba77b7de579" providerId="LiveId" clId="{1AE7EF3E-765B-4830-9F41-D7DA456DBC61}" dt="2025-11-02T13:03:11.657" v="23" actId="34135"/>
          <ac:spMkLst>
            <pc:docMk/>
            <pc:sldMk cId="2144397898" sldId="377"/>
            <ac:spMk id="3" creationId="{EE94C4D4-4E44-0E0E-DCC6-63102177C2CE}"/>
          </ac:spMkLst>
        </pc:spChg>
        <pc:spChg chg="mod">
          <ac:chgData name="Dominic Graham" userId="80d46ba77b7de579" providerId="LiveId" clId="{1AE7EF3E-765B-4830-9F41-D7DA456DBC61}" dt="2025-11-02T13:03:13.890" v="24" actId="34135"/>
          <ac:spMkLst>
            <pc:docMk/>
            <pc:sldMk cId="2144397898" sldId="377"/>
            <ac:spMk id="4" creationId="{D9C1A88E-E24C-B8E5-6D34-D87D31772B8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1EC4F8-F28F-429E-B389-1A200EE5B187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D8A699-A6DD-441B-8597-7BDA2FCFE6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0239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8A699-A6DD-441B-8597-7BDA2FCFE6D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811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D08E18D-13D0-44FD-99D6-9AA64E4010BB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58B420A-44A0-43A0-BAF9-91D0EF22C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5729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E18D-13D0-44FD-99D6-9AA64E4010BB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158B420A-44A0-43A0-BAF9-91D0EF22C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6871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D08E18D-13D0-44FD-99D6-9AA64E4010BB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58B420A-44A0-43A0-BAF9-91D0EF22C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375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E18D-13D0-44FD-99D6-9AA64E4010BB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B420A-44A0-43A0-BAF9-91D0EF22C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1681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E18D-13D0-44FD-99D6-9AA64E4010BB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B420A-44A0-43A0-BAF9-91D0EF22C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3647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E18D-13D0-44FD-99D6-9AA64E4010BB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B420A-44A0-43A0-BAF9-91D0EF22C832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993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E18D-13D0-44FD-99D6-9AA64E4010BB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B420A-44A0-43A0-BAF9-91D0EF22C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877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D08E18D-13D0-44FD-99D6-9AA64E4010BB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58B420A-44A0-43A0-BAF9-91D0EF22C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6468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E18D-13D0-44FD-99D6-9AA64E4010BB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B420A-44A0-43A0-BAF9-91D0EF22C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0027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E18D-13D0-44FD-99D6-9AA64E4010BB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B420A-44A0-43A0-BAF9-91D0EF22C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4238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D08E18D-13D0-44FD-99D6-9AA64E4010BB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58B420A-44A0-43A0-BAF9-91D0EF22C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581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D08E18D-13D0-44FD-99D6-9AA64E4010BB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58B420A-44A0-43A0-BAF9-91D0EF22C832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8651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A9240-8140-0232-93C6-D64466BAE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732100"/>
          </a:xfrm>
        </p:spPr>
        <p:txBody>
          <a:bodyPr>
            <a:normAutofit fontScale="90000"/>
          </a:bodyPr>
          <a:lstStyle/>
          <a:p>
            <a:r>
              <a:rPr lang="en-GB" dirty="0"/>
              <a:t>Appreciation of English and American Literature</a:t>
            </a:r>
            <a:br>
              <a:rPr lang="en-GB" dirty="0"/>
            </a:br>
            <a:br>
              <a:rPr lang="en-GB" sz="1700" dirty="0"/>
            </a:br>
            <a:r>
              <a:rPr lang="en-GB" dirty="0"/>
              <a:t>Week 8:  19</a:t>
            </a:r>
            <a:r>
              <a:rPr lang="en-GB" baseline="30000" dirty="0"/>
              <a:t>th</a:t>
            </a:r>
            <a:r>
              <a:rPr lang="en-GB" dirty="0"/>
              <a:t> Century Poetry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D2083-E783-10BC-94E9-516696320D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3204571"/>
            <a:ext cx="10993546" cy="2496433"/>
          </a:xfrm>
        </p:spPr>
        <p:txBody>
          <a:bodyPr>
            <a:normAutofit/>
          </a:bodyPr>
          <a:lstStyle/>
          <a:p>
            <a:r>
              <a:rPr lang="en-GB" sz="3200" i="1" cap="none" dirty="0">
                <a:solidFill>
                  <a:schemeClr val="accent3"/>
                </a:solidFill>
              </a:rPr>
              <a:t>I Wandered Lonely as a Cloud – </a:t>
            </a:r>
            <a:r>
              <a:rPr lang="en-GB" sz="3200" cap="none" dirty="0">
                <a:solidFill>
                  <a:schemeClr val="accent3"/>
                </a:solidFill>
              </a:rPr>
              <a:t>William Wordsworth</a:t>
            </a:r>
            <a:endParaRPr lang="en-GB" sz="3200" i="1" cap="none" dirty="0">
              <a:solidFill>
                <a:schemeClr val="accent3"/>
              </a:solidFill>
            </a:endParaRPr>
          </a:p>
          <a:p>
            <a:r>
              <a:rPr lang="en-GB" sz="3200" i="1" cap="none" dirty="0">
                <a:solidFill>
                  <a:schemeClr val="accent3"/>
                </a:solidFill>
              </a:rPr>
              <a:t>Ode on a Grecian Urn – </a:t>
            </a:r>
            <a:r>
              <a:rPr lang="en-GB" sz="3200" cap="none" dirty="0">
                <a:solidFill>
                  <a:schemeClr val="accent3"/>
                </a:solidFill>
              </a:rPr>
              <a:t>John Keats</a:t>
            </a:r>
          </a:p>
          <a:p>
            <a:r>
              <a:rPr lang="en-GB" sz="3200" i="1" cap="none" dirty="0">
                <a:solidFill>
                  <a:schemeClr val="accent3"/>
                </a:solidFill>
              </a:rPr>
              <a:t>The Charge of the Light Brigade – </a:t>
            </a:r>
            <a:r>
              <a:rPr lang="en-GB" sz="3200" cap="none" dirty="0">
                <a:solidFill>
                  <a:schemeClr val="accent3"/>
                </a:solidFill>
              </a:rPr>
              <a:t>Alfred, Lord Tennyson</a:t>
            </a:r>
            <a:endParaRPr lang="en-GB" sz="3200" i="1" cap="none" dirty="0">
              <a:solidFill>
                <a:schemeClr val="accent3"/>
              </a:solidFill>
            </a:endParaRPr>
          </a:p>
          <a:p>
            <a:endParaRPr lang="en-GB" sz="3200" cap="none" dirty="0"/>
          </a:p>
          <a:p>
            <a:endParaRPr lang="en-GB" sz="3200" i="1" cap="none" dirty="0"/>
          </a:p>
        </p:txBody>
      </p:sp>
    </p:spTree>
    <p:extLst>
      <p:ext uri="{BB962C8B-B14F-4D97-AF65-F5344CB8AC3E}">
        <p14:creationId xmlns:p14="http://schemas.microsoft.com/office/powerpoint/2010/main" val="1912786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2237C-E9D8-C85F-7F64-27FE26CD4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3200" dirty="0"/>
              <a:t>Literary Devices – </a:t>
            </a:r>
            <a:r>
              <a:rPr lang="en-GB" sz="3200" dirty="0" err="1"/>
              <a:t>PRactice</a:t>
            </a:r>
            <a:r>
              <a:rPr lang="en-GB" sz="3200" dirty="0"/>
              <a:t>:</a:t>
            </a:r>
            <a:br>
              <a:rPr lang="en-GB" sz="3200" dirty="0"/>
            </a:br>
            <a:r>
              <a:rPr lang="en-GB" sz="3300" cap="none" dirty="0"/>
              <a:t>Which can you identify in these short excerpts</a:t>
            </a:r>
            <a:r>
              <a:rPr lang="en-GB" sz="3300" i="1" cap="none" dirty="0"/>
              <a:t>?</a:t>
            </a:r>
            <a:endParaRPr lang="en-GB" sz="3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A8E6C-5087-620C-D7D1-A554E82ED3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581192" y="2180496"/>
            <a:ext cx="11029615" cy="4220304"/>
          </a:xfrm>
        </p:spPr>
        <p:txBody>
          <a:bodyPr>
            <a:noAutofit/>
          </a:bodyPr>
          <a:lstStyle/>
          <a:p>
            <a:r>
              <a:rPr lang="en-US" sz="2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“… But I soon found it was impossible to avoid it; for I saw the sea come after me as high as a great hill, and as furious as an enemy which I had no means or strength to contend with;” – </a:t>
            </a:r>
            <a:r>
              <a:rPr lang="en-US" sz="2800" i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Robinson Crusoe</a:t>
            </a:r>
          </a:p>
          <a:p>
            <a:endParaRPr lang="en-US" sz="2800" i="1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then many staunch knights sought to salute him,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to know how he had fared; and faithfully he tells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confessing all the cost of the cares he had suffered –”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							  – </a:t>
            </a:r>
            <a:r>
              <a:rPr lang="en-GB" sz="2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Sir Gawain and the Green Knight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52217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2237C-E9D8-C85F-7F64-27FE26CD4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3200" dirty="0"/>
              <a:t>Literary Devices – </a:t>
            </a:r>
            <a:r>
              <a:rPr lang="en-GB" sz="3200" dirty="0" err="1"/>
              <a:t>PRactice</a:t>
            </a:r>
            <a:r>
              <a:rPr lang="en-GB" sz="3200" dirty="0"/>
              <a:t>:</a:t>
            </a:r>
            <a:br>
              <a:rPr lang="en-GB" sz="3200" dirty="0"/>
            </a:br>
            <a:r>
              <a:rPr lang="en-GB" sz="3300" cap="none" dirty="0"/>
              <a:t>Which can you identify in these short excerpts</a:t>
            </a:r>
            <a:r>
              <a:rPr lang="en-GB" sz="3300" i="1" cap="none" dirty="0"/>
              <a:t>?</a:t>
            </a:r>
            <a:endParaRPr lang="en-GB" sz="3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A8E6C-5087-620C-D7D1-A554E82ED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0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“…</a:t>
            </a:r>
            <a:r>
              <a:rPr lang="en-US" sz="30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 saw the sea come after me as high as a great hill, and as furious as an enemy </a:t>
            </a:r>
            <a:r>
              <a:rPr lang="en-US" sz="30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…”</a:t>
            </a:r>
          </a:p>
          <a:p>
            <a:endParaRPr lang="en-US" sz="30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Simile:  </a:t>
            </a:r>
            <a:r>
              <a:rPr lang="en-US" sz="3000" i="1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something is like something else.</a:t>
            </a:r>
          </a:p>
          <a:p>
            <a:r>
              <a:rPr lang="en-US" sz="3000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Personification:  </a:t>
            </a:r>
            <a:r>
              <a:rPr lang="en-US" sz="3000" i="1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giving human attributes to something non-human.</a:t>
            </a:r>
          </a:p>
          <a:p>
            <a:r>
              <a:rPr lang="en-US" sz="3000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Hyperbole:  </a:t>
            </a:r>
            <a:r>
              <a:rPr lang="en-US" sz="3000" i="1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exaggeration (sometimes in a simile etc.)</a:t>
            </a:r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753868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1290E-C876-3A1A-96F0-D0DA9B7A3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D5578-6F64-80AA-3562-8C3EB16BB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3200" dirty="0"/>
              <a:t>Literary Devices – </a:t>
            </a:r>
            <a:r>
              <a:rPr lang="en-GB" sz="3200" dirty="0" err="1"/>
              <a:t>PRactice</a:t>
            </a:r>
            <a:r>
              <a:rPr lang="en-GB" sz="3200" dirty="0"/>
              <a:t>:</a:t>
            </a:r>
            <a:br>
              <a:rPr lang="en-GB" sz="3200" dirty="0"/>
            </a:br>
            <a:r>
              <a:rPr lang="en-GB" sz="3300" cap="none" dirty="0"/>
              <a:t>Which can you identify in these short excerpts</a:t>
            </a:r>
            <a:r>
              <a:rPr lang="en-GB" sz="3300" i="1" cap="none" dirty="0"/>
              <a:t>?</a:t>
            </a:r>
            <a:endParaRPr lang="en-GB" sz="3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EED09-FF36-723F-C54C-263D298345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581192" y="2180496"/>
            <a:ext cx="11029615" cy="397534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0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then many staunch knights sought to salute him,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to know how he had fared; and faithfully he tells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confessing all the cost of the cares he had suffered –”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GB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</a:t>
            </a:r>
            <a:r>
              <a:rPr lang="en-GB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“And </a:t>
            </a:r>
            <a:r>
              <a:rPr lang="en-GB" sz="2800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sythen</a:t>
            </a:r>
            <a:r>
              <a:rPr lang="en-GB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mony</a:t>
            </a:r>
            <a:r>
              <a:rPr lang="en-GB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syker</a:t>
            </a:r>
            <a:r>
              <a:rPr lang="en-GB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knyght</a:t>
            </a:r>
            <a:r>
              <a:rPr lang="en-GB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</a:t>
            </a:r>
            <a:r>
              <a:rPr lang="en-GB" sz="2800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soght</a:t>
            </a:r>
            <a:r>
              <a:rPr lang="en-GB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hym</a:t>
            </a:r>
            <a:r>
              <a:rPr lang="en-GB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GB" sz="2800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haylce</a:t>
            </a:r>
            <a:endParaRPr lang="en-GB" sz="2800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 Of his fare that </a:t>
            </a:r>
            <a:r>
              <a:rPr lang="en-GB" sz="2800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hym</a:t>
            </a:r>
            <a:r>
              <a:rPr lang="en-GB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frayned</a:t>
            </a:r>
            <a:r>
              <a:rPr lang="en-GB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and </a:t>
            </a:r>
            <a:r>
              <a:rPr lang="en-GB" sz="2800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ferlyly</a:t>
            </a:r>
            <a:r>
              <a:rPr lang="en-GB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he </a:t>
            </a:r>
            <a:r>
              <a:rPr lang="en-GB" sz="2800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telles</a:t>
            </a:r>
            <a:r>
              <a:rPr lang="en-GB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 </a:t>
            </a:r>
            <a:r>
              <a:rPr lang="en-GB" sz="2800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Biknowez</a:t>
            </a:r>
            <a:r>
              <a:rPr lang="en-GB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alle the </a:t>
            </a:r>
            <a:r>
              <a:rPr lang="en-GB" sz="2800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costes</a:t>
            </a:r>
            <a:r>
              <a:rPr lang="en-GB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care that he hade,”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</a:t>
            </a:r>
            <a:endParaRPr lang="en-US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Alliteration:  sounds repeated </a:t>
            </a:r>
            <a:r>
              <a:rPr lang="en-US" sz="2800" i="1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(not necessarily the same letters).</a:t>
            </a:r>
          </a:p>
          <a:p>
            <a:r>
              <a:rPr lang="en-US" sz="2800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Stress Patterns:  </a:t>
            </a:r>
            <a:r>
              <a:rPr lang="en-US" sz="2800" i="1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here it is two pairs of stressed syllables.</a:t>
            </a:r>
            <a:endParaRPr lang="en-GB" sz="2800" i="1" dirty="0"/>
          </a:p>
        </p:txBody>
      </p:sp>
    </p:spTree>
    <p:extLst>
      <p:ext uri="{BB962C8B-B14F-4D97-AF65-F5344CB8AC3E}">
        <p14:creationId xmlns:p14="http://schemas.microsoft.com/office/powerpoint/2010/main" val="4262544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3A24AC7-C666-4101-A9A0-BD89F1CB28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altLang="zh-CN" sz="5400" dirty="0"/>
              <a:t>Romanticism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DFD7983-EF9E-42FE-A725-0DC04F8F54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581192" y="2049868"/>
            <a:ext cx="11029615" cy="4388255"/>
          </a:xfrm>
        </p:spPr>
        <p:txBody>
          <a:bodyPr>
            <a:normAutofit fontScale="92500"/>
          </a:bodyPr>
          <a:lstStyle/>
          <a:p>
            <a:r>
              <a:rPr lang="en-US" altLang="zh-CN" sz="2800" dirty="0"/>
              <a:t>Romanticism began around 1780, as a reaction ‘against’ the Enlightenment (‘scientific,’ ‘rational thinking’ and resultant changes), and as a move away from Neoclassicism (formal literature and art inspired by the classical period).</a:t>
            </a:r>
          </a:p>
          <a:p>
            <a:endParaRPr lang="en-US" altLang="zh-CN" sz="1900" dirty="0"/>
          </a:p>
          <a:p>
            <a:r>
              <a:rPr lang="en-US" altLang="zh-CN" sz="2800" dirty="0"/>
              <a:t>The Romantics </a:t>
            </a:r>
            <a:r>
              <a:rPr lang="en-US" altLang="zh-CN" sz="2800" dirty="0" err="1"/>
              <a:t>emphasised</a:t>
            </a:r>
            <a:r>
              <a:rPr lang="en-US" altLang="zh-CN" sz="2800" dirty="0"/>
              <a:t> imagination and subjectivity, feelings more than reason, and the countryside more than town and city life. </a:t>
            </a:r>
          </a:p>
          <a:p>
            <a:endParaRPr lang="en-US" altLang="zh-CN" sz="1900" dirty="0"/>
          </a:p>
          <a:p>
            <a:r>
              <a:rPr lang="en-US" altLang="zh-CN" sz="2800" dirty="0"/>
              <a:t>Wordsworth was inspired by nature (particularly the Lake District). In </a:t>
            </a:r>
            <a:r>
              <a:rPr lang="en-US" sz="2800" dirty="0"/>
              <a:t>1798</a:t>
            </a:r>
            <a:r>
              <a:rPr lang="en-US" sz="2800" b="1" dirty="0"/>
              <a:t> </a:t>
            </a:r>
            <a:r>
              <a:rPr lang="en-US" sz="2800" dirty="0"/>
              <a:t>he and Samuel Taylor Coleridge published a book of poetry called </a:t>
            </a:r>
            <a:r>
              <a:rPr lang="en-US" sz="2800" i="1" dirty="0"/>
              <a:t>Lyrical Ballads.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3602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400" i="1" cap="none" dirty="0"/>
              <a:t>I Wandered Lonely as a Cloud  </a:t>
            </a:r>
            <a:r>
              <a:rPr lang="en-GB" sz="4400" cap="none" dirty="0"/>
              <a:t>(Daffodils)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41" y="1956142"/>
            <a:ext cx="6119447" cy="3786664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341" y="1956142"/>
            <a:ext cx="5702808" cy="37866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14727" y="5742806"/>
            <a:ext cx="87617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William Wordsworth was walking around Ullswater Lake in The Lake District with his sister Dorothy in 1804</a:t>
            </a:r>
          </a:p>
        </p:txBody>
      </p:sp>
    </p:spTree>
    <p:extLst>
      <p:ext uri="{BB962C8B-B14F-4D97-AF65-F5344CB8AC3E}">
        <p14:creationId xmlns:p14="http://schemas.microsoft.com/office/powerpoint/2010/main" val="1814601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400" cap="none" dirty="0"/>
              <a:t>Cumbria – The Lake District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80453"/>
            <a:ext cx="5302787" cy="5302787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382" y="1880453"/>
            <a:ext cx="4106887" cy="497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9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400" cap="none" dirty="0"/>
              <a:t>I Wandered Lonely as a Cloud  (Daffodils)</a:t>
            </a:r>
            <a:endParaRPr lang="en-GB" sz="4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108" y="2337276"/>
            <a:ext cx="6481596" cy="4316743"/>
          </a:xfr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2659" y="1830090"/>
            <a:ext cx="4220308" cy="561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400" cap="none" dirty="0"/>
              <a:t>I Wandered Lonely as a Cloud  (Daffodils)</a:t>
            </a:r>
            <a:endParaRPr lang="en-GB" sz="4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612" y="1799000"/>
            <a:ext cx="7999896" cy="535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566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97AFD1E2-AF65-4A64-97F4-477D777C05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4400" cap="none" dirty="0"/>
              <a:t>The Lake District</a:t>
            </a:r>
          </a:p>
        </p:txBody>
      </p:sp>
      <p:pic>
        <p:nvPicPr>
          <p:cNvPr id="27652" name="Picture 4" descr="LakeDistrict-Aerial">
            <a:extLst>
              <a:ext uri="{FF2B5EF4-FFF2-40B4-BE49-F238E27FC236}">
                <a16:creationId xmlns:a16="http://schemas.microsoft.com/office/drawing/2014/main" id="{5D00BF2C-86F7-439A-88F3-F5B39D9B1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73" y="2608169"/>
            <a:ext cx="5923127" cy="3678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EC872B03-C18F-CA70-C783-1A3E1C6DE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927" y="1943072"/>
            <a:ext cx="57912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1546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04862FE-E2D5-4B8C-BC4E-13DC838EFA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5400" cap="none" dirty="0"/>
              <a:t>Daffodils</a:t>
            </a:r>
          </a:p>
        </p:txBody>
      </p:sp>
      <p:pic>
        <p:nvPicPr>
          <p:cNvPr id="5" name="Picture 6" descr="download (9)">
            <a:extLst>
              <a:ext uri="{FF2B5EF4-FFF2-40B4-BE49-F238E27FC236}">
                <a16:creationId xmlns:a16="http://schemas.microsoft.com/office/drawing/2014/main" id="{191CEDB3-1F94-75EF-6C89-78940BCA2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632" y="1894006"/>
            <a:ext cx="3220391" cy="2412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flat,550x550,075,f">
            <a:extLst>
              <a:ext uri="{FF2B5EF4-FFF2-40B4-BE49-F238E27FC236}">
                <a16:creationId xmlns:a16="http://schemas.microsoft.com/office/drawing/2014/main" id="{4A328095-B50F-4B2B-64DF-BE9787423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409" y="1894006"/>
            <a:ext cx="6711204" cy="4392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5" descr="download (8)">
            <a:extLst>
              <a:ext uri="{FF2B5EF4-FFF2-40B4-BE49-F238E27FC236}">
                <a16:creationId xmlns:a16="http://schemas.microsoft.com/office/drawing/2014/main" id="{38E34CEA-D85F-FE91-B71B-949E5B809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573" y="4285157"/>
            <a:ext cx="3006066" cy="2251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7" descr="images (9)">
            <a:extLst>
              <a:ext uri="{FF2B5EF4-FFF2-40B4-BE49-F238E27FC236}">
                <a16:creationId xmlns:a16="http://schemas.microsoft.com/office/drawing/2014/main" id="{64C9F63E-FED8-803F-9E88-7055715FD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82" y="4019647"/>
            <a:ext cx="2633760" cy="1972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1816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i="1" cap="none" dirty="0"/>
              <a:t>I Wandered Lonely as a Cloud  (Daffodils)</a:t>
            </a:r>
            <a:endParaRPr lang="en-GB" sz="4000" i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Wordsworth said in the preface of </a:t>
            </a:r>
            <a:r>
              <a:rPr lang="en-US" sz="3200" i="1" dirty="0"/>
              <a:t>Lyrical Ballads </a:t>
            </a:r>
            <a:r>
              <a:rPr lang="en-US" sz="3200" dirty="0"/>
              <a:t>(1800 edition):  </a:t>
            </a:r>
          </a:p>
          <a:p>
            <a:pPr>
              <a:buNone/>
            </a:pPr>
            <a:r>
              <a:rPr lang="en-US" sz="3200" dirty="0"/>
              <a:t>		</a:t>
            </a:r>
            <a:r>
              <a:rPr lang="en-US" sz="3200" i="1" dirty="0"/>
              <a:t>“Poetry is the spontaneous overflow of powerful feelings.”</a:t>
            </a:r>
          </a:p>
          <a:p>
            <a:endParaRPr lang="en-US" sz="3200" dirty="0"/>
          </a:p>
          <a:p>
            <a:r>
              <a:rPr lang="en-US" sz="3200" dirty="0"/>
              <a:t>… and that poetry is…</a:t>
            </a:r>
          </a:p>
          <a:p>
            <a:pPr>
              <a:buNone/>
            </a:pPr>
            <a:r>
              <a:rPr lang="en-US" sz="3200" dirty="0"/>
              <a:t>					</a:t>
            </a:r>
            <a:r>
              <a:rPr lang="en-US" sz="3200" i="1" dirty="0"/>
              <a:t>"the music of harmonious metrical language."</a:t>
            </a:r>
          </a:p>
        </p:txBody>
      </p:sp>
    </p:spTree>
    <p:extLst>
      <p:ext uri="{BB962C8B-B14F-4D97-AF65-F5344CB8AC3E}">
        <p14:creationId xmlns:p14="http://schemas.microsoft.com/office/powerpoint/2010/main" val="3030003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88BA5-A9EF-40BF-9003-4CBE9946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i="1" dirty="0"/>
              <a:t>I Wandered Lonely as a Cloud,  </a:t>
            </a:r>
            <a:r>
              <a:rPr lang="en-US" dirty="0"/>
              <a:t>by William Wordsworth (1804)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7F289-5E68-4D95-A685-A75697D17B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7116562" cy="3633047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I wandered lonely as a cloud </a:t>
            </a:r>
            <a:endParaRPr lang="en-GB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That floats on high o'er vales and hills, </a:t>
            </a:r>
            <a:endParaRPr lang="en-GB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When all at once I saw a crowd, </a:t>
            </a:r>
            <a:endParaRPr lang="en-GB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A host, of golden daffodils; </a:t>
            </a:r>
            <a:endParaRPr lang="en-GB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Beside the lake, beneath the trees, </a:t>
            </a:r>
            <a:endParaRPr lang="en-GB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Fluttering and dancing in the breeze. 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67C3C3-021C-D7B3-12D1-113DCD741698}"/>
              </a:ext>
            </a:extLst>
          </p:cNvPr>
          <p:cNvSpPr txBox="1"/>
          <p:nvPr/>
        </p:nvSpPr>
        <p:spPr>
          <a:xfrm>
            <a:off x="6736702" y="2396834"/>
            <a:ext cx="4627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2">
                    <a:lumMod val="75000"/>
                  </a:schemeClr>
                </a:solidFill>
              </a:rPr>
              <a:t>How many syllables per line?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B186E-0F23-C078-FCD8-45FDD2005D3D}"/>
              </a:ext>
            </a:extLst>
          </p:cNvPr>
          <p:cNvSpPr txBox="1"/>
          <p:nvPr/>
        </p:nvSpPr>
        <p:spPr>
          <a:xfrm>
            <a:off x="6736701" y="3414726"/>
            <a:ext cx="5159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2">
                    <a:lumMod val="75000"/>
                  </a:schemeClr>
                </a:solidFill>
              </a:rPr>
              <a:t>Written in </a:t>
            </a:r>
            <a:r>
              <a:rPr lang="en-GB" sz="2800" b="1" dirty="0">
                <a:solidFill>
                  <a:schemeClr val="accent2">
                    <a:lumMod val="75000"/>
                  </a:schemeClr>
                </a:solidFill>
              </a:rPr>
              <a:t>Iambic tetrameter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358123-2FF1-6A97-E948-4A71A6812BF2}"/>
              </a:ext>
            </a:extLst>
          </p:cNvPr>
          <p:cNvSpPr txBox="1"/>
          <p:nvPr/>
        </p:nvSpPr>
        <p:spPr>
          <a:xfrm>
            <a:off x="6736700" y="4355180"/>
            <a:ext cx="515982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2">
                    <a:lumMod val="75000"/>
                  </a:schemeClr>
                </a:solidFill>
              </a:rPr>
              <a:t>Iamb = an unstressed syllable and 	  a stressed syllable</a:t>
            </a:r>
          </a:p>
          <a:p>
            <a:endParaRPr lang="en-GB" sz="28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GB" sz="2800" dirty="0">
                <a:solidFill>
                  <a:schemeClr val="accent2">
                    <a:lumMod val="75000"/>
                  </a:schemeClr>
                </a:solidFill>
              </a:rPr>
              <a:t>Tetra = x4  (8 syllables in total)</a:t>
            </a:r>
          </a:p>
        </p:txBody>
      </p:sp>
    </p:spTree>
    <p:extLst>
      <p:ext uri="{BB962C8B-B14F-4D97-AF65-F5344CB8AC3E}">
        <p14:creationId xmlns:p14="http://schemas.microsoft.com/office/powerpoint/2010/main" val="4013881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88BA5-A9EF-40BF-9003-4CBE9946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i="1" dirty="0"/>
              <a:t>I Wandered Lonely as a Cloud,  </a:t>
            </a:r>
            <a:r>
              <a:rPr lang="en-US" dirty="0"/>
              <a:t>by William Wordsworth (1804)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7F289-5E68-4D95-A685-A75697D17B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7116562" cy="3633047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I </a:t>
            </a:r>
            <a:r>
              <a:rPr lang="en-US" sz="2800" b="1" dirty="0"/>
              <a:t>wan</a:t>
            </a:r>
            <a:r>
              <a:rPr lang="en-US" sz="2800" dirty="0"/>
              <a:t>dered </a:t>
            </a:r>
            <a:r>
              <a:rPr lang="en-US" sz="2800" b="1" dirty="0"/>
              <a:t>lon</a:t>
            </a:r>
            <a:r>
              <a:rPr lang="en-US" sz="2800" dirty="0"/>
              <a:t>ely </a:t>
            </a:r>
            <a:r>
              <a:rPr lang="en-US" sz="2800" b="1" dirty="0"/>
              <a:t>as</a:t>
            </a:r>
            <a:r>
              <a:rPr lang="en-US" sz="2800" dirty="0"/>
              <a:t> a </a:t>
            </a:r>
            <a:r>
              <a:rPr lang="en-US" sz="2800" b="1" dirty="0"/>
              <a:t>cloud</a:t>
            </a:r>
            <a:r>
              <a:rPr lang="en-US" sz="2800" dirty="0"/>
              <a:t> </a:t>
            </a:r>
            <a:endParaRPr lang="en-GB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That </a:t>
            </a:r>
            <a:r>
              <a:rPr lang="en-US" sz="2800" b="1" dirty="0"/>
              <a:t>floats </a:t>
            </a:r>
            <a:r>
              <a:rPr lang="en-US" sz="2800" dirty="0"/>
              <a:t>on </a:t>
            </a:r>
            <a:r>
              <a:rPr lang="en-US" sz="2800" b="1" dirty="0"/>
              <a:t>high</a:t>
            </a:r>
            <a:r>
              <a:rPr lang="en-US" sz="2800" dirty="0"/>
              <a:t> o'er </a:t>
            </a:r>
            <a:r>
              <a:rPr lang="en-US" sz="2800" b="1" dirty="0"/>
              <a:t>vales</a:t>
            </a:r>
            <a:r>
              <a:rPr lang="en-US" sz="2800" dirty="0"/>
              <a:t> and </a:t>
            </a:r>
            <a:r>
              <a:rPr lang="en-US" sz="2800" b="1" dirty="0"/>
              <a:t>hills</a:t>
            </a:r>
            <a:r>
              <a:rPr lang="en-US" sz="2800" dirty="0"/>
              <a:t>, </a:t>
            </a:r>
            <a:endParaRPr lang="en-GB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When </a:t>
            </a:r>
            <a:r>
              <a:rPr lang="en-US" sz="2800" b="1" dirty="0"/>
              <a:t>all </a:t>
            </a:r>
            <a:r>
              <a:rPr lang="en-US" sz="2800" dirty="0"/>
              <a:t>at </a:t>
            </a:r>
            <a:r>
              <a:rPr lang="en-US" sz="2800" b="1" dirty="0"/>
              <a:t>once</a:t>
            </a:r>
            <a:r>
              <a:rPr lang="en-US" sz="2800" dirty="0"/>
              <a:t> I </a:t>
            </a:r>
            <a:r>
              <a:rPr lang="en-US" sz="2800" b="1" dirty="0"/>
              <a:t>saw</a:t>
            </a:r>
            <a:r>
              <a:rPr lang="en-US" sz="2800" dirty="0"/>
              <a:t> a </a:t>
            </a:r>
            <a:r>
              <a:rPr lang="en-US" sz="2800" b="1" dirty="0"/>
              <a:t>crowd</a:t>
            </a:r>
            <a:r>
              <a:rPr lang="en-US" sz="2800" dirty="0"/>
              <a:t>, </a:t>
            </a:r>
            <a:endParaRPr lang="en-GB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A </a:t>
            </a:r>
            <a:r>
              <a:rPr lang="en-US" sz="2800" b="1" dirty="0"/>
              <a:t>host</a:t>
            </a:r>
            <a:r>
              <a:rPr lang="en-US" sz="2800" dirty="0"/>
              <a:t>, of </a:t>
            </a:r>
            <a:r>
              <a:rPr lang="en-US" sz="2800" b="1" dirty="0"/>
              <a:t>gol</a:t>
            </a:r>
            <a:r>
              <a:rPr lang="en-US" sz="2800" dirty="0"/>
              <a:t>den </a:t>
            </a:r>
            <a:r>
              <a:rPr lang="en-US" sz="2800" b="1" dirty="0"/>
              <a:t>daff</a:t>
            </a:r>
            <a:r>
              <a:rPr lang="en-US" sz="2800" dirty="0"/>
              <a:t>o</a:t>
            </a:r>
            <a:r>
              <a:rPr lang="en-US" sz="2800" b="1" dirty="0"/>
              <a:t>dils</a:t>
            </a:r>
            <a:r>
              <a:rPr lang="en-US" sz="2800" dirty="0"/>
              <a:t>; </a:t>
            </a:r>
            <a:endParaRPr lang="en-GB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Be</a:t>
            </a:r>
            <a:r>
              <a:rPr lang="en-US" sz="2800" b="1" dirty="0"/>
              <a:t>side </a:t>
            </a:r>
            <a:r>
              <a:rPr lang="en-US" sz="2800" dirty="0"/>
              <a:t>the </a:t>
            </a:r>
            <a:r>
              <a:rPr lang="en-US" sz="2800" b="1" dirty="0"/>
              <a:t>lake</a:t>
            </a:r>
            <a:r>
              <a:rPr lang="en-US" sz="2800" dirty="0"/>
              <a:t>, be</a:t>
            </a:r>
            <a:r>
              <a:rPr lang="en-US" sz="2800" b="1" dirty="0"/>
              <a:t>neath</a:t>
            </a:r>
            <a:r>
              <a:rPr lang="en-US" sz="2800" dirty="0"/>
              <a:t> the </a:t>
            </a:r>
            <a:r>
              <a:rPr lang="en-US" sz="2800" b="1" dirty="0"/>
              <a:t>trees</a:t>
            </a:r>
            <a:r>
              <a:rPr lang="en-US" sz="2800" dirty="0"/>
              <a:t>, </a:t>
            </a:r>
            <a:endParaRPr lang="en-GB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Flutte</a:t>
            </a:r>
            <a:r>
              <a:rPr lang="en-US" sz="2800" b="1" dirty="0"/>
              <a:t>ring</a:t>
            </a:r>
            <a:r>
              <a:rPr lang="en-US" sz="2800" dirty="0"/>
              <a:t> and </a:t>
            </a:r>
            <a:r>
              <a:rPr lang="en-US" sz="2800" b="1" dirty="0"/>
              <a:t>danc</a:t>
            </a:r>
            <a:r>
              <a:rPr lang="en-US" sz="2800" dirty="0"/>
              <a:t>ing </a:t>
            </a:r>
            <a:r>
              <a:rPr lang="en-US" sz="2800" b="1" dirty="0"/>
              <a:t>in</a:t>
            </a:r>
            <a:r>
              <a:rPr lang="en-US" sz="2800" dirty="0"/>
              <a:t> the </a:t>
            </a:r>
            <a:r>
              <a:rPr lang="en-US" sz="2800" b="1" dirty="0"/>
              <a:t>breeze</a:t>
            </a:r>
            <a:r>
              <a:rPr lang="en-US" sz="2800" dirty="0"/>
              <a:t>. 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67C3C3-021C-D7B3-12D1-113DCD741698}"/>
              </a:ext>
            </a:extLst>
          </p:cNvPr>
          <p:cNvSpPr txBox="1"/>
          <p:nvPr/>
        </p:nvSpPr>
        <p:spPr>
          <a:xfrm>
            <a:off x="6736702" y="2396834"/>
            <a:ext cx="4627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2">
                    <a:lumMod val="75000"/>
                  </a:schemeClr>
                </a:solidFill>
              </a:rPr>
              <a:t>How many syllables per line?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B186E-0F23-C078-FCD8-45FDD2005D3D}"/>
              </a:ext>
            </a:extLst>
          </p:cNvPr>
          <p:cNvSpPr txBox="1"/>
          <p:nvPr/>
        </p:nvSpPr>
        <p:spPr>
          <a:xfrm>
            <a:off x="6736701" y="3414726"/>
            <a:ext cx="5159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2">
                    <a:lumMod val="75000"/>
                  </a:schemeClr>
                </a:solidFill>
              </a:rPr>
              <a:t>Written in </a:t>
            </a:r>
            <a:r>
              <a:rPr lang="en-GB" sz="2800" b="1" dirty="0">
                <a:solidFill>
                  <a:schemeClr val="accent2">
                    <a:lumMod val="75000"/>
                  </a:schemeClr>
                </a:solidFill>
              </a:rPr>
              <a:t>Iambic tetrameter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358123-2FF1-6A97-E948-4A71A6812BF2}"/>
              </a:ext>
            </a:extLst>
          </p:cNvPr>
          <p:cNvSpPr txBox="1"/>
          <p:nvPr/>
        </p:nvSpPr>
        <p:spPr>
          <a:xfrm>
            <a:off x="6736700" y="4355180"/>
            <a:ext cx="515982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2">
                    <a:lumMod val="75000"/>
                  </a:schemeClr>
                </a:solidFill>
              </a:rPr>
              <a:t>Iamb = an unstressed syllable and 	  a </a:t>
            </a:r>
            <a:r>
              <a:rPr lang="en-GB" sz="2800" b="1" dirty="0">
                <a:solidFill>
                  <a:schemeClr val="accent2">
                    <a:lumMod val="75000"/>
                  </a:schemeClr>
                </a:solidFill>
              </a:rPr>
              <a:t>stressed</a:t>
            </a:r>
            <a:r>
              <a:rPr lang="en-GB" sz="2800" dirty="0">
                <a:solidFill>
                  <a:schemeClr val="accent2">
                    <a:lumMod val="75000"/>
                  </a:schemeClr>
                </a:solidFill>
              </a:rPr>
              <a:t> syllable</a:t>
            </a:r>
          </a:p>
          <a:p>
            <a:endParaRPr lang="en-GB" sz="28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GB" sz="2800" dirty="0">
                <a:solidFill>
                  <a:schemeClr val="accent2">
                    <a:lumMod val="75000"/>
                  </a:schemeClr>
                </a:solidFill>
              </a:rPr>
              <a:t>Tetra = x4  (8 syllables in total)</a:t>
            </a:r>
          </a:p>
        </p:txBody>
      </p:sp>
    </p:spTree>
    <p:extLst>
      <p:ext uri="{BB962C8B-B14F-4D97-AF65-F5344CB8AC3E}">
        <p14:creationId xmlns:p14="http://schemas.microsoft.com/office/powerpoint/2010/main" val="1551506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88BA5-A9EF-40BF-9003-4CBE9946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i="1" dirty="0"/>
              <a:t>I Wandered Lonely as a Cloud,  </a:t>
            </a:r>
            <a:r>
              <a:rPr lang="en-US" dirty="0"/>
              <a:t>by William Wordsworth (1804)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C8FE8-884C-438D-8C18-6902FA543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3" y="2218673"/>
            <a:ext cx="6982823" cy="3633047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Continuous as the stars that shine </a:t>
            </a:r>
            <a:endParaRPr lang="en-GB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And twinkle on the milky way, </a:t>
            </a:r>
            <a:endParaRPr lang="en-GB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They stretched in never-ending line </a:t>
            </a:r>
            <a:endParaRPr lang="en-GB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Along the margin of a bay: </a:t>
            </a:r>
            <a:endParaRPr lang="en-GB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Ten thousand saw I at a glance, </a:t>
            </a:r>
            <a:endParaRPr lang="en-GB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Tossing their heads in sprightly dance. </a:t>
            </a:r>
            <a:endParaRPr lang="en-GB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536595-660B-76B1-3BF1-EFD71E6419A0}"/>
              </a:ext>
            </a:extLst>
          </p:cNvPr>
          <p:cNvSpPr txBox="1"/>
          <p:nvPr/>
        </p:nvSpPr>
        <p:spPr>
          <a:xfrm>
            <a:off x="7865706" y="2407298"/>
            <a:ext cx="30417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2">
                    <a:lumMod val="75000"/>
                  </a:schemeClr>
                </a:solidFill>
              </a:rPr>
              <a:t>What is the rhyme pattern in each stanza?</a:t>
            </a:r>
          </a:p>
        </p:txBody>
      </p:sp>
    </p:spTree>
    <p:extLst>
      <p:ext uri="{BB962C8B-B14F-4D97-AF65-F5344CB8AC3E}">
        <p14:creationId xmlns:p14="http://schemas.microsoft.com/office/powerpoint/2010/main" val="97430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88BA5-A9EF-40BF-9003-4CBE9946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i="1" dirty="0"/>
              <a:t>I Wandered Lonely as a Cloud,  </a:t>
            </a:r>
            <a:r>
              <a:rPr lang="en-US" dirty="0"/>
              <a:t>by William Wordsworth (1804)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C8FE8-884C-438D-8C18-6902FA543C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2"/>
          </p:nvPr>
        </p:nvSpPr>
        <p:spPr>
          <a:xfrm>
            <a:off x="581193" y="2218673"/>
            <a:ext cx="6982823" cy="3633047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Continuous as the stars that </a:t>
            </a:r>
            <a:r>
              <a:rPr lang="en-US" sz="2800" dirty="0">
                <a:solidFill>
                  <a:srgbClr val="FFC000"/>
                </a:solidFill>
              </a:rPr>
              <a:t>shine</a:t>
            </a:r>
            <a:r>
              <a:rPr lang="en-US" sz="2800" dirty="0"/>
              <a:t>        </a:t>
            </a:r>
            <a:endParaRPr lang="en-GB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And twinkle on the milky </a:t>
            </a:r>
            <a:r>
              <a:rPr lang="en-US" sz="2800" dirty="0">
                <a:solidFill>
                  <a:srgbClr val="0070C0"/>
                </a:solidFill>
              </a:rPr>
              <a:t>way,</a:t>
            </a:r>
            <a:r>
              <a:rPr lang="en-US" sz="2800" dirty="0"/>
              <a:t> 			  </a:t>
            </a:r>
            <a:endParaRPr lang="en-GB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They stretched in never-ending </a:t>
            </a:r>
            <a:r>
              <a:rPr lang="en-US" sz="2800" dirty="0">
                <a:solidFill>
                  <a:srgbClr val="FFC000"/>
                </a:solidFill>
              </a:rPr>
              <a:t>line 	  </a:t>
            </a:r>
            <a:endParaRPr lang="en-GB" sz="2800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Along the margin of a </a:t>
            </a:r>
            <a:r>
              <a:rPr lang="en-US" sz="2800" dirty="0">
                <a:solidFill>
                  <a:srgbClr val="0070C0"/>
                </a:solidFill>
              </a:rPr>
              <a:t>bay</a:t>
            </a:r>
            <a:r>
              <a:rPr lang="en-US" sz="2800" dirty="0"/>
              <a:t>: 				  </a:t>
            </a:r>
            <a:endParaRPr lang="en-GB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Ten thousand saw I at a </a:t>
            </a:r>
            <a:r>
              <a:rPr lang="en-US" sz="2800" dirty="0">
                <a:solidFill>
                  <a:schemeClr val="accent6"/>
                </a:solidFill>
              </a:rPr>
              <a:t>glance</a:t>
            </a:r>
            <a:r>
              <a:rPr lang="en-US" sz="2800" dirty="0"/>
              <a:t>, 			   </a:t>
            </a:r>
            <a:endParaRPr lang="en-GB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Tossing their heads in sprightly </a:t>
            </a:r>
            <a:r>
              <a:rPr lang="en-US" sz="2800" dirty="0">
                <a:solidFill>
                  <a:schemeClr val="accent6"/>
                </a:solidFill>
              </a:rPr>
              <a:t>dance</a:t>
            </a:r>
            <a:r>
              <a:rPr lang="en-US" sz="2800" dirty="0"/>
              <a:t>.   </a:t>
            </a:r>
            <a:endParaRPr lang="en-GB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536595-660B-76B1-3BF1-EFD71E6419A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865706" y="2407298"/>
            <a:ext cx="30417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2">
                    <a:lumMod val="75000"/>
                  </a:schemeClr>
                </a:solidFill>
              </a:rPr>
              <a:t>What is the rhyme pattern in each stanza?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A6E09D-CF87-C3B7-8483-65A3878F907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39678" y="2142636"/>
            <a:ext cx="1769706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A</a:t>
            </a:r>
          </a:p>
          <a:p>
            <a:endParaRPr lang="en-GB" sz="1600" dirty="0"/>
          </a:p>
          <a:p>
            <a:r>
              <a:rPr lang="en-GB" sz="2800" dirty="0"/>
              <a:t>B</a:t>
            </a:r>
          </a:p>
          <a:p>
            <a:endParaRPr lang="en-GB" sz="1600" dirty="0"/>
          </a:p>
          <a:p>
            <a:r>
              <a:rPr lang="en-GB" sz="2800" dirty="0"/>
              <a:t>A</a:t>
            </a:r>
          </a:p>
          <a:p>
            <a:endParaRPr lang="en-GB" sz="1600" dirty="0"/>
          </a:p>
          <a:p>
            <a:r>
              <a:rPr lang="en-GB" sz="2800" dirty="0"/>
              <a:t>B</a:t>
            </a:r>
          </a:p>
          <a:p>
            <a:endParaRPr lang="en-GB" sz="1600" dirty="0"/>
          </a:p>
          <a:p>
            <a:r>
              <a:rPr lang="en-GB" sz="2800" dirty="0"/>
              <a:t>C</a:t>
            </a:r>
          </a:p>
          <a:p>
            <a:endParaRPr lang="en-GB" sz="1600" dirty="0"/>
          </a:p>
          <a:p>
            <a:r>
              <a:rPr lang="en-GB" sz="2800" dirty="0"/>
              <a:t>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48CDA5-1C45-7D6B-E441-48F8D9DCCED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68139" y="4521831"/>
            <a:ext cx="15832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ABABCC</a:t>
            </a:r>
          </a:p>
        </p:txBody>
      </p:sp>
    </p:spTree>
    <p:extLst>
      <p:ext uri="{BB962C8B-B14F-4D97-AF65-F5344CB8AC3E}">
        <p14:creationId xmlns:p14="http://schemas.microsoft.com/office/powerpoint/2010/main" val="2325829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400" cap="none" dirty="0"/>
              <a:t>I Wandered Lonely as a Cloud  (Daffodils)</a:t>
            </a:r>
            <a:endParaRPr lang="en-GB" sz="4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7808" y="2001078"/>
            <a:ext cx="6291047" cy="4585252"/>
          </a:xfrm>
        </p:spPr>
      </p:pic>
      <p:sp>
        <p:nvSpPr>
          <p:cNvPr id="5" name="TextBox 4"/>
          <p:cNvSpPr txBox="1"/>
          <p:nvPr/>
        </p:nvSpPr>
        <p:spPr>
          <a:xfrm>
            <a:off x="967409" y="2345635"/>
            <a:ext cx="4174434" cy="4094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1192" y="2001078"/>
            <a:ext cx="456065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Reread Wordsworth’s poem.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How does he use literary devices such as: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	- Metaphor and Simile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	- Personification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	- Hyperbole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	- Alliteration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How does he combine them with rhyme and syllable patterns?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5761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400" cap="none" dirty="0"/>
              <a:t>I Wandered Lonely as a Cloud  (Daffodils)</a:t>
            </a:r>
            <a:endParaRPr lang="en-GB" sz="44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Alliteration:</a:t>
            </a:r>
          </a:p>
          <a:p>
            <a:endParaRPr lang="en-US" sz="2800" dirty="0"/>
          </a:p>
          <a:p>
            <a:r>
              <a:rPr lang="en-US" sz="2800" dirty="0"/>
              <a:t>Assonance:</a:t>
            </a:r>
          </a:p>
          <a:p>
            <a:endParaRPr lang="en-US" sz="2800" dirty="0"/>
          </a:p>
          <a:p>
            <a:r>
              <a:rPr lang="en-US" sz="2800" dirty="0"/>
              <a:t>Consonance: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21343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400" cap="none" dirty="0"/>
              <a:t>I Wandered Lonely as a Cloud  (Daffodils)</a:t>
            </a:r>
            <a:endParaRPr lang="en-GB" sz="4400" dirty="0"/>
          </a:p>
        </p:txBody>
      </p:sp>
      <p:sp>
        <p:nvSpPr>
          <p:cNvPr id="4" name="Content Placeholder 3"/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Alliteration:   the first letter in two or more words repeats.</a:t>
            </a:r>
          </a:p>
          <a:p>
            <a:endParaRPr lang="en-US" sz="2800" dirty="0"/>
          </a:p>
          <a:p>
            <a:r>
              <a:rPr lang="en-US" sz="2800" dirty="0"/>
              <a:t>Assonance:   the same vowel sound repeats in two or more words.</a:t>
            </a:r>
          </a:p>
          <a:p>
            <a:endParaRPr lang="en-US" sz="2800" dirty="0"/>
          </a:p>
          <a:p>
            <a:r>
              <a:rPr lang="en-US" sz="2800" dirty="0"/>
              <a:t>Consonance:   the same consonant sound repeats in two or more words.  </a:t>
            </a:r>
          </a:p>
          <a:p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534C9A-1FF5-65EF-EC79-5E2C60AF5002}"/>
              </a:ext>
            </a:extLst>
          </p:cNvPr>
          <p:cNvSpPr txBox="1"/>
          <p:nvPr/>
        </p:nvSpPr>
        <p:spPr>
          <a:xfrm>
            <a:off x="811764" y="5651991"/>
            <a:ext cx="10799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2">
                    <a:lumMod val="75000"/>
                  </a:schemeClr>
                </a:solidFill>
              </a:rPr>
              <a:t>Find some examples of the above techniques.  What effects do they have?</a:t>
            </a:r>
          </a:p>
        </p:txBody>
      </p:sp>
    </p:spTree>
    <p:extLst>
      <p:ext uri="{BB962C8B-B14F-4D97-AF65-F5344CB8AC3E}">
        <p14:creationId xmlns:p14="http://schemas.microsoft.com/office/powerpoint/2010/main" val="4162906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F12F1-D364-8A61-A71C-9AA1DEF41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Romanticism in Europe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2C68D-AB5C-B3C3-A1F8-45821CE777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214605" y="1782147"/>
            <a:ext cx="8864082" cy="4851917"/>
          </a:xfrm>
        </p:spPr>
        <p:txBody>
          <a:bodyPr>
            <a:normAutofit lnSpcReduction="10000"/>
          </a:bodyPr>
          <a:lstStyle/>
          <a:p>
            <a:r>
              <a:rPr lang="en-GB" sz="2400" dirty="0"/>
              <a:t>At the end of the 18</a:t>
            </a:r>
            <a:r>
              <a:rPr lang="en-GB" sz="2400" baseline="30000" dirty="0"/>
              <a:t>th</a:t>
            </a:r>
            <a:r>
              <a:rPr lang="en-GB" sz="2400" dirty="0"/>
              <a:t> and turn of the 19</a:t>
            </a:r>
            <a:r>
              <a:rPr lang="en-GB" sz="2400" baseline="30000" dirty="0"/>
              <a:t>th</a:t>
            </a:r>
            <a:r>
              <a:rPr lang="en-GB" sz="2400" dirty="0"/>
              <a:t> century, the French and American revolutions went in different directions; Napoleon tried to take over all of Europe; it was a time of disconcerting cultural change.</a:t>
            </a:r>
          </a:p>
          <a:p>
            <a:r>
              <a:rPr lang="en-GB" sz="2400" dirty="0"/>
              <a:t>Johann Wolfgang von Goethe (1749-1832) was a founder/part of </a:t>
            </a:r>
            <a:r>
              <a:rPr lang="en-GB" sz="2400" i="1" dirty="0"/>
              <a:t>The Sturm und </a:t>
            </a:r>
            <a:r>
              <a:rPr lang="en-GB" sz="2400" i="1" dirty="0" err="1"/>
              <a:t>Drang</a:t>
            </a:r>
            <a:r>
              <a:rPr lang="en-GB" sz="2400" i="1" dirty="0"/>
              <a:t> </a:t>
            </a:r>
            <a:r>
              <a:rPr lang="en-GB" sz="2400" dirty="0"/>
              <a:t>literary movement (storm and stress) in ‘Germany’ (focused on expressing extreme emotions).</a:t>
            </a:r>
          </a:p>
          <a:p>
            <a:r>
              <a:rPr lang="en-GB" sz="2400" dirty="0"/>
              <a:t>He became extremely famous in 1774 when he wrote his first novel, </a:t>
            </a:r>
            <a:r>
              <a:rPr lang="en-GB" sz="2400" i="1" dirty="0"/>
              <a:t>The Sorrows of Young Werther. </a:t>
            </a:r>
            <a:r>
              <a:rPr lang="en-GB" sz="2400" dirty="0"/>
              <a:t>In his later years, Goethe said the Romantic movement was “everything that is sick.”</a:t>
            </a:r>
          </a:p>
          <a:p>
            <a:r>
              <a:rPr lang="en-GB" sz="2400" dirty="0"/>
              <a:t>In music, Beethoven’s powerful music bridged to the Romantic period of Chopin and Mendelssohn.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15A7B5-976C-438E-8386-43EFD0EE10B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687" y="1782147"/>
            <a:ext cx="2898708" cy="2174030"/>
          </a:xfrm>
          <a:prstGeom prst="rect">
            <a:avLst/>
          </a:prstGeom>
        </p:spPr>
      </p:pic>
      <p:pic>
        <p:nvPicPr>
          <p:cNvPr id="1026" name="Picture 2" descr="Book Review: 'Beethoven: Anguish and Triumph' by Jan Swafford - WSJ">
            <a:extLst>
              <a:ext uri="{FF2B5EF4-FFF2-40B4-BE49-F238E27FC236}">
                <a16:creationId xmlns:a16="http://schemas.microsoft.com/office/drawing/2014/main" id="{4F1D2DCE-F7B0-4F62-43CB-2ED94C875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2125" y="4540031"/>
            <a:ext cx="3429875" cy="228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8FD2E6-1CB8-8E47-FB2E-FE61D87E3C8F}"/>
              </a:ext>
            </a:extLst>
          </p:cNvPr>
          <p:cNvSpPr txBox="1"/>
          <p:nvPr/>
        </p:nvSpPr>
        <p:spPr>
          <a:xfrm>
            <a:off x="8892073" y="4063438"/>
            <a:ext cx="329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Goethe (above), and Beethoven</a:t>
            </a:r>
          </a:p>
        </p:txBody>
      </p:sp>
    </p:spTree>
    <p:extLst>
      <p:ext uri="{BB962C8B-B14F-4D97-AF65-F5344CB8AC3E}">
        <p14:creationId xmlns:p14="http://schemas.microsoft.com/office/powerpoint/2010/main" val="721946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DACBA-4EE7-405D-0A98-32B77BAF2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Romanticism – English poetry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014E1-C3AD-1922-13CB-18FD622A9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126998"/>
          </a:xfrm>
        </p:spPr>
        <p:txBody>
          <a:bodyPr>
            <a:normAutofit/>
          </a:bodyPr>
          <a:lstStyle/>
          <a:p>
            <a:r>
              <a:rPr lang="en-GB" sz="2400" b="1" dirty="0"/>
              <a:t>First Generation of Romantic Poets:  </a:t>
            </a:r>
            <a:r>
              <a:rPr lang="en-GB" sz="2400" b="1" i="1" dirty="0"/>
              <a:t>(Classical Forms; focus on nature; focus on inner spirituality.)</a:t>
            </a:r>
          </a:p>
          <a:p>
            <a:pPr marL="0" indent="0">
              <a:buNone/>
            </a:pPr>
            <a:r>
              <a:rPr lang="en-GB" sz="2400" dirty="0"/>
              <a:t>William Wordsworth (1779-1850); Samuel Taylor Coleridge (1772-1834).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b="1" dirty="0"/>
              <a:t>Second Generation of Romantic Poets:  </a:t>
            </a:r>
            <a:r>
              <a:rPr lang="en-GB" sz="2400" b="1" i="1" dirty="0"/>
              <a:t>(More rebellious; more nostalgia and personal emotions; idea of celebrity poets.)</a:t>
            </a:r>
          </a:p>
          <a:p>
            <a:pPr marL="0" indent="0">
              <a:buNone/>
            </a:pPr>
            <a:r>
              <a:rPr lang="en-GB" sz="2400" dirty="0"/>
              <a:t>Lord George Gordon ‘Byron’ (1788-1824); Percy Shelley (1792-1822); </a:t>
            </a:r>
          </a:p>
          <a:p>
            <a:pPr marL="0" indent="0">
              <a:buNone/>
            </a:pPr>
            <a:r>
              <a:rPr lang="en-GB" sz="2400" dirty="0"/>
              <a:t>John Keats (1795-1821).</a:t>
            </a:r>
          </a:p>
        </p:txBody>
      </p:sp>
    </p:spTree>
    <p:extLst>
      <p:ext uri="{BB962C8B-B14F-4D97-AF65-F5344CB8AC3E}">
        <p14:creationId xmlns:p14="http://schemas.microsoft.com/office/powerpoint/2010/main" val="1138829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744F28-7CF7-4265-9156-98982BFDB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John Keats – 1795 -1821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03887C-44BA-49FF-A2E6-5FC058163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321173"/>
            <a:ext cx="5987559" cy="4201402"/>
          </a:xfrm>
        </p:spPr>
        <p:txBody>
          <a:bodyPr>
            <a:normAutofit fontScale="92500" lnSpcReduction="10000"/>
          </a:bodyPr>
          <a:lstStyle/>
          <a:p>
            <a:r>
              <a:rPr lang="en-GB" sz="3000" dirty="0"/>
              <a:t>Part of the second generation of Romantic Poets.</a:t>
            </a:r>
          </a:p>
          <a:p>
            <a:endParaRPr lang="en-GB" sz="1200" dirty="0"/>
          </a:p>
          <a:p>
            <a:r>
              <a:rPr lang="en-GB" sz="3000" dirty="0"/>
              <a:t>In his life he published little of his poetry, but after his death his poems became increasingly well-regarded.</a:t>
            </a:r>
          </a:p>
          <a:p>
            <a:endParaRPr lang="en-GB" sz="1200" dirty="0"/>
          </a:p>
          <a:p>
            <a:r>
              <a:rPr lang="en-GB" sz="3000" dirty="0"/>
              <a:t>His poetry has extremes of emotion, expressed through vivid natural imagery.</a:t>
            </a:r>
          </a:p>
          <a:p>
            <a:endParaRPr lang="en-GB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A4D44F-A1D1-4D40-859A-CD1FE3417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836" y="1843259"/>
            <a:ext cx="3850383" cy="4538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0135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8019D-1EC4-4D8C-920A-5690FA29A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CDD5F-ABF2-44E0-AC7F-4CCEE38F2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6129097" cy="3678303"/>
          </a:xfrm>
        </p:spPr>
        <p:txBody>
          <a:bodyPr>
            <a:normAutofit/>
          </a:bodyPr>
          <a:lstStyle/>
          <a:p>
            <a:r>
              <a:rPr lang="en-GB" sz="2800" dirty="0"/>
              <a:t>He loved Fanny </a:t>
            </a:r>
            <a:r>
              <a:rPr lang="en-GB" sz="2800" dirty="0" err="1"/>
              <a:t>Brawne</a:t>
            </a:r>
            <a:r>
              <a:rPr lang="en-GB" sz="2800" dirty="0"/>
              <a:t>, though he was a struggling poet and could not afford to marry her.</a:t>
            </a:r>
          </a:p>
          <a:p>
            <a:endParaRPr lang="en-GB" sz="2800" dirty="0"/>
          </a:p>
          <a:p>
            <a:r>
              <a:rPr lang="en-GB" sz="2800" dirty="0"/>
              <a:t>Keats caught tuberculosis and travelled to Italy for the better climate. He died five months later, in 1821, aged 25.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072FD0-F119-4238-BFDF-2ABA3CEE37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237" y="999201"/>
            <a:ext cx="4258701" cy="54388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5BAACA-A997-ED3F-15F2-4C3C7D6CF9BE}"/>
              </a:ext>
            </a:extLst>
          </p:cNvPr>
          <p:cNvSpPr txBox="1"/>
          <p:nvPr/>
        </p:nvSpPr>
        <p:spPr>
          <a:xfrm>
            <a:off x="3816220" y="6232849"/>
            <a:ext cx="2995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Fanny </a:t>
            </a:r>
            <a:r>
              <a:rPr lang="en-GB" sz="2000" dirty="0" err="1"/>
              <a:t>Brawne</a:t>
            </a:r>
            <a:r>
              <a:rPr lang="en-GB" sz="2000" dirty="0"/>
              <a:t> – circa 1850</a:t>
            </a:r>
          </a:p>
        </p:txBody>
      </p:sp>
    </p:spTree>
    <p:extLst>
      <p:ext uri="{BB962C8B-B14F-4D97-AF65-F5344CB8AC3E}">
        <p14:creationId xmlns:p14="http://schemas.microsoft.com/office/powerpoint/2010/main" val="41441299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8019D-1EC4-4D8C-920A-5690FA29A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cap="none" dirty="0"/>
              <a:t>From a letter written by Keats to Fanny: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CDD5F-ABF2-44E0-AC7F-4CCEE38F23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371062" y="1855304"/>
            <a:ext cx="6427304" cy="5241235"/>
          </a:xfrm>
        </p:spPr>
        <p:txBody>
          <a:bodyPr>
            <a:normAutofit fontScale="62500" lnSpcReduction="20000"/>
          </a:bodyPr>
          <a:lstStyle/>
          <a:p>
            <a:r>
              <a:rPr lang="en-GB" sz="3800" dirty="0"/>
              <a:t>"My love has made me selfish. I cannot exist without you – I am forgetful of every thing but seeing you again – my Life seems to stop there – I see no further. You have </a:t>
            </a:r>
            <a:r>
              <a:rPr lang="en-GB" sz="3800" dirty="0" err="1"/>
              <a:t>absorb'd</a:t>
            </a:r>
            <a:r>
              <a:rPr lang="en-GB" sz="3800" dirty="0"/>
              <a:t> me. I have a sensation at the present moment as though I was dissolving – I should be exquisitely miserable without the hope of soon seeing you ... I have been astonished that Men could die Martyrs for religion – I have </a:t>
            </a:r>
            <a:r>
              <a:rPr lang="en-GB" sz="3800" dirty="0" err="1"/>
              <a:t>shudder'd</a:t>
            </a:r>
            <a:r>
              <a:rPr lang="en-GB" sz="3800" dirty="0"/>
              <a:t> at it – I shudder no more – I could be </a:t>
            </a:r>
            <a:r>
              <a:rPr lang="en-GB" sz="3800" dirty="0" err="1"/>
              <a:t>martyr'd</a:t>
            </a:r>
            <a:r>
              <a:rPr lang="en-GB" sz="3800" dirty="0"/>
              <a:t> for my Religion – Love is my religion – I could die for that – I could die for you.“</a:t>
            </a:r>
          </a:p>
          <a:p>
            <a:endParaRPr lang="en-GB" sz="1300" dirty="0"/>
          </a:p>
          <a:p>
            <a:r>
              <a:rPr lang="en-GB" sz="3400" i="1" dirty="0"/>
              <a:t>Romantic? Obsessed? Idolatry? Too emotional? What ideas of truth, fact, reality, purpose… did Romantic poets have?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072FD0-F119-4238-BFDF-2ABA3CEE37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237" y="999201"/>
            <a:ext cx="4258701" cy="543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133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25F50-E776-EBA8-500E-FC9CD46AF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i="1" cap="none" dirty="0"/>
              <a:t>Ode on a Grecian Urn </a:t>
            </a:r>
            <a:r>
              <a:rPr lang="en-GB" sz="3600" cap="none" dirty="0"/>
              <a:t>(1819) by John Keats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030B3-6019-BAEC-CA15-227F99570B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What is the poem about?</a:t>
            </a:r>
          </a:p>
          <a:p>
            <a:pPr marL="0" indent="0">
              <a:buNone/>
            </a:pPr>
            <a:r>
              <a:rPr lang="en-GB" sz="3000" dirty="0"/>
              <a:t>			</a:t>
            </a:r>
            <a:r>
              <a:rPr lang="en-GB" sz="3000" i="1" dirty="0">
                <a:solidFill>
                  <a:srgbClr val="FF0000"/>
                </a:solidFill>
              </a:rPr>
              <a:t>Keats imagines an urn (a vase or pottery from ancient Greece).</a:t>
            </a:r>
            <a:endParaRPr lang="en-GB" sz="2800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sz="2800" dirty="0"/>
              <a:t>						</a:t>
            </a:r>
          </a:p>
          <a:p>
            <a:r>
              <a:rPr lang="en-GB" sz="3000" dirty="0"/>
              <a:t>What is an ode?</a:t>
            </a:r>
          </a:p>
          <a:p>
            <a:pPr marL="0" indent="0">
              <a:buNone/>
            </a:pPr>
            <a:r>
              <a:rPr lang="en-GB" sz="3000" dirty="0"/>
              <a:t>			</a:t>
            </a:r>
            <a:r>
              <a:rPr lang="en-GB" sz="3000" i="1" dirty="0">
                <a:solidFill>
                  <a:srgbClr val="FF0000"/>
                </a:solidFill>
              </a:rPr>
              <a:t>A song/poem devoted to someone or something.</a:t>
            </a:r>
          </a:p>
        </p:txBody>
      </p:sp>
    </p:spTree>
    <p:extLst>
      <p:ext uri="{BB962C8B-B14F-4D97-AF65-F5344CB8AC3E}">
        <p14:creationId xmlns:p14="http://schemas.microsoft.com/office/powerpoint/2010/main" val="1782551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25F50-E776-EBA8-500E-FC9CD46AF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i="1" cap="none" dirty="0"/>
              <a:t>Ode on a Grecian Urn </a:t>
            </a:r>
            <a:r>
              <a:rPr lang="en-GB" sz="3600" cap="none" dirty="0"/>
              <a:t>(1819) by John Keats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030B3-6019-BAEC-CA15-227F99570B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581192" y="2180496"/>
            <a:ext cx="11029615" cy="4416949"/>
          </a:xfrm>
        </p:spPr>
        <p:txBody>
          <a:bodyPr>
            <a:normAutofit lnSpcReduction="10000"/>
          </a:bodyPr>
          <a:lstStyle/>
          <a:p>
            <a:r>
              <a:rPr lang="en-GB" sz="3000" dirty="0"/>
              <a:t>What does he imagine seeing painted on the Greek urn?</a:t>
            </a:r>
          </a:p>
          <a:p>
            <a:pPr marL="0" indent="0">
              <a:buNone/>
            </a:pPr>
            <a:r>
              <a:rPr lang="en-GB" sz="3000" dirty="0"/>
              <a:t>			</a:t>
            </a:r>
            <a:r>
              <a:rPr lang="en-GB" sz="3000" i="1" dirty="0">
                <a:solidFill>
                  <a:srgbClr val="FF0000"/>
                </a:solidFill>
              </a:rPr>
              <a:t>A rural scene; pipes and music; a romance; a pagan sacrifice.</a:t>
            </a:r>
          </a:p>
          <a:p>
            <a:r>
              <a:rPr lang="en-GB" sz="3000" dirty="0"/>
              <a:t>How does Keats feel about the scene on the urn?</a:t>
            </a:r>
          </a:p>
          <a:p>
            <a:pPr marL="0" indent="0">
              <a:buNone/>
            </a:pPr>
            <a:r>
              <a:rPr lang="en-GB" sz="3000" dirty="0"/>
              <a:t>			</a:t>
            </a:r>
            <a:r>
              <a:rPr lang="en-GB" sz="3000" i="1" dirty="0">
                <a:solidFill>
                  <a:srgbClr val="FF0000"/>
                </a:solidFill>
              </a:rPr>
              <a:t>Nostalgia, romance, fantasy, and sad longing.</a:t>
            </a:r>
          </a:p>
          <a:p>
            <a:r>
              <a:rPr lang="en-GB" sz="3000" dirty="0"/>
              <a:t>What structure and techniques does he use in the poem?</a:t>
            </a:r>
          </a:p>
          <a:p>
            <a:pPr marL="0" indent="0">
              <a:buNone/>
            </a:pPr>
            <a:r>
              <a:rPr lang="en-GB" sz="3000" dirty="0"/>
              <a:t>	</a:t>
            </a:r>
            <a:r>
              <a:rPr lang="en-GB" sz="3000" i="1" dirty="0">
                <a:solidFill>
                  <a:srgbClr val="FF0000"/>
                </a:solidFill>
              </a:rPr>
              <a:t>Stanza 1:  ABABCDEDCE	  		(the first four lines have a consistent 												rhyme pattern ABAB; the last six lines Personification, metaphor… 			alter slightly in different stanzas.)</a:t>
            </a:r>
          </a:p>
        </p:txBody>
      </p:sp>
    </p:spTree>
    <p:extLst>
      <p:ext uri="{BB962C8B-B14F-4D97-AF65-F5344CB8AC3E}">
        <p14:creationId xmlns:p14="http://schemas.microsoft.com/office/powerpoint/2010/main" val="44074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607A-FB86-2A31-B558-A38D36C16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Alfred, Lord Tennyson  (1809-1892)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897E4-80B9-7203-9EC8-E2E2DF28AC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3685592" y="2180496"/>
            <a:ext cx="7925215" cy="4360263"/>
          </a:xfrm>
        </p:spPr>
        <p:txBody>
          <a:bodyPr>
            <a:normAutofit fontScale="92500" lnSpcReduction="10000"/>
          </a:bodyPr>
          <a:lstStyle/>
          <a:p>
            <a:r>
              <a:rPr lang="en-GB" sz="2600" dirty="0"/>
              <a:t>He was born into an aristocratic family, but struggled in his younger years through family illnesses and debt, and received mixed reviews for his poetry.</a:t>
            </a:r>
          </a:p>
          <a:p>
            <a:r>
              <a:rPr lang="en-GB" sz="2600" dirty="0"/>
              <a:t>He published the long poem </a:t>
            </a:r>
            <a:r>
              <a:rPr lang="en-GB" sz="2600" i="1" dirty="0"/>
              <a:t>In Memoriam </a:t>
            </a:r>
            <a:r>
              <a:rPr lang="en-GB" sz="2600" dirty="0"/>
              <a:t>in 1850 and was made ‘poet laureate’ by Queen Victoria. He married Emily, and they would have two children.</a:t>
            </a:r>
          </a:p>
          <a:p>
            <a:r>
              <a:rPr lang="en-GB" sz="2600" dirty="0"/>
              <a:t>In 1855, he published </a:t>
            </a:r>
            <a:r>
              <a:rPr lang="en-GB" sz="2600" i="1" dirty="0"/>
              <a:t>Maud and Other Poems, </a:t>
            </a:r>
            <a:r>
              <a:rPr lang="en-GB" sz="2600" dirty="0"/>
              <a:t>which included </a:t>
            </a:r>
            <a:r>
              <a:rPr lang="en-GB" sz="2600" i="1" dirty="0"/>
              <a:t>The Charge of the Light Brigade.</a:t>
            </a:r>
          </a:p>
          <a:p>
            <a:r>
              <a:rPr lang="en-GB" sz="2600" dirty="0"/>
              <a:t>Tennyson also wrote a long poem, </a:t>
            </a:r>
            <a:r>
              <a:rPr lang="en-GB" sz="2600" i="1" dirty="0"/>
              <a:t>The Idylls of the King </a:t>
            </a:r>
            <a:r>
              <a:rPr lang="en-GB" sz="2600" dirty="0"/>
              <a:t>(1859), about King Arthur. He became one of the most renowned figures of the Victorian era.</a:t>
            </a:r>
          </a:p>
        </p:txBody>
      </p:sp>
      <p:pic>
        <p:nvPicPr>
          <p:cNvPr id="1026" name="Picture 2" descr="Alfred, Lord Tennyson">
            <a:extLst>
              <a:ext uri="{FF2B5EF4-FFF2-40B4-BE49-F238E27FC236}">
                <a16:creationId xmlns:a16="http://schemas.microsoft.com/office/drawing/2014/main" id="{1CEA435D-79AA-FA38-3874-FC5DE570B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2" y="2138459"/>
            <a:ext cx="2857500" cy="376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98882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B900A-9C48-A03B-0191-BD7211865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cap="none" dirty="0"/>
              <a:t>The Crimean War – 1853-6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D339D-D14F-3029-AFBB-1C60E501F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79789"/>
            <a:ext cx="3377858" cy="4476536"/>
          </a:xfrm>
        </p:spPr>
        <p:txBody>
          <a:bodyPr>
            <a:normAutofit/>
          </a:bodyPr>
          <a:lstStyle/>
          <a:p>
            <a:r>
              <a:rPr lang="en-GB" sz="2800" dirty="0"/>
              <a:t>A disagreement between the Russian and Ottoman empires broke out into a war, with the British and French supporting the Ottomans.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844F895C-6C85-75B2-CC92-0BE241951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9389" y="1979083"/>
            <a:ext cx="7928691" cy="467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8883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4CCCF-D268-CD79-797F-0BE8F820D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1AB25-64C2-CFD1-40D6-8D5863EC2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cap="none" dirty="0"/>
              <a:t>The Crimean War – 1853-6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1DEDE-C136-7F21-E542-B5F51A366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79789"/>
            <a:ext cx="3990808" cy="4476536"/>
          </a:xfrm>
        </p:spPr>
        <p:txBody>
          <a:bodyPr>
            <a:normAutofit/>
          </a:bodyPr>
          <a:lstStyle/>
          <a:p>
            <a:r>
              <a:rPr lang="en-GB" sz="2800" dirty="0"/>
              <a:t>At the battle of Balaklava, Britain’s light cavalry force was given orders to charge into a valley to make the Russians abandon their artillery guns.</a:t>
            </a:r>
          </a:p>
        </p:txBody>
      </p:sp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4ADF99AD-2556-08B1-B3C7-911C5B465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171" y="2166640"/>
            <a:ext cx="6898432" cy="418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5F609C-81C1-E6B7-24B7-2189BB3D20BD}"/>
              </a:ext>
            </a:extLst>
          </p:cNvPr>
          <p:cNvSpPr txBox="1"/>
          <p:nvPr/>
        </p:nvSpPr>
        <p:spPr>
          <a:xfrm>
            <a:off x="4739951" y="6371659"/>
            <a:ext cx="7000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Charge of the Light Brigade 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by </a:t>
            </a:r>
            <a:r>
              <a:rPr lang="en-GB" b="0" i="0" u="none" strike="noStrike" dirty="0">
                <a:effectLst/>
                <a:latin typeface="Arial" panose="020B0604020202020204" pitchFamily="34" charset="0"/>
              </a:rPr>
              <a:t>Richard Caton Woodville Jr. (1894)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21928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F5695-EB20-118A-5B84-55050F069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58813-4EDE-2A75-1912-9E67DB3DC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cap="none" dirty="0"/>
              <a:t>The Crimean War – 1853-6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8D11D-2FFA-274B-D6C2-1E35348CD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79789"/>
            <a:ext cx="3990808" cy="4476536"/>
          </a:xfrm>
        </p:spPr>
        <p:txBody>
          <a:bodyPr>
            <a:normAutofit/>
          </a:bodyPr>
          <a:lstStyle/>
          <a:p>
            <a:r>
              <a:rPr lang="en-GB" sz="2800" dirty="0"/>
              <a:t>There was possible miscommunication over the orders given. </a:t>
            </a:r>
          </a:p>
          <a:p>
            <a:r>
              <a:rPr lang="en-GB" sz="2800" dirty="0"/>
              <a:t>The valley was surrounded by Russian infantry, with perhaps 30-40 canons, and Russian cavalry at its end.</a:t>
            </a:r>
          </a:p>
        </p:txBody>
      </p:sp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23A6A185-7652-F64A-BA6C-EE00C86EF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171" y="2166640"/>
            <a:ext cx="6898432" cy="418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2CA710-26E5-8B10-2D53-3B16BC30023F}"/>
              </a:ext>
            </a:extLst>
          </p:cNvPr>
          <p:cNvSpPr txBox="1"/>
          <p:nvPr/>
        </p:nvSpPr>
        <p:spPr>
          <a:xfrm>
            <a:off x="4739951" y="6371659"/>
            <a:ext cx="7000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Charge of the Light Brigade 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by </a:t>
            </a:r>
            <a:r>
              <a:rPr lang="en-GB" b="0" i="0" u="none" strike="noStrike" dirty="0">
                <a:effectLst/>
                <a:latin typeface="Arial" panose="020B0604020202020204" pitchFamily="34" charset="0"/>
              </a:rPr>
              <a:t>Richard Caton Woodville Jr. (1894)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7903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6484C-FAAC-5131-30D6-D22A4FDF8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A04EC-F848-271D-82B9-345F493EB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cap="none" dirty="0"/>
              <a:t>The Crimean War – 1853-6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375D4-35B4-3B53-2213-4E121C9ABB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581192" y="2079789"/>
            <a:ext cx="3990808" cy="4476536"/>
          </a:xfrm>
        </p:spPr>
        <p:txBody>
          <a:bodyPr>
            <a:normAutofit fontScale="92500" lnSpcReduction="20000"/>
          </a:bodyPr>
          <a:lstStyle/>
          <a:p>
            <a:r>
              <a:rPr lang="en-GB" sz="2800" dirty="0"/>
              <a:t>607 men charged in the brigade. 113 were killed and 143 wounded.</a:t>
            </a:r>
          </a:p>
          <a:p>
            <a:r>
              <a:rPr lang="en-GB" sz="2800" dirty="0"/>
              <a:t>There was disagreement over responsibility for the orders, but the British cavalry was considered heroic. </a:t>
            </a:r>
          </a:p>
          <a:p>
            <a:r>
              <a:rPr lang="en-GB" sz="2800" dirty="0"/>
              <a:t>Five weeks later, as poet laureate, Tennyson published his poem in the </a:t>
            </a:r>
            <a:r>
              <a:rPr lang="en-GB" sz="2800" i="1" dirty="0"/>
              <a:t>Examiner </a:t>
            </a:r>
            <a:r>
              <a:rPr lang="en-GB" sz="2800" dirty="0"/>
              <a:t>newspaper.</a:t>
            </a:r>
          </a:p>
        </p:txBody>
      </p:sp>
      <p:pic>
        <p:nvPicPr>
          <p:cNvPr id="4098" name="Picture 2" descr="undefined">
            <a:extLst>
              <a:ext uri="{FF2B5EF4-FFF2-40B4-BE49-F238E27FC236}">
                <a16:creationId xmlns:a16="http://schemas.microsoft.com/office/drawing/2014/main" id="{4D14C364-2303-1F14-8B70-7A558078C2F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869879"/>
            <a:ext cx="7398936" cy="4896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F2C010-D574-9CAF-CFC5-7B394DDBA45E}"/>
              </a:ext>
            </a:extLst>
          </p:cNvPr>
          <p:cNvSpPr txBox="1"/>
          <p:nvPr/>
        </p:nvSpPr>
        <p:spPr>
          <a:xfrm>
            <a:off x="6471138" y="1767083"/>
            <a:ext cx="49236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lithograph by William Simpson (1855)</a:t>
            </a:r>
          </a:p>
        </p:txBody>
      </p:sp>
    </p:spTree>
    <p:extLst>
      <p:ext uri="{BB962C8B-B14F-4D97-AF65-F5344CB8AC3E}">
        <p14:creationId xmlns:p14="http://schemas.microsoft.com/office/powerpoint/2010/main" val="3319816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E8251-7E94-2D35-3B91-137F0E033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i="1" cap="none" dirty="0"/>
              <a:t>The Charge of the Light Brigade </a:t>
            </a:r>
            <a:r>
              <a:rPr lang="en-GB" sz="3600" cap="none" dirty="0"/>
              <a:t>(1854)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976392-9427-3F5D-08D5-EE7436D8C8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581193" y="2180496"/>
            <a:ext cx="4541314" cy="4444239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Half a league, half a league,</a:t>
            </a:r>
            <a:endParaRPr lang="en-GB" sz="2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Half a league onward,</a:t>
            </a:r>
            <a:endParaRPr lang="en-GB" sz="2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All in the valley of Death</a:t>
            </a:r>
            <a:endParaRPr lang="en-GB" sz="2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  Rode the six hundred.</a:t>
            </a:r>
            <a:endParaRPr lang="en-GB" sz="2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“Forward, the Light Brigade!</a:t>
            </a:r>
            <a:endParaRPr lang="en-GB" sz="2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Charge for the guns!” he said.</a:t>
            </a:r>
            <a:endParaRPr lang="en-GB" sz="2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Into the valley of Death</a:t>
            </a:r>
            <a:endParaRPr lang="en-GB" sz="2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  Rode the six hundred.</a:t>
            </a:r>
            <a:endParaRPr lang="en-GB" sz="2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GB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E931FC8-E1B8-E4DB-6913-21A22F009FD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0824" y="2180496"/>
            <a:ext cx="6087085" cy="4444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/>
              <a:t>What is the ‘metre’ (the syllable rhythm of the lines)?</a:t>
            </a:r>
          </a:p>
          <a:p>
            <a:endParaRPr lang="en-GB" sz="2800" dirty="0"/>
          </a:p>
          <a:p>
            <a:r>
              <a:rPr lang="en-GB" sz="2800" dirty="0"/>
              <a:t>Where are the stressed and unstressed syllables?</a:t>
            </a:r>
          </a:p>
          <a:p>
            <a:endParaRPr lang="en-GB" sz="2800" dirty="0"/>
          </a:p>
          <a:p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331E69-BC74-4079-1AAD-FF7F4E1FB716}"/>
              </a:ext>
            </a:extLst>
          </p:cNvPr>
          <p:cNvSpPr txBox="1"/>
          <p:nvPr/>
        </p:nvSpPr>
        <p:spPr>
          <a:xfrm>
            <a:off x="581192" y="1715956"/>
            <a:ext cx="5944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547584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3D1DD-0A4F-3642-8701-DD4ADC8B2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CE389-D9F2-AC2E-E725-B78DC26C5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i="1" cap="none" dirty="0"/>
              <a:t>The Charge of the Light Brigade </a:t>
            </a:r>
            <a:r>
              <a:rPr lang="en-GB" sz="3600" cap="none" dirty="0"/>
              <a:t>(1854)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6792D4-ADFB-1A2C-FEC2-C4B6EAA045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581192" y="2180496"/>
            <a:ext cx="4746587" cy="4444239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Half</a:t>
            </a:r>
            <a:r>
              <a:rPr lang="en-GB" sz="2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sz="28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 league</a:t>
            </a: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GB" sz="28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half</a:t>
            </a: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sz="28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sz="28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league</a:t>
            </a: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</a:t>
            </a:r>
            <a:endParaRPr lang="en-GB" sz="2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Half</a:t>
            </a: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sz="28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 league </a:t>
            </a:r>
            <a:r>
              <a:rPr lang="en-GB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on</a:t>
            </a:r>
            <a:r>
              <a:rPr lang="en-GB" sz="2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ward</a:t>
            </a: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</a:t>
            </a:r>
            <a:endParaRPr lang="en-GB" sz="2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All</a:t>
            </a: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sz="28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in the </a:t>
            </a:r>
            <a:r>
              <a:rPr lang="en-GB" sz="28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GB" sz="28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ley of</a:t>
            </a: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Death</a:t>
            </a:r>
            <a:endParaRPr lang="en-GB" sz="2800" b="1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  </a:t>
            </a:r>
            <a:r>
              <a:rPr lang="en-GB" sz="28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Rode</a:t>
            </a: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sz="28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the six </a:t>
            </a:r>
            <a:r>
              <a:rPr lang="en-GB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hun</a:t>
            </a:r>
            <a:r>
              <a:rPr lang="en-GB" sz="2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dred</a:t>
            </a: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  <a:endParaRPr lang="en-GB" sz="2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GB" sz="28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GB" sz="28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ward</a:t>
            </a: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GB" sz="28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the</a:t>
            </a: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sz="28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Light</a:t>
            </a: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sz="28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Brigade</a:t>
            </a: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!</a:t>
            </a:r>
            <a:endParaRPr lang="en-GB" sz="2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Charge</a:t>
            </a: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sz="28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for the </a:t>
            </a:r>
            <a:r>
              <a:rPr lang="en-GB" sz="28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guns</a:t>
            </a: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!” </a:t>
            </a:r>
            <a:r>
              <a:rPr lang="en-GB" sz="28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he said</a:t>
            </a: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  <a:endParaRPr lang="en-GB" sz="2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GB" sz="28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to the</a:t>
            </a: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sz="28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GB" sz="28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ley</a:t>
            </a: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sz="28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of </a:t>
            </a:r>
            <a:r>
              <a:rPr lang="en-GB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Death</a:t>
            </a:r>
            <a:endParaRPr lang="en-GB" sz="2800" b="1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  </a:t>
            </a:r>
            <a:r>
              <a:rPr lang="en-GB" sz="28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Rode</a:t>
            </a: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sz="28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the six </a:t>
            </a:r>
            <a:r>
              <a:rPr lang="en-GB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hun</a:t>
            </a:r>
            <a:r>
              <a:rPr lang="en-GB" sz="2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dred</a:t>
            </a:r>
            <a:r>
              <a:rPr lang="en-GB" sz="2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  <a:endParaRPr lang="en-GB" sz="2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GB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6D64A69-D57B-2DC3-A911-34D6F4CFBB0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0824" y="2180496"/>
            <a:ext cx="6087085" cy="4444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/>
              <a:t>Dactylic dimeter</a:t>
            </a:r>
          </a:p>
          <a:p>
            <a:endParaRPr lang="en-GB" sz="2800" dirty="0"/>
          </a:p>
          <a:p>
            <a:r>
              <a:rPr lang="en-GB" sz="2800" dirty="0"/>
              <a:t>A dactyl = </a:t>
            </a:r>
            <a:r>
              <a:rPr lang="en-GB" sz="2800" b="1" dirty="0">
                <a:solidFill>
                  <a:srgbClr val="002060"/>
                </a:solidFill>
              </a:rPr>
              <a:t>STRESS</a:t>
            </a:r>
            <a:r>
              <a:rPr lang="en-GB" sz="2800" dirty="0"/>
              <a:t> </a:t>
            </a:r>
            <a:r>
              <a:rPr lang="en-GB" sz="2800" dirty="0">
                <a:solidFill>
                  <a:srgbClr val="0070C0"/>
                </a:solidFill>
              </a:rPr>
              <a:t>unstress unstress</a:t>
            </a:r>
          </a:p>
          <a:p>
            <a:pPr marL="0" indent="0">
              <a:buNone/>
            </a:pPr>
            <a:r>
              <a:rPr lang="en-GB" sz="2800" dirty="0"/>
              <a:t>   dimeter = two ‘feet’</a:t>
            </a:r>
          </a:p>
          <a:p>
            <a:endParaRPr lang="en-GB" sz="2800" dirty="0"/>
          </a:p>
          <a:p>
            <a:r>
              <a:rPr lang="en-GB" sz="2800" dirty="0"/>
              <a:t>The lines are uneven syllable lengths with some </a:t>
            </a:r>
            <a:r>
              <a:rPr lang="en-GB" sz="2800" dirty="0">
                <a:solidFill>
                  <a:srgbClr val="FF0000"/>
                </a:solidFill>
              </a:rPr>
              <a:t>extra syllables and trochees</a:t>
            </a:r>
            <a:r>
              <a:rPr lang="en-GB" sz="2800" dirty="0"/>
              <a:t>.</a:t>
            </a:r>
          </a:p>
          <a:p>
            <a:endParaRPr lang="en-GB" sz="2800" dirty="0"/>
          </a:p>
          <a:p>
            <a:r>
              <a:rPr lang="en-GB" sz="2800" dirty="0"/>
              <a:t>Does it recreate the sound of the charge?</a:t>
            </a:r>
          </a:p>
          <a:p>
            <a:endParaRPr lang="en-GB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46E91-7ABA-20F6-8604-35E6A820BA70}"/>
              </a:ext>
            </a:extLst>
          </p:cNvPr>
          <p:cNvSpPr txBox="1"/>
          <p:nvPr/>
        </p:nvSpPr>
        <p:spPr>
          <a:xfrm>
            <a:off x="581192" y="1715956"/>
            <a:ext cx="5944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187291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4C4D4-4E44-0E0E-DCC6-63102177C2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581192" y="2180496"/>
            <a:ext cx="4765249" cy="4453569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2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“Forward, the Light Brigade!”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2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Was there a man dismayed?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2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Not though the soldier knew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2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  Someone had blundered.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2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  Theirs not to make reply,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2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  Theirs not to reason why,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2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  Theirs but to do and die.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2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  Into the valley of Death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2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  Rode the six hundred.</a:t>
            </a:r>
          </a:p>
          <a:p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9C1A88E-E24C-B8E5-6D34-D87D31772B8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22832" y="2180495"/>
            <a:ext cx="6264368" cy="44535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lang="en-GB" sz="2800" i="1" kern="100" dirty="0">
                <a:ea typeface="DengXian" panose="02010600030101010101" pitchFamily="2" charset="-122"/>
                <a:cs typeface="Times New Roman" panose="02020603050405020304" pitchFamily="18" charset="0"/>
              </a:rPr>
              <a:t>‘Someone had blundered’ </a:t>
            </a:r>
            <a:r>
              <a:rPr lang="en-GB" sz="2800" kern="100" dirty="0">
                <a:ea typeface="DengXian" panose="02010600030101010101" pitchFamily="2" charset="-122"/>
                <a:cs typeface="Times New Roman" panose="02020603050405020304" pitchFamily="18" charset="0"/>
              </a:rPr>
              <a:t> was a line from a newspaper article about the charge.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 2" panose="05020102010507070707" pitchFamily="18" charset="2"/>
              <a:buNone/>
            </a:pPr>
            <a:endParaRPr lang="en-GB" sz="2800" i="1" kern="1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lang="en-GB" sz="2800" kern="100" dirty="0">
                <a:ea typeface="DengXian" panose="02010600030101010101" pitchFamily="2" charset="-122"/>
                <a:cs typeface="Times New Roman" panose="02020603050405020304" pitchFamily="18" charset="0"/>
              </a:rPr>
              <a:t>The ‘valley of death’ references Psalm 23:4 </a:t>
            </a:r>
            <a:r>
              <a:rPr lang="en-GB" sz="2800" i="1" kern="100" dirty="0">
                <a:ea typeface="DengXian" panose="02010600030101010101" pitchFamily="2" charset="-122"/>
                <a:cs typeface="Times New Roman" panose="02020603050405020304" pitchFamily="18" charset="0"/>
              </a:rPr>
              <a:t>“Even though I walk through the valley of the shadow of death, I will fear no evil.”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lang="en-GB" sz="2800" kern="100" dirty="0">
                <a:ea typeface="DengXian" panose="02010600030101010101" pitchFamily="2" charset="-122"/>
                <a:cs typeface="Times New Roman" panose="02020603050405020304" pitchFamily="18" charset="0"/>
              </a:rPr>
              <a:t>It’s a psalm about God as a shepherd, taking care of his sheep.</a:t>
            </a: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C338E7-35B7-7DC9-7AEE-5D8B14192EBA}"/>
              </a:ext>
            </a:extLst>
          </p:cNvPr>
          <p:cNvSpPr txBox="1"/>
          <p:nvPr/>
        </p:nvSpPr>
        <p:spPr>
          <a:xfrm>
            <a:off x="659363" y="1782147"/>
            <a:ext cx="5944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0374757-84D1-A74D-1242-5A4C9FB5A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GB" sz="3600" i="1" cap="none" dirty="0"/>
              <a:t>The Charge of the Light Brigade </a:t>
            </a:r>
            <a:r>
              <a:rPr lang="en-GB" sz="3600" cap="none" dirty="0"/>
              <a:t>(1854)</a:t>
            </a:r>
          </a:p>
        </p:txBody>
      </p:sp>
    </p:spTree>
    <p:extLst>
      <p:ext uri="{BB962C8B-B14F-4D97-AF65-F5344CB8AC3E}">
        <p14:creationId xmlns:p14="http://schemas.microsoft.com/office/powerpoint/2010/main" val="2144397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474FF5-B3FD-473F-97F3-02C398338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Writing about English literature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FBF154-4887-4C92-B9CD-76AAC3C55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130291" cy="3678303"/>
          </a:xfrm>
        </p:spPr>
        <p:txBody>
          <a:bodyPr>
            <a:normAutofit/>
          </a:bodyPr>
          <a:lstStyle/>
          <a:p>
            <a:r>
              <a:rPr lang="en-GB" sz="3200" dirty="0"/>
              <a:t>Which literary techniques does Wordsworth use most notably when describing the scenery in </a:t>
            </a:r>
            <a:r>
              <a:rPr lang="en-GB" sz="3200" i="1" dirty="0"/>
              <a:t>I Wandered Lonely as a Cloud</a:t>
            </a:r>
            <a:r>
              <a:rPr lang="en-GB" sz="3200" dirty="0"/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F763F2-41BC-4E0A-B118-CFF284296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999" y="2369180"/>
            <a:ext cx="5702808" cy="378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693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83432-29C8-6EA0-F4F3-31974B9FB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7C89B-14DA-64C0-B84C-3BAEAAB87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511177"/>
          </a:xfrm>
        </p:spPr>
        <p:txBody>
          <a:bodyPr>
            <a:normAutofit/>
          </a:bodyPr>
          <a:lstStyle/>
          <a:p>
            <a:r>
              <a:rPr lang="en-GB" sz="3200" dirty="0"/>
              <a:t>American Literature: </a:t>
            </a:r>
          </a:p>
          <a:p>
            <a:endParaRPr lang="en-GB" dirty="0"/>
          </a:p>
          <a:p>
            <a:r>
              <a:rPr lang="en-GB" sz="2800" dirty="0"/>
              <a:t>Please read the excerpts from </a:t>
            </a:r>
            <a:r>
              <a:rPr lang="en-GB" sz="2800" i="1" dirty="0"/>
              <a:t>Little Women </a:t>
            </a:r>
            <a:r>
              <a:rPr lang="en-GB" sz="2800" dirty="0"/>
              <a:t>(1868) by Louisa May Alcott, and also watch the 2019 film adaptation (uploaded on Learning in ZJU).</a:t>
            </a:r>
          </a:p>
          <a:p>
            <a:r>
              <a:rPr lang="en-GB" sz="2800" dirty="0"/>
              <a:t>Consider how the film is similar or different to the original novel. </a:t>
            </a:r>
            <a:endParaRPr lang="en-GB" sz="2800" i="1" dirty="0"/>
          </a:p>
        </p:txBody>
      </p:sp>
    </p:spTree>
    <p:extLst>
      <p:ext uri="{BB962C8B-B14F-4D97-AF65-F5344CB8AC3E}">
        <p14:creationId xmlns:p14="http://schemas.microsoft.com/office/powerpoint/2010/main" val="354853523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2304</Words>
  <Application>Microsoft Office PowerPoint</Application>
  <PresentationFormat>Widescreen</PresentationFormat>
  <Paragraphs>236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DengXian</vt:lpstr>
      <vt:lpstr>Aptos</vt:lpstr>
      <vt:lpstr>Arial</vt:lpstr>
      <vt:lpstr>Calibri</vt:lpstr>
      <vt:lpstr>Gill Sans MT</vt:lpstr>
      <vt:lpstr>Times New Roman</vt:lpstr>
      <vt:lpstr>Wingdings 2</vt:lpstr>
      <vt:lpstr>Dividend</vt:lpstr>
      <vt:lpstr>Appreciation of English and American Literature  Week 8:  19th Century Poetry</vt:lpstr>
      <vt:lpstr>Literary Devices – PRactice: Which can you identify in these short excerpts?</vt:lpstr>
      <vt:lpstr>Literary Devices – PRactice: Which can you identify in these short excerpts?</vt:lpstr>
      <vt:lpstr>Literary Devices – PRactice: Which can you identify in these short excerpts?</vt:lpstr>
      <vt:lpstr>Romanticism</vt:lpstr>
      <vt:lpstr>I Wandered Lonely as a Cloud  (Daffodils)</vt:lpstr>
      <vt:lpstr>Cumbria – The Lake District</vt:lpstr>
      <vt:lpstr>I Wandered Lonely as a Cloud  (Daffodils)</vt:lpstr>
      <vt:lpstr>I Wandered Lonely as a Cloud  (Daffodils)</vt:lpstr>
      <vt:lpstr>The Lake District</vt:lpstr>
      <vt:lpstr>Daffodils</vt:lpstr>
      <vt:lpstr>I Wandered Lonely as a Cloud  (Daffodils)</vt:lpstr>
      <vt:lpstr>I Wandered Lonely as a Cloud,  by William Wordsworth (1804)</vt:lpstr>
      <vt:lpstr>I Wandered Lonely as a Cloud,  by William Wordsworth (1804)</vt:lpstr>
      <vt:lpstr>I Wandered Lonely as a Cloud,  by William Wordsworth (1804)</vt:lpstr>
      <vt:lpstr>I Wandered Lonely as a Cloud,  by William Wordsworth (1804)</vt:lpstr>
      <vt:lpstr>I Wandered Lonely as a Cloud  (Daffodils)</vt:lpstr>
      <vt:lpstr>I Wandered Lonely as a Cloud  (Daffodils)</vt:lpstr>
      <vt:lpstr>I Wandered Lonely as a Cloud  (Daffodils)</vt:lpstr>
      <vt:lpstr>Romanticism in Europe</vt:lpstr>
      <vt:lpstr>Romanticism – English poetry </vt:lpstr>
      <vt:lpstr>John Keats – 1795 -1821</vt:lpstr>
      <vt:lpstr>PowerPoint Presentation</vt:lpstr>
      <vt:lpstr>From a letter written by Keats to Fanny:</vt:lpstr>
      <vt:lpstr>Ode on a Grecian Urn (1819) by John Keats</vt:lpstr>
      <vt:lpstr>Ode on a Grecian Urn (1819) by John Keats</vt:lpstr>
      <vt:lpstr>Alfred, Lord Tennyson  (1809-1892)</vt:lpstr>
      <vt:lpstr>The Crimean War – 1853-6</vt:lpstr>
      <vt:lpstr>The Crimean War – 1853-6</vt:lpstr>
      <vt:lpstr>The Crimean War – 1853-6</vt:lpstr>
      <vt:lpstr>The Crimean War – 1853-6</vt:lpstr>
      <vt:lpstr>The Charge of the Light Brigade (1854)</vt:lpstr>
      <vt:lpstr>The Charge of the Light Brigade (1854)</vt:lpstr>
      <vt:lpstr>The Charge of the Light Brigade (1854)</vt:lpstr>
      <vt:lpstr>Writing about English literature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Graham Dominic</dc:creator>
  <cp:lastModifiedBy>Dominic Graham</cp:lastModifiedBy>
  <cp:revision>5</cp:revision>
  <dcterms:created xsi:type="dcterms:W3CDTF">2023-04-03T12:38:18Z</dcterms:created>
  <dcterms:modified xsi:type="dcterms:W3CDTF">2025-11-02T13:03:45Z</dcterms:modified>
</cp:coreProperties>
</file>