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89" r:id="rId2"/>
  </p:sldMasterIdLst>
  <p:sldIdLst>
    <p:sldId id="485" r:id="rId3"/>
    <p:sldId id="268" r:id="rId4"/>
    <p:sldId id="270" r:id="rId5"/>
    <p:sldId id="303" r:id="rId6"/>
    <p:sldId id="304" r:id="rId7"/>
    <p:sldId id="305" r:id="rId8"/>
    <p:sldId id="307" r:id="rId9"/>
    <p:sldId id="308" r:id="rId10"/>
    <p:sldId id="309" r:id="rId11"/>
    <p:sldId id="310" r:id="rId12"/>
    <p:sldId id="312" r:id="rId13"/>
    <p:sldId id="313" r:id="rId14"/>
    <p:sldId id="314" r:id="rId15"/>
    <p:sldId id="282" r:id="rId16"/>
    <p:sldId id="283" r:id="rId17"/>
    <p:sldId id="284" r:id="rId18"/>
    <p:sldId id="491" r:id="rId19"/>
    <p:sldId id="285" r:id="rId20"/>
    <p:sldId id="286" r:id="rId21"/>
    <p:sldId id="298" r:id="rId22"/>
    <p:sldId id="486" r:id="rId23"/>
    <p:sldId id="301" r:id="rId24"/>
    <p:sldId id="497" r:id="rId25"/>
    <p:sldId id="495" r:id="rId26"/>
    <p:sldId id="494" r:id="rId27"/>
    <p:sldId id="496" r:id="rId28"/>
    <p:sldId id="446" r:id="rId29"/>
    <p:sldId id="460" r:id="rId30"/>
    <p:sldId id="461" r:id="rId31"/>
    <p:sldId id="462" r:id="rId32"/>
    <p:sldId id="463" r:id="rId33"/>
    <p:sldId id="464" r:id="rId34"/>
    <p:sldId id="466" r:id="rId35"/>
    <p:sldId id="467" r:id="rId36"/>
    <p:sldId id="468" r:id="rId37"/>
    <p:sldId id="469" r:id="rId38"/>
    <p:sldId id="488" r:id="rId39"/>
    <p:sldId id="501" r:id="rId40"/>
    <p:sldId id="489" r:id="rId41"/>
    <p:sldId id="499" r:id="rId42"/>
    <p:sldId id="500" r:id="rId43"/>
    <p:sldId id="471" r:id="rId44"/>
    <p:sldId id="472" r:id="rId45"/>
    <p:sldId id="482" r:id="rId46"/>
    <p:sldId id="483" r:id="rId47"/>
    <p:sldId id="481" r:id="rId48"/>
    <p:sldId id="315" r:id="rId49"/>
    <p:sldId id="493" r:id="rId50"/>
    <p:sldId id="502" r:id="rId5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microsoft.com/office/2016/11/relationships/changesInfo" Target="changesInfos/changesInfo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ominic Graham" userId="80d46ba77b7de579" providerId="LiveId" clId="{26E50F50-2CA2-45E6-93AD-7DB61FB4EF3E}"/>
    <pc:docChg chg="delSld">
      <pc:chgData name="Dominic Graham" userId="80d46ba77b7de579" providerId="LiveId" clId="{26E50F50-2CA2-45E6-93AD-7DB61FB4EF3E}" dt="2025-03-11T02:26:49.067" v="0" actId="47"/>
      <pc:docMkLst>
        <pc:docMk/>
      </pc:docMkLst>
      <pc:sldChg chg="del">
        <pc:chgData name="Dominic Graham" userId="80d46ba77b7de579" providerId="LiveId" clId="{26E50F50-2CA2-45E6-93AD-7DB61FB4EF3E}" dt="2025-03-11T02:26:49.067" v="0" actId="47"/>
        <pc:sldMkLst>
          <pc:docMk/>
          <pc:sldMk cId="1579185286" sldId="465"/>
        </pc:sldMkLst>
      </pc:sldChg>
    </pc:docChg>
  </pc:docChgLst>
  <pc:docChgLst>
    <pc:chgData name="Dominic Graham" userId="80d46ba77b7de579" providerId="LiveId" clId="{1AE7EF3E-765B-4830-9F41-D7DA456DBC61}"/>
    <pc:docChg chg="custSel modSld">
      <pc:chgData name="Dominic Graham" userId="80d46ba77b7de579" providerId="LiveId" clId="{1AE7EF3E-765B-4830-9F41-D7DA456DBC61}" dt="2025-10-12T13:02:18.229" v="124" actId="114"/>
      <pc:docMkLst>
        <pc:docMk/>
      </pc:docMkLst>
      <pc:sldChg chg="addSp modSp mod modAnim">
        <pc:chgData name="Dominic Graham" userId="80d46ba77b7de579" providerId="LiveId" clId="{1AE7EF3E-765B-4830-9F41-D7DA456DBC61}" dt="2025-10-12T13:02:18.229" v="124" actId="114"/>
        <pc:sldMkLst>
          <pc:docMk/>
          <pc:sldMk cId="2665797874" sldId="499"/>
        </pc:sldMkLst>
        <pc:spChg chg="add mod">
          <ac:chgData name="Dominic Graham" userId="80d46ba77b7de579" providerId="LiveId" clId="{1AE7EF3E-765B-4830-9F41-D7DA456DBC61}" dt="2025-10-12T13:02:18.229" v="124" actId="114"/>
          <ac:spMkLst>
            <pc:docMk/>
            <pc:sldMk cId="2665797874" sldId="499"/>
            <ac:spMk id="4" creationId="{04734313-EBAD-A124-BED4-3DE62E2BCDAB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8EDA1-3725-4F06-A23E-7853F1E77AF2}" type="datetimeFigureOut">
              <a:rPr lang="en-GB" smtClean="0"/>
              <a:t>12/10/2025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0714B-E9FF-4D02-87DC-6B2D97CD423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52780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8EDA1-3725-4F06-A23E-7853F1E77AF2}" type="datetimeFigureOut">
              <a:rPr lang="en-GB" smtClean="0"/>
              <a:t>12/10/2025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0714B-E9FF-4D02-87DC-6B2D97CD423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98845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8EDA1-3725-4F06-A23E-7853F1E77AF2}" type="datetimeFigureOut">
              <a:rPr lang="en-GB" smtClean="0"/>
              <a:t>12/10/2025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0714B-E9FF-4D02-87DC-6B2D97CD423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20919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8EDA1-3725-4F06-A23E-7853F1E77AF2}" type="datetimeFigureOut">
              <a:rPr lang="en-GB" smtClean="0"/>
              <a:t>12/10/2025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0714B-E9FF-4D02-87DC-6B2D97CD423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63658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8EDA1-3725-4F06-A23E-7853F1E77AF2}" type="datetimeFigureOut">
              <a:rPr lang="en-GB" smtClean="0"/>
              <a:t>12/10/2025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0714B-E9FF-4D02-87DC-6B2D97CD423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68768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8EDA1-3725-4F06-A23E-7853F1E77AF2}" type="datetimeFigureOut">
              <a:rPr lang="en-GB" smtClean="0"/>
              <a:t>12/10/2025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0714B-E9FF-4D02-87DC-6B2D97CD423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12355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8EDA1-3725-4F06-A23E-7853F1E77AF2}" type="datetimeFigureOut">
              <a:rPr lang="en-GB" smtClean="0"/>
              <a:t>12/10/2025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0714B-E9FF-4D02-87DC-6B2D97CD423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95550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8EDA1-3725-4F06-A23E-7853F1E77AF2}" type="datetimeFigureOut">
              <a:rPr lang="en-GB" smtClean="0"/>
              <a:t>12/10/2025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0714B-E9FF-4D02-87DC-6B2D97CD423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47794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0714B-E9FF-4D02-87DC-6B2D97CD4236}" type="slidenum">
              <a:rPr lang="en-GB" smtClean="0"/>
              <a:t>‹#›</a:t>
            </a:fld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8EDA1-3725-4F06-A23E-7853F1E77AF2}" type="datetimeFigureOut">
              <a:rPr lang="en-GB" smtClean="0"/>
              <a:t>12/10/2025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93529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8EDA1-3725-4F06-A23E-7853F1E77AF2}" type="datetimeFigureOut">
              <a:rPr lang="en-GB" smtClean="0"/>
              <a:t>12/10/2025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0714B-E9FF-4D02-87DC-6B2D97CD423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15105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8EDA1-3725-4F06-A23E-7853F1E77AF2}" type="datetimeFigureOut">
              <a:rPr lang="en-GB" smtClean="0"/>
              <a:t>12/10/2025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0714B-E9FF-4D02-87DC-6B2D97CD4236}" type="slidenum">
              <a:rPr lang="en-GB" smtClean="0"/>
              <a:t>‹#›</a:t>
            </a:fld>
            <a:endParaRPr lang="en-GB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937442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8EDA1-3725-4F06-A23E-7853F1E77AF2}" type="datetimeFigureOut">
              <a:rPr lang="en-GB" smtClean="0"/>
              <a:t>12/10/2025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0714B-E9FF-4D02-87DC-6B2D97CD423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84672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8EDA1-3725-4F06-A23E-7853F1E77AF2}" type="datetimeFigureOut">
              <a:rPr lang="en-GB" smtClean="0"/>
              <a:t>12/10/2025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0714B-E9FF-4D02-87DC-6B2D97CD4236}" type="slidenum">
              <a:rPr lang="en-GB" smtClean="0"/>
              <a:t>‹#›</a:t>
            </a:fld>
            <a:endParaRPr lang="en-GB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193618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8EDA1-3725-4F06-A23E-7853F1E77AF2}" type="datetimeFigureOut">
              <a:rPr lang="en-GB" smtClean="0"/>
              <a:t>12/10/2025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0714B-E9FF-4D02-87DC-6B2D97CD423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134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8EDA1-3725-4F06-A23E-7853F1E77AF2}" type="datetimeFigureOut">
              <a:rPr lang="en-GB" smtClean="0"/>
              <a:t>12/10/2025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0714B-E9FF-4D02-87DC-6B2D97CD423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04072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8EDA1-3725-4F06-A23E-7853F1E77AF2}" type="datetimeFigureOut">
              <a:rPr lang="en-GB" smtClean="0"/>
              <a:t>12/10/2025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0714B-E9FF-4D02-87DC-6B2D97CD423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24482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E33DE-FF78-4854-A2A4-7E27DE7FF6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9A2C95-AE80-40EA-9655-7C3E3BD17F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C7AC77-2A6F-4594-BEE6-E25DD447B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3E47D-9945-4FC7-91C2-8905025DE915}" type="datetimeFigureOut">
              <a:rPr lang="en-GB" smtClean="0"/>
              <a:t>12/10/2025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14C944-1197-48FF-B252-9E56CF7CD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EF3A46-424F-4FAF-A330-65F76843B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33718-0899-4863-BC63-D6618D924F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488961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3C622-8C3D-4C1A-B654-B4CC6EE73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EFFB21-BAF2-48C8-8F9C-5078D30BCA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BD03FC-9722-42B6-9B11-C09BDD7B3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3E47D-9945-4FC7-91C2-8905025DE915}" type="datetimeFigureOut">
              <a:rPr lang="en-GB" smtClean="0"/>
              <a:t>12/10/2025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A6F746-B263-4ADC-9A0A-C98D2429E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A8473E-6BA2-47A2-8876-3F55C2356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33718-0899-4863-BC63-D6618D924F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6619350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BFF71-78F2-438C-9009-F90F97AB08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45B838-9A6E-4521-B726-B532BCB434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B1EAB2-6033-4BD6-BC8E-886B068B80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3E47D-9945-4FC7-91C2-8905025DE915}" type="datetimeFigureOut">
              <a:rPr lang="en-GB" smtClean="0"/>
              <a:t>12/10/2025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05E31E-1282-4E9C-B0B9-CC4C2136B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D94F60-7963-4173-B389-5D9DCDC39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33718-0899-4863-BC63-D6618D924F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827512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6AAB0D-C918-492F-879B-A7B2A01E3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D89358-73EA-472F-8711-297E567354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07DD6D-7B72-4D21-A93F-697824D76C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FC7580-6A45-4C40-9EC3-1D0D1199D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3E47D-9945-4FC7-91C2-8905025DE915}" type="datetimeFigureOut">
              <a:rPr lang="en-GB" smtClean="0"/>
              <a:t>12/10/2025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086783-503E-406E-89FB-56A8AF7A3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4F858C-30BE-4A42-BC6F-B47D41D53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33718-0899-4863-BC63-D6618D924F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029788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E7BC93-EC4A-4BAE-9F6A-E1EB78EC2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4DA79A-DFA8-4DA7-B3E6-90C9F2F27B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9D7333-0FAC-49E1-A658-6C89A05C05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EB5512-31DA-4025-916E-F2F92AC4B8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131F06B-CD7E-43F4-A756-45508CD355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8FFF8C-AA08-4853-8862-55E4297345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3E47D-9945-4FC7-91C2-8905025DE915}" type="datetimeFigureOut">
              <a:rPr lang="en-GB" smtClean="0"/>
              <a:t>12/10/2025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F7D52D0-78A7-4154-BC71-E2309F891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9D190F2-2F08-4F61-B6D8-4E934FD2F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33718-0899-4863-BC63-D6618D924F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03410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39EA8-55AF-4752-9AD0-C1E9F18F1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4F04A5-1204-4DDC-96D4-940BA76B04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3E47D-9945-4FC7-91C2-8905025DE915}" type="datetimeFigureOut">
              <a:rPr lang="en-GB" smtClean="0"/>
              <a:t>12/10/2025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772C1E-578F-4983-9D08-78797A9E9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CB727A-F4D9-4FC2-9845-069A342EC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33718-0899-4863-BC63-D6618D924F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76151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33C1FA-FAD0-4BDF-B600-CE8935465D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3E47D-9945-4FC7-91C2-8905025DE915}" type="datetimeFigureOut">
              <a:rPr lang="en-GB" smtClean="0"/>
              <a:t>12/10/2025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D61A503-EF5A-41EF-84FD-7B48F0E22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C04400-755D-44B8-BD8C-A9E9AB451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33718-0899-4863-BC63-D6618D924F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8923061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DFC067-342A-4132-962B-5B66B2CE37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A662CA-FDFB-4578-9AD0-5DF7280E09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829AFD-AC0F-49A1-8646-294D87D446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052176-2643-4F55-AC55-2C9040B5CB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3E47D-9945-4FC7-91C2-8905025DE915}" type="datetimeFigureOut">
              <a:rPr lang="en-GB" smtClean="0"/>
              <a:t>12/10/2025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BB2797-DA13-44A7-ABAC-C003C28C2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80EF15-2044-4F06-9E8C-1018AB386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33718-0899-4863-BC63-D6618D924F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510268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305A0B-B10D-469C-AE32-DB11C73214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55907E7-E2AF-4398-8CA1-4863E4E687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61B102-6805-488D-B207-1E3219B1D6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19A317-21A5-4B45-A2F3-3A2F8E3143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3E47D-9945-4FC7-91C2-8905025DE915}" type="datetimeFigureOut">
              <a:rPr lang="en-GB" smtClean="0"/>
              <a:t>12/10/2025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97D3A8-0FBF-4108-828E-BBCD511F22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1B2275-1C19-4AEA-88F4-A111CF670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33718-0899-4863-BC63-D6618D924F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05097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9C00A-DA4D-4D81-AD60-2238841F80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6B5464-3DCC-493C-8F44-C4D5746F03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B74E2E-A46C-4967-8690-D9F1F7DA4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3E47D-9945-4FC7-91C2-8905025DE915}" type="datetimeFigureOut">
              <a:rPr lang="en-GB" smtClean="0"/>
              <a:t>12/10/2025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C84B31-2D39-4C00-A50F-1AA231E56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030161-94B8-4637-8BFF-C6F8C04C9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33718-0899-4863-BC63-D6618D924F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52947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7FC9F96-429C-420C-95D5-BAA8D3A0DE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A99B3E-8331-427C-8FD1-ACD3901349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3A5C07-C1C0-4112-8032-0644BC034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3E47D-9945-4FC7-91C2-8905025DE915}" type="datetimeFigureOut">
              <a:rPr lang="en-GB" smtClean="0"/>
              <a:t>12/10/2025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8EAEEB-1F17-4391-8F6C-F9EA6249E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46A4CA-C590-4F4A-801D-87D38A717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33718-0899-4863-BC63-D6618D924F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51471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08EDA1-3725-4F06-A23E-7853F1E77AF2}" type="datetimeFigureOut">
              <a:rPr lang="en-GB" smtClean="0"/>
              <a:t>12/10/2025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FDF0714B-E9FF-4D02-87DC-6B2D97CD423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937573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763391-F39D-40E1-BFD9-C0D7864FC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A78C49-0230-446C-BDD6-8CAB5BD704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CC54BA-BCAF-49DA-8E44-9BCF8DC594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D09CEF-B5C2-4671-B6C3-D297EAAB49EB}" type="datetimeFigureOut">
              <a:rPr lang="en-GB" smtClean="0"/>
              <a:t>12/10/2025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6B42B6-98F9-420C-AF87-6B2573728D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0BD565-3DC4-4832-9555-25002E30EF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64D44D-59B6-42FA-ABF0-C6280425C16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6506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hyperlink" Target="https://www.google.co.uk/url?sa=i&amp;rct=j&amp;q=&amp;esrc=s&amp;source=images&amp;cd=&amp;cad=rja&amp;uact=8&amp;ved=0ahUKEwiortXjzuLKAhVJDxoKHV6GDGkQjRwIBw&amp;url=http://nj1015.com/all-valentines-day-cards-are-not-created-equal-a-primer-for-the-last-minute-card-buyer/&amp;bvm=bv.113370389,d.d2s&amp;psig=AFQjCNGoOrKowim9fSTxTUkBYcEplRaHSw&amp;ust=1454830136296095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hyperlink" Target="https://www.google.co.uk/url?sa=i&amp;rct=j&amp;q=&amp;esrc=s&amp;source=images&amp;cd=&amp;cad=rja&amp;uact=8&amp;ved=0ahUKEwiN2tOj2OLKAhWFuBoKHTluA_YQjRwIBw&amp;url=https://www.etsy.com/uk/listing/219111688/im-so-glad-i-swiped-right-tinder-card&amp;bvm=bv.113370389,d.d2s&amp;psig=AFQjCNHUaOxxvL-luV7t2a1L6Q5WiJcWiQ&amp;ust=1454832528524034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hyperlink" Target="https://www.google.co.uk/url?sa=i&amp;rct=j&amp;q=&amp;esrc=s&amp;source=images&amp;cd=&amp;cad=rja&amp;uact=8&amp;ved=0ahUKEwjL3aK3zuLKAhWBVBoKHZlOBUoQjRwIBw&amp;url=https://emmasrandomthoughts.wordpress.com/2014/07/28/the-very-truth-and-nature-of-ambivalance-my-thoughts-on-romeo-and-juliet/&amp;psig=AFQjCNGykQQi-ucP_f6G5cMtGBIfT6477A&amp;ust=1454830037139681" TargetMode="External"/><Relationship Id="rId1" Type="http://schemas.openxmlformats.org/officeDocument/2006/relationships/slideLayout" Target="../slideLayouts/slideLayout2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18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8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5.jp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18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18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0.jpe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hyperlink" Target="https://www.google.co.jp/url?sa=i&amp;rct=j&amp;q=&amp;esrc=s&amp;source=images&amp;cd=&amp;cad=rja&amp;uact=8&amp;ved=&amp;url=http://www.wonderland-london.com/2011_12_01_archive.html&amp;psig=AFQjCNH2Pax2IJmKmMjV2VKA-U4XMlykZg&amp;ust=1456559622677729" TargetMode="Externa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3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jp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6835F27-E73A-EE60-BFF5-E507ACF2288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GB" sz="4400" dirty="0">
                <a:solidFill>
                  <a:srgbClr val="0070C0"/>
                </a:solidFill>
              </a:rPr>
              <a:t>Appreciation of English and American Literature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B22865AF-1B46-CB57-F49F-FD3412CE0D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4349413"/>
            <a:ext cx="7766936" cy="1096899"/>
          </a:xfrm>
        </p:spPr>
        <p:txBody>
          <a:bodyPr>
            <a:normAutofit fontScale="92500"/>
          </a:bodyPr>
          <a:lstStyle/>
          <a:p>
            <a:pPr algn="l"/>
            <a:r>
              <a:rPr lang="en-GB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Week 4 – </a:t>
            </a:r>
            <a:r>
              <a:rPr lang="en-GB" sz="28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Romeo and Juliet </a:t>
            </a:r>
            <a:r>
              <a:rPr lang="en-GB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by William Shakespeare</a:t>
            </a:r>
          </a:p>
          <a:p>
            <a:pPr algn="l"/>
            <a:r>
              <a:rPr lang="en-GB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	       Syllables and poetic metre</a:t>
            </a:r>
          </a:p>
        </p:txBody>
      </p:sp>
    </p:spTree>
    <p:extLst>
      <p:ext uri="{BB962C8B-B14F-4D97-AF65-F5344CB8AC3E}">
        <p14:creationId xmlns:p14="http://schemas.microsoft.com/office/powerpoint/2010/main" val="253963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9730AA-796F-49DD-BDDC-B214D0652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800" dirty="0">
                <a:solidFill>
                  <a:srgbClr val="0070C0"/>
                </a:solidFill>
              </a:rPr>
              <a:t>Pronunciation and Syllables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A8DEE9-A8B5-4205-B275-CD32B20341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endParaRPr lang="en-GB" dirty="0"/>
          </a:p>
          <a:p>
            <a:r>
              <a:rPr lang="en-GB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Understanding how the English Language Works</a:t>
            </a:r>
          </a:p>
        </p:txBody>
      </p:sp>
    </p:spTree>
    <p:extLst>
      <p:ext uri="{BB962C8B-B14F-4D97-AF65-F5344CB8AC3E}">
        <p14:creationId xmlns:p14="http://schemas.microsoft.com/office/powerpoint/2010/main" val="40693394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altLang="zh-CN" sz="4800" dirty="0">
                <a:solidFill>
                  <a:srgbClr val="0070C0"/>
                </a:solidFill>
              </a:rPr>
              <a:t>What is a syllable?</a:t>
            </a:r>
            <a:endParaRPr lang="en-US" altLang="zh-CN" sz="4800" dirty="0">
              <a:solidFill>
                <a:srgbClr val="0070C0"/>
              </a:solidFill>
            </a:endParaRP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77333" y="2160589"/>
            <a:ext cx="9275049" cy="3880773"/>
          </a:xfrm>
        </p:spPr>
        <p:txBody>
          <a:bodyPr/>
          <a:lstStyle/>
          <a:p>
            <a:endParaRPr lang="en-US" altLang="zh-CN" dirty="0"/>
          </a:p>
          <a:p>
            <a:r>
              <a:rPr lang="en-US" altLang="zh-CN" sz="3400" dirty="0"/>
              <a:t>A syllable is a single unit of sound.</a:t>
            </a:r>
          </a:p>
          <a:p>
            <a:pPr marL="0" indent="0">
              <a:buNone/>
            </a:pPr>
            <a:endParaRPr lang="en-US" altLang="zh-CN" sz="3400" dirty="0"/>
          </a:p>
          <a:p>
            <a:pPr marL="0" indent="0">
              <a:buNone/>
            </a:pPr>
            <a:r>
              <a:rPr lang="en-US" altLang="zh-CN" sz="3400" dirty="0"/>
              <a:t> Syllables are the building blocks of words. </a:t>
            </a:r>
          </a:p>
        </p:txBody>
      </p:sp>
    </p:spTree>
    <p:extLst>
      <p:ext uri="{BB962C8B-B14F-4D97-AF65-F5344CB8AC3E}">
        <p14:creationId xmlns:p14="http://schemas.microsoft.com/office/powerpoint/2010/main" val="408852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 anchor="ctr"/>
          <a:lstStyle/>
          <a:p>
            <a:pPr algn="ctr"/>
            <a:r>
              <a:rPr lang="en-US" altLang="zh-CN" sz="5400" dirty="0">
                <a:solidFill>
                  <a:srgbClr val="0070C0"/>
                </a:solidFill>
              </a:rPr>
              <a:t>Rhyme and Syllables</a:t>
            </a:r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endParaRPr lang="en-US" altLang="zh-CN" sz="2100" dirty="0"/>
          </a:p>
          <a:p>
            <a:r>
              <a:rPr lang="en-US" altLang="zh-CN" sz="2800" dirty="0"/>
              <a:t>Example of rhyming syllables: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 dirty="0"/>
              <a:t>				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 dirty="0"/>
              <a:t>			 Pig…</a:t>
            </a:r>
          </a:p>
          <a:p>
            <a:endParaRPr lang="en-US" altLang="zh-CN" sz="2800" dirty="0"/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5395301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 anchor="ctr"/>
          <a:lstStyle/>
          <a:p>
            <a:pPr algn="ctr"/>
            <a:r>
              <a:rPr lang="en-US" altLang="zh-CN" sz="5400" dirty="0">
                <a:solidFill>
                  <a:srgbClr val="0070C0"/>
                </a:solidFill>
              </a:rPr>
              <a:t>Rhyme and Syllables</a:t>
            </a:r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endParaRPr lang="en-US" altLang="zh-CN" sz="2100" dirty="0"/>
          </a:p>
          <a:p>
            <a:r>
              <a:rPr lang="en-US" altLang="zh-CN" sz="2800" dirty="0"/>
              <a:t>Example of rhyming syllables: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 dirty="0"/>
              <a:t>				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 dirty="0"/>
              <a:t>			 Pig, Big, Dig, Fig, Gig, Wig </a:t>
            </a:r>
          </a:p>
          <a:p>
            <a:endParaRPr lang="en-US" altLang="zh-CN" sz="2800" dirty="0"/>
          </a:p>
          <a:p>
            <a:r>
              <a:rPr lang="en-US" altLang="zh-CN" sz="2800" dirty="0"/>
              <a:t>Tree……</a:t>
            </a:r>
          </a:p>
        </p:txBody>
      </p:sp>
    </p:spTree>
    <p:extLst>
      <p:ext uri="{BB962C8B-B14F-4D97-AF65-F5344CB8AC3E}">
        <p14:creationId xmlns:p14="http://schemas.microsoft.com/office/powerpoint/2010/main" val="4248886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 anchor="ctr"/>
          <a:lstStyle/>
          <a:p>
            <a:pPr algn="ctr"/>
            <a:r>
              <a:rPr lang="en-US" altLang="zh-CN" sz="5400" dirty="0">
                <a:solidFill>
                  <a:srgbClr val="0070C0"/>
                </a:solidFill>
              </a:rPr>
              <a:t>Rhyme and Syllables</a:t>
            </a:r>
          </a:p>
        </p:txBody>
      </p:sp>
      <p:sp>
        <p:nvSpPr>
          <p:cNvPr id="67587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endParaRPr lang="en-US" altLang="zh-CN" sz="2100" dirty="0"/>
          </a:p>
          <a:p>
            <a:r>
              <a:rPr lang="en-US" altLang="zh-CN" sz="2800" dirty="0"/>
              <a:t>Example of rhyming syllables: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 dirty="0"/>
              <a:t>				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 dirty="0"/>
              <a:t>			 Pig, Big, Dig, Fig, Gig, Wig</a:t>
            </a:r>
          </a:p>
          <a:p>
            <a:endParaRPr lang="en-US" altLang="zh-CN" sz="2800" dirty="0"/>
          </a:p>
          <a:p>
            <a:r>
              <a:rPr lang="en-US" altLang="zh-CN" sz="2800" dirty="0"/>
              <a:t>Tree…… Knee, See, Bee, Be, Free, He, 			  She, Completely, Utterly, Symbolically... </a:t>
            </a:r>
          </a:p>
        </p:txBody>
      </p:sp>
    </p:spTree>
    <p:extLst>
      <p:ext uri="{BB962C8B-B14F-4D97-AF65-F5344CB8AC3E}">
        <p14:creationId xmlns:p14="http://schemas.microsoft.com/office/powerpoint/2010/main" val="2403056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 anchor="ctr"/>
          <a:lstStyle/>
          <a:p>
            <a:pPr algn="ctr"/>
            <a:r>
              <a:rPr lang="en-US" altLang="zh-CN" sz="5400" dirty="0">
                <a:solidFill>
                  <a:srgbClr val="0070C0"/>
                </a:solidFill>
              </a:rPr>
              <a:t>Rhyme and Syllables</a:t>
            </a:r>
          </a:p>
        </p:txBody>
      </p:sp>
      <p:sp>
        <p:nvSpPr>
          <p:cNvPr id="67587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endParaRPr lang="en-US" altLang="zh-CN" sz="2100" dirty="0"/>
          </a:p>
          <a:p>
            <a:r>
              <a:rPr lang="en-US" altLang="zh-CN" sz="2800" dirty="0"/>
              <a:t>Example of rhyming syllables: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 dirty="0"/>
              <a:t>				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 dirty="0"/>
              <a:t>			 Orange… </a:t>
            </a:r>
          </a:p>
        </p:txBody>
      </p:sp>
    </p:spTree>
    <p:extLst>
      <p:ext uri="{BB962C8B-B14F-4D97-AF65-F5344CB8AC3E}">
        <p14:creationId xmlns:p14="http://schemas.microsoft.com/office/powerpoint/2010/main" val="28287689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 anchor="ctr"/>
          <a:lstStyle/>
          <a:p>
            <a:pPr algn="ctr"/>
            <a:r>
              <a:rPr lang="en-US" altLang="zh-CN" sz="5400" dirty="0">
                <a:solidFill>
                  <a:srgbClr val="0070C0"/>
                </a:solidFill>
              </a:rPr>
              <a:t>Rhyme and Syllables</a:t>
            </a:r>
          </a:p>
        </p:txBody>
      </p:sp>
      <p:sp>
        <p:nvSpPr>
          <p:cNvPr id="6758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77334" y="2160589"/>
            <a:ext cx="9437050" cy="3880773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endParaRPr lang="en-US" altLang="zh-CN" sz="2100" dirty="0"/>
          </a:p>
          <a:p>
            <a:r>
              <a:rPr lang="en-US" altLang="zh-CN" sz="2800" dirty="0"/>
              <a:t>Example of rhyming syllables: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 dirty="0"/>
              <a:t>				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 dirty="0"/>
              <a:t>			 Orange… singe, binge, hinge, syringe, fringe</a:t>
            </a:r>
          </a:p>
        </p:txBody>
      </p:sp>
    </p:spTree>
    <p:extLst>
      <p:ext uri="{BB962C8B-B14F-4D97-AF65-F5344CB8AC3E}">
        <p14:creationId xmlns:p14="http://schemas.microsoft.com/office/powerpoint/2010/main" val="2525735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B7334-D011-41B0-B7EF-3074AE7D5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sz="4800" b="1" dirty="0">
                <a:solidFill>
                  <a:srgbClr val="0070C0"/>
                </a:solidFill>
              </a:rPr>
              <a:t>Syllables, Stress and Timing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69D496-742F-4814-A8F9-690507EFDF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8903988" cy="3880773"/>
          </a:xfrm>
        </p:spPr>
        <p:txBody>
          <a:bodyPr>
            <a:normAutofit fontScale="85000" lnSpcReduction="20000"/>
          </a:bodyPr>
          <a:lstStyle/>
          <a:p>
            <a:r>
              <a:rPr lang="en-GB" sz="2800" dirty="0"/>
              <a:t>Chinese Mandarin and other varieties of Chinese are usually considered to be </a:t>
            </a:r>
            <a:r>
              <a:rPr lang="en-GB" sz="2800" dirty="0">
                <a:solidFill>
                  <a:srgbClr val="FF0000"/>
                </a:solidFill>
              </a:rPr>
              <a:t>syllable-timed</a:t>
            </a:r>
            <a:r>
              <a:rPr lang="en-GB" sz="2800" dirty="0"/>
              <a:t>. The syllables have equal length (more or less).</a:t>
            </a:r>
          </a:p>
          <a:p>
            <a:endParaRPr lang="en-GB" sz="2800" dirty="0"/>
          </a:p>
          <a:p>
            <a:r>
              <a:rPr lang="en-GB" sz="2800" dirty="0"/>
              <a:t>English is a </a:t>
            </a:r>
            <a:r>
              <a:rPr lang="en-GB" sz="2800" dirty="0">
                <a:solidFill>
                  <a:srgbClr val="0070C0"/>
                </a:solidFill>
              </a:rPr>
              <a:t>stress-timed</a:t>
            </a:r>
            <a:r>
              <a:rPr lang="en-GB" sz="2800" dirty="0"/>
              <a:t> language. The syllables have differing lengths, building different rhythms. </a:t>
            </a:r>
          </a:p>
          <a:p>
            <a:endParaRPr lang="en-GB" sz="2800" dirty="0"/>
          </a:p>
          <a:p>
            <a:r>
              <a:rPr lang="en-GB" sz="2800" dirty="0"/>
              <a:t>In English each word has one stress, and sentences have patterns of stress. This give English a particular intonation and musical ‘rise and fall.’</a:t>
            </a:r>
          </a:p>
        </p:txBody>
      </p:sp>
    </p:spTree>
    <p:extLst>
      <p:ext uri="{BB962C8B-B14F-4D97-AF65-F5344CB8AC3E}">
        <p14:creationId xmlns:p14="http://schemas.microsoft.com/office/powerpoint/2010/main" val="4139293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altLang="zh-CN" sz="4900" b="1" dirty="0">
                <a:solidFill>
                  <a:srgbClr val="0070C0"/>
                </a:solidFill>
              </a:rPr>
              <a:t>English and Syllables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>
          <a:xfrm>
            <a:off x="677334" y="2160589"/>
            <a:ext cx="8596668" cy="4332976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80000"/>
              </a:lnSpc>
            </a:pPr>
            <a:r>
              <a:rPr lang="en-US" altLang="zh-CN" sz="3300" dirty="0"/>
              <a:t>How many syllables?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GB" altLang="zh-CN" sz="3300" dirty="0"/>
              <a:t>			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GB" altLang="zh-CN" sz="3300" dirty="0"/>
              <a:t>			dog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GB" altLang="zh-CN" sz="3300" dirty="0"/>
              <a:t>			lion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GB" altLang="zh-CN" sz="3300" dirty="0"/>
              <a:t>			begin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GB" altLang="zh-CN" sz="3300" dirty="0"/>
              <a:t>			computer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GB" altLang="zh-CN" sz="3300" dirty="0"/>
              <a:t>			string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GB" altLang="zh-CN" sz="3300" dirty="0"/>
              <a:t>			accident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GB" altLang="zh-CN" sz="3300" dirty="0"/>
              <a:t>			activity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GB" altLang="zh-CN" sz="3300" dirty="0"/>
              <a:t>			appropriately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GB" altLang="zh-CN" sz="3300" dirty="0"/>
              <a:t>			</a:t>
            </a:r>
            <a:endParaRPr lang="en-US" altLang="zh-CN" sz="3300" dirty="0"/>
          </a:p>
          <a:p>
            <a:pPr>
              <a:lnSpc>
                <a:spcPct val="80000"/>
              </a:lnSpc>
            </a:pPr>
            <a:endParaRPr lang="en-US" altLang="zh-CN" sz="2600" dirty="0"/>
          </a:p>
        </p:txBody>
      </p:sp>
    </p:spTree>
    <p:extLst>
      <p:ext uri="{BB962C8B-B14F-4D97-AF65-F5344CB8AC3E}">
        <p14:creationId xmlns:p14="http://schemas.microsoft.com/office/powerpoint/2010/main" val="1580080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8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84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4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84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84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CN" b="1" dirty="0">
                <a:solidFill>
                  <a:srgbClr val="0070C0"/>
                </a:solidFill>
              </a:rPr>
              <a:t>When we stress a syllable</a:t>
            </a:r>
            <a:r>
              <a:rPr lang="en-GB" altLang="zh-CN" b="1" dirty="0">
                <a:solidFill>
                  <a:srgbClr val="0070C0"/>
                </a:solidFill>
                <a:latin typeface="Arial" panose="020B0604020202020204" pitchFamily="34" charset="0"/>
              </a:rPr>
              <a:t>…</a:t>
            </a:r>
            <a:endParaRPr lang="en-US" altLang="zh-CN" b="1" dirty="0">
              <a:solidFill>
                <a:srgbClr val="0070C0"/>
              </a:solidFill>
            </a:endParaRPr>
          </a:p>
        </p:txBody>
      </p:sp>
      <p:sp>
        <p:nvSpPr>
          <p:cNvPr id="808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77334" y="2027583"/>
            <a:ext cx="8596668" cy="4013779"/>
          </a:xfrm>
        </p:spPr>
        <p:txBody>
          <a:bodyPr>
            <a:noAutofit/>
          </a:bodyPr>
          <a:lstStyle/>
          <a:p>
            <a:r>
              <a:rPr lang="en-GB" altLang="zh-CN" sz="2400" dirty="0"/>
              <a:t>1.	It is longer…  </a:t>
            </a:r>
            <a:r>
              <a:rPr lang="en-GB" altLang="zh-CN" sz="2400" b="1" dirty="0">
                <a:solidFill>
                  <a:srgbClr val="0070C0"/>
                </a:solidFill>
              </a:rPr>
              <a:t>Eng</a:t>
            </a:r>
            <a:r>
              <a:rPr lang="en-GB" altLang="zh-CN" sz="2400" dirty="0">
                <a:solidFill>
                  <a:schemeClr val="tx1"/>
                </a:solidFill>
              </a:rPr>
              <a:t>-</a:t>
            </a:r>
            <a:r>
              <a:rPr lang="en-GB" altLang="zh-CN" sz="2400" dirty="0"/>
              <a:t>lish </a:t>
            </a:r>
            <a:r>
              <a:rPr lang="en-GB" altLang="zh-CN" sz="2400" b="1" dirty="0">
                <a:solidFill>
                  <a:srgbClr val="0070C0"/>
                </a:solidFill>
              </a:rPr>
              <a:t>lang</a:t>
            </a:r>
            <a:r>
              <a:rPr lang="en-GB" altLang="zh-CN" sz="2400" dirty="0"/>
              <a:t>-</a:t>
            </a:r>
            <a:r>
              <a:rPr lang="en-GB" altLang="zh-CN" sz="2400" dirty="0" err="1"/>
              <a:t>uage</a:t>
            </a:r>
            <a:endParaRPr lang="en-GB" altLang="zh-CN" sz="2400" dirty="0"/>
          </a:p>
          <a:p>
            <a:endParaRPr lang="en-GB" altLang="zh-CN" sz="1200" dirty="0"/>
          </a:p>
          <a:p>
            <a:r>
              <a:rPr lang="en-GB" altLang="zh-CN" sz="2400" dirty="0"/>
              <a:t>2.	It’s a bit louder</a:t>
            </a:r>
          </a:p>
          <a:p>
            <a:endParaRPr lang="en-GB" altLang="zh-CN" sz="1200" dirty="0"/>
          </a:p>
          <a:p>
            <a:r>
              <a:rPr lang="en-GB" altLang="zh-CN" sz="2400" dirty="0"/>
              <a:t>3.	It’s usually higher pitch (tone)</a:t>
            </a:r>
          </a:p>
          <a:p>
            <a:endParaRPr lang="en-GB" altLang="zh-CN" sz="1200" dirty="0"/>
          </a:p>
          <a:p>
            <a:r>
              <a:rPr lang="en-GB" altLang="zh-CN" sz="2400" dirty="0"/>
              <a:t>4.	It is said more clearly</a:t>
            </a:r>
          </a:p>
          <a:p>
            <a:endParaRPr lang="en-GB" altLang="zh-CN" sz="1200" dirty="0"/>
          </a:p>
          <a:p>
            <a:r>
              <a:rPr lang="en-GB" altLang="zh-CN" sz="2400" dirty="0"/>
              <a:t>5.	Your mouth moves more when you say it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1745017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08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08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08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08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08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 anchor="ctr"/>
          <a:lstStyle/>
          <a:p>
            <a:r>
              <a:rPr lang="en-US" altLang="zh-CN" sz="4900" b="1" dirty="0">
                <a:solidFill>
                  <a:srgbClr val="0070C0"/>
                </a:solidFill>
              </a:rPr>
              <a:t>English and Syllables</a:t>
            </a:r>
          </a:p>
        </p:txBody>
      </p:sp>
      <p:sp>
        <p:nvSpPr>
          <p:cNvPr id="7987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77334" y="2160589"/>
            <a:ext cx="8596668" cy="4160698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80000"/>
              </a:lnSpc>
            </a:pPr>
            <a:r>
              <a:rPr lang="en-US" altLang="zh-CN" sz="3000" dirty="0"/>
              <a:t>Which syllable is stressed?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GB" altLang="zh-CN" sz="3000" dirty="0"/>
              <a:t>			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GB" altLang="zh-CN" sz="3000" dirty="0"/>
              <a:t>			dog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GB" altLang="zh-CN" sz="3000" dirty="0"/>
              <a:t>			lion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GB" altLang="zh-CN" sz="3000" dirty="0"/>
              <a:t>			begin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GB" altLang="zh-CN" sz="3000" dirty="0"/>
              <a:t>			computer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GB" altLang="zh-CN" sz="3000" dirty="0"/>
              <a:t>			string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GB" altLang="zh-CN" sz="3000" dirty="0"/>
              <a:t>			accident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GB" altLang="zh-CN" sz="3000" dirty="0"/>
              <a:t>			activity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GB" altLang="zh-CN" sz="3000" dirty="0"/>
              <a:t>			appropriately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GB" altLang="zh-CN" sz="2600" dirty="0"/>
              <a:t>			</a:t>
            </a:r>
            <a:endParaRPr lang="en-US" altLang="zh-CN" sz="2600" dirty="0"/>
          </a:p>
          <a:p>
            <a:pPr>
              <a:lnSpc>
                <a:spcPct val="80000"/>
              </a:lnSpc>
            </a:pPr>
            <a:endParaRPr lang="en-US" altLang="zh-CN" sz="2600" dirty="0"/>
          </a:p>
        </p:txBody>
      </p:sp>
    </p:spTree>
    <p:extLst>
      <p:ext uri="{BB962C8B-B14F-4D97-AF65-F5344CB8AC3E}">
        <p14:creationId xmlns:p14="http://schemas.microsoft.com/office/powerpoint/2010/main" val="35954208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 anchor="ctr"/>
          <a:lstStyle/>
          <a:p>
            <a:r>
              <a:rPr lang="en-US" altLang="zh-CN" sz="4900" b="1" dirty="0">
                <a:solidFill>
                  <a:srgbClr val="0070C0"/>
                </a:solidFill>
              </a:rPr>
              <a:t>English and Syllables</a:t>
            </a:r>
          </a:p>
        </p:txBody>
      </p:sp>
      <p:sp>
        <p:nvSpPr>
          <p:cNvPr id="8192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77334" y="2160589"/>
            <a:ext cx="8596668" cy="4279968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80000"/>
              </a:lnSpc>
            </a:pPr>
            <a:r>
              <a:rPr lang="en-US" altLang="zh-CN" sz="3000" dirty="0"/>
              <a:t>Which syllable is stressed?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GB" altLang="zh-CN" sz="3000" dirty="0"/>
              <a:t>			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GB" altLang="zh-CN" sz="3000" dirty="0"/>
              <a:t>			</a:t>
            </a:r>
            <a:r>
              <a:rPr lang="en-GB" altLang="zh-CN" sz="3000" dirty="0">
                <a:solidFill>
                  <a:srgbClr val="FF0000"/>
                </a:solidFill>
              </a:rPr>
              <a:t>dog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GB" altLang="zh-CN" sz="3000" dirty="0"/>
              <a:t>			</a:t>
            </a:r>
            <a:r>
              <a:rPr lang="en-GB" altLang="zh-CN" sz="3000" dirty="0">
                <a:solidFill>
                  <a:srgbClr val="FF0000"/>
                </a:solidFill>
              </a:rPr>
              <a:t>li</a:t>
            </a:r>
            <a:r>
              <a:rPr lang="en-GB" altLang="zh-CN" sz="3000" dirty="0"/>
              <a:t>on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GB" altLang="zh-CN" sz="3000" dirty="0"/>
              <a:t>			be</a:t>
            </a:r>
            <a:r>
              <a:rPr lang="en-GB" altLang="zh-CN" sz="3000" dirty="0">
                <a:solidFill>
                  <a:srgbClr val="FF0000"/>
                </a:solidFill>
              </a:rPr>
              <a:t>gin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GB" altLang="zh-CN" sz="3000" dirty="0"/>
              <a:t>			com</a:t>
            </a:r>
            <a:r>
              <a:rPr lang="en-GB" altLang="zh-CN" sz="3000" dirty="0">
                <a:solidFill>
                  <a:srgbClr val="FF0000"/>
                </a:solidFill>
              </a:rPr>
              <a:t>pu</a:t>
            </a:r>
            <a:r>
              <a:rPr lang="en-GB" altLang="zh-CN" sz="3000" dirty="0"/>
              <a:t>ter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GB" altLang="zh-CN" sz="3000" dirty="0"/>
              <a:t>			</a:t>
            </a:r>
            <a:r>
              <a:rPr lang="en-GB" altLang="zh-CN" sz="3000" dirty="0">
                <a:solidFill>
                  <a:srgbClr val="FF0000"/>
                </a:solidFill>
              </a:rPr>
              <a:t>string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GB" altLang="zh-CN" sz="3000" dirty="0"/>
              <a:t>			</a:t>
            </a:r>
            <a:r>
              <a:rPr lang="en-GB" altLang="zh-CN" sz="3000" dirty="0">
                <a:solidFill>
                  <a:srgbClr val="FF0000"/>
                </a:solidFill>
              </a:rPr>
              <a:t>acc</a:t>
            </a:r>
            <a:r>
              <a:rPr lang="en-GB" altLang="zh-CN" sz="3000" dirty="0"/>
              <a:t>ident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GB" altLang="zh-CN" sz="3000" dirty="0"/>
              <a:t>			ac</a:t>
            </a:r>
            <a:r>
              <a:rPr lang="en-GB" altLang="zh-CN" sz="3000" dirty="0">
                <a:solidFill>
                  <a:srgbClr val="FF0000"/>
                </a:solidFill>
              </a:rPr>
              <a:t>tiv</a:t>
            </a:r>
            <a:r>
              <a:rPr lang="en-GB" altLang="zh-CN" sz="3000" dirty="0"/>
              <a:t>ity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GB" altLang="zh-CN" sz="3000" dirty="0"/>
              <a:t>			a</a:t>
            </a:r>
            <a:r>
              <a:rPr lang="en-GB" altLang="zh-CN" sz="3000" dirty="0">
                <a:solidFill>
                  <a:srgbClr val="FF0000"/>
                </a:solidFill>
              </a:rPr>
              <a:t>ppro</a:t>
            </a:r>
            <a:r>
              <a:rPr lang="en-GB" altLang="zh-CN" sz="3000" dirty="0"/>
              <a:t>priately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GB" altLang="zh-CN" sz="2600" dirty="0"/>
              <a:t>			</a:t>
            </a:r>
            <a:endParaRPr lang="en-US" altLang="zh-CN" sz="2600" dirty="0"/>
          </a:p>
          <a:p>
            <a:pPr>
              <a:lnSpc>
                <a:spcPct val="80000"/>
              </a:lnSpc>
            </a:pPr>
            <a:endParaRPr lang="en-US" altLang="zh-CN" sz="2600" dirty="0"/>
          </a:p>
        </p:txBody>
      </p:sp>
    </p:spTree>
    <p:extLst>
      <p:ext uri="{BB962C8B-B14F-4D97-AF65-F5344CB8AC3E}">
        <p14:creationId xmlns:p14="http://schemas.microsoft.com/office/powerpoint/2010/main" val="35397004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 anchor="ctr"/>
          <a:lstStyle/>
          <a:p>
            <a:endParaRPr lang="en-US" altLang="en-US"/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en-US" altLang="en-US"/>
          </a:p>
        </p:txBody>
      </p:sp>
      <p:pic>
        <p:nvPicPr>
          <p:cNvPr id="56324" name="Picture 4" descr="BES-Gorgeous-ValentinesDay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3025" y="-100013"/>
            <a:ext cx="9505950" cy="72009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266196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>
          <a:xfrm>
            <a:off x="677334" y="429207"/>
            <a:ext cx="8942527" cy="1320800"/>
          </a:xfrm>
        </p:spPr>
        <p:txBody>
          <a:bodyPr>
            <a:normAutofit fontScale="90000"/>
          </a:bodyPr>
          <a:lstStyle/>
          <a:p>
            <a:pPr algn="ctr"/>
            <a:r>
              <a:rPr lang="en-GB" altLang="zh-CN" b="1" dirty="0">
                <a:solidFill>
                  <a:srgbClr val="0070C0"/>
                </a:solidFill>
              </a:rPr>
              <a:t>A British card shop before Valentine’s Day</a:t>
            </a:r>
            <a:br>
              <a:rPr lang="en-GB" altLang="zh-CN" dirty="0"/>
            </a:br>
            <a:endParaRPr lang="en-US" altLang="zh-CN" dirty="0"/>
          </a:p>
        </p:txBody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77334" y="2160589"/>
            <a:ext cx="2588380" cy="3880773"/>
          </a:xfrm>
        </p:spPr>
        <p:txBody>
          <a:bodyPr>
            <a:normAutofit/>
          </a:bodyPr>
          <a:lstStyle/>
          <a:p>
            <a:r>
              <a:rPr lang="en-GB" altLang="zh-CN" sz="2800" dirty="0"/>
              <a:t>Many of these cards will contain a couple of simple poetic lines.</a:t>
            </a:r>
            <a:endParaRPr lang="en-US" altLang="en-US" sz="2800" dirty="0"/>
          </a:p>
        </p:txBody>
      </p:sp>
      <p:pic>
        <p:nvPicPr>
          <p:cNvPr id="57348" name="Picture 4" descr="valentinesdaycardstore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0947" y="1386763"/>
            <a:ext cx="6722706" cy="5042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039168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84" name="Picture 6" descr="images roses_are_red_violets_are_blue_sugar_is_sweet_and_so_are_you in Roses are red violets are blue sugar is sweet and so are you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995" y="139959"/>
            <a:ext cx="5756988" cy="575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D46C1D6-E428-B183-F352-3DBD498D015A}"/>
              </a:ext>
            </a:extLst>
          </p:cNvPr>
          <p:cNvSpPr txBox="1"/>
          <p:nvPr/>
        </p:nvSpPr>
        <p:spPr>
          <a:xfrm>
            <a:off x="7306559" y="1483568"/>
            <a:ext cx="357362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Its origins are in Edmund Spenser’s </a:t>
            </a:r>
            <a:r>
              <a:rPr lang="en-GB" sz="2400" i="1" dirty="0"/>
              <a:t>The Fairy Queen </a:t>
            </a:r>
            <a:r>
              <a:rPr lang="en-GB" sz="2400" dirty="0"/>
              <a:t>(1590).</a:t>
            </a:r>
          </a:p>
          <a:p>
            <a:endParaRPr lang="en-GB" sz="2400" dirty="0"/>
          </a:p>
          <a:p>
            <a:endParaRPr lang="en-GB" sz="2400" dirty="0"/>
          </a:p>
          <a:p>
            <a:r>
              <a:rPr lang="en-GB" sz="2400" dirty="0"/>
              <a:t>Almost all native English speakers know this poem – although not its origin. </a:t>
            </a:r>
          </a:p>
          <a:p>
            <a:endParaRPr lang="en-GB" sz="2400" dirty="0"/>
          </a:p>
          <a:p>
            <a:endParaRPr lang="en-GB" sz="2400" dirty="0"/>
          </a:p>
          <a:p>
            <a:endParaRPr lang="en-GB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CF36A3-F099-BFB8-A5BC-B8A91AC70755}"/>
              </a:ext>
            </a:extLst>
          </p:cNvPr>
          <p:cNvSpPr txBox="1"/>
          <p:nvPr/>
        </p:nvSpPr>
        <p:spPr>
          <a:xfrm>
            <a:off x="942391" y="5439747"/>
            <a:ext cx="785637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“She </a:t>
            </a:r>
            <a:r>
              <a:rPr lang="en-GB" sz="2400" dirty="0" err="1"/>
              <a:t>bath'd</a:t>
            </a:r>
            <a:r>
              <a:rPr lang="en-GB" sz="2400" dirty="0"/>
              <a:t> with roses red, and violets blue,</a:t>
            </a:r>
            <a:br>
              <a:rPr lang="en-GB" sz="3200" dirty="0"/>
            </a:br>
            <a:r>
              <a:rPr lang="en-GB" sz="2400" dirty="0"/>
              <a:t>And all the sweetest </a:t>
            </a:r>
            <a:r>
              <a:rPr lang="en-GB" sz="2400" dirty="0" err="1"/>
              <a:t>flowres</a:t>
            </a:r>
            <a:r>
              <a:rPr lang="en-GB" sz="2400" dirty="0"/>
              <a:t>, that in the </a:t>
            </a:r>
            <a:r>
              <a:rPr lang="en-GB" sz="2400" dirty="0" err="1"/>
              <a:t>forrest</a:t>
            </a:r>
            <a:r>
              <a:rPr lang="en-GB" sz="2400" dirty="0"/>
              <a:t> grew.”</a:t>
            </a:r>
            <a:endParaRPr lang="en-GB" sz="3200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86081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D46C1D6-E428-B183-F352-3DBD498D015A}"/>
              </a:ext>
            </a:extLst>
          </p:cNvPr>
          <p:cNvSpPr txBox="1"/>
          <p:nvPr/>
        </p:nvSpPr>
        <p:spPr>
          <a:xfrm>
            <a:off x="7513476" y="1125627"/>
            <a:ext cx="3440274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sz="2400" dirty="0"/>
          </a:p>
          <a:p>
            <a:endParaRPr lang="en-GB" sz="2400" dirty="0"/>
          </a:p>
          <a:p>
            <a:r>
              <a:rPr lang="en-GB" sz="2400" dirty="0"/>
              <a:t>It is part of background English-language culture and is so famous it’s unusual for it to be used genuinely as a romantic poem anymore. </a:t>
            </a:r>
          </a:p>
          <a:p>
            <a:endParaRPr lang="en-GB" sz="2400" dirty="0"/>
          </a:p>
          <a:p>
            <a:endParaRPr lang="en-GB" sz="2400" dirty="0"/>
          </a:p>
        </p:txBody>
      </p:sp>
      <p:pic>
        <p:nvPicPr>
          <p:cNvPr id="3" name="Picture 6" descr="images roses_are_red_violets_are_blue_sugar_is_sweet_and_so_are_you in Roses are red violets are blue sugar is sweet and so are you">
            <a:extLst>
              <a:ext uri="{FF2B5EF4-FFF2-40B4-BE49-F238E27FC236}">
                <a16:creationId xmlns:a16="http://schemas.microsoft.com/office/drawing/2014/main" id="{461BCB58-3C88-839F-5BF8-D576717E22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995" y="139959"/>
            <a:ext cx="5756988" cy="575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8BFCA89-C4C8-88F5-CD28-C33C56EA7597}"/>
              </a:ext>
            </a:extLst>
          </p:cNvPr>
          <p:cNvSpPr txBox="1"/>
          <p:nvPr/>
        </p:nvSpPr>
        <p:spPr>
          <a:xfrm>
            <a:off x="942391" y="5439747"/>
            <a:ext cx="785637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“She </a:t>
            </a:r>
            <a:r>
              <a:rPr lang="en-GB" sz="2400" dirty="0" err="1"/>
              <a:t>bath'd</a:t>
            </a:r>
            <a:r>
              <a:rPr lang="en-GB" sz="2400" dirty="0"/>
              <a:t> with roses red, and violets blue,</a:t>
            </a:r>
            <a:br>
              <a:rPr lang="en-GB" sz="3200" dirty="0"/>
            </a:br>
            <a:r>
              <a:rPr lang="en-GB" sz="2400" dirty="0"/>
              <a:t>And all the sweetest </a:t>
            </a:r>
            <a:r>
              <a:rPr lang="en-GB" sz="2400" dirty="0" err="1"/>
              <a:t>flowres</a:t>
            </a:r>
            <a:r>
              <a:rPr lang="en-GB" sz="2400" dirty="0"/>
              <a:t>, that in the </a:t>
            </a:r>
            <a:r>
              <a:rPr lang="en-GB" sz="2400" dirty="0" err="1"/>
              <a:t>forrest</a:t>
            </a:r>
            <a:r>
              <a:rPr lang="en-GB" sz="2400" dirty="0"/>
              <a:t> grew.”</a:t>
            </a:r>
            <a:endParaRPr lang="en-GB" sz="3200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941349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  <p:pic>
        <p:nvPicPr>
          <p:cNvPr id="47108" name="Picture 4" descr="il_340x270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8226" y="511315"/>
            <a:ext cx="7620000" cy="6049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597037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sz="5400" b="1"/>
              <a:t>Syllable and Rhyme Pattern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endParaRPr lang="en-US" altLang="zh-CN" dirty="0"/>
          </a:p>
          <a:p>
            <a:pPr algn="ctr">
              <a:buFont typeface="Wingdings" panose="05000000000000000000" pitchFamily="2" charset="2"/>
              <a:buNone/>
            </a:pPr>
            <a:r>
              <a:rPr lang="en-US" altLang="zh-CN" sz="4000" b="1" dirty="0">
                <a:solidFill>
                  <a:srgbClr val="FF0000"/>
                </a:solidFill>
              </a:rPr>
              <a:t>1,  2,  3,  4,    5,  6,  7,  8-Rhyme</a:t>
            </a:r>
          </a:p>
          <a:p>
            <a:pPr algn="ctr">
              <a:buFont typeface="Wingdings" panose="05000000000000000000" pitchFamily="2" charset="2"/>
              <a:buNone/>
            </a:pPr>
            <a:endParaRPr lang="en-US" altLang="zh-CN" sz="4000" b="1" dirty="0">
              <a:solidFill>
                <a:srgbClr val="0000FF"/>
              </a:solidFill>
            </a:endParaRPr>
          </a:p>
          <a:p>
            <a:pPr algn="ctr">
              <a:buFont typeface="Wingdings" panose="05000000000000000000" pitchFamily="2" charset="2"/>
              <a:buNone/>
            </a:pPr>
            <a:r>
              <a:rPr lang="en-US" altLang="zh-CN" sz="4000" b="1" dirty="0">
                <a:solidFill>
                  <a:srgbClr val="0000FF"/>
                </a:solidFill>
              </a:rPr>
              <a:t>1,  2,  3,  4,    5,  6,  7,  8-Rhyme</a:t>
            </a:r>
          </a:p>
        </p:txBody>
      </p:sp>
    </p:spTree>
    <p:extLst>
      <p:ext uri="{BB962C8B-B14F-4D97-AF65-F5344CB8AC3E}">
        <p14:creationId xmlns:p14="http://schemas.microsoft.com/office/powerpoint/2010/main" val="12797819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391816" y="152400"/>
            <a:ext cx="9408367" cy="1143000"/>
          </a:xfrm>
        </p:spPr>
        <p:txBody>
          <a:bodyPr anchor="ctr">
            <a:normAutofit fontScale="90000"/>
          </a:bodyPr>
          <a:lstStyle/>
          <a:p>
            <a:pPr algn="ctr"/>
            <a:r>
              <a:rPr lang="en-US" altLang="zh-CN" sz="5000" b="1" dirty="0">
                <a:solidFill>
                  <a:schemeClr val="accent2"/>
                </a:solidFill>
              </a:rPr>
              <a:t>William Shakespeare – </a:t>
            </a:r>
            <a:r>
              <a:rPr lang="en-US" altLang="zh-CN" sz="5000" b="1" i="1" dirty="0">
                <a:solidFill>
                  <a:schemeClr val="accent2"/>
                </a:solidFill>
              </a:rPr>
              <a:t>Romeo and Juliet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934278" y="1571625"/>
            <a:ext cx="8229600" cy="4525963"/>
          </a:xfrm>
        </p:spPr>
        <p:txBody>
          <a:bodyPr/>
          <a:lstStyle/>
          <a:p>
            <a:pPr>
              <a:lnSpc>
                <a:spcPct val="80000"/>
              </a:lnSpc>
            </a:pPr>
            <a:endParaRPr lang="en-US" altLang="zh-CN" sz="1700" dirty="0"/>
          </a:p>
          <a:p>
            <a:pPr>
              <a:lnSpc>
                <a:spcPct val="80000"/>
              </a:lnSpc>
            </a:pPr>
            <a:endParaRPr lang="en-US" altLang="zh-CN" sz="1700" dirty="0"/>
          </a:p>
          <a:p>
            <a:pPr>
              <a:lnSpc>
                <a:spcPct val="80000"/>
              </a:lnSpc>
            </a:pPr>
            <a:endParaRPr lang="en-US" altLang="zh-CN" sz="1700" dirty="0"/>
          </a:p>
          <a:p>
            <a:pPr>
              <a:lnSpc>
                <a:spcPct val="80000"/>
              </a:lnSpc>
            </a:pPr>
            <a:endParaRPr lang="en-US" altLang="zh-CN" sz="1700" dirty="0"/>
          </a:p>
          <a:p>
            <a:pPr>
              <a:lnSpc>
                <a:spcPct val="80000"/>
              </a:lnSpc>
            </a:pPr>
            <a:endParaRPr lang="en-US" altLang="zh-CN" sz="1700" dirty="0"/>
          </a:p>
          <a:p>
            <a:pPr>
              <a:lnSpc>
                <a:spcPct val="80000"/>
              </a:lnSpc>
            </a:pPr>
            <a:endParaRPr lang="en-US" altLang="zh-CN" sz="1700" dirty="0"/>
          </a:p>
          <a:p>
            <a:pPr>
              <a:lnSpc>
                <a:spcPct val="80000"/>
              </a:lnSpc>
            </a:pPr>
            <a:endParaRPr lang="en-US" altLang="zh-CN" sz="1700" dirty="0"/>
          </a:p>
          <a:p>
            <a:pPr>
              <a:lnSpc>
                <a:spcPct val="80000"/>
              </a:lnSpc>
            </a:pPr>
            <a:endParaRPr lang="en-US" altLang="zh-CN" sz="1700" dirty="0"/>
          </a:p>
          <a:p>
            <a:pPr>
              <a:lnSpc>
                <a:spcPct val="80000"/>
              </a:lnSpc>
            </a:pPr>
            <a:endParaRPr lang="en-US" altLang="zh-CN" sz="1700" dirty="0"/>
          </a:p>
          <a:p>
            <a:pPr>
              <a:lnSpc>
                <a:spcPct val="80000"/>
              </a:lnSpc>
            </a:pPr>
            <a:endParaRPr lang="en-US" altLang="zh-CN" sz="2300" dirty="0"/>
          </a:p>
          <a:p>
            <a:pPr>
              <a:lnSpc>
                <a:spcPct val="80000"/>
              </a:lnSpc>
            </a:pPr>
            <a:endParaRPr lang="en-US" altLang="zh-CN" sz="3600" dirty="0"/>
          </a:p>
          <a:p>
            <a:pPr>
              <a:lnSpc>
                <a:spcPct val="80000"/>
              </a:lnSpc>
            </a:pPr>
            <a:r>
              <a:rPr lang="en-US" altLang="zh-CN" sz="3600" dirty="0"/>
              <a:t>How many syllables?</a:t>
            </a:r>
          </a:p>
        </p:txBody>
      </p:sp>
      <p:pic>
        <p:nvPicPr>
          <p:cNvPr id="24580" name="Picture 4" descr="romeo-and-juliet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591" y="1295400"/>
            <a:ext cx="10058400" cy="3659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93514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26845" y="185531"/>
            <a:ext cx="8596668" cy="1320800"/>
          </a:xfrm>
        </p:spPr>
        <p:txBody>
          <a:bodyPr anchor="ctr">
            <a:normAutofit/>
          </a:bodyPr>
          <a:lstStyle/>
          <a:p>
            <a:pPr algn="ctr"/>
            <a:r>
              <a:rPr lang="en-US" altLang="zh-CN" sz="4400" b="1" dirty="0">
                <a:solidFill>
                  <a:schemeClr val="accent2"/>
                </a:solidFill>
              </a:rPr>
              <a:t>Shakespeare </a:t>
            </a:r>
            <a:r>
              <a:rPr lang="en-US" altLang="zh-CN" sz="4400" b="1" dirty="0">
                <a:solidFill>
                  <a:schemeClr val="accent2"/>
                </a:solidFill>
                <a:latin typeface="Arial" panose="020B0604020202020204" pitchFamily="34" charset="0"/>
              </a:rPr>
              <a:t>–</a:t>
            </a:r>
            <a:r>
              <a:rPr lang="en-US" altLang="zh-CN" sz="4400" b="1" dirty="0">
                <a:solidFill>
                  <a:schemeClr val="accent2"/>
                </a:solidFill>
              </a:rPr>
              <a:t> Romeo and Juliet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26845" y="1378711"/>
            <a:ext cx="8596668" cy="3880773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Two of the fairest stars in all the heaven,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800" dirty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Having some business, do entreat her eyes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800" dirty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To twinkle in their spheres till they return.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800" dirty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What if her eyes were there, they in her head?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800" dirty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The brightness of her cheek would shame those stars,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800" dirty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As daylight doth a lamp; her eyes in heaven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800" dirty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Would through the airy region stream so bright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800" dirty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That birds would sing and think it were not night</a:t>
            </a:r>
            <a:r>
              <a:rPr lang="en-US" altLang="zh-CN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65137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en-US" altLang="zh-CN" sz="5000" b="1" dirty="0">
                <a:solidFill>
                  <a:schemeClr val="accent2"/>
                </a:solidFill>
              </a:rPr>
              <a:t>Shakespeare’s ‘blank verse’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zh-CN" sz="2400" dirty="0"/>
              <a:t>He usually wrote in </a:t>
            </a:r>
            <a:r>
              <a:rPr lang="en-US" altLang="zh-CN" sz="2400" b="1" dirty="0"/>
              <a:t>‘Iambic Pentameter’.</a:t>
            </a:r>
          </a:p>
          <a:p>
            <a:pPr>
              <a:lnSpc>
                <a:spcPct val="90000"/>
              </a:lnSpc>
            </a:pPr>
            <a:endParaRPr lang="en-US" altLang="zh-CN" sz="2400" dirty="0"/>
          </a:p>
          <a:p>
            <a:pPr>
              <a:lnSpc>
                <a:spcPct val="90000"/>
              </a:lnSpc>
            </a:pPr>
            <a:r>
              <a:rPr lang="en-US" altLang="zh-CN" sz="2400" dirty="0"/>
              <a:t>This means a small syllable sound (unstressed), followed by a large syllable sound (stressed)  X 5.</a:t>
            </a:r>
            <a:endParaRPr lang="en-GB" altLang="zh-CN" sz="2400" dirty="0"/>
          </a:p>
          <a:p>
            <a:pPr>
              <a:lnSpc>
                <a:spcPct val="90000"/>
              </a:lnSpc>
            </a:pPr>
            <a:endParaRPr lang="en-US" altLang="zh-CN" sz="2400" dirty="0"/>
          </a:p>
          <a:p>
            <a:pPr>
              <a:lnSpc>
                <a:spcPct val="90000"/>
              </a:lnSpc>
            </a:pPr>
            <a:r>
              <a:rPr lang="en-US" altLang="zh-CN" sz="2400" dirty="0"/>
              <a:t>Much poetry (verse) of this era uses Iambic pentameter. It is also found in other eras. This </a:t>
            </a:r>
            <a:r>
              <a:rPr lang="en-US" altLang="zh-CN" sz="2400" i="1" dirty="0"/>
              <a:t>‘blank verse’ </a:t>
            </a:r>
            <a:r>
              <a:rPr lang="en-US" altLang="zh-CN" sz="2400" dirty="0"/>
              <a:t>typically doesn’t have rhymes at the end of each line.</a:t>
            </a:r>
          </a:p>
          <a:p>
            <a:pPr>
              <a:lnSpc>
                <a:spcPct val="90000"/>
              </a:lnSpc>
            </a:pPr>
            <a:endParaRPr lang="en-US" altLang="zh-CN" sz="2400" dirty="0"/>
          </a:p>
          <a:p>
            <a:pPr>
              <a:lnSpc>
                <a:spcPct val="90000"/>
              </a:lnSpc>
            </a:pPr>
            <a:r>
              <a:rPr lang="en-US" altLang="zh-CN" sz="2400" dirty="0"/>
              <a:t>The effect is a particular rhythm – perhaps a beauty, flow, and elegant sound, which adds to the meaning of the words.</a:t>
            </a:r>
          </a:p>
        </p:txBody>
      </p:sp>
    </p:spTree>
    <p:extLst>
      <p:ext uri="{BB962C8B-B14F-4D97-AF65-F5344CB8AC3E}">
        <p14:creationId xmlns:p14="http://schemas.microsoft.com/office/powerpoint/2010/main" val="3343834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26845" y="185531"/>
            <a:ext cx="8596668" cy="1320800"/>
          </a:xfrm>
        </p:spPr>
        <p:txBody>
          <a:bodyPr anchor="ctr">
            <a:normAutofit/>
          </a:bodyPr>
          <a:lstStyle/>
          <a:p>
            <a:pPr algn="ctr"/>
            <a:r>
              <a:rPr lang="en-US" altLang="zh-CN" sz="4400" b="1" dirty="0">
                <a:solidFill>
                  <a:schemeClr val="accent2"/>
                </a:solidFill>
              </a:rPr>
              <a:t>Shakespeare </a:t>
            </a:r>
            <a:r>
              <a:rPr lang="en-US" altLang="zh-CN" sz="4400" b="1" dirty="0">
                <a:solidFill>
                  <a:schemeClr val="accent2"/>
                </a:solidFill>
                <a:latin typeface="Arial" panose="020B0604020202020204" pitchFamily="34" charset="0"/>
              </a:rPr>
              <a:t>–</a:t>
            </a:r>
            <a:r>
              <a:rPr lang="en-US" altLang="zh-CN" sz="4400" b="1" dirty="0">
                <a:solidFill>
                  <a:schemeClr val="accent2"/>
                </a:solidFill>
              </a:rPr>
              <a:t> Romeo and Juliet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26845" y="1378711"/>
            <a:ext cx="8596668" cy="3880773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Two of the fairest stars in all the heaven,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800" dirty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Having some business, do entreat her eyes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800" dirty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To twinkle in their spheres till they return.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800" dirty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What if her eyes were there, they in her head?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800" dirty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The brightness of her cheek would shame those stars,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800" dirty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As daylight doth a lamp; her eyes in heaven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800" dirty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Would through the airy region stream so bright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800" dirty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That birds would sing and think it were not night</a:t>
            </a:r>
            <a:r>
              <a:rPr lang="en-US" altLang="zh-CN" sz="2800" dirty="0"/>
              <a:t>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1CF0AC5-6CDB-6712-60C9-F12CED54D4F7}"/>
              </a:ext>
            </a:extLst>
          </p:cNvPr>
          <p:cNvSpPr txBox="1"/>
          <p:nvPr/>
        </p:nvSpPr>
        <p:spPr>
          <a:xfrm>
            <a:off x="8070981" y="2397967"/>
            <a:ext cx="325638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There is one ‘rhyming couplet’ in this section.</a:t>
            </a:r>
          </a:p>
          <a:p>
            <a:endParaRPr lang="en-GB" sz="2800" dirty="0"/>
          </a:p>
          <a:p>
            <a:r>
              <a:rPr lang="en-GB" sz="2800" dirty="0"/>
              <a:t>Which two lines rhyme?</a:t>
            </a:r>
          </a:p>
        </p:txBody>
      </p:sp>
    </p:spTree>
    <p:extLst>
      <p:ext uri="{BB962C8B-B14F-4D97-AF65-F5344CB8AC3E}">
        <p14:creationId xmlns:p14="http://schemas.microsoft.com/office/powerpoint/2010/main" val="2796947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26845" y="185531"/>
            <a:ext cx="8596668" cy="1320800"/>
          </a:xfrm>
        </p:spPr>
        <p:txBody>
          <a:bodyPr anchor="ctr">
            <a:normAutofit/>
          </a:bodyPr>
          <a:lstStyle/>
          <a:p>
            <a:pPr algn="ctr"/>
            <a:r>
              <a:rPr lang="en-US" altLang="zh-CN" sz="4400" b="1" dirty="0">
                <a:solidFill>
                  <a:schemeClr val="accent2"/>
                </a:solidFill>
              </a:rPr>
              <a:t>Shakespeare </a:t>
            </a:r>
            <a:r>
              <a:rPr lang="en-US" altLang="zh-CN" sz="4400" b="1" dirty="0">
                <a:solidFill>
                  <a:schemeClr val="accent2"/>
                </a:solidFill>
                <a:latin typeface="Arial" panose="020B0604020202020204" pitchFamily="34" charset="0"/>
              </a:rPr>
              <a:t>–</a:t>
            </a:r>
            <a:r>
              <a:rPr lang="en-US" altLang="zh-CN" sz="4400" b="1" dirty="0">
                <a:solidFill>
                  <a:schemeClr val="accent2"/>
                </a:solidFill>
              </a:rPr>
              <a:t> Romeo and Juliet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26845" y="1378711"/>
            <a:ext cx="8596668" cy="3880773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Two of the fairest stars in all the heaven,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800" dirty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Having some business, do entreat her eyes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800" dirty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To twinkle in their spheres till they return.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800" dirty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What if her eyes were there, they in her head?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800" dirty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The brightness of her cheek would shame those stars,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800" dirty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As daylight doth a lamp; her eyes in heaven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800" dirty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Would through the airy region stream so bright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800" dirty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That birds would sing and think it were not night</a:t>
            </a:r>
            <a:r>
              <a:rPr lang="en-US" altLang="zh-CN" sz="2800" dirty="0"/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12AE32-F917-3C9A-9CB5-8FA6E26EB87F}"/>
              </a:ext>
            </a:extLst>
          </p:cNvPr>
          <p:cNvSpPr txBox="1"/>
          <p:nvPr/>
        </p:nvSpPr>
        <p:spPr>
          <a:xfrm>
            <a:off x="7912360" y="1912776"/>
            <a:ext cx="372744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This section is mostly made of </a:t>
            </a:r>
            <a:r>
              <a:rPr lang="en-GB" sz="2400" i="1" dirty="0"/>
              <a:t>Iambs = </a:t>
            </a:r>
            <a:r>
              <a:rPr lang="en-GB" sz="2400" dirty="0"/>
              <a:t> unstress – </a:t>
            </a:r>
            <a:r>
              <a:rPr lang="en-GB" sz="2400" b="1" dirty="0"/>
              <a:t>stress</a:t>
            </a:r>
            <a:r>
              <a:rPr lang="en-GB" sz="2400" dirty="0"/>
              <a:t> </a:t>
            </a:r>
          </a:p>
          <a:p>
            <a:endParaRPr lang="en-GB" sz="2400" dirty="0"/>
          </a:p>
          <a:p>
            <a:r>
              <a:rPr lang="en-GB" sz="2400" dirty="0"/>
              <a:t>But there are several different stresses within it. </a:t>
            </a:r>
          </a:p>
          <a:p>
            <a:endParaRPr lang="en-GB" sz="2400" dirty="0"/>
          </a:p>
          <a:p>
            <a:r>
              <a:rPr lang="en-GB" sz="2400" dirty="0"/>
              <a:t>Which lines start with or contain a </a:t>
            </a:r>
            <a:r>
              <a:rPr lang="en-GB" sz="2400" dirty="0">
                <a:solidFill>
                  <a:srgbClr val="FF0000"/>
                </a:solidFill>
              </a:rPr>
              <a:t>trochee?</a:t>
            </a:r>
            <a:endParaRPr lang="en-GB" sz="2400" dirty="0"/>
          </a:p>
          <a:p>
            <a:endParaRPr lang="en-GB" sz="2400" dirty="0"/>
          </a:p>
          <a:p>
            <a:r>
              <a:rPr lang="en-GB" sz="2400" i="1" dirty="0"/>
              <a:t>Trochee</a:t>
            </a:r>
            <a:r>
              <a:rPr lang="en-GB" sz="2400" dirty="0"/>
              <a:t> =  </a:t>
            </a:r>
            <a:r>
              <a:rPr lang="en-GB" sz="2400" b="1" dirty="0"/>
              <a:t>stress – </a:t>
            </a:r>
            <a:r>
              <a:rPr lang="en-GB" sz="2400" dirty="0"/>
              <a:t>unstress</a:t>
            </a:r>
          </a:p>
        </p:txBody>
      </p:sp>
    </p:spTree>
    <p:extLst>
      <p:ext uri="{BB962C8B-B14F-4D97-AF65-F5344CB8AC3E}">
        <p14:creationId xmlns:p14="http://schemas.microsoft.com/office/powerpoint/2010/main" val="2640634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26845" y="185531"/>
            <a:ext cx="8596668" cy="1320800"/>
          </a:xfrm>
        </p:spPr>
        <p:txBody>
          <a:bodyPr anchor="ctr">
            <a:normAutofit/>
          </a:bodyPr>
          <a:lstStyle/>
          <a:p>
            <a:pPr algn="ctr"/>
            <a:r>
              <a:rPr lang="en-US" altLang="zh-CN" sz="4400" b="1" dirty="0">
                <a:solidFill>
                  <a:schemeClr val="accent2"/>
                </a:solidFill>
              </a:rPr>
              <a:t>Shakespeare </a:t>
            </a:r>
            <a:r>
              <a:rPr lang="en-US" altLang="zh-CN" sz="4400" b="1" dirty="0">
                <a:solidFill>
                  <a:schemeClr val="accent2"/>
                </a:solidFill>
                <a:latin typeface="Arial" panose="020B0604020202020204" pitchFamily="34" charset="0"/>
              </a:rPr>
              <a:t>–</a:t>
            </a:r>
            <a:r>
              <a:rPr lang="en-US" altLang="zh-CN" sz="4400" b="1" dirty="0">
                <a:solidFill>
                  <a:schemeClr val="accent2"/>
                </a:solidFill>
              </a:rPr>
              <a:t> Romeo and Juliet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26845" y="1378711"/>
            <a:ext cx="8596668" cy="3880773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b="1" dirty="0"/>
              <a:t>Two</a:t>
            </a:r>
            <a:r>
              <a:rPr lang="en-US" altLang="zh-CN" sz="2400" dirty="0"/>
              <a:t> of the </a:t>
            </a:r>
            <a:r>
              <a:rPr lang="en-US" altLang="zh-CN" sz="2400" b="1" dirty="0"/>
              <a:t>fair</a:t>
            </a:r>
            <a:r>
              <a:rPr lang="en-US" altLang="zh-CN" sz="2400" dirty="0"/>
              <a:t>est </a:t>
            </a:r>
            <a:r>
              <a:rPr lang="en-US" altLang="zh-CN" sz="2400" b="1" dirty="0"/>
              <a:t>stars</a:t>
            </a:r>
            <a:r>
              <a:rPr lang="en-US" altLang="zh-CN" sz="2400" dirty="0"/>
              <a:t> in </a:t>
            </a:r>
            <a:r>
              <a:rPr lang="en-US" altLang="zh-CN" sz="2400" b="1" dirty="0"/>
              <a:t>all</a:t>
            </a:r>
            <a:r>
              <a:rPr lang="en-US" altLang="zh-CN" sz="2400" dirty="0"/>
              <a:t> the </a:t>
            </a:r>
            <a:r>
              <a:rPr lang="en-US" altLang="zh-CN" sz="2400" b="1" dirty="0"/>
              <a:t>heaven</a:t>
            </a:r>
            <a:r>
              <a:rPr lang="en-US" altLang="zh-CN" sz="2400" dirty="0"/>
              <a:t>,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800" dirty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b="1" dirty="0"/>
              <a:t>Hav</a:t>
            </a:r>
            <a:r>
              <a:rPr lang="en-US" altLang="zh-CN" sz="2400" dirty="0"/>
              <a:t>ing some </a:t>
            </a:r>
            <a:r>
              <a:rPr lang="en-US" altLang="zh-CN" sz="2400" b="1" dirty="0"/>
              <a:t>bus</a:t>
            </a:r>
            <a:r>
              <a:rPr lang="en-US" altLang="zh-CN" sz="2400" dirty="0"/>
              <a:t>iness, </a:t>
            </a:r>
            <a:r>
              <a:rPr lang="en-US" altLang="zh-CN" sz="2400" b="1" dirty="0"/>
              <a:t>do</a:t>
            </a:r>
            <a:r>
              <a:rPr lang="en-US" altLang="zh-CN" sz="2400" dirty="0"/>
              <a:t> en</a:t>
            </a:r>
            <a:r>
              <a:rPr lang="en-US" altLang="zh-CN" sz="2400" b="1" dirty="0"/>
              <a:t>treat</a:t>
            </a:r>
            <a:r>
              <a:rPr lang="en-US" altLang="zh-CN" sz="2400" dirty="0"/>
              <a:t> her </a:t>
            </a:r>
            <a:r>
              <a:rPr lang="en-US" altLang="zh-CN" sz="2400" b="1" dirty="0"/>
              <a:t>eyes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800" dirty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To </a:t>
            </a:r>
            <a:r>
              <a:rPr lang="en-US" altLang="zh-CN" sz="2400" b="1" dirty="0"/>
              <a:t>twin</a:t>
            </a:r>
            <a:r>
              <a:rPr lang="en-US" altLang="zh-CN" sz="2400" dirty="0"/>
              <a:t>kle </a:t>
            </a:r>
            <a:r>
              <a:rPr lang="en-US" altLang="zh-CN" sz="2400" b="1" dirty="0"/>
              <a:t>in</a:t>
            </a:r>
            <a:r>
              <a:rPr lang="en-US" altLang="zh-CN" sz="2400" dirty="0"/>
              <a:t> their </a:t>
            </a:r>
            <a:r>
              <a:rPr lang="en-US" altLang="zh-CN" sz="2400" b="1" dirty="0"/>
              <a:t>spheres</a:t>
            </a:r>
            <a:r>
              <a:rPr lang="en-US" altLang="zh-CN" sz="2400" dirty="0"/>
              <a:t> till </a:t>
            </a:r>
            <a:r>
              <a:rPr lang="en-US" altLang="zh-CN" sz="2400" b="1" dirty="0"/>
              <a:t>they</a:t>
            </a:r>
            <a:r>
              <a:rPr lang="en-US" altLang="zh-CN" sz="2400" dirty="0"/>
              <a:t> re</a:t>
            </a:r>
            <a:r>
              <a:rPr lang="en-US" altLang="zh-CN" sz="2400" b="1" dirty="0"/>
              <a:t>turn</a:t>
            </a:r>
            <a:r>
              <a:rPr lang="en-US" altLang="zh-CN" sz="2400" dirty="0"/>
              <a:t>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800" dirty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b="1" dirty="0"/>
              <a:t>What</a:t>
            </a:r>
            <a:r>
              <a:rPr lang="en-US" altLang="zh-CN" sz="2400" dirty="0"/>
              <a:t> if her </a:t>
            </a:r>
            <a:r>
              <a:rPr lang="en-US" altLang="zh-CN" sz="2400" b="1" dirty="0"/>
              <a:t>eyes</a:t>
            </a:r>
            <a:r>
              <a:rPr lang="en-US" altLang="zh-CN" sz="2400" dirty="0"/>
              <a:t> were </a:t>
            </a:r>
            <a:r>
              <a:rPr lang="en-US" altLang="zh-CN" sz="2400" b="1" dirty="0"/>
              <a:t>there</a:t>
            </a:r>
            <a:r>
              <a:rPr lang="en-US" altLang="zh-CN" sz="2400" dirty="0"/>
              <a:t>, </a:t>
            </a:r>
            <a:r>
              <a:rPr lang="en-US" altLang="zh-CN" sz="2400" b="1" dirty="0"/>
              <a:t>they</a:t>
            </a:r>
            <a:r>
              <a:rPr lang="en-US" altLang="zh-CN" sz="2400" dirty="0"/>
              <a:t> in her </a:t>
            </a:r>
            <a:r>
              <a:rPr lang="en-US" altLang="zh-CN" sz="2400" b="1" dirty="0"/>
              <a:t>head</a:t>
            </a:r>
            <a:r>
              <a:rPr lang="en-US" altLang="zh-CN" sz="2400" dirty="0"/>
              <a:t>?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800" dirty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The </a:t>
            </a:r>
            <a:r>
              <a:rPr lang="en-US" altLang="zh-CN" sz="2400" b="1" dirty="0"/>
              <a:t>bright</a:t>
            </a:r>
            <a:r>
              <a:rPr lang="en-US" altLang="zh-CN" sz="2400" dirty="0"/>
              <a:t>ness </a:t>
            </a:r>
            <a:r>
              <a:rPr lang="en-US" altLang="zh-CN" sz="2400" b="1" dirty="0"/>
              <a:t>of</a:t>
            </a:r>
            <a:r>
              <a:rPr lang="en-US" altLang="zh-CN" sz="2400" dirty="0"/>
              <a:t> her </a:t>
            </a:r>
            <a:r>
              <a:rPr lang="en-US" altLang="zh-CN" sz="2400" b="1" dirty="0"/>
              <a:t>cheek</a:t>
            </a:r>
            <a:r>
              <a:rPr lang="en-US" altLang="zh-CN" sz="2400" dirty="0"/>
              <a:t> would </a:t>
            </a:r>
            <a:r>
              <a:rPr lang="en-US" altLang="zh-CN" sz="2400" b="1" dirty="0"/>
              <a:t>shame</a:t>
            </a:r>
            <a:r>
              <a:rPr lang="en-US" altLang="zh-CN" sz="2400" dirty="0"/>
              <a:t> those </a:t>
            </a:r>
            <a:r>
              <a:rPr lang="en-US" altLang="zh-CN" sz="2400" b="1" dirty="0"/>
              <a:t>stars</a:t>
            </a:r>
            <a:r>
              <a:rPr lang="en-US" altLang="zh-CN" sz="2400" dirty="0"/>
              <a:t>,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800" dirty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As </a:t>
            </a:r>
            <a:r>
              <a:rPr lang="en-US" altLang="zh-CN" sz="2400" b="1" dirty="0"/>
              <a:t>day</a:t>
            </a:r>
            <a:r>
              <a:rPr lang="en-US" altLang="zh-CN" sz="2400" dirty="0"/>
              <a:t>light </a:t>
            </a:r>
            <a:r>
              <a:rPr lang="en-US" altLang="zh-CN" sz="2400" b="1" dirty="0"/>
              <a:t>doth</a:t>
            </a:r>
            <a:r>
              <a:rPr lang="en-US" altLang="zh-CN" sz="2400" dirty="0"/>
              <a:t> a </a:t>
            </a:r>
            <a:r>
              <a:rPr lang="en-US" altLang="zh-CN" sz="2400" b="1" dirty="0"/>
              <a:t>lamp</a:t>
            </a:r>
            <a:r>
              <a:rPr lang="en-US" altLang="zh-CN" sz="2400" dirty="0"/>
              <a:t>; her </a:t>
            </a:r>
            <a:r>
              <a:rPr lang="en-US" altLang="zh-CN" sz="2400" b="1" dirty="0"/>
              <a:t>eyes</a:t>
            </a:r>
            <a:r>
              <a:rPr lang="en-US" altLang="zh-CN" sz="2400" dirty="0"/>
              <a:t> in </a:t>
            </a:r>
            <a:r>
              <a:rPr lang="en-US" altLang="zh-CN" sz="2400" b="1" dirty="0"/>
              <a:t>heaven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800" dirty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Would </a:t>
            </a:r>
            <a:r>
              <a:rPr lang="en-US" altLang="zh-CN" sz="2400" b="1" dirty="0"/>
              <a:t>through</a:t>
            </a:r>
            <a:r>
              <a:rPr lang="en-US" altLang="zh-CN" sz="2400" dirty="0"/>
              <a:t> the </a:t>
            </a:r>
            <a:r>
              <a:rPr lang="en-US" altLang="zh-CN" sz="2400" b="1" dirty="0"/>
              <a:t>air</a:t>
            </a:r>
            <a:r>
              <a:rPr lang="en-US" altLang="zh-CN" sz="2400" dirty="0"/>
              <a:t>y </a:t>
            </a:r>
            <a:r>
              <a:rPr lang="en-US" altLang="zh-CN" sz="2400" b="1" dirty="0"/>
              <a:t>re</a:t>
            </a:r>
            <a:r>
              <a:rPr lang="en-US" altLang="zh-CN" sz="2400" dirty="0"/>
              <a:t>gion </a:t>
            </a:r>
            <a:r>
              <a:rPr lang="en-US" altLang="zh-CN" sz="2400" b="1" dirty="0"/>
              <a:t>stream</a:t>
            </a:r>
            <a:r>
              <a:rPr lang="en-US" altLang="zh-CN" sz="2400" dirty="0"/>
              <a:t> so </a:t>
            </a:r>
            <a:r>
              <a:rPr lang="en-US" altLang="zh-CN" sz="2400" b="1" dirty="0"/>
              <a:t>bright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800" dirty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That </a:t>
            </a:r>
            <a:r>
              <a:rPr lang="en-US" altLang="zh-CN" sz="2400" b="1" dirty="0"/>
              <a:t>birds</a:t>
            </a:r>
            <a:r>
              <a:rPr lang="en-US" altLang="zh-CN" sz="2400" dirty="0"/>
              <a:t> would </a:t>
            </a:r>
            <a:r>
              <a:rPr lang="en-US" altLang="zh-CN" sz="2400" b="1" dirty="0"/>
              <a:t>sing</a:t>
            </a:r>
            <a:r>
              <a:rPr lang="en-US" altLang="zh-CN" sz="2400" dirty="0"/>
              <a:t> and </a:t>
            </a:r>
            <a:r>
              <a:rPr lang="en-US" altLang="zh-CN" sz="2400" b="1" dirty="0"/>
              <a:t>think</a:t>
            </a:r>
            <a:r>
              <a:rPr lang="en-US" altLang="zh-CN" sz="2400" dirty="0"/>
              <a:t> it </a:t>
            </a:r>
            <a:r>
              <a:rPr lang="en-US" altLang="zh-CN" sz="2400" b="1" dirty="0"/>
              <a:t>were</a:t>
            </a:r>
            <a:r>
              <a:rPr lang="en-US" altLang="zh-CN" sz="2400" dirty="0"/>
              <a:t> not </a:t>
            </a:r>
            <a:r>
              <a:rPr lang="en-US" altLang="zh-CN" sz="2400" b="1" dirty="0"/>
              <a:t>night</a:t>
            </a:r>
            <a:r>
              <a:rPr lang="en-US" altLang="zh-CN" sz="2800" dirty="0"/>
              <a:t>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3101FF2-DDB1-C980-34A0-90FA327230E4}"/>
              </a:ext>
            </a:extLst>
          </p:cNvPr>
          <p:cNvSpPr txBox="1"/>
          <p:nvPr/>
        </p:nvSpPr>
        <p:spPr>
          <a:xfrm>
            <a:off x="7912360" y="1912776"/>
            <a:ext cx="372744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This section is mostly made of </a:t>
            </a:r>
            <a:r>
              <a:rPr lang="en-GB" sz="2400" i="1" dirty="0"/>
              <a:t>Iambs =</a:t>
            </a:r>
            <a:r>
              <a:rPr lang="en-GB" sz="2400" dirty="0"/>
              <a:t> unstress – </a:t>
            </a:r>
            <a:r>
              <a:rPr lang="en-GB" sz="2400" b="1" dirty="0"/>
              <a:t>stress</a:t>
            </a:r>
            <a:r>
              <a:rPr lang="en-GB" sz="2400" dirty="0"/>
              <a:t> </a:t>
            </a:r>
          </a:p>
          <a:p>
            <a:endParaRPr lang="en-GB" sz="2400" dirty="0"/>
          </a:p>
          <a:p>
            <a:r>
              <a:rPr lang="en-GB" sz="2400" dirty="0"/>
              <a:t>But there are several different stresses within it. </a:t>
            </a:r>
          </a:p>
          <a:p>
            <a:endParaRPr lang="en-GB" sz="2400" dirty="0"/>
          </a:p>
          <a:p>
            <a:r>
              <a:rPr lang="en-GB" sz="2400" dirty="0"/>
              <a:t>Which lines start with or contain a </a:t>
            </a:r>
            <a:r>
              <a:rPr lang="en-GB" sz="2400" dirty="0">
                <a:solidFill>
                  <a:srgbClr val="FF0000"/>
                </a:solidFill>
              </a:rPr>
              <a:t>trochee?</a:t>
            </a:r>
            <a:endParaRPr lang="en-GB" sz="2400" dirty="0"/>
          </a:p>
          <a:p>
            <a:endParaRPr lang="en-GB" sz="2400" dirty="0"/>
          </a:p>
          <a:p>
            <a:r>
              <a:rPr lang="en-GB" sz="2400" i="1" dirty="0"/>
              <a:t>Trochee</a:t>
            </a:r>
            <a:r>
              <a:rPr lang="en-GB" sz="2400" dirty="0"/>
              <a:t> =  </a:t>
            </a:r>
            <a:r>
              <a:rPr lang="en-GB" sz="2400" b="1" dirty="0"/>
              <a:t>stress – </a:t>
            </a:r>
            <a:r>
              <a:rPr lang="en-GB" sz="2400" dirty="0"/>
              <a:t>unstress</a:t>
            </a:r>
          </a:p>
        </p:txBody>
      </p:sp>
    </p:spTree>
    <p:extLst>
      <p:ext uri="{BB962C8B-B14F-4D97-AF65-F5344CB8AC3E}">
        <p14:creationId xmlns:p14="http://schemas.microsoft.com/office/powerpoint/2010/main" val="21582689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26845" y="185531"/>
            <a:ext cx="8596668" cy="1320800"/>
          </a:xfrm>
        </p:spPr>
        <p:txBody>
          <a:bodyPr anchor="ctr">
            <a:normAutofit/>
          </a:bodyPr>
          <a:lstStyle/>
          <a:p>
            <a:pPr algn="ctr"/>
            <a:r>
              <a:rPr lang="en-US" altLang="zh-CN" sz="4400" b="1" dirty="0">
                <a:solidFill>
                  <a:schemeClr val="accent2"/>
                </a:solidFill>
              </a:rPr>
              <a:t>Shakespeare </a:t>
            </a:r>
            <a:r>
              <a:rPr lang="en-US" altLang="zh-CN" sz="4400" b="1" dirty="0">
                <a:solidFill>
                  <a:schemeClr val="accent2"/>
                </a:solidFill>
                <a:latin typeface="Arial" panose="020B0604020202020204" pitchFamily="34" charset="0"/>
              </a:rPr>
              <a:t>–</a:t>
            </a:r>
            <a:r>
              <a:rPr lang="en-US" altLang="zh-CN" sz="4400" b="1" dirty="0">
                <a:solidFill>
                  <a:schemeClr val="accent2"/>
                </a:solidFill>
              </a:rPr>
              <a:t> Romeo and Juliet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26845" y="1378711"/>
            <a:ext cx="8596668" cy="3880773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rgbClr val="FF0000"/>
                </a:solidFill>
              </a:rPr>
              <a:t>Two</a:t>
            </a:r>
            <a:r>
              <a:rPr lang="en-US" altLang="zh-CN" sz="2400" dirty="0">
                <a:solidFill>
                  <a:srgbClr val="FF0000"/>
                </a:solidFill>
              </a:rPr>
              <a:t> of </a:t>
            </a:r>
            <a:r>
              <a:rPr lang="en-US" altLang="zh-CN" sz="2400" dirty="0"/>
              <a:t>the </a:t>
            </a:r>
            <a:r>
              <a:rPr lang="en-US" altLang="zh-CN" sz="2400" b="1" dirty="0"/>
              <a:t>fair</a:t>
            </a:r>
            <a:r>
              <a:rPr lang="en-US" altLang="zh-CN" sz="2400" dirty="0"/>
              <a:t>est </a:t>
            </a:r>
            <a:r>
              <a:rPr lang="en-US" altLang="zh-CN" sz="2400" b="1" dirty="0"/>
              <a:t>stars</a:t>
            </a:r>
            <a:r>
              <a:rPr lang="en-US" altLang="zh-CN" sz="2400" dirty="0"/>
              <a:t> in </a:t>
            </a:r>
            <a:r>
              <a:rPr lang="en-US" altLang="zh-CN" sz="2400" b="1" dirty="0"/>
              <a:t>all</a:t>
            </a:r>
            <a:r>
              <a:rPr lang="en-US" altLang="zh-CN" sz="2400" dirty="0"/>
              <a:t> the </a:t>
            </a:r>
            <a:r>
              <a:rPr lang="en-US" altLang="zh-CN" sz="2400" b="1" dirty="0"/>
              <a:t>heaven</a:t>
            </a:r>
            <a:r>
              <a:rPr lang="en-US" altLang="zh-CN" sz="2400" dirty="0"/>
              <a:t>,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800" dirty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rgbClr val="FF0000"/>
                </a:solidFill>
              </a:rPr>
              <a:t>Hav</a:t>
            </a:r>
            <a:r>
              <a:rPr lang="en-US" altLang="zh-CN" sz="2400" dirty="0">
                <a:solidFill>
                  <a:srgbClr val="FF0000"/>
                </a:solidFill>
              </a:rPr>
              <a:t>ing</a:t>
            </a:r>
            <a:r>
              <a:rPr lang="en-US" altLang="zh-CN" sz="2400" dirty="0"/>
              <a:t> some </a:t>
            </a:r>
            <a:r>
              <a:rPr lang="en-US" altLang="zh-CN" sz="2400" b="1" dirty="0"/>
              <a:t>bus</a:t>
            </a:r>
            <a:r>
              <a:rPr lang="en-US" altLang="zh-CN" sz="2400" dirty="0"/>
              <a:t>iness, </a:t>
            </a:r>
            <a:r>
              <a:rPr lang="en-US" altLang="zh-CN" sz="2400" b="1" dirty="0"/>
              <a:t>do</a:t>
            </a:r>
            <a:r>
              <a:rPr lang="en-US" altLang="zh-CN" sz="2400" dirty="0"/>
              <a:t> en</a:t>
            </a:r>
            <a:r>
              <a:rPr lang="en-US" altLang="zh-CN" sz="2400" b="1" dirty="0"/>
              <a:t>treat</a:t>
            </a:r>
            <a:r>
              <a:rPr lang="en-US" altLang="zh-CN" sz="2400" dirty="0"/>
              <a:t> her </a:t>
            </a:r>
            <a:r>
              <a:rPr lang="en-US" altLang="zh-CN" sz="2400" b="1" dirty="0"/>
              <a:t>eyes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800" dirty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To </a:t>
            </a:r>
            <a:r>
              <a:rPr lang="en-US" altLang="zh-CN" sz="2400" b="1" dirty="0"/>
              <a:t>twin</a:t>
            </a:r>
            <a:r>
              <a:rPr lang="en-US" altLang="zh-CN" sz="2400" dirty="0"/>
              <a:t>kle </a:t>
            </a:r>
            <a:r>
              <a:rPr lang="en-US" altLang="zh-CN" sz="2400" b="1" dirty="0"/>
              <a:t>in</a:t>
            </a:r>
            <a:r>
              <a:rPr lang="en-US" altLang="zh-CN" sz="2400" dirty="0"/>
              <a:t> their </a:t>
            </a:r>
            <a:r>
              <a:rPr lang="en-US" altLang="zh-CN" sz="2400" b="1" dirty="0"/>
              <a:t>spheres</a:t>
            </a:r>
            <a:r>
              <a:rPr lang="en-US" altLang="zh-CN" sz="2400" dirty="0"/>
              <a:t> till </a:t>
            </a:r>
            <a:r>
              <a:rPr lang="en-US" altLang="zh-CN" sz="2400" b="1" dirty="0"/>
              <a:t>they</a:t>
            </a:r>
            <a:r>
              <a:rPr lang="en-US" altLang="zh-CN" sz="2400" dirty="0"/>
              <a:t> re</a:t>
            </a:r>
            <a:r>
              <a:rPr lang="en-US" altLang="zh-CN" sz="2400" b="1" dirty="0"/>
              <a:t>turn</a:t>
            </a:r>
            <a:r>
              <a:rPr lang="en-US" altLang="zh-CN" sz="2400" dirty="0"/>
              <a:t>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800" dirty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rgbClr val="FF0000"/>
                </a:solidFill>
              </a:rPr>
              <a:t>What</a:t>
            </a:r>
            <a:r>
              <a:rPr lang="en-US" altLang="zh-CN" sz="2400" dirty="0">
                <a:solidFill>
                  <a:srgbClr val="FF0000"/>
                </a:solidFill>
              </a:rPr>
              <a:t> if </a:t>
            </a:r>
            <a:r>
              <a:rPr lang="en-US" altLang="zh-CN" sz="2400" dirty="0"/>
              <a:t>her </a:t>
            </a:r>
            <a:r>
              <a:rPr lang="en-US" altLang="zh-CN" sz="2400" b="1" dirty="0"/>
              <a:t>eyes</a:t>
            </a:r>
            <a:r>
              <a:rPr lang="en-US" altLang="zh-CN" sz="2400" dirty="0"/>
              <a:t> were </a:t>
            </a:r>
            <a:r>
              <a:rPr lang="en-US" altLang="zh-CN" sz="2400" b="1" dirty="0"/>
              <a:t>there</a:t>
            </a:r>
            <a:r>
              <a:rPr lang="en-US" altLang="zh-CN" sz="2400" dirty="0"/>
              <a:t>, </a:t>
            </a:r>
            <a:r>
              <a:rPr lang="en-US" altLang="zh-CN" sz="2400" b="1" dirty="0">
                <a:solidFill>
                  <a:srgbClr val="FF0000"/>
                </a:solidFill>
              </a:rPr>
              <a:t>they</a:t>
            </a:r>
            <a:r>
              <a:rPr lang="en-US" altLang="zh-CN" sz="2400" dirty="0">
                <a:solidFill>
                  <a:srgbClr val="FF0000"/>
                </a:solidFill>
              </a:rPr>
              <a:t> in </a:t>
            </a:r>
            <a:r>
              <a:rPr lang="en-US" altLang="zh-CN" sz="2400" dirty="0"/>
              <a:t>her </a:t>
            </a:r>
            <a:r>
              <a:rPr lang="en-US" altLang="zh-CN" sz="2400" b="1" dirty="0"/>
              <a:t>head</a:t>
            </a:r>
            <a:r>
              <a:rPr lang="en-US" altLang="zh-CN" sz="2400" dirty="0"/>
              <a:t>?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800" dirty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The </a:t>
            </a:r>
            <a:r>
              <a:rPr lang="en-US" altLang="zh-CN" sz="2400" b="1" dirty="0"/>
              <a:t>bright</a:t>
            </a:r>
            <a:r>
              <a:rPr lang="en-US" altLang="zh-CN" sz="2400" dirty="0"/>
              <a:t>ness </a:t>
            </a:r>
            <a:r>
              <a:rPr lang="en-US" altLang="zh-CN" sz="2400" b="1" dirty="0"/>
              <a:t>of</a:t>
            </a:r>
            <a:r>
              <a:rPr lang="en-US" altLang="zh-CN" sz="2400" dirty="0"/>
              <a:t> her </a:t>
            </a:r>
            <a:r>
              <a:rPr lang="en-US" altLang="zh-CN" sz="2400" b="1" dirty="0"/>
              <a:t>cheek</a:t>
            </a:r>
            <a:r>
              <a:rPr lang="en-US" altLang="zh-CN" sz="2400" dirty="0"/>
              <a:t> would </a:t>
            </a:r>
            <a:r>
              <a:rPr lang="en-US" altLang="zh-CN" sz="2400" b="1" dirty="0"/>
              <a:t>shame</a:t>
            </a:r>
            <a:r>
              <a:rPr lang="en-US" altLang="zh-CN" sz="2400" dirty="0"/>
              <a:t> those </a:t>
            </a:r>
            <a:r>
              <a:rPr lang="en-US" altLang="zh-CN" sz="2400" b="1" dirty="0"/>
              <a:t>stars</a:t>
            </a:r>
            <a:r>
              <a:rPr lang="en-US" altLang="zh-CN" sz="2400" dirty="0"/>
              <a:t>,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800" dirty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As </a:t>
            </a:r>
            <a:r>
              <a:rPr lang="en-US" altLang="zh-CN" sz="2400" b="1" dirty="0"/>
              <a:t>day</a:t>
            </a:r>
            <a:r>
              <a:rPr lang="en-US" altLang="zh-CN" sz="2400" dirty="0"/>
              <a:t>light </a:t>
            </a:r>
            <a:r>
              <a:rPr lang="en-US" altLang="zh-CN" sz="2400" b="1" dirty="0"/>
              <a:t>doth</a:t>
            </a:r>
            <a:r>
              <a:rPr lang="en-US" altLang="zh-CN" sz="2400" dirty="0"/>
              <a:t> a </a:t>
            </a:r>
            <a:r>
              <a:rPr lang="en-US" altLang="zh-CN" sz="2400" b="1" dirty="0"/>
              <a:t>lamp</a:t>
            </a:r>
            <a:r>
              <a:rPr lang="en-US" altLang="zh-CN" sz="2400" dirty="0"/>
              <a:t>; her </a:t>
            </a:r>
            <a:r>
              <a:rPr lang="en-US" altLang="zh-CN" sz="2400" b="1" dirty="0"/>
              <a:t>eyes</a:t>
            </a:r>
            <a:r>
              <a:rPr lang="en-US" altLang="zh-CN" sz="2400" dirty="0"/>
              <a:t> in </a:t>
            </a:r>
            <a:r>
              <a:rPr lang="en-US" altLang="zh-CN" sz="2400" b="1" dirty="0"/>
              <a:t>heaven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800" dirty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Would </a:t>
            </a:r>
            <a:r>
              <a:rPr lang="en-US" altLang="zh-CN" sz="2400" b="1" dirty="0"/>
              <a:t>through</a:t>
            </a:r>
            <a:r>
              <a:rPr lang="en-US" altLang="zh-CN" sz="2400" dirty="0"/>
              <a:t> the </a:t>
            </a:r>
            <a:r>
              <a:rPr lang="en-US" altLang="zh-CN" sz="2400" b="1" dirty="0"/>
              <a:t>air</a:t>
            </a:r>
            <a:r>
              <a:rPr lang="en-US" altLang="zh-CN" sz="2400" dirty="0"/>
              <a:t>y </a:t>
            </a:r>
            <a:r>
              <a:rPr lang="en-US" altLang="zh-CN" sz="2400" b="1" dirty="0"/>
              <a:t>re</a:t>
            </a:r>
            <a:r>
              <a:rPr lang="en-US" altLang="zh-CN" sz="2400" dirty="0"/>
              <a:t>gion </a:t>
            </a:r>
            <a:r>
              <a:rPr lang="en-US" altLang="zh-CN" sz="2400" b="1" dirty="0"/>
              <a:t>stream</a:t>
            </a:r>
            <a:r>
              <a:rPr lang="en-US" altLang="zh-CN" sz="2400" dirty="0"/>
              <a:t> so </a:t>
            </a:r>
            <a:r>
              <a:rPr lang="en-US" altLang="zh-CN" sz="2400" b="1" dirty="0"/>
              <a:t>bright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800" dirty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That </a:t>
            </a:r>
            <a:r>
              <a:rPr lang="en-US" altLang="zh-CN" sz="2400" b="1" dirty="0"/>
              <a:t>birds</a:t>
            </a:r>
            <a:r>
              <a:rPr lang="en-US" altLang="zh-CN" sz="2400" dirty="0"/>
              <a:t> would </a:t>
            </a:r>
            <a:r>
              <a:rPr lang="en-US" altLang="zh-CN" sz="2400" b="1" dirty="0"/>
              <a:t>sing</a:t>
            </a:r>
            <a:r>
              <a:rPr lang="en-US" altLang="zh-CN" sz="2400" dirty="0"/>
              <a:t> and </a:t>
            </a:r>
            <a:r>
              <a:rPr lang="en-US" altLang="zh-CN" sz="2400" b="1" dirty="0"/>
              <a:t>think</a:t>
            </a:r>
            <a:r>
              <a:rPr lang="en-US" altLang="zh-CN" sz="2400" dirty="0"/>
              <a:t> it </a:t>
            </a:r>
            <a:r>
              <a:rPr lang="en-US" altLang="zh-CN" sz="2400" b="1" dirty="0"/>
              <a:t>were</a:t>
            </a:r>
            <a:r>
              <a:rPr lang="en-US" altLang="zh-CN" sz="2400" dirty="0"/>
              <a:t> not </a:t>
            </a:r>
            <a:r>
              <a:rPr lang="en-US" altLang="zh-CN" sz="2400" b="1" dirty="0"/>
              <a:t>night</a:t>
            </a:r>
            <a:r>
              <a:rPr lang="en-US" altLang="zh-CN" sz="2800" dirty="0"/>
              <a:t>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3101FF2-DDB1-C980-34A0-90FA327230E4}"/>
              </a:ext>
            </a:extLst>
          </p:cNvPr>
          <p:cNvSpPr txBox="1"/>
          <p:nvPr/>
        </p:nvSpPr>
        <p:spPr>
          <a:xfrm>
            <a:off x="7912360" y="1912776"/>
            <a:ext cx="372744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This section is mostly made of </a:t>
            </a:r>
            <a:r>
              <a:rPr lang="en-GB" sz="2400" i="1" dirty="0"/>
              <a:t>Iambs =</a:t>
            </a:r>
            <a:r>
              <a:rPr lang="en-GB" sz="2400" dirty="0"/>
              <a:t> unstress – </a:t>
            </a:r>
            <a:r>
              <a:rPr lang="en-GB" sz="2400" b="1" dirty="0"/>
              <a:t>stress</a:t>
            </a:r>
            <a:r>
              <a:rPr lang="en-GB" sz="2400" dirty="0"/>
              <a:t> </a:t>
            </a:r>
          </a:p>
          <a:p>
            <a:endParaRPr lang="en-GB" sz="2400" dirty="0"/>
          </a:p>
          <a:p>
            <a:r>
              <a:rPr lang="en-GB" sz="2400" dirty="0"/>
              <a:t>But there are several different stresses within it. </a:t>
            </a:r>
          </a:p>
          <a:p>
            <a:endParaRPr lang="en-GB" sz="2400" dirty="0"/>
          </a:p>
          <a:p>
            <a:r>
              <a:rPr lang="en-GB" sz="2400" dirty="0"/>
              <a:t>Which lines start with or contain a </a:t>
            </a:r>
            <a:r>
              <a:rPr lang="en-GB" sz="2400" dirty="0">
                <a:solidFill>
                  <a:srgbClr val="FF0000"/>
                </a:solidFill>
              </a:rPr>
              <a:t>trochee?</a:t>
            </a:r>
            <a:endParaRPr lang="en-GB" sz="2400" dirty="0"/>
          </a:p>
          <a:p>
            <a:endParaRPr lang="en-GB" sz="2400" dirty="0"/>
          </a:p>
          <a:p>
            <a:r>
              <a:rPr lang="en-GB" sz="2400" i="1" dirty="0"/>
              <a:t>Trochee</a:t>
            </a:r>
            <a:r>
              <a:rPr lang="en-GB" sz="2400" dirty="0"/>
              <a:t> =  </a:t>
            </a:r>
            <a:r>
              <a:rPr lang="en-GB" sz="2400" b="1" dirty="0"/>
              <a:t>stress – </a:t>
            </a:r>
            <a:r>
              <a:rPr lang="en-GB" sz="2400" dirty="0"/>
              <a:t>unstress</a:t>
            </a:r>
          </a:p>
        </p:txBody>
      </p:sp>
    </p:spTree>
    <p:extLst>
      <p:ext uri="{BB962C8B-B14F-4D97-AF65-F5344CB8AC3E}">
        <p14:creationId xmlns:p14="http://schemas.microsoft.com/office/powerpoint/2010/main" val="3272959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369573" y="1236738"/>
            <a:ext cx="9144000" cy="2635465"/>
          </a:xfrm>
        </p:spPr>
        <p:txBody>
          <a:bodyPr>
            <a:normAutofit/>
          </a:bodyPr>
          <a:lstStyle/>
          <a:p>
            <a:r>
              <a:rPr lang="en-GB" b="1" dirty="0"/>
              <a:t>William</a:t>
            </a:r>
            <a:br>
              <a:rPr lang="en-GB" b="1" dirty="0"/>
            </a:br>
            <a:r>
              <a:rPr lang="en-GB" b="1" dirty="0"/>
              <a:t>Shakespeare</a:t>
            </a:r>
            <a:br>
              <a:rPr lang="en-GB" b="1" dirty="0"/>
            </a:br>
            <a:r>
              <a:rPr lang="en-GB" sz="600" b="1" dirty="0"/>
              <a:t> </a:t>
            </a:r>
            <a:br>
              <a:rPr lang="en-GB" sz="5400" b="1" dirty="0"/>
            </a:br>
            <a:r>
              <a:rPr lang="en-GB" sz="4400" b="1" dirty="0"/>
              <a:t>(1564-1616)</a:t>
            </a:r>
            <a:endParaRPr lang="en-GB" sz="5400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55833" y="4268152"/>
            <a:ext cx="6293187" cy="2387600"/>
          </a:xfrm>
        </p:spPr>
        <p:txBody>
          <a:bodyPr>
            <a:normAutofit/>
          </a:bodyPr>
          <a:lstStyle/>
          <a:p>
            <a:r>
              <a:rPr lang="en-GB" sz="4000" dirty="0"/>
              <a:t>Romeo and Juliet (1595)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4306" y="1125079"/>
            <a:ext cx="3730980" cy="4785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526350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Shakespeare’s Life</a:t>
            </a:r>
          </a:p>
        </p:txBody>
      </p:sp>
      <p:pic>
        <p:nvPicPr>
          <p:cNvPr id="13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4831" y="2422741"/>
            <a:ext cx="5235811" cy="347308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18978" y="1690688"/>
            <a:ext cx="110290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He was born in Stratford Upon Avon in 1564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55" y="2422741"/>
            <a:ext cx="6387288" cy="3473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58001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Stratford Upon Avon – 100 miles from London</a:t>
            </a:r>
          </a:p>
        </p:txBody>
      </p:sp>
      <p:pic>
        <p:nvPicPr>
          <p:cNvPr id="5" name="Content Placeholder 10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5900" y="1928491"/>
            <a:ext cx="6477000" cy="4238625"/>
          </a:xfr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019" y="1690687"/>
            <a:ext cx="4648200" cy="4800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832931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Shakespeare’s Life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His father John Shakespeare was a glove maker. William went to school, but never to university.</a:t>
            </a:r>
          </a:p>
          <a:p>
            <a:endParaRPr lang="en-GB" dirty="0"/>
          </a:p>
          <a:p>
            <a:r>
              <a:rPr lang="en-GB" dirty="0"/>
              <a:t>When he was 18, he married Anne Hathaway who was 26. </a:t>
            </a:r>
          </a:p>
          <a:p>
            <a:endParaRPr lang="en-GB" dirty="0"/>
          </a:p>
          <a:p>
            <a:r>
              <a:rPr lang="en-GB" dirty="0"/>
              <a:t>He wrote during the reign of Elizabeth I, and along with the playwright Christopher Marlow (more highly regarded at the time) was a defining figure of the Elizabethan era.</a:t>
            </a:r>
          </a:p>
        </p:txBody>
      </p:sp>
    </p:spTree>
    <p:extLst>
      <p:ext uri="{BB962C8B-B14F-4D97-AF65-F5344CB8AC3E}">
        <p14:creationId xmlns:p14="http://schemas.microsoft.com/office/powerpoint/2010/main" val="3333636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Shakespeare’s Life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No one’s sure how he got started as </a:t>
            </a:r>
          </a:p>
          <a:p>
            <a:pPr marL="0" indent="0">
              <a:buNone/>
            </a:pPr>
            <a:r>
              <a:rPr lang="en-GB" dirty="0"/>
              <a:t>  an actor and writer, but by 1592 he </a:t>
            </a:r>
          </a:p>
          <a:p>
            <a:pPr marL="0" indent="0">
              <a:buNone/>
            </a:pPr>
            <a:r>
              <a:rPr lang="en-GB" dirty="0"/>
              <a:t>  was living in London and well known.</a:t>
            </a:r>
          </a:p>
          <a:p>
            <a:endParaRPr lang="en-GB" dirty="0"/>
          </a:p>
          <a:p>
            <a:r>
              <a:rPr lang="en-GB" dirty="0"/>
              <a:t>In 1594 he was part of a Playing Company </a:t>
            </a:r>
          </a:p>
          <a:p>
            <a:pPr marL="0" indent="0">
              <a:buNone/>
            </a:pPr>
            <a:r>
              <a:rPr lang="en-GB" dirty="0"/>
              <a:t>   called The Lord Chamberlain’s Men.</a:t>
            </a:r>
          </a:p>
          <a:p>
            <a:endParaRPr lang="en-GB" dirty="0"/>
          </a:p>
          <a:p>
            <a:r>
              <a:rPr lang="en-GB" dirty="0"/>
              <a:t>They performed at The Globe Theatre.</a:t>
            </a:r>
          </a:p>
          <a:p>
            <a:endParaRPr lang="en-GB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3602" y="3834081"/>
            <a:ext cx="4494237" cy="2912611"/>
          </a:xfrm>
          <a:prstGeom prst="rect">
            <a:avLst/>
          </a:prstGeom>
        </p:spPr>
      </p:pic>
      <p:pic>
        <p:nvPicPr>
          <p:cNvPr id="6" name="Content Placeholder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8230" y="1429093"/>
            <a:ext cx="5079609" cy="2337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9026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5891" y="902405"/>
            <a:ext cx="10515600" cy="1325563"/>
          </a:xfrm>
        </p:spPr>
        <p:txBody>
          <a:bodyPr>
            <a:normAutofit/>
          </a:bodyPr>
          <a:lstStyle/>
          <a:p>
            <a:r>
              <a:rPr lang="en-GB" sz="4800" b="1" dirty="0"/>
              <a:t>The Globe Theatre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6854" y="0"/>
            <a:ext cx="5457971" cy="3547681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026" y="3083511"/>
            <a:ext cx="5729135" cy="3774489"/>
          </a:xfrm>
          <a:prstGeom prst="rect">
            <a:avLst/>
          </a:prstGeom>
        </p:spPr>
      </p:pic>
      <p:pic>
        <p:nvPicPr>
          <p:cNvPr id="19" name="Content Placeholder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6854" y="3304223"/>
            <a:ext cx="5459426" cy="3553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5469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Romeo and Juliet -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GB" sz="2600" dirty="0"/>
              <a:t>Ovid 43 BC – 17 AD (Rome) wrote ‘Metamorphoses,’ which contained the story of </a:t>
            </a:r>
            <a:r>
              <a:rPr lang="en-GB" sz="2600" b="1" dirty="0" err="1">
                <a:solidFill>
                  <a:srgbClr val="C00000"/>
                </a:solidFill>
              </a:rPr>
              <a:t>Pyramus</a:t>
            </a:r>
            <a:r>
              <a:rPr lang="en-GB" sz="2600" b="1" dirty="0">
                <a:solidFill>
                  <a:srgbClr val="C00000"/>
                </a:solidFill>
              </a:rPr>
              <a:t> and Thisbe </a:t>
            </a:r>
            <a:r>
              <a:rPr lang="en-GB" sz="2600" dirty="0"/>
              <a:t>with some similar themes.</a:t>
            </a:r>
          </a:p>
          <a:p>
            <a:endParaRPr lang="en-GB" sz="1050" dirty="0">
              <a:solidFill>
                <a:srgbClr val="FF0000"/>
              </a:solidFill>
            </a:endParaRPr>
          </a:p>
          <a:p>
            <a:r>
              <a:rPr lang="en-GB" sz="2600" dirty="0" err="1"/>
              <a:t>Masuccio</a:t>
            </a:r>
            <a:r>
              <a:rPr lang="en-GB" sz="2600" dirty="0"/>
              <a:t> </a:t>
            </a:r>
            <a:r>
              <a:rPr lang="en-GB" sz="2600" dirty="0" err="1"/>
              <a:t>Salernitano</a:t>
            </a:r>
            <a:r>
              <a:rPr lang="en-GB" sz="2600" dirty="0"/>
              <a:t> 1410 – 1475 (Salerno) wrote of </a:t>
            </a:r>
            <a:r>
              <a:rPr lang="en-GB" sz="2600" b="1" dirty="0" err="1">
                <a:solidFill>
                  <a:srgbClr val="C00000"/>
                </a:solidFill>
              </a:rPr>
              <a:t>Mariotta</a:t>
            </a:r>
            <a:r>
              <a:rPr lang="en-GB" sz="2600" b="1" dirty="0">
                <a:solidFill>
                  <a:srgbClr val="C00000"/>
                </a:solidFill>
              </a:rPr>
              <a:t> and </a:t>
            </a:r>
            <a:r>
              <a:rPr lang="en-GB" sz="2600" b="1" dirty="0" err="1">
                <a:solidFill>
                  <a:srgbClr val="C00000"/>
                </a:solidFill>
              </a:rPr>
              <a:t>Ganozza</a:t>
            </a:r>
            <a:r>
              <a:rPr lang="en-GB" sz="2600" b="1" dirty="0">
                <a:solidFill>
                  <a:srgbClr val="C00000"/>
                </a:solidFill>
              </a:rPr>
              <a:t>, </a:t>
            </a:r>
            <a:r>
              <a:rPr lang="en-GB" sz="2600" dirty="0"/>
              <a:t>with many of the key plot points.</a:t>
            </a:r>
          </a:p>
          <a:p>
            <a:endParaRPr lang="en-GB" sz="1050" dirty="0"/>
          </a:p>
          <a:p>
            <a:r>
              <a:rPr lang="en-GB" sz="2600" dirty="0" err="1"/>
              <a:t>Liugi</a:t>
            </a:r>
            <a:r>
              <a:rPr lang="en-GB" sz="2600" dirty="0"/>
              <a:t> da Porta 1485 – 1529 (Venice) adapted that story into </a:t>
            </a:r>
            <a:r>
              <a:rPr lang="en-GB" sz="2600" b="1" dirty="0" err="1">
                <a:solidFill>
                  <a:srgbClr val="C00000"/>
                </a:solidFill>
              </a:rPr>
              <a:t>Giuietta</a:t>
            </a:r>
            <a:r>
              <a:rPr lang="en-GB" sz="2600" b="1" dirty="0">
                <a:solidFill>
                  <a:srgbClr val="C00000"/>
                </a:solidFill>
              </a:rPr>
              <a:t> and Romeo</a:t>
            </a:r>
            <a:r>
              <a:rPr lang="en-GB" sz="2600" dirty="0"/>
              <a:t>, set in Verona.</a:t>
            </a:r>
          </a:p>
          <a:p>
            <a:endParaRPr lang="en-GB" sz="1050" dirty="0">
              <a:solidFill>
                <a:srgbClr val="C00000"/>
              </a:solidFill>
            </a:endParaRPr>
          </a:p>
          <a:p>
            <a:r>
              <a:rPr lang="en-GB" sz="2600" dirty="0"/>
              <a:t>Matteo Bandello 1480 – 1562 (</a:t>
            </a:r>
            <a:r>
              <a:rPr lang="en-GB" sz="2600" dirty="0" err="1"/>
              <a:t>Tortona</a:t>
            </a:r>
            <a:r>
              <a:rPr lang="en-GB" sz="2600" dirty="0"/>
              <a:t>) rewrote </a:t>
            </a:r>
            <a:r>
              <a:rPr lang="en-GB" sz="2600" b="1" dirty="0" err="1">
                <a:solidFill>
                  <a:srgbClr val="C00000"/>
                </a:solidFill>
              </a:rPr>
              <a:t>Giuietta</a:t>
            </a:r>
            <a:r>
              <a:rPr lang="en-GB" sz="2600" b="1" dirty="0">
                <a:solidFill>
                  <a:srgbClr val="C00000"/>
                </a:solidFill>
              </a:rPr>
              <a:t> and Romeo.</a:t>
            </a:r>
            <a:endParaRPr lang="en-GB" sz="2600" dirty="0"/>
          </a:p>
          <a:p>
            <a:endParaRPr lang="en-GB" sz="1050" b="1" dirty="0">
              <a:solidFill>
                <a:srgbClr val="C00000"/>
              </a:solidFill>
            </a:endParaRPr>
          </a:p>
          <a:p>
            <a:r>
              <a:rPr lang="en-GB" sz="2600" dirty="0"/>
              <a:t>Pierre </a:t>
            </a:r>
            <a:r>
              <a:rPr lang="en-GB" sz="2600" dirty="0" err="1"/>
              <a:t>Boaistuau</a:t>
            </a:r>
            <a:r>
              <a:rPr lang="en-GB" sz="2600" dirty="0"/>
              <a:t> 1517 – 1576 (Nantes) translated it into French.</a:t>
            </a:r>
          </a:p>
        </p:txBody>
      </p:sp>
    </p:spTree>
    <p:extLst>
      <p:ext uri="{BB962C8B-B14F-4D97-AF65-F5344CB8AC3E}">
        <p14:creationId xmlns:p14="http://schemas.microsoft.com/office/powerpoint/2010/main" val="6898620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Romeo and Juliet -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14202" y="1825625"/>
            <a:ext cx="6739597" cy="4351338"/>
          </a:xfrm>
        </p:spPr>
        <p:txBody>
          <a:bodyPr/>
          <a:lstStyle/>
          <a:p>
            <a:r>
              <a:rPr lang="en-GB" dirty="0"/>
              <a:t>In 1562 Arthur Brooke wrote </a:t>
            </a:r>
          </a:p>
          <a:p>
            <a:pPr marL="0" indent="0">
              <a:buNone/>
            </a:pPr>
            <a:r>
              <a:rPr lang="en-GB" b="1" dirty="0">
                <a:solidFill>
                  <a:srgbClr val="C00000"/>
                </a:solidFill>
              </a:rPr>
              <a:t>   The </a:t>
            </a:r>
            <a:r>
              <a:rPr lang="en-GB" b="1" dirty="0" err="1">
                <a:solidFill>
                  <a:srgbClr val="C00000"/>
                </a:solidFill>
              </a:rPr>
              <a:t>Tragicall</a:t>
            </a:r>
            <a:r>
              <a:rPr lang="en-GB" b="1" dirty="0">
                <a:solidFill>
                  <a:srgbClr val="C00000"/>
                </a:solidFill>
              </a:rPr>
              <a:t> </a:t>
            </a:r>
            <a:r>
              <a:rPr lang="en-GB" b="1" dirty="0" err="1">
                <a:solidFill>
                  <a:srgbClr val="C00000"/>
                </a:solidFill>
              </a:rPr>
              <a:t>Historye</a:t>
            </a:r>
            <a:r>
              <a:rPr lang="en-GB" b="1" dirty="0">
                <a:solidFill>
                  <a:srgbClr val="C00000"/>
                </a:solidFill>
              </a:rPr>
              <a:t> of </a:t>
            </a:r>
            <a:r>
              <a:rPr lang="en-GB" b="1" dirty="0" err="1">
                <a:solidFill>
                  <a:srgbClr val="C00000"/>
                </a:solidFill>
              </a:rPr>
              <a:t>Romeus</a:t>
            </a:r>
            <a:r>
              <a:rPr lang="en-GB" b="1" dirty="0">
                <a:solidFill>
                  <a:srgbClr val="C00000"/>
                </a:solidFill>
              </a:rPr>
              <a:t> and Juliet</a:t>
            </a:r>
          </a:p>
          <a:p>
            <a:endParaRPr lang="en-GB" b="1" dirty="0">
              <a:solidFill>
                <a:srgbClr val="C00000"/>
              </a:solidFill>
            </a:endParaRPr>
          </a:p>
          <a:p>
            <a:r>
              <a:rPr lang="en-GB" dirty="0"/>
              <a:t>It was popular in Elizabethan England to translate, or use as sources, plays, novellas and poems from Italy.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050" y="1367600"/>
            <a:ext cx="3666509" cy="5391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51721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1944" y="1816950"/>
            <a:ext cx="10515600" cy="1325563"/>
          </a:xfrm>
        </p:spPr>
        <p:txBody>
          <a:bodyPr>
            <a:noAutofit/>
          </a:bodyPr>
          <a:lstStyle/>
          <a:p>
            <a:r>
              <a:rPr lang="en-GB" sz="4800" b="1" dirty="0"/>
              <a:t>William Shakespeare’s</a:t>
            </a:r>
            <a:br>
              <a:rPr lang="en-GB" sz="4800" b="1" dirty="0"/>
            </a:br>
            <a:r>
              <a:rPr lang="en-GB" sz="4800" b="1" i="1" dirty="0"/>
              <a:t>Romeo and Juliet</a:t>
            </a:r>
            <a:r>
              <a:rPr lang="en-GB" sz="4800" b="1" dirty="0"/>
              <a:t>,  1595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4627" y="322826"/>
            <a:ext cx="3854956" cy="6392147"/>
          </a:xfrm>
        </p:spPr>
      </p:pic>
    </p:spTree>
    <p:extLst>
      <p:ext uri="{BB962C8B-B14F-4D97-AF65-F5344CB8AC3E}">
        <p14:creationId xmlns:p14="http://schemas.microsoft.com/office/powerpoint/2010/main" val="308623476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750" y="288000"/>
            <a:ext cx="11620499" cy="1325563"/>
          </a:xfrm>
        </p:spPr>
        <p:txBody>
          <a:bodyPr/>
          <a:lstStyle/>
          <a:p>
            <a:pPr algn="ctr"/>
            <a:r>
              <a:rPr lang="en-GB" b="1" dirty="0"/>
              <a:t>To what extent is </a:t>
            </a:r>
            <a:r>
              <a:rPr lang="en-GB" b="1" i="1" dirty="0"/>
              <a:t>Romeo and Juliet </a:t>
            </a:r>
            <a:r>
              <a:rPr lang="en-GB" b="1" dirty="0"/>
              <a:t>Shakespeare’s?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627" y="1460238"/>
            <a:ext cx="3162550" cy="4607934"/>
          </a:xfrm>
          <a:prstGeom prst="rect">
            <a:avLst/>
          </a:prstGeom>
        </p:spPr>
      </p:pic>
      <p:pic>
        <p:nvPicPr>
          <p:cNvPr id="1026" name="Picture 2" descr="undefined">
            <a:extLst>
              <a:ext uri="{FF2B5EF4-FFF2-40B4-BE49-F238E27FC236}">
                <a16:creationId xmlns:a16="http://schemas.microsoft.com/office/drawing/2014/main" id="{29D23691-8498-C594-69F9-1F03FF53D2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1173" y="1460238"/>
            <a:ext cx="3271420" cy="46079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0D55505-DEE2-8789-D6F6-454F69DB31CA}"/>
              </a:ext>
            </a:extLst>
          </p:cNvPr>
          <p:cNvSpPr txBox="1"/>
          <p:nvPr/>
        </p:nvSpPr>
        <p:spPr>
          <a:xfrm>
            <a:off x="4146194" y="6116459"/>
            <a:ext cx="341092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Prokofiev’s 1935 ballet (1940 performance)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9BA665C-F9AB-5B67-557E-187D4641FB39}"/>
              </a:ext>
            </a:extLst>
          </p:cNvPr>
          <p:cNvSpPr txBox="1"/>
          <p:nvPr/>
        </p:nvSpPr>
        <p:spPr>
          <a:xfrm>
            <a:off x="7973971" y="5197707"/>
            <a:ext cx="36346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Baz </a:t>
            </a:r>
            <a:r>
              <a:rPr lang="en-GB" sz="2000" dirty="0" err="1"/>
              <a:t>Luhrman’s</a:t>
            </a:r>
            <a:r>
              <a:rPr lang="en-GB" sz="2000" dirty="0"/>
              <a:t> 1996 film version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E3C1D83-9075-D770-0EA6-08D8BDC47300}"/>
              </a:ext>
            </a:extLst>
          </p:cNvPr>
          <p:cNvSpPr txBox="1"/>
          <p:nvPr/>
        </p:nvSpPr>
        <p:spPr>
          <a:xfrm>
            <a:off x="570527" y="6116459"/>
            <a:ext cx="341092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Painting by Ford </a:t>
            </a:r>
            <a:r>
              <a:rPr lang="en-GB" sz="2000" dirty="0" err="1"/>
              <a:t>Madox</a:t>
            </a:r>
            <a:r>
              <a:rPr lang="en-GB" sz="2000" dirty="0"/>
              <a:t> Brown, 1867</a:t>
            </a:r>
          </a:p>
        </p:txBody>
      </p:sp>
      <p:pic>
        <p:nvPicPr>
          <p:cNvPr id="10" name="Picture 2" descr="Claire Danes reveals she turned down Titanic role which went to Kate Winslet | The Courier Mail">
            <a:extLst>
              <a:ext uri="{FF2B5EF4-FFF2-40B4-BE49-F238E27FC236}">
                <a16:creationId xmlns:a16="http://schemas.microsoft.com/office/drawing/2014/main" id="{6BFCA464-F6A1-7AA2-BD0F-95781CDD50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6372" y="2574552"/>
            <a:ext cx="4229877" cy="23793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305358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94D22-5280-BFD0-0F89-8DCEDC3DC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Romeo and Juliet – An Elizabethan Tragedy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6E753C-6557-3693-A7BA-0E2A244B07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55093"/>
          </a:xfrm>
        </p:spPr>
        <p:txBody>
          <a:bodyPr>
            <a:normAutofit fontScale="92500" lnSpcReduction="10000"/>
          </a:bodyPr>
          <a:lstStyle/>
          <a:p>
            <a:r>
              <a:rPr lang="en-GB" dirty="0"/>
              <a:t>The Montagues and the Capulets are two families with a feud, in an Italian city called Verona.</a:t>
            </a:r>
          </a:p>
          <a:p>
            <a:r>
              <a:rPr lang="en-GB" dirty="0"/>
              <a:t>Romeo (Montague) and Juliet (Capulet) fall in love.</a:t>
            </a:r>
          </a:p>
          <a:p>
            <a:r>
              <a:rPr lang="en-GB" dirty="0"/>
              <a:t>They secretly marry (helped by Juliet’s Nurse and Romeo’s priest.)</a:t>
            </a:r>
          </a:p>
          <a:p>
            <a:r>
              <a:rPr lang="en-GB" dirty="0"/>
              <a:t>Yet, Juliet’s family plan her wedding to a Prince.</a:t>
            </a:r>
          </a:p>
          <a:p>
            <a:r>
              <a:rPr lang="en-GB" dirty="0"/>
              <a:t>Romeo gets in a fight with Juliet’s cousin, Tybalt, and kills him. He is exiled. </a:t>
            </a:r>
          </a:p>
          <a:p>
            <a:r>
              <a:rPr lang="en-GB" dirty="0"/>
              <a:t>The priest, Friar Laurence, makes a plan to fake Juliet’s death with a temporary poison, so that she and Romeo can then reunite and run away together.</a:t>
            </a:r>
          </a:p>
          <a:p>
            <a:r>
              <a:rPr lang="en-GB" dirty="0"/>
              <a:t>But… news of the plan doesn’t reach Romeo, and he thinks she’s really died!</a:t>
            </a:r>
          </a:p>
          <a:p>
            <a:r>
              <a:rPr lang="en-GB" dirty="0"/>
              <a:t>……</a:t>
            </a:r>
          </a:p>
        </p:txBody>
      </p:sp>
    </p:spTree>
    <p:extLst>
      <p:ext uri="{BB962C8B-B14F-4D97-AF65-F5344CB8AC3E}">
        <p14:creationId xmlns:p14="http://schemas.microsoft.com/office/powerpoint/2010/main" val="3905739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D014D563-0C5C-B8B4-8E29-E70B2EF284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2646" y="1576388"/>
            <a:ext cx="9546708" cy="53938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98E22044-C4B3-6D43-F0EB-C8A27E213F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GB" dirty="0"/>
              <a:t>Romeo and Juliet – An Elizabethan Tragedy</a:t>
            </a:r>
          </a:p>
        </p:txBody>
      </p:sp>
    </p:spTree>
    <p:extLst>
      <p:ext uri="{BB962C8B-B14F-4D97-AF65-F5344CB8AC3E}">
        <p14:creationId xmlns:p14="http://schemas.microsoft.com/office/powerpoint/2010/main" val="47048335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E9D1D-8307-8CF9-2704-14E9534C2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Romeo and Juliet -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33658A-9A09-FA3F-E12F-5623834B1C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Act 1 – Scene 1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	How do Romeo and Benvolio speak to each other?</a:t>
            </a:r>
          </a:p>
          <a:p>
            <a:pPr marL="0" indent="0">
              <a:buNone/>
            </a:pPr>
            <a:r>
              <a:rPr lang="en-GB" sz="500" dirty="0"/>
              <a:t> </a:t>
            </a:r>
          </a:p>
          <a:p>
            <a:r>
              <a:rPr lang="en-GB" dirty="0"/>
              <a:t>	What can we learn about their characters and the current 	situation?</a:t>
            </a:r>
          </a:p>
          <a:p>
            <a:endParaRPr lang="en-GB" sz="500" dirty="0"/>
          </a:p>
          <a:p>
            <a:r>
              <a:rPr lang="en-GB" dirty="0"/>
              <a:t>	How do they speak about love and women?</a:t>
            </a:r>
          </a:p>
        </p:txBody>
      </p:sp>
    </p:spTree>
    <p:extLst>
      <p:ext uri="{BB962C8B-B14F-4D97-AF65-F5344CB8AC3E}">
        <p14:creationId xmlns:p14="http://schemas.microsoft.com/office/powerpoint/2010/main" val="2550925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E9D1D-8307-8CF9-2704-14E9534C2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Romeo and Juliet -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33658A-9A09-FA3F-E12F-5623834B1C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Act 1 – Scene 5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Romeo and his Montague friends go to a party at the Capulet house.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	How do Romeo and Juliet talk to each other?</a:t>
            </a:r>
          </a:p>
          <a:p>
            <a:pPr marL="0" indent="0">
              <a:buNone/>
            </a:pPr>
            <a:r>
              <a:rPr lang="en-GB" sz="500" dirty="0"/>
              <a:t> </a:t>
            </a:r>
          </a:p>
          <a:p>
            <a:r>
              <a:rPr lang="en-GB" dirty="0"/>
              <a:t>	What layered meanings are in their dialogue?</a:t>
            </a:r>
          </a:p>
          <a:p>
            <a:endParaRPr lang="en-GB" sz="500" dirty="0"/>
          </a:p>
          <a:p>
            <a:r>
              <a:rPr lang="en-GB" dirty="0"/>
              <a:t>	How does Shakespeare build tension in the scene?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734313-EBAD-A124-BED4-3DE62E2BCDAB}"/>
              </a:ext>
            </a:extLst>
          </p:cNvPr>
          <p:cNvSpPr txBox="1"/>
          <p:nvPr/>
        </p:nvSpPr>
        <p:spPr>
          <a:xfrm>
            <a:off x="9517224" y="3862872"/>
            <a:ext cx="249127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rgbClr val="0070C0"/>
                </a:solidFill>
              </a:rPr>
              <a:t>There is a </a:t>
            </a:r>
            <a:r>
              <a:rPr lang="en-GB" sz="2400" i="1" dirty="0">
                <a:solidFill>
                  <a:srgbClr val="0070C0"/>
                </a:solidFill>
              </a:rPr>
              <a:t>sonnet</a:t>
            </a:r>
            <a:r>
              <a:rPr lang="en-GB" sz="2400" dirty="0">
                <a:solidFill>
                  <a:srgbClr val="0070C0"/>
                </a:solidFill>
              </a:rPr>
              <a:t> built from the dialogue – with rhyme pattern structured ABAB CDCD EFEF GG</a:t>
            </a:r>
          </a:p>
        </p:txBody>
      </p:sp>
    </p:spTree>
    <p:extLst>
      <p:ext uri="{BB962C8B-B14F-4D97-AF65-F5344CB8AC3E}">
        <p14:creationId xmlns:p14="http://schemas.microsoft.com/office/powerpoint/2010/main" val="26657978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E9D1D-8307-8CF9-2704-14E9534C2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Romeo and Juliet -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33658A-9A09-FA3F-E12F-5623834B1C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Act 2 – Scene 2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After the party at which they met, Romeo climbs into the Capulet family’s garden. He approaches the balcony, and thinks he sees something: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	What can we learn about Romeo’s feelings for Juliet, and his 	views about love?</a:t>
            </a:r>
          </a:p>
        </p:txBody>
      </p:sp>
    </p:spTree>
    <p:extLst>
      <p:ext uri="{BB962C8B-B14F-4D97-AF65-F5344CB8AC3E}">
        <p14:creationId xmlns:p14="http://schemas.microsoft.com/office/powerpoint/2010/main" val="3709687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>
          <a:xfrm>
            <a:off x="5402423" y="1036928"/>
            <a:ext cx="6055569" cy="1325563"/>
          </a:xfrm>
        </p:spPr>
        <p:txBody>
          <a:bodyPr>
            <a:normAutofit fontScale="90000"/>
          </a:bodyPr>
          <a:lstStyle/>
          <a:p>
            <a:r>
              <a:rPr lang="en-US" altLang="en-US" sz="3200" dirty="0">
                <a:latin typeface="+mn-lt"/>
              </a:rPr>
              <a:t>The balcony scene in </a:t>
            </a:r>
            <a:r>
              <a:rPr lang="en-US" altLang="en-US" sz="3200" i="1" dirty="0">
                <a:latin typeface="+mn-lt"/>
              </a:rPr>
              <a:t>Romeo and Juliet </a:t>
            </a:r>
            <a:r>
              <a:rPr lang="en-US" altLang="en-US" sz="3200" dirty="0">
                <a:latin typeface="+mn-lt"/>
              </a:rPr>
              <a:t>is one of Shakespeare’s most famous. </a:t>
            </a:r>
            <a:br>
              <a:rPr lang="en-US" altLang="en-US" sz="3200" dirty="0">
                <a:latin typeface="+mn-lt"/>
              </a:rPr>
            </a:br>
            <a:br>
              <a:rPr lang="en-US" altLang="en-US" sz="3200" dirty="0">
                <a:latin typeface="+mn-lt"/>
              </a:rPr>
            </a:br>
            <a:endParaRPr lang="en-US" altLang="en-US" sz="3200" dirty="0">
              <a:latin typeface="+mn-lt"/>
            </a:endParaRPr>
          </a:p>
        </p:txBody>
      </p:sp>
      <p:pic>
        <p:nvPicPr>
          <p:cNvPr id="60427" name="Picture 11" descr="s0vtat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" y="160469"/>
            <a:ext cx="4967864" cy="6537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0432" name="Picture 1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2080" y="2784186"/>
            <a:ext cx="5211042" cy="39133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2AE2986-0A1C-4F77-BD48-792D338CDB6D}"/>
              </a:ext>
            </a:extLst>
          </p:cNvPr>
          <p:cNvSpPr txBox="1"/>
          <p:nvPr/>
        </p:nvSpPr>
        <p:spPr>
          <a:xfrm>
            <a:off x="10442398" y="3428999"/>
            <a:ext cx="1612442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Verona, Italy – ‘Juliet’s Balcony’</a:t>
            </a:r>
          </a:p>
        </p:txBody>
      </p:sp>
    </p:spTree>
    <p:extLst>
      <p:ext uri="{BB962C8B-B14F-4D97-AF65-F5344CB8AC3E}">
        <p14:creationId xmlns:p14="http://schemas.microsoft.com/office/powerpoint/2010/main" val="2947023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pPr algn="ctr"/>
            <a:r>
              <a:rPr lang="en-US" altLang="zh-CN" sz="4000" b="1" dirty="0">
                <a:solidFill>
                  <a:schemeClr val="accent2"/>
                </a:solidFill>
              </a:rPr>
              <a:t>Shakespeare </a:t>
            </a:r>
            <a:r>
              <a:rPr lang="en-US" altLang="zh-CN" sz="4000" b="1" dirty="0">
                <a:solidFill>
                  <a:schemeClr val="accent2"/>
                </a:solidFill>
                <a:latin typeface="Arial" panose="020B0604020202020204" pitchFamily="34" charset="0"/>
              </a:rPr>
              <a:t>–</a:t>
            </a:r>
            <a:r>
              <a:rPr lang="en-US" altLang="zh-CN" sz="4000" b="1" dirty="0">
                <a:solidFill>
                  <a:schemeClr val="accent2"/>
                </a:solidFill>
              </a:rPr>
              <a:t> Romeo and Juliet, Balcony Scene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467816"/>
            <a:ext cx="10515600" cy="4351338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2700" b="1" dirty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700" b="1" dirty="0"/>
              <a:t>Romeo: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700" dirty="0"/>
              <a:t>The brightness of her cheek would shame those stars,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700" dirty="0"/>
              <a:t>As daylight doth a lamp; her eyes in heaven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700" dirty="0"/>
              <a:t>Would through the airy region stream so bright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700" dirty="0"/>
              <a:t>That birds would sing and think it were not night.</a:t>
            </a:r>
          </a:p>
          <a:p>
            <a:pPr>
              <a:buNone/>
            </a:pPr>
            <a:r>
              <a:rPr lang="en-US" sz="2700" dirty="0"/>
              <a:t>See, how she leans her cheek upon her hand!</a:t>
            </a:r>
          </a:p>
          <a:p>
            <a:pPr>
              <a:buNone/>
            </a:pPr>
            <a:r>
              <a:rPr lang="en-US" sz="2700" dirty="0"/>
              <a:t>O, that I were a glove upon that hand,</a:t>
            </a:r>
          </a:p>
          <a:p>
            <a:pPr>
              <a:buNone/>
            </a:pPr>
            <a:r>
              <a:rPr lang="en-US" sz="2700" dirty="0"/>
              <a:t>That I might touch that cheek!</a:t>
            </a:r>
            <a:endParaRPr lang="en-GB" sz="2700" dirty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2500" b="1" dirty="0"/>
          </a:p>
        </p:txBody>
      </p:sp>
    </p:spTree>
    <p:extLst>
      <p:ext uri="{BB962C8B-B14F-4D97-AF65-F5344CB8AC3E}">
        <p14:creationId xmlns:p14="http://schemas.microsoft.com/office/powerpoint/2010/main" val="3192944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pPr algn="ctr"/>
            <a:r>
              <a:rPr lang="en-US" altLang="zh-CN" sz="4000" b="1" dirty="0">
                <a:solidFill>
                  <a:schemeClr val="accent2"/>
                </a:solidFill>
              </a:rPr>
              <a:t>Shakespeare </a:t>
            </a:r>
            <a:r>
              <a:rPr lang="en-US" altLang="zh-CN" sz="4000" b="1" dirty="0">
                <a:solidFill>
                  <a:schemeClr val="accent2"/>
                </a:solidFill>
                <a:latin typeface="Arial" panose="020B0604020202020204" pitchFamily="34" charset="0"/>
              </a:rPr>
              <a:t>–</a:t>
            </a:r>
            <a:r>
              <a:rPr lang="en-US" altLang="zh-CN" sz="4000" b="1" dirty="0">
                <a:solidFill>
                  <a:schemeClr val="accent2"/>
                </a:solidFill>
              </a:rPr>
              <a:t> Romeo and Juliet, Balcony Scene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547329"/>
            <a:ext cx="10515600" cy="4351338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700" b="1" dirty="0"/>
              <a:t>Juliet:</a:t>
            </a:r>
          </a:p>
          <a:p>
            <a:pPr marL="0" indent="0">
              <a:buNone/>
            </a:pPr>
            <a:r>
              <a:rPr lang="en-GB" sz="2700" dirty="0"/>
              <a:t>O Romeo, Romeo! wherefore art thou Romeo?</a:t>
            </a:r>
          </a:p>
          <a:p>
            <a:pPr marL="0" indent="0">
              <a:buNone/>
            </a:pPr>
            <a:r>
              <a:rPr lang="en-GB" sz="2700" dirty="0"/>
              <a:t>Deny thy father and refuse thy name;</a:t>
            </a:r>
          </a:p>
          <a:p>
            <a:pPr marL="0" indent="0">
              <a:buNone/>
            </a:pPr>
            <a:r>
              <a:rPr lang="en-GB" sz="2700" dirty="0"/>
              <a:t>Or, if thou wilt not, be but sworn my love,</a:t>
            </a:r>
          </a:p>
          <a:p>
            <a:pPr marL="0" indent="0">
              <a:buNone/>
            </a:pPr>
            <a:r>
              <a:rPr lang="en-GB" sz="2700" dirty="0"/>
              <a:t>And I’ll no longer be a Capulet.</a:t>
            </a:r>
          </a:p>
          <a:p>
            <a:pPr marL="0" indent="0">
              <a:buNone/>
            </a:pPr>
            <a:endParaRPr lang="en-GB" sz="2700" dirty="0"/>
          </a:p>
          <a:p>
            <a:pPr marL="0" indent="0">
              <a:buNone/>
            </a:pPr>
            <a:r>
              <a:rPr lang="en-GB" sz="2700" b="1" dirty="0"/>
              <a:t>Romeo</a:t>
            </a:r>
            <a:r>
              <a:rPr lang="en-GB" sz="2700" dirty="0"/>
              <a:t> </a:t>
            </a:r>
          </a:p>
          <a:p>
            <a:pPr marL="0" indent="0">
              <a:buNone/>
            </a:pPr>
            <a:r>
              <a:rPr lang="en-GB" sz="2700" i="1" dirty="0"/>
              <a:t>[Aside] </a:t>
            </a:r>
            <a:r>
              <a:rPr lang="en-GB" sz="2700" dirty="0"/>
              <a:t>Shall I hear more, or shall I speak at this?</a:t>
            </a:r>
          </a:p>
          <a:p>
            <a:pPr marL="0" indent="0">
              <a:buNone/>
            </a:pPr>
            <a:endParaRPr lang="en-GB" sz="1400" dirty="0"/>
          </a:p>
          <a:p>
            <a:pPr marL="0" indent="0">
              <a:buNone/>
            </a:pPr>
            <a:r>
              <a:rPr lang="en-GB" sz="2700" dirty="0"/>
              <a:t>……</a:t>
            </a:r>
          </a:p>
          <a:p>
            <a:pPr marL="0" indent="0">
              <a:buNone/>
            </a:pPr>
            <a:endParaRPr lang="en-GB" sz="2700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altLang="zh-CN" sz="2500" b="1" dirty="0"/>
          </a:p>
          <a:p>
            <a:pPr marL="0" indent="0">
              <a:buNone/>
            </a:pPr>
            <a:endParaRPr lang="en-GB" altLang="zh-CN" sz="2500" b="1" dirty="0"/>
          </a:p>
          <a:p>
            <a:pPr marL="0" indent="0">
              <a:buNone/>
            </a:pPr>
            <a:endParaRPr lang="en-US" altLang="zh-CN" sz="2500" b="1" dirty="0"/>
          </a:p>
        </p:txBody>
      </p:sp>
    </p:spTree>
    <p:extLst>
      <p:ext uri="{BB962C8B-B14F-4D97-AF65-F5344CB8AC3E}">
        <p14:creationId xmlns:p14="http://schemas.microsoft.com/office/powerpoint/2010/main" val="257970104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pPr algn="ctr"/>
            <a:r>
              <a:rPr lang="en-US" altLang="zh-CN" sz="4000" b="1" dirty="0">
                <a:solidFill>
                  <a:schemeClr val="accent2"/>
                </a:solidFill>
              </a:rPr>
              <a:t>Shakespeare </a:t>
            </a:r>
            <a:r>
              <a:rPr lang="en-US" altLang="zh-CN" sz="4000" b="1" dirty="0">
                <a:solidFill>
                  <a:schemeClr val="accent2"/>
                </a:solidFill>
                <a:latin typeface="Arial" panose="020B0604020202020204" pitchFamily="34" charset="0"/>
              </a:rPr>
              <a:t>–</a:t>
            </a:r>
            <a:r>
              <a:rPr lang="en-US" altLang="zh-CN" sz="4000" b="1" dirty="0">
                <a:solidFill>
                  <a:schemeClr val="accent2"/>
                </a:solidFill>
              </a:rPr>
              <a:t> Romeo and Juliet, Balcony Scene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467816"/>
            <a:ext cx="10515600" cy="4351338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2700" b="1" dirty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700" b="1" dirty="0"/>
              <a:t>Juliet: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GB" sz="2700" dirty="0"/>
              <a:t>My ears have not yet drunk a hundred words</a:t>
            </a:r>
          </a:p>
          <a:p>
            <a:pPr marL="0" indent="0">
              <a:buNone/>
            </a:pPr>
            <a:r>
              <a:rPr lang="en-GB" sz="2700" dirty="0"/>
              <a:t>Of that tongue’s utterance, yet I know the sound:</a:t>
            </a:r>
          </a:p>
          <a:p>
            <a:pPr marL="0" indent="0">
              <a:buNone/>
            </a:pPr>
            <a:r>
              <a:rPr lang="en-GB" sz="2700" dirty="0"/>
              <a:t>Art thou not Romeo and a Montague?</a:t>
            </a:r>
          </a:p>
          <a:p>
            <a:pPr marL="0" indent="0">
              <a:buNone/>
            </a:pPr>
            <a:endParaRPr lang="en-GB" altLang="zh-CN" sz="2700" b="1" dirty="0"/>
          </a:p>
          <a:p>
            <a:pPr marL="0" indent="0">
              <a:buNone/>
            </a:pPr>
            <a:r>
              <a:rPr lang="en-GB" sz="2700" b="1" dirty="0"/>
              <a:t>Romeo</a:t>
            </a:r>
            <a:r>
              <a:rPr lang="en-GB" sz="2700" i="1" dirty="0"/>
              <a:t> </a:t>
            </a:r>
          </a:p>
          <a:p>
            <a:pPr marL="0" indent="0">
              <a:buNone/>
            </a:pPr>
            <a:r>
              <a:rPr lang="en-GB" sz="2700" dirty="0"/>
              <a:t>Neither, fair saint, if either thee dislike.</a:t>
            </a:r>
          </a:p>
          <a:p>
            <a:pPr marL="0" indent="0">
              <a:buNone/>
            </a:pPr>
            <a:endParaRPr lang="en-GB" sz="2700" i="1" dirty="0"/>
          </a:p>
        </p:txBody>
      </p:sp>
    </p:spTree>
    <p:extLst>
      <p:ext uri="{BB962C8B-B14F-4D97-AF65-F5344CB8AC3E}">
        <p14:creationId xmlns:p14="http://schemas.microsoft.com/office/powerpoint/2010/main" val="66791614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B130E-692F-42E6-88B2-7F830B5EA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4000" b="1" dirty="0">
                <a:solidFill>
                  <a:schemeClr val="accent2"/>
                </a:solidFill>
              </a:rPr>
              <a:t>Shakespeare </a:t>
            </a:r>
            <a:r>
              <a:rPr lang="en-US" altLang="zh-CN" sz="4000" b="1" dirty="0">
                <a:solidFill>
                  <a:schemeClr val="accent2"/>
                </a:solidFill>
                <a:latin typeface="Arial" panose="020B0604020202020204" pitchFamily="34" charset="0"/>
              </a:rPr>
              <a:t>–</a:t>
            </a:r>
            <a:r>
              <a:rPr lang="en-US" altLang="zh-CN" sz="4000" b="1" dirty="0">
                <a:solidFill>
                  <a:schemeClr val="accent2"/>
                </a:solidFill>
              </a:rPr>
              <a:t> Romeo and Juliet, Balcony Scene</a:t>
            </a:r>
            <a:endParaRPr lang="en-GB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471523-94E7-4159-B91B-66075B79D2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7963"/>
            <a:ext cx="10515600" cy="501491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sz="2900" b="1" dirty="0"/>
              <a:t>Juliet </a:t>
            </a:r>
          </a:p>
          <a:p>
            <a:pPr marL="0" indent="0">
              <a:buNone/>
            </a:pPr>
            <a:r>
              <a:rPr lang="en-GB" sz="2900" dirty="0"/>
              <a:t>How </a:t>
            </a:r>
            <a:r>
              <a:rPr lang="en-GB" sz="2900" dirty="0" err="1"/>
              <a:t>camest</a:t>
            </a:r>
            <a:r>
              <a:rPr lang="en-GB" sz="2900" dirty="0"/>
              <a:t> thou hither, tell me, and wherefore?</a:t>
            </a:r>
          </a:p>
          <a:p>
            <a:pPr marL="0" indent="0">
              <a:buNone/>
            </a:pPr>
            <a:r>
              <a:rPr lang="en-GB" sz="2900" dirty="0"/>
              <a:t>The orchard walls are high and hard to climb,</a:t>
            </a:r>
          </a:p>
          <a:p>
            <a:pPr marL="0" indent="0">
              <a:buNone/>
            </a:pPr>
            <a:r>
              <a:rPr lang="en-GB" sz="2900" dirty="0"/>
              <a:t>And the place death, considering who thou art,</a:t>
            </a:r>
          </a:p>
          <a:p>
            <a:pPr marL="0" indent="0">
              <a:buNone/>
            </a:pPr>
            <a:r>
              <a:rPr lang="en-GB" sz="2900" dirty="0"/>
              <a:t>If any of my kinsmen find thee here.</a:t>
            </a:r>
            <a:endParaRPr lang="en-US" altLang="zh-CN" sz="2900" b="1" dirty="0"/>
          </a:p>
          <a:p>
            <a:pPr marL="0" indent="0">
              <a:buNone/>
            </a:pPr>
            <a:endParaRPr lang="en-GB" altLang="zh-CN" sz="2900" b="1" dirty="0"/>
          </a:p>
          <a:p>
            <a:pPr marL="0" indent="0">
              <a:buNone/>
            </a:pPr>
            <a:r>
              <a:rPr lang="en-GB" altLang="zh-CN" sz="2900" b="1" dirty="0"/>
              <a:t>Romeo</a:t>
            </a:r>
          </a:p>
          <a:p>
            <a:pPr marL="0" indent="0">
              <a:buNone/>
            </a:pPr>
            <a:r>
              <a:rPr lang="en-GB" sz="2900" dirty="0"/>
              <a:t>With love’s light wings did I o’er-perch these walls;</a:t>
            </a:r>
          </a:p>
          <a:p>
            <a:pPr marL="0" indent="0">
              <a:buNone/>
            </a:pPr>
            <a:r>
              <a:rPr lang="en-GB" sz="2900" dirty="0"/>
              <a:t>For stony limits cannot hold love out,</a:t>
            </a:r>
          </a:p>
          <a:p>
            <a:pPr marL="0" indent="0">
              <a:buNone/>
            </a:pPr>
            <a:r>
              <a:rPr lang="en-GB" sz="2900" dirty="0"/>
              <a:t>And what love can do that dares love attempt;</a:t>
            </a:r>
          </a:p>
          <a:p>
            <a:pPr marL="0" indent="0">
              <a:buNone/>
            </a:pPr>
            <a:r>
              <a:rPr lang="en-GB" sz="2900" dirty="0"/>
              <a:t>Therefore thy kinsmen are no let to me.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0448389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F7CBB-91E2-4210-BBD3-C7B684BC6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800" dirty="0">
                <a:solidFill>
                  <a:srgbClr val="0070C0"/>
                </a:solidFill>
              </a:rPr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6ECBE1-8532-4BBD-BBFC-4202B37FB3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843348"/>
            <a:ext cx="10500739" cy="4230880"/>
          </a:xfrm>
        </p:spPr>
        <p:txBody>
          <a:bodyPr>
            <a:normAutofit/>
          </a:bodyPr>
          <a:lstStyle/>
          <a:p>
            <a:r>
              <a:rPr lang="en-GB" sz="3000" dirty="0"/>
              <a:t>Do Romeo and Juliet love each other? </a:t>
            </a:r>
            <a:endParaRPr lang="en-GB" sz="2800" dirty="0"/>
          </a:p>
          <a:p>
            <a:pPr marL="0" indent="0">
              <a:buNone/>
            </a:pPr>
            <a:r>
              <a:rPr lang="en-GB" sz="2800" dirty="0"/>
              <a:t>	</a:t>
            </a:r>
            <a:endParaRPr lang="en-GB" sz="2600" dirty="0"/>
          </a:p>
          <a:p>
            <a:r>
              <a:rPr lang="en-GB" sz="3000" dirty="0"/>
              <a:t>What do you think was Shakespeare’s view of love?</a:t>
            </a:r>
          </a:p>
          <a:p>
            <a:endParaRPr lang="en-GB" sz="3000" dirty="0"/>
          </a:p>
          <a:p>
            <a:r>
              <a:rPr lang="en-GB" sz="3000" dirty="0"/>
              <a:t>It is a tragedy because Romeo and Juliet die due to their warring families and their plan gone wrong. However, is it also a tragedy because they make the wrong choices and act with out-of-control emotion? If so, is that love?</a:t>
            </a:r>
          </a:p>
          <a:p>
            <a:pPr marL="0" indent="0">
              <a:buNone/>
            </a:pP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400453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0269"/>
            <a:ext cx="8596668" cy="1320800"/>
          </a:xfrm>
        </p:spPr>
        <p:txBody>
          <a:bodyPr>
            <a:normAutofit/>
          </a:bodyPr>
          <a:lstStyle/>
          <a:p>
            <a:pPr algn="ctr"/>
            <a:r>
              <a:rPr lang="en-GB" sz="4000" dirty="0">
                <a:solidFill>
                  <a:srgbClr val="0070C0"/>
                </a:solidFill>
              </a:rPr>
              <a:t>Can you write in Iambic Pentameter?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358892"/>
            <a:ext cx="10972800" cy="4530725"/>
          </a:xfrm>
        </p:spPr>
        <p:txBody>
          <a:bodyPr/>
          <a:lstStyle/>
          <a:p>
            <a:r>
              <a:rPr lang="en-GB" sz="2800" dirty="0"/>
              <a:t>‘</a:t>
            </a:r>
            <a:r>
              <a:rPr lang="en-GB" sz="2700" dirty="0"/>
              <a:t>little syllable</a:t>
            </a:r>
            <a:r>
              <a:rPr lang="en-GB" dirty="0"/>
              <a:t>, </a:t>
            </a:r>
            <a:r>
              <a:rPr lang="en-GB" sz="3200" dirty="0"/>
              <a:t>Big Syllable</a:t>
            </a:r>
            <a:r>
              <a:rPr lang="en-GB" sz="2700" dirty="0"/>
              <a:t>,’</a:t>
            </a:r>
            <a:r>
              <a:rPr lang="en-GB" dirty="0"/>
              <a:t>  X 5 in one line</a:t>
            </a:r>
          </a:p>
          <a:p>
            <a:endParaRPr lang="en-GB" dirty="0"/>
          </a:p>
          <a:p>
            <a:r>
              <a:rPr lang="en-GB" sz="2800" dirty="0"/>
              <a:t>Write some sentences, simply saying what </a:t>
            </a:r>
          </a:p>
          <a:p>
            <a:pPr marL="0" indent="0">
              <a:buNone/>
            </a:pPr>
            <a:r>
              <a:rPr lang="en-GB" sz="2800" dirty="0"/>
              <a:t>   you will do today… but in Shakespeare’s </a:t>
            </a:r>
          </a:p>
          <a:p>
            <a:pPr marL="0" indent="0">
              <a:buNone/>
            </a:pPr>
            <a:r>
              <a:rPr lang="en-GB" sz="2800" dirty="0"/>
              <a:t>   famous syllable rhythm!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5733" y="1702141"/>
            <a:ext cx="3730980" cy="478538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925" y="4361880"/>
            <a:ext cx="3583235" cy="212564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8798" y="4361880"/>
            <a:ext cx="3402622" cy="2125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517155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73D3C-0CFF-A7E6-11FC-D59F4A8F6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400" dirty="0">
                <a:solidFill>
                  <a:srgbClr val="0070C0"/>
                </a:solidFill>
              </a:rPr>
              <a:t>Homework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A279D9-B3B9-E2DB-0C25-9BFDA77607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800" dirty="0"/>
              <a:t>Please read the short excerpts from </a:t>
            </a:r>
            <a:r>
              <a:rPr lang="en-GB" sz="2800" i="1" dirty="0"/>
              <a:t>Robinson Crusoe. </a:t>
            </a:r>
          </a:p>
          <a:p>
            <a:endParaRPr lang="en-GB" sz="2800" i="1" dirty="0"/>
          </a:p>
          <a:p>
            <a:r>
              <a:rPr lang="en-GB" sz="2800" dirty="0"/>
              <a:t>Also read the article about ‘the novel’ as a form of literature.</a:t>
            </a:r>
          </a:p>
        </p:txBody>
      </p:sp>
    </p:spTree>
    <p:extLst>
      <p:ext uri="{BB962C8B-B14F-4D97-AF65-F5344CB8AC3E}">
        <p14:creationId xmlns:p14="http://schemas.microsoft.com/office/powerpoint/2010/main" val="1245324037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642</TotalTime>
  <Words>2330</Words>
  <Application>Microsoft Office PowerPoint</Application>
  <PresentationFormat>Widescreen</PresentationFormat>
  <Paragraphs>373</Paragraphs>
  <Slides>49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49</vt:i4>
      </vt:variant>
    </vt:vector>
  </HeadingPairs>
  <TitlesOfParts>
    <vt:vector size="57" baseType="lpstr">
      <vt:lpstr>Arial</vt:lpstr>
      <vt:lpstr>Calibri</vt:lpstr>
      <vt:lpstr>Calibri Light</vt:lpstr>
      <vt:lpstr>Trebuchet MS</vt:lpstr>
      <vt:lpstr>Wingdings</vt:lpstr>
      <vt:lpstr>Wingdings 3</vt:lpstr>
      <vt:lpstr>Facet</vt:lpstr>
      <vt:lpstr>1_Office Theme</vt:lpstr>
      <vt:lpstr>Appreciation of English and American Literature</vt:lpstr>
      <vt:lpstr>Pronunciation and Syllables</vt:lpstr>
      <vt:lpstr>What is a syllable?</vt:lpstr>
      <vt:lpstr>Rhyme and Syllables</vt:lpstr>
      <vt:lpstr>Rhyme and Syllables</vt:lpstr>
      <vt:lpstr>Rhyme and Syllables</vt:lpstr>
      <vt:lpstr>Rhyme and Syllables</vt:lpstr>
      <vt:lpstr>Rhyme and Syllables</vt:lpstr>
      <vt:lpstr>Syllables, Stress and Timing</vt:lpstr>
      <vt:lpstr>English and Syllables</vt:lpstr>
      <vt:lpstr>When we stress a syllable…</vt:lpstr>
      <vt:lpstr>English and Syllables</vt:lpstr>
      <vt:lpstr>English and Syllables</vt:lpstr>
      <vt:lpstr>PowerPoint Presentation</vt:lpstr>
      <vt:lpstr>A British card shop before Valentine’s Day </vt:lpstr>
      <vt:lpstr>PowerPoint Presentation</vt:lpstr>
      <vt:lpstr>PowerPoint Presentation</vt:lpstr>
      <vt:lpstr>PowerPoint Presentation</vt:lpstr>
      <vt:lpstr>Syllable and Rhyme Pattern</vt:lpstr>
      <vt:lpstr>William Shakespeare – Romeo and Juliet</vt:lpstr>
      <vt:lpstr>Shakespeare – Romeo and Juliet</vt:lpstr>
      <vt:lpstr>Shakespeare’s ‘blank verse’</vt:lpstr>
      <vt:lpstr>Shakespeare – Romeo and Juliet</vt:lpstr>
      <vt:lpstr>Shakespeare – Romeo and Juliet</vt:lpstr>
      <vt:lpstr>Shakespeare – Romeo and Juliet</vt:lpstr>
      <vt:lpstr>Shakespeare – Romeo and Juliet</vt:lpstr>
      <vt:lpstr>William Shakespeare   (1564-1616)</vt:lpstr>
      <vt:lpstr>Shakespeare’s Life</vt:lpstr>
      <vt:lpstr>Stratford Upon Avon – 100 miles from London</vt:lpstr>
      <vt:lpstr>Shakespeare’s Life</vt:lpstr>
      <vt:lpstr>Shakespeare’s Life</vt:lpstr>
      <vt:lpstr>The Globe Theatre</vt:lpstr>
      <vt:lpstr>Romeo and Juliet - History</vt:lpstr>
      <vt:lpstr>Romeo and Juliet - History</vt:lpstr>
      <vt:lpstr>William Shakespeare’s Romeo and Juliet,  1595</vt:lpstr>
      <vt:lpstr>To what extent is Romeo and Juliet Shakespeare’s?</vt:lpstr>
      <vt:lpstr>Romeo and Juliet – An Elizabethan Tragedy</vt:lpstr>
      <vt:lpstr>Romeo and Juliet – An Elizabethan Tragedy</vt:lpstr>
      <vt:lpstr>Romeo and Juliet - Analysis</vt:lpstr>
      <vt:lpstr>Romeo and Juliet - Analysis</vt:lpstr>
      <vt:lpstr>Romeo and Juliet - Analysis</vt:lpstr>
      <vt:lpstr>The balcony scene in Romeo and Juliet is one of Shakespeare’s most famous.   </vt:lpstr>
      <vt:lpstr>Shakespeare – Romeo and Juliet, Balcony Scene</vt:lpstr>
      <vt:lpstr>Shakespeare – Romeo and Juliet, Balcony Scene</vt:lpstr>
      <vt:lpstr>Shakespeare – Romeo and Juliet, Balcony Scene</vt:lpstr>
      <vt:lpstr>Shakespeare – Romeo and Juliet, Balcony Scene</vt:lpstr>
      <vt:lpstr>Overview</vt:lpstr>
      <vt:lpstr>Can you write in Iambic Pentameter? </vt:lpstr>
      <vt:lpstr>Homework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Shakespeare</dc:title>
  <dc:creator>Dom Graham</dc:creator>
  <cp:lastModifiedBy>Dominic Graham</cp:lastModifiedBy>
  <cp:revision>27</cp:revision>
  <dcterms:created xsi:type="dcterms:W3CDTF">2017-03-14T13:50:17Z</dcterms:created>
  <dcterms:modified xsi:type="dcterms:W3CDTF">2025-10-12T13:02:21Z</dcterms:modified>
</cp:coreProperties>
</file>