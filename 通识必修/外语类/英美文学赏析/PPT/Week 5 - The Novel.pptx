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sldIdLst>
    <p:sldId id="257" r:id="rId2"/>
    <p:sldId id="275" r:id="rId3"/>
    <p:sldId id="319" r:id="rId4"/>
    <p:sldId id="307" r:id="rId5"/>
    <p:sldId id="308" r:id="rId6"/>
    <p:sldId id="277" r:id="rId7"/>
    <p:sldId id="278" r:id="rId8"/>
    <p:sldId id="310" r:id="rId9"/>
    <p:sldId id="311" r:id="rId10"/>
    <p:sldId id="313" r:id="rId11"/>
    <p:sldId id="279" r:id="rId12"/>
    <p:sldId id="280" r:id="rId13"/>
    <p:sldId id="317" r:id="rId14"/>
    <p:sldId id="281" r:id="rId15"/>
    <p:sldId id="282" r:id="rId16"/>
    <p:sldId id="314" r:id="rId17"/>
    <p:sldId id="321" r:id="rId18"/>
    <p:sldId id="324" r:id="rId19"/>
    <p:sldId id="320" r:id="rId20"/>
    <p:sldId id="326" r:id="rId21"/>
    <p:sldId id="325" r:id="rId22"/>
    <p:sldId id="322" r:id="rId23"/>
    <p:sldId id="412" r:id="rId2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sp>
          <p:nvSpPr>
            <p:cNvPr id="5" name="Freeform 14"/>
            <p:cNvSpPr/>
            <p:nvPr/>
          </p:nvSpPr>
          <p:spPr>
            <a:xfrm>
              <a:off x="0" y="-8467"/>
              <a:ext cx="863600" cy="569797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cxnSp>
          <p:nvCxnSpPr>
            <p:cNvPr id="6" name="Straight Connector 18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9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9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0" name="Isosceles Triangle 22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1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2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3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4" name="Isosceles Triangle 26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9CBFA0-FD59-4C60-9C6B-E63D223DE4DF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6EAE88-0041-4CE5-9F5F-A7B334C170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03B7DC-EBDB-41E8-A223-FE317061D957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A0A639-BA70-489B-B20F-A465E8A4B0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65394-03EB-42E8-B087-5D6D7F3D299E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2E0E6D-24AC-4EF4-84E8-E5DACA41FF7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8B43E1-D039-4806-8D4C-CBDCB9C4E444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FC1CBE-6DC6-414E-BA6E-5CB28F6FD6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C26A10-50BB-43D0-A383-E20A720A98EE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7D4EA8-8503-40DC-9C22-081C238B88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9FEDB-4E40-4B56-8F37-2F595803612C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970688-142B-42C4-920A-D00FE06F86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CFD1AC-34A3-432B-A24D-9127B9AA2F61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E4804B-423E-4671-892B-2F00723102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A9B425-D207-41A6-B5CE-98B193B46911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F9364D-F3C9-490E-ACC3-49FA4254B5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E83336-6079-45F9-A2CC-12B24C9A292A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4F3A74-4CFF-4CA7-B2C2-B9161BE6FD0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9DCFC-FC49-4A47-9961-FFE33176F016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CE2880-EFD0-4B4B-BDB5-C12422FF6D7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E96E66-D89E-4787-85BF-FC412534AACD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81F698-1D1A-413C-BB3E-A9B673D820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B627A-1E93-44C2-8DD7-A4A5E6C665B9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03AC16-968E-4046-B4C0-CDE55C07947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3"/>
          <p:cNvSpPr txBox="1"/>
          <p:nvPr/>
        </p:nvSpPr>
        <p:spPr>
          <a:xfrm>
            <a:off x="541338" y="790575"/>
            <a:ext cx="609600" cy="584200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“</a:t>
            </a:r>
          </a:p>
        </p:txBody>
      </p:sp>
      <p:sp>
        <p:nvSpPr>
          <p:cNvPr id="6" name="TextBox 24"/>
          <p:cNvSpPr txBox="1"/>
          <p:nvPr/>
        </p:nvSpPr>
        <p:spPr>
          <a:xfrm>
            <a:off x="8893175" y="2886075"/>
            <a:ext cx="609600" cy="585788"/>
          </a:xfrm>
          <a:prstGeom prst="rect">
            <a:avLst/>
          </a:prstGeom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00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+mn-cs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1AFB2-9A42-4D0E-BA20-01C41C65F4F2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C5BEBB-F2F8-4358-9E33-D51C3B47FB6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1E002-AB96-46F6-8C26-EDE5A07E7414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59B7D-4275-46E0-8750-FBC5D00A25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2A104-8EC9-4B95-A631-6C869A5DAF06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4B23D-872E-4C04-9AB3-EB3A71A8BFA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93BFD-C426-459D-BFFC-89415F12FE82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754B8-DB3A-4263-9FB6-97714535BFA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3"/>
          <p:cNvGrpSpPr>
            <a:grpSpLocks/>
          </p:cNvGrpSpPr>
          <p:nvPr/>
        </p:nvGrpSpPr>
        <p:grpSpPr bwMode="auto">
          <a:xfrm>
            <a:off x="0" y="-7938"/>
            <a:ext cx="12192000" cy="6865938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3" y="-528"/>
              <a:ext cx="1219200" cy="6858528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4738" y="3681168"/>
              <a:ext cx="4764087" cy="3176832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2100" y="-8467"/>
              <a:ext cx="3006725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2788" y="-8467"/>
              <a:ext cx="2589212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863" y="3047706"/>
              <a:ext cx="3259137" cy="381029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5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188" y="-8467"/>
              <a:ext cx="1290637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9463" y="-8467"/>
              <a:ext cx="1249362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138" y="3589086"/>
              <a:ext cx="1817687" cy="326891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2981"/>
              <a:ext cx="449263" cy="2845019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77863" y="609600"/>
            <a:ext cx="8596312" cy="132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863" y="2160588"/>
            <a:ext cx="8596312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663" y="6042025"/>
            <a:ext cx="9112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5BDB115-8416-403A-8DCC-40A526EBEF36}" type="datetimeFigureOut">
              <a:rPr lang="en-US"/>
              <a:pPr>
                <a:defRPr/>
              </a:pPr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863" y="6042025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9963" y="6042025"/>
            <a:ext cx="6842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D369C9-5C20-4ACF-B6C1-93227E8C6D3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8" r:id="rId11"/>
    <p:sldLayoutId id="2147483673" r:id="rId12"/>
    <p:sldLayoutId id="2147483679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chemeClr val="accent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SzPct val="80000"/>
        <a:buFont typeface="Wingdings 3" pitchFamily="18" charset="2"/>
        <a:buChar char="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ctrTitle"/>
          </p:nvPr>
        </p:nvSpPr>
        <p:spPr>
          <a:xfrm>
            <a:off x="2135187" y="2198964"/>
            <a:ext cx="6510337" cy="1644650"/>
          </a:xfrm>
        </p:spPr>
        <p:txBody>
          <a:bodyPr/>
          <a:lstStyle/>
          <a:p>
            <a:pPr algn="ctr" eaLnBrk="1" hangingPunct="1"/>
            <a:br>
              <a:rPr lang="en-GB" sz="6000" dirty="0">
                <a:solidFill>
                  <a:srgbClr val="0070C0"/>
                </a:solidFill>
              </a:rPr>
            </a:br>
            <a:r>
              <a:rPr lang="en-GB" dirty="0">
                <a:solidFill>
                  <a:srgbClr val="0070C0"/>
                </a:solidFill>
              </a:rPr>
              <a:t>  </a:t>
            </a:r>
            <a:r>
              <a:rPr lang="en-GB" sz="4800" dirty="0">
                <a:solidFill>
                  <a:srgbClr val="0070C0"/>
                </a:solidFill>
              </a:rPr>
              <a:t>Appreciation of English and American Literature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536" y="4170570"/>
            <a:ext cx="7767637" cy="1096963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en-GB" sz="3200" dirty="0">
                <a:solidFill>
                  <a:schemeClr val="tx1"/>
                </a:solidFill>
              </a:rPr>
              <a:t>Week 5 – The Birth of the Novel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A7C0F-AD57-4C13-ADC0-B7038E1CF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solidFill>
                  <a:srgbClr val="0070C0"/>
                </a:solidFill>
              </a:rPr>
              <a:t>What is ‘a novel?’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8FA0C-3CC1-4A6E-84ED-7D4941B14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930400"/>
            <a:ext cx="8596312" cy="3881437"/>
          </a:xfrm>
        </p:spPr>
        <p:txBody>
          <a:bodyPr/>
          <a:lstStyle/>
          <a:p>
            <a:r>
              <a:rPr lang="en-GB" sz="2800" dirty="0"/>
              <a:t>What makes a novel different from earlier forms of writing?</a:t>
            </a:r>
          </a:p>
          <a:p>
            <a:endParaRPr lang="en-GB" sz="800" dirty="0"/>
          </a:p>
          <a:p>
            <a:r>
              <a:rPr lang="en-GB" sz="2800" dirty="0"/>
              <a:t>When did they begin, and why did they begin?</a:t>
            </a:r>
          </a:p>
          <a:p>
            <a:endParaRPr lang="en-GB" sz="800" dirty="0"/>
          </a:p>
          <a:p>
            <a:r>
              <a:rPr lang="en-GB" sz="2800" dirty="0"/>
              <a:t>Do they have a particular style or content?</a:t>
            </a:r>
          </a:p>
          <a:p>
            <a:endParaRPr lang="en-GB" sz="800" dirty="0"/>
          </a:p>
          <a:p>
            <a:r>
              <a:rPr lang="en-GB" sz="2800" dirty="0"/>
              <a:t>How long are they?</a:t>
            </a:r>
          </a:p>
          <a:p>
            <a:endParaRPr lang="en-GB" sz="800" dirty="0"/>
          </a:p>
          <a:p>
            <a:r>
              <a:rPr lang="en-GB" sz="2800" dirty="0"/>
              <a:t>What is their purpose?</a:t>
            </a:r>
          </a:p>
        </p:txBody>
      </p:sp>
    </p:spTree>
    <p:extLst>
      <p:ext uri="{BB962C8B-B14F-4D97-AF65-F5344CB8AC3E}">
        <p14:creationId xmlns:p14="http://schemas.microsoft.com/office/powerpoint/2010/main" val="3480978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51581-A0EA-DB5B-F0C3-29B31FF8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70C0"/>
                </a:solidFill>
              </a:rPr>
              <a:t>Article Reading –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4201-FEBD-561B-709B-137C529B3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2160588"/>
            <a:ext cx="9100619" cy="3881437"/>
          </a:xfrm>
        </p:spPr>
        <p:txBody>
          <a:bodyPr/>
          <a:lstStyle/>
          <a:p>
            <a:r>
              <a:rPr lang="en-GB" sz="2800" dirty="0"/>
              <a:t>What did the article on ‘The Rise of the Novel’ say?</a:t>
            </a:r>
          </a:p>
          <a:p>
            <a:endParaRPr lang="en-GB" sz="2800" dirty="0"/>
          </a:p>
          <a:p>
            <a:r>
              <a:rPr lang="en-GB" sz="2800" dirty="0"/>
              <a:t>How was </a:t>
            </a:r>
            <a:r>
              <a:rPr lang="en-GB" sz="2800" i="1" dirty="0"/>
              <a:t>Robinson Crusoe </a:t>
            </a:r>
            <a:r>
              <a:rPr lang="en-GB" sz="2800" dirty="0"/>
              <a:t>different, and why?</a:t>
            </a:r>
          </a:p>
          <a:p>
            <a:endParaRPr lang="en-GB" sz="2800" dirty="0"/>
          </a:p>
          <a:p>
            <a:r>
              <a:rPr lang="en-GB" sz="2800" dirty="0"/>
              <a:t>What happened with ‘novels’ in the rest of the 18</a:t>
            </a:r>
            <a:r>
              <a:rPr lang="en-GB" sz="2800" baseline="30000" dirty="0"/>
              <a:t>th</a:t>
            </a:r>
            <a:r>
              <a:rPr lang="en-GB" sz="2800" dirty="0"/>
              <a:t> century?</a:t>
            </a:r>
          </a:p>
        </p:txBody>
      </p:sp>
    </p:spTree>
    <p:extLst>
      <p:ext uri="{BB962C8B-B14F-4D97-AF65-F5344CB8AC3E}">
        <p14:creationId xmlns:p14="http://schemas.microsoft.com/office/powerpoint/2010/main" val="4119650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F3A7-FE2C-4309-8C09-5D46FC80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2060"/>
                </a:solidFill>
              </a:rPr>
              <a:t>Ancient ‘Novels’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C378-1A9E-404B-9AE4-A3229118B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160588"/>
            <a:ext cx="6107250" cy="3881437"/>
          </a:xfrm>
        </p:spPr>
        <p:txBody>
          <a:bodyPr/>
          <a:lstStyle/>
          <a:p>
            <a:r>
              <a:rPr lang="en-GB" sz="2400" dirty="0"/>
              <a:t>There is a genre of ‘Greek Novels’ (but written in the Roman era, 1</a:t>
            </a:r>
            <a:r>
              <a:rPr lang="en-GB" sz="2400" baseline="30000" dirty="0"/>
              <a:t>st </a:t>
            </a:r>
            <a:r>
              <a:rPr lang="en-GB" sz="2400" dirty="0"/>
              <a:t>Century to 4</a:t>
            </a:r>
            <a:r>
              <a:rPr lang="en-GB" sz="2400" baseline="30000" dirty="0"/>
              <a:t>th</a:t>
            </a:r>
            <a:r>
              <a:rPr lang="en-GB" sz="2400" dirty="0"/>
              <a:t> Century AD)</a:t>
            </a:r>
          </a:p>
          <a:p>
            <a:endParaRPr lang="en-GB" sz="2400" dirty="0"/>
          </a:p>
          <a:p>
            <a:r>
              <a:rPr lang="en-GB" sz="2400" dirty="0"/>
              <a:t>An example is </a:t>
            </a:r>
            <a:r>
              <a:rPr lang="en-GB" sz="2400" i="1" dirty="0"/>
              <a:t>The Aesop Romance,</a:t>
            </a:r>
            <a:r>
              <a:rPr lang="en-GB" sz="2400" dirty="0"/>
              <a:t> a fictional biography about Aesop’s life, from being a slave, to getting a gift of storytelling from a Goddess, and then travelling and telling his fables.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2B08D-4B7D-4B95-8598-82DCDAABF5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165" y="1155775"/>
            <a:ext cx="3384826" cy="509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22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2F3A7-FE2C-4309-8C09-5D46FC80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2060"/>
                </a:solidFill>
              </a:rPr>
              <a:t>Ancient ‘Novels’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7C378-1A9E-404B-9AE4-A3229118B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761980"/>
            <a:ext cx="6739974" cy="4280045"/>
          </a:xfrm>
        </p:spPr>
        <p:txBody>
          <a:bodyPr/>
          <a:lstStyle/>
          <a:p>
            <a:r>
              <a:rPr lang="en-GB" sz="2400" dirty="0"/>
              <a:t>There were also Byzantine Romances in the 12</a:t>
            </a:r>
            <a:r>
              <a:rPr lang="en-GB" sz="2400" baseline="30000" dirty="0"/>
              <a:t>th</a:t>
            </a:r>
            <a:r>
              <a:rPr lang="en-GB" sz="2400" dirty="0"/>
              <a:t> Century in Constantinople, which used the structure of ancient Greek novels.</a:t>
            </a:r>
          </a:p>
          <a:p>
            <a:endParaRPr lang="en-GB" sz="2400" dirty="0"/>
          </a:p>
          <a:p>
            <a:r>
              <a:rPr lang="en-GB" sz="2400" i="1" dirty="0"/>
              <a:t>The Tale of Genji </a:t>
            </a:r>
            <a:r>
              <a:rPr lang="en-GB" sz="2400" dirty="0"/>
              <a:t> is a Japanese ‘novel’ – sometimes called the first ever novel – from the 11</a:t>
            </a:r>
            <a:r>
              <a:rPr lang="en-GB" sz="2400" baseline="30000" dirty="0"/>
              <a:t>th</a:t>
            </a:r>
            <a:r>
              <a:rPr lang="en-GB" sz="2400" dirty="0"/>
              <a:t> Century, about the life of a ‘fictional’ prince called Genji in the Japanese court. It was written by a woman at court, has romance and realism, a darkening tone throughout, and many poems.</a:t>
            </a:r>
            <a:endParaRPr lang="en-GB" sz="2400" i="1" dirty="0"/>
          </a:p>
          <a:p>
            <a:endParaRPr lang="en-GB" sz="2400" dirty="0"/>
          </a:p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F171DC-0B6A-4A6D-BEB9-4F8C43B588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599" y="2855207"/>
            <a:ext cx="3151182" cy="370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55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1FC2-6925-43B1-A0EB-785F5FFB8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2060"/>
                </a:solidFill>
              </a:rPr>
              <a:t>The Chinese ‘Classic’ ‘Novels’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2954A-0AF1-4AAE-BA6C-78E7A7D7D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1930400"/>
            <a:ext cx="10350922" cy="4171820"/>
          </a:xfrm>
        </p:spPr>
        <p:txBody>
          <a:bodyPr/>
          <a:lstStyle/>
          <a:p>
            <a:r>
              <a:rPr lang="en-GB" sz="2600" i="1" dirty="0">
                <a:solidFill>
                  <a:srgbClr val="0070C0"/>
                </a:solidFill>
              </a:rPr>
              <a:t>Romance of the Three Kingdoms  </a:t>
            </a:r>
            <a:r>
              <a:rPr lang="en-GB" sz="2400" dirty="0">
                <a:solidFill>
                  <a:srgbClr val="0070C0"/>
                </a:solidFill>
              </a:rPr>
              <a:t>(14</a:t>
            </a:r>
            <a:r>
              <a:rPr lang="en-GB" sz="2400" baseline="30000" dirty="0">
                <a:solidFill>
                  <a:srgbClr val="0070C0"/>
                </a:solidFill>
              </a:rPr>
              <a:t>th</a:t>
            </a:r>
            <a:r>
              <a:rPr lang="en-GB" sz="2400" dirty="0">
                <a:solidFill>
                  <a:srgbClr val="0070C0"/>
                </a:solidFill>
              </a:rPr>
              <a:t> Century, 800,000 words)	</a:t>
            </a:r>
            <a:r>
              <a:rPr lang="en-GB" sz="2600" dirty="0">
                <a:solidFill>
                  <a:srgbClr val="0070C0"/>
                </a:solidFill>
              </a:rPr>
              <a:t> </a:t>
            </a:r>
          </a:p>
          <a:p>
            <a:r>
              <a:rPr lang="en-GB" sz="2600" i="1" dirty="0">
                <a:solidFill>
                  <a:srgbClr val="0070C0"/>
                </a:solidFill>
              </a:rPr>
              <a:t>Journey to the West   </a:t>
            </a:r>
            <a:r>
              <a:rPr lang="en-GB" sz="2400" dirty="0">
                <a:solidFill>
                  <a:srgbClr val="0070C0"/>
                </a:solidFill>
              </a:rPr>
              <a:t>(16</a:t>
            </a:r>
            <a:r>
              <a:rPr lang="en-GB" sz="2400" baseline="30000" dirty="0">
                <a:solidFill>
                  <a:srgbClr val="0070C0"/>
                </a:solidFill>
              </a:rPr>
              <a:t>th</a:t>
            </a:r>
            <a:r>
              <a:rPr lang="en-GB" sz="2400" dirty="0">
                <a:solidFill>
                  <a:srgbClr val="0070C0"/>
                </a:solidFill>
              </a:rPr>
              <a:t> Century)</a:t>
            </a:r>
          </a:p>
          <a:p>
            <a:r>
              <a:rPr lang="en-GB" sz="2600" i="1" dirty="0">
                <a:solidFill>
                  <a:srgbClr val="0070C0"/>
                </a:solidFill>
              </a:rPr>
              <a:t>Water Margins  </a:t>
            </a:r>
            <a:r>
              <a:rPr lang="en-GB" sz="2600" dirty="0">
                <a:solidFill>
                  <a:srgbClr val="0070C0"/>
                </a:solidFill>
              </a:rPr>
              <a:t>		    </a:t>
            </a:r>
            <a:r>
              <a:rPr lang="en-GB" sz="2400" dirty="0">
                <a:solidFill>
                  <a:srgbClr val="0070C0"/>
                </a:solidFill>
              </a:rPr>
              <a:t>(16</a:t>
            </a:r>
            <a:r>
              <a:rPr lang="en-GB" sz="2400" baseline="30000" dirty="0">
                <a:solidFill>
                  <a:srgbClr val="0070C0"/>
                </a:solidFill>
              </a:rPr>
              <a:t>th</a:t>
            </a:r>
            <a:r>
              <a:rPr lang="en-GB" sz="2400" dirty="0">
                <a:solidFill>
                  <a:srgbClr val="0070C0"/>
                </a:solidFill>
              </a:rPr>
              <a:t> Century?)</a:t>
            </a:r>
          </a:p>
          <a:p>
            <a:r>
              <a:rPr lang="en-GB" sz="2600" i="1" dirty="0">
                <a:solidFill>
                  <a:srgbClr val="0070C0"/>
                </a:solidFill>
              </a:rPr>
              <a:t>Dream of the Red Chamber  </a:t>
            </a:r>
            <a:r>
              <a:rPr lang="en-GB" sz="2400" dirty="0">
                <a:solidFill>
                  <a:srgbClr val="0070C0"/>
                </a:solidFill>
              </a:rPr>
              <a:t>(18</a:t>
            </a:r>
            <a:r>
              <a:rPr lang="en-GB" sz="2400" baseline="30000" dirty="0">
                <a:solidFill>
                  <a:srgbClr val="0070C0"/>
                </a:solidFill>
              </a:rPr>
              <a:t>th</a:t>
            </a:r>
            <a:r>
              <a:rPr lang="en-GB" sz="2400" dirty="0">
                <a:solidFill>
                  <a:srgbClr val="0070C0"/>
                </a:solidFill>
              </a:rPr>
              <a:t> Century, 845,000 words)</a:t>
            </a:r>
          </a:p>
          <a:p>
            <a:pPr marL="0" indent="0">
              <a:buNone/>
            </a:pPr>
            <a:endParaRPr lang="en-GB" sz="1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GB" sz="2800" dirty="0">
                <a:solidFill>
                  <a:srgbClr val="002060"/>
                </a:solidFill>
              </a:rPr>
              <a:t>They all have 100 chapters or more and tell fictionalised accounts, involving many characters, often in quite separate episodes. </a:t>
            </a:r>
          </a:p>
        </p:txBody>
      </p:sp>
    </p:spTree>
    <p:extLst>
      <p:ext uri="{BB962C8B-B14F-4D97-AF65-F5344CB8AC3E}">
        <p14:creationId xmlns:p14="http://schemas.microsoft.com/office/powerpoint/2010/main" val="3060093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AEB0C-E265-40C8-A218-FB020572B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70C0"/>
                </a:solidFill>
              </a:rPr>
              <a:t>Novel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946A-0A7E-416D-8163-832AE1A3B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724490"/>
            <a:ext cx="8596312" cy="3881437"/>
          </a:xfrm>
        </p:spPr>
        <p:txBody>
          <a:bodyPr/>
          <a:lstStyle/>
          <a:p>
            <a:r>
              <a:rPr lang="en-GB" sz="2400" dirty="0"/>
              <a:t>A </a:t>
            </a:r>
            <a:r>
              <a:rPr lang="en-GB" sz="2400" b="1" dirty="0"/>
              <a:t>novel</a:t>
            </a:r>
            <a:r>
              <a:rPr lang="en-GB" sz="2400" dirty="0"/>
              <a:t> is considered to be more than 40,000 words</a:t>
            </a:r>
          </a:p>
          <a:p>
            <a:pPr marL="457200" lvl="1" indent="0">
              <a:buNone/>
            </a:pPr>
            <a:r>
              <a:rPr lang="en-GB" sz="2400" dirty="0"/>
              <a:t>	</a:t>
            </a:r>
            <a:r>
              <a:rPr lang="en-GB" sz="2000" dirty="0"/>
              <a:t>(but modern publishers typically require 80,000 words)</a:t>
            </a:r>
          </a:p>
          <a:p>
            <a:r>
              <a:rPr lang="en-GB" sz="2400" dirty="0"/>
              <a:t>A </a:t>
            </a:r>
            <a:r>
              <a:rPr lang="en-GB" sz="2400" b="1" dirty="0"/>
              <a:t>novella</a:t>
            </a:r>
            <a:r>
              <a:rPr lang="en-GB" sz="2400" dirty="0"/>
              <a:t> is considered to be from 7,500 to 40,000 words</a:t>
            </a:r>
          </a:p>
          <a:p>
            <a:r>
              <a:rPr lang="en-GB" sz="2400" dirty="0"/>
              <a:t>A </a:t>
            </a:r>
            <a:r>
              <a:rPr lang="en-GB" sz="2400" b="1" dirty="0"/>
              <a:t>short story </a:t>
            </a:r>
            <a:r>
              <a:rPr lang="en-GB" sz="2400" dirty="0"/>
              <a:t>is less than 7,500 words</a:t>
            </a:r>
          </a:p>
          <a:p>
            <a:pPr marL="0" indent="0">
              <a:buNone/>
            </a:pPr>
            <a:r>
              <a:rPr lang="en-GB" sz="900" dirty="0"/>
              <a:t>	</a:t>
            </a:r>
          </a:p>
          <a:p>
            <a:pPr marL="0" indent="0">
              <a:buNone/>
            </a:pPr>
            <a:r>
              <a:rPr lang="en-GB" sz="2400" dirty="0"/>
              <a:t>	</a:t>
            </a:r>
            <a:r>
              <a:rPr lang="en-GB" sz="2100" i="1" dirty="0"/>
              <a:t>The Lord of the Rings </a:t>
            </a:r>
            <a:r>
              <a:rPr lang="en-GB" sz="2100" dirty="0"/>
              <a:t>– 470,000 words</a:t>
            </a:r>
          </a:p>
          <a:p>
            <a:pPr marL="0" indent="0">
              <a:buNone/>
            </a:pPr>
            <a:r>
              <a:rPr lang="en-GB" sz="2100" dirty="0"/>
              <a:t>	</a:t>
            </a:r>
            <a:r>
              <a:rPr lang="en-GB" sz="2100" i="1" dirty="0"/>
              <a:t>Robinson Crusoe </a:t>
            </a:r>
            <a:r>
              <a:rPr lang="en-GB" sz="2100" dirty="0"/>
              <a:t>– 121,000 words</a:t>
            </a:r>
          </a:p>
          <a:p>
            <a:pPr marL="0" indent="0">
              <a:buNone/>
            </a:pPr>
            <a:r>
              <a:rPr lang="en-GB" sz="2100" dirty="0"/>
              <a:t>	</a:t>
            </a:r>
            <a:r>
              <a:rPr lang="en-GB" sz="2100" i="1" dirty="0"/>
              <a:t>Harry Potter and the Philosopher’s Stone </a:t>
            </a:r>
            <a:r>
              <a:rPr lang="en-GB" sz="2100" dirty="0"/>
              <a:t>– 77,000</a:t>
            </a:r>
          </a:p>
          <a:p>
            <a:pPr marL="0" indent="0">
              <a:buNone/>
            </a:pPr>
            <a:r>
              <a:rPr lang="en-GB" sz="2100" dirty="0"/>
              <a:t>	(All Seven Harry Potter Books – 1,084,000)</a:t>
            </a:r>
          </a:p>
          <a:p>
            <a:pPr marL="0" indent="0">
              <a:buNone/>
            </a:pPr>
            <a:r>
              <a:rPr lang="en-GB" sz="2100" dirty="0"/>
              <a:t>	</a:t>
            </a:r>
            <a:r>
              <a:rPr lang="en-GB" sz="2100" i="1" dirty="0"/>
              <a:t>The Pilgrim’s Progress </a:t>
            </a:r>
            <a:r>
              <a:rPr lang="en-GB" sz="2100" dirty="0"/>
              <a:t>– 57,000 words</a:t>
            </a:r>
          </a:p>
          <a:p>
            <a:pPr marL="0" indent="0">
              <a:buNone/>
            </a:pPr>
            <a:r>
              <a:rPr lang="en-GB" sz="2100" dirty="0"/>
              <a:t>	</a:t>
            </a:r>
            <a:r>
              <a:rPr lang="en-GB" sz="2100" i="1" dirty="0"/>
              <a:t>The Great Gatsby </a:t>
            </a:r>
            <a:r>
              <a:rPr lang="en-GB" sz="2100" dirty="0"/>
              <a:t>– 47,000 words</a:t>
            </a:r>
          </a:p>
        </p:txBody>
      </p:sp>
    </p:spTree>
    <p:extLst>
      <p:ext uri="{BB962C8B-B14F-4D97-AF65-F5344CB8AC3E}">
        <p14:creationId xmlns:p14="http://schemas.microsoft.com/office/powerpoint/2010/main" val="967797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DF1F1A-A614-416D-A9E1-EECE3936E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/>
          <a:lstStyle/>
          <a:p>
            <a:pPr algn="ctr"/>
            <a:r>
              <a:rPr lang="en-GB" sz="4400" dirty="0">
                <a:solidFill>
                  <a:srgbClr val="002060"/>
                </a:solidFill>
              </a:rPr>
              <a:t>‘The Novel’ as a European and English form of literature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CF3639-3EBF-488F-84FB-208056B80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499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29E8-4FBA-4A59-925D-F3AD87674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b="1" dirty="0">
                <a:solidFill>
                  <a:srgbClr val="002060"/>
                </a:solidFill>
              </a:rPr>
              <a:t>The Ingenious Nobleman Sir Quixote of La Mancha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C028-CD55-4767-832A-D312C769F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930400"/>
            <a:ext cx="8596312" cy="388143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Known commonly as </a:t>
            </a:r>
            <a:r>
              <a:rPr lang="en-GB" sz="2800" i="1" dirty="0"/>
              <a:t>Don Quixote.</a:t>
            </a:r>
          </a:p>
          <a:p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Written in Spain, published 1605 – 1615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/>
              <a:t>The story of a noble who has read so many ‘romances’ that he goes crazy and goes on a journey to be a romantic, heroic knight.</a:t>
            </a:r>
          </a:p>
          <a:p>
            <a:endParaRPr lang="en-GB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4BC97A03-1CEC-4504-B9C0-00EE48C76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00550" y="1469011"/>
            <a:ext cx="3119705" cy="47793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83467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29E8-4FBA-4A59-925D-F3AD87674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>
                <a:solidFill>
                  <a:srgbClr val="002060"/>
                </a:solidFill>
              </a:rPr>
              <a:t>The Pilgrim's Progress from This World, to That Which Is to Come</a:t>
            </a:r>
            <a:endParaRPr lang="en-GB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C028-CD55-4767-832A-D312C769F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584" y="2123266"/>
            <a:ext cx="7523745" cy="3881437"/>
          </a:xfrm>
        </p:spPr>
        <p:txBody>
          <a:bodyPr/>
          <a:lstStyle/>
          <a:p>
            <a:r>
              <a:rPr lang="en-GB" sz="2400" dirty="0"/>
              <a:t>A contender for the first ‘novel’ written in English.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E7194A-5326-47EA-ABA8-8F4A8C5B9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93" y="2731319"/>
            <a:ext cx="2636846" cy="38814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0D3769-51C4-49FF-BD01-0512D98F5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5108" y="1883276"/>
            <a:ext cx="3856290" cy="45889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F6D5C5A-9366-44B5-A704-23CCCB2A61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551" y="2871812"/>
            <a:ext cx="4572000" cy="360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733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B29E8-4FBA-4A59-925D-F3AD87674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>
                <a:solidFill>
                  <a:srgbClr val="002060"/>
                </a:solidFill>
              </a:rPr>
              <a:t>The Pilgrim's Progress from This World, to That Which Is to Come</a:t>
            </a:r>
            <a:endParaRPr lang="en-GB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AC028-CD55-4767-832A-D312C769F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160588"/>
            <a:ext cx="7598390" cy="4087812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GB" sz="2600" dirty="0"/>
              <a:t>Known as </a:t>
            </a:r>
            <a:r>
              <a:rPr lang="en-GB" sz="2600" i="1" dirty="0"/>
              <a:t>Pilgrim’s Progress.</a:t>
            </a:r>
          </a:p>
          <a:p>
            <a:pPr>
              <a:spcBef>
                <a:spcPts val="800"/>
              </a:spcBef>
            </a:pPr>
            <a:r>
              <a:rPr lang="en-GB" sz="2600" dirty="0"/>
              <a:t>Written by John Bunyan in 1678, while in Prison for preaching.</a:t>
            </a:r>
          </a:p>
          <a:p>
            <a:pPr>
              <a:spcBef>
                <a:spcPts val="800"/>
              </a:spcBef>
            </a:pPr>
            <a:r>
              <a:rPr lang="en-GB" sz="2600" dirty="0"/>
              <a:t>A man called Christian goes on a journey, meets characters, and crosses difficult obstacles – allegories for his spiritual journey. He finally reaches the Celestial City.</a:t>
            </a:r>
          </a:p>
          <a:p>
            <a:pPr>
              <a:spcBef>
                <a:spcPts val="800"/>
              </a:spcBef>
            </a:pPr>
            <a:r>
              <a:rPr lang="en-GB" sz="2600" dirty="0"/>
              <a:t>For more than two centuries it was one of the most widely read books in the world.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34F7A-8316-43F4-800D-F024F1F69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139" y="1353976"/>
            <a:ext cx="3111989" cy="531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7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7575-8963-4B9F-B002-256D253F0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2060"/>
                </a:solidFill>
              </a:rPr>
              <a:t>Daniel Defoe</a:t>
            </a:r>
            <a:br>
              <a:rPr lang="en-GB" sz="4000" dirty="0">
                <a:solidFill>
                  <a:srgbClr val="002060"/>
                </a:solidFill>
              </a:rPr>
            </a:br>
            <a:r>
              <a:rPr lang="en-GB" sz="2400" dirty="0">
                <a:solidFill>
                  <a:srgbClr val="002060"/>
                </a:solidFill>
              </a:rPr>
              <a:t>(1660 -1731)</a:t>
            </a:r>
            <a:br>
              <a:rPr lang="en-GB" sz="2400" dirty="0">
                <a:solidFill>
                  <a:srgbClr val="002060"/>
                </a:solidFill>
              </a:rPr>
            </a:br>
            <a:endParaRPr lang="en-GB" sz="2400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9BB26-6896-4038-8E56-33369FF89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4" y="2160588"/>
            <a:ext cx="7561068" cy="3881437"/>
          </a:xfrm>
        </p:spPr>
        <p:txBody>
          <a:bodyPr/>
          <a:lstStyle/>
          <a:p>
            <a:r>
              <a:rPr lang="en-GB" sz="2600" dirty="0"/>
              <a:t>A trader, ‘novelist’, journalist, periodical writer, and political pamphleteer – he was sent to jail for writing critical pamphlets.</a:t>
            </a:r>
          </a:p>
          <a:p>
            <a:r>
              <a:rPr lang="en-GB" sz="2600" dirty="0"/>
              <a:t>In 1719 he wrote </a:t>
            </a:r>
            <a:r>
              <a:rPr lang="en-GB" sz="2600" i="1" dirty="0"/>
              <a:t>Robinson Crusoe, </a:t>
            </a:r>
            <a:r>
              <a:rPr lang="en-GB" sz="2600" dirty="0"/>
              <a:t>at the age of almost 60, followed by other novels.</a:t>
            </a:r>
          </a:p>
          <a:p>
            <a:r>
              <a:rPr lang="en-GB" sz="2600" dirty="0"/>
              <a:t>It seems likely to have been influenced by the true account of Alexander Selkirk who was castaway on an island for 4 years.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36AE59-171D-4E70-BE68-FFD60646EE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320" y="1405747"/>
            <a:ext cx="3471325" cy="463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9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77C6-9E8E-467E-B46D-0C095B2D8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284AB7-4EDB-42DA-87CC-1B8D14CF8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84" y="0"/>
            <a:ext cx="7936786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E9DFC0-8648-5E2D-EA76-581360132D55}"/>
              </a:ext>
            </a:extLst>
          </p:cNvPr>
          <p:cNvSpPr txBox="1"/>
          <p:nvPr/>
        </p:nvSpPr>
        <p:spPr>
          <a:xfrm>
            <a:off x="8400207" y="1262743"/>
            <a:ext cx="25727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The story contains many elements that were quite original in fictional writing – and have led to it being described as the first ‘novel’.</a:t>
            </a:r>
          </a:p>
        </p:txBody>
      </p:sp>
    </p:spTree>
    <p:extLst>
      <p:ext uri="{BB962C8B-B14F-4D97-AF65-F5344CB8AC3E}">
        <p14:creationId xmlns:p14="http://schemas.microsoft.com/office/powerpoint/2010/main" val="389299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BFB9-26DB-4C9B-BDA7-AA997C7B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dirty="0">
                <a:solidFill>
                  <a:srgbClr val="002060"/>
                </a:solidFill>
              </a:rPr>
              <a:t>Jonathan Swift</a:t>
            </a:r>
            <a:br>
              <a:rPr lang="en-GB" sz="4400" dirty="0">
                <a:solidFill>
                  <a:srgbClr val="002060"/>
                </a:solidFill>
              </a:rPr>
            </a:br>
            <a:r>
              <a:rPr lang="en-GB" sz="2400" dirty="0">
                <a:solidFill>
                  <a:srgbClr val="002060"/>
                </a:solidFill>
              </a:rPr>
              <a:t>(1667 – 1745)</a:t>
            </a:r>
            <a:br>
              <a:rPr lang="en-GB" sz="4400" dirty="0"/>
            </a:br>
            <a:endParaRPr lang="en-GB" sz="4400" dirty="0">
              <a:solidFill>
                <a:srgbClr val="00206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6B06EC8-FBA7-421A-A943-7540EEFF2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2281885"/>
            <a:ext cx="6749304" cy="3881437"/>
          </a:xfrm>
        </p:spPr>
        <p:txBody>
          <a:bodyPr/>
          <a:lstStyle/>
          <a:p>
            <a:r>
              <a:rPr lang="en-GB" sz="2600" dirty="0"/>
              <a:t>A very influential essayist, novelist, poet, political writer and priest.</a:t>
            </a:r>
          </a:p>
          <a:p>
            <a:r>
              <a:rPr lang="en-GB" sz="2600" dirty="0"/>
              <a:t>Wrote </a:t>
            </a:r>
            <a:r>
              <a:rPr lang="en-GB" sz="2600" i="1" dirty="0"/>
              <a:t>Gulliver’s Travels (1726),</a:t>
            </a:r>
            <a:r>
              <a:rPr lang="en-GB" sz="2600" dirty="0"/>
              <a:t> a satire of adventure and shipwreck stories, politics and society.</a:t>
            </a:r>
          </a:p>
          <a:p>
            <a:r>
              <a:rPr lang="en-GB" sz="2600" dirty="0"/>
              <a:t>Gulliver travels to strange lands, where he is a giant; is tiny; finds a flying city; and talking horses, etc.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B26D56-C39C-4F8E-9B3C-62A81E55D7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0759" y="1651518"/>
            <a:ext cx="3588051" cy="468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60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3062-3618-4AA9-A5A3-E91689356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i="1" dirty="0">
                <a:solidFill>
                  <a:srgbClr val="002060"/>
                </a:solidFill>
              </a:rPr>
              <a:t>The Life and Opinions of Tristram </a:t>
            </a:r>
            <a:r>
              <a:rPr lang="en-GB" i="1" dirty="0" err="1">
                <a:solidFill>
                  <a:srgbClr val="002060"/>
                </a:solidFill>
              </a:rPr>
              <a:t>Shandy</a:t>
            </a:r>
            <a:r>
              <a:rPr lang="en-GB" i="1" dirty="0">
                <a:solidFill>
                  <a:srgbClr val="002060"/>
                </a:solidFill>
              </a:rPr>
              <a:t>, Gentleman </a:t>
            </a:r>
            <a:r>
              <a:rPr lang="en-GB" dirty="0">
                <a:solidFill>
                  <a:srgbClr val="002060"/>
                </a:solidFill>
              </a:rPr>
              <a:t>– ‘Tristram </a:t>
            </a:r>
            <a:r>
              <a:rPr lang="en-GB" dirty="0" err="1">
                <a:solidFill>
                  <a:srgbClr val="002060"/>
                </a:solidFill>
              </a:rPr>
              <a:t>Shandy</a:t>
            </a:r>
            <a:r>
              <a:rPr lang="en-GB" dirty="0">
                <a:solidFill>
                  <a:srgbClr val="002060"/>
                </a:solidFill>
              </a:rPr>
              <a:t>’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66A1A-D063-4D1C-AA2E-353826422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z="2800" dirty="0"/>
          </a:p>
          <a:p>
            <a:r>
              <a:rPr lang="en-GB" sz="2800" dirty="0"/>
              <a:t>Written by Laurence Sterne and published between 1759-1767</a:t>
            </a:r>
          </a:p>
          <a:p>
            <a:r>
              <a:rPr lang="en-GB" sz="2800" dirty="0"/>
              <a:t>It is a fictional biography of Tristram, is quite rudely comical, and has a satirical style.</a:t>
            </a:r>
          </a:p>
          <a:p>
            <a:r>
              <a:rPr lang="en-GB" sz="2800" dirty="0"/>
              <a:t>Tristram doesn’t do much, but talks a lot about many philosophical things.</a:t>
            </a:r>
          </a:p>
        </p:txBody>
      </p:sp>
    </p:spTree>
    <p:extLst>
      <p:ext uri="{BB962C8B-B14F-4D97-AF65-F5344CB8AC3E}">
        <p14:creationId xmlns:p14="http://schemas.microsoft.com/office/powerpoint/2010/main" val="1271296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7C376-3E5F-4407-A03A-97B5F736A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>
                <a:solidFill>
                  <a:srgbClr val="002060"/>
                </a:solidFill>
              </a:rPr>
              <a:t>Different Ideas of What a Novel 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BDC4A-2EC0-468A-8980-CE865BE3A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1810140"/>
            <a:ext cx="9245456" cy="4001698"/>
          </a:xfrm>
        </p:spPr>
        <p:txBody>
          <a:bodyPr/>
          <a:lstStyle/>
          <a:p>
            <a:r>
              <a:rPr lang="en-GB" sz="2100" dirty="0"/>
              <a:t>Not a ‘Romance’ = not fantastical. Instead, it is </a:t>
            </a:r>
            <a:r>
              <a:rPr lang="en-GB" sz="2100" b="1" dirty="0"/>
              <a:t>realistic</a:t>
            </a:r>
            <a:r>
              <a:rPr lang="en-GB" sz="2100" dirty="0"/>
              <a:t>.</a:t>
            </a:r>
          </a:p>
          <a:p>
            <a:r>
              <a:rPr lang="en-GB" sz="2100" dirty="0"/>
              <a:t>Not an Anthology = not a collection of different stories put together.</a:t>
            </a:r>
          </a:p>
          <a:p>
            <a:r>
              <a:rPr lang="en-GB" sz="2100" dirty="0"/>
              <a:t>Not an Allegory = not wholly a metaphor representing other meanings.</a:t>
            </a:r>
          </a:p>
          <a:p>
            <a:r>
              <a:rPr lang="en-GB" sz="2100" dirty="0"/>
              <a:t>It must be wholly original = not an old story, retold and added to.</a:t>
            </a:r>
          </a:p>
          <a:p>
            <a:r>
              <a:rPr lang="en-GB" sz="2100" dirty="0"/>
              <a:t>It must have unity in its structure and be a cohesive whole.</a:t>
            </a:r>
          </a:p>
          <a:p>
            <a:r>
              <a:rPr lang="en-GB" sz="2100" dirty="0"/>
              <a:t>It must contain characters and their inner-selves, which must be revealed by character arcs, narrative and plot points.</a:t>
            </a:r>
          </a:p>
          <a:p>
            <a:endParaRPr lang="en-GB" sz="2000" dirty="0"/>
          </a:p>
          <a:p>
            <a:r>
              <a:rPr lang="en-GB" sz="2200" dirty="0"/>
              <a:t>Ian Watt wrote </a:t>
            </a:r>
            <a:r>
              <a:rPr lang="en-GB" sz="2200" i="1" dirty="0"/>
              <a:t>The Rise of the Novel: Studies in Defoe, Richardson and Fielding</a:t>
            </a:r>
            <a:r>
              <a:rPr lang="en-GB" sz="2200" dirty="0"/>
              <a:t> (1957), which argued that </a:t>
            </a:r>
            <a:r>
              <a:rPr lang="en-GB" sz="2200" b="1" i="1" dirty="0"/>
              <a:t>Robinson Crusoe</a:t>
            </a:r>
            <a:r>
              <a:rPr lang="en-GB" sz="2200" dirty="0"/>
              <a:t> was the first proper novel</a:t>
            </a:r>
            <a:r>
              <a:rPr lang="en-GB" sz="2200" i="1" dirty="0"/>
              <a:t>.</a:t>
            </a:r>
            <a:r>
              <a:rPr lang="en-GB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40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3BEC-3848-9CCE-05A7-B5B99D66C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1810140"/>
            <a:ext cx="10472220" cy="4231886"/>
          </a:xfrm>
        </p:spPr>
        <p:txBody>
          <a:bodyPr/>
          <a:lstStyle/>
          <a:p>
            <a:r>
              <a:rPr lang="en-GB" sz="2800" i="1" dirty="0"/>
              <a:t>Excerpts from Chapter 2 and Chapter 3</a:t>
            </a:r>
          </a:p>
          <a:p>
            <a:endParaRPr lang="en-GB" sz="2400" dirty="0"/>
          </a:p>
          <a:p>
            <a:pPr lvl="1"/>
            <a:r>
              <a:rPr lang="en-GB" sz="2600" dirty="0"/>
              <a:t>What is the style of the English? How would you describe it?</a:t>
            </a:r>
          </a:p>
          <a:p>
            <a:pPr marL="457200" lvl="1" indent="0">
              <a:buNone/>
            </a:pPr>
            <a:endParaRPr lang="en-GB" sz="1200" dirty="0"/>
          </a:p>
          <a:p>
            <a:pPr lvl="1"/>
            <a:r>
              <a:rPr lang="en-GB" sz="2600" dirty="0"/>
              <a:t>How is it narrated? Who is the narrator?</a:t>
            </a:r>
          </a:p>
          <a:p>
            <a:pPr lvl="1"/>
            <a:endParaRPr lang="en-GB" sz="1200" dirty="0"/>
          </a:p>
          <a:p>
            <a:pPr lvl="1"/>
            <a:r>
              <a:rPr lang="en-GB" sz="2600" dirty="0"/>
              <a:t>What can we learn about the man, Robinson Crusoe?</a:t>
            </a:r>
          </a:p>
          <a:p>
            <a:pPr lvl="1"/>
            <a:endParaRPr lang="en-GB" sz="1200" dirty="0"/>
          </a:p>
          <a:p>
            <a:pPr lvl="1"/>
            <a:r>
              <a:rPr lang="en-GB" sz="2600" dirty="0"/>
              <a:t>What techniques are used to describe the action?</a:t>
            </a:r>
          </a:p>
          <a:p>
            <a:pPr marL="457200" lvl="1" indent="0">
              <a:buNone/>
            </a:pPr>
            <a:endParaRPr lang="en-GB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81BBFA-C819-5312-E608-E119DD6A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n-GB" i="1" dirty="0">
                <a:solidFill>
                  <a:srgbClr val="002060"/>
                </a:solidFill>
              </a:rPr>
              <a:t>Robinson Crusoe </a:t>
            </a:r>
            <a:r>
              <a:rPr lang="en-GB" dirty="0">
                <a:solidFill>
                  <a:srgbClr val="002060"/>
                </a:solidFill>
              </a:rPr>
              <a:t>Reading:</a:t>
            </a:r>
          </a:p>
        </p:txBody>
      </p:sp>
    </p:spTree>
    <p:extLst>
      <p:ext uri="{BB962C8B-B14F-4D97-AF65-F5344CB8AC3E}">
        <p14:creationId xmlns:p14="http://schemas.microsoft.com/office/powerpoint/2010/main" val="1712941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3BEC-3848-9CCE-05A7-B5B99D66C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1810140"/>
            <a:ext cx="10472220" cy="4231886"/>
          </a:xfrm>
        </p:spPr>
        <p:txBody>
          <a:bodyPr/>
          <a:lstStyle/>
          <a:p>
            <a:r>
              <a:rPr lang="en-GB" sz="2800" i="1" dirty="0"/>
              <a:t>Excerpts from Chapter 7 and Chapter 8</a:t>
            </a:r>
          </a:p>
          <a:p>
            <a:endParaRPr lang="en-GB" sz="2400" dirty="0"/>
          </a:p>
          <a:p>
            <a:pPr lvl="1"/>
            <a:r>
              <a:rPr lang="en-GB" sz="2600" dirty="0"/>
              <a:t>What happens in these excerpts?</a:t>
            </a:r>
          </a:p>
          <a:p>
            <a:pPr marL="457200" lvl="1" indent="0">
              <a:buNone/>
            </a:pPr>
            <a:endParaRPr lang="en-GB" sz="1200" dirty="0"/>
          </a:p>
          <a:p>
            <a:pPr lvl="1"/>
            <a:r>
              <a:rPr lang="en-GB" sz="2600" dirty="0"/>
              <a:t>How are the world and events portrayed?</a:t>
            </a:r>
          </a:p>
          <a:p>
            <a:pPr lvl="1"/>
            <a:endParaRPr lang="en-GB" sz="1200" dirty="0"/>
          </a:p>
          <a:p>
            <a:pPr lvl="1"/>
            <a:r>
              <a:rPr lang="en-GB" sz="2600" dirty="0"/>
              <a:t>How is Robinson Crusoe’s inner life portrayed?</a:t>
            </a:r>
          </a:p>
          <a:p>
            <a:pPr lvl="1"/>
            <a:endParaRPr lang="en-GB" sz="1200" dirty="0"/>
          </a:p>
          <a:p>
            <a:pPr lvl="1"/>
            <a:r>
              <a:rPr lang="en-GB" sz="2600" dirty="0"/>
              <a:t>What techniques are used to describe the action?</a:t>
            </a:r>
          </a:p>
          <a:p>
            <a:pPr marL="457200" lvl="1" indent="0">
              <a:buNone/>
            </a:pPr>
            <a:endParaRPr lang="en-GB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81BBFA-C819-5312-E608-E119DD6A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n-GB" i="1" dirty="0">
                <a:solidFill>
                  <a:srgbClr val="002060"/>
                </a:solidFill>
              </a:rPr>
              <a:t>Robinson Crusoe </a:t>
            </a:r>
            <a:r>
              <a:rPr lang="en-GB" dirty="0">
                <a:solidFill>
                  <a:srgbClr val="002060"/>
                </a:solidFill>
              </a:rPr>
              <a:t>Reading:</a:t>
            </a:r>
          </a:p>
        </p:txBody>
      </p:sp>
    </p:spTree>
    <p:extLst>
      <p:ext uri="{BB962C8B-B14F-4D97-AF65-F5344CB8AC3E}">
        <p14:creationId xmlns:p14="http://schemas.microsoft.com/office/powerpoint/2010/main" val="408489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54E4-2DD5-B220-1AB7-8D906306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9371206" cy="1320800"/>
          </a:xfrm>
        </p:spPr>
        <p:txBody>
          <a:bodyPr/>
          <a:lstStyle/>
          <a:p>
            <a:r>
              <a:rPr lang="en-GB" sz="3200" dirty="0">
                <a:solidFill>
                  <a:srgbClr val="0070C0"/>
                </a:solidFill>
              </a:rPr>
              <a:t>Why did the novel appear as a form of literature?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E41BE-8A40-9279-9019-7A4F3641D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403" y="1740710"/>
            <a:ext cx="10086522" cy="2507203"/>
          </a:xfrm>
        </p:spPr>
        <p:txBody>
          <a:bodyPr/>
          <a:lstStyle/>
          <a:p>
            <a:r>
              <a:rPr lang="en-GB" sz="2400" dirty="0"/>
              <a:t>Lots has been written about this question, and about the cultural changes in England and northern Europe.</a:t>
            </a:r>
          </a:p>
          <a:p>
            <a:endParaRPr lang="en-GB" sz="1200" dirty="0"/>
          </a:p>
          <a:p>
            <a:r>
              <a:rPr lang="en-GB" sz="2400" dirty="0"/>
              <a:t>The Gutenberg printing press was invented, and                              in 1455 printed the first ‘Gutenberg Bibles.’</a:t>
            </a:r>
          </a:p>
        </p:txBody>
      </p:sp>
      <p:pic>
        <p:nvPicPr>
          <p:cNvPr id="1026" name="Picture 2" descr="Gutenberg Museum and the Printing Press - The Fog Watch - Germany">
            <a:extLst>
              <a:ext uri="{FF2B5EF4-FFF2-40B4-BE49-F238E27FC236}">
                <a16:creationId xmlns:a16="http://schemas.microsoft.com/office/drawing/2014/main" id="{93D72701-083D-7B92-CD0B-AF1A05ED3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463" y="2604259"/>
            <a:ext cx="3483293" cy="3115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See the source image">
            <a:extLst>
              <a:ext uri="{FF2B5EF4-FFF2-40B4-BE49-F238E27FC236}">
                <a16:creationId xmlns:a16="http://schemas.microsoft.com/office/drawing/2014/main" id="{D45D9402-96F3-EA46-5CCA-D11DA12580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030" y="3941254"/>
            <a:ext cx="3896438" cy="2507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316ABE-7F94-1F72-81D1-3AC98AD4D03B}"/>
              </a:ext>
            </a:extLst>
          </p:cNvPr>
          <p:cNvSpPr txBox="1">
            <a:spLocks/>
          </p:cNvSpPr>
          <p:nvPr/>
        </p:nvSpPr>
        <p:spPr bwMode="auto">
          <a:xfrm>
            <a:off x="4301120" y="4012071"/>
            <a:ext cx="4006302" cy="67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6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4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18" charset="2"/>
              <a:buChar char=""/>
              <a:defRPr sz="1200" kern="120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dirty="0"/>
              <a:t>When Martin Luther began the Protestant Reformation in the 16</a:t>
            </a:r>
            <a:r>
              <a:rPr lang="en-GB" sz="2400" baseline="30000" dirty="0"/>
              <a:t>th</a:t>
            </a:r>
            <a:r>
              <a:rPr lang="en-GB" sz="2400" dirty="0"/>
              <a:t> century, people began to have Bibles to read, translated into their own languages.</a:t>
            </a:r>
          </a:p>
        </p:txBody>
      </p:sp>
    </p:spTree>
    <p:extLst>
      <p:ext uri="{BB962C8B-B14F-4D97-AF65-F5344CB8AC3E}">
        <p14:creationId xmlns:p14="http://schemas.microsoft.com/office/powerpoint/2010/main" val="80219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D54E4-2DD5-B220-1AB7-8D9063065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9371206" cy="1320800"/>
          </a:xfrm>
        </p:spPr>
        <p:txBody>
          <a:bodyPr/>
          <a:lstStyle/>
          <a:p>
            <a:r>
              <a:rPr lang="en-GB" sz="3200" dirty="0">
                <a:solidFill>
                  <a:srgbClr val="0070C0"/>
                </a:solidFill>
              </a:rPr>
              <a:t>Why did the novel appear as a form of literature?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E41BE-8A40-9279-9019-7A4F3641D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402" y="1740710"/>
            <a:ext cx="9782589" cy="4874694"/>
          </a:xfrm>
        </p:spPr>
        <p:txBody>
          <a:bodyPr/>
          <a:lstStyle/>
          <a:p>
            <a:r>
              <a:rPr lang="en-GB" sz="2400" dirty="0"/>
              <a:t>Daniel Defoe – and John Bunyan – were Dissenters / Non-conformists, who went to independent churches.</a:t>
            </a:r>
          </a:p>
          <a:p>
            <a:endParaRPr lang="en-GB" sz="1100" dirty="0"/>
          </a:p>
          <a:p>
            <a:r>
              <a:rPr lang="en-GB" sz="2400" dirty="0"/>
              <a:t>Protestantism put the emphasis back onto personal faith in God (not via the Catholic Church). </a:t>
            </a:r>
          </a:p>
          <a:p>
            <a:endParaRPr lang="en-GB" sz="1100" dirty="0"/>
          </a:p>
          <a:p>
            <a:r>
              <a:rPr lang="en-GB" sz="2400" dirty="0"/>
              <a:t>It has been argued that this led to key changes in culture: freedom of inquiry, personal responsibility, and more – such as what early sociologist Max Weber called ‘The Protestant Work Ethic.’</a:t>
            </a:r>
          </a:p>
          <a:p>
            <a:endParaRPr lang="en-GB" sz="1100" dirty="0"/>
          </a:p>
          <a:p>
            <a:r>
              <a:rPr lang="en-GB" sz="2400" dirty="0"/>
              <a:t>The changes in faith, thought, and behaviour can be seen in literature.</a:t>
            </a:r>
          </a:p>
          <a:p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31679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23BEC-3848-9CCE-05A7-B5B99D66C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1810140"/>
            <a:ext cx="10472220" cy="4231886"/>
          </a:xfrm>
        </p:spPr>
        <p:txBody>
          <a:bodyPr/>
          <a:lstStyle/>
          <a:p>
            <a:r>
              <a:rPr lang="en-GB" sz="2800" i="1" dirty="0"/>
              <a:t>Excerpts from Chapter 14 and Chapter 19</a:t>
            </a:r>
          </a:p>
          <a:p>
            <a:endParaRPr lang="en-GB" sz="2400" dirty="0"/>
          </a:p>
          <a:p>
            <a:pPr lvl="1"/>
            <a:r>
              <a:rPr lang="en-GB" sz="2600" dirty="0"/>
              <a:t>How is the action described?</a:t>
            </a:r>
          </a:p>
          <a:p>
            <a:pPr marL="457200" lvl="1" indent="0">
              <a:buNone/>
            </a:pPr>
            <a:endParaRPr lang="en-GB" sz="1200" dirty="0"/>
          </a:p>
          <a:p>
            <a:pPr lvl="1"/>
            <a:r>
              <a:rPr lang="en-GB" sz="2600" dirty="0"/>
              <a:t>What views does Robinson Crusoe have about civilisation and culture?</a:t>
            </a:r>
          </a:p>
          <a:p>
            <a:pPr lvl="1"/>
            <a:endParaRPr lang="en-GB" sz="1200" dirty="0"/>
          </a:p>
          <a:p>
            <a:pPr lvl="1"/>
            <a:r>
              <a:rPr lang="en-GB" sz="2600" dirty="0"/>
              <a:t>How does the ending of the story connect to the themes we’ve seen throughout?</a:t>
            </a:r>
          </a:p>
          <a:p>
            <a:pPr marL="457200" lvl="1" indent="0">
              <a:buNone/>
            </a:pPr>
            <a:endParaRPr lang="en-GB" sz="26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81BBFA-C819-5312-E608-E119DD6A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8596312" cy="1320800"/>
          </a:xfrm>
        </p:spPr>
        <p:txBody>
          <a:bodyPr/>
          <a:lstStyle/>
          <a:p>
            <a:r>
              <a:rPr lang="en-GB" i="1" dirty="0">
                <a:solidFill>
                  <a:srgbClr val="002060"/>
                </a:solidFill>
              </a:rPr>
              <a:t>Robinson Crusoe </a:t>
            </a:r>
            <a:r>
              <a:rPr lang="en-GB" dirty="0">
                <a:solidFill>
                  <a:srgbClr val="002060"/>
                </a:solidFill>
              </a:rPr>
              <a:t>Reading:</a:t>
            </a:r>
          </a:p>
        </p:txBody>
      </p:sp>
    </p:spTree>
    <p:extLst>
      <p:ext uri="{BB962C8B-B14F-4D97-AF65-F5344CB8AC3E}">
        <p14:creationId xmlns:p14="http://schemas.microsoft.com/office/powerpoint/2010/main" val="451406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30E55-1E1C-56C3-B10E-3C0F7C10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609600"/>
            <a:ext cx="9249908" cy="1320800"/>
          </a:xfrm>
        </p:spPr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Writing Practice – academic or creative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6687-3925-585C-5078-093D17520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828800"/>
            <a:ext cx="10220292" cy="4730620"/>
          </a:xfrm>
        </p:spPr>
        <p:txBody>
          <a:bodyPr/>
          <a:lstStyle/>
          <a:p>
            <a:r>
              <a:rPr lang="en-GB" sz="2800" b="1" dirty="0"/>
              <a:t>What made </a:t>
            </a:r>
            <a:r>
              <a:rPr lang="en-GB" sz="2800" b="1" i="1" dirty="0"/>
              <a:t>Robinson Crusoe </a:t>
            </a:r>
            <a:r>
              <a:rPr lang="en-GB" sz="2800" b="1" dirty="0"/>
              <a:t>distinct as literature?</a:t>
            </a:r>
          </a:p>
          <a:p>
            <a:endParaRPr lang="en-GB" sz="1200" dirty="0"/>
          </a:p>
          <a:p>
            <a:pPr lvl="1"/>
            <a:r>
              <a:rPr lang="en-GB" sz="2600" dirty="0"/>
              <a:t>Try to answer with an academic essay style.</a:t>
            </a:r>
          </a:p>
          <a:p>
            <a:pPr marL="0" lvl="1"/>
            <a:endParaRPr lang="en-GB" sz="2600" dirty="0"/>
          </a:p>
          <a:p>
            <a:pPr marL="0" lvl="1"/>
            <a:r>
              <a:rPr lang="en-GB" sz="2800" b="1" dirty="0"/>
              <a:t>Or spend some more time doing creative writing:</a:t>
            </a:r>
          </a:p>
          <a:p>
            <a:pPr marL="171450" lvl="2" indent="0">
              <a:buNone/>
            </a:pPr>
            <a:r>
              <a:rPr lang="en-GB" sz="2400" dirty="0"/>
              <a:t>			- An ‘Eagle’ poem.</a:t>
            </a:r>
          </a:p>
          <a:p>
            <a:pPr marL="171450" lvl="2" indent="0">
              <a:buNone/>
            </a:pPr>
            <a:r>
              <a:rPr lang="en-GB" sz="2400" dirty="0"/>
              <a:t>			- A heroic/knightly poem, with alliteration, like in </a:t>
            </a:r>
            <a:r>
              <a:rPr lang="en-GB" sz="2400" i="1" dirty="0"/>
              <a:t>Beowulf</a:t>
            </a:r>
            <a:r>
              <a:rPr lang="en-GB" sz="2400" dirty="0"/>
              <a:t> or 			  </a:t>
            </a:r>
            <a:r>
              <a:rPr lang="en-GB" sz="2400" i="1" dirty="0"/>
              <a:t>Sir Gawain and the Green Knight.</a:t>
            </a:r>
          </a:p>
          <a:p>
            <a:pPr marL="171450" lvl="2" indent="0">
              <a:buNone/>
            </a:pPr>
            <a:r>
              <a:rPr lang="en-GB" sz="2400" i="1" dirty="0"/>
              <a:t>			- </a:t>
            </a:r>
            <a:r>
              <a:rPr lang="en-GB" sz="2400" dirty="0"/>
              <a:t>Some lines of Iambic pentameter (unstress-stress x5), like 			  Shakespeare used.</a:t>
            </a:r>
          </a:p>
        </p:txBody>
      </p:sp>
    </p:spTree>
    <p:extLst>
      <p:ext uri="{BB962C8B-B14F-4D97-AF65-F5344CB8AC3E}">
        <p14:creationId xmlns:p14="http://schemas.microsoft.com/office/powerpoint/2010/main" val="2275987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44015-6CBE-64E4-F95B-6F0034DD3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Homework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8577F-A220-D0FA-32D7-27F7C2CA6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862" y="2160588"/>
            <a:ext cx="9796173" cy="3881437"/>
          </a:xfrm>
        </p:spPr>
        <p:txBody>
          <a:bodyPr>
            <a:normAutofit/>
          </a:bodyPr>
          <a:lstStyle/>
          <a:p>
            <a:r>
              <a:rPr lang="en-GB" sz="3200" dirty="0"/>
              <a:t>Please read the excerpts from </a:t>
            </a:r>
            <a:r>
              <a:rPr lang="en-GB" sz="3200" i="1" dirty="0"/>
              <a:t>Pride and Prejudice, </a:t>
            </a:r>
            <a:r>
              <a:rPr lang="en-GB" sz="3200" dirty="0"/>
              <a:t>by Jane Austen, and also the poem </a:t>
            </a:r>
            <a:r>
              <a:rPr lang="en-GB" sz="3200" i="1" dirty="0"/>
              <a:t>Peter Grimes, </a:t>
            </a:r>
            <a:r>
              <a:rPr lang="en-GB" sz="3200" dirty="0"/>
              <a:t>by George Crabbe</a:t>
            </a:r>
            <a:r>
              <a:rPr lang="en-GB" sz="3200" i="1" dirty="0"/>
              <a:t>.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51483526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1368</Words>
  <Application>Microsoft Office PowerPoint</Application>
  <PresentationFormat>Widescreen</PresentationFormat>
  <Paragraphs>134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Trebuchet MS</vt:lpstr>
      <vt:lpstr>Wingdings 3</vt:lpstr>
      <vt:lpstr>Facet</vt:lpstr>
      <vt:lpstr>   Appreciation of English and American Literature</vt:lpstr>
      <vt:lpstr>What is ‘a novel?’</vt:lpstr>
      <vt:lpstr>Article Reading – Discussion</vt:lpstr>
      <vt:lpstr>Ancient ‘Novels’</vt:lpstr>
      <vt:lpstr>Ancient ‘Novels’</vt:lpstr>
      <vt:lpstr>The Chinese ‘Classic’ ‘Novels’</vt:lpstr>
      <vt:lpstr>Novel Length</vt:lpstr>
      <vt:lpstr>‘The Novel’ as a European and English form of literature</vt:lpstr>
      <vt:lpstr>The Ingenious Nobleman Sir Quixote of La Mancha</vt:lpstr>
      <vt:lpstr>The Pilgrim's Progress from This World, to That Which Is to Come</vt:lpstr>
      <vt:lpstr>The Pilgrim's Progress from This World, to That Which Is to Come</vt:lpstr>
      <vt:lpstr>Daniel Defoe (1660 -1731) </vt:lpstr>
      <vt:lpstr>PowerPoint Presentation</vt:lpstr>
      <vt:lpstr>Jonathan Swift (1667 – 1745) </vt:lpstr>
      <vt:lpstr>The Life and Opinions of Tristram Shandy, Gentleman – ‘Tristram Shandy’</vt:lpstr>
      <vt:lpstr>Different Ideas of What a Novel Is:</vt:lpstr>
      <vt:lpstr>Robinson Crusoe Reading:</vt:lpstr>
      <vt:lpstr>Robinson Crusoe Reading:</vt:lpstr>
      <vt:lpstr>Why did the novel appear as a form of literature?</vt:lpstr>
      <vt:lpstr>Why did the novel appear as a form of literature?</vt:lpstr>
      <vt:lpstr>Robinson Crusoe Reading:</vt:lpstr>
      <vt:lpstr>Writing Practice – academic or creative</vt:lpstr>
      <vt:lpstr>Homework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Dom Graham</dc:creator>
  <cp:lastModifiedBy>Dominic Graham</cp:lastModifiedBy>
  <cp:revision>58</cp:revision>
  <dcterms:created xsi:type="dcterms:W3CDTF">2018-01-31T06:14:43Z</dcterms:created>
  <dcterms:modified xsi:type="dcterms:W3CDTF">2025-10-19T13:01:05Z</dcterms:modified>
</cp:coreProperties>
</file>