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67" r:id="rId4"/>
    <p:sldId id="269" r:id="rId5"/>
    <p:sldId id="270" r:id="rId6"/>
    <p:sldId id="260" r:id="rId7"/>
    <p:sldId id="262" r:id="rId8"/>
    <p:sldId id="261" r:id="rId9"/>
    <p:sldId id="263" r:id="rId10"/>
    <p:sldId id="384" r:id="rId11"/>
    <p:sldId id="378" r:id="rId12"/>
    <p:sldId id="266" r:id="rId13"/>
    <p:sldId id="386" r:id="rId14"/>
    <p:sldId id="264" r:id="rId15"/>
    <p:sldId id="387" r:id="rId16"/>
    <p:sldId id="388" r:id="rId17"/>
    <p:sldId id="376" r:id="rId18"/>
    <p:sldId id="379" r:id="rId19"/>
    <p:sldId id="389" r:id="rId20"/>
    <p:sldId id="390" r:id="rId21"/>
    <p:sldId id="265" r:id="rId22"/>
    <p:sldId id="380" r:id="rId23"/>
    <p:sldId id="391" r:id="rId24"/>
    <p:sldId id="393" r:id="rId25"/>
    <p:sldId id="392" r:id="rId26"/>
    <p:sldId id="395" r:id="rId27"/>
    <p:sldId id="396"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1042" y="2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7E555C57-0B4F-4414-8BEA-B18B4161BB9D}" type="datetimeFigureOut">
              <a:rPr lang="en-GB" smtClean="0"/>
              <a:t>03/03/2025</a:t>
            </a:fld>
            <a:endParaRPr lang="en-GB"/>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GB"/>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0D16B7E5-BD0C-407E-A343-3013E570BF10}" type="slidenum">
              <a:rPr lang="en-GB" smtClean="0"/>
              <a:t>‹#›</a:t>
            </a:fld>
            <a:endParaRPr lang="en-GB"/>
          </a:p>
        </p:txBody>
      </p:sp>
    </p:spTree>
    <p:extLst>
      <p:ext uri="{BB962C8B-B14F-4D97-AF65-F5344CB8AC3E}">
        <p14:creationId xmlns:p14="http://schemas.microsoft.com/office/powerpoint/2010/main" val="2821332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555C57-0B4F-4414-8BEA-B18B4161BB9D}" type="datetimeFigureOut">
              <a:rPr lang="en-GB" smtClean="0"/>
              <a:t>03/03/2025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D16B7E5-BD0C-407E-A343-3013E570BF10}" type="slidenum">
              <a:rPr lang="en-GB" smtClean="0"/>
              <a:t>‹#›</a:t>
            </a:fld>
            <a:endParaRPr lang="en-GB"/>
          </a:p>
        </p:txBody>
      </p:sp>
    </p:spTree>
    <p:extLst>
      <p:ext uri="{BB962C8B-B14F-4D97-AF65-F5344CB8AC3E}">
        <p14:creationId xmlns:p14="http://schemas.microsoft.com/office/powerpoint/2010/main" val="2269349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555C57-0B4F-4414-8BEA-B18B4161BB9D}" type="datetimeFigureOut">
              <a:rPr lang="en-GB" smtClean="0"/>
              <a:t>03/03/2025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D16B7E5-BD0C-407E-A343-3013E570BF10}" type="slidenum">
              <a:rPr lang="en-GB" smtClean="0"/>
              <a:t>‹#›</a:t>
            </a:fld>
            <a:endParaRPr lang="en-GB"/>
          </a:p>
        </p:txBody>
      </p:sp>
    </p:spTree>
    <p:extLst>
      <p:ext uri="{BB962C8B-B14F-4D97-AF65-F5344CB8AC3E}">
        <p14:creationId xmlns:p14="http://schemas.microsoft.com/office/powerpoint/2010/main" val="1204677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555C57-0B4F-4414-8BEA-B18B4161BB9D}" type="datetimeFigureOut">
              <a:rPr lang="en-GB" smtClean="0"/>
              <a:t>03/03/2025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D16B7E5-BD0C-407E-A343-3013E570BF10}" type="slidenum">
              <a:rPr lang="en-GB" smtClean="0"/>
              <a:t>‹#›</a:t>
            </a:fld>
            <a:endParaRPr lang="en-GB"/>
          </a:p>
        </p:txBody>
      </p:sp>
    </p:spTree>
    <p:extLst>
      <p:ext uri="{BB962C8B-B14F-4D97-AF65-F5344CB8AC3E}">
        <p14:creationId xmlns:p14="http://schemas.microsoft.com/office/powerpoint/2010/main" val="3183136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E555C57-0B4F-4414-8BEA-B18B4161BB9D}" type="datetimeFigureOut">
              <a:rPr lang="en-GB" smtClean="0"/>
              <a:t>03/03/2025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D16B7E5-BD0C-407E-A343-3013E570BF10}" type="slidenum">
              <a:rPr lang="en-GB" smtClean="0"/>
              <a:t>‹#›</a:t>
            </a:fld>
            <a:endParaRPr lang="en-GB"/>
          </a:p>
        </p:txBody>
      </p:sp>
    </p:spTree>
    <p:extLst>
      <p:ext uri="{BB962C8B-B14F-4D97-AF65-F5344CB8AC3E}">
        <p14:creationId xmlns:p14="http://schemas.microsoft.com/office/powerpoint/2010/main" val="3208887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555C57-0B4F-4414-8BEA-B18B4161BB9D}" type="datetimeFigureOut">
              <a:rPr lang="en-GB" smtClean="0"/>
              <a:t>03/03/2025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D16B7E5-BD0C-407E-A343-3013E570BF10}" type="slidenum">
              <a:rPr lang="en-GB" smtClean="0"/>
              <a:t>‹#›</a:t>
            </a:fld>
            <a:endParaRPr lang="en-GB"/>
          </a:p>
        </p:txBody>
      </p:sp>
    </p:spTree>
    <p:extLst>
      <p:ext uri="{BB962C8B-B14F-4D97-AF65-F5344CB8AC3E}">
        <p14:creationId xmlns:p14="http://schemas.microsoft.com/office/powerpoint/2010/main" val="2367622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555C57-0B4F-4414-8BEA-B18B4161BB9D}" type="datetimeFigureOut">
              <a:rPr lang="en-GB" smtClean="0"/>
              <a:t>03/03/2025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D16B7E5-BD0C-407E-A343-3013E570BF10}" type="slidenum">
              <a:rPr lang="en-GB" smtClean="0"/>
              <a:t>‹#›</a:t>
            </a:fld>
            <a:endParaRPr lang="en-GB"/>
          </a:p>
        </p:txBody>
      </p:sp>
    </p:spTree>
    <p:extLst>
      <p:ext uri="{BB962C8B-B14F-4D97-AF65-F5344CB8AC3E}">
        <p14:creationId xmlns:p14="http://schemas.microsoft.com/office/powerpoint/2010/main" val="2021306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7E555C57-0B4F-4414-8BEA-B18B4161BB9D}" type="datetimeFigureOut">
              <a:rPr lang="en-GB" smtClean="0"/>
              <a:t>03/03/2025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0D16B7E5-BD0C-407E-A343-3013E570BF10}" type="slidenum">
              <a:rPr lang="en-GB" smtClean="0"/>
              <a:t>‹#›</a:t>
            </a:fld>
            <a:endParaRPr lang="en-GB"/>
          </a:p>
        </p:txBody>
      </p:sp>
    </p:spTree>
    <p:extLst>
      <p:ext uri="{BB962C8B-B14F-4D97-AF65-F5344CB8AC3E}">
        <p14:creationId xmlns:p14="http://schemas.microsoft.com/office/powerpoint/2010/main" val="2534354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7E555C57-0B4F-4414-8BEA-B18B4161BB9D}" type="datetimeFigureOut">
              <a:rPr lang="en-GB" smtClean="0"/>
              <a:t>03/03/2025</a:t>
            </a:fld>
            <a:endParaRPr lang="en-GB"/>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GB"/>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0D16B7E5-BD0C-407E-A343-3013E570BF10}" type="slidenum">
              <a:rPr lang="en-GB" smtClean="0"/>
              <a:t>‹#›</a:t>
            </a:fld>
            <a:endParaRPr lang="en-GB"/>
          </a:p>
        </p:txBody>
      </p:sp>
    </p:spTree>
    <p:extLst>
      <p:ext uri="{BB962C8B-B14F-4D97-AF65-F5344CB8AC3E}">
        <p14:creationId xmlns:p14="http://schemas.microsoft.com/office/powerpoint/2010/main" val="493747822"/>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555C57-0B4F-4414-8BEA-B18B4161BB9D}" type="datetimeFigureOut">
              <a:rPr lang="en-GB" smtClean="0"/>
              <a:t>03/03/2025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D16B7E5-BD0C-407E-A343-3013E570BF10}" type="slidenum">
              <a:rPr lang="en-GB" smtClean="0"/>
              <a:t>‹#›</a:t>
            </a:fld>
            <a:endParaRPr lang="en-GB"/>
          </a:p>
        </p:txBody>
      </p:sp>
    </p:spTree>
    <p:extLst>
      <p:ext uri="{BB962C8B-B14F-4D97-AF65-F5344CB8AC3E}">
        <p14:creationId xmlns:p14="http://schemas.microsoft.com/office/powerpoint/2010/main" val="4225072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555C57-0B4F-4414-8BEA-B18B4161BB9D}" type="datetimeFigureOut">
              <a:rPr lang="en-GB" smtClean="0"/>
              <a:t>03/03/2025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D16B7E5-BD0C-407E-A343-3013E570BF10}" type="slidenum">
              <a:rPr lang="en-GB" smtClean="0"/>
              <a:t>‹#›</a:t>
            </a:fld>
            <a:endParaRPr lang="en-GB"/>
          </a:p>
        </p:txBody>
      </p:sp>
    </p:spTree>
    <p:extLst>
      <p:ext uri="{BB962C8B-B14F-4D97-AF65-F5344CB8AC3E}">
        <p14:creationId xmlns:p14="http://schemas.microsoft.com/office/powerpoint/2010/main" val="178368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7E555C57-0B4F-4414-8BEA-B18B4161BB9D}" type="datetimeFigureOut">
              <a:rPr lang="en-GB" smtClean="0"/>
              <a:t>03/03/2025</a:t>
            </a:fld>
            <a:endParaRPr lang="en-GB"/>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GB"/>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0D16B7E5-BD0C-407E-A343-3013E570BF10}" type="slidenum">
              <a:rPr lang="en-GB" smtClean="0"/>
              <a:t>‹#›</a:t>
            </a:fld>
            <a:endParaRPr lang="en-GB"/>
          </a:p>
        </p:txBody>
      </p:sp>
    </p:spTree>
    <p:extLst>
      <p:ext uri="{BB962C8B-B14F-4D97-AF65-F5344CB8AC3E}">
        <p14:creationId xmlns:p14="http://schemas.microsoft.com/office/powerpoint/2010/main" val="13182523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B5DD6-95E5-BD4E-990B-E3A322767BFB}"/>
              </a:ext>
            </a:extLst>
          </p:cNvPr>
          <p:cNvSpPr>
            <a:spLocks noGrp="1"/>
          </p:cNvSpPr>
          <p:nvPr>
            <p:ph type="ctrTitle"/>
          </p:nvPr>
        </p:nvSpPr>
        <p:spPr/>
        <p:txBody>
          <a:bodyPr>
            <a:normAutofit/>
          </a:bodyPr>
          <a:lstStyle/>
          <a:p>
            <a:r>
              <a:rPr lang="en-GB" sz="6600" i="1" dirty="0"/>
              <a:t>Sir Gawain and the Green Knight</a:t>
            </a:r>
            <a:br>
              <a:rPr lang="en-GB" sz="6600" dirty="0"/>
            </a:br>
            <a:r>
              <a:rPr lang="en-GB" sz="6600" i="1" dirty="0"/>
              <a:t>Ivanhoe – </a:t>
            </a:r>
            <a:r>
              <a:rPr lang="en-GB" sz="6600" dirty="0"/>
              <a:t>Walter Scott</a:t>
            </a:r>
          </a:p>
        </p:txBody>
      </p:sp>
      <p:sp>
        <p:nvSpPr>
          <p:cNvPr id="3" name="Subtitle 2">
            <a:extLst>
              <a:ext uri="{FF2B5EF4-FFF2-40B4-BE49-F238E27FC236}">
                <a16:creationId xmlns:a16="http://schemas.microsoft.com/office/drawing/2014/main" id="{7AEDE468-C223-7496-2FE9-ABE19D126D32}"/>
              </a:ext>
            </a:extLst>
          </p:cNvPr>
          <p:cNvSpPr>
            <a:spLocks noGrp="1"/>
          </p:cNvSpPr>
          <p:nvPr>
            <p:ph type="subTitle" idx="1"/>
          </p:nvPr>
        </p:nvSpPr>
        <p:spPr>
          <a:xfrm>
            <a:off x="667512" y="4206876"/>
            <a:ext cx="10718292" cy="1645920"/>
          </a:xfrm>
        </p:spPr>
        <p:txBody>
          <a:bodyPr/>
          <a:lstStyle/>
          <a:p>
            <a:endParaRPr lang="en-GB" dirty="0"/>
          </a:p>
          <a:p>
            <a:r>
              <a:rPr lang="en-GB" sz="3400" dirty="0"/>
              <a:t>Appreciation of English and American Literature – Week 3</a:t>
            </a:r>
          </a:p>
        </p:txBody>
      </p:sp>
    </p:spTree>
    <p:extLst>
      <p:ext uri="{BB962C8B-B14F-4D97-AF65-F5344CB8AC3E}">
        <p14:creationId xmlns:p14="http://schemas.microsoft.com/office/powerpoint/2010/main" val="840655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0C16B-39B0-6D61-350F-3A0697EE57B5}"/>
              </a:ext>
            </a:extLst>
          </p:cNvPr>
          <p:cNvSpPr>
            <a:spLocks noGrp="1"/>
          </p:cNvSpPr>
          <p:nvPr>
            <p:ph type="title"/>
          </p:nvPr>
        </p:nvSpPr>
        <p:spPr/>
        <p:txBody>
          <a:bodyPr/>
          <a:lstStyle/>
          <a:p>
            <a:r>
              <a:rPr lang="en-GB" dirty="0"/>
              <a:t>Old English and Middle English</a:t>
            </a:r>
          </a:p>
        </p:txBody>
      </p:sp>
      <p:sp>
        <p:nvSpPr>
          <p:cNvPr id="3" name="Content Placeholder 2">
            <a:extLst>
              <a:ext uri="{FF2B5EF4-FFF2-40B4-BE49-F238E27FC236}">
                <a16:creationId xmlns:a16="http://schemas.microsoft.com/office/drawing/2014/main" id="{3B372CEA-89C1-D5FE-9F2B-B80B2A746424}"/>
              </a:ext>
            </a:extLst>
          </p:cNvPr>
          <p:cNvSpPr>
            <a:spLocks noGrp="1"/>
          </p:cNvSpPr>
          <p:nvPr>
            <p:ph idx="1"/>
          </p:nvPr>
        </p:nvSpPr>
        <p:spPr>
          <a:xfrm>
            <a:off x="838200" y="2506662"/>
            <a:ext cx="10515600" cy="4351338"/>
          </a:xfrm>
        </p:spPr>
        <p:txBody>
          <a:bodyPr>
            <a:normAutofit/>
          </a:bodyPr>
          <a:lstStyle/>
          <a:p>
            <a:r>
              <a:rPr lang="en-GB" sz="3200" dirty="0"/>
              <a:t>Tell your classmates something interesting about Old English and/or Middle English.</a:t>
            </a:r>
          </a:p>
          <a:p>
            <a:endParaRPr lang="en-GB" sz="3200" dirty="0"/>
          </a:p>
          <a:p>
            <a:r>
              <a:rPr lang="en-GB" sz="3200" dirty="0"/>
              <a:t>Tell them something interesting about </a:t>
            </a:r>
            <a:r>
              <a:rPr lang="en-GB" sz="3200" i="1" dirty="0"/>
              <a:t>Beowulf</a:t>
            </a:r>
            <a:r>
              <a:rPr lang="en-GB" sz="3200" dirty="0"/>
              <a:t> or </a:t>
            </a:r>
            <a:r>
              <a:rPr lang="en-GB" sz="3200" i="1" dirty="0"/>
              <a:t>The Canterbury Tales.</a:t>
            </a:r>
          </a:p>
          <a:p>
            <a:endParaRPr lang="en-GB" sz="3200" i="1" dirty="0"/>
          </a:p>
        </p:txBody>
      </p:sp>
    </p:spTree>
    <p:extLst>
      <p:ext uri="{BB962C8B-B14F-4D97-AF65-F5344CB8AC3E}">
        <p14:creationId xmlns:p14="http://schemas.microsoft.com/office/powerpoint/2010/main" val="1726181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C8440-2D3F-1740-83AC-B1ACC4A81956}"/>
              </a:ext>
            </a:extLst>
          </p:cNvPr>
          <p:cNvSpPr>
            <a:spLocks noGrp="1"/>
          </p:cNvSpPr>
          <p:nvPr>
            <p:ph type="title"/>
          </p:nvPr>
        </p:nvSpPr>
        <p:spPr/>
        <p:txBody>
          <a:bodyPr>
            <a:normAutofit/>
          </a:bodyPr>
          <a:lstStyle/>
          <a:p>
            <a:r>
              <a:rPr lang="en-GB" sz="4400" dirty="0"/>
              <a:t>When you read, where does meaning come from?</a:t>
            </a:r>
            <a:br>
              <a:rPr lang="en-GB" sz="4400" dirty="0"/>
            </a:br>
            <a:r>
              <a:rPr lang="en-GB" sz="4000" i="1" dirty="0"/>
              <a:t>(semiotics/semantics – the study of meaning)</a:t>
            </a:r>
            <a:endParaRPr lang="en-GB" sz="4400" i="1" dirty="0"/>
          </a:p>
        </p:txBody>
      </p:sp>
      <p:sp>
        <p:nvSpPr>
          <p:cNvPr id="3" name="Content Placeholder 2">
            <a:extLst>
              <a:ext uri="{FF2B5EF4-FFF2-40B4-BE49-F238E27FC236}">
                <a16:creationId xmlns:a16="http://schemas.microsoft.com/office/drawing/2014/main" id="{3B466316-91FA-D4F5-5CCA-2C1F6F36CC4A}"/>
              </a:ext>
            </a:extLst>
          </p:cNvPr>
          <p:cNvSpPr>
            <a:spLocks noGrp="1"/>
          </p:cNvSpPr>
          <p:nvPr>
            <p:ph idx="1"/>
          </p:nvPr>
        </p:nvSpPr>
        <p:spPr>
          <a:xfrm>
            <a:off x="719137" y="2183951"/>
            <a:ext cx="10753725" cy="4174516"/>
          </a:xfrm>
        </p:spPr>
        <p:txBody>
          <a:bodyPr>
            <a:normAutofit/>
          </a:bodyPr>
          <a:lstStyle/>
          <a:p>
            <a:r>
              <a:rPr lang="en-GB" sz="2800" dirty="0"/>
              <a:t>Is it from the words of the text? </a:t>
            </a:r>
          </a:p>
          <a:p>
            <a:endParaRPr lang="en-GB" sz="1200" dirty="0"/>
          </a:p>
          <a:p>
            <a:r>
              <a:rPr lang="en-GB" sz="2800" dirty="0"/>
              <a:t>Does the writer communicate his/her meaning through the text?</a:t>
            </a:r>
          </a:p>
          <a:p>
            <a:endParaRPr lang="en-GB" sz="1400" dirty="0"/>
          </a:p>
          <a:p>
            <a:r>
              <a:rPr lang="en-GB" sz="2800" dirty="0"/>
              <a:t>To what extent do you, the reader, give meaning to those words?</a:t>
            </a:r>
          </a:p>
          <a:p>
            <a:endParaRPr lang="en-GB" sz="1200" dirty="0"/>
          </a:p>
          <a:p>
            <a:pPr>
              <a:buFont typeface="Wingdings" panose="05000000000000000000" pitchFamily="2" charset="2"/>
              <a:buChar char="§"/>
            </a:pPr>
            <a:r>
              <a:rPr lang="en-GB" dirty="0"/>
              <a:t> </a:t>
            </a:r>
            <a:r>
              <a:rPr lang="en-GB" sz="2800" dirty="0"/>
              <a:t>We’ll also think about how our view of history is shaped by the text –   </a:t>
            </a:r>
          </a:p>
          <a:p>
            <a:pPr marL="0" indent="0">
              <a:buNone/>
            </a:pPr>
            <a:r>
              <a:rPr lang="en-GB" sz="2800" dirty="0"/>
              <a:t>   how the events in the poem/prose are </a:t>
            </a:r>
            <a:r>
              <a:rPr lang="en-GB" sz="2800" b="1" i="1" dirty="0"/>
              <a:t>historicised:</a:t>
            </a:r>
            <a:r>
              <a:rPr lang="en-GB" sz="2800" b="1" dirty="0"/>
              <a:t> </a:t>
            </a:r>
          </a:p>
          <a:p>
            <a:pPr marL="0" indent="0">
              <a:buNone/>
            </a:pPr>
            <a:r>
              <a:rPr lang="en-GB" sz="2800" dirty="0"/>
              <a:t>		(when something is made into history in a certain way).</a:t>
            </a:r>
          </a:p>
          <a:p>
            <a:endParaRPr lang="en-GB" dirty="0"/>
          </a:p>
        </p:txBody>
      </p:sp>
    </p:spTree>
    <p:extLst>
      <p:ext uri="{BB962C8B-B14F-4D97-AF65-F5344CB8AC3E}">
        <p14:creationId xmlns:p14="http://schemas.microsoft.com/office/powerpoint/2010/main" val="1313082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3">
                                            <p:txEl>
                                              <p:pRg st="7" end="7"/>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FE328-2E35-E75A-BD52-DCC4BFB235B6}"/>
              </a:ext>
            </a:extLst>
          </p:cNvPr>
          <p:cNvSpPr>
            <a:spLocks noGrp="1"/>
          </p:cNvSpPr>
          <p:nvPr>
            <p:ph type="title"/>
          </p:nvPr>
        </p:nvSpPr>
        <p:spPr>
          <a:xfrm>
            <a:off x="657224" y="499533"/>
            <a:ext cx="6705601" cy="1658198"/>
          </a:xfrm>
        </p:spPr>
        <p:txBody>
          <a:bodyPr/>
          <a:lstStyle/>
          <a:p>
            <a:r>
              <a:rPr lang="en-GB" dirty="0"/>
              <a:t>Sir Gawain and the Green Knight</a:t>
            </a:r>
          </a:p>
        </p:txBody>
      </p:sp>
      <p:sp>
        <p:nvSpPr>
          <p:cNvPr id="3" name="Content Placeholder 2">
            <a:extLst>
              <a:ext uri="{FF2B5EF4-FFF2-40B4-BE49-F238E27FC236}">
                <a16:creationId xmlns:a16="http://schemas.microsoft.com/office/drawing/2014/main" id="{A53F69E9-59B0-213B-F885-BB31581EE806}"/>
              </a:ext>
            </a:extLst>
          </p:cNvPr>
          <p:cNvSpPr>
            <a:spLocks noGrp="1"/>
          </p:cNvSpPr>
          <p:nvPr>
            <p:ph idx="1"/>
          </p:nvPr>
        </p:nvSpPr>
        <p:spPr>
          <a:xfrm>
            <a:off x="331804" y="2263607"/>
            <a:ext cx="7515622" cy="722163"/>
          </a:xfrm>
        </p:spPr>
        <p:txBody>
          <a:bodyPr>
            <a:normAutofit/>
          </a:bodyPr>
          <a:lstStyle/>
          <a:p>
            <a:r>
              <a:rPr lang="en-GB" sz="2800" b="1" dirty="0"/>
              <a:t>Briefly summarise the story with your classmates.</a:t>
            </a:r>
          </a:p>
          <a:p>
            <a:endParaRPr lang="en-GB" sz="2800" b="1" dirty="0"/>
          </a:p>
          <a:p>
            <a:pPr lvl="6"/>
            <a:endParaRPr lang="en-GB" sz="2200" dirty="0"/>
          </a:p>
        </p:txBody>
      </p:sp>
      <p:pic>
        <p:nvPicPr>
          <p:cNvPr id="1026" name="Picture 2" descr="Sir Gawain and the Green Knight: With Pearl and Sir Orfeo by J. R. R ...">
            <a:extLst>
              <a:ext uri="{FF2B5EF4-FFF2-40B4-BE49-F238E27FC236}">
                <a16:creationId xmlns:a16="http://schemas.microsoft.com/office/drawing/2014/main" id="{4092D96D-9B9F-2DB2-F11D-197469E066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627" y="2985770"/>
            <a:ext cx="2255838"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ir Gawain and the Green Knight – a Bewitching Masterpiece of Mediaeval ...">
            <a:extLst>
              <a:ext uri="{FF2B5EF4-FFF2-40B4-BE49-F238E27FC236}">
                <a16:creationId xmlns:a16="http://schemas.microsoft.com/office/drawing/2014/main" id="{C4927A1E-E96D-50AE-34D0-7C73C3098B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2166" y="1034717"/>
            <a:ext cx="4246754" cy="5380053"/>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B47CCB2E-89BA-9060-C51D-D26D96F59BE3}"/>
              </a:ext>
            </a:extLst>
          </p:cNvPr>
          <p:cNvSpPr txBox="1">
            <a:spLocks/>
          </p:cNvSpPr>
          <p:nvPr/>
        </p:nvSpPr>
        <p:spPr>
          <a:xfrm>
            <a:off x="2743199" y="3091645"/>
            <a:ext cx="4917233" cy="3561081"/>
          </a:xfrm>
          <a:prstGeom prst="rect">
            <a:avLst/>
          </a:prstGeom>
        </p:spPr>
        <p:txBody>
          <a:bodyPr vert="horz" lIns="91440" tIns="45720" rIns="91440" bIns="45720" rtlCol="0">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a:buFont typeface="Wingdings" panose="05000000000000000000" pitchFamily="2" charset="2"/>
              <a:buChar char="§"/>
            </a:pPr>
            <a:r>
              <a:rPr lang="en-GB" sz="2200" dirty="0"/>
              <a:t>Where does the story begin?</a:t>
            </a:r>
          </a:p>
          <a:p>
            <a:pPr>
              <a:buFont typeface="Wingdings" panose="05000000000000000000" pitchFamily="2" charset="2"/>
              <a:buChar char="§"/>
            </a:pPr>
            <a:r>
              <a:rPr lang="en-GB" sz="2200" dirty="0"/>
              <a:t>Why does Gawain have to go on a perilous quest?</a:t>
            </a:r>
          </a:p>
          <a:p>
            <a:pPr>
              <a:buFont typeface="Wingdings" panose="05000000000000000000" pitchFamily="2" charset="2"/>
              <a:buChar char="§"/>
            </a:pPr>
            <a:r>
              <a:rPr lang="en-GB" sz="2200" dirty="0"/>
              <a:t>Where does he go?</a:t>
            </a:r>
          </a:p>
          <a:p>
            <a:pPr>
              <a:buFont typeface="Wingdings" panose="05000000000000000000" pitchFamily="2" charset="2"/>
              <a:buChar char="§"/>
            </a:pPr>
            <a:r>
              <a:rPr lang="en-GB" sz="2200" dirty="0"/>
              <a:t>What happens to him on the way?</a:t>
            </a:r>
          </a:p>
          <a:p>
            <a:pPr>
              <a:buFont typeface="Wingdings" panose="05000000000000000000" pitchFamily="2" charset="2"/>
              <a:buChar char="§"/>
            </a:pPr>
            <a:r>
              <a:rPr lang="en-GB" sz="2200" dirty="0"/>
              <a:t>What happens at the end with the Green Knight?</a:t>
            </a:r>
          </a:p>
          <a:p>
            <a:pPr>
              <a:buFont typeface="Wingdings" panose="05000000000000000000" pitchFamily="2" charset="2"/>
              <a:buChar char="§"/>
            </a:pPr>
            <a:r>
              <a:rPr lang="en-GB" sz="2200" dirty="0"/>
              <a:t>What does Gawain learn from his quest?</a:t>
            </a:r>
          </a:p>
        </p:txBody>
      </p:sp>
    </p:spTree>
    <p:extLst>
      <p:ext uri="{BB962C8B-B14F-4D97-AF65-F5344CB8AC3E}">
        <p14:creationId xmlns:p14="http://schemas.microsoft.com/office/powerpoint/2010/main" val="1188633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B7CA7A-9ACC-311A-366C-BC22532D5CE1}"/>
              </a:ext>
            </a:extLst>
          </p:cNvPr>
          <p:cNvSpPr>
            <a:spLocks noGrp="1"/>
          </p:cNvSpPr>
          <p:nvPr>
            <p:ph idx="1"/>
          </p:nvPr>
        </p:nvSpPr>
        <p:spPr>
          <a:xfrm>
            <a:off x="6238113" y="624206"/>
            <a:ext cx="5410581" cy="3290569"/>
          </a:xfrm>
        </p:spPr>
        <p:txBody>
          <a:bodyPr>
            <a:normAutofit lnSpcReduction="10000"/>
          </a:bodyPr>
          <a:lstStyle/>
          <a:p>
            <a:r>
              <a:rPr lang="en-GB" sz="2800" dirty="0"/>
              <a:t>It is a chivalric romance from around the 14</a:t>
            </a:r>
            <a:r>
              <a:rPr lang="en-GB" sz="2800" baseline="30000" dirty="0"/>
              <a:t>th</a:t>
            </a:r>
            <a:r>
              <a:rPr lang="en-GB" sz="2800" dirty="0"/>
              <a:t> Century, written by an unknown author, in Middle English (but using many words from a northern dialect).</a:t>
            </a:r>
          </a:p>
          <a:p>
            <a:endParaRPr lang="en-GB" sz="1200" dirty="0"/>
          </a:p>
          <a:p>
            <a:r>
              <a:rPr lang="en-GB" sz="2800" dirty="0"/>
              <a:t>It is part of the ‘Pearl Manuscript’ of which there is only one copy surviving.</a:t>
            </a:r>
          </a:p>
        </p:txBody>
      </p:sp>
      <p:pic>
        <p:nvPicPr>
          <p:cNvPr id="4" name="Picture 6" descr="A captivating jewel for the Rare Books Collection: The Pearl Manuscript ...">
            <a:extLst>
              <a:ext uri="{FF2B5EF4-FFF2-40B4-BE49-F238E27FC236}">
                <a16:creationId xmlns:a16="http://schemas.microsoft.com/office/drawing/2014/main" id="{B2F156EB-A981-4EE7-1C5E-76DD494572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306" y="2317747"/>
            <a:ext cx="5401458" cy="4051094"/>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F0842C00-A182-CD65-9F54-8FB70DB137CA}"/>
              </a:ext>
            </a:extLst>
          </p:cNvPr>
          <p:cNvSpPr>
            <a:spLocks noGrp="1"/>
          </p:cNvSpPr>
          <p:nvPr>
            <p:ph type="title"/>
          </p:nvPr>
        </p:nvSpPr>
        <p:spPr>
          <a:xfrm>
            <a:off x="657224" y="499533"/>
            <a:ext cx="6705601" cy="1658198"/>
          </a:xfrm>
        </p:spPr>
        <p:txBody>
          <a:bodyPr/>
          <a:lstStyle/>
          <a:p>
            <a:r>
              <a:rPr lang="en-GB" dirty="0"/>
              <a:t>Sir Gawain and the Green Knight</a:t>
            </a:r>
          </a:p>
        </p:txBody>
      </p:sp>
      <p:pic>
        <p:nvPicPr>
          <p:cNvPr id="2050" name="Picture 2" descr="New Light on the Sir Gawain and the Green Knight Manuscript ...">
            <a:extLst>
              <a:ext uri="{FF2B5EF4-FFF2-40B4-BE49-F238E27FC236}">
                <a16:creationId xmlns:a16="http://schemas.microsoft.com/office/drawing/2014/main" id="{B1B43082-305D-91CC-3266-5A4C5B9A10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5531" y="3914775"/>
            <a:ext cx="4514850" cy="3009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6434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26445-371B-11C5-3391-BDC2C4AEF00B}"/>
              </a:ext>
            </a:extLst>
          </p:cNvPr>
          <p:cNvSpPr>
            <a:spLocks noGrp="1"/>
          </p:cNvSpPr>
          <p:nvPr>
            <p:ph type="title"/>
          </p:nvPr>
        </p:nvSpPr>
        <p:spPr/>
        <p:txBody>
          <a:bodyPr>
            <a:normAutofit/>
          </a:bodyPr>
          <a:lstStyle/>
          <a:p>
            <a:r>
              <a:rPr lang="en-GB" sz="4000" i="1" dirty="0">
                <a:solidFill>
                  <a:srgbClr val="111111"/>
                </a:solidFill>
                <a:effectLst/>
                <a:latin typeface="Microsoft YaHei" panose="020B0503020204020204" pitchFamily="34" charset="-122"/>
                <a:ea typeface="Microsoft YaHei" panose="020B0503020204020204" pitchFamily="34" charset="-122"/>
              </a:rPr>
              <a:t>Sir </a:t>
            </a:r>
            <a:r>
              <a:rPr lang="en-GB" sz="4000" i="1" dirty="0" err="1">
                <a:solidFill>
                  <a:srgbClr val="111111"/>
                </a:solidFill>
                <a:effectLst/>
                <a:latin typeface="Microsoft YaHei" panose="020B0503020204020204" pitchFamily="34" charset="-122"/>
                <a:ea typeface="Microsoft YaHei" panose="020B0503020204020204" pitchFamily="34" charset="-122"/>
              </a:rPr>
              <a:t>Gawayn</a:t>
            </a:r>
            <a:r>
              <a:rPr lang="en-GB" sz="4000" i="1" dirty="0">
                <a:solidFill>
                  <a:srgbClr val="111111"/>
                </a:solidFill>
                <a:effectLst/>
                <a:latin typeface="Microsoft YaHei" panose="020B0503020204020204" pitchFamily="34" charset="-122"/>
                <a:ea typeface="Microsoft YaHei" panose="020B0503020204020204" pitchFamily="34" charset="-122"/>
              </a:rPr>
              <a:t> and </a:t>
            </a:r>
            <a:r>
              <a:rPr lang="en-GB" sz="4000" i="1" dirty="0" err="1">
                <a:solidFill>
                  <a:srgbClr val="111111"/>
                </a:solidFill>
                <a:effectLst/>
                <a:latin typeface="Microsoft YaHei" panose="020B0503020204020204" pitchFamily="34" charset="-122"/>
                <a:ea typeface="Microsoft YaHei" panose="020B0503020204020204" pitchFamily="34" charset="-122"/>
              </a:rPr>
              <a:t>þe</a:t>
            </a:r>
            <a:r>
              <a:rPr lang="en-GB" sz="4000" i="1" dirty="0">
                <a:solidFill>
                  <a:srgbClr val="111111"/>
                </a:solidFill>
                <a:effectLst/>
                <a:latin typeface="Microsoft YaHei" panose="020B0503020204020204" pitchFamily="34" charset="-122"/>
                <a:ea typeface="Microsoft YaHei" panose="020B0503020204020204" pitchFamily="34" charset="-122"/>
              </a:rPr>
              <a:t> </a:t>
            </a:r>
            <a:r>
              <a:rPr lang="en-GB" sz="4000" i="1" dirty="0" err="1">
                <a:solidFill>
                  <a:srgbClr val="111111"/>
                </a:solidFill>
                <a:effectLst/>
                <a:latin typeface="Microsoft YaHei" panose="020B0503020204020204" pitchFamily="34" charset="-122"/>
                <a:ea typeface="Microsoft YaHei" panose="020B0503020204020204" pitchFamily="34" charset="-122"/>
              </a:rPr>
              <a:t>Grene</a:t>
            </a:r>
            <a:r>
              <a:rPr lang="en-GB" sz="4000" i="1" dirty="0">
                <a:solidFill>
                  <a:srgbClr val="111111"/>
                </a:solidFill>
                <a:effectLst/>
                <a:latin typeface="Microsoft YaHei" panose="020B0503020204020204" pitchFamily="34" charset="-122"/>
                <a:ea typeface="Microsoft YaHei" panose="020B0503020204020204" pitchFamily="34" charset="-122"/>
              </a:rPr>
              <a:t> </a:t>
            </a:r>
            <a:r>
              <a:rPr lang="en-GB" sz="4000" i="1" dirty="0" err="1">
                <a:solidFill>
                  <a:srgbClr val="111111"/>
                </a:solidFill>
                <a:effectLst/>
                <a:latin typeface="Microsoft YaHei" panose="020B0503020204020204" pitchFamily="34" charset="-122"/>
                <a:ea typeface="Microsoft YaHei" panose="020B0503020204020204" pitchFamily="34" charset="-122"/>
              </a:rPr>
              <a:t>Knyȝt</a:t>
            </a:r>
            <a:endParaRPr lang="en-GB" sz="4000" i="1" dirty="0"/>
          </a:p>
        </p:txBody>
      </p:sp>
      <p:sp>
        <p:nvSpPr>
          <p:cNvPr id="3" name="Content Placeholder 2">
            <a:extLst>
              <a:ext uri="{FF2B5EF4-FFF2-40B4-BE49-F238E27FC236}">
                <a16:creationId xmlns:a16="http://schemas.microsoft.com/office/drawing/2014/main" id="{C85F43FB-9C46-2037-86BB-D41071A15E4C}"/>
              </a:ext>
            </a:extLst>
          </p:cNvPr>
          <p:cNvSpPr>
            <a:spLocks noGrp="1"/>
          </p:cNvSpPr>
          <p:nvPr>
            <p:ph idx="1"/>
          </p:nvPr>
        </p:nvSpPr>
        <p:spPr>
          <a:xfrm>
            <a:off x="838200" y="1690688"/>
            <a:ext cx="10515600" cy="4935889"/>
          </a:xfrm>
        </p:spPr>
        <p:txBody>
          <a:bodyPr>
            <a:normAutofit fontScale="70000" lnSpcReduction="20000"/>
          </a:bodyPr>
          <a:lstStyle/>
          <a:p>
            <a:pPr marL="0" indent="0" algn="l">
              <a:buNone/>
            </a:pPr>
            <a:r>
              <a:rPr lang="en-GB" sz="3400" b="1" i="0" dirty="0">
                <a:solidFill>
                  <a:srgbClr val="000000"/>
                </a:solidFill>
                <a:effectLst/>
                <a:latin typeface="Times New Roman" panose="02020603050405020304" pitchFamily="18" charset="0"/>
              </a:rPr>
              <a:t>Passus I</a:t>
            </a:r>
          </a:p>
          <a:p>
            <a:pPr marL="0" indent="0" algn="l">
              <a:buNone/>
            </a:pPr>
            <a:r>
              <a:rPr lang="en-GB" sz="3400" b="0" i="0" dirty="0">
                <a:solidFill>
                  <a:srgbClr val="000000"/>
                </a:solidFill>
                <a:effectLst/>
                <a:latin typeface="Times New Roman" panose="02020603050405020304" pitchFamily="18" charset="0"/>
              </a:rPr>
              <a:t>SIÞEN </a:t>
            </a:r>
            <a:r>
              <a:rPr lang="en-GB" sz="3400" b="0" i="0" dirty="0" err="1">
                <a:solidFill>
                  <a:srgbClr val="000000"/>
                </a:solidFill>
                <a:effectLst/>
                <a:latin typeface="Times New Roman" panose="02020603050405020304" pitchFamily="18" charset="0"/>
              </a:rPr>
              <a:t>þe</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sege</a:t>
            </a:r>
            <a:r>
              <a:rPr lang="en-GB" sz="3400" b="0" i="0" dirty="0">
                <a:solidFill>
                  <a:srgbClr val="000000"/>
                </a:solidFill>
                <a:effectLst/>
                <a:latin typeface="Times New Roman" panose="02020603050405020304" pitchFamily="18" charset="0"/>
              </a:rPr>
              <a:t> and </a:t>
            </a:r>
            <a:r>
              <a:rPr lang="en-GB" sz="3400" b="0" i="0" dirty="0" err="1">
                <a:solidFill>
                  <a:srgbClr val="000000"/>
                </a:solidFill>
                <a:effectLst/>
                <a:latin typeface="Times New Roman" panose="02020603050405020304" pitchFamily="18" charset="0"/>
              </a:rPr>
              <a:t>þe</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assaut</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watz</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sesed</a:t>
            </a:r>
            <a:r>
              <a:rPr lang="en-GB" sz="3400" b="0" i="0" dirty="0">
                <a:solidFill>
                  <a:srgbClr val="000000"/>
                </a:solidFill>
                <a:effectLst/>
                <a:latin typeface="Times New Roman" panose="02020603050405020304" pitchFamily="18" charset="0"/>
              </a:rPr>
              <a:t> at Troye,</a:t>
            </a:r>
          </a:p>
          <a:p>
            <a:pPr marL="0" indent="0" algn="l">
              <a:buNone/>
            </a:pPr>
            <a:r>
              <a:rPr lang="en-GB" sz="3400" b="0" i="0" dirty="0" err="1">
                <a:solidFill>
                  <a:srgbClr val="000000"/>
                </a:solidFill>
                <a:effectLst/>
                <a:latin typeface="Times New Roman" panose="02020603050405020304" pitchFamily="18" charset="0"/>
              </a:rPr>
              <a:t>Þe</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borȝ</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brittened</a:t>
            </a:r>
            <a:r>
              <a:rPr lang="en-GB" sz="3400" b="0" i="0" dirty="0">
                <a:solidFill>
                  <a:srgbClr val="000000"/>
                </a:solidFill>
                <a:effectLst/>
                <a:latin typeface="Times New Roman" panose="02020603050405020304" pitchFamily="18" charset="0"/>
              </a:rPr>
              <a:t> and brent to </a:t>
            </a:r>
            <a:r>
              <a:rPr lang="en-GB" sz="3400" b="0" i="0" dirty="0" err="1">
                <a:solidFill>
                  <a:srgbClr val="000000"/>
                </a:solidFill>
                <a:effectLst/>
                <a:latin typeface="Times New Roman" panose="02020603050405020304" pitchFamily="18" charset="0"/>
              </a:rPr>
              <a:t>brondeȝ</a:t>
            </a:r>
            <a:r>
              <a:rPr lang="en-GB" sz="3400" b="0" i="0" dirty="0">
                <a:solidFill>
                  <a:srgbClr val="000000"/>
                </a:solidFill>
                <a:effectLst/>
                <a:latin typeface="Times New Roman" panose="02020603050405020304" pitchFamily="18" charset="0"/>
              </a:rPr>
              <a:t> and </a:t>
            </a:r>
            <a:r>
              <a:rPr lang="en-GB" sz="3400" b="0" i="0" dirty="0" err="1">
                <a:solidFill>
                  <a:srgbClr val="000000"/>
                </a:solidFill>
                <a:effectLst/>
                <a:latin typeface="Times New Roman" panose="02020603050405020304" pitchFamily="18" charset="0"/>
              </a:rPr>
              <a:t>askez</a:t>
            </a:r>
            <a:r>
              <a:rPr lang="en-GB" sz="3400" b="0" i="0" dirty="0">
                <a:solidFill>
                  <a:srgbClr val="000000"/>
                </a:solidFill>
                <a:effectLst/>
                <a:latin typeface="Times New Roman" panose="02020603050405020304" pitchFamily="18" charset="0"/>
              </a:rPr>
              <a:t>,</a:t>
            </a:r>
          </a:p>
          <a:p>
            <a:pPr marL="0" indent="0" algn="l">
              <a:buNone/>
            </a:pPr>
            <a:r>
              <a:rPr lang="en-GB" sz="3400" b="0" i="0" dirty="0" err="1">
                <a:solidFill>
                  <a:srgbClr val="000000"/>
                </a:solidFill>
                <a:effectLst/>
                <a:latin typeface="Times New Roman" panose="02020603050405020304" pitchFamily="18" charset="0"/>
              </a:rPr>
              <a:t>Þe</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tulk</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þat</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þe</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trammes</a:t>
            </a:r>
            <a:r>
              <a:rPr lang="en-GB" sz="3400" b="0" i="0" dirty="0">
                <a:solidFill>
                  <a:srgbClr val="000000"/>
                </a:solidFill>
                <a:effectLst/>
                <a:latin typeface="Times New Roman" panose="02020603050405020304" pitchFamily="18" charset="0"/>
              </a:rPr>
              <a:t> of </a:t>
            </a:r>
            <a:r>
              <a:rPr lang="en-GB" sz="3400" b="0" i="0" dirty="0" err="1">
                <a:solidFill>
                  <a:srgbClr val="000000"/>
                </a:solidFill>
                <a:effectLst/>
                <a:latin typeface="Times New Roman" panose="02020603050405020304" pitchFamily="18" charset="0"/>
              </a:rPr>
              <a:t>tresoun</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þer</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wroȝt</a:t>
            </a:r>
            <a:endParaRPr lang="en-GB" sz="3400" b="0" i="0" dirty="0">
              <a:solidFill>
                <a:srgbClr val="000000"/>
              </a:solidFill>
              <a:effectLst/>
              <a:latin typeface="Times New Roman" panose="02020603050405020304" pitchFamily="18" charset="0"/>
            </a:endParaRPr>
          </a:p>
          <a:p>
            <a:pPr marL="0" indent="0" algn="l">
              <a:buNone/>
            </a:pPr>
            <a:r>
              <a:rPr lang="en-GB" sz="3400" b="0" i="0" dirty="0" err="1">
                <a:solidFill>
                  <a:srgbClr val="000000"/>
                </a:solidFill>
                <a:effectLst/>
                <a:latin typeface="Times New Roman" panose="02020603050405020304" pitchFamily="18" charset="0"/>
              </a:rPr>
              <a:t>Watz</a:t>
            </a:r>
            <a:r>
              <a:rPr lang="en-GB" sz="3400" b="0" i="0" dirty="0">
                <a:solidFill>
                  <a:srgbClr val="000000"/>
                </a:solidFill>
                <a:effectLst/>
                <a:latin typeface="Times New Roman" panose="02020603050405020304" pitchFamily="18" charset="0"/>
              </a:rPr>
              <a:t> tried for his </a:t>
            </a:r>
            <a:r>
              <a:rPr lang="en-GB" sz="3400" b="0" i="0" dirty="0" err="1">
                <a:solidFill>
                  <a:srgbClr val="000000"/>
                </a:solidFill>
                <a:effectLst/>
                <a:latin typeface="Times New Roman" panose="02020603050405020304" pitchFamily="18" charset="0"/>
              </a:rPr>
              <a:t>tricherie</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þe</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trewest</a:t>
            </a:r>
            <a:r>
              <a:rPr lang="en-GB" sz="3400" b="0" i="0" dirty="0">
                <a:solidFill>
                  <a:srgbClr val="000000"/>
                </a:solidFill>
                <a:effectLst/>
                <a:latin typeface="Times New Roman" panose="02020603050405020304" pitchFamily="18" charset="0"/>
              </a:rPr>
              <a:t> on </a:t>
            </a:r>
            <a:r>
              <a:rPr lang="en-GB" sz="3400" b="0" i="0" dirty="0" err="1">
                <a:solidFill>
                  <a:srgbClr val="000000"/>
                </a:solidFill>
                <a:effectLst/>
                <a:latin typeface="Times New Roman" panose="02020603050405020304" pitchFamily="18" charset="0"/>
              </a:rPr>
              <a:t>erthe</a:t>
            </a:r>
            <a:r>
              <a:rPr lang="en-GB" sz="3400" b="0" i="0" dirty="0">
                <a:solidFill>
                  <a:srgbClr val="000000"/>
                </a:solidFill>
                <a:effectLst/>
                <a:latin typeface="Times New Roman" panose="02020603050405020304" pitchFamily="18" charset="0"/>
              </a:rPr>
              <a:t>:</a:t>
            </a:r>
          </a:p>
          <a:p>
            <a:pPr marL="0" indent="0" algn="l">
              <a:buNone/>
            </a:pPr>
            <a:r>
              <a:rPr lang="en-GB" sz="3400" b="0" i="0" dirty="0">
                <a:solidFill>
                  <a:srgbClr val="000000"/>
                </a:solidFill>
                <a:effectLst/>
                <a:latin typeface="Times New Roman" panose="02020603050405020304" pitchFamily="18" charset="0"/>
              </a:rPr>
              <a:t>Hit </a:t>
            </a:r>
            <a:r>
              <a:rPr lang="en-GB" sz="3400" b="0" i="0" dirty="0" err="1">
                <a:solidFill>
                  <a:srgbClr val="000000"/>
                </a:solidFill>
                <a:effectLst/>
                <a:latin typeface="Times New Roman" panose="02020603050405020304" pitchFamily="18" charset="0"/>
              </a:rPr>
              <a:t>watz</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Ennias</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þe</a:t>
            </a:r>
            <a:r>
              <a:rPr lang="en-GB" sz="3400" b="0" i="0" dirty="0">
                <a:solidFill>
                  <a:srgbClr val="000000"/>
                </a:solidFill>
                <a:effectLst/>
                <a:latin typeface="Times New Roman" panose="02020603050405020304" pitchFamily="18" charset="0"/>
              </a:rPr>
              <a:t> athel, and his </a:t>
            </a:r>
            <a:r>
              <a:rPr lang="en-GB" sz="3400" b="0" i="0" dirty="0" err="1">
                <a:solidFill>
                  <a:srgbClr val="000000"/>
                </a:solidFill>
                <a:effectLst/>
                <a:latin typeface="Times New Roman" panose="02020603050405020304" pitchFamily="18" charset="0"/>
              </a:rPr>
              <a:t>highe</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kynde</a:t>
            </a:r>
            <a:r>
              <a:rPr lang="en-GB" sz="3400" b="0" i="0" dirty="0">
                <a:solidFill>
                  <a:srgbClr val="000000"/>
                </a:solidFill>
                <a:effectLst/>
                <a:latin typeface="Times New Roman" panose="02020603050405020304" pitchFamily="18" charset="0"/>
              </a:rPr>
              <a:t>,</a:t>
            </a:r>
          </a:p>
          <a:p>
            <a:pPr marL="0" indent="0" algn="l">
              <a:buNone/>
            </a:pPr>
            <a:r>
              <a:rPr lang="en-GB" sz="3400" b="0" i="0" dirty="0" err="1">
                <a:solidFill>
                  <a:srgbClr val="000000"/>
                </a:solidFill>
                <a:effectLst/>
                <a:latin typeface="Times New Roman" panose="02020603050405020304" pitchFamily="18" charset="0"/>
              </a:rPr>
              <a:t>Þat</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siþen</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depreced</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prouinces</a:t>
            </a:r>
            <a:r>
              <a:rPr lang="en-GB" sz="3400" b="0" i="0" dirty="0">
                <a:solidFill>
                  <a:srgbClr val="000000"/>
                </a:solidFill>
                <a:effectLst/>
                <a:latin typeface="Times New Roman" panose="02020603050405020304" pitchFamily="18" charset="0"/>
              </a:rPr>
              <a:t>, and </a:t>
            </a:r>
            <a:r>
              <a:rPr lang="en-GB" sz="3400" b="0" i="0" dirty="0" err="1">
                <a:solidFill>
                  <a:srgbClr val="000000"/>
                </a:solidFill>
                <a:effectLst/>
                <a:latin typeface="Times New Roman" panose="02020603050405020304" pitchFamily="18" charset="0"/>
              </a:rPr>
              <a:t>patrounes</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bicome</a:t>
            </a:r>
            <a:endParaRPr lang="en-GB" sz="3400" b="0" i="0" dirty="0">
              <a:solidFill>
                <a:srgbClr val="000000"/>
              </a:solidFill>
              <a:effectLst/>
              <a:latin typeface="Times New Roman" panose="02020603050405020304" pitchFamily="18" charset="0"/>
            </a:endParaRPr>
          </a:p>
          <a:p>
            <a:pPr marL="0" indent="0" algn="l">
              <a:buNone/>
            </a:pPr>
            <a:r>
              <a:rPr lang="en-GB" sz="3400" b="0" i="0" dirty="0" err="1">
                <a:solidFill>
                  <a:srgbClr val="000000"/>
                </a:solidFill>
                <a:effectLst/>
                <a:latin typeface="Times New Roman" panose="02020603050405020304" pitchFamily="18" charset="0"/>
              </a:rPr>
              <a:t>Welneȝe</a:t>
            </a:r>
            <a:r>
              <a:rPr lang="en-GB" sz="3400" b="0" i="0" dirty="0">
                <a:solidFill>
                  <a:srgbClr val="000000"/>
                </a:solidFill>
                <a:effectLst/>
                <a:latin typeface="Times New Roman" panose="02020603050405020304" pitchFamily="18" charset="0"/>
              </a:rPr>
              <a:t> of al </a:t>
            </a:r>
            <a:r>
              <a:rPr lang="en-GB" sz="3400" b="0" i="0" dirty="0" err="1">
                <a:solidFill>
                  <a:srgbClr val="000000"/>
                </a:solidFill>
                <a:effectLst/>
                <a:latin typeface="Times New Roman" panose="02020603050405020304" pitchFamily="18" charset="0"/>
              </a:rPr>
              <a:t>þe</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wele</a:t>
            </a:r>
            <a:r>
              <a:rPr lang="en-GB" sz="3400" b="0" i="0" dirty="0">
                <a:solidFill>
                  <a:srgbClr val="000000"/>
                </a:solidFill>
                <a:effectLst/>
                <a:latin typeface="Times New Roman" panose="02020603050405020304" pitchFamily="18" charset="0"/>
              </a:rPr>
              <a:t> in </a:t>
            </a:r>
            <a:r>
              <a:rPr lang="en-GB" sz="3400" b="0" i="0" dirty="0" err="1">
                <a:solidFill>
                  <a:srgbClr val="000000"/>
                </a:solidFill>
                <a:effectLst/>
                <a:latin typeface="Times New Roman" panose="02020603050405020304" pitchFamily="18" charset="0"/>
              </a:rPr>
              <a:t>þe</a:t>
            </a:r>
            <a:r>
              <a:rPr lang="en-GB" sz="3400" b="0" i="0" dirty="0">
                <a:solidFill>
                  <a:srgbClr val="000000"/>
                </a:solidFill>
                <a:effectLst/>
                <a:latin typeface="Times New Roman" panose="02020603050405020304" pitchFamily="18" charset="0"/>
              </a:rPr>
              <a:t> west </a:t>
            </a:r>
            <a:r>
              <a:rPr lang="en-GB" sz="3400" b="0" i="0" dirty="0" err="1">
                <a:solidFill>
                  <a:srgbClr val="000000"/>
                </a:solidFill>
                <a:effectLst/>
                <a:latin typeface="Times New Roman" panose="02020603050405020304" pitchFamily="18" charset="0"/>
              </a:rPr>
              <a:t>iles</a:t>
            </a:r>
            <a:r>
              <a:rPr lang="en-GB" sz="3400" b="0" i="0" dirty="0">
                <a:solidFill>
                  <a:srgbClr val="000000"/>
                </a:solidFill>
                <a:effectLst/>
                <a:latin typeface="Times New Roman" panose="02020603050405020304" pitchFamily="18" charset="0"/>
              </a:rPr>
              <a:t>.</a:t>
            </a:r>
          </a:p>
          <a:p>
            <a:pPr marL="0" indent="0" algn="l">
              <a:buNone/>
            </a:pPr>
            <a:r>
              <a:rPr lang="en-GB" sz="3400" b="0" i="0" dirty="0" err="1">
                <a:solidFill>
                  <a:srgbClr val="000000"/>
                </a:solidFill>
                <a:effectLst/>
                <a:latin typeface="Times New Roman" panose="02020603050405020304" pitchFamily="18" charset="0"/>
              </a:rPr>
              <a:t>Fro</a:t>
            </a:r>
            <a:r>
              <a:rPr lang="en-GB" sz="3400" b="0" i="0" dirty="0">
                <a:solidFill>
                  <a:srgbClr val="000000"/>
                </a:solidFill>
                <a:effectLst/>
                <a:latin typeface="Times New Roman" panose="02020603050405020304" pitchFamily="18" charset="0"/>
              </a:rPr>
              <a:t> riche Romulus to Rome </a:t>
            </a:r>
            <a:r>
              <a:rPr lang="en-GB" sz="3400" b="0" i="0" dirty="0" err="1">
                <a:solidFill>
                  <a:srgbClr val="000000"/>
                </a:solidFill>
                <a:effectLst/>
                <a:latin typeface="Times New Roman" panose="02020603050405020304" pitchFamily="18" charset="0"/>
              </a:rPr>
              <a:t>ricchis</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hym</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swyþe</a:t>
            </a:r>
            <a:r>
              <a:rPr lang="en-GB" sz="3400" b="0" i="0" dirty="0">
                <a:solidFill>
                  <a:srgbClr val="000000"/>
                </a:solidFill>
                <a:effectLst/>
                <a:latin typeface="Times New Roman" panose="02020603050405020304" pitchFamily="18" charset="0"/>
              </a:rPr>
              <a:t>,</a:t>
            </a:r>
          </a:p>
          <a:p>
            <a:pPr marL="0" indent="0" algn="l">
              <a:buNone/>
            </a:pPr>
            <a:r>
              <a:rPr lang="en-GB" sz="3400" b="0" i="0" dirty="0">
                <a:solidFill>
                  <a:srgbClr val="000000"/>
                </a:solidFill>
                <a:effectLst/>
                <a:latin typeface="Times New Roman" panose="02020603050405020304" pitchFamily="18" charset="0"/>
              </a:rPr>
              <a:t>With </a:t>
            </a:r>
            <a:r>
              <a:rPr lang="en-GB" sz="3400" b="0" i="0" dirty="0" err="1">
                <a:solidFill>
                  <a:srgbClr val="000000"/>
                </a:solidFill>
                <a:effectLst/>
                <a:latin typeface="Times New Roman" panose="02020603050405020304" pitchFamily="18" charset="0"/>
              </a:rPr>
              <a:t>gret</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bobbaunce</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þat</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burȝe</a:t>
            </a:r>
            <a:r>
              <a:rPr lang="en-GB" sz="3400" b="0" i="0" dirty="0">
                <a:solidFill>
                  <a:srgbClr val="000000"/>
                </a:solidFill>
                <a:effectLst/>
                <a:latin typeface="Times New Roman" panose="02020603050405020304" pitchFamily="18" charset="0"/>
              </a:rPr>
              <a:t> he </a:t>
            </a:r>
            <a:r>
              <a:rPr lang="en-GB" sz="3400" b="0" i="0" dirty="0" err="1">
                <a:solidFill>
                  <a:srgbClr val="000000"/>
                </a:solidFill>
                <a:effectLst/>
                <a:latin typeface="Times New Roman" panose="02020603050405020304" pitchFamily="18" charset="0"/>
              </a:rPr>
              <a:t>biges</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vpon</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fyrst</a:t>
            </a:r>
            <a:r>
              <a:rPr lang="en-GB" sz="3400" b="0" i="0" dirty="0">
                <a:solidFill>
                  <a:srgbClr val="000000"/>
                </a:solidFill>
                <a:effectLst/>
                <a:latin typeface="Times New Roman" panose="02020603050405020304" pitchFamily="18" charset="0"/>
              </a:rPr>
              <a:t>,</a:t>
            </a:r>
          </a:p>
          <a:p>
            <a:pPr marL="0" indent="0" algn="l">
              <a:buNone/>
            </a:pPr>
            <a:r>
              <a:rPr lang="en-GB" sz="3400" b="0" i="0" dirty="0">
                <a:solidFill>
                  <a:srgbClr val="000000"/>
                </a:solidFill>
                <a:effectLst/>
                <a:latin typeface="Times New Roman" panose="02020603050405020304" pitchFamily="18" charset="0"/>
              </a:rPr>
              <a:t>And </a:t>
            </a:r>
            <a:r>
              <a:rPr lang="en-GB" sz="3400" b="0" i="0" dirty="0" err="1">
                <a:solidFill>
                  <a:srgbClr val="000000"/>
                </a:solidFill>
                <a:effectLst/>
                <a:latin typeface="Times New Roman" panose="02020603050405020304" pitchFamily="18" charset="0"/>
              </a:rPr>
              <a:t>neuenes</a:t>
            </a:r>
            <a:r>
              <a:rPr lang="en-GB" sz="3400" b="0" i="0" dirty="0">
                <a:solidFill>
                  <a:srgbClr val="000000"/>
                </a:solidFill>
                <a:effectLst/>
                <a:latin typeface="Times New Roman" panose="02020603050405020304" pitchFamily="18" charset="0"/>
              </a:rPr>
              <a:t> hit his aune </a:t>
            </a:r>
            <a:r>
              <a:rPr lang="en-GB" sz="3400" b="0" i="0" dirty="0" err="1">
                <a:solidFill>
                  <a:srgbClr val="000000"/>
                </a:solidFill>
                <a:effectLst/>
                <a:latin typeface="Times New Roman" panose="02020603050405020304" pitchFamily="18" charset="0"/>
              </a:rPr>
              <a:t>nome</a:t>
            </a:r>
            <a:r>
              <a:rPr lang="en-GB" sz="3400" b="0" i="0" dirty="0">
                <a:solidFill>
                  <a:srgbClr val="000000"/>
                </a:solidFill>
                <a:effectLst/>
                <a:latin typeface="Times New Roman" panose="02020603050405020304" pitchFamily="18" charset="0"/>
              </a:rPr>
              <a:t>, as hit now hat;</a:t>
            </a:r>
          </a:p>
          <a:p>
            <a:pPr marL="0" indent="0" algn="l">
              <a:buNone/>
            </a:pPr>
            <a:r>
              <a:rPr lang="en-GB" sz="3400" b="0" i="0" dirty="0" err="1">
                <a:solidFill>
                  <a:srgbClr val="000000"/>
                </a:solidFill>
                <a:effectLst/>
                <a:latin typeface="Times New Roman" panose="02020603050405020304" pitchFamily="18" charset="0"/>
              </a:rPr>
              <a:t>Tirius</a:t>
            </a:r>
            <a:r>
              <a:rPr lang="en-GB" sz="3400" b="0" i="0" dirty="0">
                <a:solidFill>
                  <a:srgbClr val="000000"/>
                </a:solidFill>
                <a:effectLst/>
                <a:latin typeface="Times New Roman" panose="02020603050405020304" pitchFamily="18" charset="0"/>
              </a:rPr>
              <a:t> to </a:t>
            </a:r>
            <a:r>
              <a:rPr lang="en-GB" sz="3400" b="0" i="0" dirty="0" err="1">
                <a:solidFill>
                  <a:srgbClr val="000000"/>
                </a:solidFill>
                <a:effectLst/>
                <a:latin typeface="Times New Roman" panose="02020603050405020304" pitchFamily="18" charset="0"/>
              </a:rPr>
              <a:t>Tuskan</a:t>
            </a:r>
            <a:r>
              <a:rPr lang="en-GB" sz="3400" b="0" i="0" dirty="0">
                <a:solidFill>
                  <a:srgbClr val="000000"/>
                </a:solidFill>
                <a:effectLst/>
                <a:latin typeface="Times New Roman" panose="02020603050405020304" pitchFamily="18" charset="0"/>
              </a:rPr>
              <a:t> and </a:t>
            </a:r>
            <a:r>
              <a:rPr lang="en-GB" sz="3400" b="0" i="0" dirty="0" err="1">
                <a:solidFill>
                  <a:srgbClr val="000000"/>
                </a:solidFill>
                <a:effectLst/>
                <a:latin typeface="Times New Roman" panose="02020603050405020304" pitchFamily="18" charset="0"/>
              </a:rPr>
              <a:t>teldes</a:t>
            </a:r>
            <a:r>
              <a:rPr lang="en-GB" sz="3400" b="0" i="0" dirty="0">
                <a:solidFill>
                  <a:srgbClr val="000000"/>
                </a:solidFill>
                <a:effectLst/>
                <a:latin typeface="Times New Roman" panose="02020603050405020304" pitchFamily="18" charset="0"/>
              </a:rPr>
              <a:t> </a:t>
            </a:r>
            <a:r>
              <a:rPr lang="en-GB" sz="3400" b="0" i="0" dirty="0" err="1">
                <a:solidFill>
                  <a:srgbClr val="000000"/>
                </a:solidFill>
                <a:effectLst/>
                <a:latin typeface="Times New Roman" panose="02020603050405020304" pitchFamily="18" charset="0"/>
              </a:rPr>
              <a:t>bigynnes</a:t>
            </a:r>
            <a:r>
              <a:rPr lang="en-GB" sz="3400" b="0" i="0" dirty="0">
                <a:solidFill>
                  <a:srgbClr val="000000"/>
                </a:solidFill>
                <a:effectLst/>
                <a:latin typeface="Times New Roman" panose="02020603050405020304" pitchFamily="18" charset="0"/>
              </a:rPr>
              <a:t>,</a:t>
            </a:r>
          </a:p>
          <a:p>
            <a:endParaRPr lang="en-GB" dirty="0"/>
          </a:p>
        </p:txBody>
      </p:sp>
      <p:sp>
        <p:nvSpPr>
          <p:cNvPr id="4" name="TextBox 3">
            <a:extLst>
              <a:ext uri="{FF2B5EF4-FFF2-40B4-BE49-F238E27FC236}">
                <a16:creationId xmlns:a16="http://schemas.microsoft.com/office/drawing/2014/main" id="{5C03CCBE-F917-7585-440E-8B6D0DDFBDE7}"/>
              </a:ext>
            </a:extLst>
          </p:cNvPr>
          <p:cNvSpPr txBox="1"/>
          <p:nvPr/>
        </p:nvSpPr>
        <p:spPr>
          <a:xfrm>
            <a:off x="8737599" y="1564871"/>
            <a:ext cx="2754489" cy="1938992"/>
          </a:xfrm>
          <a:prstGeom prst="rect">
            <a:avLst/>
          </a:prstGeom>
          <a:noFill/>
        </p:spPr>
        <p:txBody>
          <a:bodyPr wrap="square" rtlCol="0">
            <a:spAutoFit/>
          </a:bodyPr>
          <a:lstStyle/>
          <a:p>
            <a:r>
              <a:rPr lang="en-GB" sz="2400" dirty="0">
                <a:solidFill>
                  <a:srgbClr val="0070C0"/>
                </a:solidFill>
              </a:rPr>
              <a:t>First of all, can you see any stylistic techniques: any rhythms, or poetic metre?</a:t>
            </a:r>
          </a:p>
        </p:txBody>
      </p:sp>
      <p:sp>
        <p:nvSpPr>
          <p:cNvPr id="5" name="TextBox 4">
            <a:extLst>
              <a:ext uri="{FF2B5EF4-FFF2-40B4-BE49-F238E27FC236}">
                <a16:creationId xmlns:a16="http://schemas.microsoft.com/office/drawing/2014/main" id="{36FFECA0-DF26-B48A-999F-935E3EE66F24}"/>
              </a:ext>
            </a:extLst>
          </p:cNvPr>
          <p:cNvSpPr txBox="1"/>
          <p:nvPr/>
        </p:nvSpPr>
        <p:spPr>
          <a:xfrm>
            <a:off x="8737599" y="3726392"/>
            <a:ext cx="2754489" cy="2677656"/>
          </a:xfrm>
          <a:prstGeom prst="rect">
            <a:avLst/>
          </a:prstGeom>
          <a:noFill/>
        </p:spPr>
        <p:txBody>
          <a:bodyPr wrap="square" rtlCol="0">
            <a:spAutoFit/>
          </a:bodyPr>
          <a:lstStyle/>
          <a:p>
            <a:r>
              <a:rPr lang="en-GB" sz="2400" dirty="0">
                <a:solidFill>
                  <a:srgbClr val="0070C0"/>
                </a:solidFill>
              </a:rPr>
              <a:t>It has an </a:t>
            </a:r>
            <a:r>
              <a:rPr lang="en-GB" sz="2400" b="1" dirty="0">
                <a:solidFill>
                  <a:srgbClr val="0070C0"/>
                </a:solidFill>
              </a:rPr>
              <a:t>‘alliterative metre’</a:t>
            </a:r>
            <a:r>
              <a:rPr lang="en-GB" sz="2400" dirty="0">
                <a:solidFill>
                  <a:srgbClr val="0070C0"/>
                </a:solidFill>
              </a:rPr>
              <a:t>. Many lines have ‘two pairs of stressed syllables’, using repeating sounds that build a rhythm. </a:t>
            </a:r>
          </a:p>
        </p:txBody>
      </p:sp>
    </p:spTree>
    <p:extLst>
      <p:ext uri="{BB962C8B-B14F-4D97-AF65-F5344CB8AC3E}">
        <p14:creationId xmlns:p14="http://schemas.microsoft.com/office/powerpoint/2010/main" val="4139767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5F43FB-9C46-2037-86BB-D41071A15E4C}"/>
              </a:ext>
            </a:extLst>
          </p:cNvPr>
          <p:cNvSpPr>
            <a:spLocks noGrp="1"/>
          </p:cNvSpPr>
          <p:nvPr>
            <p:ph idx="1"/>
          </p:nvPr>
        </p:nvSpPr>
        <p:spPr>
          <a:xfrm>
            <a:off x="838200" y="474133"/>
            <a:ext cx="10515600" cy="6141156"/>
          </a:xfrm>
        </p:spPr>
        <p:txBody>
          <a:bodyPr>
            <a:normAutofit/>
          </a:bodyPr>
          <a:lstStyle/>
          <a:p>
            <a:pPr marL="0" indent="0" algn="l">
              <a:buNone/>
            </a:pPr>
            <a:r>
              <a:rPr lang="en-GB" sz="2600" b="0" i="0" dirty="0" err="1">
                <a:solidFill>
                  <a:srgbClr val="000000"/>
                </a:solidFill>
                <a:effectLst/>
                <a:latin typeface="Times New Roman" panose="02020603050405020304" pitchFamily="18" charset="0"/>
              </a:rPr>
              <a:t>Langaberde</a:t>
            </a:r>
            <a:r>
              <a:rPr lang="en-GB" sz="2600" b="0" i="0" dirty="0">
                <a:solidFill>
                  <a:srgbClr val="000000"/>
                </a:solidFill>
                <a:effectLst/>
                <a:latin typeface="Times New Roman" panose="02020603050405020304" pitchFamily="18" charset="0"/>
              </a:rPr>
              <a:t> in </a:t>
            </a:r>
            <a:r>
              <a:rPr lang="en-GB" sz="2600" b="0" i="0" dirty="0" err="1">
                <a:solidFill>
                  <a:srgbClr val="000000"/>
                </a:solidFill>
                <a:effectLst/>
                <a:latin typeface="Times New Roman" panose="02020603050405020304" pitchFamily="18" charset="0"/>
              </a:rPr>
              <a:t>Lumbardie</a:t>
            </a:r>
            <a:r>
              <a:rPr lang="en-GB" sz="2600" b="0" i="0" dirty="0">
                <a:solidFill>
                  <a:srgbClr val="000000"/>
                </a:solidFill>
                <a:effectLst/>
                <a:latin typeface="Times New Roman" panose="02020603050405020304" pitchFamily="18" charset="0"/>
              </a:rPr>
              <a:t> </a:t>
            </a:r>
            <a:r>
              <a:rPr lang="en-GB" sz="2600" b="0" i="0" dirty="0" err="1">
                <a:solidFill>
                  <a:srgbClr val="000000"/>
                </a:solidFill>
                <a:effectLst/>
                <a:latin typeface="Times New Roman" panose="02020603050405020304" pitchFamily="18" charset="0"/>
              </a:rPr>
              <a:t>lyftes</a:t>
            </a:r>
            <a:r>
              <a:rPr lang="en-GB" sz="2600" b="0" i="0" dirty="0">
                <a:solidFill>
                  <a:srgbClr val="000000"/>
                </a:solidFill>
                <a:effectLst/>
                <a:latin typeface="Times New Roman" panose="02020603050405020304" pitchFamily="18" charset="0"/>
              </a:rPr>
              <a:t> </a:t>
            </a:r>
            <a:r>
              <a:rPr lang="en-GB" sz="2600" b="0" i="0" dirty="0" err="1">
                <a:solidFill>
                  <a:srgbClr val="000000"/>
                </a:solidFill>
                <a:effectLst/>
                <a:latin typeface="Times New Roman" panose="02020603050405020304" pitchFamily="18" charset="0"/>
              </a:rPr>
              <a:t>vp</a:t>
            </a:r>
            <a:r>
              <a:rPr lang="en-GB" sz="2600" b="0" i="0" dirty="0">
                <a:solidFill>
                  <a:srgbClr val="000000"/>
                </a:solidFill>
                <a:effectLst/>
                <a:latin typeface="Times New Roman" panose="02020603050405020304" pitchFamily="18" charset="0"/>
              </a:rPr>
              <a:t> homes,</a:t>
            </a:r>
          </a:p>
          <a:p>
            <a:pPr marL="0" indent="0" algn="l">
              <a:buNone/>
            </a:pPr>
            <a:r>
              <a:rPr lang="en-GB" sz="2600" b="0" i="0" dirty="0">
                <a:solidFill>
                  <a:srgbClr val="000000"/>
                </a:solidFill>
                <a:effectLst/>
                <a:latin typeface="Times New Roman" panose="02020603050405020304" pitchFamily="18" charset="0"/>
              </a:rPr>
              <a:t>And fer </a:t>
            </a:r>
            <a:r>
              <a:rPr lang="en-GB" sz="2600" b="0" i="0" dirty="0" err="1">
                <a:solidFill>
                  <a:srgbClr val="000000"/>
                </a:solidFill>
                <a:effectLst/>
                <a:latin typeface="Times New Roman" panose="02020603050405020304" pitchFamily="18" charset="0"/>
              </a:rPr>
              <a:t>ouer</a:t>
            </a:r>
            <a:r>
              <a:rPr lang="en-GB" sz="2600" b="0" i="0" dirty="0">
                <a:solidFill>
                  <a:srgbClr val="000000"/>
                </a:solidFill>
                <a:effectLst/>
                <a:latin typeface="Times New Roman" panose="02020603050405020304" pitchFamily="18" charset="0"/>
              </a:rPr>
              <a:t> </a:t>
            </a:r>
            <a:r>
              <a:rPr lang="en-GB" sz="2600" b="0" i="0" dirty="0" err="1">
                <a:solidFill>
                  <a:srgbClr val="000000"/>
                </a:solidFill>
                <a:effectLst/>
                <a:latin typeface="Times New Roman" panose="02020603050405020304" pitchFamily="18" charset="0"/>
              </a:rPr>
              <a:t>þe</a:t>
            </a:r>
            <a:r>
              <a:rPr lang="en-GB" sz="2600" b="0" i="0" dirty="0">
                <a:solidFill>
                  <a:srgbClr val="000000"/>
                </a:solidFill>
                <a:effectLst/>
                <a:latin typeface="Times New Roman" panose="02020603050405020304" pitchFamily="18" charset="0"/>
              </a:rPr>
              <a:t> French </a:t>
            </a:r>
            <a:r>
              <a:rPr lang="en-GB" sz="2600" b="0" i="0" dirty="0" err="1">
                <a:solidFill>
                  <a:srgbClr val="000000"/>
                </a:solidFill>
                <a:effectLst/>
                <a:latin typeface="Times New Roman" panose="02020603050405020304" pitchFamily="18" charset="0"/>
              </a:rPr>
              <a:t>flod</a:t>
            </a:r>
            <a:r>
              <a:rPr lang="en-GB" sz="2600" b="0" i="0" dirty="0">
                <a:solidFill>
                  <a:srgbClr val="000000"/>
                </a:solidFill>
                <a:effectLst/>
                <a:latin typeface="Times New Roman" panose="02020603050405020304" pitchFamily="18" charset="0"/>
              </a:rPr>
              <a:t> Felix Brutus</a:t>
            </a:r>
          </a:p>
          <a:p>
            <a:pPr marL="0" indent="0" algn="l">
              <a:buNone/>
            </a:pPr>
            <a:r>
              <a:rPr lang="en-GB" sz="2600" b="0" i="0" dirty="0">
                <a:solidFill>
                  <a:srgbClr val="000000"/>
                </a:solidFill>
                <a:effectLst/>
                <a:latin typeface="Times New Roman" panose="02020603050405020304" pitchFamily="18" charset="0"/>
              </a:rPr>
              <a:t>On </a:t>
            </a:r>
            <a:r>
              <a:rPr lang="en-GB" sz="2600" b="0" i="0" dirty="0" err="1">
                <a:solidFill>
                  <a:srgbClr val="000000"/>
                </a:solidFill>
                <a:effectLst/>
                <a:latin typeface="Times New Roman" panose="02020603050405020304" pitchFamily="18" charset="0"/>
              </a:rPr>
              <a:t>mony</a:t>
            </a:r>
            <a:r>
              <a:rPr lang="en-GB" sz="2600" b="0" i="0" dirty="0">
                <a:solidFill>
                  <a:srgbClr val="000000"/>
                </a:solidFill>
                <a:effectLst/>
                <a:latin typeface="Times New Roman" panose="02020603050405020304" pitchFamily="18" charset="0"/>
              </a:rPr>
              <a:t> </a:t>
            </a:r>
            <a:r>
              <a:rPr lang="en-GB" sz="2600" b="0" i="0" dirty="0" err="1">
                <a:solidFill>
                  <a:srgbClr val="000000"/>
                </a:solidFill>
                <a:effectLst/>
                <a:latin typeface="Times New Roman" panose="02020603050405020304" pitchFamily="18" charset="0"/>
              </a:rPr>
              <a:t>bonkkes</a:t>
            </a:r>
            <a:r>
              <a:rPr lang="en-GB" sz="2600" b="0" i="0" dirty="0">
                <a:solidFill>
                  <a:srgbClr val="000000"/>
                </a:solidFill>
                <a:effectLst/>
                <a:latin typeface="Times New Roman" panose="02020603050405020304" pitchFamily="18" charset="0"/>
              </a:rPr>
              <a:t> </a:t>
            </a:r>
            <a:r>
              <a:rPr lang="en-GB" sz="2600" b="0" i="0" dirty="0" err="1">
                <a:solidFill>
                  <a:srgbClr val="000000"/>
                </a:solidFill>
                <a:effectLst/>
                <a:latin typeface="Times New Roman" panose="02020603050405020304" pitchFamily="18" charset="0"/>
              </a:rPr>
              <a:t>ful</a:t>
            </a:r>
            <a:r>
              <a:rPr lang="en-GB" sz="2600" b="0" i="0" dirty="0">
                <a:solidFill>
                  <a:srgbClr val="000000"/>
                </a:solidFill>
                <a:effectLst/>
                <a:latin typeface="Times New Roman" panose="02020603050405020304" pitchFamily="18" charset="0"/>
              </a:rPr>
              <a:t> </a:t>
            </a:r>
            <a:r>
              <a:rPr lang="en-GB" sz="2600" b="0" i="0" dirty="0" err="1">
                <a:solidFill>
                  <a:srgbClr val="000000"/>
                </a:solidFill>
                <a:effectLst/>
                <a:latin typeface="Times New Roman" panose="02020603050405020304" pitchFamily="18" charset="0"/>
              </a:rPr>
              <a:t>brode</a:t>
            </a:r>
            <a:r>
              <a:rPr lang="en-GB" sz="2600" b="0" i="0" dirty="0">
                <a:solidFill>
                  <a:srgbClr val="000000"/>
                </a:solidFill>
                <a:effectLst/>
                <a:latin typeface="Times New Roman" panose="02020603050405020304" pitchFamily="18" charset="0"/>
              </a:rPr>
              <a:t> </a:t>
            </a:r>
            <a:r>
              <a:rPr lang="en-GB" sz="2600" b="0" i="0" dirty="0" err="1">
                <a:solidFill>
                  <a:srgbClr val="000000"/>
                </a:solidFill>
                <a:effectLst/>
                <a:latin typeface="Times New Roman" panose="02020603050405020304" pitchFamily="18" charset="0"/>
              </a:rPr>
              <a:t>Bretayn</a:t>
            </a:r>
            <a:r>
              <a:rPr lang="en-GB" sz="2600" b="0" i="0" dirty="0">
                <a:solidFill>
                  <a:srgbClr val="000000"/>
                </a:solidFill>
                <a:effectLst/>
                <a:latin typeface="Times New Roman" panose="02020603050405020304" pitchFamily="18" charset="0"/>
              </a:rPr>
              <a:t> he </a:t>
            </a:r>
            <a:r>
              <a:rPr lang="en-GB" sz="2600" b="0" i="0" dirty="0" err="1">
                <a:solidFill>
                  <a:srgbClr val="000000"/>
                </a:solidFill>
                <a:effectLst/>
                <a:latin typeface="Times New Roman" panose="02020603050405020304" pitchFamily="18" charset="0"/>
              </a:rPr>
              <a:t>settez</a:t>
            </a:r>
            <a:endParaRPr lang="en-GB" sz="2600" b="0" i="0" dirty="0">
              <a:solidFill>
                <a:srgbClr val="000000"/>
              </a:solidFill>
              <a:effectLst/>
              <a:latin typeface="Times New Roman" panose="02020603050405020304" pitchFamily="18" charset="0"/>
            </a:endParaRPr>
          </a:p>
          <a:p>
            <a:pPr marL="0" indent="0" algn="l">
              <a:buNone/>
            </a:pPr>
            <a:r>
              <a:rPr lang="en-GB" sz="2600" b="0" i="0" dirty="0" err="1">
                <a:solidFill>
                  <a:srgbClr val="000000"/>
                </a:solidFill>
                <a:effectLst/>
                <a:latin typeface="Times New Roman" panose="02020603050405020304" pitchFamily="18" charset="0"/>
              </a:rPr>
              <a:t>wyth</a:t>
            </a:r>
            <a:r>
              <a:rPr lang="en-GB" sz="2600" b="0" i="0" dirty="0">
                <a:solidFill>
                  <a:srgbClr val="000000"/>
                </a:solidFill>
                <a:effectLst/>
                <a:latin typeface="Times New Roman" panose="02020603050405020304" pitchFamily="18" charset="0"/>
              </a:rPr>
              <a:t> </a:t>
            </a:r>
            <a:r>
              <a:rPr lang="en-GB" sz="2600" b="0" i="0" dirty="0" err="1">
                <a:solidFill>
                  <a:srgbClr val="000000"/>
                </a:solidFill>
                <a:effectLst/>
                <a:latin typeface="Times New Roman" panose="02020603050405020304" pitchFamily="18" charset="0"/>
              </a:rPr>
              <a:t>wynne</a:t>
            </a:r>
            <a:r>
              <a:rPr lang="en-GB" sz="2600" b="0" i="0" dirty="0">
                <a:solidFill>
                  <a:srgbClr val="000000"/>
                </a:solidFill>
                <a:effectLst/>
                <a:latin typeface="Times New Roman" panose="02020603050405020304" pitchFamily="18" charset="0"/>
              </a:rPr>
              <a:t>,</a:t>
            </a:r>
          </a:p>
          <a:p>
            <a:pPr marL="0" indent="0" algn="l">
              <a:buNone/>
            </a:pPr>
            <a:endParaRPr lang="en-GB" sz="1200" b="0" i="0" dirty="0">
              <a:solidFill>
                <a:srgbClr val="000000"/>
              </a:solidFill>
              <a:effectLst/>
              <a:latin typeface="Times New Roman" panose="02020603050405020304" pitchFamily="18" charset="0"/>
            </a:endParaRPr>
          </a:p>
          <a:p>
            <a:pPr marL="0" indent="0" algn="l">
              <a:buNone/>
            </a:pPr>
            <a:r>
              <a:rPr lang="en-GB" sz="2600" b="0" i="0" dirty="0">
                <a:solidFill>
                  <a:srgbClr val="000000"/>
                </a:solidFill>
                <a:effectLst/>
                <a:latin typeface="Times New Roman" panose="02020603050405020304" pitchFamily="18" charset="0"/>
              </a:rPr>
              <a:t>Where </a:t>
            </a:r>
            <a:r>
              <a:rPr lang="en-GB" sz="2600" b="0" i="0" dirty="0" err="1">
                <a:solidFill>
                  <a:srgbClr val="000000"/>
                </a:solidFill>
                <a:effectLst/>
                <a:latin typeface="Times New Roman" panose="02020603050405020304" pitchFamily="18" charset="0"/>
              </a:rPr>
              <a:t>werre</a:t>
            </a:r>
            <a:r>
              <a:rPr lang="en-GB" sz="2600" b="0" i="0" dirty="0">
                <a:solidFill>
                  <a:srgbClr val="000000"/>
                </a:solidFill>
                <a:effectLst/>
                <a:latin typeface="Times New Roman" panose="02020603050405020304" pitchFamily="18" charset="0"/>
              </a:rPr>
              <a:t> and </a:t>
            </a:r>
            <a:r>
              <a:rPr lang="en-GB" sz="2600" b="0" i="0" dirty="0" err="1">
                <a:solidFill>
                  <a:srgbClr val="000000"/>
                </a:solidFill>
                <a:effectLst/>
                <a:latin typeface="Times New Roman" panose="02020603050405020304" pitchFamily="18" charset="0"/>
              </a:rPr>
              <a:t>wrake</a:t>
            </a:r>
            <a:r>
              <a:rPr lang="en-GB" sz="2600" b="0" i="0" dirty="0">
                <a:solidFill>
                  <a:srgbClr val="000000"/>
                </a:solidFill>
                <a:effectLst/>
                <a:latin typeface="Times New Roman" panose="02020603050405020304" pitchFamily="18" charset="0"/>
              </a:rPr>
              <a:t> and wonder</a:t>
            </a:r>
          </a:p>
          <a:p>
            <a:pPr marL="0" indent="0" algn="l">
              <a:buNone/>
            </a:pPr>
            <a:r>
              <a:rPr lang="en-GB" sz="2600" b="0" i="0" dirty="0">
                <a:solidFill>
                  <a:srgbClr val="000000"/>
                </a:solidFill>
                <a:effectLst/>
                <a:latin typeface="Times New Roman" panose="02020603050405020304" pitchFamily="18" charset="0"/>
              </a:rPr>
              <a:t>Bi </a:t>
            </a:r>
            <a:r>
              <a:rPr lang="en-GB" sz="2600" b="0" i="0" dirty="0" err="1">
                <a:solidFill>
                  <a:srgbClr val="000000"/>
                </a:solidFill>
                <a:effectLst/>
                <a:latin typeface="Times New Roman" panose="02020603050405020304" pitchFamily="18" charset="0"/>
              </a:rPr>
              <a:t>syþez</a:t>
            </a:r>
            <a:r>
              <a:rPr lang="en-GB" sz="2600" b="0" i="0" dirty="0">
                <a:solidFill>
                  <a:srgbClr val="000000"/>
                </a:solidFill>
                <a:effectLst/>
                <a:latin typeface="Times New Roman" panose="02020603050405020304" pitchFamily="18" charset="0"/>
              </a:rPr>
              <a:t> </a:t>
            </a:r>
            <a:r>
              <a:rPr lang="en-GB" sz="2600" b="0" i="0" dirty="0" err="1">
                <a:solidFill>
                  <a:srgbClr val="000000"/>
                </a:solidFill>
                <a:effectLst/>
                <a:latin typeface="Times New Roman" panose="02020603050405020304" pitchFamily="18" charset="0"/>
              </a:rPr>
              <a:t>hatz</a:t>
            </a:r>
            <a:r>
              <a:rPr lang="en-GB" sz="2600" b="0" i="0" dirty="0">
                <a:solidFill>
                  <a:srgbClr val="000000"/>
                </a:solidFill>
                <a:effectLst/>
                <a:latin typeface="Times New Roman" panose="02020603050405020304" pitchFamily="18" charset="0"/>
              </a:rPr>
              <a:t> wont </a:t>
            </a:r>
            <a:r>
              <a:rPr lang="en-GB" sz="2600" b="0" i="0" dirty="0" err="1">
                <a:solidFill>
                  <a:srgbClr val="000000"/>
                </a:solidFill>
                <a:effectLst/>
                <a:latin typeface="Times New Roman" panose="02020603050405020304" pitchFamily="18" charset="0"/>
              </a:rPr>
              <a:t>þerinne</a:t>
            </a:r>
            <a:r>
              <a:rPr lang="en-GB" sz="2600" b="0" i="0" dirty="0">
                <a:solidFill>
                  <a:srgbClr val="000000"/>
                </a:solidFill>
                <a:effectLst/>
                <a:latin typeface="Times New Roman" panose="02020603050405020304" pitchFamily="18" charset="0"/>
              </a:rPr>
              <a:t>,</a:t>
            </a:r>
          </a:p>
          <a:p>
            <a:pPr marL="0" indent="0" algn="l">
              <a:buNone/>
            </a:pPr>
            <a:r>
              <a:rPr lang="en-GB" sz="2600" b="0" i="0" dirty="0">
                <a:solidFill>
                  <a:srgbClr val="000000"/>
                </a:solidFill>
                <a:effectLst/>
                <a:latin typeface="Times New Roman" panose="02020603050405020304" pitchFamily="18" charset="0"/>
              </a:rPr>
              <a:t>And oft </a:t>
            </a:r>
            <a:r>
              <a:rPr lang="en-GB" sz="2600" b="0" i="0" dirty="0" err="1">
                <a:solidFill>
                  <a:srgbClr val="000000"/>
                </a:solidFill>
                <a:effectLst/>
                <a:latin typeface="Times New Roman" panose="02020603050405020304" pitchFamily="18" charset="0"/>
              </a:rPr>
              <a:t>boþe</a:t>
            </a:r>
            <a:r>
              <a:rPr lang="en-GB" sz="2600" b="0" i="0" dirty="0">
                <a:solidFill>
                  <a:srgbClr val="000000"/>
                </a:solidFill>
                <a:effectLst/>
                <a:latin typeface="Times New Roman" panose="02020603050405020304" pitchFamily="18" charset="0"/>
              </a:rPr>
              <a:t> </a:t>
            </a:r>
            <a:r>
              <a:rPr lang="en-GB" sz="2600" b="0" i="0" dirty="0" err="1">
                <a:solidFill>
                  <a:srgbClr val="000000"/>
                </a:solidFill>
                <a:effectLst/>
                <a:latin typeface="Times New Roman" panose="02020603050405020304" pitchFamily="18" charset="0"/>
              </a:rPr>
              <a:t>blysse</a:t>
            </a:r>
            <a:r>
              <a:rPr lang="en-GB" sz="2600" b="0" i="0" dirty="0">
                <a:solidFill>
                  <a:srgbClr val="000000"/>
                </a:solidFill>
                <a:effectLst/>
                <a:latin typeface="Times New Roman" panose="02020603050405020304" pitchFamily="18" charset="0"/>
              </a:rPr>
              <a:t> and blunder</a:t>
            </a:r>
          </a:p>
          <a:p>
            <a:pPr marL="0" indent="0" algn="l">
              <a:buNone/>
            </a:pPr>
            <a:r>
              <a:rPr lang="en-GB" sz="2600" b="0" i="0" dirty="0">
                <a:solidFill>
                  <a:srgbClr val="000000"/>
                </a:solidFill>
                <a:effectLst/>
                <a:latin typeface="Times New Roman" panose="02020603050405020304" pitchFamily="18" charset="0"/>
              </a:rPr>
              <a:t>Ful skete </a:t>
            </a:r>
            <a:r>
              <a:rPr lang="en-GB" sz="2600" b="0" i="0" dirty="0" err="1">
                <a:solidFill>
                  <a:srgbClr val="000000"/>
                </a:solidFill>
                <a:effectLst/>
                <a:latin typeface="Times New Roman" panose="02020603050405020304" pitchFamily="18" charset="0"/>
              </a:rPr>
              <a:t>hatz</a:t>
            </a:r>
            <a:r>
              <a:rPr lang="en-GB" sz="2600" b="0" i="0" dirty="0">
                <a:solidFill>
                  <a:srgbClr val="000000"/>
                </a:solidFill>
                <a:effectLst/>
                <a:latin typeface="Times New Roman" panose="02020603050405020304" pitchFamily="18" charset="0"/>
              </a:rPr>
              <a:t> </a:t>
            </a:r>
            <a:r>
              <a:rPr lang="en-GB" sz="2600" b="0" i="0" dirty="0" err="1">
                <a:solidFill>
                  <a:srgbClr val="000000"/>
                </a:solidFill>
                <a:effectLst/>
                <a:latin typeface="Times New Roman" panose="02020603050405020304" pitchFamily="18" charset="0"/>
              </a:rPr>
              <a:t>skyfted</a:t>
            </a:r>
            <a:r>
              <a:rPr lang="en-GB" sz="2600" b="0" i="0" dirty="0">
                <a:solidFill>
                  <a:srgbClr val="000000"/>
                </a:solidFill>
                <a:effectLst/>
                <a:latin typeface="Times New Roman" panose="02020603050405020304" pitchFamily="18" charset="0"/>
              </a:rPr>
              <a:t> </a:t>
            </a:r>
            <a:r>
              <a:rPr lang="en-GB" sz="2600" b="0" i="0" dirty="0" err="1">
                <a:solidFill>
                  <a:srgbClr val="000000"/>
                </a:solidFill>
                <a:effectLst/>
                <a:latin typeface="Times New Roman" panose="02020603050405020304" pitchFamily="18" charset="0"/>
              </a:rPr>
              <a:t>synne</a:t>
            </a:r>
            <a:r>
              <a:rPr lang="en-GB" sz="2600" b="0" i="0" dirty="0">
                <a:solidFill>
                  <a:srgbClr val="000000"/>
                </a:solidFill>
                <a:effectLst/>
                <a:latin typeface="Times New Roman" panose="02020603050405020304" pitchFamily="18" charset="0"/>
              </a:rPr>
              <a:t>.</a:t>
            </a:r>
          </a:p>
          <a:p>
            <a:endParaRPr lang="en-GB" dirty="0"/>
          </a:p>
        </p:txBody>
      </p:sp>
      <p:sp>
        <p:nvSpPr>
          <p:cNvPr id="4" name="TextBox 3">
            <a:extLst>
              <a:ext uri="{FF2B5EF4-FFF2-40B4-BE49-F238E27FC236}">
                <a16:creationId xmlns:a16="http://schemas.microsoft.com/office/drawing/2014/main" id="{7D09A5B2-FFA5-DB90-D67D-02B5AD33112D}"/>
              </a:ext>
            </a:extLst>
          </p:cNvPr>
          <p:cNvSpPr txBox="1"/>
          <p:nvPr/>
        </p:nvSpPr>
        <p:spPr>
          <a:xfrm>
            <a:off x="8215489" y="598311"/>
            <a:ext cx="3138311" cy="4524315"/>
          </a:xfrm>
          <a:prstGeom prst="rect">
            <a:avLst/>
          </a:prstGeom>
          <a:noFill/>
        </p:spPr>
        <p:txBody>
          <a:bodyPr wrap="square" rtlCol="0">
            <a:spAutoFit/>
          </a:bodyPr>
          <a:lstStyle/>
          <a:p>
            <a:r>
              <a:rPr lang="en-GB" sz="2400" dirty="0">
                <a:solidFill>
                  <a:srgbClr val="0070C0"/>
                </a:solidFill>
              </a:rPr>
              <a:t>It’s very difficult to translate this into Modern English and yet still keep the qualities of the original. </a:t>
            </a:r>
          </a:p>
          <a:p>
            <a:endParaRPr lang="en-GB" sz="2400" dirty="0">
              <a:solidFill>
                <a:srgbClr val="0070C0"/>
              </a:solidFill>
            </a:endParaRPr>
          </a:p>
          <a:p>
            <a:r>
              <a:rPr lang="en-GB" sz="2400" dirty="0">
                <a:solidFill>
                  <a:srgbClr val="0070C0"/>
                </a:solidFill>
              </a:rPr>
              <a:t>If we change the words and sounds, we inevitably change the rhythm and flow, and its effects upon the meaning.</a:t>
            </a:r>
          </a:p>
        </p:txBody>
      </p:sp>
      <p:sp>
        <p:nvSpPr>
          <p:cNvPr id="5" name="TextBox 4">
            <a:extLst>
              <a:ext uri="{FF2B5EF4-FFF2-40B4-BE49-F238E27FC236}">
                <a16:creationId xmlns:a16="http://schemas.microsoft.com/office/drawing/2014/main" id="{150CD7F0-E6CA-6AE5-923E-F0E41B2124DC}"/>
              </a:ext>
            </a:extLst>
          </p:cNvPr>
          <p:cNvSpPr txBox="1"/>
          <p:nvPr/>
        </p:nvSpPr>
        <p:spPr>
          <a:xfrm>
            <a:off x="1326733" y="4842707"/>
            <a:ext cx="5299558" cy="1938992"/>
          </a:xfrm>
          <a:prstGeom prst="rect">
            <a:avLst/>
          </a:prstGeom>
          <a:noFill/>
        </p:spPr>
        <p:txBody>
          <a:bodyPr wrap="square" rtlCol="0">
            <a:spAutoFit/>
          </a:bodyPr>
          <a:lstStyle/>
          <a:p>
            <a:r>
              <a:rPr lang="en-GB" sz="2400" dirty="0">
                <a:solidFill>
                  <a:srgbClr val="0070C0"/>
                </a:solidFill>
              </a:rPr>
              <a:t>The last four lines of each stanza are a ‘rhyming quatrain’ – four lines that rhyme, ABAB.</a:t>
            </a:r>
          </a:p>
          <a:p>
            <a:r>
              <a:rPr lang="en-GB" sz="2400" dirty="0">
                <a:solidFill>
                  <a:srgbClr val="0070C0"/>
                </a:solidFill>
              </a:rPr>
              <a:t>The ending is referred to as ‘a bob and a wheel.’</a:t>
            </a:r>
          </a:p>
        </p:txBody>
      </p:sp>
    </p:spTree>
    <p:extLst>
      <p:ext uri="{BB962C8B-B14F-4D97-AF65-F5344CB8AC3E}">
        <p14:creationId xmlns:p14="http://schemas.microsoft.com/office/powerpoint/2010/main" val="2254704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500"/>
                                        <p:tgtEl>
                                          <p:spTgt spid="5">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0326D-A0B4-D52C-54D1-1902B5853840}"/>
              </a:ext>
            </a:extLst>
          </p:cNvPr>
          <p:cNvSpPr>
            <a:spLocks noGrp="1"/>
          </p:cNvSpPr>
          <p:nvPr>
            <p:ph type="title"/>
          </p:nvPr>
        </p:nvSpPr>
        <p:spPr/>
        <p:txBody>
          <a:bodyPr/>
          <a:lstStyle/>
          <a:p>
            <a:r>
              <a:rPr lang="en-GB" dirty="0"/>
              <a:t>Questions  - Homework Excerpts</a:t>
            </a:r>
            <a:br>
              <a:rPr lang="en-GB" dirty="0"/>
            </a:br>
            <a:r>
              <a:rPr lang="en-GB" sz="4000" dirty="0"/>
              <a:t>Stanzas 3 and 8</a:t>
            </a:r>
            <a:endParaRPr lang="en-GB" dirty="0"/>
          </a:p>
        </p:txBody>
      </p:sp>
      <p:sp>
        <p:nvSpPr>
          <p:cNvPr id="3" name="Content Placeholder 2">
            <a:extLst>
              <a:ext uri="{FF2B5EF4-FFF2-40B4-BE49-F238E27FC236}">
                <a16:creationId xmlns:a16="http://schemas.microsoft.com/office/drawing/2014/main" id="{D216F582-C76F-74C2-A2DA-6EF5D4BF176A}"/>
              </a:ext>
            </a:extLst>
          </p:cNvPr>
          <p:cNvSpPr>
            <a:spLocks noGrp="1"/>
          </p:cNvSpPr>
          <p:nvPr>
            <p:ph idx="1"/>
          </p:nvPr>
        </p:nvSpPr>
        <p:spPr/>
        <p:txBody>
          <a:bodyPr>
            <a:normAutofit/>
          </a:bodyPr>
          <a:lstStyle/>
          <a:p>
            <a:endParaRPr lang="en-GB" sz="2800" i="1" dirty="0"/>
          </a:p>
          <a:p>
            <a:r>
              <a:rPr lang="en-GB" sz="2800" dirty="0"/>
              <a:t>What is the setting at the start of the poem?</a:t>
            </a:r>
          </a:p>
          <a:p>
            <a:pPr marL="0" indent="0">
              <a:buNone/>
            </a:pPr>
            <a:endParaRPr lang="en-GB" sz="2800" dirty="0"/>
          </a:p>
          <a:p>
            <a:r>
              <a:rPr lang="en-GB" sz="2800" dirty="0"/>
              <a:t>Who enters their New Year meal?</a:t>
            </a:r>
          </a:p>
          <a:p>
            <a:endParaRPr lang="en-GB" sz="2800" dirty="0"/>
          </a:p>
          <a:p>
            <a:r>
              <a:rPr lang="en-GB" sz="2800" dirty="0"/>
              <a:t>Who is King Arthur?</a:t>
            </a:r>
          </a:p>
          <a:p>
            <a:pPr marL="0" indent="0">
              <a:buNone/>
            </a:pPr>
            <a:endParaRPr lang="en-GB" sz="2800" dirty="0"/>
          </a:p>
          <a:p>
            <a:endParaRPr lang="en-GB" dirty="0"/>
          </a:p>
        </p:txBody>
      </p:sp>
      <p:pic>
        <p:nvPicPr>
          <p:cNvPr id="1026" name="Picture 2" descr="undefined">
            <a:extLst>
              <a:ext uri="{FF2B5EF4-FFF2-40B4-BE49-F238E27FC236}">
                <a16:creationId xmlns:a16="http://schemas.microsoft.com/office/drawing/2014/main" id="{CBECC343-1596-8A8A-EAD9-8C479CB100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1587" y="1862390"/>
            <a:ext cx="3298323" cy="465037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13231AE-0A1A-4733-CBAA-31D7DACA8687}"/>
              </a:ext>
            </a:extLst>
          </p:cNvPr>
          <p:cNvSpPr txBox="1"/>
          <p:nvPr/>
        </p:nvSpPr>
        <p:spPr>
          <a:xfrm>
            <a:off x="5635690" y="5419323"/>
            <a:ext cx="2215426" cy="1015663"/>
          </a:xfrm>
          <a:prstGeom prst="rect">
            <a:avLst/>
          </a:prstGeom>
          <a:noFill/>
        </p:spPr>
        <p:txBody>
          <a:bodyPr wrap="square" rtlCol="0">
            <a:spAutoFit/>
          </a:bodyPr>
          <a:lstStyle/>
          <a:p>
            <a:r>
              <a:rPr lang="en-GB" sz="2000" i="1" dirty="0"/>
              <a:t>The first page of the poem in the ‘Pearl Manuscript.’</a:t>
            </a:r>
          </a:p>
        </p:txBody>
      </p:sp>
    </p:spTree>
    <p:extLst>
      <p:ext uri="{BB962C8B-B14F-4D97-AF65-F5344CB8AC3E}">
        <p14:creationId xmlns:p14="http://schemas.microsoft.com/office/powerpoint/2010/main" val="910517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EFFFB-49EC-06B7-AFFA-BCF00BF3DED8}"/>
              </a:ext>
            </a:extLst>
          </p:cNvPr>
          <p:cNvSpPr>
            <a:spLocks noGrp="1"/>
          </p:cNvSpPr>
          <p:nvPr>
            <p:ph type="title"/>
          </p:nvPr>
        </p:nvSpPr>
        <p:spPr/>
        <p:txBody>
          <a:bodyPr>
            <a:normAutofit/>
          </a:bodyPr>
          <a:lstStyle/>
          <a:p>
            <a:r>
              <a:rPr lang="en-GB" sz="4400" dirty="0"/>
              <a:t>King Arthur and the Knights of the Round Table</a:t>
            </a:r>
          </a:p>
        </p:txBody>
      </p:sp>
      <p:sp>
        <p:nvSpPr>
          <p:cNvPr id="3" name="Content Placeholder 2">
            <a:extLst>
              <a:ext uri="{FF2B5EF4-FFF2-40B4-BE49-F238E27FC236}">
                <a16:creationId xmlns:a16="http://schemas.microsoft.com/office/drawing/2014/main" id="{13E842A1-3C84-0EB9-0635-2C7C730307B9}"/>
              </a:ext>
            </a:extLst>
          </p:cNvPr>
          <p:cNvSpPr>
            <a:spLocks noGrp="1"/>
          </p:cNvSpPr>
          <p:nvPr>
            <p:ph idx="1"/>
          </p:nvPr>
        </p:nvSpPr>
        <p:spPr>
          <a:xfrm>
            <a:off x="676657" y="2011680"/>
            <a:ext cx="6047993" cy="4641047"/>
          </a:xfrm>
        </p:spPr>
        <p:txBody>
          <a:bodyPr>
            <a:normAutofit/>
          </a:bodyPr>
          <a:lstStyle/>
          <a:p>
            <a:r>
              <a:rPr lang="en-GB" dirty="0"/>
              <a:t>Early Welsh sources record Arthur as a military leader fighting for the Britons against the Saxons in the 6</a:t>
            </a:r>
            <a:r>
              <a:rPr lang="en-GB" baseline="30000" dirty="0"/>
              <a:t>th</a:t>
            </a:r>
            <a:r>
              <a:rPr lang="en-GB" dirty="0"/>
              <a:t> Century AD, after the Romans have left.</a:t>
            </a:r>
          </a:p>
          <a:p>
            <a:r>
              <a:rPr lang="en-GB" dirty="0"/>
              <a:t> </a:t>
            </a:r>
          </a:p>
          <a:p>
            <a:r>
              <a:rPr lang="en-GB" dirty="0"/>
              <a:t>Geoffrey of Monmouth wrote </a:t>
            </a:r>
            <a:r>
              <a:rPr lang="en-GB" i="1" dirty="0"/>
              <a:t>The History of the Kings of Great Britain (</a:t>
            </a:r>
            <a:r>
              <a:rPr lang="en-GB" b="0" i="1" dirty="0">
                <a:solidFill>
                  <a:srgbClr val="1A1A1A"/>
                </a:solidFill>
                <a:effectLst/>
              </a:rPr>
              <a:t>Historia </a:t>
            </a:r>
            <a:r>
              <a:rPr lang="en-GB" b="0" i="1" dirty="0" err="1">
                <a:solidFill>
                  <a:srgbClr val="1A1A1A"/>
                </a:solidFill>
                <a:effectLst/>
              </a:rPr>
              <a:t>regum</a:t>
            </a:r>
            <a:r>
              <a:rPr lang="en-GB" b="0" i="1" dirty="0">
                <a:solidFill>
                  <a:srgbClr val="1A1A1A"/>
                </a:solidFill>
                <a:effectLst/>
              </a:rPr>
              <a:t> Britanniae) </a:t>
            </a:r>
            <a:r>
              <a:rPr lang="en-GB" dirty="0"/>
              <a:t>in 1136 AD, saying he was translating from a very ancient book. He described King Arthur with many details, which then became well-known.</a:t>
            </a:r>
          </a:p>
          <a:p>
            <a:endParaRPr lang="en-GB" dirty="0"/>
          </a:p>
        </p:txBody>
      </p:sp>
      <p:pic>
        <p:nvPicPr>
          <p:cNvPr id="2054" name="Picture 6" descr="Arthurian Swords">
            <a:extLst>
              <a:ext uri="{FF2B5EF4-FFF2-40B4-BE49-F238E27FC236}">
                <a16:creationId xmlns:a16="http://schemas.microsoft.com/office/drawing/2014/main" id="{FA4C26F0-C13D-D4A3-A66A-1DE31405AA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7525" y="1764030"/>
            <a:ext cx="5238750" cy="42291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6D09929-575E-34A9-3540-B5CD14BA5425}"/>
              </a:ext>
            </a:extLst>
          </p:cNvPr>
          <p:cNvSpPr txBox="1"/>
          <p:nvPr/>
        </p:nvSpPr>
        <p:spPr>
          <a:xfrm>
            <a:off x="7143750" y="6050280"/>
            <a:ext cx="4686300" cy="707886"/>
          </a:xfrm>
          <a:prstGeom prst="rect">
            <a:avLst/>
          </a:prstGeom>
          <a:noFill/>
        </p:spPr>
        <p:txBody>
          <a:bodyPr wrap="square" rtlCol="0">
            <a:spAutoFit/>
          </a:bodyPr>
          <a:lstStyle/>
          <a:p>
            <a:r>
              <a:rPr lang="en-GB" sz="2000" dirty="0"/>
              <a:t>King Arthur in a Welsh Translation of </a:t>
            </a:r>
            <a:r>
              <a:rPr lang="en-GB" sz="2000" i="1" dirty="0"/>
              <a:t>The History of the Kings of Great Britain</a:t>
            </a:r>
          </a:p>
        </p:txBody>
      </p:sp>
    </p:spTree>
    <p:extLst>
      <p:ext uri="{BB962C8B-B14F-4D97-AF65-F5344CB8AC3E}">
        <p14:creationId xmlns:p14="http://schemas.microsoft.com/office/powerpoint/2010/main" val="2931280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EFFFB-49EC-06B7-AFFA-BCF00BF3DED8}"/>
              </a:ext>
            </a:extLst>
          </p:cNvPr>
          <p:cNvSpPr>
            <a:spLocks noGrp="1"/>
          </p:cNvSpPr>
          <p:nvPr>
            <p:ph type="title"/>
          </p:nvPr>
        </p:nvSpPr>
        <p:spPr/>
        <p:txBody>
          <a:bodyPr>
            <a:normAutofit/>
          </a:bodyPr>
          <a:lstStyle/>
          <a:p>
            <a:r>
              <a:rPr lang="en-GB" sz="4400" dirty="0"/>
              <a:t>King Arthur and the Knights of the Round Table</a:t>
            </a:r>
          </a:p>
        </p:txBody>
      </p:sp>
      <p:sp>
        <p:nvSpPr>
          <p:cNvPr id="3" name="Content Placeholder 2">
            <a:extLst>
              <a:ext uri="{FF2B5EF4-FFF2-40B4-BE49-F238E27FC236}">
                <a16:creationId xmlns:a16="http://schemas.microsoft.com/office/drawing/2014/main" id="{13E842A1-3C84-0EB9-0635-2C7C730307B9}"/>
              </a:ext>
            </a:extLst>
          </p:cNvPr>
          <p:cNvSpPr>
            <a:spLocks noGrp="1"/>
          </p:cNvSpPr>
          <p:nvPr>
            <p:ph idx="1"/>
          </p:nvPr>
        </p:nvSpPr>
        <p:spPr>
          <a:xfrm>
            <a:off x="3914775" y="2011680"/>
            <a:ext cx="7515224" cy="4641047"/>
          </a:xfrm>
        </p:spPr>
        <p:txBody>
          <a:bodyPr>
            <a:normAutofit/>
          </a:bodyPr>
          <a:lstStyle/>
          <a:p>
            <a:r>
              <a:rPr lang="en-GB" i="0" dirty="0">
                <a:solidFill>
                  <a:srgbClr val="202122"/>
                </a:solidFill>
                <a:effectLst/>
              </a:rPr>
              <a:t>Chrétien de Troyes, wrote Arthurian romances in Old French from around 1170-90. Some featured Gawain or other Knights, such as </a:t>
            </a:r>
            <a:r>
              <a:rPr lang="en-GB" i="1" dirty="0">
                <a:solidFill>
                  <a:srgbClr val="202122"/>
                </a:solidFill>
                <a:effectLst/>
              </a:rPr>
              <a:t>Yvain, the Knight of the Lion </a:t>
            </a:r>
            <a:r>
              <a:rPr lang="en-GB" dirty="0">
                <a:solidFill>
                  <a:srgbClr val="202122"/>
                </a:solidFill>
                <a:effectLst/>
              </a:rPr>
              <a:t>(1180)</a:t>
            </a:r>
          </a:p>
          <a:p>
            <a:endParaRPr lang="en-GB" dirty="0">
              <a:solidFill>
                <a:srgbClr val="202122"/>
              </a:solidFill>
            </a:endParaRPr>
          </a:p>
          <a:p>
            <a:r>
              <a:rPr lang="en-GB" dirty="0">
                <a:solidFill>
                  <a:srgbClr val="202122"/>
                </a:solidFill>
              </a:rPr>
              <a:t>By the time that Gawain and the Green Knight was written in Middle English in the 14</a:t>
            </a:r>
            <a:r>
              <a:rPr lang="en-GB" baseline="30000" dirty="0">
                <a:solidFill>
                  <a:srgbClr val="202122"/>
                </a:solidFill>
              </a:rPr>
              <a:t>th</a:t>
            </a:r>
            <a:r>
              <a:rPr lang="en-GB" dirty="0">
                <a:solidFill>
                  <a:srgbClr val="202122"/>
                </a:solidFill>
              </a:rPr>
              <a:t> Century, most people who read it, or heard it read, would have been familiar with a range of ‘Arthurian’ stories.</a:t>
            </a:r>
          </a:p>
          <a:p>
            <a:endParaRPr lang="en-GB" dirty="0">
              <a:solidFill>
                <a:srgbClr val="202122"/>
              </a:solidFill>
            </a:endParaRPr>
          </a:p>
          <a:p>
            <a:r>
              <a:rPr lang="en-GB" dirty="0">
                <a:solidFill>
                  <a:srgbClr val="202122"/>
                </a:solidFill>
              </a:rPr>
              <a:t>The context and subjectivity of the reader can be said to have an influence on how a text is understood.</a:t>
            </a:r>
            <a:endParaRPr lang="en-GB" dirty="0"/>
          </a:p>
        </p:txBody>
      </p:sp>
      <p:sp>
        <p:nvSpPr>
          <p:cNvPr id="4" name="TextBox 3">
            <a:extLst>
              <a:ext uri="{FF2B5EF4-FFF2-40B4-BE49-F238E27FC236}">
                <a16:creationId xmlns:a16="http://schemas.microsoft.com/office/drawing/2014/main" id="{EEC7B988-0ED7-5AEE-7C5E-12BBD23D5798}"/>
              </a:ext>
            </a:extLst>
          </p:cNvPr>
          <p:cNvSpPr txBox="1"/>
          <p:nvPr/>
        </p:nvSpPr>
        <p:spPr>
          <a:xfrm>
            <a:off x="904875" y="6115050"/>
            <a:ext cx="3076576" cy="430887"/>
          </a:xfrm>
          <a:prstGeom prst="rect">
            <a:avLst/>
          </a:prstGeom>
          <a:noFill/>
        </p:spPr>
        <p:txBody>
          <a:bodyPr wrap="square" rtlCol="0">
            <a:spAutoFit/>
          </a:bodyPr>
          <a:lstStyle/>
          <a:p>
            <a:r>
              <a:rPr lang="en-GB" sz="2200" dirty="0"/>
              <a:t>Yvain and the Lion</a:t>
            </a:r>
          </a:p>
        </p:txBody>
      </p:sp>
      <p:pic>
        <p:nvPicPr>
          <p:cNvPr id="3074" name="Picture 2" descr="yvain1">
            <a:extLst>
              <a:ext uri="{FF2B5EF4-FFF2-40B4-BE49-F238E27FC236}">
                <a16:creationId xmlns:a16="http://schemas.microsoft.com/office/drawing/2014/main" id="{6024F687-353F-DE49-5BD1-B20134139C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24" y="2000250"/>
            <a:ext cx="3000375"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50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B76F1-E0D3-4001-8070-3B2F102A60D7}"/>
              </a:ext>
            </a:extLst>
          </p:cNvPr>
          <p:cNvSpPr>
            <a:spLocks noGrp="1"/>
          </p:cNvSpPr>
          <p:nvPr>
            <p:ph type="title"/>
          </p:nvPr>
        </p:nvSpPr>
        <p:spPr/>
        <p:txBody>
          <a:bodyPr>
            <a:normAutofit/>
          </a:bodyPr>
          <a:lstStyle/>
          <a:p>
            <a:r>
              <a:rPr lang="en-GB" sz="4400" dirty="0"/>
              <a:t>King Arthur and the Knights of the Round Table</a:t>
            </a:r>
          </a:p>
        </p:txBody>
      </p:sp>
      <p:sp>
        <p:nvSpPr>
          <p:cNvPr id="3" name="Content Placeholder 2">
            <a:extLst>
              <a:ext uri="{FF2B5EF4-FFF2-40B4-BE49-F238E27FC236}">
                <a16:creationId xmlns:a16="http://schemas.microsoft.com/office/drawing/2014/main" id="{2CD1B6DA-585E-48AA-A24B-3FD56EDEA9CF}"/>
              </a:ext>
            </a:extLst>
          </p:cNvPr>
          <p:cNvSpPr>
            <a:spLocks noGrp="1"/>
          </p:cNvSpPr>
          <p:nvPr>
            <p:ph idx="1"/>
          </p:nvPr>
        </p:nvSpPr>
        <p:spPr>
          <a:xfrm>
            <a:off x="442913" y="2277605"/>
            <a:ext cx="4941380" cy="3101983"/>
          </a:xfrm>
        </p:spPr>
        <p:txBody>
          <a:bodyPr>
            <a:noAutofit/>
          </a:bodyPr>
          <a:lstStyle/>
          <a:p>
            <a:endParaRPr lang="en-GB" sz="2800" dirty="0"/>
          </a:p>
        </p:txBody>
      </p:sp>
      <p:pic>
        <p:nvPicPr>
          <p:cNvPr id="6" name="Picture 5">
            <a:extLst>
              <a:ext uri="{FF2B5EF4-FFF2-40B4-BE49-F238E27FC236}">
                <a16:creationId xmlns:a16="http://schemas.microsoft.com/office/drawing/2014/main" id="{F9E28B95-3289-43AF-967D-880095D6ED70}"/>
              </a:ext>
            </a:extLst>
          </p:cNvPr>
          <p:cNvPicPr>
            <a:picLocks noChangeAspect="1"/>
          </p:cNvPicPr>
          <p:nvPr/>
        </p:nvPicPr>
        <p:blipFill>
          <a:blip r:embed="rId2"/>
          <a:stretch>
            <a:fillRect/>
          </a:stretch>
        </p:blipFill>
        <p:spPr>
          <a:xfrm>
            <a:off x="9494545" y="1928279"/>
            <a:ext cx="2533754" cy="3800632"/>
          </a:xfrm>
          <a:prstGeom prst="rect">
            <a:avLst/>
          </a:prstGeom>
        </p:spPr>
      </p:pic>
      <p:pic>
        <p:nvPicPr>
          <p:cNvPr id="4098" name="Picture 2" descr="The Appeal of King Arthur Across the Centuries | Medieval art, King arthur, Arthurian legend">
            <a:extLst>
              <a:ext uri="{FF2B5EF4-FFF2-40B4-BE49-F238E27FC236}">
                <a16:creationId xmlns:a16="http://schemas.microsoft.com/office/drawing/2014/main" id="{7095D58C-179F-E27A-E200-990395B9E9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227" y="1928279"/>
            <a:ext cx="6161379" cy="380063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6DD0A47-11F2-7D98-34D6-004B810B8E9E}"/>
              </a:ext>
            </a:extLst>
          </p:cNvPr>
          <p:cNvSpPr txBox="1"/>
          <p:nvPr/>
        </p:nvSpPr>
        <p:spPr>
          <a:xfrm>
            <a:off x="565727" y="5848786"/>
            <a:ext cx="4941380" cy="707886"/>
          </a:xfrm>
          <a:prstGeom prst="rect">
            <a:avLst/>
          </a:prstGeom>
          <a:noFill/>
        </p:spPr>
        <p:txBody>
          <a:bodyPr wrap="square" rtlCol="0">
            <a:spAutoFit/>
          </a:bodyPr>
          <a:lstStyle/>
          <a:p>
            <a:r>
              <a:rPr lang="en-GB" sz="2000" dirty="0"/>
              <a:t>The pious knight Galahad in art for Thomas Mallory’s 15</a:t>
            </a:r>
            <a:r>
              <a:rPr lang="en-GB" sz="2000" baseline="30000" dirty="0"/>
              <a:t>th</a:t>
            </a:r>
            <a:r>
              <a:rPr lang="en-GB" sz="2000" dirty="0"/>
              <a:t> century prose </a:t>
            </a:r>
            <a:r>
              <a:rPr lang="en-GB" sz="2000" i="1" dirty="0"/>
              <a:t>Le Morte </a:t>
            </a:r>
            <a:r>
              <a:rPr lang="en-GB" sz="2000" i="1" dirty="0" err="1"/>
              <a:t>D’Arthur</a:t>
            </a:r>
            <a:endParaRPr lang="en-GB" sz="2000" dirty="0"/>
          </a:p>
        </p:txBody>
      </p:sp>
      <p:pic>
        <p:nvPicPr>
          <p:cNvPr id="4100" name="Picture 4" descr="Excalibur and the Lady of the Lake">
            <a:extLst>
              <a:ext uri="{FF2B5EF4-FFF2-40B4-BE49-F238E27FC236}">
                <a16:creationId xmlns:a16="http://schemas.microsoft.com/office/drawing/2014/main" id="{9C4A0C38-A1EF-0B80-DEE9-D00A41E0B2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9426" y="1928279"/>
            <a:ext cx="2721299" cy="380063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8ADE5E1-366D-5FB8-C911-93019DCAB842}"/>
              </a:ext>
            </a:extLst>
          </p:cNvPr>
          <p:cNvSpPr txBox="1"/>
          <p:nvPr/>
        </p:nvSpPr>
        <p:spPr>
          <a:xfrm>
            <a:off x="6448073" y="5848786"/>
            <a:ext cx="5645304" cy="707886"/>
          </a:xfrm>
          <a:prstGeom prst="rect">
            <a:avLst/>
          </a:prstGeom>
          <a:noFill/>
        </p:spPr>
        <p:txBody>
          <a:bodyPr wrap="square" rtlCol="0">
            <a:spAutoFit/>
          </a:bodyPr>
          <a:lstStyle/>
          <a:p>
            <a:r>
              <a:rPr lang="en-GB" sz="2000" dirty="0"/>
              <a:t>Details that were later added of the lady in the lake giving Arthur Excalibur, and the sword in the stone.</a:t>
            </a:r>
          </a:p>
        </p:txBody>
      </p:sp>
    </p:spTree>
    <p:extLst>
      <p:ext uri="{BB962C8B-B14F-4D97-AF65-F5344CB8AC3E}">
        <p14:creationId xmlns:p14="http://schemas.microsoft.com/office/powerpoint/2010/main" val="2568809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2E01B-4709-F464-9C96-8E0D77F9981E}"/>
              </a:ext>
            </a:extLst>
          </p:cNvPr>
          <p:cNvSpPr>
            <a:spLocks noGrp="1"/>
          </p:cNvSpPr>
          <p:nvPr>
            <p:ph type="title"/>
          </p:nvPr>
        </p:nvSpPr>
        <p:spPr>
          <a:xfrm>
            <a:off x="657224" y="331582"/>
            <a:ext cx="10772775" cy="1658198"/>
          </a:xfrm>
        </p:spPr>
        <p:txBody>
          <a:bodyPr/>
          <a:lstStyle/>
          <a:p>
            <a:r>
              <a:rPr lang="en-GB" dirty="0"/>
              <a:t>Literary Terms</a:t>
            </a:r>
          </a:p>
        </p:txBody>
      </p:sp>
      <p:sp>
        <p:nvSpPr>
          <p:cNvPr id="3" name="Content Placeholder 2">
            <a:extLst>
              <a:ext uri="{FF2B5EF4-FFF2-40B4-BE49-F238E27FC236}">
                <a16:creationId xmlns:a16="http://schemas.microsoft.com/office/drawing/2014/main" id="{13ABD982-720D-3C00-9597-79E6C8DB6529}"/>
              </a:ext>
            </a:extLst>
          </p:cNvPr>
          <p:cNvSpPr>
            <a:spLocks noGrp="1"/>
          </p:cNvSpPr>
          <p:nvPr>
            <p:ph idx="1"/>
          </p:nvPr>
        </p:nvSpPr>
        <p:spPr>
          <a:xfrm>
            <a:off x="657224" y="1918373"/>
            <a:ext cx="10996711" cy="4734354"/>
          </a:xfrm>
        </p:spPr>
        <p:txBody>
          <a:bodyPr>
            <a:normAutofit fontScale="92500" lnSpcReduction="20000"/>
          </a:bodyPr>
          <a:lstStyle/>
          <a:p>
            <a:r>
              <a:rPr lang="en-GB" sz="3000" b="1" dirty="0"/>
              <a:t>Intertextual </a:t>
            </a:r>
            <a:r>
              <a:rPr lang="en-GB" sz="3000" dirty="0"/>
              <a:t>– when a text has connections within it to another text – and those connections affect how we interpret its meaning. (Yet the text is still the text and holds meaning!)</a:t>
            </a:r>
          </a:p>
          <a:p>
            <a:endParaRPr lang="en-GB" sz="1700" dirty="0"/>
          </a:p>
          <a:p>
            <a:pPr>
              <a:buFont typeface="Wingdings" panose="05000000000000000000" pitchFamily="2" charset="2"/>
              <a:buChar char="§"/>
            </a:pPr>
            <a:r>
              <a:rPr lang="en-GB" sz="2600" dirty="0"/>
              <a:t>This could be a “direct quotation”, or a reference to another writer or text.</a:t>
            </a:r>
          </a:p>
          <a:p>
            <a:pPr>
              <a:buFont typeface="Wingdings" panose="05000000000000000000" pitchFamily="2" charset="2"/>
              <a:buChar char="§"/>
            </a:pPr>
            <a:r>
              <a:rPr lang="en-GB" sz="2600" dirty="0"/>
              <a:t>It could be a phrase: if I write in my story, ‘</a:t>
            </a:r>
            <a:r>
              <a:rPr lang="en-GB" sz="2600" i="1" dirty="0"/>
              <a:t>To do this or not to do this, that is the big question’ – then most English readers these days would read it intertextually, drawing on some knowledge of Shakespeare.</a:t>
            </a:r>
            <a:endParaRPr lang="en-GB" sz="2600" dirty="0"/>
          </a:p>
          <a:p>
            <a:pPr>
              <a:buFont typeface="Wingdings" panose="05000000000000000000" pitchFamily="2" charset="2"/>
              <a:buChar char="§"/>
            </a:pPr>
            <a:r>
              <a:rPr lang="en-GB" sz="2600" dirty="0"/>
              <a:t>It could be a structure, which references another text: </a:t>
            </a:r>
            <a:r>
              <a:rPr lang="en-GB" sz="2600" i="1" dirty="0" err="1"/>
              <a:t>ie</a:t>
            </a:r>
            <a:r>
              <a:rPr lang="en-GB" sz="2600" i="1" dirty="0"/>
              <a:t>., if I write a poem about a bird in the same structure and style as ‘The Eagle’, we could call it intertextual – your knowledge of ‘The Eagle’ would make you interpret my poem a bit differently.</a:t>
            </a:r>
          </a:p>
          <a:p>
            <a:pPr>
              <a:buFont typeface="Wingdings" panose="05000000000000000000" pitchFamily="2" charset="2"/>
              <a:buChar char="§"/>
            </a:pPr>
            <a:r>
              <a:rPr lang="en-GB" sz="2600" dirty="0"/>
              <a:t>It could be a genre or form that adds meaning. </a:t>
            </a:r>
            <a:r>
              <a:rPr lang="en-GB" sz="2600" i="1" dirty="0"/>
              <a:t>So, a 14</a:t>
            </a:r>
            <a:r>
              <a:rPr lang="en-GB" sz="2600" i="1" baseline="30000" dirty="0"/>
              <a:t>th</a:t>
            </a:r>
            <a:r>
              <a:rPr lang="en-GB" sz="2600" i="1" dirty="0"/>
              <a:t> century reader reads ‘Gawain and the Green Knight’ in relation to other stories about Arthur, Gawain, and knights. This could be described as the text’s intertextuality.</a:t>
            </a:r>
          </a:p>
        </p:txBody>
      </p:sp>
    </p:spTree>
    <p:extLst>
      <p:ext uri="{BB962C8B-B14F-4D97-AF65-F5344CB8AC3E}">
        <p14:creationId xmlns:p14="http://schemas.microsoft.com/office/powerpoint/2010/main" val="1818386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2E01B-4709-F464-9C96-8E0D77F9981E}"/>
              </a:ext>
            </a:extLst>
          </p:cNvPr>
          <p:cNvSpPr>
            <a:spLocks noGrp="1"/>
          </p:cNvSpPr>
          <p:nvPr>
            <p:ph type="title"/>
          </p:nvPr>
        </p:nvSpPr>
        <p:spPr>
          <a:xfrm>
            <a:off x="657224" y="331582"/>
            <a:ext cx="10772775" cy="1658198"/>
          </a:xfrm>
        </p:spPr>
        <p:txBody>
          <a:bodyPr/>
          <a:lstStyle/>
          <a:p>
            <a:r>
              <a:rPr lang="en-GB" dirty="0"/>
              <a:t>Literary Terms</a:t>
            </a:r>
          </a:p>
        </p:txBody>
      </p:sp>
      <p:sp>
        <p:nvSpPr>
          <p:cNvPr id="3" name="Content Placeholder 2">
            <a:extLst>
              <a:ext uri="{FF2B5EF4-FFF2-40B4-BE49-F238E27FC236}">
                <a16:creationId xmlns:a16="http://schemas.microsoft.com/office/drawing/2014/main" id="{13ABD982-720D-3C00-9597-79E6C8DB6529}"/>
              </a:ext>
            </a:extLst>
          </p:cNvPr>
          <p:cNvSpPr>
            <a:spLocks noGrp="1"/>
          </p:cNvSpPr>
          <p:nvPr>
            <p:ph idx="1"/>
          </p:nvPr>
        </p:nvSpPr>
        <p:spPr>
          <a:xfrm>
            <a:off x="657224" y="1918373"/>
            <a:ext cx="10753725" cy="4734354"/>
          </a:xfrm>
        </p:spPr>
        <p:txBody>
          <a:bodyPr>
            <a:normAutofit/>
          </a:bodyPr>
          <a:lstStyle/>
          <a:p>
            <a:r>
              <a:rPr lang="en-GB" sz="2800" b="1" dirty="0"/>
              <a:t>Paratextual </a:t>
            </a:r>
            <a:r>
              <a:rPr lang="en-GB" sz="2800" dirty="0"/>
              <a:t>– the other materials that are produced or associated with the text and affect how we interpret its meaning.</a:t>
            </a:r>
          </a:p>
          <a:p>
            <a:endParaRPr lang="en-GB" sz="1600" dirty="0"/>
          </a:p>
          <a:p>
            <a:pPr>
              <a:buFont typeface="Wingdings" panose="05000000000000000000" pitchFamily="2" charset="2"/>
              <a:buChar char="§"/>
            </a:pPr>
            <a:r>
              <a:rPr lang="en-GB" sz="2500" dirty="0"/>
              <a:t>The cover of a book.</a:t>
            </a:r>
          </a:p>
          <a:p>
            <a:pPr>
              <a:buFont typeface="Wingdings" panose="05000000000000000000" pitchFamily="2" charset="2"/>
              <a:buChar char="§"/>
            </a:pPr>
            <a:r>
              <a:rPr lang="en-GB" sz="2500" dirty="0"/>
              <a:t>The art inside a book.</a:t>
            </a:r>
          </a:p>
          <a:p>
            <a:pPr>
              <a:buFont typeface="Wingdings" panose="05000000000000000000" pitchFamily="2" charset="2"/>
              <a:buChar char="§"/>
            </a:pPr>
            <a:r>
              <a:rPr lang="en-GB" sz="2500" dirty="0"/>
              <a:t>The movie adaptation of a book, the movie posters, the advertising, etc.</a:t>
            </a:r>
          </a:p>
          <a:p>
            <a:pPr>
              <a:buFont typeface="Wingdings" panose="05000000000000000000" pitchFamily="2" charset="2"/>
              <a:buChar char="§"/>
            </a:pPr>
            <a:r>
              <a:rPr lang="en-GB" sz="2500" dirty="0"/>
              <a:t>The computer game, which lets you adventure in the book’s story-world.</a:t>
            </a:r>
          </a:p>
          <a:p>
            <a:pPr>
              <a:buFont typeface="Wingdings" panose="05000000000000000000" pitchFamily="2" charset="2"/>
              <a:buChar char="§"/>
            </a:pPr>
            <a:r>
              <a:rPr lang="en-GB" sz="2500" dirty="0"/>
              <a:t>The author’s name.</a:t>
            </a:r>
          </a:p>
          <a:p>
            <a:pPr>
              <a:buFont typeface="Wingdings" panose="05000000000000000000" pitchFamily="2" charset="2"/>
              <a:buChar char="§"/>
            </a:pPr>
            <a:r>
              <a:rPr lang="en-GB" sz="2500" dirty="0">
                <a:latin typeface="Arial Black" panose="020B0A04020102020204" pitchFamily="34" charset="0"/>
              </a:rPr>
              <a:t>The font the words are written in.</a:t>
            </a:r>
          </a:p>
          <a:p>
            <a:pPr>
              <a:buFont typeface="Wingdings" panose="05000000000000000000" pitchFamily="2" charset="2"/>
              <a:buChar char="§"/>
            </a:pPr>
            <a:r>
              <a:rPr lang="en-GB" sz="2500" dirty="0"/>
              <a:t>The paper/screen you read from.</a:t>
            </a:r>
            <a:endParaRPr lang="en-GB" sz="2500" dirty="0">
              <a:latin typeface="Arial Black" panose="020B0A04020102020204" pitchFamily="34" charset="0"/>
            </a:endParaRPr>
          </a:p>
        </p:txBody>
      </p:sp>
    </p:spTree>
    <p:extLst>
      <p:ext uri="{BB962C8B-B14F-4D97-AF65-F5344CB8AC3E}">
        <p14:creationId xmlns:p14="http://schemas.microsoft.com/office/powerpoint/2010/main" val="2183062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0326D-A0B4-D52C-54D1-1902B5853840}"/>
              </a:ext>
            </a:extLst>
          </p:cNvPr>
          <p:cNvSpPr>
            <a:spLocks noGrp="1"/>
          </p:cNvSpPr>
          <p:nvPr>
            <p:ph type="title"/>
          </p:nvPr>
        </p:nvSpPr>
        <p:spPr/>
        <p:txBody>
          <a:bodyPr/>
          <a:lstStyle/>
          <a:p>
            <a:r>
              <a:rPr lang="en-GB" dirty="0"/>
              <a:t>Questions  - Homework Excerpts</a:t>
            </a:r>
            <a:br>
              <a:rPr lang="en-GB" dirty="0"/>
            </a:br>
            <a:r>
              <a:rPr lang="en-GB" sz="4000" dirty="0"/>
              <a:t>Stanza 19 </a:t>
            </a:r>
            <a:endParaRPr lang="en-GB" dirty="0"/>
          </a:p>
        </p:txBody>
      </p:sp>
      <p:sp>
        <p:nvSpPr>
          <p:cNvPr id="3" name="Content Placeholder 2">
            <a:extLst>
              <a:ext uri="{FF2B5EF4-FFF2-40B4-BE49-F238E27FC236}">
                <a16:creationId xmlns:a16="http://schemas.microsoft.com/office/drawing/2014/main" id="{D216F582-C76F-74C2-A2DA-6EF5D4BF176A}"/>
              </a:ext>
            </a:extLst>
          </p:cNvPr>
          <p:cNvSpPr>
            <a:spLocks noGrp="1"/>
          </p:cNvSpPr>
          <p:nvPr>
            <p:ph idx="1"/>
          </p:nvPr>
        </p:nvSpPr>
        <p:spPr/>
        <p:txBody>
          <a:bodyPr>
            <a:normAutofit/>
          </a:bodyPr>
          <a:lstStyle/>
          <a:p>
            <a:pPr marL="0" indent="0">
              <a:buNone/>
            </a:pPr>
            <a:endParaRPr lang="en-GB" sz="2800" dirty="0"/>
          </a:p>
          <a:p>
            <a:endParaRPr lang="en-GB" dirty="0"/>
          </a:p>
          <a:p>
            <a:endParaRPr lang="en-GB" dirty="0"/>
          </a:p>
          <a:p>
            <a:endParaRPr lang="en-GB" dirty="0"/>
          </a:p>
          <a:p>
            <a:endParaRPr lang="en-GB" dirty="0"/>
          </a:p>
        </p:txBody>
      </p:sp>
      <p:sp>
        <p:nvSpPr>
          <p:cNvPr id="4" name="Content Placeholder 2">
            <a:extLst>
              <a:ext uri="{FF2B5EF4-FFF2-40B4-BE49-F238E27FC236}">
                <a16:creationId xmlns:a16="http://schemas.microsoft.com/office/drawing/2014/main" id="{8EF34B53-6E7D-F314-F53C-88FA41CE9E47}"/>
              </a:ext>
            </a:extLst>
          </p:cNvPr>
          <p:cNvSpPr txBox="1">
            <a:spLocks/>
          </p:cNvSpPr>
          <p:nvPr/>
        </p:nvSpPr>
        <p:spPr>
          <a:xfrm>
            <a:off x="761619" y="193137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600" i="1" dirty="0"/>
          </a:p>
          <a:p>
            <a:r>
              <a:rPr lang="en-GB" sz="3200" dirty="0"/>
              <a:t>What happens when Gawain takes his strike with the axe?</a:t>
            </a:r>
            <a:endParaRPr lang="en-GB" dirty="0"/>
          </a:p>
          <a:p>
            <a:endParaRPr lang="en-GB" dirty="0"/>
          </a:p>
          <a:p>
            <a:r>
              <a:rPr lang="en-GB" sz="3200" dirty="0"/>
              <a:t>What shocking thing happens next?</a:t>
            </a:r>
          </a:p>
          <a:p>
            <a:endParaRPr lang="en-GB" sz="2000" dirty="0"/>
          </a:p>
          <a:p>
            <a:pPr marL="0" indent="0">
              <a:buFont typeface="Arial" panose="020B0604020202020204" pitchFamily="34" charset="0"/>
              <a:buNone/>
            </a:pPr>
            <a:endParaRPr lang="en-GB" dirty="0"/>
          </a:p>
          <a:p>
            <a:endParaRPr lang="en-GB" dirty="0"/>
          </a:p>
        </p:txBody>
      </p:sp>
      <p:sp>
        <p:nvSpPr>
          <p:cNvPr id="5" name="TextBox 4">
            <a:extLst>
              <a:ext uri="{FF2B5EF4-FFF2-40B4-BE49-F238E27FC236}">
                <a16:creationId xmlns:a16="http://schemas.microsoft.com/office/drawing/2014/main" id="{0161D5B0-51A1-42C9-A57C-7E5B1CA2078E}"/>
              </a:ext>
            </a:extLst>
          </p:cNvPr>
          <p:cNvSpPr txBox="1"/>
          <p:nvPr/>
        </p:nvSpPr>
        <p:spPr>
          <a:xfrm>
            <a:off x="1219495" y="4405273"/>
            <a:ext cx="9753010" cy="1877437"/>
          </a:xfrm>
          <a:prstGeom prst="rect">
            <a:avLst/>
          </a:prstGeom>
          <a:noFill/>
        </p:spPr>
        <p:txBody>
          <a:bodyPr wrap="square" rtlCol="0">
            <a:spAutoFit/>
          </a:bodyPr>
          <a:lstStyle/>
          <a:p>
            <a:r>
              <a:rPr lang="en-GB" sz="2400" b="1" dirty="0"/>
              <a:t>A ‘beheading game’ is found in the 8</a:t>
            </a:r>
            <a:r>
              <a:rPr lang="en-GB" sz="2400" b="1" baseline="30000" dirty="0"/>
              <a:t>th</a:t>
            </a:r>
            <a:r>
              <a:rPr lang="en-GB" sz="2400" b="1" dirty="0"/>
              <a:t> century Irish story </a:t>
            </a:r>
            <a:r>
              <a:rPr lang="en-GB" sz="2400" b="1" i="1" dirty="0"/>
              <a:t>Fled </a:t>
            </a:r>
            <a:r>
              <a:rPr lang="en-GB" sz="2400" b="1" i="1" dirty="0" err="1"/>
              <a:t>Bricrenn</a:t>
            </a:r>
            <a:r>
              <a:rPr lang="en-GB" sz="2400" b="1" i="1" dirty="0"/>
              <a:t>. </a:t>
            </a:r>
            <a:r>
              <a:rPr lang="en-GB" sz="2400" b="1" dirty="0"/>
              <a:t>It was well known from Irish myths, and Arthurian romances.</a:t>
            </a:r>
          </a:p>
          <a:p>
            <a:endParaRPr lang="en-GB" sz="2000" b="1" dirty="0"/>
          </a:p>
          <a:p>
            <a:r>
              <a:rPr lang="en-GB" sz="2400" b="1" dirty="0"/>
              <a:t>It gives the hero a chance to show he will keep his chivalric pledge, and can bravely face death.</a:t>
            </a:r>
          </a:p>
        </p:txBody>
      </p:sp>
    </p:spTree>
    <p:extLst>
      <p:ext uri="{BB962C8B-B14F-4D97-AF65-F5344CB8AC3E}">
        <p14:creationId xmlns:p14="http://schemas.microsoft.com/office/powerpoint/2010/main" val="1087513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500"/>
                                        <p:tgtEl>
                                          <p:spTgt spid="4">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 calcmode="lin" valueType="num">
                                      <p:cBhvr additive="base">
                                        <p:cTn id="15"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0" end="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0326D-A0B4-D52C-54D1-1902B5853840}"/>
              </a:ext>
            </a:extLst>
          </p:cNvPr>
          <p:cNvSpPr>
            <a:spLocks noGrp="1"/>
          </p:cNvSpPr>
          <p:nvPr>
            <p:ph type="title"/>
          </p:nvPr>
        </p:nvSpPr>
        <p:spPr/>
        <p:txBody>
          <a:bodyPr/>
          <a:lstStyle/>
          <a:p>
            <a:r>
              <a:rPr lang="en-GB" dirty="0"/>
              <a:t>Gawain’s Journey</a:t>
            </a:r>
            <a:endParaRPr lang="en-GB" sz="4000" dirty="0"/>
          </a:p>
        </p:txBody>
      </p:sp>
      <p:sp>
        <p:nvSpPr>
          <p:cNvPr id="3" name="Content Placeholder 2">
            <a:extLst>
              <a:ext uri="{FF2B5EF4-FFF2-40B4-BE49-F238E27FC236}">
                <a16:creationId xmlns:a16="http://schemas.microsoft.com/office/drawing/2014/main" id="{D216F582-C76F-74C2-A2DA-6EF5D4BF176A}"/>
              </a:ext>
            </a:extLst>
          </p:cNvPr>
          <p:cNvSpPr>
            <a:spLocks noGrp="1"/>
          </p:cNvSpPr>
          <p:nvPr>
            <p:ph idx="1"/>
          </p:nvPr>
        </p:nvSpPr>
        <p:spPr/>
        <p:txBody>
          <a:bodyPr>
            <a:normAutofit/>
          </a:bodyPr>
          <a:lstStyle/>
          <a:p>
            <a:pPr marL="0" indent="0">
              <a:buNone/>
            </a:pPr>
            <a:endParaRPr lang="en-GB" sz="2800" dirty="0"/>
          </a:p>
          <a:p>
            <a:endParaRPr lang="en-GB" dirty="0"/>
          </a:p>
          <a:p>
            <a:endParaRPr lang="en-GB" dirty="0"/>
          </a:p>
          <a:p>
            <a:endParaRPr lang="en-GB" dirty="0"/>
          </a:p>
        </p:txBody>
      </p:sp>
      <p:sp>
        <p:nvSpPr>
          <p:cNvPr id="4" name="Content Placeholder 2">
            <a:extLst>
              <a:ext uri="{FF2B5EF4-FFF2-40B4-BE49-F238E27FC236}">
                <a16:creationId xmlns:a16="http://schemas.microsoft.com/office/drawing/2014/main" id="{8EF34B53-6E7D-F314-F53C-88FA41CE9E47}"/>
              </a:ext>
            </a:extLst>
          </p:cNvPr>
          <p:cNvSpPr txBox="1">
            <a:spLocks/>
          </p:cNvSpPr>
          <p:nvPr/>
        </p:nvSpPr>
        <p:spPr>
          <a:xfrm>
            <a:off x="761619" y="1931372"/>
            <a:ext cx="6991738" cy="46294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i="1" dirty="0"/>
          </a:p>
          <a:p>
            <a:r>
              <a:rPr lang="en-GB" sz="3200" dirty="0"/>
              <a:t>Gawain travels from the West Midlands, past Wales, to a forested land.</a:t>
            </a:r>
          </a:p>
          <a:p>
            <a:endParaRPr lang="en-GB" sz="2000" dirty="0"/>
          </a:p>
          <a:p>
            <a:endParaRPr lang="en-GB" sz="1800" dirty="0"/>
          </a:p>
          <a:p>
            <a:r>
              <a:rPr lang="en-GB" sz="3200" dirty="0"/>
              <a:t>He fights wolves, dragons, wild men… and must also survive the cold.</a:t>
            </a:r>
          </a:p>
          <a:p>
            <a:endParaRPr lang="en-GB" sz="3200" dirty="0"/>
          </a:p>
        </p:txBody>
      </p:sp>
      <p:pic>
        <p:nvPicPr>
          <p:cNvPr id="5122" name="Picture 2" descr="Sir Gawain and the Green Knight - Exodus Books">
            <a:extLst>
              <a:ext uri="{FF2B5EF4-FFF2-40B4-BE49-F238E27FC236}">
                <a16:creationId xmlns:a16="http://schemas.microsoft.com/office/drawing/2014/main" id="{3564BB08-68D6-01A0-9A4C-743866D71E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3739" y="1728973"/>
            <a:ext cx="3599870" cy="4629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16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12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0326D-A0B4-D52C-54D1-1902B5853840}"/>
              </a:ext>
            </a:extLst>
          </p:cNvPr>
          <p:cNvSpPr>
            <a:spLocks noGrp="1"/>
          </p:cNvSpPr>
          <p:nvPr>
            <p:ph type="title"/>
          </p:nvPr>
        </p:nvSpPr>
        <p:spPr/>
        <p:txBody>
          <a:bodyPr/>
          <a:lstStyle/>
          <a:p>
            <a:r>
              <a:rPr lang="en-GB" dirty="0"/>
              <a:t>Questions  - Homework Excerpts</a:t>
            </a:r>
            <a:br>
              <a:rPr lang="en-GB" dirty="0"/>
            </a:br>
            <a:r>
              <a:rPr lang="en-GB" sz="4000" dirty="0"/>
              <a:t>Stanzas 45, 60, and 74</a:t>
            </a:r>
          </a:p>
        </p:txBody>
      </p:sp>
      <p:sp>
        <p:nvSpPr>
          <p:cNvPr id="3" name="Content Placeholder 2">
            <a:extLst>
              <a:ext uri="{FF2B5EF4-FFF2-40B4-BE49-F238E27FC236}">
                <a16:creationId xmlns:a16="http://schemas.microsoft.com/office/drawing/2014/main" id="{D216F582-C76F-74C2-A2DA-6EF5D4BF176A}"/>
              </a:ext>
            </a:extLst>
          </p:cNvPr>
          <p:cNvSpPr>
            <a:spLocks noGrp="1"/>
          </p:cNvSpPr>
          <p:nvPr>
            <p:ph idx="1"/>
          </p:nvPr>
        </p:nvSpPr>
        <p:spPr/>
        <p:txBody>
          <a:bodyPr>
            <a:normAutofit/>
          </a:bodyPr>
          <a:lstStyle/>
          <a:p>
            <a:pPr marL="0" indent="0">
              <a:buNone/>
            </a:pPr>
            <a:endParaRPr lang="en-GB" sz="2800" dirty="0"/>
          </a:p>
          <a:p>
            <a:endParaRPr lang="en-GB" dirty="0"/>
          </a:p>
          <a:p>
            <a:endParaRPr lang="en-GB" dirty="0"/>
          </a:p>
          <a:p>
            <a:endParaRPr lang="en-GB" dirty="0"/>
          </a:p>
        </p:txBody>
      </p:sp>
      <p:sp>
        <p:nvSpPr>
          <p:cNvPr id="4" name="Content Placeholder 2">
            <a:extLst>
              <a:ext uri="{FF2B5EF4-FFF2-40B4-BE49-F238E27FC236}">
                <a16:creationId xmlns:a16="http://schemas.microsoft.com/office/drawing/2014/main" id="{8EF34B53-6E7D-F314-F53C-88FA41CE9E47}"/>
              </a:ext>
            </a:extLst>
          </p:cNvPr>
          <p:cNvSpPr txBox="1">
            <a:spLocks/>
          </p:cNvSpPr>
          <p:nvPr/>
        </p:nvSpPr>
        <p:spPr>
          <a:xfrm>
            <a:off x="761619" y="193137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2000" i="1" dirty="0"/>
          </a:p>
          <a:p>
            <a:r>
              <a:rPr lang="en-GB" sz="3200" dirty="0"/>
              <a:t>Stanza 45 – What agreement does Gawain make with the lord of the castle?</a:t>
            </a:r>
          </a:p>
          <a:p>
            <a:endParaRPr lang="en-GB" dirty="0"/>
          </a:p>
          <a:p>
            <a:r>
              <a:rPr lang="en-GB" sz="3200" dirty="0"/>
              <a:t>Stanza 60 – What tests does Gawain face? How does the lady refer to chivalry and courtly love?</a:t>
            </a:r>
          </a:p>
          <a:p>
            <a:endParaRPr lang="en-GB" dirty="0"/>
          </a:p>
          <a:p>
            <a:r>
              <a:rPr lang="en-GB" sz="3200" dirty="0"/>
              <a:t>Stanza 74 – What gift does Gawain accept?</a:t>
            </a:r>
          </a:p>
          <a:p>
            <a:endParaRPr lang="en-GB" sz="3200" dirty="0"/>
          </a:p>
        </p:txBody>
      </p:sp>
    </p:spTree>
    <p:extLst>
      <p:ext uri="{BB962C8B-B14F-4D97-AF65-F5344CB8AC3E}">
        <p14:creationId xmlns:p14="http://schemas.microsoft.com/office/powerpoint/2010/main" val="3126859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5" end="5"/>
                                            </p:txEl>
                                          </p:spTgt>
                                        </p:tgtEl>
                                        <p:attrNameLst>
                                          <p:attrName>style.visibility</p:attrName>
                                        </p:attrNameLst>
                                      </p:cBhvr>
                                      <p:to>
                                        <p:strVal val="visible"/>
                                      </p:to>
                                    </p:set>
                                    <p:animEffect transition="in" filter="fade">
                                      <p:cBhvr>
                                        <p:cTn id="10" dur="500"/>
                                        <p:tgtEl>
                                          <p:spTgt spid="4">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A0867-9F9E-4CC8-A9CF-E69F6CC00CC4}"/>
              </a:ext>
            </a:extLst>
          </p:cNvPr>
          <p:cNvSpPr>
            <a:spLocks noGrp="1"/>
          </p:cNvSpPr>
          <p:nvPr>
            <p:ph type="title"/>
          </p:nvPr>
        </p:nvSpPr>
        <p:spPr/>
        <p:txBody>
          <a:bodyPr/>
          <a:lstStyle/>
          <a:p>
            <a:r>
              <a:rPr lang="en-GB" dirty="0"/>
              <a:t>Knights and Chivalry</a:t>
            </a:r>
          </a:p>
        </p:txBody>
      </p:sp>
      <p:sp>
        <p:nvSpPr>
          <p:cNvPr id="3" name="Content Placeholder 2">
            <a:extLst>
              <a:ext uri="{FF2B5EF4-FFF2-40B4-BE49-F238E27FC236}">
                <a16:creationId xmlns:a16="http://schemas.microsoft.com/office/drawing/2014/main" id="{4758630C-361B-4FE6-940A-4E6A05091531}"/>
              </a:ext>
            </a:extLst>
          </p:cNvPr>
          <p:cNvSpPr>
            <a:spLocks noGrp="1"/>
          </p:cNvSpPr>
          <p:nvPr>
            <p:ph idx="1"/>
          </p:nvPr>
        </p:nvSpPr>
        <p:spPr>
          <a:xfrm>
            <a:off x="515331" y="2087538"/>
            <a:ext cx="6769943" cy="4397238"/>
          </a:xfrm>
        </p:spPr>
        <p:txBody>
          <a:bodyPr>
            <a:normAutofit lnSpcReduction="10000"/>
          </a:bodyPr>
          <a:lstStyle/>
          <a:p>
            <a:r>
              <a:rPr lang="en-US" sz="2800" dirty="0"/>
              <a:t>Chivalric culture developed in Europe, particularly by the 11</a:t>
            </a:r>
            <a:r>
              <a:rPr lang="en-US" sz="2800" baseline="30000" dirty="0"/>
              <a:t>th</a:t>
            </a:r>
            <a:r>
              <a:rPr lang="en-US" sz="2800" dirty="0"/>
              <a:t> and 12</a:t>
            </a:r>
            <a:r>
              <a:rPr lang="en-US" sz="2800" baseline="30000" dirty="0"/>
              <a:t>th</a:t>
            </a:r>
            <a:r>
              <a:rPr lang="en-US" sz="2800" dirty="0"/>
              <a:t> centuries. It was influenced by Christian beliefs, and also the legacy of warrior culture.</a:t>
            </a:r>
          </a:p>
          <a:p>
            <a:endParaRPr lang="en-US" sz="900" dirty="0"/>
          </a:p>
          <a:p>
            <a:r>
              <a:rPr lang="en-GB" sz="2800" dirty="0"/>
              <a:t>Compared to Beowulf</a:t>
            </a:r>
            <a:r>
              <a:rPr lang="en-GB" sz="2800" i="1" dirty="0"/>
              <a:t>, </a:t>
            </a:r>
            <a:r>
              <a:rPr lang="en-GB" sz="2800" dirty="0"/>
              <a:t>the knights of Arthurian Romances have a (purported) higher code of conduct. </a:t>
            </a:r>
          </a:p>
          <a:p>
            <a:endParaRPr lang="en-GB" sz="900" dirty="0"/>
          </a:p>
          <a:p>
            <a:r>
              <a:rPr lang="en-GB" sz="2800" dirty="0"/>
              <a:t>Yet, they do not always live up to the ideals – sometimes they betray each other or sin in other ways.</a:t>
            </a:r>
            <a:endParaRPr lang="en-GB" sz="900" dirty="0"/>
          </a:p>
        </p:txBody>
      </p:sp>
      <p:pic>
        <p:nvPicPr>
          <p:cNvPr id="4" name="Content Placeholder 3">
            <a:extLst>
              <a:ext uri="{FF2B5EF4-FFF2-40B4-BE49-F238E27FC236}">
                <a16:creationId xmlns:a16="http://schemas.microsoft.com/office/drawing/2014/main" id="{6625EE85-3523-7D88-BC73-01C88A502D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5274" y="1916270"/>
            <a:ext cx="4906726" cy="3468715"/>
          </a:xfrm>
          <a:prstGeom prst="rect">
            <a:avLst/>
          </a:prstGeom>
        </p:spPr>
      </p:pic>
    </p:spTree>
    <p:extLst>
      <p:ext uri="{BB962C8B-B14F-4D97-AF65-F5344CB8AC3E}">
        <p14:creationId xmlns:p14="http://schemas.microsoft.com/office/powerpoint/2010/main" val="447762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EC826-74C9-4C3F-99BB-3E0A165EC2BB}"/>
              </a:ext>
            </a:extLst>
          </p:cNvPr>
          <p:cNvSpPr>
            <a:spLocks noGrp="1"/>
          </p:cNvSpPr>
          <p:nvPr>
            <p:ph type="title"/>
          </p:nvPr>
        </p:nvSpPr>
        <p:spPr/>
        <p:txBody>
          <a:bodyPr>
            <a:normAutofit/>
          </a:bodyPr>
          <a:lstStyle/>
          <a:p>
            <a:r>
              <a:rPr lang="en-GB" i="1" dirty="0"/>
              <a:t>Song of Roland </a:t>
            </a:r>
            <a:br>
              <a:rPr lang="en-GB" dirty="0"/>
            </a:br>
            <a:r>
              <a:rPr lang="en-GB" sz="4800" dirty="0"/>
              <a:t>(an epic French poem, 11</a:t>
            </a:r>
            <a:r>
              <a:rPr lang="en-GB" sz="4800" baseline="30000" dirty="0"/>
              <a:t>th</a:t>
            </a:r>
            <a:r>
              <a:rPr lang="en-GB" sz="4800" dirty="0"/>
              <a:t> Century)</a:t>
            </a:r>
            <a:endParaRPr lang="en-GB" dirty="0"/>
          </a:p>
        </p:txBody>
      </p:sp>
      <p:sp>
        <p:nvSpPr>
          <p:cNvPr id="3" name="Content Placeholder 2">
            <a:extLst>
              <a:ext uri="{FF2B5EF4-FFF2-40B4-BE49-F238E27FC236}">
                <a16:creationId xmlns:a16="http://schemas.microsoft.com/office/drawing/2014/main" id="{E3931932-8A81-48CE-9CA5-63617D77BC2D}"/>
              </a:ext>
            </a:extLst>
          </p:cNvPr>
          <p:cNvSpPr>
            <a:spLocks noGrp="1"/>
          </p:cNvSpPr>
          <p:nvPr>
            <p:ph idx="1"/>
          </p:nvPr>
        </p:nvSpPr>
        <p:spPr>
          <a:xfrm>
            <a:off x="724628" y="2614614"/>
            <a:ext cx="6058728" cy="2769150"/>
          </a:xfrm>
        </p:spPr>
        <p:txBody>
          <a:bodyPr/>
          <a:lstStyle/>
          <a:p>
            <a:r>
              <a:rPr lang="en-GB" sz="2800" dirty="0"/>
              <a:t>Fear God and His Church</a:t>
            </a:r>
          </a:p>
          <a:p>
            <a:r>
              <a:rPr lang="en-GB" sz="2800" dirty="0"/>
              <a:t>Serve the liege Lord in valour and faith</a:t>
            </a:r>
          </a:p>
          <a:p>
            <a:r>
              <a:rPr lang="en-GB" sz="2800" dirty="0"/>
              <a:t>Protect the weak and defenceless</a:t>
            </a:r>
          </a:p>
          <a:p>
            <a:r>
              <a:rPr lang="en-GB" sz="2800" dirty="0"/>
              <a:t>Live by honour and for glory</a:t>
            </a:r>
          </a:p>
          <a:p>
            <a:r>
              <a:rPr lang="en-GB" sz="2800" dirty="0"/>
              <a:t>Respect the honour of women</a:t>
            </a:r>
          </a:p>
          <a:p>
            <a:endParaRPr lang="en-GB" dirty="0"/>
          </a:p>
        </p:txBody>
      </p:sp>
      <p:pic>
        <p:nvPicPr>
          <p:cNvPr id="5" name="Picture 4">
            <a:extLst>
              <a:ext uri="{FF2B5EF4-FFF2-40B4-BE49-F238E27FC236}">
                <a16:creationId xmlns:a16="http://schemas.microsoft.com/office/drawing/2014/main" id="{0439EB14-7A12-4BC6-854D-65BF3AEE74E3}"/>
              </a:ext>
            </a:extLst>
          </p:cNvPr>
          <p:cNvPicPr>
            <a:picLocks noChangeAspect="1"/>
          </p:cNvPicPr>
          <p:nvPr/>
        </p:nvPicPr>
        <p:blipFill>
          <a:blip r:embed="rId2"/>
          <a:stretch>
            <a:fillRect/>
          </a:stretch>
        </p:blipFill>
        <p:spPr>
          <a:xfrm>
            <a:off x="6783356" y="2194823"/>
            <a:ext cx="3907518" cy="4141969"/>
          </a:xfrm>
          <a:prstGeom prst="rect">
            <a:avLst/>
          </a:prstGeom>
        </p:spPr>
      </p:pic>
    </p:spTree>
    <p:extLst>
      <p:ext uri="{BB962C8B-B14F-4D97-AF65-F5344CB8AC3E}">
        <p14:creationId xmlns:p14="http://schemas.microsoft.com/office/powerpoint/2010/main" val="26948671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0326D-A0B4-D52C-54D1-1902B5853840}"/>
              </a:ext>
            </a:extLst>
          </p:cNvPr>
          <p:cNvSpPr>
            <a:spLocks noGrp="1"/>
          </p:cNvSpPr>
          <p:nvPr>
            <p:ph type="title"/>
          </p:nvPr>
        </p:nvSpPr>
        <p:spPr/>
        <p:txBody>
          <a:bodyPr/>
          <a:lstStyle/>
          <a:p>
            <a:r>
              <a:rPr lang="en-GB" dirty="0"/>
              <a:t>Questions  - Homework Excerpts</a:t>
            </a:r>
            <a:br>
              <a:rPr lang="en-GB" dirty="0"/>
            </a:br>
            <a:r>
              <a:rPr lang="en-GB" sz="4000" dirty="0"/>
              <a:t>Stanzas 91 and 93</a:t>
            </a:r>
          </a:p>
        </p:txBody>
      </p:sp>
      <p:sp>
        <p:nvSpPr>
          <p:cNvPr id="3" name="Content Placeholder 2">
            <a:extLst>
              <a:ext uri="{FF2B5EF4-FFF2-40B4-BE49-F238E27FC236}">
                <a16:creationId xmlns:a16="http://schemas.microsoft.com/office/drawing/2014/main" id="{D216F582-C76F-74C2-A2DA-6EF5D4BF176A}"/>
              </a:ext>
            </a:extLst>
          </p:cNvPr>
          <p:cNvSpPr>
            <a:spLocks noGrp="1"/>
          </p:cNvSpPr>
          <p:nvPr>
            <p:ph idx="1"/>
          </p:nvPr>
        </p:nvSpPr>
        <p:spPr/>
        <p:txBody>
          <a:bodyPr>
            <a:normAutofit/>
          </a:bodyPr>
          <a:lstStyle/>
          <a:p>
            <a:pPr marL="0" indent="0">
              <a:buNone/>
            </a:pPr>
            <a:endParaRPr lang="en-GB" sz="2800" dirty="0"/>
          </a:p>
          <a:p>
            <a:endParaRPr lang="en-GB" dirty="0"/>
          </a:p>
          <a:p>
            <a:endParaRPr lang="en-GB" dirty="0"/>
          </a:p>
          <a:p>
            <a:endParaRPr lang="en-GB" dirty="0"/>
          </a:p>
        </p:txBody>
      </p:sp>
      <p:sp>
        <p:nvSpPr>
          <p:cNvPr id="4" name="Content Placeholder 2">
            <a:extLst>
              <a:ext uri="{FF2B5EF4-FFF2-40B4-BE49-F238E27FC236}">
                <a16:creationId xmlns:a16="http://schemas.microsoft.com/office/drawing/2014/main" id="{8EF34B53-6E7D-F314-F53C-88FA41CE9E47}"/>
              </a:ext>
            </a:extLst>
          </p:cNvPr>
          <p:cNvSpPr txBox="1">
            <a:spLocks/>
          </p:cNvSpPr>
          <p:nvPr/>
        </p:nvSpPr>
        <p:spPr>
          <a:xfrm>
            <a:off x="761618" y="1931372"/>
            <a:ext cx="1077277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3200" dirty="0"/>
          </a:p>
          <a:p>
            <a:pPr marL="0" indent="0">
              <a:buNone/>
            </a:pPr>
            <a:r>
              <a:rPr lang="en-GB" sz="3200" dirty="0"/>
              <a:t>Gawain finds the Green Knight, to be struck by the axe.</a:t>
            </a:r>
            <a:endParaRPr lang="en-GB" sz="3200" i="1" dirty="0"/>
          </a:p>
          <a:p>
            <a:endParaRPr lang="en-GB" sz="3200" i="1" dirty="0"/>
          </a:p>
          <a:p>
            <a:r>
              <a:rPr lang="en-GB" sz="3200" dirty="0"/>
              <a:t>Stanza 91 - What happens when the Green Knight prepares to swing?</a:t>
            </a:r>
          </a:p>
          <a:p>
            <a:endParaRPr lang="en-GB" sz="3200" dirty="0"/>
          </a:p>
          <a:p>
            <a:r>
              <a:rPr lang="en-GB" sz="3200" dirty="0"/>
              <a:t>Stanza 93 - What happens when he swings the axe the third time?</a:t>
            </a:r>
            <a:endParaRPr lang="en-GB" dirty="0"/>
          </a:p>
        </p:txBody>
      </p:sp>
    </p:spTree>
    <p:extLst>
      <p:ext uri="{BB962C8B-B14F-4D97-AF65-F5344CB8AC3E}">
        <p14:creationId xmlns:p14="http://schemas.microsoft.com/office/powerpoint/2010/main" val="1311034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animEffect transition="in" filter="fade">
                                      <p:cBhvr>
                                        <p:cTn id="13"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0326D-A0B4-D52C-54D1-1902B5853840}"/>
              </a:ext>
            </a:extLst>
          </p:cNvPr>
          <p:cNvSpPr>
            <a:spLocks noGrp="1"/>
          </p:cNvSpPr>
          <p:nvPr>
            <p:ph type="title"/>
          </p:nvPr>
        </p:nvSpPr>
        <p:spPr/>
        <p:txBody>
          <a:bodyPr/>
          <a:lstStyle/>
          <a:p>
            <a:r>
              <a:rPr lang="en-GB" dirty="0"/>
              <a:t>Questions  - Homework Excerpts</a:t>
            </a:r>
            <a:br>
              <a:rPr lang="en-GB" dirty="0"/>
            </a:br>
            <a:r>
              <a:rPr lang="en-GB" sz="4000" dirty="0"/>
              <a:t>Stanzas 94, 95, and 100</a:t>
            </a:r>
          </a:p>
        </p:txBody>
      </p:sp>
      <p:sp>
        <p:nvSpPr>
          <p:cNvPr id="3" name="Content Placeholder 2">
            <a:extLst>
              <a:ext uri="{FF2B5EF4-FFF2-40B4-BE49-F238E27FC236}">
                <a16:creationId xmlns:a16="http://schemas.microsoft.com/office/drawing/2014/main" id="{D216F582-C76F-74C2-A2DA-6EF5D4BF176A}"/>
              </a:ext>
            </a:extLst>
          </p:cNvPr>
          <p:cNvSpPr>
            <a:spLocks noGrp="1"/>
          </p:cNvSpPr>
          <p:nvPr>
            <p:ph idx="1"/>
          </p:nvPr>
        </p:nvSpPr>
        <p:spPr/>
        <p:txBody>
          <a:bodyPr>
            <a:normAutofit/>
          </a:bodyPr>
          <a:lstStyle/>
          <a:p>
            <a:pPr marL="0" indent="0">
              <a:buNone/>
            </a:pPr>
            <a:endParaRPr lang="en-GB" sz="2800" dirty="0"/>
          </a:p>
          <a:p>
            <a:endParaRPr lang="en-GB" dirty="0"/>
          </a:p>
          <a:p>
            <a:endParaRPr lang="en-GB" dirty="0"/>
          </a:p>
          <a:p>
            <a:endParaRPr lang="en-GB" dirty="0"/>
          </a:p>
        </p:txBody>
      </p:sp>
      <p:sp>
        <p:nvSpPr>
          <p:cNvPr id="4" name="Content Placeholder 2">
            <a:extLst>
              <a:ext uri="{FF2B5EF4-FFF2-40B4-BE49-F238E27FC236}">
                <a16:creationId xmlns:a16="http://schemas.microsoft.com/office/drawing/2014/main" id="{8EF34B53-6E7D-F314-F53C-88FA41CE9E47}"/>
              </a:ext>
            </a:extLst>
          </p:cNvPr>
          <p:cNvSpPr txBox="1">
            <a:spLocks/>
          </p:cNvSpPr>
          <p:nvPr/>
        </p:nvSpPr>
        <p:spPr>
          <a:xfrm>
            <a:off x="761619" y="193137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i="1" dirty="0"/>
          </a:p>
          <a:p>
            <a:r>
              <a:rPr lang="en-GB" sz="3200" dirty="0"/>
              <a:t>Stanzas 94 and 95 – The Green Knight explains to Gawain the truth of what has </a:t>
            </a:r>
            <a:r>
              <a:rPr lang="en-GB" sz="3200"/>
              <a:t>been happening. </a:t>
            </a:r>
            <a:r>
              <a:rPr lang="en-GB" sz="3200" dirty="0"/>
              <a:t>What does he say? </a:t>
            </a:r>
          </a:p>
          <a:p>
            <a:endParaRPr lang="en-GB" sz="3200" dirty="0"/>
          </a:p>
          <a:p>
            <a:r>
              <a:rPr lang="en-GB" sz="3200" dirty="0"/>
              <a:t>Stanza 100 - What happens when Gawain returns to King Arthur’s Court?</a:t>
            </a:r>
          </a:p>
          <a:p>
            <a:endParaRPr lang="en-GB" sz="1800" dirty="0"/>
          </a:p>
          <a:p>
            <a:r>
              <a:rPr lang="en-GB" sz="3200" dirty="0"/>
              <a:t>What has he learnt from his quest?</a:t>
            </a:r>
            <a:endParaRPr lang="en-GB" dirty="0"/>
          </a:p>
        </p:txBody>
      </p:sp>
    </p:spTree>
    <p:extLst>
      <p:ext uri="{BB962C8B-B14F-4D97-AF65-F5344CB8AC3E}">
        <p14:creationId xmlns:p14="http://schemas.microsoft.com/office/powerpoint/2010/main" val="642227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animEffect transition="in" filter="fade">
                                      <p:cBhvr>
                                        <p:cTn id="13"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DFCBE76-D5F8-5191-F8B2-1F0FB4422D8A}"/>
              </a:ext>
            </a:extLst>
          </p:cNvPr>
          <p:cNvSpPr>
            <a:spLocks noGrp="1"/>
          </p:cNvSpPr>
          <p:nvPr>
            <p:ph type="title"/>
          </p:nvPr>
        </p:nvSpPr>
        <p:spPr>
          <a:xfrm>
            <a:off x="603504" y="767419"/>
            <a:ext cx="8549827" cy="3355848"/>
          </a:xfrm>
        </p:spPr>
        <p:txBody>
          <a:bodyPr>
            <a:normAutofit/>
          </a:bodyPr>
          <a:lstStyle/>
          <a:p>
            <a:r>
              <a:rPr lang="en-GB" sz="6600" i="1" dirty="0"/>
              <a:t>Ivanhoe</a:t>
            </a:r>
            <a:r>
              <a:rPr lang="en-GB" sz="6600" dirty="0"/>
              <a:t> (1819) </a:t>
            </a:r>
            <a:br>
              <a:rPr lang="en-GB" sz="6600" dirty="0"/>
            </a:br>
            <a:r>
              <a:rPr lang="en-GB" sz="6600" dirty="0"/>
              <a:t>by Sir Walter Scott </a:t>
            </a:r>
            <a:endParaRPr lang="en-GB" sz="8000" dirty="0"/>
          </a:p>
        </p:txBody>
      </p:sp>
      <p:sp>
        <p:nvSpPr>
          <p:cNvPr id="9" name="Text Placeholder 8">
            <a:extLst>
              <a:ext uri="{FF2B5EF4-FFF2-40B4-BE49-F238E27FC236}">
                <a16:creationId xmlns:a16="http://schemas.microsoft.com/office/drawing/2014/main" id="{B833DB6B-ED2A-8264-7189-C6D216BAF638}"/>
              </a:ext>
            </a:extLst>
          </p:cNvPr>
          <p:cNvSpPr>
            <a:spLocks noGrp="1"/>
          </p:cNvSpPr>
          <p:nvPr>
            <p:ph type="body" idx="1"/>
          </p:nvPr>
        </p:nvSpPr>
        <p:spPr/>
        <p:txBody>
          <a:bodyPr/>
          <a:lstStyle/>
          <a:p>
            <a:endParaRPr lang="en-GB" dirty="0"/>
          </a:p>
        </p:txBody>
      </p:sp>
      <p:pic>
        <p:nvPicPr>
          <p:cNvPr id="10242" name="Picture 2" descr="undefined">
            <a:extLst>
              <a:ext uri="{FF2B5EF4-FFF2-40B4-BE49-F238E27FC236}">
                <a16:creationId xmlns:a16="http://schemas.microsoft.com/office/drawing/2014/main" id="{8094DB6C-351B-D0B7-B685-9296DD9BF8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6317" y="284583"/>
            <a:ext cx="3621902" cy="6288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0843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CA35-63F6-4D8F-9186-D3D64E1B9362}"/>
              </a:ext>
            </a:extLst>
          </p:cNvPr>
          <p:cNvSpPr>
            <a:spLocks noGrp="1"/>
          </p:cNvSpPr>
          <p:nvPr>
            <p:ph type="title"/>
          </p:nvPr>
        </p:nvSpPr>
        <p:spPr>
          <a:xfrm>
            <a:off x="657225" y="499533"/>
            <a:ext cx="11106150" cy="1658198"/>
          </a:xfrm>
        </p:spPr>
        <p:txBody>
          <a:bodyPr>
            <a:normAutofit/>
          </a:bodyPr>
          <a:lstStyle/>
          <a:p>
            <a:r>
              <a:rPr lang="en-GB" sz="4800" dirty="0"/>
              <a:t>Summarise what happens in the excerpt</a:t>
            </a:r>
          </a:p>
        </p:txBody>
      </p:sp>
      <p:pic>
        <p:nvPicPr>
          <p:cNvPr id="9" name="Picture 8">
            <a:extLst>
              <a:ext uri="{FF2B5EF4-FFF2-40B4-BE49-F238E27FC236}">
                <a16:creationId xmlns:a16="http://schemas.microsoft.com/office/drawing/2014/main" id="{64CEAB7C-C501-446C-B508-1A417ED1B908}"/>
              </a:ext>
            </a:extLst>
          </p:cNvPr>
          <p:cNvPicPr>
            <a:picLocks noChangeAspect="1"/>
          </p:cNvPicPr>
          <p:nvPr/>
        </p:nvPicPr>
        <p:blipFill>
          <a:blip r:embed="rId2"/>
          <a:stretch>
            <a:fillRect/>
          </a:stretch>
        </p:blipFill>
        <p:spPr>
          <a:xfrm>
            <a:off x="5737128" y="2430282"/>
            <a:ext cx="6159441" cy="4123262"/>
          </a:xfrm>
          <a:prstGeom prst="rect">
            <a:avLst/>
          </a:prstGeom>
        </p:spPr>
      </p:pic>
      <p:pic>
        <p:nvPicPr>
          <p:cNvPr id="6" name="Content Placeholder 4">
            <a:extLst>
              <a:ext uri="{FF2B5EF4-FFF2-40B4-BE49-F238E27FC236}">
                <a16:creationId xmlns:a16="http://schemas.microsoft.com/office/drawing/2014/main" id="{FF03DB23-5E51-8D8F-ED99-8695336FE59C}"/>
              </a:ext>
            </a:extLst>
          </p:cNvPr>
          <p:cNvPicPr>
            <a:picLocks noChangeAspect="1"/>
          </p:cNvPicPr>
          <p:nvPr/>
        </p:nvPicPr>
        <p:blipFill>
          <a:blip r:embed="rId3"/>
          <a:stretch>
            <a:fillRect/>
          </a:stretch>
        </p:blipFill>
        <p:spPr>
          <a:xfrm>
            <a:off x="210468" y="2430282"/>
            <a:ext cx="5369830" cy="4123262"/>
          </a:xfrm>
          <a:prstGeom prst="rect">
            <a:avLst/>
          </a:prstGeom>
        </p:spPr>
      </p:pic>
    </p:spTree>
    <p:extLst>
      <p:ext uri="{BB962C8B-B14F-4D97-AF65-F5344CB8AC3E}">
        <p14:creationId xmlns:p14="http://schemas.microsoft.com/office/powerpoint/2010/main" val="897486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5AC21-A766-65CA-4238-FB84AC46F66E}"/>
              </a:ext>
            </a:extLst>
          </p:cNvPr>
          <p:cNvSpPr>
            <a:spLocks noGrp="1"/>
          </p:cNvSpPr>
          <p:nvPr>
            <p:ph type="title"/>
          </p:nvPr>
        </p:nvSpPr>
        <p:spPr/>
        <p:txBody>
          <a:bodyPr/>
          <a:lstStyle/>
          <a:p>
            <a:r>
              <a:rPr lang="en-GB" dirty="0"/>
              <a:t>Walter Scott </a:t>
            </a:r>
            <a:r>
              <a:rPr lang="en-GB" sz="4800" dirty="0"/>
              <a:t>– (1771-1832) </a:t>
            </a:r>
            <a:endParaRPr lang="en-GB" dirty="0"/>
          </a:p>
        </p:txBody>
      </p:sp>
      <p:sp>
        <p:nvSpPr>
          <p:cNvPr id="3" name="Content Placeholder 2">
            <a:extLst>
              <a:ext uri="{FF2B5EF4-FFF2-40B4-BE49-F238E27FC236}">
                <a16:creationId xmlns:a16="http://schemas.microsoft.com/office/drawing/2014/main" id="{8A698437-238B-4044-C38F-AC8B12C7AC72}"/>
              </a:ext>
            </a:extLst>
          </p:cNvPr>
          <p:cNvSpPr>
            <a:spLocks noGrp="1"/>
          </p:cNvSpPr>
          <p:nvPr>
            <p:ph idx="1"/>
          </p:nvPr>
        </p:nvSpPr>
        <p:spPr>
          <a:xfrm>
            <a:off x="676656" y="1965027"/>
            <a:ext cx="7538948" cy="4557071"/>
          </a:xfrm>
        </p:spPr>
        <p:txBody>
          <a:bodyPr>
            <a:noAutofit/>
          </a:bodyPr>
          <a:lstStyle/>
          <a:p>
            <a:pPr>
              <a:lnSpc>
                <a:spcPct val="120000"/>
              </a:lnSpc>
              <a:spcBef>
                <a:spcPts val="0"/>
              </a:spcBef>
            </a:pPr>
            <a:r>
              <a:rPr lang="en-GB" sz="2200" dirty="0"/>
              <a:t>He was a famous poet and novelist of his time. Many of his stories were best-selling adventures set in Scottish history.</a:t>
            </a:r>
          </a:p>
          <a:p>
            <a:pPr marL="0" indent="0">
              <a:lnSpc>
                <a:spcPct val="120000"/>
              </a:lnSpc>
              <a:spcBef>
                <a:spcPts val="0"/>
              </a:spcBef>
              <a:buNone/>
            </a:pPr>
            <a:endParaRPr lang="en-GB" sz="1500" dirty="0"/>
          </a:p>
          <a:p>
            <a:pPr>
              <a:lnSpc>
                <a:spcPct val="120000"/>
              </a:lnSpc>
              <a:spcBef>
                <a:spcPts val="0"/>
              </a:spcBef>
            </a:pPr>
            <a:r>
              <a:rPr lang="en-GB" sz="2200" i="1" dirty="0"/>
              <a:t>Ivanhoe </a:t>
            </a:r>
            <a:r>
              <a:rPr lang="en-GB" sz="2200" dirty="0"/>
              <a:t>was his first novel set in English history. It is a historical romance, full of knights, chivalry, maidens to be rescued, castles, battles, and historical/legendary figures.</a:t>
            </a:r>
          </a:p>
          <a:p>
            <a:pPr marL="0" indent="0">
              <a:lnSpc>
                <a:spcPct val="120000"/>
              </a:lnSpc>
              <a:spcBef>
                <a:spcPts val="0"/>
              </a:spcBef>
              <a:buNone/>
            </a:pPr>
            <a:endParaRPr lang="en-GB" sz="1500" dirty="0"/>
          </a:p>
          <a:p>
            <a:pPr>
              <a:lnSpc>
                <a:spcPct val="120000"/>
              </a:lnSpc>
              <a:spcBef>
                <a:spcPts val="0"/>
              </a:spcBef>
            </a:pPr>
            <a:r>
              <a:rPr lang="en-GB" sz="2200" dirty="0"/>
              <a:t>Wilfred of Ivanhoe is a knight returned from the Crusades in the Holy Land. He was there fighting with Richard I, who had been captured in Europe on his way back. Now, Richard’s brother, John, with the help of some scheming barons, wants to take the throne of England.</a:t>
            </a:r>
          </a:p>
        </p:txBody>
      </p:sp>
      <p:pic>
        <p:nvPicPr>
          <p:cNvPr id="6148" name="Picture 4" descr="Portrait by Thomas Lawrence, c. 1820s">
            <a:extLst>
              <a:ext uri="{FF2B5EF4-FFF2-40B4-BE49-F238E27FC236}">
                <a16:creationId xmlns:a16="http://schemas.microsoft.com/office/drawing/2014/main" id="{4851CE95-B31D-FE1B-72CC-A9844BEFB8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2196" y="1080135"/>
            <a:ext cx="3214395" cy="390939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9AF8402-2F6C-1AFC-F76C-822562D1E5A7}"/>
              </a:ext>
            </a:extLst>
          </p:cNvPr>
          <p:cNvSpPr txBox="1"/>
          <p:nvPr/>
        </p:nvSpPr>
        <p:spPr>
          <a:xfrm>
            <a:off x="8472196" y="5170026"/>
            <a:ext cx="3380980" cy="400110"/>
          </a:xfrm>
          <a:prstGeom prst="rect">
            <a:avLst/>
          </a:prstGeom>
          <a:noFill/>
        </p:spPr>
        <p:txBody>
          <a:bodyPr wrap="square" rtlCol="0">
            <a:spAutoFit/>
          </a:bodyPr>
          <a:lstStyle/>
          <a:p>
            <a:r>
              <a:rPr lang="en-GB" sz="2000" dirty="0"/>
              <a:t>Portrait of Walter Scott in 1820</a:t>
            </a:r>
          </a:p>
        </p:txBody>
      </p:sp>
    </p:spTree>
    <p:extLst>
      <p:ext uri="{BB962C8B-B14F-4D97-AF65-F5344CB8AC3E}">
        <p14:creationId xmlns:p14="http://schemas.microsoft.com/office/powerpoint/2010/main" val="559078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5AC21-A766-65CA-4238-FB84AC46F66E}"/>
              </a:ext>
            </a:extLst>
          </p:cNvPr>
          <p:cNvSpPr>
            <a:spLocks noGrp="1"/>
          </p:cNvSpPr>
          <p:nvPr>
            <p:ph type="title"/>
          </p:nvPr>
        </p:nvSpPr>
        <p:spPr/>
        <p:txBody>
          <a:bodyPr/>
          <a:lstStyle/>
          <a:p>
            <a:r>
              <a:rPr lang="en-GB" dirty="0"/>
              <a:t>Walter Scott </a:t>
            </a:r>
            <a:r>
              <a:rPr lang="en-GB" sz="4800" dirty="0"/>
              <a:t>– (1771-1832) </a:t>
            </a:r>
            <a:endParaRPr lang="en-GB" dirty="0"/>
          </a:p>
        </p:txBody>
      </p:sp>
      <p:sp>
        <p:nvSpPr>
          <p:cNvPr id="6" name="Content Placeholder 5">
            <a:extLst>
              <a:ext uri="{FF2B5EF4-FFF2-40B4-BE49-F238E27FC236}">
                <a16:creationId xmlns:a16="http://schemas.microsoft.com/office/drawing/2014/main" id="{032A079C-E17E-5083-3ACC-3B993E76AB77}"/>
              </a:ext>
            </a:extLst>
          </p:cNvPr>
          <p:cNvSpPr>
            <a:spLocks noGrp="1"/>
          </p:cNvSpPr>
          <p:nvPr>
            <p:ph idx="1"/>
          </p:nvPr>
        </p:nvSpPr>
        <p:spPr>
          <a:xfrm>
            <a:off x="676656" y="1707941"/>
            <a:ext cx="5084126" cy="3766185"/>
          </a:xfrm>
        </p:spPr>
        <p:txBody>
          <a:bodyPr/>
          <a:lstStyle/>
          <a:p>
            <a:r>
              <a:rPr lang="en-GB" dirty="0"/>
              <a:t>He staged a Scottish pageant for King George VI’s visit to Scotland and made the kilt a characteristic element. It has since been established as a part of ‘Scottish’ identity.</a:t>
            </a:r>
          </a:p>
        </p:txBody>
      </p:sp>
      <p:sp>
        <p:nvSpPr>
          <p:cNvPr id="7" name="Content Placeholder 5">
            <a:extLst>
              <a:ext uri="{FF2B5EF4-FFF2-40B4-BE49-F238E27FC236}">
                <a16:creationId xmlns:a16="http://schemas.microsoft.com/office/drawing/2014/main" id="{475780DB-0A99-18C7-65B6-95CC9FB2F20A}"/>
              </a:ext>
            </a:extLst>
          </p:cNvPr>
          <p:cNvSpPr txBox="1">
            <a:spLocks/>
          </p:cNvSpPr>
          <p:nvPr/>
        </p:nvSpPr>
        <p:spPr>
          <a:xfrm>
            <a:off x="5760782" y="5133002"/>
            <a:ext cx="5754562" cy="3766185"/>
          </a:xfrm>
          <a:prstGeom prst="rect">
            <a:avLst/>
          </a:prstGeom>
        </p:spPr>
        <p:txBody>
          <a:bodyPr vert="horz" lIns="91440" tIns="45720" rIns="91440" bIns="45720" rtlCol="0">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r>
              <a:rPr lang="en-GB" dirty="0"/>
              <a:t>The Robin Hood character in </a:t>
            </a:r>
            <a:r>
              <a:rPr lang="en-GB" i="1" dirty="0"/>
              <a:t>Ivanhoe </a:t>
            </a:r>
            <a:r>
              <a:rPr lang="en-GB" dirty="0"/>
              <a:t>was built on a long history of folk tales. However, Scott’s version added key elements, and recent films have taken much inspiration from the novel.</a:t>
            </a:r>
          </a:p>
        </p:txBody>
      </p:sp>
      <p:pic>
        <p:nvPicPr>
          <p:cNvPr id="11266" name="Picture 2" descr="Robin Hood: Prince Of Thieves Review | Movie - Empire">
            <a:extLst>
              <a:ext uri="{FF2B5EF4-FFF2-40B4-BE49-F238E27FC236}">
                <a16:creationId xmlns:a16="http://schemas.microsoft.com/office/drawing/2014/main" id="{DC815907-A2C8-36CC-42ED-B666D68D0D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4939" y="1879734"/>
            <a:ext cx="5590405" cy="314460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4C3D5BE-16BA-0A58-0740-E8900DEDE70B}"/>
              </a:ext>
            </a:extLst>
          </p:cNvPr>
          <p:cNvSpPr txBox="1"/>
          <p:nvPr/>
        </p:nvSpPr>
        <p:spPr>
          <a:xfrm>
            <a:off x="8347736" y="974689"/>
            <a:ext cx="3187040" cy="707886"/>
          </a:xfrm>
          <a:prstGeom prst="rect">
            <a:avLst/>
          </a:prstGeom>
          <a:noFill/>
        </p:spPr>
        <p:txBody>
          <a:bodyPr wrap="square" rtlCol="0">
            <a:spAutoFit/>
          </a:bodyPr>
          <a:lstStyle/>
          <a:p>
            <a:r>
              <a:rPr lang="en-GB" sz="2000" dirty="0"/>
              <a:t>Kevin Costner in </a:t>
            </a:r>
            <a:r>
              <a:rPr lang="en-GB" sz="2000" i="1" dirty="0"/>
              <a:t>Robin Hood Prince of Thieves (</a:t>
            </a:r>
            <a:r>
              <a:rPr lang="en-GB" sz="2000" dirty="0"/>
              <a:t>1991)</a:t>
            </a:r>
          </a:p>
        </p:txBody>
      </p:sp>
      <p:pic>
        <p:nvPicPr>
          <p:cNvPr id="11268" name="Picture 4" descr="Liam Neeson wearing a Scottish belted plaid/great kilt in the movie Rob Roy. | Men in kilts ...">
            <a:extLst>
              <a:ext uri="{FF2B5EF4-FFF2-40B4-BE49-F238E27FC236}">
                <a16:creationId xmlns:a16="http://schemas.microsoft.com/office/drawing/2014/main" id="{D49B9746-611E-7453-1679-45135AEB68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8272" y="3091815"/>
            <a:ext cx="2540431" cy="376618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1B47942-8699-BB8C-14A8-323E0931AB98}"/>
              </a:ext>
            </a:extLst>
          </p:cNvPr>
          <p:cNvSpPr txBox="1"/>
          <p:nvPr/>
        </p:nvSpPr>
        <p:spPr>
          <a:xfrm>
            <a:off x="1091682" y="4005411"/>
            <a:ext cx="1882433" cy="2246769"/>
          </a:xfrm>
          <a:prstGeom prst="rect">
            <a:avLst/>
          </a:prstGeom>
          <a:noFill/>
        </p:spPr>
        <p:txBody>
          <a:bodyPr wrap="square" rtlCol="0">
            <a:spAutoFit/>
          </a:bodyPr>
          <a:lstStyle/>
          <a:p>
            <a:r>
              <a:rPr lang="en-GB" sz="2000" dirty="0"/>
              <a:t>Liam </a:t>
            </a:r>
            <a:r>
              <a:rPr lang="en-GB" sz="2000" dirty="0" err="1"/>
              <a:t>Neeson</a:t>
            </a:r>
            <a:r>
              <a:rPr lang="en-GB" sz="2000" dirty="0"/>
              <a:t> in a film version of </a:t>
            </a:r>
            <a:r>
              <a:rPr lang="en-GB" sz="2000" i="1" dirty="0"/>
              <a:t>Rob Roy </a:t>
            </a:r>
            <a:r>
              <a:rPr lang="en-GB" sz="2000" dirty="0"/>
              <a:t>(1995) – based on Scott’s 1817 novel – wearing a tartan kilt.</a:t>
            </a:r>
          </a:p>
        </p:txBody>
      </p:sp>
    </p:spTree>
    <p:extLst>
      <p:ext uri="{BB962C8B-B14F-4D97-AF65-F5344CB8AC3E}">
        <p14:creationId xmlns:p14="http://schemas.microsoft.com/office/powerpoint/2010/main" val="1120946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fade">
                                      <p:cBhvr>
                                        <p:cTn id="7" dur="500"/>
                                        <p:tgtEl>
                                          <p:spTgt spid="1126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1D292-2774-96AF-7BF7-7E8A9572B3F4}"/>
              </a:ext>
            </a:extLst>
          </p:cNvPr>
          <p:cNvSpPr>
            <a:spLocks noGrp="1"/>
          </p:cNvSpPr>
          <p:nvPr>
            <p:ph type="title"/>
          </p:nvPr>
        </p:nvSpPr>
        <p:spPr/>
        <p:txBody>
          <a:bodyPr/>
          <a:lstStyle/>
          <a:p>
            <a:r>
              <a:rPr lang="en-GB" i="1" dirty="0"/>
              <a:t>Ivanhoe</a:t>
            </a:r>
            <a:r>
              <a:rPr lang="en-GB" dirty="0"/>
              <a:t> – Analysis </a:t>
            </a:r>
          </a:p>
        </p:txBody>
      </p:sp>
      <p:sp>
        <p:nvSpPr>
          <p:cNvPr id="3" name="Content Placeholder 2">
            <a:extLst>
              <a:ext uri="{FF2B5EF4-FFF2-40B4-BE49-F238E27FC236}">
                <a16:creationId xmlns:a16="http://schemas.microsoft.com/office/drawing/2014/main" id="{0DDC21D6-14B1-50F2-BF0B-B307D589B66C}"/>
              </a:ext>
            </a:extLst>
          </p:cNvPr>
          <p:cNvSpPr>
            <a:spLocks noGrp="1"/>
          </p:cNvSpPr>
          <p:nvPr>
            <p:ph idx="1"/>
          </p:nvPr>
        </p:nvSpPr>
        <p:spPr>
          <a:xfrm>
            <a:off x="676656" y="2011680"/>
            <a:ext cx="10939956" cy="3766185"/>
          </a:xfrm>
        </p:spPr>
        <p:txBody>
          <a:bodyPr>
            <a:normAutofit/>
          </a:bodyPr>
          <a:lstStyle/>
          <a:p>
            <a:r>
              <a:rPr lang="en-GB" sz="3000" dirty="0"/>
              <a:t>Consider how intertextuality is involved in the telling of these scenes. </a:t>
            </a:r>
          </a:p>
          <a:p>
            <a:pPr lvl="2"/>
            <a:r>
              <a:rPr lang="en-GB" sz="2800" dirty="0"/>
              <a:t>How many cases of it are there?</a:t>
            </a:r>
          </a:p>
          <a:p>
            <a:pPr lvl="2"/>
            <a:r>
              <a:rPr lang="en-GB" sz="2800" dirty="0"/>
              <a:t>What effects might it have / have had in the past on readers?</a:t>
            </a:r>
          </a:p>
          <a:p>
            <a:endParaRPr lang="en-GB" sz="2800" dirty="0"/>
          </a:p>
          <a:p>
            <a:pPr marL="0" indent="0">
              <a:buNone/>
            </a:pPr>
            <a:r>
              <a:rPr lang="en-GB" sz="2800" dirty="0"/>
              <a:t> </a:t>
            </a:r>
            <a:r>
              <a:rPr lang="en-GB" sz="3000" dirty="0"/>
              <a:t>How does Scott portray history, and fiction?</a:t>
            </a:r>
          </a:p>
          <a:p>
            <a:pPr marL="0" indent="0">
              <a:buNone/>
            </a:pPr>
            <a:r>
              <a:rPr lang="en-GB" sz="3000" i="1" dirty="0"/>
              <a:t>      </a:t>
            </a:r>
            <a:r>
              <a:rPr lang="en-GB" sz="2800" i="1" dirty="0"/>
              <a:t>Are some parts more historical/fictional than others?</a:t>
            </a:r>
          </a:p>
          <a:p>
            <a:pPr marL="0" indent="0">
              <a:buNone/>
            </a:pPr>
            <a:r>
              <a:rPr lang="en-GB" sz="2800" i="1" dirty="0"/>
              <a:t>      How does the characterisation and speech represent history? </a:t>
            </a:r>
          </a:p>
        </p:txBody>
      </p:sp>
    </p:spTree>
    <p:extLst>
      <p:ext uri="{BB962C8B-B14F-4D97-AF65-F5344CB8AC3E}">
        <p14:creationId xmlns:p14="http://schemas.microsoft.com/office/powerpoint/2010/main" val="1839825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1765D-0E57-91C0-C2D1-5C6DE713FDC4}"/>
              </a:ext>
            </a:extLst>
          </p:cNvPr>
          <p:cNvSpPr>
            <a:spLocks noGrp="1"/>
          </p:cNvSpPr>
          <p:nvPr>
            <p:ph type="title"/>
          </p:nvPr>
        </p:nvSpPr>
        <p:spPr/>
        <p:txBody>
          <a:bodyPr/>
          <a:lstStyle/>
          <a:p>
            <a:r>
              <a:rPr lang="en-GB" dirty="0"/>
              <a:t>Creative Writing</a:t>
            </a:r>
          </a:p>
        </p:txBody>
      </p:sp>
      <p:sp>
        <p:nvSpPr>
          <p:cNvPr id="3" name="Content Placeholder 2">
            <a:extLst>
              <a:ext uri="{FF2B5EF4-FFF2-40B4-BE49-F238E27FC236}">
                <a16:creationId xmlns:a16="http://schemas.microsoft.com/office/drawing/2014/main" id="{2B90DAE6-8E0B-F934-A6A3-8936EDD583C3}"/>
              </a:ext>
            </a:extLst>
          </p:cNvPr>
          <p:cNvSpPr>
            <a:spLocks noGrp="1"/>
          </p:cNvSpPr>
          <p:nvPr>
            <p:ph idx="1"/>
          </p:nvPr>
        </p:nvSpPr>
        <p:spPr>
          <a:xfrm>
            <a:off x="676656" y="2011680"/>
            <a:ext cx="10753725" cy="4155855"/>
          </a:xfrm>
        </p:spPr>
        <p:txBody>
          <a:bodyPr>
            <a:normAutofit lnSpcReduction="10000"/>
          </a:bodyPr>
          <a:lstStyle/>
          <a:p>
            <a:r>
              <a:rPr lang="en-GB" sz="2800" b="1" dirty="0"/>
              <a:t>Write a stanza of </a:t>
            </a:r>
            <a:r>
              <a:rPr lang="en-GB" sz="2800" b="1" i="1" dirty="0"/>
              <a:t>alliterative </a:t>
            </a:r>
            <a:r>
              <a:rPr lang="en-GB" sz="2800" b="1" dirty="0"/>
              <a:t>poetry, where each line has some repeated sounds to build a rhythm:</a:t>
            </a:r>
            <a:r>
              <a:rPr lang="en-GB" sz="2800" dirty="0"/>
              <a:t>	</a:t>
            </a:r>
            <a:r>
              <a:rPr lang="en-GB" sz="2800" b="1" dirty="0">
                <a:solidFill>
                  <a:srgbClr val="00B050"/>
                </a:solidFill>
              </a:rPr>
              <a:t>gr	gr	g</a:t>
            </a:r>
            <a:r>
              <a:rPr lang="en-GB" sz="2800" b="1" dirty="0"/>
              <a:t>		</a:t>
            </a:r>
            <a:r>
              <a:rPr lang="en-GB" sz="2800" b="1" dirty="0">
                <a:solidFill>
                  <a:schemeClr val="accent3">
                    <a:lumMod val="75000"/>
                  </a:schemeClr>
                </a:solidFill>
              </a:rPr>
              <a:t>be	</a:t>
            </a:r>
            <a:r>
              <a:rPr lang="en-GB" sz="2800" b="1" dirty="0" err="1">
                <a:solidFill>
                  <a:schemeClr val="accent3">
                    <a:lumMod val="75000"/>
                  </a:schemeClr>
                </a:solidFill>
              </a:rPr>
              <a:t>bea</a:t>
            </a:r>
            <a:r>
              <a:rPr lang="en-GB" sz="2800" b="1" dirty="0">
                <a:solidFill>
                  <a:schemeClr val="accent3">
                    <a:lumMod val="75000"/>
                  </a:schemeClr>
                </a:solidFill>
              </a:rPr>
              <a:t>  	 </a:t>
            </a:r>
            <a:r>
              <a:rPr lang="en-GB" sz="2800" b="1" dirty="0" err="1">
                <a:solidFill>
                  <a:schemeClr val="accent3">
                    <a:lumMod val="75000"/>
                  </a:schemeClr>
                </a:solidFill>
              </a:rPr>
              <a:t>bu</a:t>
            </a:r>
            <a:endParaRPr lang="en-GB" sz="2800" b="1" dirty="0">
              <a:solidFill>
                <a:schemeClr val="accent3">
                  <a:lumMod val="75000"/>
                </a:schemeClr>
              </a:solidFill>
            </a:endParaRPr>
          </a:p>
          <a:p>
            <a:endParaRPr lang="en-GB" sz="2800" b="1" dirty="0"/>
          </a:p>
          <a:p>
            <a:r>
              <a:rPr lang="en-GB" sz="2800" dirty="0"/>
              <a:t>Write about an Anglo-Saxon warrior like Beowulf, </a:t>
            </a:r>
          </a:p>
          <a:p>
            <a:pPr lvl="2"/>
            <a:r>
              <a:rPr lang="en-GB" sz="2800" dirty="0"/>
              <a:t>or</a:t>
            </a:r>
            <a:r>
              <a:rPr lang="en-GB" sz="2400" dirty="0"/>
              <a:t> </a:t>
            </a:r>
          </a:p>
          <a:p>
            <a:r>
              <a:rPr lang="en-GB" sz="2800" dirty="0"/>
              <a:t>Write about a chivalrous knight like Gawain. </a:t>
            </a:r>
          </a:p>
          <a:p>
            <a:endParaRPr lang="en-GB" sz="2800" dirty="0"/>
          </a:p>
          <a:p>
            <a:r>
              <a:rPr lang="en-GB" sz="2800" dirty="0"/>
              <a:t>Or you could try some paragraphs of prose instead. Think about how you could represent the historical periods in English.</a:t>
            </a:r>
          </a:p>
        </p:txBody>
      </p:sp>
    </p:spTree>
    <p:extLst>
      <p:ext uri="{BB962C8B-B14F-4D97-AF65-F5344CB8AC3E}">
        <p14:creationId xmlns:p14="http://schemas.microsoft.com/office/powerpoint/2010/main" val="3251910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9C765-64C0-F143-1B75-B1F39BF8527B}"/>
              </a:ext>
            </a:extLst>
          </p:cNvPr>
          <p:cNvSpPr>
            <a:spLocks noGrp="1"/>
          </p:cNvSpPr>
          <p:nvPr>
            <p:ph type="title"/>
          </p:nvPr>
        </p:nvSpPr>
        <p:spPr/>
        <p:txBody>
          <a:bodyPr/>
          <a:lstStyle/>
          <a:p>
            <a:r>
              <a:rPr lang="en-GB" dirty="0"/>
              <a:t>Homework</a:t>
            </a:r>
          </a:p>
        </p:txBody>
      </p:sp>
      <p:sp>
        <p:nvSpPr>
          <p:cNvPr id="3" name="Content Placeholder 2">
            <a:extLst>
              <a:ext uri="{FF2B5EF4-FFF2-40B4-BE49-F238E27FC236}">
                <a16:creationId xmlns:a16="http://schemas.microsoft.com/office/drawing/2014/main" id="{7D74627F-3D47-A514-3327-0A4CDC7A4F0A}"/>
              </a:ext>
            </a:extLst>
          </p:cNvPr>
          <p:cNvSpPr>
            <a:spLocks noGrp="1"/>
          </p:cNvSpPr>
          <p:nvPr>
            <p:ph idx="1"/>
          </p:nvPr>
        </p:nvSpPr>
        <p:spPr>
          <a:xfrm>
            <a:off x="522514" y="2157731"/>
            <a:ext cx="11495313" cy="3766185"/>
          </a:xfrm>
        </p:spPr>
        <p:txBody>
          <a:bodyPr/>
          <a:lstStyle/>
          <a:p>
            <a:endParaRPr lang="en-GB" dirty="0"/>
          </a:p>
          <a:p>
            <a:pPr>
              <a:lnSpc>
                <a:spcPct val="100000"/>
              </a:lnSpc>
            </a:pPr>
            <a:r>
              <a:rPr lang="en-GB" sz="3600" dirty="0"/>
              <a:t>Please read a few scenes of the play </a:t>
            </a:r>
            <a:r>
              <a:rPr lang="en-GB" sz="3600" i="1" dirty="0"/>
              <a:t>Romeo and Juliet </a:t>
            </a:r>
            <a:r>
              <a:rPr lang="en-GB" sz="3600" dirty="0"/>
              <a:t>(1597) by William Shakespeare.</a:t>
            </a:r>
          </a:p>
        </p:txBody>
      </p:sp>
    </p:spTree>
    <p:extLst>
      <p:ext uri="{BB962C8B-B14F-4D97-AF65-F5344CB8AC3E}">
        <p14:creationId xmlns:p14="http://schemas.microsoft.com/office/powerpoint/2010/main" val="176617778"/>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docProps/app.xml><?xml version="1.0" encoding="utf-8"?>
<Properties xmlns="http://schemas.openxmlformats.org/officeDocument/2006/extended-properties" xmlns:vt="http://schemas.openxmlformats.org/officeDocument/2006/docPropsVTypes">
  <Template>Metropolitan</Template>
  <TotalTime>898</TotalTime>
  <Words>1934</Words>
  <Application>Microsoft Office PowerPoint</Application>
  <PresentationFormat>Widescreen</PresentationFormat>
  <Paragraphs>190</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Microsoft YaHei</vt:lpstr>
      <vt:lpstr>Arial</vt:lpstr>
      <vt:lpstr>Arial Black</vt:lpstr>
      <vt:lpstr>Calibri Light</vt:lpstr>
      <vt:lpstr>Times New Roman</vt:lpstr>
      <vt:lpstr>Wingdings</vt:lpstr>
      <vt:lpstr>Metropolitan</vt:lpstr>
      <vt:lpstr>Sir Gawain and the Green Knight Ivanhoe – Walter Scott</vt:lpstr>
      <vt:lpstr>Old English and Middle English</vt:lpstr>
      <vt:lpstr>When you read, where does meaning come from? (semiotics/semantics – the study of meaning)</vt:lpstr>
      <vt:lpstr>Sir Gawain and the Green Knight</vt:lpstr>
      <vt:lpstr>Sir Gawain and the Green Knight</vt:lpstr>
      <vt:lpstr>Sir Gawayn and þe Grene Knyȝt</vt:lpstr>
      <vt:lpstr>PowerPoint Presentation</vt:lpstr>
      <vt:lpstr>Questions  - Homework Excerpts Stanzas 3 and 8</vt:lpstr>
      <vt:lpstr>King Arthur and the Knights of the Round Table</vt:lpstr>
      <vt:lpstr>King Arthur and the Knights of the Round Table</vt:lpstr>
      <vt:lpstr>King Arthur and the Knights of the Round Table</vt:lpstr>
      <vt:lpstr>Literary Terms</vt:lpstr>
      <vt:lpstr>Literary Terms</vt:lpstr>
      <vt:lpstr>Questions  - Homework Excerpts Stanza 19 </vt:lpstr>
      <vt:lpstr>Gawain’s Journey</vt:lpstr>
      <vt:lpstr>Questions  - Homework Excerpts Stanzas 45, 60, and 74</vt:lpstr>
      <vt:lpstr>Knights and Chivalry</vt:lpstr>
      <vt:lpstr>Song of Roland  (an epic French poem, 11th Century)</vt:lpstr>
      <vt:lpstr>Questions  - Homework Excerpts Stanzas 91 and 93</vt:lpstr>
      <vt:lpstr>Questions  - Homework Excerpts Stanzas 94, 95, and 100</vt:lpstr>
      <vt:lpstr>Ivanhoe (1819)  by Sir Walter Scott </vt:lpstr>
      <vt:lpstr>Summarise what happens in the excerpt</vt:lpstr>
      <vt:lpstr>Walter Scott – (1771-1832) </vt:lpstr>
      <vt:lpstr>Walter Scott – (1771-1832) </vt:lpstr>
      <vt:lpstr>Ivanhoe – Analysis </vt:lpstr>
      <vt:lpstr>Creative Writing</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Sir Gawain and the Green Knight Ivanhoe – Walter Scott</dc:title>
  <dc:creator>Dominic Graham</dc:creator>
  <cp:lastModifiedBy>Dominic Graham</cp:lastModifiedBy>
  <cp:revision>3</cp:revision>
  <dcterms:created xsi:type="dcterms:W3CDTF">2023-09-29T03:02:10Z</dcterms:created>
  <dcterms:modified xsi:type="dcterms:W3CDTF">2025-03-03T03:06:21Z</dcterms:modified>
</cp:coreProperties>
</file>