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689" r:id="rId3"/>
  </p:sldMasterIdLst>
  <p:sldIdLst>
    <p:sldId id="256" r:id="rId4"/>
    <p:sldId id="257" r:id="rId5"/>
    <p:sldId id="280" r:id="rId6"/>
    <p:sldId id="259" r:id="rId7"/>
    <p:sldId id="260" r:id="rId8"/>
    <p:sldId id="261" r:id="rId9"/>
    <p:sldId id="262" r:id="rId10"/>
    <p:sldId id="263" r:id="rId11"/>
    <p:sldId id="279" r:id="rId12"/>
    <p:sldId id="264" r:id="rId13"/>
    <p:sldId id="266" r:id="rId14"/>
    <p:sldId id="268" r:id="rId15"/>
    <p:sldId id="269" r:id="rId16"/>
    <p:sldId id="267" r:id="rId17"/>
    <p:sldId id="321" r:id="rId18"/>
    <p:sldId id="270" r:id="rId19"/>
    <p:sldId id="272" r:id="rId20"/>
    <p:sldId id="273" r:id="rId21"/>
    <p:sldId id="271" r:id="rId22"/>
    <p:sldId id="274" r:id="rId23"/>
    <p:sldId id="276" r:id="rId24"/>
    <p:sldId id="275" r:id="rId25"/>
    <p:sldId id="316" r:id="rId26"/>
    <p:sldId id="320" r:id="rId27"/>
    <p:sldId id="265" r:id="rId28"/>
    <p:sldId id="277" r:id="rId29"/>
    <p:sldId id="289" r:id="rId30"/>
    <p:sldId id="322" r:id="rId31"/>
    <p:sldId id="297" r:id="rId32"/>
    <p:sldId id="291" r:id="rId33"/>
    <p:sldId id="290" r:id="rId34"/>
    <p:sldId id="346" r:id="rId35"/>
    <p:sldId id="292" r:id="rId36"/>
    <p:sldId id="293" r:id="rId37"/>
    <p:sldId id="294" r:id="rId38"/>
    <p:sldId id="342" r:id="rId39"/>
    <p:sldId id="343" r:id="rId40"/>
    <p:sldId id="344" r:id="rId41"/>
    <p:sldId id="345" r:id="rId42"/>
    <p:sldId id="288" r:id="rId43"/>
    <p:sldId id="281" r:id="rId44"/>
    <p:sldId id="282" r:id="rId45"/>
    <p:sldId id="283" r:id="rId46"/>
    <p:sldId id="284" r:id="rId47"/>
    <p:sldId id="323" r:id="rId48"/>
    <p:sldId id="302" r:id="rId49"/>
    <p:sldId id="295" r:id="rId50"/>
    <p:sldId id="347" r:id="rId51"/>
    <p:sldId id="28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7A51FF-67B4-42D9-9B8C-9DFB39D1E5E5}" v="502" dt="2025-09-21T12:42:42.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minic Graham" userId="80d46ba77b7de579" providerId="LiveId" clId="{1AE7EF3E-765B-4830-9F41-D7DA456DBC61}"/>
    <pc:docChg chg="modSld">
      <pc:chgData name="Dominic Graham" userId="80d46ba77b7de579" providerId="LiveId" clId="{1AE7EF3E-765B-4830-9F41-D7DA456DBC61}" dt="2025-09-21T12:46:30.470" v="620" actId="20577"/>
      <pc:docMkLst>
        <pc:docMk/>
      </pc:docMkLst>
      <pc:sldChg chg="modSp mod">
        <pc:chgData name="Dominic Graham" userId="80d46ba77b7de579" providerId="LiveId" clId="{1AE7EF3E-765B-4830-9F41-D7DA456DBC61}" dt="2025-09-21T12:46:30.470" v="620" actId="20577"/>
        <pc:sldMkLst>
          <pc:docMk/>
          <pc:sldMk cId="3988243048" sldId="284"/>
        </pc:sldMkLst>
        <pc:spChg chg="mod">
          <ac:chgData name="Dominic Graham" userId="80d46ba77b7de579" providerId="LiveId" clId="{1AE7EF3E-765B-4830-9F41-D7DA456DBC61}" dt="2025-09-21T12:46:30.470" v="620" actId="20577"/>
          <ac:spMkLst>
            <pc:docMk/>
            <pc:sldMk cId="3988243048" sldId="284"/>
            <ac:spMk id="3" creationId="{8FF2B8E3-F406-4215-8BEB-913758FD52FC}"/>
          </ac:spMkLst>
        </pc:spChg>
      </pc:sldChg>
    </pc:docChg>
  </pc:docChgLst>
  <pc:docChgLst>
    <pc:chgData name="Dominic Graham" userId="80d46ba77b7de579" providerId="LiveId" clId="{D5925B20-47E7-419E-8CB3-899AE00E4FE9}"/>
    <pc:docChg chg="modSld">
      <pc:chgData name="Dominic Graham" userId="80d46ba77b7de579" providerId="LiveId" clId="{D5925B20-47E7-419E-8CB3-899AE00E4FE9}" dt="2024-09-19T05:24:27.056" v="1" actId="1076"/>
      <pc:docMkLst>
        <pc:docMk/>
      </pc:docMkLst>
      <pc:sldChg chg="modSp mod">
        <pc:chgData name="Dominic Graham" userId="80d46ba77b7de579" providerId="LiveId" clId="{D5925B20-47E7-419E-8CB3-899AE00E4FE9}" dt="2024-09-19T05:24:27.056" v="1" actId="1076"/>
        <pc:sldMkLst>
          <pc:docMk/>
          <pc:sldMk cId="2264059599"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5"/>
          <p:cNvGrpSpPr>
            <a:grpSpLocks/>
          </p:cNvGrpSpPr>
          <p:nvPr/>
        </p:nvGrpSpPr>
        <p:grpSpPr bwMode="auto">
          <a:xfrm>
            <a:off x="0" y="-7938"/>
            <a:ext cx="12192000" cy="6865938"/>
            <a:chOff x="0" y="-8467"/>
            <a:chExt cx="12192000" cy="6866467"/>
          </a:xfrm>
        </p:grpSpPr>
        <p:sp>
          <p:nvSpPr>
            <p:cNvPr id="5" name="Freeform 14"/>
            <p:cNvSpPr/>
            <p:nvPr/>
          </p:nvSpPr>
          <p:spPr>
            <a:xfrm>
              <a:off x="0" y="-8467"/>
              <a:ext cx="863600" cy="569797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cxnSp>
          <p:nvCxnSpPr>
            <p:cNvPr id="6" name="Straight Connector 18"/>
            <p:cNvCxnSpPr/>
            <p:nvPr/>
          </p:nvCxnSpPr>
          <p:spPr>
            <a:xfrm>
              <a:off x="9371013" y="-528"/>
              <a:ext cx="1219200" cy="6858528"/>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19"/>
            <p:cNvCxnSpPr/>
            <p:nvPr/>
          </p:nvCxnSpPr>
          <p:spPr>
            <a:xfrm flipH="1">
              <a:off x="7424738" y="3681168"/>
              <a:ext cx="4764087" cy="3176832"/>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8" name="Rectangle 23"/>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Rectangle 25"/>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Isosceles Triangle 22"/>
            <p:cNvSpPr/>
            <p:nvPr/>
          </p:nvSpPr>
          <p:spPr>
            <a:xfrm>
              <a:off x="8932863" y="3047706"/>
              <a:ext cx="3259137" cy="3810294"/>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27"/>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28"/>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29"/>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Isosceles Triangle 26"/>
            <p:cNvSpPr/>
            <p:nvPr/>
          </p:nvSpPr>
          <p:spPr>
            <a:xfrm>
              <a:off x="10371138" y="3589086"/>
              <a:ext cx="1817687" cy="3268914"/>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5" name="Date Placeholder 3"/>
          <p:cNvSpPr>
            <a:spLocks noGrp="1"/>
          </p:cNvSpPr>
          <p:nvPr>
            <p:ph type="dt" sz="half" idx="10"/>
          </p:nvPr>
        </p:nvSpPr>
        <p:spPr/>
        <p:txBody>
          <a:bodyPr/>
          <a:lstStyle>
            <a:lvl1pPr>
              <a:defRPr/>
            </a:lvl1pPr>
          </a:lstStyle>
          <a:p>
            <a:pPr>
              <a:defRPr/>
            </a:pPr>
            <a:fld id="{C448F673-B44F-49B4-9D78-1A5CDBAAE7BF}" type="datetimeFigureOut">
              <a:rPr lang="en-US"/>
              <a:pPr>
                <a:defRPr/>
              </a:pPr>
              <a:t>9/21/2025</a:t>
            </a:fld>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F61D8A04-4A59-4EC7-934A-A6834F491D4F}" type="slidenum">
              <a:rPr lang="en-US"/>
              <a:pPr>
                <a:defRPr/>
              </a:pPr>
              <a:t>‹#›</a:t>
            </a:fld>
            <a:endParaRPr lang="en-US" dirty="0"/>
          </a:p>
        </p:txBody>
      </p:sp>
    </p:spTree>
    <p:extLst>
      <p:ext uri="{BB962C8B-B14F-4D97-AF65-F5344CB8AC3E}">
        <p14:creationId xmlns:p14="http://schemas.microsoft.com/office/powerpoint/2010/main" val="1754507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1733D08-E535-4F87-AA2D-DBC8E56ADD68}" type="datetimeFigureOut">
              <a:rPr lang="en-US"/>
              <a:pPr>
                <a:defRPr/>
              </a:pPr>
              <a:t>9/21/2025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A8D09F0-1CBD-4A11-B790-0A95D89B74E3}" type="slidenum">
              <a:rPr lang="en-US"/>
              <a:pPr>
                <a:defRPr/>
              </a:pPr>
              <a:t>‹#›</a:t>
            </a:fld>
            <a:endParaRPr lang="en-US" dirty="0"/>
          </a:p>
        </p:txBody>
      </p:sp>
    </p:spTree>
    <p:extLst>
      <p:ext uri="{BB962C8B-B14F-4D97-AF65-F5344CB8AC3E}">
        <p14:creationId xmlns:p14="http://schemas.microsoft.com/office/powerpoint/2010/main" val="352998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83264E99-347F-4E81-B98F-AD7C4E9249B4}" type="datetimeFigureOut">
              <a:rPr lang="en-US"/>
              <a:pPr>
                <a:defRPr/>
              </a:pPr>
              <a:t>9/21/2025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5778B70-BE2E-4580-9DCA-181B76E49A08}" type="slidenum">
              <a:rPr lang="en-US"/>
              <a:pPr>
                <a:defRPr/>
              </a:pPr>
              <a:t>‹#›</a:t>
            </a:fld>
            <a:endParaRPr lang="en-US" dirty="0"/>
          </a:p>
        </p:txBody>
      </p:sp>
    </p:spTree>
    <p:extLst>
      <p:ext uri="{BB962C8B-B14F-4D97-AF65-F5344CB8AC3E}">
        <p14:creationId xmlns:p14="http://schemas.microsoft.com/office/powerpoint/2010/main" val="379222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A399457-715B-4EF4-8E08-7B5037147B47}" type="datetimeFigureOut">
              <a:rPr lang="en-US"/>
              <a:pPr>
                <a:defRPr/>
              </a:pPr>
              <a:t>9/21/2025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E812E2B-0333-406D-91B7-563D396166DF}" type="slidenum">
              <a:rPr lang="en-US"/>
              <a:pPr>
                <a:defRPr/>
              </a:pPr>
              <a:t>‹#›</a:t>
            </a:fld>
            <a:endParaRPr lang="en-US" dirty="0"/>
          </a:p>
        </p:txBody>
      </p:sp>
    </p:spTree>
    <p:extLst>
      <p:ext uri="{BB962C8B-B14F-4D97-AF65-F5344CB8AC3E}">
        <p14:creationId xmlns:p14="http://schemas.microsoft.com/office/powerpoint/2010/main" val="1900396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AFDDB2C7-D610-4FEF-9CBE-B84616BAB4A9}" type="datetimeFigureOut">
              <a:rPr lang="en-US"/>
              <a:pPr>
                <a:defRPr/>
              </a:pPr>
              <a:t>9/21/2025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EEC97E0-8CC9-4EEA-A28E-FD789C5CA41A}" type="slidenum">
              <a:rPr lang="en-US"/>
              <a:pPr>
                <a:defRPr/>
              </a:pPr>
              <a:t>‹#›</a:t>
            </a:fld>
            <a:endParaRPr lang="en-US" dirty="0"/>
          </a:p>
        </p:txBody>
      </p:sp>
    </p:spTree>
    <p:extLst>
      <p:ext uri="{BB962C8B-B14F-4D97-AF65-F5344CB8AC3E}">
        <p14:creationId xmlns:p14="http://schemas.microsoft.com/office/powerpoint/2010/main" val="58679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5DDDDDC9-DF49-4421-9298-2F406A76310D}" type="datetimeFigureOut">
              <a:rPr lang="en-US"/>
              <a:pPr>
                <a:defRPr/>
              </a:pPr>
              <a:t>9/21/2025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6B27D0B-856B-4DC0-A011-FFC5FB153260}" type="slidenum">
              <a:rPr lang="en-US"/>
              <a:pPr>
                <a:defRPr/>
              </a:pPr>
              <a:t>‹#›</a:t>
            </a:fld>
            <a:endParaRPr lang="en-US" dirty="0"/>
          </a:p>
        </p:txBody>
      </p:sp>
    </p:spTree>
    <p:extLst>
      <p:ext uri="{BB962C8B-B14F-4D97-AF65-F5344CB8AC3E}">
        <p14:creationId xmlns:p14="http://schemas.microsoft.com/office/powerpoint/2010/main" val="857086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2A03BD7-D6EF-427A-9DA9-BAA6DEFAE149}" type="datetimeFigureOut">
              <a:rPr lang="en-US"/>
              <a:pPr>
                <a:defRPr/>
              </a:pPr>
              <a:t>9/21/2025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7CD19E6-4DDF-4DFB-AF1C-E782E524EDD6}" type="slidenum">
              <a:rPr lang="en-US"/>
              <a:pPr>
                <a:defRPr/>
              </a:pPr>
              <a:t>‹#›</a:t>
            </a:fld>
            <a:endParaRPr lang="en-US" dirty="0"/>
          </a:p>
        </p:txBody>
      </p:sp>
    </p:spTree>
    <p:extLst>
      <p:ext uri="{BB962C8B-B14F-4D97-AF65-F5344CB8AC3E}">
        <p14:creationId xmlns:p14="http://schemas.microsoft.com/office/powerpoint/2010/main" val="822445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879638B7-1CA4-4562-AEC1-A40F407B9222}" type="datetimeFigureOut">
              <a:rPr lang="en-US"/>
              <a:pPr>
                <a:defRPr/>
              </a:pPr>
              <a:t>9/21/2025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88DD584-29A0-4339-B9FF-30872D826DFD}" type="slidenum">
              <a:rPr lang="en-US"/>
              <a:pPr>
                <a:defRPr/>
              </a:pPr>
              <a:t>‹#›</a:t>
            </a:fld>
            <a:endParaRPr lang="en-US" dirty="0"/>
          </a:p>
        </p:txBody>
      </p:sp>
    </p:spTree>
    <p:extLst>
      <p:ext uri="{BB962C8B-B14F-4D97-AF65-F5344CB8AC3E}">
        <p14:creationId xmlns:p14="http://schemas.microsoft.com/office/powerpoint/2010/main" val="2871184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3BAE4AE-7999-4A5B-85BC-A09BA1B088F6}" type="datetimeFigureOut">
              <a:rPr lang="en-US"/>
              <a:pPr>
                <a:defRPr/>
              </a:pPr>
              <a:t>9/21/2025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D5105E5-6CA8-4282-A04B-F75BC865D436}" type="slidenum">
              <a:rPr lang="en-US"/>
              <a:pPr>
                <a:defRPr/>
              </a:pPr>
              <a:t>‹#›</a:t>
            </a:fld>
            <a:endParaRPr lang="en-US" dirty="0"/>
          </a:p>
        </p:txBody>
      </p:sp>
    </p:spTree>
    <p:extLst>
      <p:ext uri="{BB962C8B-B14F-4D97-AF65-F5344CB8AC3E}">
        <p14:creationId xmlns:p14="http://schemas.microsoft.com/office/powerpoint/2010/main" val="1263882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C48B3F3B-27FE-42BA-A76B-A0CCF042BB8C}" type="datetimeFigureOut">
              <a:rPr lang="en-US"/>
              <a:pPr>
                <a:defRPr/>
              </a:pPr>
              <a:t>9/21/2025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273BA9C-117E-4C11-B4CC-9D34A2AA4E38}" type="slidenum">
              <a:rPr lang="en-US"/>
              <a:pPr>
                <a:defRPr/>
              </a:pPr>
              <a:t>‹#›</a:t>
            </a:fld>
            <a:endParaRPr lang="en-US" dirty="0"/>
          </a:p>
        </p:txBody>
      </p:sp>
    </p:spTree>
    <p:extLst>
      <p:ext uri="{BB962C8B-B14F-4D97-AF65-F5344CB8AC3E}">
        <p14:creationId xmlns:p14="http://schemas.microsoft.com/office/powerpoint/2010/main" val="3130745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TextBox 23"/>
          <p:cNvSpPr txBox="1"/>
          <p:nvPr/>
        </p:nvSpPr>
        <p:spPr>
          <a:xfrm>
            <a:off x="541338" y="790575"/>
            <a:ext cx="609600" cy="584200"/>
          </a:xfrm>
          <a:prstGeom prst="rect">
            <a:avLst/>
          </a:prstGeom>
        </p:spPr>
        <p:txBody>
          <a:bodyPr anchor="ctr"/>
          <a:lstStyle/>
          <a:p>
            <a:pPr fontAlgn="auto">
              <a:spcBef>
                <a:spcPts val="0"/>
              </a:spcBef>
              <a:spcAft>
                <a:spcPts val="0"/>
              </a:spcAft>
              <a:defRPr/>
            </a:pPr>
            <a:r>
              <a:rPr lang="en-US" sz="8000" dirty="0">
                <a:ln w="3175" cmpd="sng">
                  <a:noFill/>
                </a:ln>
                <a:solidFill>
                  <a:schemeClr val="accent1">
                    <a:lumMod val="60000"/>
                    <a:lumOff val="40000"/>
                  </a:schemeClr>
                </a:solidFill>
                <a:latin typeface="Arial"/>
                <a:cs typeface="+mn-cs"/>
              </a:rPr>
              <a:t>“</a:t>
            </a:r>
          </a:p>
        </p:txBody>
      </p:sp>
      <p:sp>
        <p:nvSpPr>
          <p:cNvPr id="6" name="TextBox 24"/>
          <p:cNvSpPr txBox="1"/>
          <p:nvPr/>
        </p:nvSpPr>
        <p:spPr>
          <a:xfrm>
            <a:off x="8893175" y="2886075"/>
            <a:ext cx="609600" cy="585788"/>
          </a:xfrm>
          <a:prstGeom prst="rect">
            <a:avLst/>
          </a:prstGeom>
        </p:spPr>
        <p:txBody>
          <a:bodyPr anchor="ctr"/>
          <a:lstStyle/>
          <a:p>
            <a:pPr fontAlgn="auto">
              <a:spcBef>
                <a:spcPts val="0"/>
              </a:spcBef>
              <a:spcAft>
                <a:spcPts val="0"/>
              </a:spcAft>
              <a:defRPr/>
            </a:pPr>
            <a:r>
              <a:rPr lang="en-US" sz="8000" dirty="0">
                <a:ln w="3175" cmpd="sng">
                  <a:noFill/>
                </a:ln>
                <a:solidFill>
                  <a:schemeClr val="accent1">
                    <a:lumMod val="60000"/>
                    <a:lumOff val="40000"/>
                  </a:schemeClr>
                </a:solidFill>
                <a:latin typeface="Arial"/>
                <a:cs typeface="+mn-cs"/>
              </a:rPr>
              <a:t>”</a:t>
            </a:r>
          </a:p>
        </p:txBody>
      </p:sp>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7" name="Date Placeholder 3"/>
          <p:cNvSpPr>
            <a:spLocks noGrp="1"/>
          </p:cNvSpPr>
          <p:nvPr>
            <p:ph type="dt" sz="half" idx="14"/>
          </p:nvPr>
        </p:nvSpPr>
        <p:spPr/>
        <p:txBody>
          <a:bodyPr/>
          <a:lstStyle>
            <a:lvl1pPr>
              <a:defRPr/>
            </a:lvl1pPr>
          </a:lstStyle>
          <a:p>
            <a:pPr>
              <a:defRPr/>
            </a:pPr>
            <a:fld id="{6C1BE1C5-8339-4576-96DB-C188FA505C09}" type="datetimeFigureOut">
              <a:rPr lang="en-US"/>
              <a:pPr>
                <a:defRPr/>
              </a:pPr>
              <a:t>9/21/2025</a:t>
            </a:fld>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5E925B82-AC35-4890-B694-C0F3F74659C6}" type="slidenum">
              <a:rPr lang="en-US"/>
              <a:pPr>
                <a:defRPr/>
              </a:pPr>
              <a:t>‹#›</a:t>
            </a:fld>
            <a:endParaRPr lang="en-US" dirty="0"/>
          </a:p>
        </p:txBody>
      </p:sp>
    </p:spTree>
    <p:extLst>
      <p:ext uri="{BB962C8B-B14F-4D97-AF65-F5344CB8AC3E}">
        <p14:creationId xmlns:p14="http://schemas.microsoft.com/office/powerpoint/2010/main" val="3769196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9016E6F4-7B4E-4CAE-BF81-E2F81FEFBCEA}" type="datetimeFigureOut">
              <a:rPr lang="en-US"/>
              <a:pPr>
                <a:defRPr/>
              </a:pPr>
              <a:t>9/21/2025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DEBDD22-930C-4C54-BB72-E6A33CAA281C}" type="slidenum">
              <a:rPr lang="en-US"/>
              <a:pPr>
                <a:defRPr/>
              </a:pPr>
              <a:t>‹#›</a:t>
            </a:fld>
            <a:endParaRPr lang="en-US" dirty="0"/>
          </a:p>
        </p:txBody>
      </p:sp>
    </p:spTree>
    <p:extLst>
      <p:ext uri="{BB962C8B-B14F-4D97-AF65-F5344CB8AC3E}">
        <p14:creationId xmlns:p14="http://schemas.microsoft.com/office/powerpoint/2010/main" val="4198197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5" name="TextBox 23"/>
          <p:cNvSpPr txBox="1"/>
          <p:nvPr/>
        </p:nvSpPr>
        <p:spPr>
          <a:xfrm>
            <a:off x="541338" y="790575"/>
            <a:ext cx="609600" cy="584200"/>
          </a:xfrm>
          <a:prstGeom prst="rect">
            <a:avLst/>
          </a:prstGeom>
        </p:spPr>
        <p:txBody>
          <a:bodyPr anchor="ctr"/>
          <a:lstStyle/>
          <a:p>
            <a:pPr fontAlgn="auto">
              <a:spcBef>
                <a:spcPts val="0"/>
              </a:spcBef>
              <a:spcAft>
                <a:spcPts val="0"/>
              </a:spcAft>
              <a:defRPr/>
            </a:pPr>
            <a:r>
              <a:rPr lang="en-US" sz="8000" dirty="0">
                <a:ln w="3175" cmpd="sng">
                  <a:noFill/>
                </a:ln>
                <a:solidFill>
                  <a:schemeClr val="accent1">
                    <a:lumMod val="60000"/>
                    <a:lumOff val="40000"/>
                  </a:schemeClr>
                </a:solidFill>
                <a:latin typeface="Arial"/>
                <a:cs typeface="+mn-cs"/>
              </a:rPr>
              <a:t>“</a:t>
            </a:r>
          </a:p>
        </p:txBody>
      </p:sp>
      <p:sp>
        <p:nvSpPr>
          <p:cNvPr id="6" name="TextBox 24"/>
          <p:cNvSpPr txBox="1"/>
          <p:nvPr/>
        </p:nvSpPr>
        <p:spPr>
          <a:xfrm>
            <a:off x="8893175" y="2886075"/>
            <a:ext cx="609600" cy="585788"/>
          </a:xfrm>
          <a:prstGeom prst="rect">
            <a:avLst/>
          </a:prstGeom>
        </p:spPr>
        <p:txBody>
          <a:bodyPr anchor="ctr"/>
          <a:lstStyle/>
          <a:p>
            <a:pPr fontAlgn="auto">
              <a:spcBef>
                <a:spcPts val="0"/>
              </a:spcBef>
              <a:spcAft>
                <a:spcPts val="0"/>
              </a:spcAft>
              <a:defRPr/>
            </a:pPr>
            <a:r>
              <a:rPr lang="en-US" sz="8000" dirty="0">
                <a:ln w="3175" cmpd="sng">
                  <a:noFill/>
                </a:ln>
                <a:solidFill>
                  <a:schemeClr val="accent1">
                    <a:lumMod val="60000"/>
                    <a:lumOff val="40000"/>
                  </a:schemeClr>
                </a:solidFill>
                <a:latin typeface="Arial"/>
                <a:cs typeface="+mn-cs"/>
              </a:rPr>
              <a:t>”</a:t>
            </a:r>
          </a:p>
        </p:txBody>
      </p:sp>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7" name="Date Placeholder 3"/>
          <p:cNvSpPr>
            <a:spLocks noGrp="1"/>
          </p:cNvSpPr>
          <p:nvPr>
            <p:ph type="dt" sz="half" idx="14"/>
          </p:nvPr>
        </p:nvSpPr>
        <p:spPr/>
        <p:txBody>
          <a:bodyPr/>
          <a:lstStyle>
            <a:lvl1pPr>
              <a:defRPr/>
            </a:lvl1pPr>
          </a:lstStyle>
          <a:p>
            <a:pPr>
              <a:defRPr/>
            </a:pPr>
            <a:fld id="{49FE6105-2493-44E4-92CA-FC3640175D00}" type="datetimeFigureOut">
              <a:rPr lang="en-US"/>
              <a:pPr>
                <a:defRPr/>
              </a:pPr>
              <a:t>9/21/2025</a:t>
            </a:fld>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242AC78F-132D-4529-B268-73362C13C240}" type="slidenum">
              <a:rPr lang="en-US"/>
              <a:pPr>
                <a:defRPr/>
              </a:pPr>
              <a:t>‹#›</a:t>
            </a:fld>
            <a:endParaRPr lang="en-US" dirty="0"/>
          </a:p>
        </p:txBody>
      </p:sp>
    </p:spTree>
    <p:extLst>
      <p:ext uri="{BB962C8B-B14F-4D97-AF65-F5344CB8AC3E}">
        <p14:creationId xmlns:p14="http://schemas.microsoft.com/office/powerpoint/2010/main" val="989121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4"/>
          </p:nvPr>
        </p:nvSpPr>
        <p:spPr/>
        <p:txBody>
          <a:bodyPr/>
          <a:lstStyle>
            <a:lvl1pPr>
              <a:defRPr/>
            </a:lvl1pPr>
          </a:lstStyle>
          <a:p>
            <a:pPr>
              <a:defRPr/>
            </a:pPr>
            <a:fld id="{694B18AA-1174-46C6-B049-B7872DDE2DA3}" type="datetimeFigureOut">
              <a:rPr lang="en-US"/>
              <a:pPr>
                <a:defRPr/>
              </a:pPr>
              <a:t>9/21/2025</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340E3B22-27E5-4B38-BCB3-60E1D244A6E9}" type="slidenum">
              <a:rPr lang="en-US"/>
              <a:pPr>
                <a:defRPr/>
              </a:pPr>
              <a:t>‹#›</a:t>
            </a:fld>
            <a:endParaRPr lang="en-US" dirty="0"/>
          </a:p>
        </p:txBody>
      </p:sp>
    </p:spTree>
    <p:extLst>
      <p:ext uri="{BB962C8B-B14F-4D97-AF65-F5344CB8AC3E}">
        <p14:creationId xmlns:p14="http://schemas.microsoft.com/office/powerpoint/2010/main" val="1888927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B3DE3B7-2132-4BC7-84B5-D7F29601E3F0}" type="datetimeFigureOut">
              <a:rPr lang="en-US"/>
              <a:pPr>
                <a:defRPr/>
              </a:pPr>
              <a:t>9/21/2025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47210B8-B857-4DDD-B48C-93061BA9E2BD}" type="slidenum">
              <a:rPr lang="en-US"/>
              <a:pPr>
                <a:defRPr/>
              </a:pPr>
              <a:t>‹#›</a:t>
            </a:fld>
            <a:endParaRPr lang="en-US" dirty="0"/>
          </a:p>
        </p:txBody>
      </p:sp>
    </p:spTree>
    <p:extLst>
      <p:ext uri="{BB962C8B-B14F-4D97-AF65-F5344CB8AC3E}">
        <p14:creationId xmlns:p14="http://schemas.microsoft.com/office/powerpoint/2010/main" val="3435488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BC588BD-25D0-4F57-BBCA-877763696EA6}" type="datetimeFigureOut">
              <a:rPr lang="en-US"/>
              <a:pPr>
                <a:defRPr/>
              </a:pPr>
              <a:t>9/21/2025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2DFD8D2-12B0-4B64-8A6E-B9F0F432A764}" type="slidenum">
              <a:rPr lang="en-US"/>
              <a:pPr>
                <a:defRPr/>
              </a:pPr>
              <a:t>‹#›</a:t>
            </a:fld>
            <a:endParaRPr lang="en-US" dirty="0"/>
          </a:p>
        </p:txBody>
      </p:sp>
    </p:spTree>
    <p:extLst>
      <p:ext uri="{BB962C8B-B14F-4D97-AF65-F5344CB8AC3E}">
        <p14:creationId xmlns:p14="http://schemas.microsoft.com/office/powerpoint/2010/main" val="1572422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73633-835B-45A9-9990-E79E52FA64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E933146-71A9-4BAE-8261-41132C23B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19D0CB4-8FB3-4A2C-BC88-6BB2A9EBA01D}"/>
              </a:ext>
            </a:extLst>
          </p:cNvPr>
          <p:cNvSpPr>
            <a:spLocks noGrp="1"/>
          </p:cNvSpPr>
          <p:nvPr>
            <p:ph type="dt" sz="half" idx="10"/>
          </p:nvPr>
        </p:nvSpPr>
        <p:spPr/>
        <p:txBody>
          <a:bodyPr/>
          <a:lstStyle/>
          <a:p>
            <a:pPr>
              <a:defRPr/>
            </a:pPr>
            <a:fld id="{C448F673-B44F-49B4-9D78-1A5CDBAAE7BF}" type="datetimeFigureOut">
              <a:rPr lang="en-US" smtClean="0"/>
              <a:pPr>
                <a:defRPr/>
              </a:pPr>
              <a:t>9/21/2025</a:t>
            </a:fld>
            <a:endParaRPr lang="en-US" dirty="0"/>
          </a:p>
        </p:txBody>
      </p:sp>
      <p:sp>
        <p:nvSpPr>
          <p:cNvPr id="5" name="Footer Placeholder 4">
            <a:extLst>
              <a:ext uri="{FF2B5EF4-FFF2-40B4-BE49-F238E27FC236}">
                <a16:creationId xmlns:a16="http://schemas.microsoft.com/office/drawing/2014/main" id="{835C8EAD-F7DE-43F4-9E00-596280143E2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2D96670-91F5-45C4-A318-5C2B9A1AEC72}"/>
              </a:ext>
            </a:extLst>
          </p:cNvPr>
          <p:cNvSpPr>
            <a:spLocks noGrp="1"/>
          </p:cNvSpPr>
          <p:nvPr>
            <p:ph type="sldNum" sz="quarter" idx="12"/>
          </p:nvPr>
        </p:nvSpPr>
        <p:spPr/>
        <p:txBody>
          <a:bodyPr/>
          <a:lstStyle/>
          <a:p>
            <a:pPr>
              <a:defRPr/>
            </a:pPr>
            <a:fld id="{F61D8A04-4A59-4EC7-934A-A6834F491D4F}" type="slidenum">
              <a:rPr lang="en-US" smtClean="0"/>
              <a:pPr>
                <a:defRPr/>
              </a:pPr>
              <a:t>‹#›</a:t>
            </a:fld>
            <a:endParaRPr lang="en-US" dirty="0"/>
          </a:p>
        </p:txBody>
      </p:sp>
    </p:spTree>
    <p:extLst>
      <p:ext uri="{BB962C8B-B14F-4D97-AF65-F5344CB8AC3E}">
        <p14:creationId xmlns:p14="http://schemas.microsoft.com/office/powerpoint/2010/main" val="1348855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648D-69FE-4692-A9A2-9AE4D04C506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708924D-8E70-48B2-81E8-A16102A35D4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CA5480-BD9B-4235-93D2-45396970EAD4}"/>
              </a:ext>
            </a:extLst>
          </p:cNvPr>
          <p:cNvSpPr>
            <a:spLocks noGrp="1"/>
          </p:cNvSpPr>
          <p:nvPr>
            <p:ph type="dt" sz="half" idx="10"/>
          </p:nvPr>
        </p:nvSpPr>
        <p:spPr/>
        <p:txBody>
          <a:bodyPr/>
          <a:lstStyle/>
          <a:p>
            <a:pPr>
              <a:defRPr/>
            </a:pPr>
            <a:fld id="{D1733D08-E535-4F87-AA2D-DBC8E56ADD68}" type="datetimeFigureOut">
              <a:rPr lang="en-US" smtClean="0"/>
              <a:pPr>
                <a:defRPr/>
              </a:pPr>
              <a:t>9/21/2025</a:t>
            </a:fld>
            <a:endParaRPr lang="en-US" dirty="0"/>
          </a:p>
        </p:txBody>
      </p:sp>
      <p:sp>
        <p:nvSpPr>
          <p:cNvPr id="5" name="Footer Placeholder 4">
            <a:extLst>
              <a:ext uri="{FF2B5EF4-FFF2-40B4-BE49-F238E27FC236}">
                <a16:creationId xmlns:a16="http://schemas.microsoft.com/office/drawing/2014/main" id="{1B14067A-14BA-4E39-8202-3230DBA40F0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CC3C8A1-717A-4E3A-B05E-A8A860B62197}"/>
              </a:ext>
            </a:extLst>
          </p:cNvPr>
          <p:cNvSpPr>
            <a:spLocks noGrp="1"/>
          </p:cNvSpPr>
          <p:nvPr>
            <p:ph type="sldNum" sz="quarter" idx="12"/>
          </p:nvPr>
        </p:nvSpPr>
        <p:spPr/>
        <p:txBody>
          <a:bodyPr/>
          <a:lstStyle/>
          <a:p>
            <a:pPr>
              <a:defRPr/>
            </a:pPr>
            <a:fld id="{7A8D09F0-1CBD-4A11-B790-0A95D89B74E3}" type="slidenum">
              <a:rPr lang="en-US" smtClean="0"/>
              <a:pPr>
                <a:defRPr/>
              </a:pPr>
              <a:t>‹#›</a:t>
            </a:fld>
            <a:endParaRPr lang="en-US" dirty="0"/>
          </a:p>
        </p:txBody>
      </p:sp>
    </p:spTree>
    <p:extLst>
      <p:ext uri="{BB962C8B-B14F-4D97-AF65-F5344CB8AC3E}">
        <p14:creationId xmlns:p14="http://schemas.microsoft.com/office/powerpoint/2010/main" val="2146142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2151-9AA4-4B3B-BB46-1CCE823ECB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28068BB-EB70-43E6-B132-23DF289DCA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2BDD755-4DBD-4545-8E2D-EC44019BB1AC}"/>
              </a:ext>
            </a:extLst>
          </p:cNvPr>
          <p:cNvSpPr>
            <a:spLocks noGrp="1"/>
          </p:cNvSpPr>
          <p:nvPr>
            <p:ph type="dt" sz="half" idx="10"/>
          </p:nvPr>
        </p:nvSpPr>
        <p:spPr/>
        <p:txBody>
          <a:bodyPr/>
          <a:lstStyle/>
          <a:p>
            <a:pPr>
              <a:defRPr/>
            </a:pPr>
            <a:fld id="{83264E99-347F-4E81-B98F-AD7C4E9249B4}" type="datetimeFigureOut">
              <a:rPr lang="en-US" smtClean="0"/>
              <a:pPr>
                <a:defRPr/>
              </a:pPr>
              <a:t>9/21/2025</a:t>
            </a:fld>
            <a:endParaRPr lang="en-US" dirty="0"/>
          </a:p>
        </p:txBody>
      </p:sp>
      <p:sp>
        <p:nvSpPr>
          <p:cNvPr id="5" name="Footer Placeholder 4">
            <a:extLst>
              <a:ext uri="{FF2B5EF4-FFF2-40B4-BE49-F238E27FC236}">
                <a16:creationId xmlns:a16="http://schemas.microsoft.com/office/drawing/2014/main" id="{A7E34394-41F2-4D42-A537-AF0CBA7ED62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5E215EA-C733-4371-8BD8-836DAB9A779B}"/>
              </a:ext>
            </a:extLst>
          </p:cNvPr>
          <p:cNvSpPr>
            <a:spLocks noGrp="1"/>
          </p:cNvSpPr>
          <p:nvPr>
            <p:ph type="sldNum" sz="quarter" idx="12"/>
          </p:nvPr>
        </p:nvSpPr>
        <p:spPr/>
        <p:txBody>
          <a:bodyPr/>
          <a:lstStyle/>
          <a:p>
            <a:pPr>
              <a:defRPr/>
            </a:pPr>
            <a:fld id="{F5778B70-BE2E-4580-9DCA-181B76E49A08}" type="slidenum">
              <a:rPr lang="en-US" smtClean="0"/>
              <a:pPr>
                <a:defRPr/>
              </a:pPr>
              <a:t>‹#›</a:t>
            </a:fld>
            <a:endParaRPr lang="en-US" dirty="0"/>
          </a:p>
        </p:txBody>
      </p:sp>
    </p:spTree>
    <p:extLst>
      <p:ext uri="{BB962C8B-B14F-4D97-AF65-F5344CB8AC3E}">
        <p14:creationId xmlns:p14="http://schemas.microsoft.com/office/powerpoint/2010/main" val="838948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FC947-4F4B-41C5-9B65-7659AA69CD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F4710BF-E218-49CA-9FF9-CF47EFDC0B0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0D346E3-E834-460D-A929-FFF0240AEC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B2C7D1A-FD94-42D4-87AD-38CFFCBF6EC3}"/>
              </a:ext>
            </a:extLst>
          </p:cNvPr>
          <p:cNvSpPr>
            <a:spLocks noGrp="1"/>
          </p:cNvSpPr>
          <p:nvPr>
            <p:ph type="dt" sz="half" idx="10"/>
          </p:nvPr>
        </p:nvSpPr>
        <p:spPr/>
        <p:txBody>
          <a:bodyPr/>
          <a:lstStyle/>
          <a:p>
            <a:pPr>
              <a:defRPr/>
            </a:pPr>
            <a:fld id="{BA399457-715B-4EF4-8E08-7B5037147B47}" type="datetimeFigureOut">
              <a:rPr lang="en-US" smtClean="0"/>
              <a:pPr>
                <a:defRPr/>
              </a:pPr>
              <a:t>9/21/2025</a:t>
            </a:fld>
            <a:endParaRPr lang="en-US" dirty="0"/>
          </a:p>
        </p:txBody>
      </p:sp>
      <p:sp>
        <p:nvSpPr>
          <p:cNvPr id="6" name="Footer Placeholder 5">
            <a:extLst>
              <a:ext uri="{FF2B5EF4-FFF2-40B4-BE49-F238E27FC236}">
                <a16:creationId xmlns:a16="http://schemas.microsoft.com/office/drawing/2014/main" id="{6A4FABE3-09CE-4088-A666-AD678DA55D5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F269872A-113E-4254-8807-A55BB4FE0332}"/>
              </a:ext>
            </a:extLst>
          </p:cNvPr>
          <p:cNvSpPr>
            <a:spLocks noGrp="1"/>
          </p:cNvSpPr>
          <p:nvPr>
            <p:ph type="sldNum" sz="quarter" idx="12"/>
          </p:nvPr>
        </p:nvSpPr>
        <p:spPr/>
        <p:txBody>
          <a:bodyPr/>
          <a:lstStyle/>
          <a:p>
            <a:pPr>
              <a:defRPr/>
            </a:pPr>
            <a:fld id="{6E812E2B-0333-406D-91B7-563D396166DF}" type="slidenum">
              <a:rPr lang="en-US" smtClean="0"/>
              <a:pPr>
                <a:defRPr/>
              </a:pPr>
              <a:t>‹#›</a:t>
            </a:fld>
            <a:endParaRPr lang="en-US" dirty="0"/>
          </a:p>
        </p:txBody>
      </p:sp>
    </p:spTree>
    <p:extLst>
      <p:ext uri="{BB962C8B-B14F-4D97-AF65-F5344CB8AC3E}">
        <p14:creationId xmlns:p14="http://schemas.microsoft.com/office/powerpoint/2010/main" val="36853225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E2228-1400-4C88-93C5-4AEABD69772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8E41E57-B662-4DF3-9D20-F449EAB9D9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CA6EF21-EB87-4D21-B0F0-9DE81E32742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1B52B76-2010-44D7-B8E6-7A0A3098A3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A17608A-1BCC-4DA0-A990-979BC1F6E2C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4094268-73EF-4CF9-9E6D-38A1917EC862}"/>
              </a:ext>
            </a:extLst>
          </p:cNvPr>
          <p:cNvSpPr>
            <a:spLocks noGrp="1"/>
          </p:cNvSpPr>
          <p:nvPr>
            <p:ph type="dt" sz="half" idx="10"/>
          </p:nvPr>
        </p:nvSpPr>
        <p:spPr/>
        <p:txBody>
          <a:bodyPr/>
          <a:lstStyle/>
          <a:p>
            <a:pPr>
              <a:defRPr/>
            </a:pPr>
            <a:fld id="{AFDDB2C7-D610-4FEF-9CBE-B84616BAB4A9}" type="datetimeFigureOut">
              <a:rPr lang="en-US" smtClean="0"/>
              <a:pPr>
                <a:defRPr/>
              </a:pPr>
              <a:t>9/21/2025</a:t>
            </a:fld>
            <a:endParaRPr lang="en-US" dirty="0"/>
          </a:p>
        </p:txBody>
      </p:sp>
      <p:sp>
        <p:nvSpPr>
          <p:cNvPr id="8" name="Footer Placeholder 7">
            <a:extLst>
              <a:ext uri="{FF2B5EF4-FFF2-40B4-BE49-F238E27FC236}">
                <a16:creationId xmlns:a16="http://schemas.microsoft.com/office/drawing/2014/main" id="{777BE5A8-606D-4BB7-A51B-32AE50393D69}"/>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CDDE584-7FFB-417D-9460-5BCD0824B4A9}"/>
              </a:ext>
            </a:extLst>
          </p:cNvPr>
          <p:cNvSpPr>
            <a:spLocks noGrp="1"/>
          </p:cNvSpPr>
          <p:nvPr>
            <p:ph type="sldNum" sz="quarter" idx="12"/>
          </p:nvPr>
        </p:nvSpPr>
        <p:spPr/>
        <p:txBody>
          <a:bodyPr/>
          <a:lstStyle/>
          <a:p>
            <a:pPr>
              <a:defRPr/>
            </a:pPr>
            <a:fld id="{3EEC97E0-8CC9-4EEA-A28E-FD789C5CA41A}" type="slidenum">
              <a:rPr lang="en-US" smtClean="0"/>
              <a:pPr>
                <a:defRPr/>
              </a:pPr>
              <a:t>‹#›</a:t>
            </a:fld>
            <a:endParaRPr lang="en-US" dirty="0"/>
          </a:p>
        </p:txBody>
      </p:sp>
    </p:spTree>
    <p:extLst>
      <p:ext uri="{BB962C8B-B14F-4D97-AF65-F5344CB8AC3E}">
        <p14:creationId xmlns:p14="http://schemas.microsoft.com/office/powerpoint/2010/main" val="35171413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FB6D2-685F-431B-9B7B-DC26C15A71B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4A134D8-7354-4B6F-B8AB-A340D9669857}"/>
              </a:ext>
            </a:extLst>
          </p:cNvPr>
          <p:cNvSpPr>
            <a:spLocks noGrp="1"/>
          </p:cNvSpPr>
          <p:nvPr>
            <p:ph type="dt" sz="half" idx="10"/>
          </p:nvPr>
        </p:nvSpPr>
        <p:spPr/>
        <p:txBody>
          <a:bodyPr/>
          <a:lstStyle/>
          <a:p>
            <a:pPr>
              <a:defRPr/>
            </a:pPr>
            <a:fld id="{5DDDDDC9-DF49-4421-9298-2F406A76310D}" type="datetimeFigureOut">
              <a:rPr lang="en-US" smtClean="0"/>
              <a:pPr>
                <a:defRPr/>
              </a:pPr>
              <a:t>9/21/2025</a:t>
            </a:fld>
            <a:endParaRPr lang="en-US" dirty="0"/>
          </a:p>
        </p:txBody>
      </p:sp>
      <p:sp>
        <p:nvSpPr>
          <p:cNvPr id="4" name="Footer Placeholder 3">
            <a:extLst>
              <a:ext uri="{FF2B5EF4-FFF2-40B4-BE49-F238E27FC236}">
                <a16:creationId xmlns:a16="http://schemas.microsoft.com/office/drawing/2014/main" id="{CC466114-2ABD-4137-96B8-81CDD99DED23}"/>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A7F5DD90-E315-41BA-9968-A3567441C2EE}"/>
              </a:ext>
            </a:extLst>
          </p:cNvPr>
          <p:cNvSpPr>
            <a:spLocks noGrp="1"/>
          </p:cNvSpPr>
          <p:nvPr>
            <p:ph type="sldNum" sz="quarter" idx="12"/>
          </p:nvPr>
        </p:nvSpPr>
        <p:spPr/>
        <p:txBody>
          <a:bodyPr/>
          <a:lstStyle/>
          <a:p>
            <a:pPr>
              <a:defRPr/>
            </a:pPr>
            <a:fld id="{76B27D0B-856B-4DC0-A011-FFC5FB153260}" type="slidenum">
              <a:rPr lang="en-US" smtClean="0"/>
              <a:pPr>
                <a:defRPr/>
              </a:pPr>
              <a:t>‹#›</a:t>
            </a:fld>
            <a:endParaRPr lang="en-US" dirty="0"/>
          </a:p>
        </p:txBody>
      </p:sp>
    </p:spTree>
    <p:extLst>
      <p:ext uri="{BB962C8B-B14F-4D97-AF65-F5344CB8AC3E}">
        <p14:creationId xmlns:p14="http://schemas.microsoft.com/office/powerpoint/2010/main" val="3267505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408AD0-4FB9-4C0D-BC88-FB2866FAC257}"/>
              </a:ext>
            </a:extLst>
          </p:cNvPr>
          <p:cNvSpPr>
            <a:spLocks noGrp="1"/>
          </p:cNvSpPr>
          <p:nvPr>
            <p:ph type="dt" sz="half" idx="10"/>
          </p:nvPr>
        </p:nvSpPr>
        <p:spPr/>
        <p:txBody>
          <a:bodyPr/>
          <a:lstStyle/>
          <a:p>
            <a:pPr>
              <a:defRPr/>
            </a:pPr>
            <a:fld id="{92A03BD7-D6EF-427A-9DA9-BAA6DEFAE149}" type="datetimeFigureOut">
              <a:rPr lang="en-US" smtClean="0"/>
              <a:pPr>
                <a:defRPr/>
              </a:pPr>
              <a:t>9/21/2025</a:t>
            </a:fld>
            <a:endParaRPr lang="en-US" dirty="0"/>
          </a:p>
        </p:txBody>
      </p:sp>
      <p:sp>
        <p:nvSpPr>
          <p:cNvPr id="3" name="Footer Placeholder 2">
            <a:extLst>
              <a:ext uri="{FF2B5EF4-FFF2-40B4-BE49-F238E27FC236}">
                <a16:creationId xmlns:a16="http://schemas.microsoft.com/office/drawing/2014/main" id="{34522215-CBB2-4791-8DFF-C6C3CDD42903}"/>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2945D4EF-73A0-4DAD-B2EB-C9A3891796C2}"/>
              </a:ext>
            </a:extLst>
          </p:cNvPr>
          <p:cNvSpPr>
            <a:spLocks noGrp="1"/>
          </p:cNvSpPr>
          <p:nvPr>
            <p:ph type="sldNum" sz="quarter" idx="12"/>
          </p:nvPr>
        </p:nvSpPr>
        <p:spPr/>
        <p:txBody>
          <a:bodyPr/>
          <a:lstStyle/>
          <a:p>
            <a:pPr>
              <a:defRPr/>
            </a:pPr>
            <a:fld id="{77CD19E6-4DDF-4DFB-AF1C-E782E524EDD6}" type="slidenum">
              <a:rPr lang="en-US" smtClean="0"/>
              <a:pPr>
                <a:defRPr/>
              </a:pPr>
              <a:t>‹#›</a:t>
            </a:fld>
            <a:endParaRPr lang="en-US" dirty="0"/>
          </a:p>
        </p:txBody>
      </p:sp>
    </p:spTree>
    <p:extLst>
      <p:ext uri="{BB962C8B-B14F-4D97-AF65-F5344CB8AC3E}">
        <p14:creationId xmlns:p14="http://schemas.microsoft.com/office/powerpoint/2010/main" val="20182419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94D5F-ED18-4421-8CBD-12879F6B0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5711F7F-CC2E-4041-8C91-F70E55C565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84247E2-0456-478E-B821-8101473357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ACA83FC-DE9D-4E78-8530-26E25A312A16}"/>
              </a:ext>
            </a:extLst>
          </p:cNvPr>
          <p:cNvSpPr>
            <a:spLocks noGrp="1"/>
          </p:cNvSpPr>
          <p:nvPr>
            <p:ph type="dt" sz="half" idx="10"/>
          </p:nvPr>
        </p:nvSpPr>
        <p:spPr/>
        <p:txBody>
          <a:bodyPr/>
          <a:lstStyle/>
          <a:p>
            <a:pPr>
              <a:defRPr/>
            </a:pPr>
            <a:fld id="{879638B7-1CA4-4562-AEC1-A40F407B9222}" type="datetimeFigureOut">
              <a:rPr lang="en-US" smtClean="0"/>
              <a:pPr>
                <a:defRPr/>
              </a:pPr>
              <a:t>9/21/2025</a:t>
            </a:fld>
            <a:endParaRPr lang="en-US" dirty="0"/>
          </a:p>
        </p:txBody>
      </p:sp>
      <p:sp>
        <p:nvSpPr>
          <p:cNvPr id="6" name="Footer Placeholder 5">
            <a:extLst>
              <a:ext uri="{FF2B5EF4-FFF2-40B4-BE49-F238E27FC236}">
                <a16:creationId xmlns:a16="http://schemas.microsoft.com/office/drawing/2014/main" id="{324AED8D-2473-4ECC-B493-17363F45BC5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DEC9B879-7636-42C9-AA12-C3AC21B083A7}"/>
              </a:ext>
            </a:extLst>
          </p:cNvPr>
          <p:cNvSpPr>
            <a:spLocks noGrp="1"/>
          </p:cNvSpPr>
          <p:nvPr>
            <p:ph type="sldNum" sz="quarter" idx="12"/>
          </p:nvPr>
        </p:nvSpPr>
        <p:spPr/>
        <p:txBody>
          <a:bodyPr/>
          <a:lstStyle/>
          <a:p>
            <a:pPr>
              <a:defRPr/>
            </a:pPr>
            <a:fld id="{488DD584-29A0-4339-B9FF-30872D826DFD}" type="slidenum">
              <a:rPr lang="en-US" smtClean="0"/>
              <a:pPr>
                <a:defRPr/>
              </a:pPr>
              <a:t>‹#›</a:t>
            </a:fld>
            <a:endParaRPr lang="en-US" dirty="0"/>
          </a:p>
        </p:txBody>
      </p:sp>
    </p:spTree>
    <p:extLst>
      <p:ext uri="{BB962C8B-B14F-4D97-AF65-F5344CB8AC3E}">
        <p14:creationId xmlns:p14="http://schemas.microsoft.com/office/powerpoint/2010/main" val="40505434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D44E-3481-4D07-9C86-6C90762A24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FA338C8-6950-4E08-9294-F14C2A8BE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7DB4434-F73B-4323-A774-9E4B25328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9EB9483-188D-4CE8-BF56-0F56894EAA63}"/>
              </a:ext>
            </a:extLst>
          </p:cNvPr>
          <p:cNvSpPr>
            <a:spLocks noGrp="1"/>
          </p:cNvSpPr>
          <p:nvPr>
            <p:ph type="dt" sz="half" idx="10"/>
          </p:nvPr>
        </p:nvSpPr>
        <p:spPr/>
        <p:txBody>
          <a:bodyPr/>
          <a:lstStyle/>
          <a:p>
            <a:pPr>
              <a:defRPr/>
            </a:pPr>
            <a:fld id="{63BAE4AE-7999-4A5B-85BC-A09BA1B088F6}" type="datetimeFigureOut">
              <a:rPr lang="en-US" smtClean="0"/>
              <a:pPr>
                <a:defRPr/>
              </a:pPr>
              <a:t>9/21/2025</a:t>
            </a:fld>
            <a:endParaRPr lang="en-US" dirty="0"/>
          </a:p>
        </p:txBody>
      </p:sp>
      <p:sp>
        <p:nvSpPr>
          <p:cNvPr id="6" name="Footer Placeholder 5">
            <a:extLst>
              <a:ext uri="{FF2B5EF4-FFF2-40B4-BE49-F238E27FC236}">
                <a16:creationId xmlns:a16="http://schemas.microsoft.com/office/drawing/2014/main" id="{F2B21584-D945-45A2-A3EA-D002846F9C9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DADA030-8587-48E5-971B-42C56D3A1752}"/>
              </a:ext>
            </a:extLst>
          </p:cNvPr>
          <p:cNvSpPr>
            <a:spLocks noGrp="1"/>
          </p:cNvSpPr>
          <p:nvPr>
            <p:ph type="sldNum" sz="quarter" idx="12"/>
          </p:nvPr>
        </p:nvSpPr>
        <p:spPr/>
        <p:txBody>
          <a:bodyPr/>
          <a:lstStyle/>
          <a:p>
            <a:pPr>
              <a:defRPr/>
            </a:pPr>
            <a:fld id="{5D5105E5-6CA8-4282-A04B-F75BC865D436}" type="slidenum">
              <a:rPr lang="en-US" smtClean="0"/>
              <a:pPr>
                <a:defRPr/>
              </a:pPr>
              <a:t>‹#›</a:t>
            </a:fld>
            <a:endParaRPr lang="en-US" dirty="0"/>
          </a:p>
        </p:txBody>
      </p:sp>
    </p:spTree>
    <p:extLst>
      <p:ext uri="{BB962C8B-B14F-4D97-AF65-F5344CB8AC3E}">
        <p14:creationId xmlns:p14="http://schemas.microsoft.com/office/powerpoint/2010/main" val="38298864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000C-5DBA-47E8-A98F-A096F88C0A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F436773-F677-4FAD-8ADB-28BC255F666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4FD3D8-2BCC-4510-9292-474C1296DF56}"/>
              </a:ext>
            </a:extLst>
          </p:cNvPr>
          <p:cNvSpPr>
            <a:spLocks noGrp="1"/>
          </p:cNvSpPr>
          <p:nvPr>
            <p:ph type="dt" sz="half" idx="10"/>
          </p:nvPr>
        </p:nvSpPr>
        <p:spPr/>
        <p:txBody>
          <a:bodyPr/>
          <a:lstStyle/>
          <a:p>
            <a:pPr>
              <a:defRPr/>
            </a:pPr>
            <a:fld id="{EB3DE3B7-2132-4BC7-84B5-D7F29601E3F0}" type="datetimeFigureOut">
              <a:rPr lang="en-US" smtClean="0"/>
              <a:pPr>
                <a:defRPr/>
              </a:pPr>
              <a:t>9/21/2025</a:t>
            </a:fld>
            <a:endParaRPr lang="en-US" dirty="0"/>
          </a:p>
        </p:txBody>
      </p:sp>
      <p:sp>
        <p:nvSpPr>
          <p:cNvPr id="5" name="Footer Placeholder 4">
            <a:extLst>
              <a:ext uri="{FF2B5EF4-FFF2-40B4-BE49-F238E27FC236}">
                <a16:creationId xmlns:a16="http://schemas.microsoft.com/office/drawing/2014/main" id="{A605FEE9-C9D2-4129-A970-95363892D10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13495B2-F245-42E6-9CF3-E66812AE5D0C}"/>
              </a:ext>
            </a:extLst>
          </p:cNvPr>
          <p:cNvSpPr>
            <a:spLocks noGrp="1"/>
          </p:cNvSpPr>
          <p:nvPr>
            <p:ph type="sldNum" sz="quarter" idx="12"/>
          </p:nvPr>
        </p:nvSpPr>
        <p:spPr/>
        <p:txBody>
          <a:bodyPr/>
          <a:lstStyle/>
          <a:p>
            <a:pPr>
              <a:defRPr/>
            </a:pPr>
            <a:fld id="{047210B8-B857-4DDD-B48C-93061BA9E2BD}" type="slidenum">
              <a:rPr lang="en-US" smtClean="0"/>
              <a:pPr>
                <a:defRPr/>
              </a:pPr>
              <a:t>‹#›</a:t>
            </a:fld>
            <a:endParaRPr lang="en-US" dirty="0"/>
          </a:p>
        </p:txBody>
      </p:sp>
    </p:spTree>
    <p:extLst>
      <p:ext uri="{BB962C8B-B14F-4D97-AF65-F5344CB8AC3E}">
        <p14:creationId xmlns:p14="http://schemas.microsoft.com/office/powerpoint/2010/main" val="6263199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72DE89-B759-437B-96CE-DA75A36994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CF7895-3CEA-4253-8E14-1FA8A64BBEA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BF27348-366D-4ED3-A2CE-EB2E21A9FE57}"/>
              </a:ext>
            </a:extLst>
          </p:cNvPr>
          <p:cNvSpPr>
            <a:spLocks noGrp="1"/>
          </p:cNvSpPr>
          <p:nvPr>
            <p:ph type="dt" sz="half" idx="10"/>
          </p:nvPr>
        </p:nvSpPr>
        <p:spPr/>
        <p:txBody>
          <a:bodyPr/>
          <a:lstStyle/>
          <a:p>
            <a:pPr>
              <a:defRPr/>
            </a:pPr>
            <a:fld id="{EBC588BD-25D0-4F57-BBCA-877763696EA6}" type="datetimeFigureOut">
              <a:rPr lang="en-US" smtClean="0"/>
              <a:pPr>
                <a:defRPr/>
              </a:pPr>
              <a:t>9/21/2025</a:t>
            </a:fld>
            <a:endParaRPr lang="en-US" dirty="0"/>
          </a:p>
        </p:txBody>
      </p:sp>
      <p:sp>
        <p:nvSpPr>
          <p:cNvPr id="5" name="Footer Placeholder 4">
            <a:extLst>
              <a:ext uri="{FF2B5EF4-FFF2-40B4-BE49-F238E27FC236}">
                <a16:creationId xmlns:a16="http://schemas.microsoft.com/office/drawing/2014/main" id="{287B611A-B720-4366-B79D-8D72B87CF9D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DF3E259-A4A1-4CCC-ACA1-69BC8DF9F84B}"/>
              </a:ext>
            </a:extLst>
          </p:cNvPr>
          <p:cNvSpPr>
            <a:spLocks noGrp="1"/>
          </p:cNvSpPr>
          <p:nvPr>
            <p:ph type="sldNum" sz="quarter" idx="12"/>
          </p:nvPr>
        </p:nvSpPr>
        <p:spPr/>
        <p:txBody>
          <a:bodyPr/>
          <a:lstStyle/>
          <a:p>
            <a:pPr>
              <a:defRPr/>
            </a:pPr>
            <a:fld id="{E2DFD8D2-12B0-4B64-8A6E-B9F0F432A764}" type="slidenum">
              <a:rPr lang="en-US" smtClean="0"/>
              <a:pPr>
                <a:defRPr/>
              </a:pPr>
              <a:t>‹#›</a:t>
            </a:fld>
            <a:endParaRPr lang="en-US" dirty="0"/>
          </a:p>
        </p:txBody>
      </p:sp>
    </p:spTree>
    <p:extLst>
      <p:ext uri="{BB962C8B-B14F-4D97-AF65-F5344CB8AC3E}">
        <p14:creationId xmlns:p14="http://schemas.microsoft.com/office/powerpoint/2010/main" val="34645374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955F-AB98-428E-B89F-36231473C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BBDF9EA-25F4-442F-A5B5-4309DCB50E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52CD45D-5E58-42C8-9B03-C017275AB6E9}"/>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5" name="Footer Placeholder 4">
            <a:extLst>
              <a:ext uri="{FF2B5EF4-FFF2-40B4-BE49-F238E27FC236}">
                <a16:creationId xmlns:a16="http://schemas.microsoft.com/office/drawing/2014/main" id="{85859541-4FEB-4317-AE27-612E9D322D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41917A-AAC4-4E76-A757-C72549E5A01A}"/>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715388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E4B3-4773-43C7-BFDE-7DCEF317FCF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DDE064-A009-4050-9746-DDE0E117F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9629A5-8FBE-4922-BC20-72FA7F980FBB}"/>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5" name="Footer Placeholder 4">
            <a:extLst>
              <a:ext uri="{FF2B5EF4-FFF2-40B4-BE49-F238E27FC236}">
                <a16:creationId xmlns:a16="http://schemas.microsoft.com/office/drawing/2014/main" id="{241A5ADE-9C29-4D66-9BBD-0EA1510EE99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800887-B452-4B47-B085-BFC6F2F7C4A2}"/>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9364426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A78B-B0F4-4707-A556-F6DC98B9B9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42E94A-2A84-4D49-912A-172E3FB9EE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67224B-ABC4-4B10-816E-519E2FE36527}"/>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5" name="Footer Placeholder 4">
            <a:extLst>
              <a:ext uri="{FF2B5EF4-FFF2-40B4-BE49-F238E27FC236}">
                <a16:creationId xmlns:a16="http://schemas.microsoft.com/office/drawing/2014/main" id="{4DE12456-E808-4C9F-A8E2-7FAC9B9768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4B2669-B011-4880-82B2-75902A812A4F}"/>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7358842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AB850-3CD6-414F-AD69-EC0278F4315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A5C6560-7A21-459C-95B5-0E118B8B32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22A2F18-CF47-4EC9-840A-B821FF7B89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4E64B7-A5CE-4E5B-BCDC-8E5225794284}"/>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6" name="Footer Placeholder 5">
            <a:extLst>
              <a:ext uri="{FF2B5EF4-FFF2-40B4-BE49-F238E27FC236}">
                <a16:creationId xmlns:a16="http://schemas.microsoft.com/office/drawing/2014/main" id="{C26E47F0-CB4D-430E-B777-6A1DE97B98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129417-5AEE-4380-A1C0-CE62B4F56166}"/>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8444912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8829-1542-4F1E-8B37-424EB5E48F5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AED156-7531-4CFF-91C8-37AC631AB5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EBB709-E636-4548-989C-E0DA809A48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564ADB6-E0FA-416A-BF12-D155B87021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DE59AA-FC92-4165-AD49-53D09DA7B0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AA636B4-F344-488F-83C6-C1BDE19A74F0}"/>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8" name="Footer Placeholder 7">
            <a:extLst>
              <a:ext uri="{FF2B5EF4-FFF2-40B4-BE49-F238E27FC236}">
                <a16:creationId xmlns:a16="http://schemas.microsoft.com/office/drawing/2014/main" id="{EA127502-E509-423F-9D49-F32A8362E6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3BB9DEC-4ABF-41F6-9DAC-2CD7CCEBF0F8}"/>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788491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4BA9D-083F-4E57-AB0C-B175FB7D217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1F34B19-6A92-49CF-BDB2-6A82C756C923}"/>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4" name="Footer Placeholder 3">
            <a:extLst>
              <a:ext uri="{FF2B5EF4-FFF2-40B4-BE49-F238E27FC236}">
                <a16:creationId xmlns:a16="http://schemas.microsoft.com/office/drawing/2014/main" id="{07020564-FDC5-4F64-8136-02C6E2D5455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CDED01A-1389-4F23-9742-EA0AECEA5E21}"/>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8344841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AEA83D-A5A8-4E97-81E4-58263E94A6AA}"/>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3" name="Footer Placeholder 2">
            <a:extLst>
              <a:ext uri="{FF2B5EF4-FFF2-40B4-BE49-F238E27FC236}">
                <a16:creationId xmlns:a16="http://schemas.microsoft.com/office/drawing/2014/main" id="{19F48EBF-8A4F-4D5E-8A60-505ABD00753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74E5E3-4B57-4664-85FE-EE7B88E15D97}"/>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0330227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57588-AC02-4230-9C04-8098CEC499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C0A73AD-BB66-412D-975A-9A503C509E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0FCA64A-7C1C-48E9-96BB-5D907B32B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2C319B-DBFF-4A91-9A93-BB8A34640F84}"/>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6" name="Footer Placeholder 5">
            <a:extLst>
              <a:ext uri="{FF2B5EF4-FFF2-40B4-BE49-F238E27FC236}">
                <a16:creationId xmlns:a16="http://schemas.microsoft.com/office/drawing/2014/main" id="{3E076099-338F-4B3A-8EDF-CB221B75B9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CA339E-B521-4F2D-922B-DF107C0F2260}"/>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11138782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4B267-9F32-46C0-9549-7093A032BD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0E9272D-6BE9-4FEA-835B-AD929B6F30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C33ED8F-05E2-4C6F-A58B-BF379C1A3C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F6737-62A9-43FA-B64E-7FD5F67D997E}"/>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6" name="Footer Placeholder 5">
            <a:extLst>
              <a:ext uri="{FF2B5EF4-FFF2-40B4-BE49-F238E27FC236}">
                <a16:creationId xmlns:a16="http://schemas.microsoft.com/office/drawing/2014/main" id="{0FF83DE4-1C91-49D1-87C7-AFFA341CF4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6A79A59-81DA-499B-853C-BBF7B3AAD6AD}"/>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1392141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A2690-1FA7-4AAE-8E91-A8B943F9E91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FBA176B-01C5-423D-B92B-743E9C6187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399FDB-1638-4650-82A1-79FD64AC1129}"/>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5" name="Footer Placeholder 4">
            <a:extLst>
              <a:ext uri="{FF2B5EF4-FFF2-40B4-BE49-F238E27FC236}">
                <a16:creationId xmlns:a16="http://schemas.microsoft.com/office/drawing/2014/main" id="{E51BF4CA-6E70-4A11-93AA-EAD8AD919A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33B649-C2E0-4A22-A603-31ADB0BF234B}"/>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31121469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34AD32-0C91-4DDF-B0A3-FB00670978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B856A1-6662-4543-8783-81C4893952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DB5012-35CD-4202-8680-9958448291B4}"/>
              </a:ext>
            </a:extLst>
          </p:cNvPr>
          <p:cNvSpPr>
            <a:spLocks noGrp="1"/>
          </p:cNvSpPr>
          <p:nvPr>
            <p:ph type="dt" sz="half" idx="10"/>
          </p:nvPr>
        </p:nvSpPr>
        <p:spPr/>
        <p:txBody>
          <a:bodyPr/>
          <a:lstStyle/>
          <a:p>
            <a:fld id="{95006C8F-868C-45B2-AD8D-B2975F3DD063}" type="datetimeFigureOut">
              <a:rPr lang="en-GB" smtClean="0"/>
              <a:t>21/09/2025</a:t>
            </a:fld>
            <a:endParaRPr lang="en-GB"/>
          </a:p>
        </p:txBody>
      </p:sp>
      <p:sp>
        <p:nvSpPr>
          <p:cNvPr id="5" name="Footer Placeholder 4">
            <a:extLst>
              <a:ext uri="{FF2B5EF4-FFF2-40B4-BE49-F238E27FC236}">
                <a16:creationId xmlns:a16="http://schemas.microsoft.com/office/drawing/2014/main" id="{66BDEA01-EAE6-442D-8B31-A547D3D3F5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ECCC8C-9A91-45A5-BC04-792847666FD6}"/>
              </a:ext>
            </a:extLst>
          </p:cNvPr>
          <p:cNvSpPr>
            <a:spLocks noGrp="1"/>
          </p:cNvSpPr>
          <p:nvPr>
            <p:ph type="sldNum" sz="quarter" idx="12"/>
          </p:nvPr>
        </p:nvSpPr>
        <p:spPr/>
        <p:txBody>
          <a:bodyPr/>
          <a:lstStyle/>
          <a:p>
            <a:fld id="{A8DB28BB-5F87-445B-96B1-B2E629B21D3D}" type="slidenum">
              <a:rPr lang="en-GB" smtClean="0"/>
              <a:t>‹#›</a:t>
            </a:fld>
            <a:endParaRPr lang="en-GB"/>
          </a:p>
        </p:txBody>
      </p:sp>
    </p:spTree>
    <p:extLst>
      <p:ext uri="{BB962C8B-B14F-4D97-AF65-F5344CB8AC3E}">
        <p14:creationId xmlns:p14="http://schemas.microsoft.com/office/powerpoint/2010/main" val="1503540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26" name="Group 43"/>
          <p:cNvGrpSpPr>
            <a:grpSpLocks/>
          </p:cNvGrpSpPr>
          <p:nvPr/>
        </p:nvGrpSpPr>
        <p:grpSpPr bwMode="auto">
          <a:xfrm>
            <a:off x="0" y="-7938"/>
            <a:ext cx="12192000" cy="6865938"/>
            <a:chOff x="0" y="-8467"/>
            <a:chExt cx="12192000" cy="6866467"/>
          </a:xfrm>
        </p:grpSpPr>
        <p:cxnSp>
          <p:nvCxnSpPr>
            <p:cNvPr id="20" name="Straight Connector 19"/>
            <p:cNvCxnSpPr/>
            <p:nvPr/>
          </p:nvCxnSpPr>
          <p:spPr>
            <a:xfrm>
              <a:off x="9371013" y="-528"/>
              <a:ext cx="1219200" cy="6858528"/>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4738" y="3681168"/>
              <a:ext cx="4764087" cy="3176832"/>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863" y="3047706"/>
              <a:ext cx="3259137" cy="3810294"/>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138" y="3589086"/>
              <a:ext cx="1817687" cy="3268914"/>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a:off x="0" y="4012981"/>
              <a:ext cx="449263" cy="2845019"/>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1027" name="Title Placeholder 1"/>
          <p:cNvSpPr>
            <a:spLocks noGrp="1"/>
          </p:cNvSpPr>
          <p:nvPr>
            <p:ph type="title"/>
          </p:nvPr>
        </p:nvSpPr>
        <p:spPr bwMode="auto">
          <a:xfrm>
            <a:off x="677863" y="609600"/>
            <a:ext cx="8596312" cy="1320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677863" y="2160588"/>
            <a:ext cx="8596312" cy="3881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663" y="6042025"/>
            <a:ext cx="911225" cy="365125"/>
          </a:xfrm>
          <a:prstGeom prst="rect">
            <a:avLst/>
          </a:prstGeom>
        </p:spPr>
        <p:txBody>
          <a:bodyPr vert="horz" lIns="91440" tIns="45720" rIns="91440" bIns="45720" rtlCol="0" anchor="ctr"/>
          <a:lstStyle>
            <a:lvl1pPr algn="r" fontAlgn="auto">
              <a:spcBef>
                <a:spcPts val="0"/>
              </a:spcBef>
              <a:spcAft>
                <a:spcPts val="0"/>
              </a:spcAft>
              <a:defRPr sz="900" smtClean="0">
                <a:solidFill>
                  <a:schemeClr val="tx1">
                    <a:tint val="75000"/>
                  </a:schemeClr>
                </a:solidFill>
                <a:latin typeface="+mn-lt"/>
                <a:cs typeface="+mn-cs"/>
              </a:defRPr>
            </a:lvl1pPr>
          </a:lstStyle>
          <a:p>
            <a:pPr>
              <a:defRPr/>
            </a:pPr>
            <a:fld id="{86572753-86ED-4A75-BD5F-26C6C6773808}" type="datetimeFigureOut">
              <a:rPr lang="en-US"/>
              <a:pPr>
                <a:defRPr/>
              </a:pPr>
              <a:t>9/21/2025</a:t>
            </a:fld>
            <a:endParaRPr lang="en-US" dirty="0"/>
          </a:p>
        </p:txBody>
      </p:sp>
      <p:sp>
        <p:nvSpPr>
          <p:cNvPr id="5" name="Footer Placeholder 4"/>
          <p:cNvSpPr>
            <a:spLocks noGrp="1"/>
          </p:cNvSpPr>
          <p:nvPr>
            <p:ph type="ftr" sz="quarter" idx="3"/>
          </p:nvPr>
        </p:nvSpPr>
        <p:spPr>
          <a:xfrm>
            <a:off x="677863" y="6042025"/>
            <a:ext cx="6297612" cy="365125"/>
          </a:xfrm>
          <a:prstGeom prst="rect">
            <a:avLst/>
          </a:prstGeom>
        </p:spPr>
        <p:txBody>
          <a:bodyPr vert="horz" lIns="91440" tIns="45720" rIns="91440" bIns="45720" rtlCol="0" anchor="ctr"/>
          <a:lstStyle>
            <a:lvl1pPr algn="l" fontAlgn="auto">
              <a:spcBef>
                <a:spcPts val="0"/>
              </a:spcBef>
              <a:spcAft>
                <a:spcPts val="0"/>
              </a:spcAft>
              <a:defRPr sz="900" dirty="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589963" y="6042025"/>
            <a:ext cx="684212" cy="365125"/>
          </a:xfrm>
          <a:prstGeom prst="rect">
            <a:avLst/>
          </a:prstGeom>
        </p:spPr>
        <p:txBody>
          <a:bodyPr vert="horz" lIns="91440" tIns="45720" rIns="91440" bIns="45720" rtlCol="0" anchor="ctr"/>
          <a:lstStyle>
            <a:lvl1pPr algn="r" fontAlgn="auto">
              <a:spcBef>
                <a:spcPts val="0"/>
              </a:spcBef>
              <a:spcAft>
                <a:spcPts val="0"/>
              </a:spcAft>
              <a:defRPr sz="900" smtClean="0">
                <a:solidFill>
                  <a:schemeClr val="accent1"/>
                </a:solidFill>
                <a:latin typeface="+mn-lt"/>
                <a:cs typeface="+mn-cs"/>
              </a:defRPr>
            </a:lvl1pPr>
          </a:lstStyle>
          <a:p>
            <a:pPr>
              <a:defRPr/>
            </a:pPr>
            <a:fld id="{C6545434-9B82-4FA6-A778-C414A5DB17CA}" type="slidenum">
              <a:rPr lang="en-US"/>
              <a:pPr>
                <a:defRPr/>
              </a:pPr>
              <a:t>‹#›</a:t>
            </a:fld>
            <a:endParaRPr lang="en-US" dirty="0"/>
          </a:p>
        </p:txBody>
      </p:sp>
    </p:spTree>
    <p:extLst>
      <p:ext uri="{BB962C8B-B14F-4D97-AF65-F5344CB8AC3E}">
        <p14:creationId xmlns:p14="http://schemas.microsoft.com/office/powerpoint/2010/main" val="11454200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fontAlgn="base">
        <a:spcBef>
          <a:spcPct val="0"/>
        </a:spcBef>
        <a:spcAft>
          <a:spcPct val="0"/>
        </a:spcAft>
        <a:defRPr sz="3600" kern="1200">
          <a:solidFill>
            <a:schemeClr val="accent1"/>
          </a:solidFill>
          <a:latin typeface="+mj-lt"/>
          <a:ea typeface="+mj-ea"/>
          <a:cs typeface="+mj-cs"/>
        </a:defRPr>
      </a:lvl1pPr>
      <a:lvl2pPr algn="l" defTabSz="457200" rtl="0" fontAlgn="base">
        <a:spcBef>
          <a:spcPct val="0"/>
        </a:spcBef>
        <a:spcAft>
          <a:spcPct val="0"/>
        </a:spcAft>
        <a:defRPr sz="3600">
          <a:solidFill>
            <a:schemeClr val="accent1"/>
          </a:solidFill>
          <a:latin typeface="Trebuchet MS" pitchFamily="34" charset="0"/>
        </a:defRPr>
      </a:lvl2pPr>
      <a:lvl3pPr algn="l" defTabSz="457200" rtl="0" fontAlgn="base">
        <a:spcBef>
          <a:spcPct val="0"/>
        </a:spcBef>
        <a:spcAft>
          <a:spcPct val="0"/>
        </a:spcAft>
        <a:defRPr sz="3600">
          <a:solidFill>
            <a:schemeClr val="accent1"/>
          </a:solidFill>
          <a:latin typeface="Trebuchet MS" pitchFamily="34" charset="0"/>
        </a:defRPr>
      </a:lvl3pPr>
      <a:lvl4pPr algn="l" defTabSz="457200" rtl="0" fontAlgn="base">
        <a:spcBef>
          <a:spcPct val="0"/>
        </a:spcBef>
        <a:spcAft>
          <a:spcPct val="0"/>
        </a:spcAft>
        <a:defRPr sz="3600">
          <a:solidFill>
            <a:schemeClr val="accent1"/>
          </a:solidFill>
          <a:latin typeface="Trebuchet MS" pitchFamily="34" charset="0"/>
        </a:defRPr>
      </a:lvl4pPr>
      <a:lvl5pPr algn="l" defTabSz="457200" rtl="0" fontAlgn="base">
        <a:spcBef>
          <a:spcPct val="0"/>
        </a:spcBef>
        <a:spcAft>
          <a:spcPct val="0"/>
        </a:spcAft>
        <a:defRPr sz="3600">
          <a:solidFill>
            <a:schemeClr val="accent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fontAlgn="base">
        <a:spcBef>
          <a:spcPts val="1000"/>
        </a:spcBef>
        <a:spcAft>
          <a:spcPct val="0"/>
        </a:spcAft>
        <a:buClr>
          <a:schemeClr val="accent1"/>
        </a:buClr>
        <a:buSzPct val="80000"/>
        <a:buFont typeface="Wingdings 3" pitchFamily="18" charset="2"/>
        <a:buChar char=""/>
        <a:defRPr kern="1200">
          <a:solidFill>
            <a:srgbClr val="404040"/>
          </a:solidFill>
          <a:latin typeface="+mn-lt"/>
          <a:ea typeface="+mn-ea"/>
          <a:cs typeface="+mn-cs"/>
        </a:defRPr>
      </a:lvl1pPr>
      <a:lvl2pPr marL="742950" indent="-285750" algn="l" defTabSz="457200" rtl="0" fontAlgn="base">
        <a:spcBef>
          <a:spcPts val="1000"/>
        </a:spcBef>
        <a:spcAft>
          <a:spcPct val="0"/>
        </a:spcAft>
        <a:buClr>
          <a:schemeClr val="accent1"/>
        </a:buClr>
        <a:buSzPct val="80000"/>
        <a:buFont typeface="Wingdings 3" pitchFamily="18" charset="2"/>
        <a:buChar char=""/>
        <a:defRPr sz="1600" kern="1200">
          <a:solidFill>
            <a:srgbClr val="404040"/>
          </a:solidFill>
          <a:latin typeface="+mn-lt"/>
          <a:ea typeface="+mn-ea"/>
          <a:cs typeface="+mn-cs"/>
        </a:defRPr>
      </a:lvl2pPr>
      <a:lvl3pPr marL="1143000" indent="-228600" algn="l" defTabSz="457200" rtl="0" fontAlgn="base">
        <a:spcBef>
          <a:spcPts val="1000"/>
        </a:spcBef>
        <a:spcAft>
          <a:spcPct val="0"/>
        </a:spcAft>
        <a:buClr>
          <a:schemeClr val="accent1"/>
        </a:buClr>
        <a:buSzPct val="80000"/>
        <a:buFont typeface="Wingdings 3" pitchFamily="18" charset="2"/>
        <a:buChar char=""/>
        <a:defRPr sz="1400" kern="1200">
          <a:solidFill>
            <a:srgbClr val="404040"/>
          </a:solidFill>
          <a:latin typeface="+mn-lt"/>
          <a:ea typeface="+mn-ea"/>
          <a:cs typeface="+mn-cs"/>
        </a:defRPr>
      </a:lvl3pPr>
      <a:lvl4pPr marL="1600200" indent="-228600" algn="l" defTabSz="457200" rtl="0" fontAlgn="base">
        <a:spcBef>
          <a:spcPts val="1000"/>
        </a:spcBef>
        <a:spcAft>
          <a:spcPct val="0"/>
        </a:spcAft>
        <a:buClr>
          <a:schemeClr val="accent1"/>
        </a:buClr>
        <a:buSzPct val="80000"/>
        <a:buFont typeface="Wingdings 3" pitchFamily="18" charset="2"/>
        <a:buChar char=""/>
        <a:defRPr sz="1200" kern="1200">
          <a:solidFill>
            <a:srgbClr val="404040"/>
          </a:solidFill>
          <a:latin typeface="+mn-lt"/>
          <a:ea typeface="+mn-ea"/>
          <a:cs typeface="+mn-cs"/>
        </a:defRPr>
      </a:lvl4pPr>
      <a:lvl5pPr marL="2057400" indent="-228600" algn="l" defTabSz="457200" rtl="0" fontAlgn="base">
        <a:spcBef>
          <a:spcPts val="1000"/>
        </a:spcBef>
        <a:spcAft>
          <a:spcPct val="0"/>
        </a:spcAft>
        <a:buClr>
          <a:schemeClr val="accent1"/>
        </a:buClr>
        <a:buSzPct val="80000"/>
        <a:buFont typeface="Wingdings 3"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EA2293-8039-49C1-B88F-BF0FB49CDA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335A860-6FA1-4DD2-AAD1-426A67D9E5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DAAD5D-368C-4097-A0DC-88CF607DE6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6572753-86ED-4A75-BD5F-26C6C6773808}" type="datetimeFigureOut">
              <a:rPr lang="en-US" smtClean="0"/>
              <a:pPr>
                <a:defRPr/>
              </a:pPr>
              <a:t>9/21/2025</a:t>
            </a:fld>
            <a:endParaRPr lang="en-US" dirty="0"/>
          </a:p>
        </p:txBody>
      </p:sp>
      <p:sp>
        <p:nvSpPr>
          <p:cNvPr id="5" name="Footer Placeholder 4">
            <a:extLst>
              <a:ext uri="{FF2B5EF4-FFF2-40B4-BE49-F238E27FC236}">
                <a16:creationId xmlns:a16="http://schemas.microsoft.com/office/drawing/2014/main" id="{DA2808F3-B62B-4EAB-8212-423662A558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FFB807DB-01CC-4A56-AA81-EAB392764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6545434-9B82-4FA6-A778-C414A5DB17CA}" type="slidenum">
              <a:rPr lang="en-US" smtClean="0"/>
              <a:pPr>
                <a:defRPr/>
              </a:pPr>
              <a:t>‹#›</a:t>
            </a:fld>
            <a:endParaRPr lang="en-US" dirty="0"/>
          </a:p>
        </p:txBody>
      </p:sp>
    </p:spTree>
    <p:extLst>
      <p:ext uri="{BB962C8B-B14F-4D97-AF65-F5344CB8AC3E}">
        <p14:creationId xmlns:p14="http://schemas.microsoft.com/office/powerpoint/2010/main" val="3498581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56966-BA48-49A8-A6DC-6EAF7A293B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2FFF54-02C3-4B1B-90FD-7A6BDED542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D80DA8-6F9E-40DC-B68A-86D0E4660E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06C8F-868C-45B2-AD8D-B2975F3DD063}" type="datetimeFigureOut">
              <a:rPr lang="en-GB" smtClean="0"/>
              <a:t>21/09/2025</a:t>
            </a:fld>
            <a:endParaRPr lang="en-GB"/>
          </a:p>
        </p:txBody>
      </p:sp>
      <p:sp>
        <p:nvSpPr>
          <p:cNvPr id="5" name="Footer Placeholder 4">
            <a:extLst>
              <a:ext uri="{FF2B5EF4-FFF2-40B4-BE49-F238E27FC236}">
                <a16:creationId xmlns:a16="http://schemas.microsoft.com/office/drawing/2014/main" id="{76005953-DF99-45C2-B563-97141FB5C1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E87286C-1B88-4ACC-A994-BADAE19E9F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DB28BB-5F87-445B-96B1-B2E629B21D3D}" type="slidenum">
              <a:rPr lang="en-GB" smtClean="0"/>
              <a:t>‹#›</a:t>
            </a:fld>
            <a:endParaRPr lang="en-GB"/>
          </a:p>
        </p:txBody>
      </p:sp>
    </p:spTree>
    <p:extLst>
      <p:ext uri="{BB962C8B-B14F-4D97-AF65-F5344CB8AC3E}">
        <p14:creationId xmlns:p14="http://schemas.microsoft.com/office/powerpoint/2010/main" val="5508384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gif"/><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jpeg"/><Relationship Id="rId2" Type="http://schemas.openxmlformats.org/officeDocument/2006/relationships/image" Target="../media/image10.jpg"/><Relationship Id="rId1" Type="http://schemas.openxmlformats.org/officeDocument/2006/relationships/slideLayout" Target="../slideLayouts/slideLayout18.xml"/><Relationship Id="rId6" Type="http://schemas.openxmlformats.org/officeDocument/2006/relationships/image" Target="../media/image14.jpeg"/><Relationship Id="rId5" Type="http://schemas.openxmlformats.org/officeDocument/2006/relationships/image" Target="../media/image13.jpg"/><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8.xml"/><Relationship Id="rId4" Type="http://schemas.openxmlformats.org/officeDocument/2006/relationships/image" Target="../media/image28.jp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9.xml"/><Relationship Id="rId4" Type="http://schemas.openxmlformats.org/officeDocument/2006/relationships/image" Target="../media/image4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5865-465D-4927-9C83-30B78671FE76}"/>
              </a:ext>
            </a:extLst>
          </p:cNvPr>
          <p:cNvSpPr>
            <a:spLocks noGrp="1"/>
          </p:cNvSpPr>
          <p:nvPr>
            <p:ph type="ctrTitle"/>
          </p:nvPr>
        </p:nvSpPr>
        <p:spPr/>
        <p:txBody>
          <a:bodyPr/>
          <a:lstStyle/>
          <a:p>
            <a:pPr algn="ctr"/>
            <a:r>
              <a:rPr lang="en-GB" sz="4400" dirty="0">
                <a:solidFill>
                  <a:srgbClr val="002060"/>
                </a:solidFill>
              </a:rPr>
              <a:t>Appreciation of English and American Literature </a:t>
            </a:r>
            <a:br>
              <a:rPr lang="en-GB" sz="4400" dirty="0">
                <a:solidFill>
                  <a:srgbClr val="002060"/>
                </a:solidFill>
              </a:rPr>
            </a:br>
            <a:r>
              <a:rPr lang="en-GB" sz="4400" dirty="0">
                <a:solidFill>
                  <a:srgbClr val="002060"/>
                </a:solidFill>
              </a:rPr>
              <a:t>Week 2</a:t>
            </a:r>
          </a:p>
        </p:txBody>
      </p:sp>
      <p:sp>
        <p:nvSpPr>
          <p:cNvPr id="3" name="Subtitle 2">
            <a:extLst>
              <a:ext uri="{FF2B5EF4-FFF2-40B4-BE49-F238E27FC236}">
                <a16:creationId xmlns:a16="http://schemas.microsoft.com/office/drawing/2014/main" id="{9E7BF357-E55A-4D09-9E64-3E454F89EF0B}"/>
              </a:ext>
            </a:extLst>
          </p:cNvPr>
          <p:cNvSpPr>
            <a:spLocks noGrp="1"/>
          </p:cNvSpPr>
          <p:nvPr>
            <p:ph type="subTitle" idx="1"/>
          </p:nvPr>
        </p:nvSpPr>
        <p:spPr/>
        <p:txBody>
          <a:bodyPr/>
          <a:lstStyle/>
          <a:p>
            <a:endParaRPr lang="en-GB" sz="3600" dirty="0"/>
          </a:p>
          <a:p>
            <a:pPr algn="ctr"/>
            <a:r>
              <a:rPr lang="en-GB" sz="4400" dirty="0"/>
              <a:t>Beowulf to Chaucer</a:t>
            </a:r>
          </a:p>
        </p:txBody>
      </p:sp>
    </p:spTree>
    <p:extLst>
      <p:ext uri="{BB962C8B-B14F-4D97-AF65-F5344CB8AC3E}">
        <p14:creationId xmlns:p14="http://schemas.microsoft.com/office/powerpoint/2010/main" val="958523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034BB-1F39-44A8-9B12-48A74761A896}"/>
              </a:ext>
            </a:extLst>
          </p:cNvPr>
          <p:cNvSpPr>
            <a:spLocks noGrp="1"/>
          </p:cNvSpPr>
          <p:nvPr>
            <p:ph type="title"/>
          </p:nvPr>
        </p:nvSpPr>
        <p:spPr/>
        <p:txBody>
          <a:bodyPr/>
          <a:lstStyle/>
          <a:p>
            <a:pPr algn="ctr"/>
            <a:r>
              <a:rPr lang="en-GB" sz="4800" dirty="0">
                <a:solidFill>
                  <a:srgbClr val="002060"/>
                </a:solidFill>
              </a:rPr>
              <a:t>When did the English Language Begin?</a:t>
            </a:r>
          </a:p>
        </p:txBody>
      </p:sp>
      <p:sp>
        <p:nvSpPr>
          <p:cNvPr id="3" name="Content Placeholder 2">
            <a:extLst>
              <a:ext uri="{FF2B5EF4-FFF2-40B4-BE49-F238E27FC236}">
                <a16:creationId xmlns:a16="http://schemas.microsoft.com/office/drawing/2014/main" id="{82906C69-D265-4D4C-A001-2A259339C1C1}"/>
              </a:ext>
            </a:extLst>
          </p:cNvPr>
          <p:cNvSpPr>
            <a:spLocks noGrp="1"/>
          </p:cNvSpPr>
          <p:nvPr>
            <p:ph idx="1"/>
          </p:nvPr>
        </p:nvSpPr>
        <p:spPr>
          <a:xfrm>
            <a:off x="677862" y="2160588"/>
            <a:ext cx="10938750" cy="3881437"/>
          </a:xfrm>
        </p:spPr>
        <p:txBody>
          <a:bodyPr/>
          <a:lstStyle/>
          <a:p>
            <a:endParaRPr lang="en-GB" dirty="0"/>
          </a:p>
          <a:p>
            <a:r>
              <a:rPr lang="en-GB" sz="2800" dirty="0"/>
              <a:t>If you have to choose a date, which year would it be?</a:t>
            </a:r>
          </a:p>
          <a:p>
            <a:endParaRPr lang="en-GB" sz="1200" dirty="0"/>
          </a:p>
          <a:p>
            <a:r>
              <a:rPr lang="en-GB" sz="2800" dirty="0"/>
              <a:t>When did ‘England’ begin?</a:t>
            </a:r>
          </a:p>
          <a:p>
            <a:pPr marL="0" indent="0">
              <a:buNone/>
            </a:pPr>
            <a:r>
              <a:rPr lang="en-GB" sz="2800" dirty="0"/>
              <a:t>			</a:t>
            </a:r>
            <a:r>
              <a:rPr lang="en-GB" sz="2400" dirty="0"/>
              <a:t>–‘The United Kingdom’ began in 1707.</a:t>
            </a:r>
          </a:p>
          <a:p>
            <a:pPr marL="0" indent="0">
              <a:buNone/>
            </a:pPr>
            <a:r>
              <a:rPr lang="en-GB" sz="2400" dirty="0"/>
              <a:t>			– The British Empire started in the 16</a:t>
            </a:r>
            <a:r>
              <a:rPr lang="en-GB" sz="2400" baseline="30000" dirty="0"/>
              <a:t>th</a:t>
            </a:r>
            <a:r>
              <a:rPr lang="en-GB" sz="2400" dirty="0"/>
              <a:t>/17</a:t>
            </a:r>
            <a:r>
              <a:rPr lang="en-GB" sz="2400" baseline="30000" dirty="0"/>
              <a:t>th</a:t>
            </a:r>
            <a:r>
              <a:rPr lang="en-GB" sz="2400" dirty="0"/>
              <a:t> centuries, at first 					  based on American colonies, and later African, Asian and 						  Australasian colonies. These were granted independence, 						  becoming ‘The Commonwealth’ in the 20</a:t>
            </a:r>
            <a:r>
              <a:rPr lang="en-GB" sz="2400" baseline="30000" dirty="0"/>
              <a:t>th</a:t>
            </a:r>
            <a:r>
              <a:rPr lang="en-GB" sz="2400" dirty="0"/>
              <a:t> Century.</a:t>
            </a:r>
          </a:p>
        </p:txBody>
      </p:sp>
    </p:spTree>
    <p:extLst>
      <p:ext uri="{BB962C8B-B14F-4D97-AF65-F5344CB8AC3E}">
        <p14:creationId xmlns:p14="http://schemas.microsoft.com/office/powerpoint/2010/main" val="275238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1DB7C-EE89-425A-A844-A83EB2B81EEF}"/>
              </a:ext>
            </a:extLst>
          </p:cNvPr>
          <p:cNvSpPr>
            <a:spLocks noGrp="1"/>
          </p:cNvSpPr>
          <p:nvPr>
            <p:ph type="title"/>
          </p:nvPr>
        </p:nvSpPr>
        <p:spPr/>
        <p:txBody>
          <a:bodyPr/>
          <a:lstStyle/>
          <a:p>
            <a:r>
              <a:rPr lang="en-GB" dirty="0">
                <a:solidFill>
                  <a:srgbClr val="002060"/>
                </a:solidFill>
              </a:rPr>
              <a:t>How the English language was formed:</a:t>
            </a:r>
          </a:p>
        </p:txBody>
      </p:sp>
      <p:sp>
        <p:nvSpPr>
          <p:cNvPr id="3" name="Content Placeholder 2">
            <a:extLst>
              <a:ext uri="{FF2B5EF4-FFF2-40B4-BE49-F238E27FC236}">
                <a16:creationId xmlns:a16="http://schemas.microsoft.com/office/drawing/2014/main" id="{B89D9806-B963-495E-9A02-F10ED4EB6F11}"/>
              </a:ext>
            </a:extLst>
          </p:cNvPr>
          <p:cNvSpPr>
            <a:spLocks noGrp="1"/>
          </p:cNvSpPr>
          <p:nvPr>
            <p:ph idx="1"/>
          </p:nvPr>
        </p:nvSpPr>
        <p:spPr/>
        <p:txBody>
          <a:bodyPr/>
          <a:lstStyle/>
          <a:p>
            <a:r>
              <a:rPr lang="en-GB" sz="3200" dirty="0"/>
              <a:t>Tell your classmates what you know about the history of the language.</a:t>
            </a:r>
          </a:p>
          <a:p>
            <a:endParaRPr lang="en-GB" sz="3200" dirty="0"/>
          </a:p>
          <a:p>
            <a:r>
              <a:rPr lang="en-GB" sz="3200" dirty="0"/>
              <a:t>When did people first start speaking ‘English?’</a:t>
            </a:r>
          </a:p>
        </p:txBody>
      </p:sp>
    </p:spTree>
    <p:extLst>
      <p:ext uri="{BB962C8B-B14F-4D97-AF65-F5344CB8AC3E}">
        <p14:creationId xmlns:p14="http://schemas.microsoft.com/office/powerpoint/2010/main" val="234678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76EEED-7C50-4921-B601-6CCFA5D4ED05}"/>
              </a:ext>
            </a:extLst>
          </p:cNvPr>
          <p:cNvSpPr>
            <a:spLocks noGrp="1"/>
          </p:cNvSpPr>
          <p:nvPr>
            <p:ph type="title"/>
          </p:nvPr>
        </p:nvSpPr>
        <p:spPr/>
        <p:txBody>
          <a:bodyPr/>
          <a:lstStyle/>
          <a:p>
            <a:pPr algn="ctr"/>
            <a:r>
              <a:rPr lang="en-US" sz="5400" dirty="0">
                <a:solidFill>
                  <a:srgbClr val="7030A0"/>
                </a:solidFill>
              </a:rPr>
              <a:t>A Quick History of the British Isles</a:t>
            </a:r>
            <a:endParaRPr lang="en-GB" sz="5400" dirty="0">
              <a:solidFill>
                <a:srgbClr val="7030A0"/>
              </a:solidFill>
            </a:endParaRPr>
          </a:p>
        </p:txBody>
      </p:sp>
      <p:sp>
        <p:nvSpPr>
          <p:cNvPr id="5" name="Text Placeholder 4">
            <a:extLst>
              <a:ext uri="{FF2B5EF4-FFF2-40B4-BE49-F238E27FC236}">
                <a16:creationId xmlns:a16="http://schemas.microsoft.com/office/drawing/2014/main" id="{17FAD3A8-BF6F-4AAC-AA71-DB8A8194F4E0}"/>
              </a:ext>
            </a:extLst>
          </p:cNvPr>
          <p:cNvSpPr>
            <a:spLocks noGrp="1"/>
          </p:cNvSpPr>
          <p:nvPr>
            <p:ph type="body" idx="1"/>
          </p:nvPr>
        </p:nvSpPr>
        <p:spPr/>
        <p:txBody>
          <a:bodyPr/>
          <a:lstStyle/>
          <a:p>
            <a:pPr algn="ctr"/>
            <a:endParaRPr lang="en-US" sz="3200" dirty="0"/>
          </a:p>
        </p:txBody>
      </p:sp>
    </p:spTree>
    <p:extLst>
      <p:ext uri="{BB962C8B-B14F-4D97-AF65-F5344CB8AC3E}">
        <p14:creationId xmlns:p14="http://schemas.microsoft.com/office/powerpoint/2010/main" val="2112712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1F061C-A90A-401F-97CB-F54F075B74C3}"/>
              </a:ext>
            </a:extLst>
          </p:cNvPr>
          <p:cNvSpPr>
            <a:spLocks noGrp="1"/>
          </p:cNvSpPr>
          <p:nvPr>
            <p:ph type="title"/>
          </p:nvPr>
        </p:nvSpPr>
        <p:spPr>
          <a:xfrm>
            <a:off x="838199" y="207891"/>
            <a:ext cx="10515600" cy="1325563"/>
          </a:xfrm>
        </p:spPr>
        <p:txBody>
          <a:bodyPr/>
          <a:lstStyle/>
          <a:p>
            <a:pPr algn="ctr"/>
            <a:r>
              <a:rPr lang="en-US" b="1" dirty="0"/>
              <a:t>The Last Glacial Period: 113,000 BC to 9700 BC</a:t>
            </a:r>
            <a:endParaRPr lang="en-GB" b="1" dirty="0"/>
          </a:p>
        </p:txBody>
      </p:sp>
      <p:sp>
        <p:nvSpPr>
          <p:cNvPr id="7" name="Content Placeholder 6">
            <a:extLst>
              <a:ext uri="{FF2B5EF4-FFF2-40B4-BE49-F238E27FC236}">
                <a16:creationId xmlns:a16="http://schemas.microsoft.com/office/drawing/2014/main" id="{4522DF8F-31D8-4168-B6FA-519EF481A2C3}"/>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5622345E-BB45-4A0A-AFBD-D052B36DA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1376383"/>
            <a:ext cx="10233859" cy="5755040"/>
          </a:xfrm>
          <a:prstGeom prst="rect">
            <a:avLst/>
          </a:prstGeom>
        </p:spPr>
      </p:pic>
    </p:spTree>
    <p:extLst>
      <p:ext uri="{BB962C8B-B14F-4D97-AF65-F5344CB8AC3E}">
        <p14:creationId xmlns:p14="http://schemas.microsoft.com/office/powerpoint/2010/main" val="870116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0FD2-76FD-42DB-BD10-93B736E76BC4}"/>
              </a:ext>
            </a:extLst>
          </p:cNvPr>
          <p:cNvSpPr>
            <a:spLocks noGrp="1"/>
          </p:cNvSpPr>
          <p:nvPr>
            <p:ph type="title"/>
          </p:nvPr>
        </p:nvSpPr>
        <p:spPr/>
        <p:txBody>
          <a:bodyPr/>
          <a:lstStyle/>
          <a:p>
            <a:endParaRPr lang="en-GB" dirty="0"/>
          </a:p>
        </p:txBody>
      </p:sp>
      <p:sp>
        <p:nvSpPr>
          <p:cNvPr id="3" name="Text Placeholder 2">
            <a:extLst>
              <a:ext uri="{FF2B5EF4-FFF2-40B4-BE49-F238E27FC236}">
                <a16:creationId xmlns:a16="http://schemas.microsoft.com/office/drawing/2014/main" id="{D98A28A8-1D63-4807-8785-857C6D6FA017}"/>
              </a:ext>
            </a:extLst>
          </p:cNvPr>
          <p:cNvSpPr>
            <a:spLocks noGrp="1"/>
          </p:cNvSpPr>
          <p:nvPr>
            <p:ph type="body" idx="1"/>
          </p:nvPr>
        </p:nvSpPr>
        <p:spPr/>
        <p:txBody>
          <a:bodyPr/>
          <a:lstStyle/>
          <a:p>
            <a:endParaRPr lang="en-GB" dirty="0"/>
          </a:p>
        </p:txBody>
      </p:sp>
      <p:pic>
        <p:nvPicPr>
          <p:cNvPr id="7" name="Picture 6">
            <a:extLst>
              <a:ext uri="{FF2B5EF4-FFF2-40B4-BE49-F238E27FC236}">
                <a16:creationId xmlns:a16="http://schemas.microsoft.com/office/drawing/2014/main" id="{934DDF97-38C7-4916-ACB5-07528D886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69" y="563880"/>
            <a:ext cx="7162799" cy="5730239"/>
          </a:xfrm>
          <a:prstGeom prst="rect">
            <a:avLst/>
          </a:prstGeom>
        </p:spPr>
      </p:pic>
      <p:sp>
        <p:nvSpPr>
          <p:cNvPr id="8" name="TextBox 7">
            <a:extLst>
              <a:ext uri="{FF2B5EF4-FFF2-40B4-BE49-F238E27FC236}">
                <a16:creationId xmlns:a16="http://schemas.microsoft.com/office/drawing/2014/main" id="{9E68EDC4-8A81-4D0A-A816-AAAE97CD8633}"/>
              </a:ext>
            </a:extLst>
          </p:cNvPr>
          <p:cNvSpPr txBox="1"/>
          <p:nvPr/>
        </p:nvSpPr>
        <p:spPr>
          <a:xfrm>
            <a:off x="7644827" y="1196003"/>
            <a:ext cx="3953707" cy="4893647"/>
          </a:xfrm>
          <a:prstGeom prst="rect">
            <a:avLst/>
          </a:prstGeom>
          <a:noFill/>
        </p:spPr>
        <p:txBody>
          <a:bodyPr wrap="square" rtlCol="0">
            <a:spAutoFit/>
          </a:bodyPr>
          <a:lstStyle/>
          <a:p>
            <a:r>
              <a:rPr lang="en-US" sz="2800" dirty="0"/>
              <a:t>Due to lower water levels in the Glacial Period, Britain was connected to mainland Europe by a landmass, called ‘</a:t>
            </a:r>
            <a:r>
              <a:rPr lang="en-US" sz="2800" dirty="0" err="1"/>
              <a:t>Doggerland</a:t>
            </a:r>
            <a:r>
              <a:rPr lang="en-US" sz="2800" dirty="0"/>
              <a:t>’. This was free from the ice from around 8000 BC to 6500 BC, when sea levels rose.</a:t>
            </a:r>
          </a:p>
          <a:p>
            <a:endParaRPr lang="en-US" sz="2800" dirty="0"/>
          </a:p>
          <a:p>
            <a:endParaRPr lang="en-GB" sz="3200" dirty="0"/>
          </a:p>
        </p:txBody>
      </p:sp>
    </p:spTree>
    <p:extLst>
      <p:ext uri="{BB962C8B-B14F-4D97-AF65-F5344CB8AC3E}">
        <p14:creationId xmlns:p14="http://schemas.microsoft.com/office/powerpoint/2010/main" val="2264059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FE7B05-1FAE-4882-902B-F291235F5993}"/>
              </a:ext>
            </a:extLst>
          </p:cNvPr>
          <p:cNvSpPr>
            <a:spLocks noGrp="1"/>
          </p:cNvSpPr>
          <p:nvPr>
            <p:ph type="title"/>
          </p:nvPr>
        </p:nvSpPr>
        <p:spPr/>
        <p:txBody>
          <a:bodyPr/>
          <a:lstStyle/>
          <a:p>
            <a:pPr algn="ctr"/>
            <a:r>
              <a:rPr lang="en-US" b="1" dirty="0"/>
              <a:t>Prehistoric Britain</a:t>
            </a:r>
            <a:endParaRPr lang="en-GB" b="1" dirty="0"/>
          </a:p>
        </p:txBody>
      </p:sp>
      <p:pic>
        <p:nvPicPr>
          <p:cNvPr id="7" name="Content Placeholder 6">
            <a:extLst>
              <a:ext uri="{FF2B5EF4-FFF2-40B4-BE49-F238E27FC236}">
                <a16:creationId xmlns:a16="http://schemas.microsoft.com/office/drawing/2014/main" id="{0E80B691-9FD0-4B51-8302-EA9F5E55A4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8"/>
            <a:ext cx="7042735" cy="3961262"/>
          </a:xfrm>
        </p:spPr>
      </p:pic>
      <p:sp>
        <p:nvSpPr>
          <p:cNvPr id="8" name="TextBox 7">
            <a:extLst>
              <a:ext uri="{FF2B5EF4-FFF2-40B4-BE49-F238E27FC236}">
                <a16:creationId xmlns:a16="http://schemas.microsoft.com/office/drawing/2014/main" id="{29F9549F-A843-4041-9EDA-486D9742CAC8}"/>
              </a:ext>
            </a:extLst>
          </p:cNvPr>
          <p:cNvSpPr txBox="1"/>
          <p:nvPr/>
        </p:nvSpPr>
        <p:spPr>
          <a:xfrm>
            <a:off x="8074855" y="2110154"/>
            <a:ext cx="2278967" cy="1015663"/>
          </a:xfrm>
          <a:prstGeom prst="rect">
            <a:avLst/>
          </a:prstGeom>
          <a:noFill/>
        </p:spPr>
        <p:txBody>
          <a:bodyPr wrap="square" rtlCol="0">
            <a:spAutoFit/>
          </a:bodyPr>
          <a:lstStyle/>
          <a:p>
            <a:endParaRPr lang="en-US" sz="2400" dirty="0"/>
          </a:p>
          <a:p>
            <a:endParaRPr lang="en-US" dirty="0"/>
          </a:p>
          <a:p>
            <a:endParaRPr lang="en-GB" dirty="0"/>
          </a:p>
        </p:txBody>
      </p:sp>
      <p:pic>
        <p:nvPicPr>
          <p:cNvPr id="10" name="Picture 9">
            <a:extLst>
              <a:ext uri="{FF2B5EF4-FFF2-40B4-BE49-F238E27FC236}">
                <a16:creationId xmlns:a16="http://schemas.microsoft.com/office/drawing/2014/main" id="{6E308467-D206-4BD8-AB22-AC0D917380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8363" y="3880784"/>
            <a:ext cx="4919810" cy="2869437"/>
          </a:xfrm>
          <a:prstGeom prst="rect">
            <a:avLst/>
          </a:prstGeom>
        </p:spPr>
      </p:pic>
      <p:sp>
        <p:nvSpPr>
          <p:cNvPr id="11" name="TextBox 10">
            <a:extLst>
              <a:ext uri="{FF2B5EF4-FFF2-40B4-BE49-F238E27FC236}">
                <a16:creationId xmlns:a16="http://schemas.microsoft.com/office/drawing/2014/main" id="{BED8ABE1-E1DE-45B8-AB72-9D13CB42314B}"/>
              </a:ext>
            </a:extLst>
          </p:cNvPr>
          <p:cNvSpPr txBox="1"/>
          <p:nvPr/>
        </p:nvSpPr>
        <p:spPr>
          <a:xfrm>
            <a:off x="7310638" y="1925487"/>
            <a:ext cx="4079631" cy="1384995"/>
          </a:xfrm>
          <a:prstGeom prst="rect">
            <a:avLst/>
          </a:prstGeom>
          <a:noFill/>
        </p:spPr>
        <p:txBody>
          <a:bodyPr wrap="square" rtlCol="0">
            <a:spAutoFit/>
          </a:bodyPr>
          <a:lstStyle/>
          <a:p>
            <a:r>
              <a:rPr lang="en-US" sz="2800" dirty="0"/>
              <a:t>Stonehenge was built as long ago as 3000 BC. What did the Britons speak? </a:t>
            </a:r>
            <a:endParaRPr lang="en-GB" sz="2800" dirty="0"/>
          </a:p>
        </p:txBody>
      </p:sp>
    </p:spTree>
    <p:extLst>
      <p:ext uri="{BB962C8B-B14F-4D97-AF65-F5344CB8AC3E}">
        <p14:creationId xmlns:p14="http://schemas.microsoft.com/office/powerpoint/2010/main" val="2015034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DBF81-E85B-4CF3-A4BB-5A761754DE8E}"/>
              </a:ext>
            </a:extLst>
          </p:cNvPr>
          <p:cNvSpPr>
            <a:spLocks noGrp="1"/>
          </p:cNvSpPr>
          <p:nvPr>
            <p:ph type="title"/>
          </p:nvPr>
        </p:nvSpPr>
        <p:spPr/>
        <p:txBody>
          <a:bodyPr/>
          <a:lstStyle/>
          <a:p>
            <a:pPr algn="ctr"/>
            <a:r>
              <a:rPr lang="en-US" dirty="0"/>
              <a:t>Prehistoric European Languages</a:t>
            </a:r>
            <a:endParaRPr lang="en-GB" dirty="0"/>
          </a:p>
        </p:txBody>
      </p:sp>
      <p:pic>
        <p:nvPicPr>
          <p:cNvPr id="9" name="Content Placeholder 8">
            <a:extLst>
              <a:ext uri="{FF2B5EF4-FFF2-40B4-BE49-F238E27FC236}">
                <a16:creationId xmlns:a16="http://schemas.microsoft.com/office/drawing/2014/main" id="{AA082BF0-2A31-4C6E-8817-E5E9D8B336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17934" y="2227271"/>
            <a:ext cx="3986041" cy="4487596"/>
          </a:xfrm>
        </p:spPr>
      </p:pic>
      <p:sp>
        <p:nvSpPr>
          <p:cNvPr id="4" name="TextBox 3">
            <a:extLst>
              <a:ext uri="{FF2B5EF4-FFF2-40B4-BE49-F238E27FC236}">
                <a16:creationId xmlns:a16="http://schemas.microsoft.com/office/drawing/2014/main" id="{B684D897-3C88-4A97-A92B-8990DF01EFB1}"/>
              </a:ext>
            </a:extLst>
          </p:cNvPr>
          <p:cNvSpPr txBox="1"/>
          <p:nvPr/>
        </p:nvSpPr>
        <p:spPr>
          <a:xfrm>
            <a:off x="8314006" y="1026942"/>
            <a:ext cx="2293034" cy="369332"/>
          </a:xfrm>
          <a:prstGeom prst="rect">
            <a:avLst/>
          </a:prstGeom>
          <a:noFill/>
        </p:spPr>
        <p:txBody>
          <a:bodyPr wrap="square" rtlCol="0">
            <a:spAutoFit/>
          </a:bodyPr>
          <a:lstStyle/>
          <a:p>
            <a:endParaRPr lang="en-GB" dirty="0"/>
          </a:p>
        </p:txBody>
      </p:sp>
      <p:sp>
        <p:nvSpPr>
          <p:cNvPr id="5" name="TextBox 4">
            <a:extLst>
              <a:ext uri="{FF2B5EF4-FFF2-40B4-BE49-F238E27FC236}">
                <a16:creationId xmlns:a16="http://schemas.microsoft.com/office/drawing/2014/main" id="{4CA2A630-1A0D-4C54-A579-F1B2A7EBBE6E}"/>
              </a:ext>
            </a:extLst>
          </p:cNvPr>
          <p:cNvSpPr txBox="1"/>
          <p:nvPr/>
        </p:nvSpPr>
        <p:spPr>
          <a:xfrm>
            <a:off x="11591778" y="1396274"/>
            <a:ext cx="184731" cy="369332"/>
          </a:xfrm>
          <a:prstGeom prst="rect">
            <a:avLst/>
          </a:prstGeom>
          <a:noFill/>
        </p:spPr>
        <p:txBody>
          <a:bodyPr wrap="none" rtlCol="0">
            <a:spAutoFit/>
          </a:bodyPr>
          <a:lstStyle/>
          <a:p>
            <a:endParaRPr lang="en-GB" dirty="0"/>
          </a:p>
        </p:txBody>
      </p:sp>
      <p:sp>
        <p:nvSpPr>
          <p:cNvPr id="6" name="TextBox 5">
            <a:extLst>
              <a:ext uri="{FF2B5EF4-FFF2-40B4-BE49-F238E27FC236}">
                <a16:creationId xmlns:a16="http://schemas.microsoft.com/office/drawing/2014/main" id="{BD065DE9-CDC6-4BC1-8C48-C8FC571D5F66}"/>
              </a:ext>
            </a:extLst>
          </p:cNvPr>
          <p:cNvSpPr txBox="1"/>
          <p:nvPr/>
        </p:nvSpPr>
        <p:spPr>
          <a:xfrm>
            <a:off x="11591778" y="1139483"/>
            <a:ext cx="184731" cy="369332"/>
          </a:xfrm>
          <a:prstGeom prst="rect">
            <a:avLst/>
          </a:prstGeom>
          <a:noFill/>
        </p:spPr>
        <p:txBody>
          <a:bodyPr wrap="none" rtlCol="0">
            <a:spAutoFit/>
          </a:bodyPr>
          <a:lstStyle/>
          <a:p>
            <a:endParaRPr lang="en-GB" dirty="0"/>
          </a:p>
        </p:txBody>
      </p:sp>
      <p:sp>
        <p:nvSpPr>
          <p:cNvPr id="7" name="TextBox 6">
            <a:extLst>
              <a:ext uri="{FF2B5EF4-FFF2-40B4-BE49-F238E27FC236}">
                <a16:creationId xmlns:a16="http://schemas.microsoft.com/office/drawing/2014/main" id="{6153BF39-E652-4F1A-A87F-A021AEE64405}"/>
              </a:ext>
            </a:extLst>
          </p:cNvPr>
          <p:cNvSpPr txBox="1"/>
          <p:nvPr/>
        </p:nvSpPr>
        <p:spPr>
          <a:xfrm>
            <a:off x="6443101" y="1508815"/>
            <a:ext cx="4135706" cy="461665"/>
          </a:xfrm>
          <a:prstGeom prst="rect">
            <a:avLst/>
          </a:prstGeom>
          <a:noFill/>
        </p:spPr>
        <p:txBody>
          <a:bodyPr wrap="square" rtlCol="0">
            <a:spAutoFit/>
          </a:bodyPr>
          <a:lstStyle/>
          <a:p>
            <a:r>
              <a:rPr lang="en-US" sz="2400" dirty="0"/>
              <a:t>Around 3000 BC - hypothesis</a:t>
            </a:r>
            <a:endParaRPr lang="en-GB" sz="2400" dirty="0"/>
          </a:p>
        </p:txBody>
      </p:sp>
      <p:sp>
        <p:nvSpPr>
          <p:cNvPr id="10" name="TextBox 9">
            <a:extLst>
              <a:ext uri="{FF2B5EF4-FFF2-40B4-BE49-F238E27FC236}">
                <a16:creationId xmlns:a16="http://schemas.microsoft.com/office/drawing/2014/main" id="{2D4E3167-1C9A-4183-8231-5578307FA05D}"/>
              </a:ext>
            </a:extLst>
          </p:cNvPr>
          <p:cNvSpPr txBox="1"/>
          <p:nvPr/>
        </p:nvSpPr>
        <p:spPr>
          <a:xfrm>
            <a:off x="1340732" y="1508815"/>
            <a:ext cx="3986040" cy="830997"/>
          </a:xfrm>
          <a:prstGeom prst="rect">
            <a:avLst/>
          </a:prstGeom>
          <a:noFill/>
        </p:spPr>
        <p:txBody>
          <a:bodyPr wrap="square" rtlCol="0">
            <a:spAutoFit/>
          </a:bodyPr>
          <a:lstStyle/>
          <a:p>
            <a:r>
              <a:rPr lang="en-US" sz="2400" dirty="0"/>
              <a:t>European languages 8000 BC - hypothesis</a:t>
            </a:r>
            <a:endParaRPr lang="en-GB" sz="2400" dirty="0"/>
          </a:p>
        </p:txBody>
      </p:sp>
      <p:pic>
        <p:nvPicPr>
          <p:cNvPr id="12" name="Picture 11">
            <a:extLst>
              <a:ext uri="{FF2B5EF4-FFF2-40B4-BE49-F238E27FC236}">
                <a16:creationId xmlns:a16="http://schemas.microsoft.com/office/drawing/2014/main" id="{B8C67F05-D2CA-438C-8841-68A05EFA8B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1372" y="2301177"/>
            <a:ext cx="3835400" cy="4556823"/>
          </a:xfrm>
          <a:prstGeom prst="rect">
            <a:avLst/>
          </a:prstGeom>
        </p:spPr>
      </p:pic>
    </p:spTree>
    <p:extLst>
      <p:ext uri="{BB962C8B-B14F-4D97-AF65-F5344CB8AC3E}">
        <p14:creationId xmlns:p14="http://schemas.microsoft.com/office/powerpoint/2010/main" val="1620511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9692-C65A-4863-B14C-B52F9D16DDFB}"/>
              </a:ext>
            </a:extLst>
          </p:cNvPr>
          <p:cNvSpPr>
            <a:spLocks noGrp="1"/>
          </p:cNvSpPr>
          <p:nvPr>
            <p:ph type="title"/>
          </p:nvPr>
        </p:nvSpPr>
        <p:spPr/>
        <p:txBody>
          <a:bodyPr/>
          <a:lstStyle/>
          <a:p>
            <a:pPr algn="ctr"/>
            <a:r>
              <a:rPr lang="en-US" dirty="0"/>
              <a:t>‘Celtic’ Europe</a:t>
            </a:r>
            <a:endParaRPr lang="en-GB" dirty="0"/>
          </a:p>
        </p:txBody>
      </p:sp>
      <p:pic>
        <p:nvPicPr>
          <p:cNvPr id="5" name="Content Placeholder 4">
            <a:extLst>
              <a:ext uri="{FF2B5EF4-FFF2-40B4-BE49-F238E27FC236}">
                <a16:creationId xmlns:a16="http://schemas.microsoft.com/office/drawing/2014/main" id="{B3806D10-FF8A-4C18-8670-E86B8866CB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63" y="1690688"/>
            <a:ext cx="6113201" cy="5005534"/>
          </a:xfrm>
        </p:spPr>
      </p:pic>
      <p:pic>
        <p:nvPicPr>
          <p:cNvPr id="7" name="Picture 6">
            <a:extLst>
              <a:ext uri="{FF2B5EF4-FFF2-40B4-BE49-F238E27FC236}">
                <a16:creationId xmlns:a16="http://schemas.microsoft.com/office/drawing/2014/main" id="{50189E83-0D14-44A6-B03E-76762F830F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3364" y="1690688"/>
            <a:ext cx="3265313" cy="4601123"/>
          </a:xfrm>
          <a:prstGeom prst="rect">
            <a:avLst/>
          </a:prstGeom>
        </p:spPr>
      </p:pic>
      <p:sp>
        <p:nvSpPr>
          <p:cNvPr id="8" name="TextBox 7">
            <a:extLst>
              <a:ext uri="{FF2B5EF4-FFF2-40B4-BE49-F238E27FC236}">
                <a16:creationId xmlns:a16="http://schemas.microsoft.com/office/drawing/2014/main" id="{728FEB1A-4C8D-4706-8A85-7E240AF6178A}"/>
              </a:ext>
            </a:extLst>
          </p:cNvPr>
          <p:cNvSpPr txBox="1"/>
          <p:nvPr/>
        </p:nvSpPr>
        <p:spPr>
          <a:xfrm>
            <a:off x="9495693" y="1690688"/>
            <a:ext cx="2194560" cy="4154984"/>
          </a:xfrm>
          <a:prstGeom prst="rect">
            <a:avLst/>
          </a:prstGeom>
          <a:noFill/>
        </p:spPr>
        <p:txBody>
          <a:bodyPr wrap="square" rtlCol="0">
            <a:spAutoFit/>
          </a:bodyPr>
          <a:lstStyle/>
          <a:p>
            <a:r>
              <a:rPr lang="en-US" sz="2400" dirty="0"/>
              <a:t>The ‘Brythonic’ language group connected Ireland, Scotland, Wales, and Cornwall with ‘Brittany’ in northern France, and northern Spain.  </a:t>
            </a:r>
            <a:endParaRPr lang="en-GB" sz="2400" dirty="0"/>
          </a:p>
        </p:txBody>
      </p:sp>
    </p:spTree>
    <p:extLst>
      <p:ext uri="{BB962C8B-B14F-4D97-AF65-F5344CB8AC3E}">
        <p14:creationId xmlns:p14="http://schemas.microsoft.com/office/powerpoint/2010/main" val="3412301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9692-C65A-4863-B14C-B52F9D16DDFB}"/>
              </a:ext>
            </a:extLst>
          </p:cNvPr>
          <p:cNvSpPr>
            <a:spLocks noGrp="1"/>
          </p:cNvSpPr>
          <p:nvPr>
            <p:ph type="title"/>
          </p:nvPr>
        </p:nvSpPr>
        <p:spPr/>
        <p:txBody>
          <a:bodyPr/>
          <a:lstStyle/>
          <a:p>
            <a:pPr algn="ctr"/>
            <a:r>
              <a:rPr lang="en-US" dirty="0"/>
              <a:t>‘Brittonic’ Languages</a:t>
            </a:r>
            <a:endParaRPr lang="en-GB" dirty="0"/>
          </a:p>
        </p:txBody>
      </p:sp>
      <p:sp>
        <p:nvSpPr>
          <p:cNvPr id="6" name="TextBox 5">
            <a:extLst>
              <a:ext uri="{FF2B5EF4-FFF2-40B4-BE49-F238E27FC236}">
                <a16:creationId xmlns:a16="http://schemas.microsoft.com/office/drawing/2014/main" id="{E68F1721-2FB7-4CEE-8819-3872C3E8F89A}"/>
              </a:ext>
            </a:extLst>
          </p:cNvPr>
          <p:cNvSpPr txBox="1"/>
          <p:nvPr/>
        </p:nvSpPr>
        <p:spPr>
          <a:xfrm>
            <a:off x="6096000" y="1951671"/>
            <a:ext cx="5282927" cy="4093428"/>
          </a:xfrm>
          <a:prstGeom prst="rect">
            <a:avLst/>
          </a:prstGeom>
          <a:noFill/>
        </p:spPr>
        <p:txBody>
          <a:bodyPr wrap="square" rtlCol="0">
            <a:spAutoFit/>
          </a:bodyPr>
          <a:lstStyle/>
          <a:p>
            <a:r>
              <a:rPr lang="en-GB" sz="2800" dirty="0"/>
              <a:t>Modern English words with roots in Brythonic are few (although difficult to identify because they can have connections to Old German and Gaelic)  Examples are:</a:t>
            </a:r>
          </a:p>
          <a:p>
            <a:endParaRPr lang="en-GB" sz="2800" dirty="0"/>
          </a:p>
          <a:p>
            <a:r>
              <a:rPr lang="en-GB" sz="2800" dirty="0"/>
              <a:t>‘Basket,  Beak,  Brat, Crag, Daddy, Dam, Gob, Nook, Mattock.’</a:t>
            </a:r>
          </a:p>
          <a:p>
            <a:endParaRPr lang="en-GB" dirty="0"/>
          </a:p>
          <a:p>
            <a:endParaRPr lang="en-GB" dirty="0"/>
          </a:p>
        </p:txBody>
      </p:sp>
      <p:pic>
        <p:nvPicPr>
          <p:cNvPr id="4" name="Picture 3">
            <a:extLst>
              <a:ext uri="{FF2B5EF4-FFF2-40B4-BE49-F238E27FC236}">
                <a16:creationId xmlns:a16="http://schemas.microsoft.com/office/drawing/2014/main" id="{491A4B44-2189-4C62-B8D0-219F35924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370" y="1951671"/>
            <a:ext cx="4883388" cy="3662541"/>
          </a:xfrm>
          <a:prstGeom prst="rect">
            <a:avLst/>
          </a:prstGeom>
        </p:spPr>
      </p:pic>
    </p:spTree>
    <p:extLst>
      <p:ext uri="{BB962C8B-B14F-4D97-AF65-F5344CB8AC3E}">
        <p14:creationId xmlns:p14="http://schemas.microsoft.com/office/powerpoint/2010/main" val="3749719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CA3AB-CB0C-4327-831D-2B7D1B28543A}"/>
              </a:ext>
            </a:extLst>
          </p:cNvPr>
          <p:cNvSpPr>
            <a:spLocks noGrp="1"/>
          </p:cNvSpPr>
          <p:nvPr>
            <p:ph type="title"/>
          </p:nvPr>
        </p:nvSpPr>
        <p:spPr>
          <a:xfrm>
            <a:off x="838200" y="68946"/>
            <a:ext cx="10515600" cy="1325563"/>
          </a:xfrm>
        </p:spPr>
        <p:txBody>
          <a:bodyPr/>
          <a:lstStyle/>
          <a:p>
            <a:pPr algn="ctr"/>
            <a:r>
              <a:rPr lang="en-US" dirty="0"/>
              <a:t>Roman Influence – 43 AD</a:t>
            </a:r>
            <a:endParaRPr lang="en-GB" dirty="0"/>
          </a:p>
        </p:txBody>
      </p:sp>
      <p:pic>
        <p:nvPicPr>
          <p:cNvPr id="7" name="Picture 6">
            <a:extLst>
              <a:ext uri="{FF2B5EF4-FFF2-40B4-BE49-F238E27FC236}">
                <a16:creationId xmlns:a16="http://schemas.microsoft.com/office/drawing/2014/main" id="{91193532-6E3E-4FF1-B711-3AA276434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25551"/>
            <a:ext cx="4544615" cy="3035302"/>
          </a:xfrm>
          <a:prstGeom prst="rect">
            <a:avLst/>
          </a:prstGeom>
        </p:spPr>
      </p:pic>
      <p:pic>
        <p:nvPicPr>
          <p:cNvPr id="24" name="Picture 23">
            <a:extLst>
              <a:ext uri="{FF2B5EF4-FFF2-40B4-BE49-F238E27FC236}">
                <a16:creationId xmlns:a16="http://schemas.microsoft.com/office/drawing/2014/main" id="{5447D581-FE54-4759-A5CF-3F859FBB4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5706" y="1182827"/>
            <a:ext cx="3835995" cy="2876996"/>
          </a:xfrm>
          <a:prstGeom prst="rect">
            <a:avLst/>
          </a:prstGeom>
        </p:spPr>
      </p:pic>
      <p:pic>
        <p:nvPicPr>
          <p:cNvPr id="25" name="Picture 24">
            <a:extLst>
              <a:ext uri="{FF2B5EF4-FFF2-40B4-BE49-F238E27FC236}">
                <a16:creationId xmlns:a16="http://schemas.microsoft.com/office/drawing/2014/main" id="{06AE90D5-13B6-4A6E-8AE4-589D8ADCEE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1701" y="1157273"/>
            <a:ext cx="4122993" cy="2855172"/>
          </a:xfrm>
          <a:prstGeom prst="rect">
            <a:avLst/>
          </a:prstGeom>
        </p:spPr>
      </p:pic>
      <p:pic>
        <p:nvPicPr>
          <p:cNvPr id="27" name="Picture 26">
            <a:extLst>
              <a:ext uri="{FF2B5EF4-FFF2-40B4-BE49-F238E27FC236}">
                <a16:creationId xmlns:a16="http://schemas.microsoft.com/office/drawing/2014/main" id="{31EF2F36-85BA-4522-9487-D92C03194A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18844" y="3982197"/>
            <a:ext cx="4073156" cy="2921216"/>
          </a:xfrm>
          <a:prstGeom prst="rect">
            <a:avLst/>
          </a:prstGeom>
        </p:spPr>
      </p:pic>
      <p:pic>
        <p:nvPicPr>
          <p:cNvPr id="2052" name="Picture 4" descr="South End of Wheeldale Roman Road">
            <a:extLst>
              <a:ext uri="{FF2B5EF4-FFF2-40B4-BE49-F238E27FC236}">
                <a16:creationId xmlns:a16="http://schemas.microsoft.com/office/drawing/2014/main" id="{8A9A3C08-F3E8-A182-E1FD-E498DA79A4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4077" y="3985050"/>
            <a:ext cx="3835995" cy="28729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adrian's Wall - 7 nights' (self-guided) - Northern England">
            <a:extLst>
              <a:ext uri="{FF2B5EF4-FFF2-40B4-BE49-F238E27FC236}">
                <a16:creationId xmlns:a16="http://schemas.microsoft.com/office/drawing/2014/main" id="{12FF3784-07B4-3BBC-FBC5-1BE0958E4C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154834"/>
            <a:ext cx="4461383" cy="2974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32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8830-7C29-4C9C-9AE1-788FB6CE2D47}"/>
              </a:ext>
            </a:extLst>
          </p:cNvPr>
          <p:cNvSpPr>
            <a:spLocks noGrp="1"/>
          </p:cNvSpPr>
          <p:nvPr>
            <p:ph type="title"/>
          </p:nvPr>
        </p:nvSpPr>
        <p:spPr>
          <a:xfrm>
            <a:off x="838200" y="312116"/>
            <a:ext cx="10515600" cy="1325563"/>
          </a:xfrm>
        </p:spPr>
        <p:txBody>
          <a:bodyPr>
            <a:normAutofit/>
          </a:bodyPr>
          <a:lstStyle/>
          <a:p>
            <a:pPr algn="ctr"/>
            <a:r>
              <a:rPr lang="en-GB" sz="4800" dirty="0"/>
              <a:t>The Reach of the Roman Empire and </a:t>
            </a:r>
            <a:r>
              <a:rPr lang="en-GB" sz="4800" b="1" dirty="0"/>
              <a:t>Latin</a:t>
            </a:r>
          </a:p>
        </p:txBody>
      </p:sp>
      <p:pic>
        <p:nvPicPr>
          <p:cNvPr id="5" name="Content Placeholder 4">
            <a:extLst>
              <a:ext uri="{FF2B5EF4-FFF2-40B4-BE49-F238E27FC236}">
                <a16:creationId xmlns:a16="http://schemas.microsoft.com/office/drawing/2014/main" id="{1AC30FC6-222E-4905-B3CB-FF94504F67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45326" y="1491068"/>
            <a:ext cx="7792277" cy="5366932"/>
          </a:xfrm>
        </p:spPr>
      </p:pic>
      <p:pic>
        <p:nvPicPr>
          <p:cNvPr id="12" name="Picture 11">
            <a:extLst>
              <a:ext uri="{FF2B5EF4-FFF2-40B4-BE49-F238E27FC236}">
                <a16:creationId xmlns:a16="http://schemas.microsoft.com/office/drawing/2014/main" id="{E8F38B6A-48F8-4810-8882-1E4FCB59A9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91068"/>
            <a:ext cx="4245326" cy="5366932"/>
          </a:xfrm>
          <a:prstGeom prst="rect">
            <a:avLst/>
          </a:prstGeom>
        </p:spPr>
      </p:pic>
    </p:spTree>
    <p:extLst>
      <p:ext uri="{BB962C8B-B14F-4D97-AF65-F5344CB8AC3E}">
        <p14:creationId xmlns:p14="http://schemas.microsoft.com/office/powerpoint/2010/main" val="3161526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EEBB-34E9-4B4E-94EC-300BDD4E2640}"/>
              </a:ext>
            </a:extLst>
          </p:cNvPr>
          <p:cNvSpPr>
            <a:spLocks noGrp="1"/>
          </p:cNvSpPr>
          <p:nvPr>
            <p:ph type="title"/>
          </p:nvPr>
        </p:nvSpPr>
        <p:spPr>
          <a:xfrm>
            <a:off x="4979963" y="365125"/>
            <a:ext cx="6373837" cy="1325563"/>
          </a:xfrm>
        </p:spPr>
        <p:txBody>
          <a:bodyPr>
            <a:normAutofit fontScale="90000"/>
          </a:bodyPr>
          <a:lstStyle/>
          <a:p>
            <a:r>
              <a:rPr lang="en-GB" sz="3600" dirty="0"/>
              <a:t>Perhaps 60% of Modern English has roots in Latin and Greek (also through later French influence):</a:t>
            </a:r>
          </a:p>
        </p:txBody>
      </p:sp>
      <p:pic>
        <p:nvPicPr>
          <p:cNvPr id="9" name="Content Placeholder 8">
            <a:extLst>
              <a:ext uri="{FF2B5EF4-FFF2-40B4-BE49-F238E27FC236}">
                <a16:creationId xmlns:a16="http://schemas.microsoft.com/office/drawing/2014/main" id="{49EC7908-C851-48BC-A985-667407C1C1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65125"/>
            <a:ext cx="3281289" cy="3281289"/>
          </a:xfrm>
          <a:prstGeom prst="rect">
            <a:avLst/>
          </a:prstGeom>
        </p:spPr>
      </p:pic>
      <p:pic>
        <p:nvPicPr>
          <p:cNvPr id="10" name="Picture 9">
            <a:extLst>
              <a:ext uri="{FF2B5EF4-FFF2-40B4-BE49-F238E27FC236}">
                <a16:creationId xmlns:a16="http://schemas.microsoft.com/office/drawing/2014/main" id="{7F3A9F20-49DE-4CDD-A73A-C48710B103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5167" y="3925521"/>
            <a:ext cx="2567354" cy="2567354"/>
          </a:xfrm>
          <a:prstGeom prst="rect">
            <a:avLst/>
          </a:prstGeom>
        </p:spPr>
      </p:pic>
      <p:sp>
        <p:nvSpPr>
          <p:cNvPr id="15" name="TextBox 14">
            <a:extLst>
              <a:ext uri="{FF2B5EF4-FFF2-40B4-BE49-F238E27FC236}">
                <a16:creationId xmlns:a16="http://schemas.microsoft.com/office/drawing/2014/main" id="{E9A6A9E0-8669-40A6-9AEA-DEE75F9F67E1}"/>
              </a:ext>
            </a:extLst>
          </p:cNvPr>
          <p:cNvSpPr txBox="1"/>
          <p:nvPr/>
        </p:nvSpPr>
        <p:spPr>
          <a:xfrm>
            <a:off x="4764157" y="2279374"/>
            <a:ext cx="2458278" cy="523220"/>
          </a:xfrm>
          <a:prstGeom prst="rect">
            <a:avLst/>
          </a:prstGeom>
          <a:noFill/>
        </p:spPr>
        <p:txBody>
          <a:bodyPr wrap="square" rtlCol="0">
            <a:spAutoFit/>
          </a:bodyPr>
          <a:lstStyle/>
          <a:p>
            <a:r>
              <a:rPr lang="en-GB" sz="2800" dirty="0"/>
              <a:t>Latin Word</a:t>
            </a:r>
          </a:p>
        </p:txBody>
      </p:sp>
      <p:sp>
        <p:nvSpPr>
          <p:cNvPr id="16" name="TextBox 15">
            <a:extLst>
              <a:ext uri="{FF2B5EF4-FFF2-40B4-BE49-F238E27FC236}">
                <a16:creationId xmlns:a16="http://schemas.microsoft.com/office/drawing/2014/main" id="{5F53022B-5A58-4224-BC91-03B513076D7C}"/>
              </a:ext>
            </a:extLst>
          </p:cNvPr>
          <p:cNvSpPr txBox="1"/>
          <p:nvPr/>
        </p:nvSpPr>
        <p:spPr>
          <a:xfrm>
            <a:off x="7427844" y="2279374"/>
            <a:ext cx="3425686" cy="523220"/>
          </a:xfrm>
          <a:prstGeom prst="rect">
            <a:avLst/>
          </a:prstGeom>
          <a:noFill/>
        </p:spPr>
        <p:txBody>
          <a:bodyPr wrap="square" rtlCol="0">
            <a:spAutoFit/>
          </a:bodyPr>
          <a:lstStyle/>
          <a:p>
            <a:r>
              <a:rPr lang="en-GB" sz="2800" dirty="0"/>
              <a:t>Modern English Word</a:t>
            </a:r>
          </a:p>
        </p:txBody>
      </p:sp>
      <p:sp>
        <p:nvSpPr>
          <p:cNvPr id="17" name="TextBox 16">
            <a:extLst>
              <a:ext uri="{FF2B5EF4-FFF2-40B4-BE49-F238E27FC236}">
                <a16:creationId xmlns:a16="http://schemas.microsoft.com/office/drawing/2014/main" id="{9245C419-841F-42D0-BD37-47B880B33AC9}"/>
              </a:ext>
            </a:extLst>
          </p:cNvPr>
          <p:cNvSpPr txBox="1"/>
          <p:nvPr/>
        </p:nvSpPr>
        <p:spPr>
          <a:xfrm>
            <a:off x="4764156" y="2968487"/>
            <a:ext cx="1991207" cy="3416320"/>
          </a:xfrm>
          <a:prstGeom prst="rect">
            <a:avLst/>
          </a:prstGeom>
          <a:noFill/>
        </p:spPr>
        <p:txBody>
          <a:bodyPr wrap="square" rtlCol="0">
            <a:spAutoFit/>
          </a:bodyPr>
          <a:lstStyle/>
          <a:p>
            <a:r>
              <a:rPr lang="en-GB" sz="2400" dirty="0"/>
              <a:t>Villa	</a:t>
            </a:r>
          </a:p>
          <a:p>
            <a:r>
              <a:rPr lang="en-GB" sz="2400" dirty="0"/>
              <a:t>Longa	</a:t>
            </a:r>
          </a:p>
          <a:p>
            <a:r>
              <a:rPr lang="en-GB" sz="2400" dirty="0"/>
              <a:t>Nova	</a:t>
            </a:r>
            <a:endParaRPr lang="en-GB" dirty="0"/>
          </a:p>
          <a:p>
            <a:r>
              <a:rPr lang="en-GB" sz="2400" dirty="0"/>
              <a:t>Sub	</a:t>
            </a:r>
          </a:p>
          <a:p>
            <a:r>
              <a:rPr lang="en-GB" sz="2400" dirty="0" err="1"/>
              <a:t>Fama</a:t>
            </a:r>
            <a:r>
              <a:rPr lang="en-GB" sz="2400" dirty="0"/>
              <a:t>	</a:t>
            </a:r>
          </a:p>
          <a:p>
            <a:r>
              <a:rPr lang="en-GB" sz="2400" dirty="0" err="1"/>
              <a:t>Pictura</a:t>
            </a:r>
            <a:r>
              <a:rPr lang="en-GB" sz="2400" dirty="0"/>
              <a:t>	</a:t>
            </a:r>
          </a:p>
          <a:p>
            <a:r>
              <a:rPr lang="en-GB" sz="2400" dirty="0"/>
              <a:t>Habere	</a:t>
            </a:r>
          </a:p>
          <a:p>
            <a:r>
              <a:rPr lang="en-GB" sz="2400" dirty="0"/>
              <a:t>Bona	</a:t>
            </a:r>
          </a:p>
          <a:p>
            <a:r>
              <a:rPr lang="en-GB" sz="2400" dirty="0"/>
              <a:t>Lingua	</a:t>
            </a:r>
            <a:endParaRPr lang="en-GB" dirty="0"/>
          </a:p>
        </p:txBody>
      </p:sp>
      <p:sp>
        <p:nvSpPr>
          <p:cNvPr id="3" name="TextBox 2">
            <a:extLst>
              <a:ext uri="{FF2B5EF4-FFF2-40B4-BE49-F238E27FC236}">
                <a16:creationId xmlns:a16="http://schemas.microsoft.com/office/drawing/2014/main" id="{F13C427D-28AA-CD1A-FD9A-5F50C8C8371C}"/>
              </a:ext>
            </a:extLst>
          </p:cNvPr>
          <p:cNvSpPr txBox="1"/>
          <p:nvPr/>
        </p:nvSpPr>
        <p:spPr>
          <a:xfrm>
            <a:off x="7427844" y="2968487"/>
            <a:ext cx="3849584" cy="3416320"/>
          </a:xfrm>
          <a:prstGeom prst="rect">
            <a:avLst/>
          </a:prstGeom>
          <a:noFill/>
        </p:spPr>
        <p:txBody>
          <a:bodyPr wrap="square" rtlCol="0">
            <a:spAutoFit/>
          </a:bodyPr>
          <a:lstStyle/>
          <a:p>
            <a:r>
              <a:rPr lang="en-GB" sz="2400" dirty="0"/>
              <a:t>Villa / Village  </a:t>
            </a:r>
          </a:p>
          <a:p>
            <a:r>
              <a:rPr lang="en-GB" sz="2400" dirty="0"/>
              <a:t>Long / Longitude</a:t>
            </a:r>
          </a:p>
          <a:p>
            <a:r>
              <a:rPr lang="en-GB" sz="2400" dirty="0"/>
              <a:t>Novel / Novice</a:t>
            </a:r>
            <a:r>
              <a:rPr lang="en-GB" dirty="0"/>
              <a:t>		</a:t>
            </a:r>
          </a:p>
          <a:p>
            <a:r>
              <a:rPr lang="en-GB" sz="2400" dirty="0"/>
              <a:t>Subway / Subterranean</a:t>
            </a:r>
          </a:p>
          <a:p>
            <a:r>
              <a:rPr lang="en-GB" sz="2400" dirty="0"/>
              <a:t>Fame / Famous</a:t>
            </a:r>
          </a:p>
          <a:p>
            <a:r>
              <a:rPr lang="en-GB" sz="2400" dirty="0"/>
              <a:t>Picture / Picturesque</a:t>
            </a:r>
          </a:p>
          <a:p>
            <a:r>
              <a:rPr lang="en-GB" sz="2400" dirty="0"/>
              <a:t>Have / Habit</a:t>
            </a:r>
          </a:p>
          <a:p>
            <a:r>
              <a:rPr lang="en-GB" sz="2400" dirty="0"/>
              <a:t>Bonus / Bona-fide</a:t>
            </a:r>
          </a:p>
          <a:p>
            <a:r>
              <a:rPr lang="en-GB" sz="2400" dirty="0"/>
              <a:t>Language / Linguistics</a:t>
            </a:r>
            <a:endParaRPr lang="en-GB" dirty="0"/>
          </a:p>
        </p:txBody>
      </p:sp>
      <p:sp>
        <p:nvSpPr>
          <p:cNvPr id="4" name="TextBox 3">
            <a:extLst>
              <a:ext uri="{FF2B5EF4-FFF2-40B4-BE49-F238E27FC236}">
                <a16:creationId xmlns:a16="http://schemas.microsoft.com/office/drawing/2014/main" id="{2C2E2E48-5FEA-467F-3333-0C13D6DA1008}"/>
              </a:ext>
            </a:extLst>
          </p:cNvPr>
          <p:cNvSpPr txBox="1"/>
          <p:nvPr/>
        </p:nvSpPr>
        <p:spPr>
          <a:xfrm>
            <a:off x="394252" y="1348288"/>
            <a:ext cx="887895"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rPr>
              <a:t>The Lord is my light</a:t>
            </a:r>
          </a:p>
        </p:txBody>
      </p:sp>
      <p:sp>
        <p:nvSpPr>
          <p:cNvPr id="5" name="TextBox 4">
            <a:extLst>
              <a:ext uri="{FF2B5EF4-FFF2-40B4-BE49-F238E27FC236}">
                <a16:creationId xmlns:a16="http://schemas.microsoft.com/office/drawing/2014/main" id="{08FFDB15-A3C4-13FE-101B-A79527324344}"/>
              </a:ext>
            </a:extLst>
          </p:cNvPr>
          <p:cNvSpPr txBox="1"/>
          <p:nvPr/>
        </p:nvSpPr>
        <p:spPr>
          <a:xfrm>
            <a:off x="394253" y="4346713"/>
            <a:ext cx="80091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rPr>
              <a:t>Truth</a:t>
            </a:r>
          </a:p>
        </p:txBody>
      </p:sp>
    </p:spTree>
    <p:extLst>
      <p:ext uri="{BB962C8B-B14F-4D97-AF65-F5344CB8AC3E}">
        <p14:creationId xmlns:p14="http://schemas.microsoft.com/office/powerpoint/2010/main" val="4180698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0" end="0"/>
                                            </p:txEl>
                                          </p:spTgt>
                                        </p:tgtEl>
                                        <p:attrNameLst>
                                          <p:attrName>style.visibility</p:attrName>
                                        </p:attrNameLst>
                                      </p:cBhvr>
                                      <p:to>
                                        <p:strVal val="visible"/>
                                      </p:to>
                                    </p:set>
                                    <p:animEffect transition="in" filter="fade">
                                      <p:cBhvr>
                                        <p:cTn id="45" dur="500"/>
                                        <p:tgtEl>
                                          <p:spTgt spid="3">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Effect transition="in" filter="fade">
                                      <p:cBhvr>
                                        <p:cTn id="48" dur="500"/>
                                        <p:tgtEl>
                                          <p:spTgt spid="3">
                                            <p:txEl>
                                              <p:pRg st="1" end="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fade">
                                      <p:cBhvr>
                                        <p:cTn id="51" dur="500"/>
                                        <p:tgtEl>
                                          <p:spTgt spid="3">
                                            <p:txEl>
                                              <p:pRg st="2" end="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500"/>
                                        <p:tgtEl>
                                          <p:spTgt spid="3">
                                            <p:txEl>
                                              <p:pRg st="3" end="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fade">
                                      <p:cBhvr>
                                        <p:cTn id="57" dur="500"/>
                                        <p:tgtEl>
                                          <p:spTgt spid="3">
                                            <p:txEl>
                                              <p:pRg st="4" end="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5" end="5"/>
                                            </p:txEl>
                                          </p:spTgt>
                                        </p:tgtEl>
                                        <p:attrNameLst>
                                          <p:attrName>style.visibility</p:attrName>
                                        </p:attrNameLst>
                                      </p:cBhvr>
                                      <p:to>
                                        <p:strVal val="visible"/>
                                      </p:to>
                                    </p:set>
                                    <p:animEffect transition="in" filter="fade">
                                      <p:cBhvr>
                                        <p:cTn id="60" dur="500"/>
                                        <p:tgtEl>
                                          <p:spTgt spid="3">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500"/>
                                        <p:tgtEl>
                                          <p:spTgt spid="3">
                                            <p:txEl>
                                              <p:pRg st="6" end="6"/>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3">
                                            <p:txEl>
                                              <p:pRg st="7" end="7"/>
                                            </p:txEl>
                                          </p:spTgt>
                                        </p:tgtEl>
                                        <p:attrNameLst>
                                          <p:attrName>style.visibility</p:attrName>
                                        </p:attrNameLst>
                                      </p:cBhvr>
                                      <p:to>
                                        <p:strVal val="visible"/>
                                      </p:to>
                                    </p:set>
                                    <p:animEffect transition="in" filter="fade">
                                      <p:cBhvr>
                                        <p:cTn id="66" dur="500"/>
                                        <p:tgtEl>
                                          <p:spTgt spid="3">
                                            <p:txEl>
                                              <p:pRg st="7" end="7"/>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fade">
                                      <p:cBhvr>
                                        <p:cTn id="6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09C1E-8DD6-4975-9469-750035884E40}"/>
              </a:ext>
            </a:extLst>
          </p:cNvPr>
          <p:cNvSpPr>
            <a:spLocks noGrp="1"/>
          </p:cNvSpPr>
          <p:nvPr>
            <p:ph type="title"/>
          </p:nvPr>
        </p:nvSpPr>
        <p:spPr/>
        <p:txBody>
          <a:bodyPr/>
          <a:lstStyle/>
          <a:p>
            <a:r>
              <a:rPr lang="en-GB" dirty="0"/>
              <a:t>400 AD – The Fall of the Roman Empire </a:t>
            </a:r>
            <a:br>
              <a:rPr lang="en-GB" dirty="0"/>
            </a:br>
            <a:r>
              <a:rPr lang="en-GB" dirty="0"/>
              <a:t>Into the Middle Ages – (The Dark Ages?)</a:t>
            </a:r>
          </a:p>
        </p:txBody>
      </p:sp>
      <p:pic>
        <p:nvPicPr>
          <p:cNvPr id="5" name="Content Placeholder 4">
            <a:extLst>
              <a:ext uri="{FF2B5EF4-FFF2-40B4-BE49-F238E27FC236}">
                <a16:creationId xmlns:a16="http://schemas.microsoft.com/office/drawing/2014/main" id="{91336BF9-35D5-4A0B-86D8-1F4BDE3C71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2757" y="1614426"/>
            <a:ext cx="4609912" cy="5200260"/>
          </a:xfrm>
        </p:spPr>
      </p:pic>
      <p:sp>
        <p:nvSpPr>
          <p:cNvPr id="6" name="TextBox 5">
            <a:extLst>
              <a:ext uri="{FF2B5EF4-FFF2-40B4-BE49-F238E27FC236}">
                <a16:creationId xmlns:a16="http://schemas.microsoft.com/office/drawing/2014/main" id="{CA4A51B8-1363-452C-BC6E-563CD3104DB8}"/>
              </a:ext>
            </a:extLst>
          </p:cNvPr>
          <p:cNvSpPr txBox="1"/>
          <p:nvPr/>
        </p:nvSpPr>
        <p:spPr>
          <a:xfrm>
            <a:off x="4804600" y="1980827"/>
            <a:ext cx="2038157" cy="4893647"/>
          </a:xfrm>
          <a:prstGeom prst="rect">
            <a:avLst/>
          </a:prstGeom>
          <a:noFill/>
        </p:spPr>
        <p:txBody>
          <a:bodyPr wrap="square" rtlCol="0">
            <a:spAutoFit/>
          </a:bodyPr>
          <a:lstStyle/>
          <a:p>
            <a:r>
              <a:rPr lang="en-GB" sz="2400" dirty="0"/>
              <a:t>In the 5</a:t>
            </a:r>
            <a:r>
              <a:rPr lang="en-GB" sz="2400" baseline="30000" dirty="0"/>
              <a:t>th</a:t>
            </a:r>
            <a:r>
              <a:rPr lang="en-GB" sz="2400" dirty="0"/>
              <a:t> Century AD the Angles and the Saxons settled in England. They became known as Anglo-Saxons. Their language is known as ‘</a:t>
            </a:r>
            <a:r>
              <a:rPr lang="en-GB" sz="2400" b="1" dirty="0"/>
              <a:t>Old English</a:t>
            </a:r>
            <a:r>
              <a:rPr lang="en-GB" sz="2400" dirty="0"/>
              <a:t>’</a:t>
            </a:r>
          </a:p>
          <a:p>
            <a:r>
              <a:rPr lang="en-GB" sz="2400" dirty="0"/>
              <a:t> </a:t>
            </a:r>
          </a:p>
        </p:txBody>
      </p:sp>
      <p:pic>
        <p:nvPicPr>
          <p:cNvPr id="7" name="Content Placeholder 4">
            <a:extLst>
              <a:ext uri="{FF2B5EF4-FFF2-40B4-BE49-F238E27FC236}">
                <a16:creationId xmlns:a16="http://schemas.microsoft.com/office/drawing/2014/main" id="{5FE6BB61-359C-46EE-9FBE-AB80F93570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237" y="1674214"/>
            <a:ext cx="4169898" cy="5200260"/>
          </a:xfrm>
          <a:prstGeom prst="rect">
            <a:avLst/>
          </a:prstGeom>
        </p:spPr>
      </p:pic>
    </p:spTree>
    <p:extLst>
      <p:ext uri="{BB962C8B-B14F-4D97-AF65-F5344CB8AC3E}">
        <p14:creationId xmlns:p14="http://schemas.microsoft.com/office/powerpoint/2010/main" val="309904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cap="none" dirty="0"/>
              <a:t>Germanic Tribes To England 410 to 1000AD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0922" y="1437338"/>
            <a:ext cx="9356034" cy="5265489"/>
          </a:xfrm>
        </p:spPr>
      </p:pic>
      <p:sp>
        <p:nvSpPr>
          <p:cNvPr id="3" name="TextBox 2">
            <a:extLst>
              <a:ext uri="{FF2B5EF4-FFF2-40B4-BE49-F238E27FC236}">
                <a16:creationId xmlns:a16="http://schemas.microsoft.com/office/drawing/2014/main" id="{387A06FF-AC51-4146-9D19-0D80C9408672}"/>
              </a:ext>
            </a:extLst>
          </p:cNvPr>
          <p:cNvSpPr txBox="1"/>
          <p:nvPr/>
        </p:nvSpPr>
        <p:spPr>
          <a:xfrm>
            <a:off x="111946" y="1690688"/>
            <a:ext cx="2458976" cy="3139321"/>
          </a:xfrm>
          <a:prstGeom prst="rect">
            <a:avLst/>
          </a:prstGeom>
          <a:noFill/>
        </p:spPr>
        <p:txBody>
          <a:bodyPr wrap="square" rtlCol="0">
            <a:spAutoFit/>
          </a:bodyPr>
          <a:lstStyle/>
          <a:p>
            <a:r>
              <a:rPr lang="en-GB" sz="2200" dirty="0"/>
              <a:t>The Sutton </a:t>
            </a:r>
            <a:r>
              <a:rPr lang="en-GB" sz="2200" dirty="0" err="1"/>
              <a:t>Hoo</a:t>
            </a:r>
            <a:r>
              <a:rPr lang="en-GB" sz="2200" dirty="0"/>
              <a:t> Helmet, was found in an upturned ship burial. It is made of iron and bronze, and has a dragon motif </a:t>
            </a:r>
            <a:r>
              <a:rPr lang="en-GB" sz="2200" dirty="0" err="1"/>
              <a:t>overlayed</a:t>
            </a:r>
            <a:r>
              <a:rPr lang="en-GB" sz="2200" dirty="0"/>
              <a:t> with gold. Dated to 625 AD.</a:t>
            </a:r>
          </a:p>
        </p:txBody>
      </p:sp>
      <p:pic>
        <p:nvPicPr>
          <p:cNvPr id="6" name="Picture 5">
            <a:extLst>
              <a:ext uri="{FF2B5EF4-FFF2-40B4-BE49-F238E27FC236}">
                <a16:creationId xmlns:a16="http://schemas.microsoft.com/office/drawing/2014/main" id="{F072032C-CAFD-4DF7-A144-AE8865CA4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46" y="5083779"/>
            <a:ext cx="2095238" cy="1619048"/>
          </a:xfrm>
          <a:prstGeom prst="rect">
            <a:avLst/>
          </a:prstGeom>
        </p:spPr>
      </p:pic>
    </p:spTree>
    <p:extLst>
      <p:ext uri="{BB962C8B-B14F-4D97-AF65-F5344CB8AC3E}">
        <p14:creationId xmlns:p14="http://schemas.microsoft.com/office/powerpoint/2010/main" val="3924999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ED1C0-B2DB-413B-A40E-0D7B6A400749}"/>
              </a:ext>
            </a:extLst>
          </p:cNvPr>
          <p:cNvSpPr>
            <a:spLocks noGrp="1"/>
          </p:cNvSpPr>
          <p:nvPr>
            <p:ph type="title"/>
          </p:nvPr>
        </p:nvSpPr>
        <p:spPr/>
        <p:txBody>
          <a:bodyPr/>
          <a:lstStyle/>
          <a:p>
            <a:r>
              <a:rPr lang="en-GB" dirty="0"/>
              <a:t>Anglo-Saxon England: 5</a:t>
            </a:r>
            <a:r>
              <a:rPr lang="en-GB" baseline="30000" dirty="0"/>
              <a:t>th</a:t>
            </a:r>
            <a:r>
              <a:rPr lang="en-GB" dirty="0"/>
              <a:t>- 10</a:t>
            </a:r>
            <a:r>
              <a:rPr lang="en-GB" baseline="30000" dirty="0"/>
              <a:t>th</a:t>
            </a:r>
            <a:r>
              <a:rPr lang="en-GB" dirty="0"/>
              <a:t> Centuries</a:t>
            </a:r>
          </a:p>
        </p:txBody>
      </p:sp>
      <p:pic>
        <p:nvPicPr>
          <p:cNvPr id="8" name="Picture 7">
            <a:extLst>
              <a:ext uri="{FF2B5EF4-FFF2-40B4-BE49-F238E27FC236}">
                <a16:creationId xmlns:a16="http://schemas.microsoft.com/office/drawing/2014/main" id="{B8B19B94-0765-4E6F-8001-F6B2E479B1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 y="1690688"/>
            <a:ext cx="4749800" cy="5080000"/>
          </a:xfrm>
          <a:prstGeom prst="rect">
            <a:avLst/>
          </a:prstGeom>
        </p:spPr>
      </p:pic>
      <p:sp>
        <p:nvSpPr>
          <p:cNvPr id="9" name="TextBox 8">
            <a:extLst>
              <a:ext uri="{FF2B5EF4-FFF2-40B4-BE49-F238E27FC236}">
                <a16:creationId xmlns:a16="http://schemas.microsoft.com/office/drawing/2014/main" id="{24F5DCD9-D50F-41FC-9687-8116FBB4AAB8}"/>
              </a:ext>
            </a:extLst>
          </p:cNvPr>
          <p:cNvSpPr txBox="1"/>
          <p:nvPr/>
        </p:nvSpPr>
        <p:spPr>
          <a:xfrm>
            <a:off x="5953760" y="1690688"/>
            <a:ext cx="5074920" cy="1938992"/>
          </a:xfrm>
          <a:prstGeom prst="rect">
            <a:avLst/>
          </a:prstGeom>
          <a:noFill/>
        </p:spPr>
        <p:txBody>
          <a:bodyPr wrap="square" rtlCol="0">
            <a:spAutoFit/>
          </a:bodyPr>
          <a:lstStyle/>
          <a:p>
            <a:r>
              <a:rPr lang="en-GB" sz="2400" dirty="0"/>
              <a:t>England was ruled by different kingdoms. However, a sense of national identity began to emerge: this was aided by the spread of Christianity, a common language, and culture.</a:t>
            </a:r>
          </a:p>
        </p:txBody>
      </p:sp>
      <p:pic>
        <p:nvPicPr>
          <p:cNvPr id="11" name="Picture 10">
            <a:extLst>
              <a:ext uri="{FF2B5EF4-FFF2-40B4-BE49-F238E27FC236}">
                <a16:creationId xmlns:a16="http://schemas.microsoft.com/office/drawing/2014/main" id="{562659CF-FD40-446A-8107-18AC709C9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754610"/>
            <a:ext cx="4422140" cy="2738265"/>
          </a:xfrm>
          <a:prstGeom prst="rect">
            <a:avLst/>
          </a:prstGeom>
        </p:spPr>
      </p:pic>
    </p:spTree>
    <p:extLst>
      <p:ext uri="{BB962C8B-B14F-4D97-AF65-F5344CB8AC3E}">
        <p14:creationId xmlns:p14="http://schemas.microsoft.com/office/powerpoint/2010/main" val="4284706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4F65B-5070-47F3-869A-21706E4CD732}"/>
              </a:ext>
            </a:extLst>
          </p:cNvPr>
          <p:cNvSpPr>
            <a:spLocks noGrp="1"/>
          </p:cNvSpPr>
          <p:nvPr>
            <p:ph type="title"/>
          </p:nvPr>
        </p:nvSpPr>
        <p:spPr>
          <a:xfrm>
            <a:off x="717452" y="238516"/>
            <a:ext cx="10636348" cy="1325563"/>
          </a:xfrm>
        </p:spPr>
        <p:txBody>
          <a:bodyPr/>
          <a:lstStyle/>
          <a:p>
            <a:pPr algn="ctr"/>
            <a:r>
              <a:rPr lang="en-GB" dirty="0"/>
              <a:t>The Viking Invasions – 8</a:t>
            </a:r>
            <a:r>
              <a:rPr lang="en-GB" baseline="30000" dirty="0"/>
              <a:t>th</a:t>
            </a:r>
            <a:r>
              <a:rPr lang="en-GB" dirty="0"/>
              <a:t> and 9</a:t>
            </a:r>
            <a:r>
              <a:rPr lang="en-GB" baseline="30000" dirty="0"/>
              <a:t>th</a:t>
            </a:r>
            <a:r>
              <a:rPr lang="en-GB" dirty="0"/>
              <a:t> Centuries AD</a:t>
            </a:r>
          </a:p>
        </p:txBody>
      </p:sp>
      <p:pic>
        <p:nvPicPr>
          <p:cNvPr id="7" name="Picture 6">
            <a:extLst>
              <a:ext uri="{FF2B5EF4-FFF2-40B4-BE49-F238E27FC236}">
                <a16:creationId xmlns:a16="http://schemas.microsoft.com/office/drawing/2014/main" id="{F70E62DD-0E2B-495A-9C41-66C0A9EDE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66" y="1276562"/>
            <a:ext cx="4368388" cy="2904978"/>
          </a:xfrm>
          <a:prstGeom prst="rect">
            <a:avLst/>
          </a:prstGeom>
        </p:spPr>
      </p:pic>
      <p:pic>
        <p:nvPicPr>
          <p:cNvPr id="9" name="Picture 8">
            <a:extLst>
              <a:ext uri="{FF2B5EF4-FFF2-40B4-BE49-F238E27FC236}">
                <a16:creationId xmlns:a16="http://schemas.microsoft.com/office/drawing/2014/main" id="{A9516A10-B170-40F5-9601-12C346D5E9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316" y="3965438"/>
            <a:ext cx="4401725" cy="2892562"/>
          </a:xfrm>
          <a:prstGeom prst="rect">
            <a:avLst/>
          </a:prstGeom>
        </p:spPr>
      </p:pic>
      <p:pic>
        <p:nvPicPr>
          <p:cNvPr id="11" name="Picture 10">
            <a:extLst>
              <a:ext uri="{FF2B5EF4-FFF2-40B4-BE49-F238E27FC236}">
                <a16:creationId xmlns:a16="http://schemas.microsoft.com/office/drawing/2014/main" id="{C6C93F98-FD13-463C-9E36-A06A2F0E4F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4739" y="1276562"/>
            <a:ext cx="6399381" cy="4304876"/>
          </a:xfrm>
          <a:prstGeom prst="rect">
            <a:avLst/>
          </a:prstGeom>
        </p:spPr>
      </p:pic>
      <p:sp>
        <p:nvSpPr>
          <p:cNvPr id="3" name="TextBox 2">
            <a:extLst>
              <a:ext uri="{FF2B5EF4-FFF2-40B4-BE49-F238E27FC236}">
                <a16:creationId xmlns:a16="http://schemas.microsoft.com/office/drawing/2014/main" id="{15875BD9-7E81-5EBF-0D32-9E8650276836}"/>
              </a:ext>
            </a:extLst>
          </p:cNvPr>
          <p:cNvSpPr txBox="1"/>
          <p:nvPr/>
        </p:nvSpPr>
        <p:spPr>
          <a:xfrm>
            <a:off x="4627984" y="5581438"/>
            <a:ext cx="7147249" cy="1200329"/>
          </a:xfrm>
          <a:prstGeom prst="rect">
            <a:avLst/>
          </a:prstGeom>
          <a:noFill/>
        </p:spPr>
        <p:txBody>
          <a:bodyPr wrap="square" rtlCol="0">
            <a:spAutoFit/>
          </a:bodyPr>
          <a:lstStyle/>
          <a:p>
            <a:r>
              <a:rPr lang="en-GB" sz="2400" dirty="0"/>
              <a:t>The Vikings were raiders who often killed Anglo-Saxon Britons. Yet, they settled, became farmers, and converted to Christianity.</a:t>
            </a:r>
          </a:p>
        </p:txBody>
      </p:sp>
    </p:spTree>
    <p:extLst>
      <p:ext uri="{BB962C8B-B14F-4D97-AF65-F5344CB8AC3E}">
        <p14:creationId xmlns:p14="http://schemas.microsoft.com/office/powerpoint/2010/main" val="159538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1BEFB-A347-447C-A7EB-AD46CF5EFAF2}"/>
              </a:ext>
            </a:extLst>
          </p:cNvPr>
          <p:cNvSpPr>
            <a:spLocks noGrp="1"/>
          </p:cNvSpPr>
          <p:nvPr>
            <p:ph type="title"/>
          </p:nvPr>
        </p:nvSpPr>
        <p:spPr>
          <a:xfrm>
            <a:off x="838200" y="114429"/>
            <a:ext cx="10515600" cy="1325563"/>
          </a:xfrm>
        </p:spPr>
        <p:txBody>
          <a:bodyPr/>
          <a:lstStyle/>
          <a:p>
            <a:pPr algn="ctr"/>
            <a:r>
              <a:rPr lang="en-GB" dirty="0"/>
              <a:t>Viking Influence on English</a:t>
            </a:r>
          </a:p>
        </p:txBody>
      </p:sp>
      <p:pic>
        <p:nvPicPr>
          <p:cNvPr id="4" name="Content Placeholder 4">
            <a:extLst>
              <a:ext uri="{FF2B5EF4-FFF2-40B4-BE49-F238E27FC236}">
                <a16:creationId xmlns:a16="http://schemas.microsoft.com/office/drawing/2014/main" id="{45BE8B6E-CEF2-448A-8D77-19A6E11D5D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3488" y="2062637"/>
            <a:ext cx="3671019" cy="4564301"/>
          </a:xfrm>
        </p:spPr>
      </p:pic>
      <p:sp>
        <p:nvSpPr>
          <p:cNvPr id="5" name="TextBox 4">
            <a:extLst>
              <a:ext uri="{FF2B5EF4-FFF2-40B4-BE49-F238E27FC236}">
                <a16:creationId xmlns:a16="http://schemas.microsoft.com/office/drawing/2014/main" id="{9F829BF7-A2E1-4012-8BE4-6C3375AEAB8D}"/>
              </a:ext>
            </a:extLst>
          </p:cNvPr>
          <p:cNvSpPr txBox="1"/>
          <p:nvPr/>
        </p:nvSpPr>
        <p:spPr>
          <a:xfrm>
            <a:off x="4566689" y="2546693"/>
            <a:ext cx="6871823" cy="4662815"/>
          </a:xfrm>
          <a:prstGeom prst="rect">
            <a:avLst/>
          </a:prstGeom>
          <a:noFill/>
        </p:spPr>
        <p:txBody>
          <a:bodyPr wrap="square" rtlCol="0">
            <a:spAutoFit/>
          </a:bodyPr>
          <a:lstStyle/>
          <a:p>
            <a:r>
              <a:rPr lang="en-GB" sz="2400" dirty="0"/>
              <a:t>The Viking language was ‘</a:t>
            </a:r>
            <a:r>
              <a:rPr lang="en-GB" sz="2400" b="1" dirty="0"/>
              <a:t>Old Norse</a:t>
            </a:r>
            <a:r>
              <a:rPr lang="en-GB" sz="2400" dirty="0"/>
              <a:t>.’ Some Old Norse words in modern English are:</a:t>
            </a:r>
          </a:p>
          <a:p>
            <a:endParaRPr lang="en-GB" sz="900" dirty="0"/>
          </a:p>
          <a:p>
            <a:r>
              <a:rPr lang="en-GB" sz="2400" dirty="0"/>
              <a:t>		</a:t>
            </a:r>
            <a:r>
              <a:rPr lang="en-GB" sz="2300" dirty="0"/>
              <a:t>Thursday   (Thor’s Day)</a:t>
            </a:r>
          </a:p>
          <a:p>
            <a:r>
              <a:rPr lang="en-GB" sz="2300" dirty="0"/>
              <a:t>		Likely</a:t>
            </a:r>
          </a:p>
          <a:p>
            <a:r>
              <a:rPr lang="en-GB" sz="2300" dirty="0"/>
              <a:t>		Die</a:t>
            </a:r>
          </a:p>
          <a:p>
            <a:r>
              <a:rPr lang="en-GB" sz="2300" dirty="0"/>
              <a:t>		Want</a:t>
            </a:r>
          </a:p>
          <a:p>
            <a:r>
              <a:rPr lang="en-GB" sz="2300" dirty="0"/>
              <a:t>		Ugly</a:t>
            </a:r>
          </a:p>
          <a:p>
            <a:r>
              <a:rPr lang="en-GB" sz="2300" dirty="0"/>
              <a:t>		Anger</a:t>
            </a:r>
          </a:p>
          <a:p>
            <a:r>
              <a:rPr lang="en-GB" sz="2300" dirty="0"/>
              <a:t>		Egg</a:t>
            </a:r>
          </a:p>
          <a:p>
            <a:r>
              <a:rPr lang="en-GB" sz="2300" dirty="0"/>
              <a:t>		Knife</a:t>
            </a:r>
          </a:p>
          <a:p>
            <a:r>
              <a:rPr lang="en-GB" sz="2300" dirty="0"/>
              <a:t>		Steak</a:t>
            </a:r>
          </a:p>
          <a:p>
            <a:r>
              <a:rPr lang="en-GB" sz="2400" dirty="0"/>
              <a:t>				</a:t>
            </a:r>
          </a:p>
        </p:txBody>
      </p:sp>
      <p:sp>
        <p:nvSpPr>
          <p:cNvPr id="3" name="TextBox 2">
            <a:extLst>
              <a:ext uri="{FF2B5EF4-FFF2-40B4-BE49-F238E27FC236}">
                <a16:creationId xmlns:a16="http://schemas.microsoft.com/office/drawing/2014/main" id="{93B791EF-8B3B-6C41-F9A0-3927564B214F}"/>
              </a:ext>
            </a:extLst>
          </p:cNvPr>
          <p:cNvSpPr txBox="1"/>
          <p:nvPr/>
        </p:nvSpPr>
        <p:spPr>
          <a:xfrm>
            <a:off x="679118" y="1155816"/>
            <a:ext cx="10674682" cy="1200329"/>
          </a:xfrm>
          <a:prstGeom prst="rect">
            <a:avLst/>
          </a:prstGeom>
          <a:noFill/>
        </p:spPr>
        <p:txBody>
          <a:bodyPr wrap="square" rtlCol="0">
            <a:spAutoFit/>
          </a:bodyPr>
          <a:lstStyle/>
          <a:p>
            <a:r>
              <a:rPr lang="en-GB" sz="2400" dirty="0"/>
              <a:t>In 878 AD, Alfred King of Wessex defeated the Great Heathen Army of Vikings, which had conquered much of England. The Vikings settled in The Danelaw. Alfred was 					  called the King of the Anglo-Saxons (the English).</a:t>
            </a:r>
          </a:p>
        </p:txBody>
      </p:sp>
    </p:spTree>
    <p:extLst>
      <p:ext uri="{BB962C8B-B14F-4D97-AF65-F5344CB8AC3E}">
        <p14:creationId xmlns:p14="http://schemas.microsoft.com/office/powerpoint/2010/main" val="199442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FE91-D6F2-4CF4-B7F1-5E528733FA00}"/>
              </a:ext>
            </a:extLst>
          </p:cNvPr>
          <p:cNvSpPr>
            <a:spLocks noGrp="1"/>
          </p:cNvSpPr>
          <p:nvPr>
            <p:ph type="title"/>
          </p:nvPr>
        </p:nvSpPr>
        <p:spPr>
          <a:xfrm>
            <a:off x="838200" y="192381"/>
            <a:ext cx="10515600" cy="1325563"/>
          </a:xfrm>
        </p:spPr>
        <p:txBody>
          <a:bodyPr>
            <a:normAutofit fontScale="90000"/>
          </a:bodyPr>
          <a:lstStyle/>
          <a:p>
            <a:pPr algn="ctr"/>
            <a:r>
              <a:rPr lang="en-GB" sz="4800" dirty="0"/>
              <a:t>Summary: Language Invasions After </a:t>
            </a:r>
            <a:br>
              <a:rPr lang="en-GB" sz="4800" dirty="0"/>
            </a:br>
            <a:r>
              <a:rPr lang="en-GB" sz="4800" dirty="0"/>
              <a:t>         the Roman Empire</a:t>
            </a:r>
          </a:p>
        </p:txBody>
      </p:sp>
      <p:pic>
        <p:nvPicPr>
          <p:cNvPr id="5" name="Content Placeholder 4">
            <a:extLst>
              <a:ext uri="{FF2B5EF4-FFF2-40B4-BE49-F238E27FC236}">
                <a16:creationId xmlns:a16="http://schemas.microsoft.com/office/drawing/2014/main" id="{14BBC5EE-79B7-433A-A276-BA9140A9CD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6258" y="1644553"/>
            <a:ext cx="8759483" cy="4757074"/>
          </a:xfrm>
        </p:spPr>
      </p:pic>
    </p:spTree>
    <p:extLst>
      <p:ext uri="{BB962C8B-B14F-4D97-AF65-F5344CB8AC3E}">
        <p14:creationId xmlns:p14="http://schemas.microsoft.com/office/powerpoint/2010/main" val="266339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3CC9-6A39-42D0-A523-2FF42E59F5EB}"/>
              </a:ext>
            </a:extLst>
          </p:cNvPr>
          <p:cNvSpPr>
            <a:spLocks noGrp="1"/>
          </p:cNvSpPr>
          <p:nvPr>
            <p:ph type="title"/>
          </p:nvPr>
        </p:nvSpPr>
        <p:spPr/>
        <p:txBody>
          <a:bodyPr/>
          <a:lstStyle/>
          <a:p>
            <a:pPr algn="ctr"/>
            <a:r>
              <a:rPr lang="en-GB" dirty="0"/>
              <a:t>1066 AD – The Battle of Hastings</a:t>
            </a:r>
          </a:p>
        </p:txBody>
      </p:sp>
      <p:pic>
        <p:nvPicPr>
          <p:cNvPr id="8" name="Content Placeholder 7">
            <a:extLst>
              <a:ext uri="{FF2B5EF4-FFF2-40B4-BE49-F238E27FC236}">
                <a16:creationId xmlns:a16="http://schemas.microsoft.com/office/drawing/2014/main" id="{6DBD4D50-F813-4D2A-BF98-D2D3527A88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3312" y="1811557"/>
            <a:ext cx="6680662" cy="4351338"/>
          </a:xfrm>
        </p:spPr>
      </p:pic>
      <p:sp>
        <p:nvSpPr>
          <p:cNvPr id="9" name="TextBox 8">
            <a:extLst>
              <a:ext uri="{FF2B5EF4-FFF2-40B4-BE49-F238E27FC236}">
                <a16:creationId xmlns:a16="http://schemas.microsoft.com/office/drawing/2014/main" id="{28795A53-EFA4-4D01-B38E-DAD2A85E3647}"/>
              </a:ext>
            </a:extLst>
          </p:cNvPr>
          <p:cNvSpPr txBox="1"/>
          <p:nvPr/>
        </p:nvSpPr>
        <p:spPr>
          <a:xfrm>
            <a:off x="7526216" y="1690688"/>
            <a:ext cx="3671667" cy="4893647"/>
          </a:xfrm>
          <a:prstGeom prst="rect">
            <a:avLst/>
          </a:prstGeom>
          <a:noFill/>
        </p:spPr>
        <p:txBody>
          <a:bodyPr wrap="square" rtlCol="0">
            <a:spAutoFit/>
          </a:bodyPr>
          <a:lstStyle/>
          <a:p>
            <a:r>
              <a:rPr lang="en-GB" sz="2600" dirty="0"/>
              <a:t>William (the Conqueror) invaded England from Northern France and defeated the English army led by King Harold of Wessex.</a:t>
            </a:r>
          </a:p>
          <a:p>
            <a:endParaRPr lang="en-GB" sz="2600" dirty="0"/>
          </a:p>
          <a:p>
            <a:r>
              <a:rPr lang="en-GB" sz="2600" b="1" dirty="0"/>
              <a:t>‘Old French’</a:t>
            </a:r>
            <a:r>
              <a:rPr lang="en-GB" sz="2600" dirty="0"/>
              <a:t> became the court language for English kings and queens, although not for most Anglo-Saxons.</a:t>
            </a:r>
          </a:p>
        </p:txBody>
      </p:sp>
    </p:spTree>
    <p:extLst>
      <p:ext uri="{BB962C8B-B14F-4D97-AF65-F5344CB8AC3E}">
        <p14:creationId xmlns:p14="http://schemas.microsoft.com/office/powerpoint/2010/main" val="704187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D6CC-1659-45F7-B2F2-3A52469D2B3E}"/>
              </a:ext>
            </a:extLst>
          </p:cNvPr>
          <p:cNvSpPr>
            <a:spLocks noGrp="1"/>
          </p:cNvSpPr>
          <p:nvPr>
            <p:ph type="title"/>
          </p:nvPr>
        </p:nvSpPr>
        <p:spPr/>
        <p:txBody>
          <a:bodyPr/>
          <a:lstStyle/>
          <a:p>
            <a:pPr algn="ctr"/>
            <a:r>
              <a:rPr lang="en-GB" dirty="0"/>
              <a:t>The Bayeux Tapestry </a:t>
            </a:r>
          </a:p>
        </p:txBody>
      </p:sp>
      <p:pic>
        <p:nvPicPr>
          <p:cNvPr id="4" name="Content Placeholder 4">
            <a:extLst>
              <a:ext uri="{FF2B5EF4-FFF2-40B4-BE49-F238E27FC236}">
                <a16:creationId xmlns:a16="http://schemas.microsoft.com/office/drawing/2014/main" id="{FD22A4B2-7094-4854-A078-D1C0C7ECDF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6240" y="2644795"/>
            <a:ext cx="9279520" cy="4056232"/>
          </a:xfrm>
        </p:spPr>
      </p:pic>
      <p:sp>
        <p:nvSpPr>
          <p:cNvPr id="5" name="TextBox 4">
            <a:extLst>
              <a:ext uri="{FF2B5EF4-FFF2-40B4-BE49-F238E27FC236}">
                <a16:creationId xmlns:a16="http://schemas.microsoft.com/office/drawing/2014/main" id="{1564F725-DF88-4F51-B94C-68ABAF1D9829}"/>
              </a:ext>
            </a:extLst>
          </p:cNvPr>
          <p:cNvSpPr txBox="1"/>
          <p:nvPr/>
        </p:nvSpPr>
        <p:spPr>
          <a:xfrm>
            <a:off x="1152939" y="1690688"/>
            <a:ext cx="10058400" cy="954107"/>
          </a:xfrm>
          <a:prstGeom prst="rect">
            <a:avLst/>
          </a:prstGeom>
          <a:noFill/>
        </p:spPr>
        <p:txBody>
          <a:bodyPr wrap="square" rtlCol="0">
            <a:spAutoFit/>
          </a:bodyPr>
          <a:lstStyle/>
          <a:p>
            <a:pPr algn="ctr"/>
            <a:r>
              <a:rPr lang="en-GB" sz="2800" dirty="0"/>
              <a:t>70 metres long, embroidered in wool, it shows William’s victory and the death of King Harold, shot in the eye with an arrow.</a:t>
            </a:r>
          </a:p>
        </p:txBody>
      </p:sp>
    </p:spTree>
    <p:extLst>
      <p:ext uri="{BB962C8B-B14F-4D97-AF65-F5344CB8AC3E}">
        <p14:creationId xmlns:p14="http://schemas.microsoft.com/office/powerpoint/2010/main" val="3462755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014A6-B51A-4E31-AD7F-362FC9C91F4A}"/>
              </a:ext>
            </a:extLst>
          </p:cNvPr>
          <p:cNvSpPr>
            <a:spLocks noGrp="1"/>
          </p:cNvSpPr>
          <p:nvPr>
            <p:ph type="title"/>
          </p:nvPr>
        </p:nvSpPr>
        <p:spPr/>
        <p:txBody>
          <a:bodyPr/>
          <a:lstStyle/>
          <a:p>
            <a:pPr algn="ctr"/>
            <a:r>
              <a:rPr lang="en-GB" dirty="0"/>
              <a:t>Perhaps 45% of Modern English has roots in Norman French  </a:t>
            </a:r>
            <a:r>
              <a:rPr lang="en-GB" sz="3200" dirty="0"/>
              <a:t>(also Latin influenced)</a:t>
            </a:r>
          </a:p>
        </p:txBody>
      </p:sp>
      <p:sp>
        <p:nvSpPr>
          <p:cNvPr id="3" name="Content Placeholder 2">
            <a:extLst>
              <a:ext uri="{FF2B5EF4-FFF2-40B4-BE49-F238E27FC236}">
                <a16:creationId xmlns:a16="http://schemas.microsoft.com/office/drawing/2014/main" id="{4D98A09F-8BF1-4181-8296-EE0DBF7E5102}"/>
              </a:ext>
            </a:extLst>
          </p:cNvPr>
          <p:cNvSpPr>
            <a:spLocks noGrp="1"/>
          </p:cNvSpPr>
          <p:nvPr>
            <p:ph idx="1"/>
          </p:nvPr>
        </p:nvSpPr>
        <p:spPr/>
        <p:txBody>
          <a:bodyPr>
            <a:normAutofit lnSpcReduction="10000"/>
          </a:bodyPr>
          <a:lstStyle/>
          <a:p>
            <a:r>
              <a:rPr lang="en-GB" dirty="0"/>
              <a:t>Doublets (same meaning, different word and origin)</a:t>
            </a:r>
          </a:p>
          <a:p>
            <a:pPr marL="457200" lvl="1" indent="0">
              <a:buNone/>
            </a:pPr>
            <a:endParaRPr lang="en-GB" sz="2000" dirty="0"/>
          </a:p>
          <a:p>
            <a:pPr marL="457200" lvl="1" indent="0">
              <a:buNone/>
            </a:pPr>
            <a:r>
              <a:rPr lang="en-GB" dirty="0"/>
              <a:t>Pork – Pig				Commerce – Trade	</a:t>
            </a:r>
          </a:p>
          <a:p>
            <a:pPr marL="457200" lvl="1" indent="0">
              <a:buNone/>
            </a:pPr>
            <a:r>
              <a:rPr lang="en-GB" dirty="0"/>
              <a:t>Beef – Ox				Purchase – Buy</a:t>
            </a:r>
          </a:p>
          <a:p>
            <a:pPr marL="457200" lvl="1" indent="0">
              <a:buNone/>
            </a:pPr>
            <a:r>
              <a:rPr lang="en-GB" dirty="0"/>
              <a:t>Mutton – Sheep			Continue – Go on</a:t>
            </a:r>
          </a:p>
          <a:p>
            <a:pPr marL="457200" lvl="1" indent="0">
              <a:buNone/>
            </a:pPr>
            <a:endParaRPr lang="en-GB" sz="3600" dirty="0"/>
          </a:p>
          <a:p>
            <a:r>
              <a:rPr lang="en-GB" dirty="0"/>
              <a:t>Key words from Institutions, Military, Religion, et al:</a:t>
            </a:r>
          </a:p>
          <a:p>
            <a:endParaRPr lang="en-GB" sz="2000" dirty="0"/>
          </a:p>
          <a:p>
            <a:pPr marL="457200" lvl="1" indent="0">
              <a:buNone/>
            </a:pPr>
            <a:r>
              <a:rPr lang="en-GB" dirty="0"/>
              <a:t>Government	Soldier		Guard		Prayer		Justice</a:t>
            </a:r>
          </a:p>
          <a:p>
            <a:pPr marL="457200" lvl="1" indent="0">
              <a:buNone/>
            </a:pPr>
            <a:r>
              <a:rPr lang="en-GB" dirty="0"/>
              <a:t>Finance		Tax		Money		Judge		Peasant	</a:t>
            </a:r>
          </a:p>
          <a:p>
            <a:pPr marL="457200" lvl="1" indent="0">
              <a:buNone/>
            </a:pPr>
            <a:r>
              <a:rPr lang="en-GB" dirty="0"/>
              <a:t>Orange		Lemon		Lion		Rabbit		Eagle		</a:t>
            </a:r>
          </a:p>
        </p:txBody>
      </p:sp>
    </p:spTree>
    <p:extLst>
      <p:ext uri="{BB962C8B-B14F-4D97-AF65-F5344CB8AC3E}">
        <p14:creationId xmlns:p14="http://schemas.microsoft.com/office/powerpoint/2010/main" val="473744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31136" y="141316"/>
            <a:ext cx="7729728" cy="723208"/>
          </a:xfrm>
        </p:spPr>
        <p:txBody>
          <a:bodyPr>
            <a:normAutofit/>
          </a:bodyPr>
          <a:lstStyle/>
          <a:p>
            <a:pPr algn="ctr"/>
            <a:r>
              <a:rPr lang="en-US" cap="none" dirty="0"/>
              <a:t>The Origins of English Words</a:t>
            </a:r>
          </a:p>
        </p:txBody>
      </p:sp>
      <p:graphicFrame>
        <p:nvGraphicFramePr>
          <p:cNvPr id="9" name="Content Placeholder 8"/>
          <p:cNvGraphicFramePr>
            <a:graphicFrameLocks noGrp="1"/>
          </p:cNvGraphicFramePr>
          <p:nvPr>
            <p:ph idx="1"/>
          </p:nvPr>
        </p:nvGraphicFramePr>
        <p:xfrm>
          <a:off x="2230438" y="1006475"/>
          <a:ext cx="7731126" cy="7315200"/>
        </p:xfrm>
        <a:graphic>
          <a:graphicData uri="http://schemas.openxmlformats.org/drawingml/2006/table">
            <a:tbl>
              <a:tblPr firstRow="1" bandRow="1">
                <a:tableStyleId>{5C22544A-7EE6-4342-B048-85BDC9FD1C3A}</a:tableStyleId>
              </a:tblPr>
              <a:tblGrid>
                <a:gridCol w="3865563">
                  <a:extLst>
                    <a:ext uri="{9D8B030D-6E8A-4147-A177-3AD203B41FA5}">
                      <a16:colId xmlns:a16="http://schemas.microsoft.com/office/drawing/2014/main" val="203156703"/>
                    </a:ext>
                  </a:extLst>
                </a:gridCol>
                <a:gridCol w="3865563">
                  <a:extLst>
                    <a:ext uri="{9D8B030D-6E8A-4147-A177-3AD203B41FA5}">
                      <a16:colId xmlns:a16="http://schemas.microsoft.com/office/drawing/2014/main" val="3166795739"/>
                    </a:ext>
                  </a:extLst>
                </a:gridCol>
              </a:tblGrid>
              <a:tr h="303798">
                <a:tc>
                  <a:txBody>
                    <a:bodyPr/>
                    <a:lstStyle/>
                    <a:p>
                      <a:r>
                        <a:rPr lang="en-US" dirty="0"/>
                        <a:t>Anglo-Saxon</a:t>
                      </a:r>
                      <a:r>
                        <a:rPr lang="en-US" baseline="0" dirty="0"/>
                        <a:t> German origin</a:t>
                      </a:r>
                      <a:endParaRPr lang="en-US" dirty="0"/>
                    </a:p>
                  </a:txBody>
                  <a:tcPr/>
                </a:tc>
                <a:tc>
                  <a:txBody>
                    <a:bodyPr/>
                    <a:lstStyle/>
                    <a:p>
                      <a:r>
                        <a:rPr lang="en-US" dirty="0"/>
                        <a:t>Old French</a:t>
                      </a:r>
                      <a:r>
                        <a:rPr lang="en-US" baseline="0" dirty="0"/>
                        <a:t> origin</a:t>
                      </a:r>
                      <a:endParaRPr lang="en-US" dirty="0"/>
                    </a:p>
                  </a:txBody>
                  <a:tcPr/>
                </a:tc>
                <a:extLst>
                  <a:ext uri="{0D108BD9-81ED-4DB2-BD59-A6C34878D82A}">
                    <a16:rowId xmlns:a16="http://schemas.microsoft.com/office/drawing/2014/main" val="1272040001"/>
                  </a:ext>
                </a:extLst>
              </a:tr>
              <a:tr h="303798">
                <a:tc>
                  <a:txBody>
                    <a:bodyPr/>
                    <a:lstStyle/>
                    <a:p>
                      <a:r>
                        <a:rPr lang="en-US" dirty="0"/>
                        <a:t>Cow</a:t>
                      </a:r>
                    </a:p>
                  </a:txBody>
                  <a:tcPr/>
                </a:tc>
                <a:tc>
                  <a:txBody>
                    <a:bodyPr/>
                    <a:lstStyle/>
                    <a:p>
                      <a:r>
                        <a:rPr lang="en-US" dirty="0"/>
                        <a:t>Beef</a:t>
                      </a:r>
                    </a:p>
                  </a:txBody>
                  <a:tcPr/>
                </a:tc>
                <a:extLst>
                  <a:ext uri="{0D108BD9-81ED-4DB2-BD59-A6C34878D82A}">
                    <a16:rowId xmlns:a16="http://schemas.microsoft.com/office/drawing/2014/main" val="2654596778"/>
                  </a:ext>
                </a:extLst>
              </a:tr>
              <a:tr h="303798">
                <a:tc>
                  <a:txBody>
                    <a:bodyPr/>
                    <a:lstStyle/>
                    <a:p>
                      <a:r>
                        <a:rPr lang="en-US" dirty="0"/>
                        <a:t>Calf</a:t>
                      </a:r>
                    </a:p>
                  </a:txBody>
                  <a:tcPr/>
                </a:tc>
                <a:tc>
                  <a:txBody>
                    <a:bodyPr/>
                    <a:lstStyle/>
                    <a:p>
                      <a:r>
                        <a:rPr lang="en-US" dirty="0"/>
                        <a:t>Veal</a:t>
                      </a:r>
                    </a:p>
                  </a:txBody>
                  <a:tcPr/>
                </a:tc>
                <a:extLst>
                  <a:ext uri="{0D108BD9-81ED-4DB2-BD59-A6C34878D82A}">
                    <a16:rowId xmlns:a16="http://schemas.microsoft.com/office/drawing/2014/main" val="3781815722"/>
                  </a:ext>
                </a:extLst>
              </a:tr>
              <a:tr h="303798">
                <a:tc>
                  <a:txBody>
                    <a:bodyPr/>
                    <a:lstStyle/>
                    <a:p>
                      <a:r>
                        <a:rPr lang="en-US" dirty="0"/>
                        <a:t>Pig</a:t>
                      </a:r>
                    </a:p>
                  </a:txBody>
                  <a:tcPr/>
                </a:tc>
                <a:tc>
                  <a:txBody>
                    <a:bodyPr/>
                    <a:lstStyle/>
                    <a:p>
                      <a:r>
                        <a:rPr lang="en-US" dirty="0"/>
                        <a:t>Pork</a:t>
                      </a:r>
                    </a:p>
                  </a:txBody>
                  <a:tcPr/>
                </a:tc>
                <a:extLst>
                  <a:ext uri="{0D108BD9-81ED-4DB2-BD59-A6C34878D82A}">
                    <a16:rowId xmlns:a16="http://schemas.microsoft.com/office/drawing/2014/main" val="4148231873"/>
                  </a:ext>
                </a:extLst>
              </a:tr>
              <a:tr h="303798">
                <a:tc>
                  <a:txBody>
                    <a:bodyPr/>
                    <a:lstStyle/>
                    <a:p>
                      <a:r>
                        <a:rPr lang="en-US" dirty="0"/>
                        <a:t>Sheep</a:t>
                      </a:r>
                    </a:p>
                  </a:txBody>
                  <a:tcPr/>
                </a:tc>
                <a:tc>
                  <a:txBody>
                    <a:bodyPr/>
                    <a:lstStyle/>
                    <a:p>
                      <a:r>
                        <a:rPr lang="en-US" dirty="0"/>
                        <a:t>Mutton</a:t>
                      </a:r>
                    </a:p>
                  </a:txBody>
                  <a:tcPr/>
                </a:tc>
                <a:extLst>
                  <a:ext uri="{0D108BD9-81ED-4DB2-BD59-A6C34878D82A}">
                    <a16:rowId xmlns:a16="http://schemas.microsoft.com/office/drawing/2014/main" val="1511461773"/>
                  </a:ext>
                </a:extLst>
              </a:tr>
              <a:tr h="303798">
                <a:tc>
                  <a:txBody>
                    <a:bodyPr/>
                    <a:lstStyle/>
                    <a:p>
                      <a:r>
                        <a:rPr lang="en-US" dirty="0"/>
                        <a:t>Chicken</a:t>
                      </a:r>
                    </a:p>
                  </a:txBody>
                  <a:tcPr/>
                </a:tc>
                <a:tc>
                  <a:txBody>
                    <a:bodyPr/>
                    <a:lstStyle/>
                    <a:p>
                      <a:r>
                        <a:rPr lang="en-US" dirty="0"/>
                        <a:t>Poultry</a:t>
                      </a:r>
                    </a:p>
                  </a:txBody>
                  <a:tcPr/>
                </a:tc>
                <a:extLst>
                  <a:ext uri="{0D108BD9-81ED-4DB2-BD59-A6C34878D82A}">
                    <a16:rowId xmlns:a16="http://schemas.microsoft.com/office/drawing/2014/main" val="442222361"/>
                  </a:ext>
                </a:extLst>
              </a:tr>
              <a:tr h="303798">
                <a:tc>
                  <a:txBody>
                    <a:bodyPr/>
                    <a:lstStyle/>
                    <a:p>
                      <a:r>
                        <a:rPr lang="en-US" dirty="0"/>
                        <a:t>Deer</a:t>
                      </a:r>
                    </a:p>
                  </a:txBody>
                  <a:tcPr/>
                </a:tc>
                <a:tc>
                  <a:txBody>
                    <a:bodyPr/>
                    <a:lstStyle/>
                    <a:p>
                      <a:r>
                        <a:rPr lang="en-US" dirty="0"/>
                        <a:t>Venison</a:t>
                      </a:r>
                    </a:p>
                  </a:txBody>
                  <a:tcPr/>
                </a:tc>
                <a:extLst>
                  <a:ext uri="{0D108BD9-81ED-4DB2-BD59-A6C34878D82A}">
                    <a16:rowId xmlns:a16="http://schemas.microsoft.com/office/drawing/2014/main" val="872495133"/>
                  </a:ext>
                </a:extLst>
              </a:tr>
              <a:tr h="303798">
                <a:tc>
                  <a:txBody>
                    <a:bodyPr/>
                    <a:lstStyle/>
                    <a:p>
                      <a:r>
                        <a:rPr lang="en-US" dirty="0"/>
                        <a:t>Snail</a:t>
                      </a:r>
                    </a:p>
                  </a:txBody>
                  <a:tcPr/>
                </a:tc>
                <a:tc>
                  <a:txBody>
                    <a:bodyPr/>
                    <a:lstStyle/>
                    <a:p>
                      <a:r>
                        <a:rPr lang="en-US" dirty="0"/>
                        <a:t>Escargot</a:t>
                      </a:r>
                    </a:p>
                  </a:txBody>
                  <a:tcPr/>
                </a:tc>
                <a:extLst>
                  <a:ext uri="{0D108BD9-81ED-4DB2-BD59-A6C34878D82A}">
                    <a16:rowId xmlns:a16="http://schemas.microsoft.com/office/drawing/2014/main" val="685116270"/>
                  </a:ext>
                </a:extLst>
              </a:tr>
              <a:tr h="303798">
                <a:tc>
                  <a:txBody>
                    <a:bodyPr/>
                    <a:lstStyle/>
                    <a:p>
                      <a:r>
                        <a:rPr lang="en-US" dirty="0"/>
                        <a:t>Dove</a:t>
                      </a:r>
                    </a:p>
                  </a:txBody>
                  <a:tcPr/>
                </a:tc>
                <a:tc>
                  <a:txBody>
                    <a:bodyPr/>
                    <a:lstStyle/>
                    <a:p>
                      <a:r>
                        <a:rPr lang="en-US" dirty="0"/>
                        <a:t>Pigeon</a:t>
                      </a:r>
                    </a:p>
                  </a:txBody>
                  <a:tcPr/>
                </a:tc>
                <a:extLst>
                  <a:ext uri="{0D108BD9-81ED-4DB2-BD59-A6C34878D82A}">
                    <a16:rowId xmlns:a16="http://schemas.microsoft.com/office/drawing/2014/main" val="969982308"/>
                  </a:ext>
                </a:extLst>
              </a:tr>
              <a:tr h="303798">
                <a:tc>
                  <a:txBody>
                    <a:bodyPr/>
                    <a:lstStyle/>
                    <a:p>
                      <a:r>
                        <a:rPr lang="en-US" dirty="0"/>
                        <a:t>Thinking</a:t>
                      </a:r>
                    </a:p>
                  </a:txBody>
                  <a:tcPr/>
                </a:tc>
                <a:tc>
                  <a:txBody>
                    <a:bodyPr/>
                    <a:lstStyle/>
                    <a:p>
                      <a:r>
                        <a:rPr lang="en-US" dirty="0"/>
                        <a:t>Pensive</a:t>
                      </a:r>
                    </a:p>
                  </a:txBody>
                  <a:tcPr/>
                </a:tc>
                <a:extLst>
                  <a:ext uri="{0D108BD9-81ED-4DB2-BD59-A6C34878D82A}">
                    <a16:rowId xmlns:a16="http://schemas.microsoft.com/office/drawing/2014/main" val="18071790"/>
                  </a:ext>
                </a:extLst>
              </a:tr>
              <a:tr h="303798">
                <a:tc>
                  <a:txBody>
                    <a:bodyPr/>
                    <a:lstStyle/>
                    <a:p>
                      <a:r>
                        <a:rPr lang="en-US" dirty="0"/>
                        <a:t>Kingly</a:t>
                      </a:r>
                    </a:p>
                  </a:txBody>
                  <a:tcPr/>
                </a:tc>
                <a:tc>
                  <a:txBody>
                    <a:bodyPr/>
                    <a:lstStyle/>
                    <a:p>
                      <a:r>
                        <a:rPr lang="en-US" dirty="0"/>
                        <a:t>Royal</a:t>
                      </a:r>
                    </a:p>
                  </a:txBody>
                  <a:tcPr/>
                </a:tc>
                <a:extLst>
                  <a:ext uri="{0D108BD9-81ED-4DB2-BD59-A6C34878D82A}">
                    <a16:rowId xmlns:a16="http://schemas.microsoft.com/office/drawing/2014/main" val="3202773421"/>
                  </a:ext>
                </a:extLst>
              </a:tr>
              <a:tr h="303798">
                <a:tc>
                  <a:txBody>
                    <a:bodyPr/>
                    <a:lstStyle/>
                    <a:p>
                      <a:r>
                        <a:rPr lang="en-US" dirty="0"/>
                        <a:t>Brotherly</a:t>
                      </a:r>
                    </a:p>
                  </a:txBody>
                  <a:tcPr/>
                </a:tc>
                <a:tc>
                  <a:txBody>
                    <a:bodyPr/>
                    <a:lstStyle/>
                    <a:p>
                      <a:r>
                        <a:rPr lang="en-US" dirty="0"/>
                        <a:t>Fraternal</a:t>
                      </a:r>
                    </a:p>
                  </a:txBody>
                  <a:tcPr/>
                </a:tc>
                <a:extLst>
                  <a:ext uri="{0D108BD9-81ED-4DB2-BD59-A6C34878D82A}">
                    <a16:rowId xmlns:a16="http://schemas.microsoft.com/office/drawing/2014/main" val="4280843588"/>
                  </a:ext>
                </a:extLst>
              </a:tr>
              <a:tr h="303798">
                <a:tc>
                  <a:txBody>
                    <a:bodyPr/>
                    <a:lstStyle/>
                    <a:p>
                      <a:r>
                        <a:rPr lang="en-US" dirty="0"/>
                        <a:t>Ask</a:t>
                      </a:r>
                    </a:p>
                  </a:txBody>
                  <a:tcPr/>
                </a:tc>
                <a:tc>
                  <a:txBody>
                    <a:bodyPr/>
                    <a:lstStyle/>
                    <a:p>
                      <a:r>
                        <a:rPr lang="en-US" dirty="0"/>
                        <a:t>Inquire</a:t>
                      </a:r>
                    </a:p>
                  </a:txBody>
                  <a:tcPr/>
                </a:tc>
                <a:extLst>
                  <a:ext uri="{0D108BD9-81ED-4DB2-BD59-A6C34878D82A}">
                    <a16:rowId xmlns:a16="http://schemas.microsoft.com/office/drawing/2014/main" val="1986054470"/>
                  </a:ext>
                </a:extLst>
              </a:tr>
              <a:tr h="303798">
                <a:tc>
                  <a:txBody>
                    <a:bodyPr/>
                    <a:lstStyle/>
                    <a:p>
                      <a:r>
                        <a:rPr lang="en-US" dirty="0"/>
                        <a:t>Lord</a:t>
                      </a:r>
                    </a:p>
                  </a:txBody>
                  <a:tcPr/>
                </a:tc>
                <a:tc>
                  <a:txBody>
                    <a:bodyPr/>
                    <a:lstStyle/>
                    <a:p>
                      <a:r>
                        <a:rPr lang="en-US" dirty="0" err="1"/>
                        <a:t>Leige</a:t>
                      </a:r>
                      <a:endParaRPr lang="en-US" dirty="0"/>
                    </a:p>
                  </a:txBody>
                  <a:tcPr/>
                </a:tc>
                <a:extLst>
                  <a:ext uri="{0D108BD9-81ED-4DB2-BD59-A6C34878D82A}">
                    <a16:rowId xmlns:a16="http://schemas.microsoft.com/office/drawing/2014/main" val="4249284346"/>
                  </a:ext>
                </a:extLst>
              </a:tr>
              <a:tr h="303798">
                <a:tc>
                  <a:txBody>
                    <a:bodyPr/>
                    <a:lstStyle/>
                    <a:p>
                      <a:r>
                        <a:rPr lang="en-US" dirty="0"/>
                        <a:t>Bring</a:t>
                      </a:r>
                    </a:p>
                  </a:txBody>
                  <a:tcPr/>
                </a:tc>
                <a:tc>
                  <a:txBody>
                    <a:bodyPr/>
                    <a:lstStyle/>
                    <a:p>
                      <a:r>
                        <a:rPr lang="en-US" dirty="0"/>
                        <a:t>Carry</a:t>
                      </a:r>
                    </a:p>
                  </a:txBody>
                  <a:tcPr/>
                </a:tc>
                <a:extLst>
                  <a:ext uri="{0D108BD9-81ED-4DB2-BD59-A6C34878D82A}">
                    <a16:rowId xmlns:a16="http://schemas.microsoft.com/office/drawing/2014/main" val="3218191017"/>
                  </a:ext>
                </a:extLst>
              </a:tr>
              <a:tr h="303798">
                <a:tc>
                  <a:txBody>
                    <a:bodyPr/>
                    <a:lstStyle/>
                    <a:p>
                      <a:r>
                        <a:rPr lang="en-US" dirty="0"/>
                        <a:t>Amaze/stun</a:t>
                      </a:r>
                    </a:p>
                  </a:txBody>
                  <a:tcPr/>
                </a:tc>
                <a:tc>
                  <a:txBody>
                    <a:bodyPr/>
                    <a:lstStyle/>
                    <a:p>
                      <a:r>
                        <a:rPr lang="en-US" dirty="0"/>
                        <a:t>astound</a:t>
                      </a:r>
                    </a:p>
                  </a:txBody>
                  <a:tcPr/>
                </a:tc>
                <a:extLst>
                  <a:ext uri="{0D108BD9-81ED-4DB2-BD59-A6C34878D82A}">
                    <a16:rowId xmlns:a16="http://schemas.microsoft.com/office/drawing/2014/main" val="336751596"/>
                  </a:ext>
                </a:extLst>
              </a:tr>
              <a:tr h="303798">
                <a:tc>
                  <a:txBody>
                    <a:bodyPr/>
                    <a:lstStyle/>
                    <a:p>
                      <a:endParaRPr lang="en-US" dirty="0"/>
                    </a:p>
                  </a:txBody>
                  <a:tcPr/>
                </a:tc>
                <a:tc>
                  <a:txBody>
                    <a:bodyPr/>
                    <a:lstStyle/>
                    <a:p>
                      <a:endParaRPr lang="en-US"/>
                    </a:p>
                  </a:txBody>
                  <a:tcPr/>
                </a:tc>
                <a:extLst>
                  <a:ext uri="{0D108BD9-81ED-4DB2-BD59-A6C34878D82A}">
                    <a16:rowId xmlns:a16="http://schemas.microsoft.com/office/drawing/2014/main" val="1422516026"/>
                  </a:ext>
                </a:extLst>
              </a:tr>
              <a:tr h="303798">
                <a:tc>
                  <a:txBody>
                    <a:bodyPr/>
                    <a:lstStyle/>
                    <a:p>
                      <a:endParaRPr lang="en-US"/>
                    </a:p>
                  </a:txBody>
                  <a:tcPr/>
                </a:tc>
                <a:tc>
                  <a:txBody>
                    <a:bodyPr/>
                    <a:lstStyle/>
                    <a:p>
                      <a:endParaRPr lang="en-US"/>
                    </a:p>
                  </a:txBody>
                  <a:tcPr/>
                </a:tc>
                <a:extLst>
                  <a:ext uri="{0D108BD9-81ED-4DB2-BD59-A6C34878D82A}">
                    <a16:rowId xmlns:a16="http://schemas.microsoft.com/office/drawing/2014/main" val="3311487050"/>
                  </a:ext>
                </a:extLst>
              </a:tr>
              <a:tr h="303798">
                <a:tc>
                  <a:txBody>
                    <a:bodyPr/>
                    <a:lstStyle/>
                    <a:p>
                      <a:endParaRPr lang="en-US"/>
                    </a:p>
                  </a:txBody>
                  <a:tcPr/>
                </a:tc>
                <a:tc>
                  <a:txBody>
                    <a:bodyPr/>
                    <a:lstStyle/>
                    <a:p>
                      <a:endParaRPr lang="en-US"/>
                    </a:p>
                  </a:txBody>
                  <a:tcPr/>
                </a:tc>
                <a:extLst>
                  <a:ext uri="{0D108BD9-81ED-4DB2-BD59-A6C34878D82A}">
                    <a16:rowId xmlns:a16="http://schemas.microsoft.com/office/drawing/2014/main" val="1170661107"/>
                  </a:ext>
                </a:extLst>
              </a:tr>
              <a:tr h="303798">
                <a:tc>
                  <a:txBody>
                    <a:bodyPr/>
                    <a:lstStyle/>
                    <a:p>
                      <a:endParaRPr lang="en-US"/>
                    </a:p>
                  </a:txBody>
                  <a:tcPr/>
                </a:tc>
                <a:tc>
                  <a:txBody>
                    <a:bodyPr/>
                    <a:lstStyle/>
                    <a:p>
                      <a:endParaRPr lang="en-US" dirty="0"/>
                    </a:p>
                  </a:txBody>
                  <a:tcPr/>
                </a:tc>
                <a:extLst>
                  <a:ext uri="{0D108BD9-81ED-4DB2-BD59-A6C34878D82A}">
                    <a16:rowId xmlns:a16="http://schemas.microsoft.com/office/drawing/2014/main" val="4053485773"/>
                  </a:ext>
                </a:extLst>
              </a:tr>
            </a:tbl>
          </a:graphicData>
        </a:graphic>
      </p:graphicFrame>
    </p:spTree>
    <p:extLst>
      <p:ext uri="{BB962C8B-B14F-4D97-AF65-F5344CB8AC3E}">
        <p14:creationId xmlns:p14="http://schemas.microsoft.com/office/powerpoint/2010/main" val="877965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31136" y="141316"/>
            <a:ext cx="7729728" cy="723208"/>
          </a:xfrm>
        </p:spPr>
        <p:txBody>
          <a:bodyPr>
            <a:normAutofit/>
          </a:bodyPr>
          <a:lstStyle/>
          <a:p>
            <a:pPr algn="ctr"/>
            <a:r>
              <a:rPr lang="en-US" dirty="0"/>
              <a:t>The Origins of English Words</a:t>
            </a:r>
            <a:endParaRPr lang="en-US" cap="none" dirty="0"/>
          </a:p>
        </p:txBody>
      </p:sp>
      <p:graphicFrame>
        <p:nvGraphicFramePr>
          <p:cNvPr id="9" name="Content Placeholder 8"/>
          <p:cNvGraphicFramePr>
            <a:graphicFrameLocks noGrp="1"/>
          </p:cNvGraphicFramePr>
          <p:nvPr>
            <p:ph idx="1"/>
          </p:nvPr>
        </p:nvGraphicFramePr>
        <p:xfrm>
          <a:off x="2230438" y="1006475"/>
          <a:ext cx="7731126" cy="7315200"/>
        </p:xfrm>
        <a:graphic>
          <a:graphicData uri="http://schemas.openxmlformats.org/drawingml/2006/table">
            <a:tbl>
              <a:tblPr firstRow="1" bandRow="1">
                <a:tableStyleId>{5C22544A-7EE6-4342-B048-85BDC9FD1C3A}</a:tableStyleId>
              </a:tblPr>
              <a:tblGrid>
                <a:gridCol w="3865563">
                  <a:extLst>
                    <a:ext uri="{9D8B030D-6E8A-4147-A177-3AD203B41FA5}">
                      <a16:colId xmlns:a16="http://schemas.microsoft.com/office/drawing/2014/main" val="203156703"/>
                    </a:ext>
                  </a:extLst>
                </a:gridCol>
                <a:gridCol w="3865563">
                  <a:extLst>
                    <a:ext uri="{9D8B030D-6E8A-4147-A177-3AD203B41FA5}">
                      <a16:colId xmlns:a16="http://schemas.microsoft.com/office/drawing/2014/main" val="3166795739"/>
                    </a:ext>
                  </a:extLst>
                </a:gridCol>
              </a:tblGrid>
              <a:tr h="303798">
                <a:tc>
                  <a:txBody>
                    <a:bodyPr/>
                    <a:lstStyle/>
                    <a:p>
                      <a:r>
                        <a:rPr lang="en-US" dirty="0"/>
                        <a:t>Anglo-Saxon</a:t>
                      </a:r>
                      <a:r>
                        <a:rPr lang="en-US" baseline="0" dirty="0"/>
                        <a:t> German origin</a:t>
                      </a:r>
                      <a:endParaRPr lang="en-US" dirty="0"/>
                    </a:p>
                  </a:txBody>
                  <a:tcPr/>
                </a:tc>
                <a:tc>
                  <a:txBody>
                    <a:bodyPr/>
                    <a:lstStyle/>
                    <a:p>
                      <a:r>
                        <a:rPr lang="en-US" dirty="0"/>
                        <a:t>Old French</a:t>
                      </a:r>
                      <a:r>
                        <a:rPr lang="en-US" baseline="0" dirty="0"/>
                        <a:t> origin</a:t>
                      </a:r>
                      <a:endParaRPr lang="en-US" dirty="0"/>
                    </a:p>
                  </a:txBody>
                  <a:tcPr/>
                </a:tc>
                <a:extLst>
                  <a:ext uri="{0D108BD9-81ED-4DB2-BD59-A6C34878D82A}">
                    <a16:rowId xmlns:a16="http://schemas.microsoft.com/office/drawing/2014/main" val="1272040001"/>
                  </a:ext>
                </a:extLst>
              </a:tr>
              <a:tr h="303798">
                <a:tc>
                  <a:txBody>
                    <a:bodyPr/>
                    <a:lstStyle/>
                    <a:p>
                      <a:r>
                        <a:rPr lang="en-US" dirty="0"/>
                        <a:t>Knowledge</a:t>
                      </a:r>
                    </a:p>
                  </a:txBody>
                  <a:tcPr/>
                </a:tc>
                <a:tc>
                  <a:txBody>
                    <a:bodyPr/>
                    <a:lstStyle/>
                    <a:p>
                      <a:r>
                        <a:rPr lang="en-US" dirty="0"/>
                        <a:t>Science</a:t>
                      </a:r>
                    </a:p>
                  </a:txBody>
                  <a:tcPr/>
                </a:tc>
                <a:extLst>
                  <a:ext uri="{0D108BD9-81ED-4DB2-BD59-A6C34878D82A}">
                    <a16:rowId xmlns:a16="http://schemas.microsoft.com/office/drawing/2014/main" val="2654596778"/>
                  </a:ext>
                </a:extLst>
              </a:tr>
              <a:tr h="303798">
                <a:tc>
                  <a:txBody>
                    <a:bodyPr/>
                    <a:lstStyle/>
                    <a:p>
                      <a:r>
                        <a:rPr lang="en-US" dirty="0"/>
                        <a:t>Lawyer</a:t>
                      </a:r>
                    </a:p>
                  </a:txBody>
                  <a:tcPr/>
                </a:tc>
                <a:tc>
                  <a:txBody>
                    <a:bodyPr/>
                    <a:lstStyle/>
                    <a:p>
                      <a:r>
                        <a:rPr lang="en-US" dirty="0"/>
                        <a:t>Attorney</a:t>
                      </a:r>
                    </a:p>
                  </a:txBody>
                  <a:tcPr/>
                </a:tc>
                <a:extLst>
                  <a:ext uri="{0D108BD9-81ED-4DB2-BD59-A6C34878D82A}">
                    <a16:rowId xmlns:a16="http://schemas.microsoft.com/office/drawing/2014/main" val="3781815722"/>
                  </a:ext>
                </a:extLst>
              </a:tr>
              <a:tr h="303798">
                <a:tc>
                  <a:txBody>
                    <a:bodyPr/>
                    <a:lstStyle/>
                    <a:p>
                      <a:r>
                        <a:rPr lang="en-US" dirty="0"/>
                        <a:t>Shirt</a:t>
                      </a:r>
                    </a:p>
                  </a:txBody>
                  <a:tcPr/>
                </a:tc>
                <a:tc>
                  <a:txBody>
                    <a:bodyPr/>
                    <a:lstStyle/>
                    <a:p>
                      <a:r>
                        <a:rPr lang="en-US" dirty="0"/>
                        <a:t>Blouse</a:t>
                      </a:r>
                    </a:p>
                  </a:txBody>
                  <a:tcPr/>
                </a:tc>
                <a:extLst>
                  <a:ext uri="{0D108BD9-81ED-4DB2-BD59-A6C34878D82A}">
                    <a16:rowId xmlns:a16="http://schemas.microsoft.com/office/drawing/2014/main" val="4148231873"/>
                  </a:ext>
                </a:extLst>
              </a:tr>
              <a:tr h="303798">
                <a:tc>
                  <a:txBody>
                    <a:bodyPr/>
                    <a:lstStyle/>
                    <a:p>
                      <a:r>
                        <a:rPr lang="en-US" dirty="0"/>
                        <a:t>Hearty</a:t>
                      </a:r>
                    </a:p>
                  </a:txBody>
                  <a:tcPr/>
                </a:tc>
                <a:tc>
                  <a:txBody>
                    <a:bodyPr/>
                    <a:lstStyle/>
                    <a:p>
                      <a:r>
                        <a:rPr lang="en-US" dirty="0"/>
                        <a:t>Cordial</a:t>
                      </a:r>
                    </a:p>
                  </a:txBody>
                  <a:tcPr/>
                </a:tc>
                <a:extLst>
                  <a:ext uri="{0D108BD9-81ED-4DB2-BD59-A6C34878D82A}">
                    <a16:rowId xmlns:a16="http://schemas.microsoft.com/office/drawing/2014/main" val="1511461773"/>
                  </a:ext>
                </a:extLst>
              </a:tr>
              <a:tr h="303798">
                <a:tc>
                  <a:txBody>
                    <a:bodyPr/>
                    <a:lstStyle/>
                    <a:p>
                      <a:r>
                        <a:rPr lang="en-US" dirty="0"/>
                        <a:t>Deem</a:t>
                      </a:r>
                    </a:p>
                  </a:txBody>
                  <a:tcPr/>
                </a:tc>
                <a:tc>
                  <a:txBody>
                    <a:bodyPr/>
                    <a:lstStyle/>
                    <a:p>
                      <a:r>
                        <a:rPr lang="en-US" dirty="0"/>
                        <a:t>Consider/judge</a:t>
                      </a:r>
                    </a:p>
                  </a:txBody>
                  <a:tcPr/>
                </a:tc>
                <a:extLst>
                  <a:ext uri="{0D108BD9-81ED-4DB2-BD59-A6C34878D82A}">
                    <a16:rowId xmlns:a16="http://schemas.microsoft.com/office/drawing/2014/main" val="442222361"/>
                  </a:ext>
                </a:extLst>
              </a:tr>
              <a:tr h="303798">
                <a:tc>
                  <a:txBody>
                    <a:bodyPr/>
                    <a:lstStyle/>
                    <a:p>
                      <a:r>
                        <a:rPr lang="en-US" dirty="0" err="1"/>
                        <a:t>Harbour</a:t>
                      </a:r>
                      <a:r>
                        <a:rPr lang="en-US" dirty="0"/>
                        <a:t> (harbor)</a:t>
                      </a:r>
                    </a:p>
                  </a:txBody>
                  <a:tcPr/>
                </a:tc>
                <a:tc>
                  <a:txBody>
                    <a:bodyPr/>
                    <a:lstStyle/>
                    <a:p>
                      <a:r>
                        <a:rPr lang="en-US" dirty="0"/>
                        <a:t>Port</a:t>
                      </a:r>
                    </a:p>
                  </a:txBody>
                  <a:tcPr/>
                </a:tc>
                <a:extLst>
                  <a:ext uri="{0D108BD9-81ED-4DB2-BD59-A6C34878D82A}">
                    <a16:rowId xmlns:a16="http://schemas.microsoft.com/office/drawing/2014/main" val="872495133"/>
                  </a:ext>
                </a:extLst>
              </a:tr>
              <a:tr h="303798">
                <a:tc>
                  <a:txBody>
                    <a:bodyPr/>
                    <a:lstStyle/>
                    <a:p>
                      <a:r>
                        <a:rPr lang="en-US" dirty="0"/>
                        <a:t>Sunder</a:t>
                      </a:r>
                    </a:p>
                  </a:txBody>
                  <a:tcPr/>
                </a:tc>
                <a:tc>
                  <a:txBody>
                    <a:bodyPr/>
                    <a:lstStyle/>
                    <a:p>
                      <a:r>
                        <a:rPr lang="en-US" dirty="0"/>
                        <a:t>Sever</a:t>
                      </a:r>
                    </a:p>
                  </a:txBody>
                  <a:tcPr/>
                </a:tc>
                <a:extLst>
                  <a:ext uri="{0D108BD9-81ED-4DB2-BD59-A6C34878D82A}">
                    <a16:rowId xmlns:a16="http://schemas.microsoft.com/office/drawing/2014/main" val="685116270"/>
                  </a:ext>
                </a:extLst>
              </a:tr>
              <a:tr h="303798">
                <a:tc>
                  <a:txBody>
                    <a:bodyPr/>
                    <a:lstStyle/>
                    <a:p>
                      <a:r>
                        <a:rPr lang="en-US" dirty="0"/>
                        <a:t>Answer</a:t>
                      </a:r>
                    </a:p>
                  </a:txBody>
                  <a:tcPr/>
                </a:tc>
                <a:tc>
                  <a:txBody>
                    <a:bodyPr/>
                    <a:lstStyle/>
                    <a:p>
                      <a:r>
                        <a:rPr lang="en-US" dirty="0"/>
                        <a:t>Reply</a:t>
                      </a:r>
                    </a:p>
                  </a:txBody>
                  <a:tcPr/>
                </a:tc>
                <a:extLst>
                  <a:ext uri="{0D108BD9-81ED-4DB2-BD59-A6C34878D82A}">
                    <a16:rowId xmlns:a16="http://schemas.microsoft.com/office/drawing/2014/main" val="969982308"/>
                  </a:ext>
                </a:extLst>
              </a:tr>
              <a:tr h="303798">
                <a:tc>
                  <a:txBody>
                    <a:bodyPr/>
                    <a:lstStyle/>
                    <a:p>
                      <a:r>
                        <a:rPr lang="en-US" dirty="0"/>
                        <a:t>Fall/harvest</a:t>
                      </a:r>
                    </a:p>
                  </a:txBody>
                  <a:tcPr/>
                </a:tc>
                <a:tc>
                  <a:txBody>
                    <a:bodyPr/>
                    <a:lstStyle/>
                    <a:p>
                      <a:r>
                        <a:rPr lang="en-US" dirty="0"/>
                        <a:t>Autumn</a:t>
                      </a:r>
                    </a:p>
                  </a:txBody>
                  <a:tcPr/>
                </a:tc>
                <a:extLst>
                  <a:ext uri="{0D108BD9-81ED-4DB2-BD59-A6C34878D82A}">
                    <a16:rowId xmlns:a16="http://schemas.microsoft.com/office/drawing/2014/main" val="18071790"/>
                  </a:ext>
                </a:extLst>
              </a:tr>
              <a:tr h="303798">
                <a:tc>
                  <a:txBody>
                    <a:bodyPr/>
                    <a:lstStyle/>
                    <a:p>
                      <a:r>
                        <a:rPr lang="en-US" dirty="0"/>
                        <a:t>Leave</a:t>
                      </a:r>
                    </a:p>
                  </a:txBody>
                  <a:tcPr/>
                </a:tc>
                <a:tc>
                  <a:txBody>
                    <a:bodyPr/>
                    <a:lstStyle/>
                    <a:p>
                      <a:r>
                        <a:rPr lang="en-US" dirty="0"/>
                        <a:t>Permission</a:t>
                      </a:r>
                    </a:p>
                  </a:txBody>
                  <a:tcPr/>
                </a:tc>
                <a:extLst>
                  <a:ext uri="{0D108BD9-81ED-4DB2-BD59-A6C34878D82A}">
                    <a16:rowId xmlns:a16="http://schemas.microsoft.com/office/drawing/2014/main" val="3202773421"/>
                  </a:ext>
                </a:extLst>
              </a:tr>
              <a:tr h="303798">
                <a:tc>
                  <a:txBody>
                    <a:bodyPr/>
                    <a:lstStyle/>
                    <a:p>
                      <a:r>
                        <a:rPr lang="en-US" dirty="0"/>
                        <a:t>Seethe</a:t>
                      </a:r>
                    </a:p>
                  </a:txBody>
                  <a:tcPr/>
                </a:tc>
                <a:tc>
                  <a:txBody>
                    <a:bodyPr/>
                    <a:lstStyle/>
                    <a:p>
                      <a:r>
                        <a:rPr lang="en-US" dirty="0"/>
                        <a:t>Boil</a:t>
                      </a:r>
                    </a:p>
                  </a:txBody>
                  <a:tcPr/>
                </a:tc>
                <a:extLst>
                  <a:ext uri="{0D108BD9-81ED-4DB2-BD59-A6C34878D82A}">
                    <a16:rowId xmlns:a16="http://schemas.microsoft.com/office/drawing/2014/main" val="4280843588"/>
                  </a:ext>
                </a:extLst>
              </a:tr>
              <a:tr h="303798">
                <a:tc>
                  <a:txBody>
                    <a:bodyPr/>
                    <a:lstStyle/>
                    <a:p>
                      <a:r>
                        <a:rPr lang="en-US" dirty="0"/>
                        <a:t>Hunt</a:t>
                      </a:r>
                    </a:p>
                  </a:txBody>
                  <a:tcPr/>
                </a:tc>
                <a:tc>
                  <a:txBody>
                    <a:bodyPr/>
                    <a:lstStyle/>
                    <a:p>
                      <a:r>
                        <a:rPr lang="en-US" dirty="0"/>
                        <a:t>Chase</a:t>
                      </a:r>
                    </a:p>
                  </a:txBody>
                  <a:tcPr/>
                </a:tc>
                <a:extLst>
                  <a:ext uri="{0D108BD9-81ED-4DB2-BD59-A6C34878D82A}">
                    <a16:rowId xmlns:a16="http://schemas.microsoft.com/office/drawing/2014/main" val="1986054470"/>
                  </a:ext>
                </a:extLst>
              </a:tr>
              <a:tr h="303798">
                <a:tc>
                  <a:txBody>
                    <a:bodyPr/>
                    <a:lstStyle/>
                    <a:p>
                      <a:r>
                        <a:rPr lang="en-US" dirty="0"/>
                        <a:t>Wisdom</a:t>
                      </a:r>
                    </a:p>
                  </a:txBody>
                  <a:tcPr/>
                </a:tc>
                <a:tc>
                  <a:txBody>
                    <a:bodyPr/>
                    <a:lstStyle/>
                    <a:p>
                      <a:r>
                        <a:rPr lang="en-US" dirty="0"/>
                        <a:t>Prudence/sagacity</a:t>
                      </a:r>
                    </a:p>
                  </a:txBody>
                  <a:tcPr/>
                </a:tc>
                <a:extLst>
                  <a:ext uri="{0D108BD9-81ED-4DB2-BD59-A6C34878D82A}">
                    <a16:rowId xmlns:a16="http://schemas.microsoft.com/office/drawing/2014/main" val="4249284346"/>
                  </a:ext>
                </a:extLst>
              </a:tr>
              <a:tr h="303798">
                <a:tc>
                  <a:txBody>
                    <a:bodyPr/>
                    <a:lstStyle/>
                    <a:p>
                      <a:r>
                        <a:rPr lang="en-US" dirty="0"/>
                        <a:t>Weird</a:t>
                      </a:r>
                    </a:p>
                  </a:txBody>
                  <a:tcPr/>
                </a:tc>
                <a:tc>
                  <a:txBody>
                    <a:bodyPr/>
                    <a:lstStyle/>
                    <a:p>
                      <a:r>
                        <a:rPr lang="en-US" dirty="0"/>
                        <a:t>Strange</a:t>
                      </a:r>
                    </a:p>
                  </a:txBody>
                  <a:tcPr/>
                </a:tc>
                <a:extLst>
                  <a:ext uri="{0D108BD9-81ED-4DB2-BD59-A6C34878D82A}">
                    <a16:rowId xmlns:a16="http://schemas.microsoft.com/office/drawing/2014/main" val="3218191017"/>
                  </a:ext>
                </a:extLst>
              </a:tr>
              <a:tr h="303798">
                <a:tc>
                  <a:txBody>
                    <a:bodyPr/>
                    <a:lstStyle/>
                    <a:p>
                      <a:r>
                        <a:rPr lang="en-US" dirty="0" err="1"/>
                        <a:t>Behaviour</a:t>
                      </a:r>
                      <a:r>
                        <a:rPr lang="en-US" dirty="0"/>
                        <a:t> (behavior)</a:t>
                      </a:r>
                    </a:p>
                  </a:txBody>
                  <a:tcPr/>
                </a:tc>
                <a:tc>
                  <a:txBody>
                    <a:bodyPr/>
                    <a:lstStyle/>
                    <a:p>
                      <a:r>
                        <a:rPr lang="en-US" dirty="0"/>
                        <a:t>manner</a:t>
                      </a:r>
                    </a:p>
                  </a:txBody>
                  <a:tcPr/>
                </a:tc>
                <a:extLst>
                  <a:ext uri="{0D108BD9-81ED-4DB2-BD59-A6C34878D82A}">
                    <a16:rowId xmlns:a16="http://schemas.microsoft.com/office/drawing/2014/main" val="336751596"/>
                  </a:ext>
                </a:extLst>
              </a:tr>
              <a:tr h="303798">
                <a:tc>
                  <a:txBody>
                    <a:bodyPr/>
                    <a:lstStyle/>
                    <a:p>
                      <a:endParaRPr lang="en-US" dirty="0"/>
                    </a:p>
                  </a:txBody>
                  <a:tcPr/>
                </a:tc>
                <a:tc>
                  <a:txBody>
                    <a:bodyPr/>
                    <a:lstStyle/>
                    <a:p>
                      <a:endParaRPr lang="en-US"/>
                    </a:p>
                  </a:txBody>
                  <a:tcPr/>
                </a:tc>
                <a:extLst>
                  <a:ext uri="{0D108BD9-81ED-4DB2-BD59-A6C34878D82A}">
                    <a16:rowId xmlns:a16="http://schemas.microsoft.com/office/drawing/2014/main" val="1422516026"/>
                  </a:ext>
                </a:extLst>
              </a:tr>
              <a:tr h="303798">
                <a:tc>
                  <a:txBody>
                    <a:bodyPr/>
                    <a:lstStyle/>
                    <a:p>
                      <a:endParaRPr lang="en-US"/>
                    </a:p>
                  </a:txBody>
                  <a:tcPr/>
                </a:tc>
                <a:tc>
                  <a:txBody>
                    <a:bodyPr/>
                    <a:lstStyle/>
                    <a:p>
                      <a:endParaRPr lang="en-US"/>
                    </a:p>
                  </a:txBody>
                  <a:tcPr/>
                </a:tc>
                <a:extLst>
                  <a:ext uri="{0D108BD9-81ED-4DB2-BD59-A6C34878D82A}">
                    <a16:rowId xmlns:a16="http://schemas.microsoft.com/office/drawing/2014/main" val="3311487050"/>
                  </a:ext>
                </a:extLst>
              </a:tr>
              <a:tr h="303798">
                <a:tc>
                  <a:txBody>
                    <a:bodyPr/>
                    <a:lstStyle/>
                    <a:p>
                      <a:endParaRPr lang="en-US"/>
                    </a:p>
                  </a:txBody>
                  <a:tcPr/>
                </a:tc>
                <a:tc>
                  <a:txBody>
                    <a:bodyPr/>
                    <a:lstStyle/>
                    <a:p>
                      <a:endParaRPr lang="en-US"/>
                    </a:p>
                  </a:txBody>
                  <a:tcPr/>
                </a:tc>
                <a:extLst>
                  <a:ext uri="{0D108BD9-81ED-4DB2-BD59-A6C34878D82A}">
                    <a16:rowId xmlns:a16="http://schemas.microsoft.com/office/drawing/2014/main" val="1170661107"/>
                  </a:ext>
                </a:extLst>
              </a:tr>
              <a:tr h="303798">
                <a:tc>
                  <a:txBody>
                    <a:bodyPr/>
                    <a:lstStyle/>
                    <a:p>
                      <a:endParaRPr lang="en-US"/>
                    </a:p>
                  </a:txBody>
                  <a:tcPr/>
                </a:tc>
                <a:tc>
                  <a:txBody>
                    <a:bodyPr/>
                    <a:lstStyle/>
                    <a:p>
                      <a:endParaRPr lang="en-US" dirty="0"/>
                    </a:p>
                  </a:txBody>
                  <a:tcPr/>
                </a:tc>
                <a:extLst>
                  <a:ext uri="{0D108BD9-81ED-4DB2-BD59-A6C34878D82A}">
                    <a16:rowId xmlns:a16="http://schemas.microsoft.com/office/drawing/2014/main" val="4053485773"/>
                  </a:ext>
                </a:extLst>
              </a:tr>
            </a:tbl>
          </a:graphicData>
        </a:graphic>
      </p:graphicFrame>
    </p:spTree>
    <p:extLst>
      <p:ext uri="{BB962C8B-B14F-4D97-AF65-F5344CB8AC3E}">
        <p14:creationId xmlns:p14="http://schemas.microsoft.com/office/powerpoint/2010/main" val="2468668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3FB0E-9A4A-450E-B750-900C5A5B3450}"/>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F9E24637-AAD0-4C91-AA2D-175BEB666B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459" y="250353"/>
            <a:ext cx="11939349" cy="6512374"/>
          </a:xfrm>
        </p:spPr>
      </p:pic>
    </p:spTree>
    <p:extLst>
      <p:ext uri="{BB962C8B-B14F-4D97-AF65-F5344CB8AC3E}">
        <p14:creationId xmlns:p14="http://schemas.microsoft.com/office/powerpoint/2010/main" val="126161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0E33-FA4B-4982-9B4E-1F00465F9193}"/>
              </a:ext>
            </a:extLst>
          </p:cNvPr>
          <p:cNvSpPr>
            <a:spLocks noGrp="1"/>
          </p:cNvSpPr>
          <p:nvPr>
            <p:ph type="title"/>
          </p:nvPr>
        </p:nvSpPr>
        <p:spPr>
          <a:xfrm>
            <a:off x="838200" y="1110713"/>
            <a:ext cx="10515600" cy="1325563"/>
          </a:xfrm>
        </p:spPr>
        <p:txBody>
          <a:bodyPr>
            <a:noAutofit/>
          </a:bodyPr>
          <a:lstStyle/>
          <a:p>
            <a:r>
              <a:rPr lang="en-GB" sz="4800" dirty="0"/>
              <a:t>The Origins</a:t>
            </a:r>
            <a:br>
              <a:rPr lang="en-GB" sz="4800" dirty="0"/>
            </a:br>
            <a:r>
              <a:rPr lang="en-GB" sz="4800" dirty="0"/>
              <a:t>of the English</a:t>
            </a:r>
            <a:br>
              <a:rPr lang="en-GB" sz="4800" dirty="0"/>
            </a:br>
            <a:r>
              <a:rPr lang="en-GB" sz="4800" dirty="0"/>
              <a:t>Language</a:t>
            </a:r>
          </a:p>
        </p:txBody>
      </p:sp>
      <p:pic>
        <p:nvPicPr>
          <p:cNvPr id="5" name="Content Placeholder 4">
            <a:extLst>
              <a:ext uri="{FF2B5EF4-FFF2-40B4-BE49-F238E27FC236}">
                <a16:creationId xmlns:a16="http://schemas.microsoft.com/office/drawing/2014/main" id="{A6AD2CB2-9FE5-4F15-A540-26F8DD6DAE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34261" y="312050"/>
            <a:ext cx="6252367" cy="6233897"/>
          </a:xfrm>
        </p:spPr>
      </p:pic>
      <p:sp>
        <p:nvSpPr>
          <p:cNvPr id="3" name="TextBox 2">
            <a:extLst>
              <a:ext uri="{FF2B5EF4-FFF2-40B4-BE49-F238E27FC236}">
                <a16:creationId xmlns:a16="http://schemas.microsoft.com/office/drawing/2014/main" id="{5E759CB3-65DB-CBF1-1F8A-2D5C8F079A18}"/>
              </a:ext>
            </a:extLst>
          </p:cNvPr>
          <p:cNvSpPr txBox="1"/>
          <p:nvPr/>
        </p:nvSpPr>
        <p:spPr>
          <a:xfrm>
            <a:off x="727788" y="3234939"/>
            <a:ext cx="3239301" cy="3046988"/>
          </a:xfrm>
          <a:prstGeom prst="rect">
            <a:avLst/>
          </a:prstGeom>
          <a:noFill/>
        </p:spPr>
        <p:txBody>
          <a:bodyPr wrap="square" rtlCol="0">
            <a:spAutoFit/>
          </a:bodyPr>
          <a:lstStyle/>
          <a:p>
            <a:r>
              <a:rPr lang="en-GB" sz="2400" dirty="0"/>
              <a:t>The grammar and main vocabulary of English is of Germanic-language origin, with extensive additions from Latin, Greek, and French (which developed from Latin).</a:t>
            </a:r>
          </a:p>
        </p:txBody>
      </p:sp>
    </p:spTree>
    <p:extLst>
      <p:ext uri="{BB962C8B-B14F-4D97-AF65-F5344CB8AC3E}">
        <p14:creationId xmlns:p14="http://schemas.microsoft.com/office/powerpoint/2010/main" val="339753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9C281C-49CE-4337-B702-B7DB3300D44B}"/>
              </a:ext>
            </a:extLst>
          </p:cNvPr>
          <p:cNvSpPr>
            <a:spLocks noGrp="1"/>
          </p:cNvSpPr>
          <p:nvPr>
            <p:ph type="title"/>
          </p:nvPr>
        </p:nvSpPr>
        <p:spPr/>
        <p:txBody>
          <a:bodyPr/>
          <a:lstStyle/>
          <a:p>
            <a:r>
              <a:rPr lang="en-GB" sz="5400" dirty="0">
                <a:solidFill>
                  <a:srgbClr val="002060"/>
                </a:solidFill>
              </a:rPr>
              <a:t>Beowulf</a:t>
            </a:r>
            <a:r>
              <a:rPr lang="en-GB" dirty="0"/>
              <a:t> </a:t>
            </a:r>
          </a:p>
        </p:txBody>
      </p:sp>
      <p:sp>
        <p:nvSpPr>
          <p:cNvPr id="5" name="Text Placeholder 4">
            <a:extLst>
              <a:ext uri="{FF2B5EF4-FFF2-40B4-BE49-F238E27FC236}">
                <a16:creationId xmlns:a16="http://schemas.microsoft.com/office/drawing/2014/main" id="{A38601BE-89B5-4874-8020-326D186FA424}"/>
              </a:ext>
            </a:extLst>
          </p:cNvPr>
          <p:cNvSpPr>
            <a:spLocks noGrp="1"/>
          </p:cNvSpPr>
          <p:nvPr>
            <p:ph type="body" idx="1"/>
          </p:nvPr>
        </p:nvSpPr>
        <p:spPr/>
        <p:txBody>
          <a:bodyPr/>
          <a:lstStyle/>
          <a:p>
            <a:endParaRPr lang="en-GB" dirty="0"/>
          </a:p>
        </p:txBody>
      </p:sp>
      <p:pic>
        <p:nvPicPr>
          <p:cNvPr id="7" name="Picture 6">
            <a:extLst>
              <a:ext uri="{FF2B5EF4-FFF2-40B4-BE49-F238E27FC236}">
                <a16:creationId xmlns:a16="http://schemas.microsoft.com/office/drawing/2014/main" id="{C75074DE-1C29-4283-96A1-BE8842D402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0774" y="0"/>
            <a:ext cx="4951118" cy="6858000"/>
          </a:xfrm>
          <a:prstGeom prst="rect">
            <a:avLst/>
          </a:prstGeom>
        </p:spPr>
      </p:pic>
    </p:spTree>
    <p:extLst>
      <p:ext uri="{BB962C8B-B14F-4D97-AF65-F5344CB8AC3E}">
        <p14:creationId xmlns:p14="http://schemas.microsoft.com/office/powerpoint/2010/main" val="3459685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479D3B-52F8-05EA-97C4-0D79A4E44120}"/>
              </a:ext>
            </a:extLst>
          </p:cNvPr>
          <p:cNvSpPr>
            <a:spLocks noGrp="1"/>
          </p:cNvSpPr>
          <p:nvPr>
            <p:ph type="title"/>
          </p:nvPr>
        </p:nvSpPr>
        <p:spPr/>
        <p:txBody>
          <a:bodyPr/>
          <a:lstStyle/>
          <a:p>
            <a:r>
              <a:rPr lang="en-GB" sz="4400" i="1" dirty="0">
                <a:solidFill>
                  <a:srgbClr val="0070C0"/>
                </a:solidFill>
              </a:rPr>
              <a:t>Beowulf</a:t>
            </a:r>
            <a:r>
              <a:rPr lang="en-GB" sz="4400" dirty="0">
                <a:solidFill>
                  <a:srgbClr val="0070C0"/>
                </a:solidFill>
              </a:rPr>
              <a:t> and Old English</a:t>
            </a:r>
          </a:p>
        </p:txBody>
      </p:sp>
      <p:sp>
        <p:nvSpPr>
          <p:cNvPr id="5" name="Content Placeholder 4">
            <a:extLst>
              <a:ext uri="{FF2B5EF4-FFF2-40B4-BE49-F238E27FC236}">
                <a16:creationId xmlns:a16="http://schemas.microsoft.com/office/drawing/2014/main" id="{0001464B-846F-33A9-878A-A481092A8559}"/>
              </a:ext>
            </a:extLst>
          </p:cNvPr>
          <p:cNvSpPr>
            <a:spLocks noGrp="1"/>
          </p:cNvSpPr>
          <p:nvPr>
            <p:ph idx="1"/>
          </p:nvPr>
        </p:nvSpPr>
        <p:spPr>
          <a:xfrm>
            <a:off x="550506" y="2051212"/>
            <a:ext cx="7055862" cy="3881437"/>
          </a:xfrm>
        </p:spPr>
        <p:txBody>
          <a:bodyPr/>
          <a:lstStyle/>
          <a:p>
            <a:r>
              <a:rPr lang="en-GB" sz="2400" i="1" dirty="0"/>
              <a:t>Beowulf </a:t>
            </a:r>
            <a:r>
              <a:rPr lang="en-GB" sz="2400" dirty="0"/>
              <a:t>is a heroic poem written around the 7</a:t>
            </a:r>
            <a:r>
              <a:rPr lang="en-GB" sz="2400" baseline="30000" dirty="0"/>
              <a:t>th</a:t>
            </a:r>
            <a:r>
              <a:rPr lang="en-GB" sz="2400" dirty="0"/>
              <a:t> Century AD, in a monastery in England. It describes events in Denmark and Sweden, perhaps around the 5</a:t>
            </a:r>
            <a:r>
              <a:rPr lang="en-GB" sz="2400" baseline="30000" dirty="0"/>
              <a:t>th</a:t>
            </a:r>
            <a:r>
              <a:rPr lang="en-GB" sz="2400" dirty="0"/>
              <a:t> Century AD.</a:t>
            </a:r>
          </a:p>
          <a:p>
            <a:endParaRPr lang="en-GB" sz="1200" i="1" dirty="0"/>
          </a:p>
          <a:p>
            <a:endParaRPr lang="en-GB" sz="1400" dirty="0"/>
          </a:p>
          <a:p>
            <a:r>
              <a:rPr lang="en-GB" sz="2400" dirty="0"/>
              <a:t>Listen to the sound of </a:t>
            </a:r>
            <a:r>
              <a:rPr lang="en-GB" sz="2400" i="1" dirty="0"/>
              <a:t>Beowulf</a:t>
            </a:r>
            <a:r>
              <a:rPr lang="en-GB" sz="2400" dirty="0"/>
              <a:t> being read in Old English.</a:t>
            </a:r>
          </a:p>
          <a:p>
            <a:endParaRPr lang="en-GB" sz="2400" dirty="0"/>
          </a:p>
          <a:p>
            <a:r>
              <a:rPr lang="en-GB" sz="2400" dirty="0"/>
              <a:t>How would you describe the sound?</a:t>
            </a:r>
          </a:p>
        </p:txBody>
      </p:sp>
      <p:pic>
        <p:nvPicPr>
          <p:cNvPr id="3074" name="Picture 2" descr="Europe from space (seen by ESA's Copernicus Sentinel-3A satellite in 2017) : europe">
            <a:extLst>
              <a:ext uri="{FF2B5EF4-FFF2-40B4-BE49-F238E27FC236}">
                <a16:creationId xmlns:a16="http://schemas.microsoft.com/office/drawing/2014/main" id="{D94BDBA2-8BC7-07FB-E82D-59E23722D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368" y="609600"/>
            <a:ext cx="4437532" cy="4697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72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500"/>
                                        <p:tgtEl>
                                          <p:spTgt spid="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fade">
                                      <p:cBhvr>
                                        <p:cTn id="1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479D3B-52F8-05EA-97C4-0D79A4E44120}"/>
              </a:ext>
            </a:extLst>
          </p:cNvPr>
          <p:cNvSpPr>
            <a:spLocks noGrp="1"/>
          </p:cNvSpPr>
          <p:nvPr>
            <p:ph type="title"/>
          </p:nvPr>
        </p:nvSpPr>
        <p:spPr/>
        <p:txBody>
          <a:bodyPr/>
          <a:lstStyle/>
          <a:p>
            <a:r>
              <a:rPr lang="en-GB" sz="4400" i="1" dirty="0">
                <a:solidFill>
                  <a:srgbClr val="0070C0"/>
                </a:solidFill>
              </a:rPr>
              <a:t>Beowulf</a:t>
            </a:r>
            <a:r>
              <a:rPr lang="en-GB" sz="4400" dirty="0">
                <a:solidFill>
                  <a:srgbClr val="0070C0"/>
                </a:solidFill>
              </a:rPr>
              <a:t> and Old English</a:t>
            </a:r>
          </a:p>
        </p:txBody>
      </p:sp>
      <p:sp>
        <p:nvSpPr>
          <p:cNvPr id="5" name="Content Placeholder 4">
            <a:extLst>
              <a:ext uri="{FF2B5EF4-FFF2-40B4-BE49-F238E27FC236}">
                <a16:creationId xmlns:a16="http://schemas.microsoft.com/office/drawing/2014/main" id="{0001464B-846F-33A9-878A-A481092A8559}"/>
              </a:ext>
            </a:extLst>
          </p:cNvPr>
          <p:cNvSpPr>
            <a:spLocks noGrp="1"/>
          </p:cNvSpPr>
          <p:nvPr>
            <p:ph idx="1"/>
          </p:nvPr>
        </p:nvSpPr>
        <p:spPr>
          <a:xfrm>
            <a:off x="550507" y="1677988"/>
            <a:ext cx="9834464" cy="3881437"/>
          </a:xfrm>
        </p:spPr>
        <p:txBody>
          <a:bodyPr/>
          <a:lstStyle/>
          <a:p>
            <a:r>
              <a:rPr lang="en-GB" sz="2400" dirty="0"/>
              <a:t>Each line of poetry has two halves, and they are connected by alliteration: the same sounds repeat in key stressed words, building rhythm. This is ‘alliterative metre’.</a:t>
            </a:r>
          </a:p>
          <a:p>
            <a:endParaRPr lang="en-GB" sz="1200" dirty="0"/>
          </a:p>
          <a:p>
            <a:pPr marL="914400" lvl="2" indent="0">
              <a:buNone/>
            </a:pPr>
            <a:r>
              <a:rPr lang="nl-NL" sz="2400" i="1" dirty="0"/>
              <a:t>Hwæt! We Gardena    in geardagum</a:t>
            </a:r>
          </a:p>
          <a:p>
            <a:pPr marL="914400" lvl="2" indent="0">
              <a:buNone/>
            </a:pPr>
            <a:r>
              <a:rPr lang="en-GB" sz="2400" i="1" dirty="0" err="1"/>
              <a:t>þeodcyninga</a:t>
            </a:r>
            <a:r>
              <a:rPr lang="en-GB" sz="2400" i="1" dirty="0"/>
              <a:t>,    </a:t>
            </a:r>
            <a:r>
              <a:rPr lang="en-GB" sz="2400" i="1" dirty="0" err="1"/>
              <a:t>þrym</a:t>
            </a:r>
            <a:r>
              <a:rPr lang="en-GB" sz="2400" i="1" dirty="0"/>
              <a:t> </a:t>
            </a:r>
            <a:r>
              <a:rPr lang="en-GB" sz="2400" i="1" dirty="0" err="1"/>
              <a:t>gefrunon</a:t>
            </a:r>
            <a:endParaRPr lang="en-GB" sz="2400" i="1" dirty="0"/>
          </a:p>
          <a:p>
            <a:pPr marL="914400" lvl="2" indent="0">
              <a:buNone/>
            </a:pPr>
            <a:r>
              <a:rPr lang="en-GB" sz="2400" i="1" dirty="0"/>
              <a:t>hu </a:t>
            </a:r>
            <a:r>
              <a:rPr lang="en-GB" sz="2400" i="1" dirty="0" err="1"/>
              <a:t>ða</a:t>
            </a:r>
            <a:r>
              <a:rPr lang="en-GB" sz="2400" i="1" dirty="0"/>
              <a:t> </a:t>
            </a:r>
            <a:r>
              <a:rPr lang="en-GB" sz="2400" i="1" dirty="0" err="1"/>
              <a:t>æþelingas</a:t>
            </a:r>
            <a:r>
              <a:rPr lang="en-GB" sz="2400" i="1" dirty="0"/>
              <a:t>    </a:t>
            </a:r>
            <a:r>
              <a:rPr lang="en-GB" sz="2400" i="1" dirty="0" err="1"/>
              <a:t>ellen</a:t>
            </a:r>
            <a:r>
              <a:rPr lang="en-GB" sz="2400" i="1" dirty="0"/>
              <a:t> </a:t>
            </a:r>
            <a:r>
              <a:rPr lang="en-GB" sz="2400" i="1" dirty="0" err="1"/>
              <a:t>fremedon</a:t>
            </a:r>
            <a:endParaRPr lang="en-GB" sz="2400" i="1" dirty="0"/>
          </a:p>
          <a:p>
            <a:pPr marL="914400" lvl="2" indent="0">
              <a:buNone/>
            </a:pPr>
            <a:r>
              <a:rPr lang="en-GB" sz="2400" i="1" dirty="0"/>
              <a:t>Oft </a:t>
            </a:r>
            <a:r>
              <a:rPr lang="en-GB" sz="2400" i="1" dirty="0" err="1"/>
              <a:t>Scyld</a:t>
            </a:r>
            <a:r>
              <a:rPr lang="en-GB" sz="2400" i="1" dirty="0"/>
              <a:t> </a:t>
            </a:r>
            <a:r>
              <a:rPr lang="en-GB" sz="2400" i="1" dirty="0" err="1"/>
              <a:t>Scefing</a:t>
            </a:r>
            <a:r>
              <a:rPr lang="en-GB" sz="2400" i="1" dirty="0"/>
              <a:t>    </a:t>
            </a:r>
            <a:r>
              <a:rPr lang="en-GB" sz="2400" i="1" dirty="0" err="1"/>
              <a:t>sceaþena</a:t>
            </a:r>
            <a:r>
              <a:rPr lang="en-GB" sz="2400" i="1" dirty="0"/>
              <a:t> </a:t>
            </a:r>
            <a:r>
              <a:rPr lang="en-GB" sz="2400" i="1" dirty="0" err="1"/>
              <a:t>þreatum</a:t>
            </a:r>
            <a:endParaRPr lang="en-GB" sz="2400" i="1" dirty="0"/>
          </a:p>
          <a:p>
            <a:pPr marL="914400" lvl="2" indent="0">
              <a:buNone/>
            </a:pPr>
            <a:r>
              <a:rPr lang="en-GB" sz="2400" i="1" dirty="0" err="1"/>
              <a:t>monegum</a:t>
            </a:r>
            <a:r>
              <a:rPr lang="en-GB" sz="2400" i="1" dirty="0"/>
              <a:t> </a:t>
            </a:r>
            <a:r>
              <a:rPr lang="en-GB" sz="2400" i="1" dirty="0" err="1"/>
              <a:t>mægþum</a:t>
            </a:r>
            <a:r>
              <a:rPr lang="en-GB" sz="2400" i="1" dirty="0"/>
              <a:t>,    </a:t>
            </a:r>
            <a:r>
              <a:rPr lang="en-GB" sz="2400" i="1" dirty="0" err="1"/>
              <a:t>meodosetla</a:t>
            </a:r>
            <a:r>
              <a:rPr lang="en-GB" sz="2400" i="1" dirty="0"/>
              <a:t> </a:t>
            </a:r>
            <a:r>
              <a:rPr lang="en-GB" sz="2400" i="1" dirty="0" err="1"/>
              <a:t>ofteah</a:t>
            </a:r>
            <a:endParaRPr lang="en-GB" sz="2400" i="1" dirty="0"/>
          </a:p>
          <a:p>
            <a:pPr marL="0" indent="0">
              <a:buNone/>
            </a:pPr>
            <a:endParaRPr lang="en-GB" sz="1400" dirty="0"/>
          </a:p>
          <a:p>
            <a:r>
              <a:rPr lang="en-GB" sz="2400" dirty="0"/>
              <a:t>The slight pause between the halves is called a ‘caesura’.</a:t>
            </a:r>
          </a:p>
          <a:p>
            <a:endParaRPr lang="en-GB" sz="1400" dirty="0"/>
          </a:p>
        </p:txBody>
      </p:sp>
    </p:spTree>
    <p:extLst>
      <p:ext uri="{BB962C8B-B14F-4D97-AF65-F5344CB8AC3E}">
        <p14:creationId xmlns:p14="http://schemas.microsoft.com/office/powerpoint/2010/main" val="3411671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9D06A-8E9C-42E3-BAC1-76F08315C6B1}"/>
              </a:ext>
            </a:extLst>
          </p:cNvPr>
          <p:cNvSpPr>
            <a:spLocks noGrp="1"/>
          </p:cNvSpPr>
          <p:nvPr>
            <p:ph type="title"/>
          </p:nvPr>
        </p:nvSpPr>
        <p:spPr/>
        <p:txBody>
          <a:bodyPr/>
          <a:lstStyle/>
          <a:p>
            <a:r>
              <a:rPr lang="en-GB" sz="4400" i="1" dirty="0">
                <a:solidFill>
                  <a:srgbClr val="002060"/>
                </a:solidFill>
              </a:rPr>
              <a:t>Beowulf</a:t>
            </a:r>
            <a:r>
              <a:rPr lang="en-GB" sz="4400" dirty="0">
                <a:solidFill>
                  <a:srgbClr val="002060"/>
                </a:solidFill>
              </a:rPr>
              <a:t> – Synopsis</a:t>
            </a:r>
          </a:p>
        </p:txBody>
      </p:sp>
      <p:sp>
        <p:nvSpPr>
          <p:cNvPr id="3" name="Content Placeholder 2">
            <a:extLst>
              <a:ext uri="{FF2B5EF4-FFF2-40B4-BE49-F238E27FC236}">
                <a16:creationId xmlns:a16="http://schemas.microsoft.com/office/drawing/2014/main" id="{36592D10-2DBD-4F8A-A533-3E1BB463A797}"/>
              </a:ext>
            </a:extLst>
          </p:cNvPr>
          <p:cNvSpPr>
            <a:spLocks noGrp="1"/>
          </p:cNvSpPr>
          <p:nvPr>
            <p:ph idx="1"/>
          </p:nvPr>
        </p:nvSpPr>
        <p:spPr>
          <a:xfrm>
            <a:off x="677863" y="1722784"/>
            <a:ext cx="8596312" cy="4319242"/>
          </a:xfrm>
        </p:spPr>
        <p:txBody>
          <a:bodyPr/>
          <a:lstStyle/>
          <a:p>
            <a:r>
              <a:rPr lang="en-GB" sz="2400" dirty="0"/>
              <a:t>Beowulf goes with his warriors across the sea from the land of the </a:t>
            </a:r>
            <a:r>
              <a:rPr lang="en-GB" sz="2400" dirty="0" err="1"/>
              <a:t>Geats</a:t>
            </a:r>
            <a:r>
              <a:rPr lang="en-GB" sz="2400" dirty="0"/>
              <a:t> (Sweden) to Heorot, the hall (palace) of the Danish King.</a:t>
            </a:r>
          </a:p>
          <a:p>
            <a:r>
              <a:rPr lang="en-GB" sz="2400" dirty="0"/>
              <a:t>A monster called Grendel has been attacking the hall. Beowulf tears Grendel’s arm off at the shoulder.</a:t>
            </a:r>
          </a:p>
          <a:p>
            <a:r>
              <a:rPr lang="en-GB" sz="2400" dirty="0"/>
              <a:t>Next, he fights Grendel’s mother and cuts off her head, plus beheads Grendel’s corpse.</a:t>
            </a:r>
          </a:p>
          <a:p>
            <a:r>
              <a:rPr lang="en-GB" sz="2400" dirty="0"/>
              <a:t>Fifty years later when Beowulf is king, a slave steals some treasure from a dragon. The dragon attacks, burning the </a:t>
            </a:r>
            <a:r>
              <a:rPr lang="en-GB" sz="2400" dirty="0" err="1"/>
              <a:t>Geats’</a:t>
            </a:r>
            <a:r>
              <a:rPr lang="en-GB" sz="2400" dirty="0"/>
              <a:t> homes. Beowulf kills it, but dies heroically in the attempt.</a:t>
            </a:r>
          </a:p>
        </p:txBody>
      </p:sp>
    </p:spTree>
    <p:extLst>
      <p:ext uri="{BB962C8B-B14F-4D97-AF65-F5344CB8AC3E}">
        <p14:creationId xmlns:p14="http://schemas.microsoft.com/office/powerpoint/2010/main" val="203317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436A18-3788-476C-A3F1-BDE7DB960F68}"/>
              </a:ext>
            </a:extLst>
          </p:cNvPr>
          <p:cNvSpPr>
            <a:spLocks noGrp="1"/>
          </p:cNvSpPr>
          <p:nvPr>
            <p:ph type="title"/>
          </p:nvPr>
        </p:nvSpPr>
        <p:spPr/>
        <p:txBody>
          <a:bodyPr/>
          <a:lstStyle/>
          <a:p>
            <a:r>
              <a:rPr lang="en-GB" sz="4400" i="1" dirty="0">
                <a:solidFill>
                  <a:srgbClr val="002060"/>
                </a:solidFill>
              </a:rPr>
              <a:t>Beowulf: </a:t>
            </a:r>
            <a:br>
              <a:rPr lang="en-GB" sz="4400" i="1" dirty="0">
                <a:solidFill>
                  <a:srgbClr val="002060"/>
                </a:solidFill>
              </a:rPr>
            </a:br>
            <a:r>
              <a:rPr lang="en-GB" sz="4000" dirty="0">
                <a:solidFill>
                  <a:srgbClr val="002060"/>
                </a:solidFill>
              </a:rPr>
              <a:t>homework reading – lines 144-285</a:t>
            </a:r>
            <a:endParaRPr lang="en-GB" sz="4400" dirty="0">
              <a:solidFill>
                <a:srgbClr val="002060"/>
              </a:solidFill>
            </a:endParaRPr>
          </a:p>
        </p:txBody>
      </p:sp>
      <p:sp>
        <p:nvSpPr>
          <p:cNvPr id="5" name="Content Placeholder 4">
            <a:extLst>
              <a:ext uri="{FF2B5EF4-FFF2-40B4-BE49-F238E27FC236}">
                <a16:creationId xmlns:a16="http://schemas.microsoft.com/office/drawing/2014/main" id="{B37F161C-3DFC-4274-BFB5-57B85D3BF073}"/>
              </a:ext>
            </a:extLst>
          </p:cNvPr>
          <p:cNvSpPr>
            <a:spLocks noGrp="1"/>
          </p:cNvSpPr>
          <p:nvPr>
            <p:ph idx="1"/>
          </p:nvPr>
        </p:nvSpPr>
        <p:spPr/>
        <p:txBody>
          <a:bodyPr/>
          <a:lstStyle/>
          <a:p>
            <a:endParaRPr lang="en-GB" sz="1500" dirty="0"/>
          </a:p>
          <a:p>
            <a:r>
              <a:rPr lang="en-GB" sz="2800" dirty="0"/>
              <a:t>How are Beowulf and his warriors described?</a:t>
            </a:r>
          </a:p>
          <a:p>
            <a:endParaRPr lang="en-GB" sz="1200" dirty="0"/>
          </a:p>
          <a:p>
            <a:r>
              <a:rPr lang="en-GB" sz="2800" dirty="0"/>
              <a:t>What can we learn about the text’s author?</a:t>
            </a:r>
          </a:p>
          <a:p>
            <a:endParaRPr lang="en-GB" sz="1200" dirty="0"/>
          </a:p>
          <a:p>
            <a:r>
              <a:rPr lang="en-GB" sz="2800" dirty="0"/>
              <a:t>What is the culture like of the story-world? What attitudes do characters have?</a:t>
            </a:r>
            <a:endParaRPr lang="en-GB" dirty="0"/>
          </a:p>
        </p:txBody>
      </p:sp>
    </p:spTree>
    <p:extLst>
      <p:ext uri="{BB962C8B-B14F-4D97-AF65-F5344CB8AC3E}">
        <p14:creationId xmlns:p14="http://schemas.microsoft.com/office/powerpoint/2010/main" val="1399578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49CB-8EF0-4358-B02A-30FBDC0128CF}"/>
              </a:ext>
            </a:extLst>
          </p:cNvPr>
          <p:cNvSpPr>
            <a:spLocks noGrp="1"/>
          </p:cNvSpPr>
          <p:nvPr>
            <p:ph type="title"/>
          </p:nvPr>
        </p:nvSpPr>
        <p:spPr>
          <a:xfrm>
            <a:off x="677863" y="1026584"/>
            <a:ext cx="8596312" cy="1320800"/>
          </a:xfrm>
        </p:spPr>
        <p:txBody>
          <a:bodyPr/>
          <a:lstStyle/>
          <a:p>
            <a:r>
              <a:rPr lang="en-GB" sz="4400" dirty="0">
                <a:solidFill>
                  <a:srgbClr val="002060"/>
                </a:solidFill>
              </a:rPr>
              <a:t>Beowulf and </a:t>
            </a:r>
            <a:br>
              <a:rPr lang="en-GB" sz="4400" dirty="0">
                <a:solidFill>
                  <a:srgbClr val="002060"/>
                </a:solidFill>
              </a:rPr>
            </a:br>
            <a:r>
              <a:rPr lang="en-GB" sz="4400" dirty="0">
                <a:solidFill>
                  <a:srgbClr val="002060"/>
                </a:solidFill>
              </a:rPr>
              <a:t>the Dragon</a:t>
            </a:r>
          </a:p>
        </p:txBody>
      </p:sp>
      <p:sp>
        <p:nvSpPr>
          <p:cNvPr id="3" name="Content Placeholder 2">
            <a:extLst>
              <a:ext uri="{FF2B5EF4-FFF2-40B4-BE49-F238E27FC236}">
                <a16:creationId xmlns:a16="http://schemas.microsoft.com/office/drawing/2014/main" id="{E35FD0EA-1A42-4DCC-BF02-05837F6F06F7}"/>
              </a:ext>
            </a:extLst>
          </p:cNvPr>
          <p:cNvSpPr>
            <a:spLocks noGrp="1"/>
          </p:cNvSpPr>
          <p:nvPr>
            <p:ph idx="1"/>
          </p:nvPr>
        </p:nvSpPr>
        <p:spPr>
          <a:xfrm>
            <a:off x="677863" y="3552519"/>
            <a:ext cx="8596312" cy="3265565"/>
          </a:xfrm>
        </p:spPr>
        <p:txBody>
          <a:bodyPr/>
          <a:lstStyle/>
          <a:p>
            <a:r>
              <a:rPr lang="en-GB" sz="3200" dirty="0"/>
              <a:t>Why does Beowulf have to fight the dragon?</a:t>
            </a:r>
          </a:p>
          <a:p>
            <a:endParaRPr lang="en-GB" sz="2800" dirty="0"/>
          </a:p>
          <a:p>
            <a:r>
              <a:rPr lang="en-GB" sz="3200" dirty="0"/>
              <a:t>Line 2207 onwards</a:t>
            </a:r>
          </a:p>
        </p:txBody>
      </p:sp>
      <p:pic>
        <p:nvPicPr>
          <p:cNvPr id="5" name="Picture 4">
            <a:extLst>
              <a:ext uri="{FF2B5EF4-FFF2-40B4-BE49-F238E27FC236}">
                <a16:creationId xmlns:a16="http://schemas.microsoft.com/office/drawing/2014/main" id="{B9674F4E-FA59-4BA3-913B-C6C00345B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7576" y="560814"/>
            <a:ext cx="4733480" cy="2629712"/>
          </a:xfrm>
          <a:prstGeom prst="rect">
            <a:avLst/>
          </a:prstGeom>
        </p:spPr>
      </p:pic>
    </p:spTree>
    <p:extLst>
      <p:ext uri="{BB962C8B-B14F-4D97-AF65-F5344CB8AC3E}">
        <p14:creationId xmlns:p14="http://schemas.microsoft.com/office/powerpoint/2010/main" val="3320565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5FD0EA-1A42-4DCC-BF02-05837F6F06F7}"/>
              </a:ext>
            </a:extLst>
          </p:cNvPr>
          <p:cNvSpPr>
            <a:spLocks noGrp="1"/>
          </p:cNvSpPr>
          <p:nvPr>
            <p:ph idx="1"/>
          </p:nvPr>
        </p:nvSpPr>
        <p:spPr>
          <a:xfrm>
            <a:off x="901797" y="996953"/>
            <a:ext cx="9520495" cy="3881437"/>
          </a:xfrm>
        </p:spPr>
        <p:txBody>
          <a:bodyPr/>
          <a:lstStyle/>
          <a:p>
            <a:pPr marL="0" indent="0">
              <a:buNone/>
            </a:pPr>
            <a:r>
              <a:rPr lang="en-GB" sz="2800" dirty="0"/>
              <a:t>From the steep vaults of a stone-roofed barrow  2212</a:t>
            </a:r>
          </a:p>
          <a:p>
            <a:pPr marL="0" indent="0">
              <a:buNone/>
            </a:pPr>
            <a:r>
              <a:rPr lang="en-GB" sz="2800" dirty="0"/>
              <a:t>Where he guarded a hoard; there was a hidden passage,</a:t>
            </a:r>
          </a:p>
          <a:p>
            <a:pPr marL="0" indent="0">
              <a:buNone/>
            </a:pPr>
            <a:r>
              <a:rPr lang="en-GB" sz="2800" dirty="0"/>
              <a:t>Unknown to men, but someone managed </a:t>
            </a:r>
          </a:p>
          <a:p>
            <a:pPr marL="0" indent="0">
              <a:buNone/>
            </a:pPr>
            <a:r>
              <a:rPr lang="en-GB" sz="2800" dirty="0"/>
              <a:t>To enter by it and interfere </a:t>
            </a:r>
          </a:p>
          <a:p>
            <a:pPr marL="0" indent="0">
              <a:buNone/>
            </a:pPr>
            <a:r>
              <a:rPr lang="en-GB" sz="2800" dirty="0"/>
              <a:t>With the heathen trove. He had handled and removed </a:t>
            </a:r>
          </a:p>
          <a:p>
            <a:pPr marL="0" indent="0">
              <a:buNone/>
            </a:pPr>
            <a:r>
              <a:rPr lang="en-GB" sz="2800" dirty="0"/>
              <a:t>A gem-studded goblet; it gained him nothing,</a:t>
            </a:r>
          </a:p>
          <a:p>
            <a:pPr marL="0" indent="0">
              <a:buNone/>
            </a:pPr>
            <a:r>
              <a:rPr lang="en-GB" sz="2800" dirty="0"/>
              <a:t>Though with a thief’s wiles he had outwitted </a:t>
            </a:r>
          </a:p>
          <a:p>
            <a:pPr marL="0" indent="0">
              <a:buNone/>
            </a:pPr>
            <a:r>
              <a:rPr lang="en-GB" sz="2800" dirty="0"/>
              <a:t>The sleeping dragon; that drove him into rage, </a:t>
            </a:r>
          </a:p>
          <a:p>
            <a:pPr marL="0" indent="0">
              <a:buNone/>
            </a:pPr>
            <a:r>
              <a:rPr lang="en-GB" sz="2800" dirty="0"/>
              <a:t>As the people of that country would soon discover. 2220</a:t>
            </a:r>
          </a:p>
        </p:txBody>
      </p:sp>
    </p:spTree>
    <p:extLst>
      <p:ext uri="{BB962C8B-B14F-4D97-AF65-F5344CB8AC3E}">
        <p14:creationId xmlns:p14="http://schemas.microsoft.com/office/powerpoint/2010/main" val="2534401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26B038-B866-4C3D-AC45-D840CA15A502}"/>
              </a:ext>
            </a:extLst>
          </p:cNvPr>
          <p:cNvSpPr>
            <a:spLocks noGrp="1"/>
          </p:cNvSpPr>
          <p:nvPr>
            <p:ph idx="1"/>
          </p:nvPr>
        </p:nvSpPr>
        <p:spPr>
          <a:xfrm>
            <a:off x="687194" y="1342571"/>
            <a:ext cx="8596312" cy="3881437"/>
          </a:xfrm>
        </p:spPr>
        <p:txBody>
          <a:bodyPr/>
          <a:lstStyle/>
          <a:p>
            <a:pPr marL="0" indent="0">
              <a:buNone/>
            </a:pPr>
            <a:r>
              <a:rPr lang="en-GB" sz="2800" dirty="0"/>
              <a:t>The dragon began to belch out flames   2312</a:t>
            </a:r>
          </a:p>
          <a:p>
            <a:pPr marL="0" indent="0">
              <a:buNone/>
            </a:pPr>
            <a:r>
              <a:rPr lang="en-GB" sz="2800" dirty="0"/>
              <a:t>And burn bright homesteads; there was a hot glow</a:t>
            </a:r>
          </a:p>
          <a:p>
            <a:pPr marL="0" indent="0">
              <a:buNone/>
            </a:pPr>
            <a:r>
              <a:rPr lang="en-GB" sz="2800" dirty="0"/>
              <a:t>That scared everyone, for the vile sky-winger</a:t>
            </a:r>
          </a:p>
          <a:p>
            <a:pPr marL="0" indent="0">
              <a:buNone/>
            </a:pPr>
            <a:r>
              <a:rPr lang="en-GB" sz="2800" dirty="0"/>
              <a:t>Would leave nothing alive in his wake.</a:t>
            </a:r>
          </a:p>
          <a:p>
            <a:pPr marL="0" indent="0">
              <a:buNone/>
            </a:pPr>
            <a:r>
              <a:rPr lang="en-GB" sz="2800" dirty="0"/>
              <a:t>Everywhere the havoc he wrought was in evidence.</a:t>
            </a:r>
          </a:p>
          <a:p>
            <a:pPr marL="0" indent="0">
              <a:buNone/>
            </a:pPr>
            <a:r>
              <a:rPr lang="en-GB" sz="2800" dirty="0"/>
              <a:t>Far and near, the </a:t>
            </a:r>
            <a:r>
              <a:rPr lang="en-GB" sz="2800" dirty="0" err="1"/>
              <a:t>Geat</a:t>
            </a:r>
            <a:r>
              <a:rPr lang="en-GB" sz="2800" dirty="0"/>
              <a:t> nation</a:t>
            </a:r>
          </a:p>
          <a:p>
            <a:pPr marL="0" indent="0">
              <a:buNone/>
            </a:pPr>
            <a:r>
              <a:rPr lang="en-GB" sz="2800" dirty="0"/>
              <a:t>Bore the brunt of his brutal assaults</a:t>
            </a:r>
          </a:p>
          <a:p>
            <a:pPr marL="0" indent="0">
              <a:buNone/>
            </a:pPr>
            <a:r>
              <a:rPr lang="en-GB" sz="2800" dirty="0"/>
              <a:t>And virulent hate. Then back to the hoard</a:t>
            </a:r>
          </a:p>
        </p:txBody>
      </p:sp>
    </p:spTree>
    <p:extLst>
      <p:ext uri="{BB962C8B-B14F-4D97-AF65-F5344CB8AC3E}">
        <p14:creationId xmlns:p14="http://schemas.microsoft.com/office/powerpoint/2010/main" val="343352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1C041F-7980-4B4F-9BFE-670AE178CFCE}"/>
              </a:ext>
            </a:extLst>
          </p:cNvPr>
          <p:cNvSpPr>
            <a:spLocks noGrp="1"/>
          </p:cNvSpPr>
          <p:nvPr>
            <p:ph idx="1"/>
          </p:nvPr>
        </p:nvSpPr>
        <p:spPr>
          <a:xfrm>
            <a:off x="677863" y="978677"/>
            <a:ext cx="9707108" cy="3881437"/>
          </a:xfrm>
        </p:spPr>
        <p:txBody>
          <a:bodyPr/>
          <a:lstStyle/>
          <a:p>
            <a:pPr marL="0" indent="0">
              <a:buNone/>
            </a:pPr>
            <a:r>
              <a:rPr lang="en-GB" sz="2800" dirty="0"/>
              <a:t>He would dart before daybreak, to hide in his den. (2320)</a:t>
            </a:r>
          </a:p>
          <a:p>
            <a:pPr marL="0" indent="0">
              <a:buNone/>
            </a:pPr>
            <a:r>
              <a:rPr lang="en-GB" sz="2800" dirty="0"/>
              <a:t>He had </a:t>
            </a:r>
            <a:r>
              <a:rPr lang="en-GB" sz="2800" dirty="0" err="1"/>
              <a:t>swinged</a:t>
            </a:r>
            <a:r>
              <a:rPr lang="en-GB" sz="2800" dirty="0"/>
              <a:t> the land, swathed it in flame,</a:t>
            </a:r>
          </a:p>
          <a:p>
            <a:pPr marL="0" indent="0">
              <a:buNone/>
            </a:pPr>
            <a:r>
              <a:rPr lang="en-GB" sz="2800" dirty="0"/>
              <a:t>In fire and burning, and now he felt secure</a:t>
            </a:r>
          </a:p>
          <a:p>
            <a:pPr marL="0" indent="0">
              <a:buNone/>
            </a:pPr>
            <a:r>
              <a:rPr lang="en-GB" sz="2800" dirty="0"/>
              <a:t>In the vaults of his burrow; but his trust was unavailing.</a:t>
            </a:r>
          </a:p>
          <a:p>
            <a:pPr marL="0" indent="0">
              <a:buNone/>
            </a:pPr>
            <a:r>
              <a:rPr lang="en-GB" sz="2800" dirty="0"/>
              <a:t>Then Beowulf was given bad news,</a:t>
            </a:r>
          </a:p>
          <a:p>
            <a:pPr marL="0" indent="0">
              <a:buNone/>
            </a:pPr>
            <a:r>
              <a:rPr lang="en-GB" sz="2800" dirty="0"/>
              <a:t>A hard truth: his own home,</a:t>
            </a:r>
          </a:p>
          <a:p>
            <a:pPr marL="0" indent="0">
              <a:buNone/>
            </a:pPr>
            <a:r>
              <a:rPr lang="en-GB" sz="2800" dirty="0"/>
              <a:t>The best of buildings, had been burnt to a cinder,</a:t>
            </a:r>
          </a:p>
          <a:p>
            <a:pPr marL="0" indent="0">
              <a:buNone/>
            </a:pPr>
            <a:r>
              <a:rPr lang="en-GB" sz="2800" dirty="0"/>
              <a:t>The throne-room of the </a:t>
            </a:r>
            <a:r>
              <a:rPr lang="en-GB" sz="2800" dirty="0" err="1"/>
              <a:t>Geats</a:t>
            </a:r>
            <a:r>
              <a:rPr lang="en-GB" sz="2800" dirty="0"/>
              <a:t>. It threw the hero</a:t>
            </a:r>
          </a:p>
          <a:p>
            <a:pPr marL="0" indent="0">
              <a:buNone/>
            </a:pPr>
            <a:r>
              <a:rPr lang="en-GB" sz="2800" dirty="0"/>
              <a:t>Into deep anguish and darkened his mood:</a:t>
            </a:r>
          </a:p>
          <a:p>
            <a:endParaRPr lang="en-GB" dirty="0"/>
          </a:p>
        </p:txBody>
      </p:sp>
    </p:spTree>
    <p:extLst>
      <p:ext uri="{BB962C8B-B14F-4D97-AF65-F5344CB8AC3E}">
        <p14:creationId xmlns:p14="http://schemas.microsoft.com/office/powerpoint/2010/main" val="6973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3B4C4-605F-49D9-A468-BBB32C267C03}"/>
              </a:ext>
            </a:extLst>
          </p:cNvPr>
          <p:cNvSpPr>
            <a:spLocks noGrp="1"/>
          </p:cNvSpPr>
          <p:nvPr>
            <p:ph type="title"/>
          </p:nvPr>
        </p:nvSpPr>
        <p:spPr/>
        <p:txBody>
          <a:bodyPr>
            <a:normAutofit/>
          </a:bodyPr>
          <a:lstStyle/>
          <a:p>
            <a:r>
              <a:rPr lang="en-GB" sz="4000" dirty="0"/>
              <a:t>Influence upon Modern Literature and Culture</a:t>
            </a:r>
          </a:p>
        </p:txBody>
      </p:sp>
      <p:sp>
        <p:nvSpPr>
          <p:cNvPr id="3" name="Content Placeholder 2">
            <a:extLst>
              <a:ext uri="{FF2B5EF4-FFF2-40B4-BE49-F238E27FC236}">
                <a16:creationId xmlns:a16="http://schemas.microsoft.com/office/drawing/2014/main" id="{75DCDB29-619B-41F0-94C5-78BBD26AFCF2}"/>
              </a:ext>
            </a:extLst>
          </p:cNvPr>
          <p:cNvSpPr>
            <a:spLocks noGrp="1"/>
          </p:cNvSpPr>
          <p:nvPr>
            <p:ph idx="1"/>
          </p:nvPr>
        </p:nvSpPr>
        <p:spPr/>
        <p:txBody>
          <a:bodyPr/>
          <a:lstStyle/>
          <a:p>
            <a:r>
              <a:rPr lang="en-GB" dirty="0"/>
              <a:t>J. R. R. Tolkien was a Professor of Anglo-Saxon Literature at Oxford University. He spent many years translating and lecturing on </a:t>
            </a:r>
            <a:r>
              <a:rPr lang="en-GB" i="1" dirty="0"/>
              <a:t>Beowulf, </a:t>
            </a:r>
            <a:r>
              <a:rPr lang="en-GB" dirty="0"/>
              <a:t>and wrote </a:t>
            </a:r>
            <a:r>
              <a:rPr lang="en-GB" i="1" dirty="0"/>
              <a:t>The Hobbit </a:t>
            </a:r>
            <a:r>
              <a:rPr lang="en-GB" dirty="0"/>
              <a:t>(1937) and </a:t>
            </a:r>
            <a:r>
              <a:rPr lang="en-GB" i="1" dirty="0"/>
              <a:t>The Lord of the Rings </a:t>
            </a:r>
            <a:r>
              <a:rPr lang="en-GB" dirty="0"/>
              <a:t>(1954).</a:t>
            </a:r>
          </a:p>
        </p:txBody>
      </p:sp>
      <p:pic>
        <p:nvPicPr>
          <p:cNvPr id="5" name="Picture 4">
            <a:extLst>
              <a:ext uri="{FF2B5EF4-FFF2-40B4-BE49-F238E27FC236}">
                <a16:creationId xmlns:a16="http://schemas.microsoft.com/office/drawing/2014/main" id="{156E20DE-F0F7-463A-8DC4-4922FEF189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25" y="3429000"/>
            <a:ext cx="3986015" cy="2955036"/>
          </a:xfrm>
          <a:prstGeom prst="rect">
            <a:avLst/>
          </a:prstGeom>
        </p:spPr>
      </p:pic>
      <p:pic>
        <p:nvPicPr>
          <p:cNvPr id="7" name="Picture 6">
            <a:extLst>
              <a:ext uri="{FF2B5EF4-FFF2-40B4-BE49-F238E27FC236}">
                <a16:creationId xmlns:a16="http://schemas.microsoft.com/office/drawing/2014/main" id="{B48601D7-708E-4FB0-AE04-2CE0CBBC8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0574" y="3167394"/>
            <a:ext cx="2637620" cy="3571337"/>
          </a:xfrm>
          <a:prstGeom prst="rect">
            <a:avLst/>
          </a:prstGeom>
        </p:spPr>
      </p:pic>
      <p:pic>
        <p:nvPicPr>
          <p:cNvPr id="9" name="Picture 8">
            <a:extLst>
              <a:ext uri="{FF2B5EF4-FFF2-40B4-BE49-F238E27FC236}">
                <a16:creationId xmlns:a16="http://schemas.microsoft.com/office/drawing/2014/main" id="{E042DBBA-C17C-494E-A83A-55AA9B40F7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9319" y="3167394"/>
            <a:ext cx="2415649" cy="3571337"/>
          </a:xfrm>
          <a:prstGeom prst="rect">
            <a:avLst/>
          </a:prstGeom>
        </p:spPr>
      </p:pic>
    </p:spTree>
    <p:extLst>
      <p:ext uri="{BB962C8B-B14F-4D97-AF65-F5344CB8AC3E}">
        <p14:creationId xmlns:p14="http://schemas.microsoft.com/office/powerpoint/2010/main" val="155368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40926-6DE0-78E4-3DCD-F8E8F4F025A7}"/>
              </a:ext>
            </a:extLst>
          </p:cNvPr>
          <p:cNvSpPr>
            <a:spLocks noGrp="1"/>
          </p:cNvSpPr>
          <p:nvPr>
            <p:ph type="title"/>
          </p:nvPr>
        </p:nvSpPr>
        <p:spPr/>
        <p:txBody>
          <a:bodyPr/>
          <a:lstStyle/>
          <a:p>
            <a:r>
              <a:rPr lang="en-GB" dirty="0"/>
              <a:t>Excerpts from </a:t>
            </a:r>
            <a:r>
              <a:rPr lang="en-GB" i="1" dirty="0"/>
              <a:t>The Hobbit:</a:t>
            </a:r>
            <a:endParaRPr lang="en-GB" dirty="0"/>
          </a:p>
        </p:txBody>
      </p:sp>
      <p:sp>
        <p:nvSpPr>
          <p:cNvPr id="3" name="Content Placeholder 2">
            <a:extLst>
              <a:ext uri="{FF2B5EF4-FFF2-40B4-BE49-F238E27FC236}">
                <a16:creationId xmlns:a16="http://schemas.microsoft.com/office/drawing/2014/main" id="{0BA25E4A-500C-29E5-BBE3-64B07FF4C7FF}"/>
              </a:ext>
            </a:extLst>
          </p:cNvPr>
          <p:cNvSpPr>
            <a:spLocks noGrp="1"/>
          </p:cNvSpPr>
          <p:nvPr>
            <p:ph idx="1"/>
          </p:nvPr>
        </p:nvSpPr>
        <p:spPr>
          <a:xfrm>
            <a:off x="838200" y="1690688"/>
            <a:ext cx="10515600" cy="4486275"/>
          </a:xfrm>
        </p:spPr>
        <p:txBody>
          <a:bodyPr>
            <a:noAutofit/>
          </a:bodyPr>
          <a:lstStyle/>
          <a:p>
            <a:r>
              <a:rPr lang="en-GB" sz="2500" dirty="0">
                <a:effectLst/>
                <a:latin typeface="Calibri" panose="020F0502020204030204" pitchFamily="34" charset="0"/>
                <a:ea typeface="DengXian" panose="02010600030101010101" pitchFamily="2" charset="-122"/>
                <a:cs typeface="Times New Roman" panose="02020603050405020304" pitchFamily="18" charset="0"/>
              </a:rPr>
              <a:t>“Bilbo had heard tell and sing of dragon-hoards before, but the splendour, the lust, the glory of such treasure had never yet come home to him. His heart was filled and pierced with enchantment and with the desire of dwarves; and he gazed motionless, almost forgetting the frightful guardian, at the gold beyond price and count. He gazed for what seemed an age, before drawn almost against his will, he stole from the shadow of the doorway, across the floor to the nearest edge of the mounds of treasure. Above him the sleeping dragon lay, a dire menace even in his sleep. He grasped a great two-handled cup, as heavy as he could carry, and cast one fearful eye upwards. Smaug stirred a wing, opened a claw, the rumble of his snoring changed its note. Then Bilbo fled. But the dragon did not wake – not yet but shifted into other dreams of greed and violence, lying there in his stolen hall while the little hobbit toiled back up the long tunnel.”</a:t>
            </a:r>
            <a:endParaRPr lang="en-GB" sz="2500" dirty="0"/>
          </a:p>
        </p:txBody>
      </p:sp>
    </p:spTree>
    <p:extLst>
      <p:ext uri="{BB962C8B-B14F-4D97-AF65-F5344CB8AC3E}">
        <p14:creationId xmlns:p14="http://schemas.microsoft.com/office/powerpoint/2010/main" val="2311412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40926-6DE0-78E4-3DCD-F8E8F4F025A7}"/>
              </a:ext>
            </a:extLst>
          </p:cNvPr>
          <p:cNvSpPr>
            <a:spLocks noGrp="1"/>
          </p:cNvSpPr>
          <p:nvPr>
            <p:ph type="title"/>
          </p:nvPr>
        </p:nvSpPr>
        <p:spPr/>
        <p:txBody>
          <a:bodyPr/>
          <a:lstStyle/>
          <a:p>
            <a:r>
              <a:rPr lang="en-GB" dirty="0"/>
              <a:t>Excerpts from </a:t>
            </a:r>
            <a:r>
              <a:rPr lang="en-GB" i="1" dirty="0"/>
              <a:t>The Hobbit:</a:t>
            </a:r>
            <a:endParaRPr lang="en-GB" dirty="0"/>
          </a:p>
        </p:txBody>
      </p:sp>
      <p:sp>
        <p:nvSpPr>
          <p:cNvPr id="3" name="Content Placeholder 2">
            <a:extLst>
              <a:ext uri="{FF2B5EF4-FFF2-40B4-BE49-F238E27FC236}">
                <a16:creationId xmlns:a16="http://schemas.microsoft.com/office/drawing/2014/main" id="{0BA25E4A-500C-29E5-BBE3-64B07FF4C7FF}"/>
              </a:ext>
            </a:extLst>
          </p:cNvPr>
          <p:cNvSpPr>
            <a:spLocks noGrp="1"/>
          </p:cNvSpPr>
          <p:nvPr>
            <p:ph idx="1"/>
          </p:nvPr>
        </p:nvSpPr>
        <p:spPr>
          <a:xfrm>
            <a:off x="838200" y="1690688"/>
            <a:ext cx="10515600" cy="4486275"/>
          </a:xfrm>
        </p:spPr>
        <p:txBody>
          <a:bodyPr>
            <a:normAutofit/>
          </a:bodyPr>
          <a:lstStyle/>
          <a:p>
            <a:r>
              <a:rPr lang="en-GB" sz="2500" dirty="0">
                <a:effectLst/>
                <a:latin typeface="Calibri" panose="020F0502020204030204" pitchFamily="34" charset="0"/>
                <a:ea typeface="DengXian" panose="02010600030101010101" pitchFamily="2" charset="-122"/>
                <a:cs typeface="Times New Roman" panose="02020603050405020304" pitchFamily="18" charset="0"/>
              </a:rPr>
              <a:t>“</a:t>
            </a:r>
            <a:r>
              <a:rPr lang="en-GB" sz="2500" dirty="0"/>
              <a:t>Fire leaped from thatched roofs and wooden beam-ends as he hurtled down and past and round again, though all had been drenched with water before he came. Once more water was flung by a hundred hands wherever a spark appeared. Back swirled the dragon. A sweep of his tail and the roof of the Great House crumbled and smashed down. Flames unquenchable sprang high into the night. Another swoop and another, and another house and then another sprang afire and fell; and still no arrow hindered Smaug or hurt him more than a fly from the marshes. Already men were jumping into the water on every side. Women and children were being huddled into laden boats in the market-pool. Weapons were flung down. There was mourning and weeping, where but a little time ago the old songs of mirth to come had been sung about the dwarves</a:t>
            </a:r>
            <a:r>
              <a:rPr lang="en-GB" sz="2500" dirty="0">
                <a:effectLst/>
                <a:latin typeface="Calibri" panose="020F0502020204030204" pitchFamily="34" charset="0"/>
                <a:ea typeface="DengXian" panose="02010600030101010101" pitchFamily="2" charset="-122"/>
                <a:cs typeface="Times New Roman" panose="02020603050405020304" pitchFamily="18" charset="0"/>
              </a:rPr>
              <a:t>.”</a:t>
            </a:r>
            <a:endParaRPr lang="en-GB" sz="2500" dirty="0"/>
          </a:p>
        </p:txBody>
      </p:sp>
    </p:spTree>
    <p:extLst>
      <p:ext uri="{BB962C8B-B14F-4D97-AF65-F5344CB8AC3E}">
        <p14:creationId xmlns:p14="http://schemas.microsoft.com/office/powerpoint/2010/main" val="1836879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1227-9044-1A00-DD62-D830C7268E8E}"/>
              </a:ext>
            </a:extLst>
          </p:cNvPr>
          <p:cNvSpPr>
            <a:spLocks noGrp="1"/>
          </p:cNvSpPr>
          <p:nvPr>
            <p:ph type="title"/>
          </p:nvPr>
        </p:nvSpPr>
        <p:spPr>
          <a:xfrm>
            <a:off x="922175" y="380367"/>
            <a:ext cx="10515600" cy="1325563"/>
          </a:xfrm>
        </p:spPr>
        <p:txBody>
          <a:bodyPr/>
          <a:lstStyle/>
          <a:p>
            <a:r>
              <a:rPr lang="en-GB" i="1" dirty="0"/>
              <a:t>Beowulf </a:t>
            </a:r>
            <a:r>
              <a:rPr lang="en-GB" dirty="0"/>
              <a:t>– line 2550-91</a:t>
            </a:r>
          </a:p>
        </p:txBody>
      </p:sp>
      <p:sp>
        <p:nvSpPr>
          <p:cNvPr id="3" name="Content Placeholder 2">
            <a:extLst>
              <a:ext uri="{FF2B5EF4-FFF2-40B4-BE49-F238E27FC236}">
                <a16:creationId xmlns:a16="http://schemas.microsoft.com/office/drawing/2014/main" id="{3A79F1E5-9E9E-6C75-54F3-10138484B1DB}"/>
              </a:ext>
            </a:extLst>
          </p:cNvPr>
          <p:cNvSpPr>
            <a:spLocks noGrp="1"/>
          </p:cNvSpPr>
          <p:nvPr>
            <p:ph idx="1"/>
          </p:nvPr>
        </p:nvSpPr>
        <p:spPr>
          <a:xfrm>
            <a:off x="838200" y="1556250"/>
            <a:ext cx="10515600" cy="842930"/>
          </a:xfrm>
        </p:spPr>
        <p:txBody>
          <a:bodyPr/>
          <a:lstStyle/>
          <a:p>
            <a:r>
              <a:rPr lang="en-GB" dirty="0"/>
              <a:t>What happens when Beowulf and the dragon fight?</a:t>
            </a:r>
          </a:p>
        </p:txBody>
      </p:sp>
      <p:sp>
        <p:nvSpPr>
          <p:cNvPr id="4" name="Title 1">
            <a:extLst>
              <a:ext uri="{FF2B5EF4-FFF2-40B4-BE49-F238E27FC236}">
                <a16:creationId xmlns:a16="http://schemas.microsoft.com/office/drawing/2014/main" id="{1D790F6E-AD61-92EB-8B40-15CDBFBBEC8A}"/>
              </a:ext>
            </a:extLst>
          </p:cNvPr>
          <p:cNvSpPr txBox="1">
            <a:spLocks/>
          </p:cNvSpPr>
          <p:nvPr/>
        </p:nvSpPr>
        <p:spPr>
          <a:xfrm>
            <a:off x="838200" y="224890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 line 2602 onwards</a:t>
            </a:r>
          </a:p>
        </p:txBody>
      </p:sp>
      <p:sp>
        <p:nvSpPr>
          <p:cNvPr id="5" name="Content Placeholder 2">
            <a:extLst>
              <a:ext uri="{FF2B5EF4-FFF2-40B4-BE49-F238E27FC236}">
                <a16:creationId xmlns:a16="http://schemas.microsoft.com/office/drawing/2014/main" id="{798ED1B8-0C85-9738-F557-D85E161EDB3E}"/>
              </a:ext>
            </a:extLst>
          </p:cNvPr>
          <p:cNvSpPr txBox="1">
            <a:spLocks/>
          </p:cNvSpPr>
          <p:nvPr/>
        </p:nvSpPr>
        <p:spPr>
          <a:xfrm>
            <a:off x="838200" y="3394915"/>
            <a:ext cx="10515600" cy="84293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Who comes to help Beowulf?</a:t>
            </a:r>
          </a:p>
          <a:p>
            <a:r>
              <a:rPr lang="en-GB" dirty="0"/>
              <a:t>How are the next events told to us in the poem’s narrative?</a:t>
            </a:r>
          </a:p>
          <a:p>
            <a:endParaRPr lang="en-GB" dirty="0"/>
          </a:p>
        </p:txBody>
      </p:sp>
      <p:sp>
        <p:nvSpPr>
          <p:cNvPr id="7" name="Title 1">
            <a:extLst>
              <a:ext uri="{FF2B5EF4-FFF2-40B4-BE49-F238E27FC236}">
                <a16:creationId xmlns:a16="http://schemas.microsoft.com/office/drawing/2014/main" id="{F76AB2C1-6594-B2DE-87CE-E51AEF33A903}"/>
              </a:ext>
            </a:extLst>
          </p:cNvPr>
          <p:cNvSpPr txBox="1">
            <a:spLocks/>
          </p:cNvSpPr>
          <p:nvPr/>
        </p:nvSpPr>
        <p:spPr>
          <a:xfrm>
            <a:off x="838200" y="4638968"/>
            <a:ext cx="10515600" cy="9957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 line 2677 onwards</a:t>
            </a:r>
          </a:p>
        </p:txBody>
      </p:sp>
      <p:sp>
        <p:nvSpPr>
          <p:cNvPr id="8" name="Content Placeholder 2">
            <a:extLst>
              <a:ext uri="{FF2B5EF4-FFF2-40B4-BE49-F238E27FC236}">
                <a16:creationId xmlns:a16="http://schemas.microsoft.com/office/drawing/2014/main" id="{745B15B3-5D80-CEF0-217F-3EB6D8C3DDE8}"/>
              </a:ext>
            </a:extLst>
          </p:cNvPr>
          <p:cNvSpPr txBox="1">
            <a:spLocks/>
          </p:cNvSpPr>
          <p:nvPr/>
        </p:nvSpPr>
        <p:spPr>
          <a:xfrm>
            <a:off x="838200" y="5541397"/>
            <a:ext cx="10515600" cy="8429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How does the battle end?</a:t>
            </a:r>
          </a:p>
        </p:txBody>
      </p:sp>
    </p:spTree>
    <p:extLst>
      <p:ext uri="{BB962C8B-B14F-4D97-AF65-F5344CB8AC3E}">
        <p14:creationId xmlns:p14="http://schemas.microsoft.com/office/powerpoint/2010/main" val="379679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3C4DF9-BF5F-41BC-B885-9A49BA0C15DD}"/>
              </a:ext>
            </a:extLst>
          </p:cNvPr>
          <p:cNvSpPr>
            <a:spLocks noGrp="1"/>
          </p:cNvSpPr>
          <p:nvPr>
            <p:ph type="ctrTitle"/>
          </p:nvPr>
        </p:nvSpPr>
        <p:spPr/>
        <p:txBody>
          <a:bodyPr/>
          <a:lstStyle/>
          <a:p>
            <a:r>
              <a:rPr lang="en-GB" dirty="0">
                <a:solidFill>
                  <a:srgbClr val="002060"/>
                </a:solidFill>
              </a:rPr>
              <a:t>The Canterbury Tales</a:t>
            </a:r>
          </a:p>
        </p:txBody>
      </p:sp>
      <p:sp>
        <p:nvSpPr>
          <p:cNvPr id="5" name="Subtitle 4">
            <a:extLst>
              <a:ext uri="{FF2B5EF4-FFF2-40B4-BE49-F238E27FC236}">
                <a16:creationId xmlns:a16="http://schemas.microsoft.com/office/drawing/2014/main" id="{3B56F919-56BE-4E43-A7E1-4DA99F236F44}"/>
              </a:ext>
            </a:extLst>
          </p:cNvPr>
          <p:cNvSpPr>
            <a:spLocks noGrp="1"/>
          </p:cNvSpPr>
          <p:nvPr>
            <p:ph type="subTitle" idx="1"/>
          </p:nvPr>
        </p:nvSpPr>
        <p:spPr/>
        <p:txBody>
          <a:bodyPr/>
          <a:lstStyle/>
          <a:p>
            <a:r>
              <a:rPr lang="en-GB" sz="4000" dirty="0"/>
              <a:t>by Geoffrey Chaucer</a:t>
            </a:r>
          </a:p>
        </p:txBody>
      </p:sp>
    </p:spTree>
    <p:extLst>
      <p:ext uri="{BB962C8B-B14F-4D97-AF65-F5344CB8AC3E}">
        <p14:creationId xmlns:p14="http://schemas.microsoft.com/office/powerpoint/2010/main" val="3193626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56A79-4EE7-42BF-BA57-EA4301F71CA1}"/>
              </a:ext>
            </a:extLst>
          </p:cNvPr>
          <p:cNvSpPr>
            <a:spLocks noGrp="1"/>
          </p:cNvSpPr>
          <p:nvPr>
            <p:ph type="title"/>
          </p:nvPr>
        </p:nvSpPr>
        <p:spPr/>
        <p:txBody>
          <a:bodyPr/>
          <a:lstStyle/>
          <a:p>
            <a:pPr algn="ctr"/>
            <a:r>
              <a:rPr lang="en-GB" sz="4000" dirty="0">
                <a:solidFill>
                  <a:srgbClr val="002060"/>
                </a:solidFill>
              </a:rPr>
              <a:t>The Canterbury Tales</a:t>
            </a:r>
          </a:p>
        </p:txBody>
      </p:sp>
      <p:sp>
        <p:nvSpPr>
          <p:cNvPr id="3" name="Content Placeholder 2">
            <a:extLst>
              <a:ext uri="{FF2B5EF4-FFF2-40B4-BE49-F238E27FC236}">
                <a16:creationId xmlns:a16="http://schemas.microsoft.com/office/drawing/2014/main" id="{C46A411F-B873-453C-924F-277F7A9291CD}"/>
              </a:ext>
            </a:extLst>
          </p:cNvPr>
          <p:cNvSpPr>
            <a:spLocks noGrp="1"/>
          </p:cNvSpPr>
          <p:nvPr>
            <p:ph idx="1"/>
          </p:nvPr>
        </p:nvSpPr>
        <p:spPr>
          <a:xfrm>
            <a:off x="677863" y="2160588"/>
            <a:ext cx="9669786" cy="3881437"/>
          </a:xfrm>
        </p:spPr>
        <p:txBody>
          <a:bodyPr/>
          <a:lstStyle/>
          <a:p>
            <a:r>
              <a:rPr lang="en-GB" sz="2800" dirty="0"/>
              <a:t>Written about 1400 AD.</a:t>
            </a:r>
          </a:p>
          <a:p>
            <a:r>
              <a:rPr lang="en-GB" sz="2800" dirty="0"/>
              <a:t>24 tales. 17,000 lines.</a:t>
            </a:r>
          </a:p>
          <a:p>
            <a:r>
              <a:rPr lang="en-GB" sz="2800" dirty="0"/>
              <a:t>It is a work in Middle English about a group of pilgrims travelling to Canterbury Cathedral. They agree that on the journey each traveller will tell two tales, and whoever tells the best tale will get a free meal at an inn (Chaucer didn’t finish all the stories).</a:t>
            </a:r>
          </a:p>
          <a:p>
            <a:r>
              <a:rPr lang="en-GB" sz="2800" dirty="0"/>
              <a:t>They are going to the shrine of St Thomas Beckett.</a:t>
            </a:r>
          </a:p>
        </p:txBody>
      </p:sp>
    </p:spTree>
    <p:extLst>
      <p:ext uri="{BB962C8B-B14F-4D97-AF65-F5344CB8AC3E}">
        <p14:creationId xmlns:p14="http://schemas.microsoft.com/office/powerpoint/2010/main" val="3712763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BC5DA-5CD3-4A1D-BFFF-6AE76F7D52A3}"/>
              </a:ext>
            </a:extLst>
          </p:cNvPr>
          <p:cNvSpPr>
            <a:spLocks noGrp="1"/>
          </p:cNvSpPr>
          <p:nvPr>
            <p:ph type="title"/>
          </p:nvPr>
        </p:nvSpPr>
        <p:spPr/>
        <p:txBody>
          <a:bodyPr/>
          <a:lstStyle/>
          <a:p>
            <a:r>
              <a:rPr lang="en-GB" dirty="0"/>
              <a:t>Canterbury Cathedral</a:t>
            </a:r>
          </a:p>
        </p:txBody>
      </p:sp>
      <p:pic>
        <p:nvPicPr>
          <p:cNvPr id="5" name="Content Placeholder 4">
            <a:extLst>
              <a:ext uri="{FF2B5EF4-FFF2-40B4-BE49-F238E27FC236}">
                <a16:creationId xmlns:a16="http://schemas.microsoft.com/office/drawing/2014/main" id="{BB8D543C-FFA9-40B6-AD59-C3B400EDD7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721" y="2107083"/>
            <a:ext cx="5626279" cy="4324198"/>
          </a:xfrm>
        </p:spPr>
      </p:pic>
      <p:pic>
        <p:nvPicPr>
          <p:cNvPr id="7" name="Picture 6">
            <a:extLst>
              <a:ext uri="{FF2B5EF4-FFF2-40B4-BE49-F238E27FC236}">
                <a16:creationId xmlns:a16="http://schemas.microsoft.com/office/drawing/2014/main" id="{CDBBF5E3-75B0-4941-98D7-1BBD086FF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1331" y="678181"/>
            <a:ext cx="4286250" cy="5753100"/>
          </a:xfrm>
          <a:prstGeom prst="rect">
            <a:avLst/>
          </a:prstGeom>
        </p:spPr>
      </p:pic>
    </p:spTree>
    <p:extLst>
      <p:ext uri="{BB962C8B-B14F-4D97-AF65-F5344CB8AC3E}">
        <p14:creationId xmlns:p14="http://schemas.microsoft.com/office/powerpoint/2010/main" val="118002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968B3-FFDC-4D02-8623-64964B992623}"/>
              </a:ext>
            </a:extLst>
          </p:cNvPr>
          <p:cNvSpPr>
            <a:spLocks noGrp="1"/>
          </p:cNvSpPr>
          <p:nvPr>
            <p:ph type="title"/>
          </p:nvPr>
        </p:nvSpPr>
        <p:spPr/>
        <p:txBody>
          <a:bodyPr/>
          <a:lstStyle/>
          <a:p>
            <a:r>
              <a:rPr lang="en-GB" dirty="0">
                <a:solidFill>
                  <a:srgbClr val="002060"/>
                </a:solidFill>
              </a:rPr>
              <a:t>Thomas Beckett 1119 -1170</a:t>
            </a:r>
          </a:p>
        </p:txBody>
      </p:sp>
      <p:pic>
        <p:nvPicPr>
          <p:cNvPr id="5" name="Content Placeholder 4">
            <a:extLst>
              <a:ext uri="{FF2B5EF4-FFF2-40B4-BE49-F238E27FC236}">
                <a16:creationId xmlns:a16="http://schemas.microsoft.com/office/drawing/2014/main" id="{1F95F3D4-6FEB-48A1-B684-B662E983AB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5367" y="609600"/>
            <a:ext cx="3279630" cy="6082225"/>
          </a:xfrm>
        </p:spPr>
      </p:pic>
      <p:sp>
        <p:nvSpPr>
          <p:cNvPr id="6" name="TextBox 5">
            <a:extLst>
              <a:ext uri="{FF2B5EF4-FFF2-40B4-BE49-F238E27FC236}">
                <a16:creationId xmlns:a16="http://schemas.microsoft.com/office/drawing/2014/main" id="{0B52AC2F-7BF3-4F8A-9A5A-9F06F76BA7FC}"/>
              </a:ext>
            </a:extLst>
          </p:cNvPr>
          <p:cNvSpPr txBox="1"/>
          <p:nvPr/>
        </p:nvSpPr>
        <p:spPr>
          <a:xfrm>
            <a:off x="781877" y="1828800"/>
            <a:ext cx="5786873" cy="4493538"/>
          </a:xfrm>
          <a:prstGeom prst="rect">
            <a:avLst/>
          </a:prstGeom>
          <a:noFill/>
        </p:spPr>
        <p:txBody>
          <a:bodyPr wrap="square" rtlCol="0">
            <a:spAutoFit/>
          </a:bodyPr>
          <a:lstStyle/>
          <a:p>
            <a:r>
              <a:rPr lang="en-GB" sz="2600" dirty="0"/>
              <a:t>He was The Archbishop of Canterbury, the head Bishop of The Church of England.</a:t>
            </a:r>
          </a:p>
          <a:p>
            <a:endParaRPr lang="en-GB" sz="2600" dirty="0"/>
          </a:p>
          <a:p>
            <a:r>
              <a:rPr lang="en-GB" sz="2600" dirty="0"/>
              <a:t>He was murdered by followers of King Henry II in the cathedral. </a:t>
            </a:r>
          </a:p>
          <a:p>
            <a:endParaRPr lang="en-GB" sz="2600" dirty="0"/>
          </a:p>
          <a:p>
            <a:r>
              <a:rPr lang="en-GB" sz="2600" dirty="0"/>
              <a:t>Thomas Beckett was made a Saint by the Catholic church and buried in the cathedral. In the Middle Ages many went on pilgrimage to his shrine.</a:t>
            </a:r>
          </a:p>
        </p:txBody>
      </p:sp>
    </p:spTree>
    <p:extLst>
      <p:ext uri="{BB962C8B-B14F-4D97-AF65-F5344CB8AC3E}">
        <p14:creationId xmlns:p14="http://schemas.microsoft.com/office/powerpoint/2010/main" val="37545717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212C-48A5-4055-8642-01EBA1844B7A}"/>
              </a:ext>
            </a:extLst>
          </p:cNvPr>
          <p:cNvSpPr>
            <a:spLocks noGrp="1"/>
          </p:cNvSpPr>
          <p:nvPr>
            <p:ph type="title"/>
          </p:nvPr>
        </p:nvSpPr>
        <p:spPr>
          <a:xfrm>
            <a:off x="677862" y="609600"/>
            <a:ext cx="10472219" cy="1320800"/>
          </a:xfrm>
        </p:spPr>
        <p:txBody>
          <a:bodyPr/>
          <a:lstStyle/>
          <a:p>
            <a:r>
              <a:rPr lang="en-GB" sz="4000" dirty="0">
                <a:solidFill>
                  <a:srgbClr val="002060"/>
                </a:solidFill>
              </a:rPr>
              <a:t>The Knight’s Tale </a:t>
            </a:r>
            <a:r>
              <a:rPr lang="en-GB" sz="3200" dirty="0">
                <a:solidFill>
                  <a:srgbClr val="002060"/>
                </a:solidFill>
              </a:rPr>
              <a:t>(pages 32-96 of the translation)</a:t>
            </a:r>
            <a:endParaRPr lang="en-GB" sz="4000" dirty="0">
              <a:solidFill>
                <a:srgbClr val="002060"/>
              </a:solidFill>
            </a:endParaRPr>
          </a:p>
        </p:txBody>
      </p:sp>
      <p:sp>
        <p:nvSpPr>
          <p:cNvPr id="3" name="Content Placeholder 2">
            <a:extLst>
              <a:ext uri="{FF2B5EF4-FFF2-40B4-BE49-F238E27FC236}">
                <a16:creationId xmlns:a16="http://schemas.microsoft.com/office/drawing/2014/main" id="{8FF2B8E3-F406-4215-8BEB-913758FD52FC}"/>
              </a:ext>
            </a:extLst>
          </p:cNvPr>
          <p:cNvSpPr>
            <a:spLocks noGrp="1"/>
          </p:cNvSpPr>
          <p:nvPr>
            <p:ph idx="1"/>
          </p:nvPr>
        </p:nvSpPr>
        <p:spPr>
          <a:xfrm>
            <a:off x="502298" y="1688841"/>
            <a:ext cx="11187403" cy="4419600"/>
          </a:xfrm>
        </p:spPr>
        <p:txBody>
          <a:bodyPr/>
          <a:lstStyle/>
          <a:p>
            <a:r>
              <a:rPr lang="en-GB" sz="2200" dirty="0"/>
              <a:t>Two knights, brothers, called Palamon and </a:t>
            </a:r>
            <a:r>
              <a:rPr lang="en-GB" sz="2200" dirty="0" err="1"/>
              <a:t>Arcite</a:t>
            </a:r>
            <a:r>
              <a:rPr lang="en-GB" sz="2200" dirty="0"/>
              <a:t> are imprisoned in ancient Athens.</a:t>
            </a:r>
          </a:p>
          <a:p>
            <a:r>
              <a:rPr lang="en-GB" sz="2200" dirty="0"/>
              <a:t>They see a daughter of the conquered Amazons from the window, called Emelye and fall in love. They argue about who saw and loved her first.</a:t>
            </a:r>
          </a:p>
          <a:p>
            <a:r>
              <a:rPr lang="en-GB" sz="2200" dirty="0" err="1"/>
              <a:t>Arcite</a:t>
            </a:r>
            <a:r>
              <a:rPr lang="en-GB" sz="2200" dirty="0"/>
              <a:t> is released several years later and secretly works for Emelye. After seven years Palamon drugs the jailer and escapes.</a:t>
            </a:r>
          </a:p>
          <a:p>
            <a:r>
              <a:rPr lang="en-GB" sz="2200" dirty="0"/>
              <a:t>The </a:t>
            </a:r>
            <a:r>
              <a:rPr lang="en-GB" sz="2200"/>
              <a:t>two brothers fight </a:t>
            </a:r>
            <a:r>
              <a:rPr lang="en-GB" sz="2200" dirty="0"/>
              <a:t>for the princess, but the Athenian duke, Theseus, stops them and says they must have a tournament battle, with 100 soldiers on each side. Whoever wins gets to marry the princess.</a:t>
            </a:r>
          </a:p>
          <a:p>
            <a:r>
              <a:rPr lang="en-GB" sz="2200" dirty="0"/>
              <a:t>Palamon is wounded, but when </a:t>
            </a:r>
            <a:r>
              <a:rPr lang="en-GB" sz="2200" dirty="0" err="1"/>
              <a:t>Arcite</a:t>
            </a:r>
            <a:r>
              <a:rPr lang="en-GB" sz="2200" dirty="0"/>
              <a:t> thinks he’s won, Venus and Saturn send a ‘fury’ from hades to attack him. </a:t>
            </a:r>
            <a:r>
              <a:rPr lang="en-GB" sz="2200" dirty="0" err="1"/>
              <a:t>Arcite</a:t>
            </a:r>
            <a:r>
              <a:rPr lang="en-GB" sz="2200" dirty="0"/>
              <a:t> dies, but before he does, he tells the princess to marry his friend who loves her.</a:t>
            </a:r>
          </a:p>
          <a:p>
            <a:r>
              <a:rPr lang="en-GB" sz="2200" dirty="0"/>
              <a:t>Theseus gives </a:t>
            </a:r>
            <a:r>
              <a:rPr lang="en-GB" sz="2200" dirty="0" err="1"/>
              <a:t>Arcite</a:t>
            </a:r>
            <a:r>
              <a:rPr lang="en-GB" sz="2200" dirty="0"/>
              <a:t> a large funeral. Several years later Emelye marries Palamon. </a:t>
            </a:r>
          </a:p>
          <a:p>
            <a:endParaRPr lang="en-GB" dirty="0"/>
          </a:p>
        </p:txBody>
      </p:sp>
    </p:spTree>
    <p:extLst>
      <p:ext uri="{BB962C8B-B14F-4D97-AF65-F5344CB8AC3E}">
        <p14:creationId xmlns:p14="http://schemas.microsoft.com/office/powerpoint/2010/main" val="398824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27663-8EFA-4818-B65C-C689BA28BD3E}"/>
              </a:ext>
            </a:extLst>
          </p:cNvPr>
          <p:cNvSpPr>
            <a:spLocks noGrp="1"/>
          </p:cNvSpPr>
          <p:nvPr>
            <p:ph idx="1"/>
          </p:nvPr>
        </p:nvSpPr>
        <p:spPr>
          <a:xfrm>
            <a:off x="838200" y="345937"/>
            <a:ext cx="10515600" cy="6492875"/>
          </a:xfrm>
        </p:spPr>
        <p:txBody>
          <a:bodyPr>
            <a:normAutofit/>
          </a:bodyPr>
          <a:lstStyle/>
          <a:p>
            <a:r>
              <a:rPr lang="en-US" i="1" dirty="0"/>
              <a:t>Here </a:t>
            </a:r>
            <a:r>
              <a:rPr lang="en-US" i="1" dirty="0" err="1"/>
              <a:t>bygynneth</a:t>
            </a:r>
            <a:r>
              <a:rPr lang="en-US" i="1" dirty="0"/>
              <a:t> the Book of the Tales of </a:t>
            </a:r>
            <a:r>
              <a:rPr lang="en-US" i="1" dirty="0" err="1"/>
              <a:t>Caunterbury</a:t>
            </a:r>
            <a:r>
              <a:rPr lang="en-US" i="1" dirty="0"/>
              <a:t>.</a:t>
            </a:r>
            <a:endParaRPr lang="en-GB" dirty="0"/>
          </a:p>
          <a:p>
            <a:pPr marL="0" indent="0">
              <a:buNone/>
            </a:pPr>
            <a:r>
              <a:rPr lang="en-GB" sz="800" dirty="0"/>
              <a:t> </a:t>
            </a:r>
          </a:p>
          <a:p>
            <a:pPr marL="0" indent="0">
              <a:buNone/>
            </a:pPr>
            <a:r>
              <a:rPr lang="en-GB" dirty="0"/>
              <a:t>1         </a:t>
            </a:r>
            <a:r>
              <a:rPr lang="en-GB" b="1" dirty="0" err="1"/>
              <a:t>Whan</a:t>
            </a:r>
            <a:r>
              <a:rPr lang="en-GB" b="1" dirty="0"/>
              <a:t> that </a:t>
            </a:r>
            <a:r>
              <a:rPr lang="en-GB" b="1" dirty="0" err="1"/>
              <a:t>Aprill</a:t>
            </a:r>
            <a:r>
              <a:rPr lang="en-GB" b="1" dirty="0"/>
              <a:t> with his </a:t>
            </a:r>
            <a:r>
              <a:rPr lang="en-GB" b="1" dirty="0" err="1"/>
              <a:t>shoures</a:t>
            </a:r>
            <a:r>
              <a:rPr lang="en-GB" b="1" dirty="0"/>
              <a:t> </a:t>
            </a:r>
            <a:r>
              <a:rPr lang="en-GB" b="1" dirty="0" err="1"/>
              <a:t>soote</a:t>
            </a:r>
            <a:br>
              <a:rPr lang="en-GB" dirty="0"/>
            </a:br>
            <a:r>
              <a:rPr lang="en-GB" dirty="0"/>
              <a:t>                  When April with its sweet-smelling showers</a:t>
            </a:r>
            <a:br>
              <a:rPr lang="en-GB" dirty="0"/>
            </a:br>
            <a:r>
              <a:rPr lang="en-GB" dirty="0"/>
              <a:t>2         </a:t>
            </a:r>
            <a:r>
              <a:rPr lang="en-GB" b="1" dirty="0"/>
              <a:t>The </a:t>
            </a:r>
            <a:r>
              <a:rPr lang="en-GB" b="1" dirty="0" err="1"/>
              <a:t>droghte</a:t>
            </a:r>
            <a:r>
              <a:rPr lang="en-GB" b="1" dirty="0"/>
              <a:t> of March hath </a:t>
            </a:r>
            <a:r>
              <a:rPr lang="en-GB" b="1" dirty="0" err="1"/>
              <a:t>perced</a:t>
            </a:r>
            <a:r>
              <a:rPr lang="en-GB" b="1" dirty="0"/>
              <a:t> to the </a:t>
            </a:r>
            <a:r>
              <a:rPr lang="en-GB" b="1" dirty="0" err="1"/>
              <a:t>roote</a:t>
            </a:r>
            <a:r>
              <a:rPr lang="en-GB" b="1" dirty="0"/>
              <a:t>,</a:t>
            </a:r>
            <a:br>
              <a:rPr lang="en-GB" dirty="0"/>
            </a:br>
            <a:r>
              <a:rPr lang="en-GB" dirty="0"/>
              <a:t>                 Has pierced the drought of March to the root,</a:t>
            </a:r>
            <a:br>
              <a:rPr lang="en-GB" dirty="0"/>
            </a:br>
            <a:r>
              <a:rPr lang="en-GB" dirty="0"/>
              <a:t>3         </a:t>
            </a:r>
            <a:r>
              <a:rPr lang="en-GB" b="1" dirty="0"/>
              <a:t>And bathed every </a:t>
            </a:r>
            <a:r>
              <a:rPr lang="en-GB" b="1" dirty="0" err="1"/>
              <a:t>veyne</a:t>
            </a:r>
            <a:r>
              <a:rPr lang="en-GB" b="1" dirty="0"/>
              <a:t> in </a:t>
            </a:r>
            <a:r>
              <a:rPr lang="en-GB" b="1" dirty="0" err="1"/>
              <a:t>swich</a:t>
            </a:r>
            <a:r>
              <a:rPr lang="en-GB" b="1" dirty="0"/>
              <a:t> </a:t>
            </a:r>
            <a:r>
              <a:rPr lang="en-GB" b="1" dirty="0" err="1"/>
              <a:t>licour</a:t>
            </a:r>
            <a:br>
              <a:rPr lang="en-GB" dirty="0"/>
            </a:br>
            <a:r>
              <a:rPr lang="en-GB" dirty="0"/>
              <a:t>                 And bathed every vein (of the plants) in such liquid</a:t>
            </a:r>
            <a:br>
              <a:rPr lang="en-GB" dirty="0"/>
            </a:br>
            <a:r>
              <a:rPr lang="en-GB" dirty="0"/>
              <a:t>4         </a:t>
            </a:r>
            <a:r>
              <a:rPr lang="en-GB" b="1" dirty="0"/>
              <a:t>Of which </a:t>
            </a:r>
            <a:r>
              <a:rPr lang="en-GB" b="1" dirty="0" err="1"/>
              <a:t>vertu</a:t>
            </a:r>
            <a:r>
              <a:rPr lang="en-GB" b="1" dirty="0"/>
              <a:t> </a:t>
            </a:r>
            <a:r>
              <a:rPr lang="en-GB" b="1" dirty="0" err="1"/>
              <a:t>engendred</a:t>
            </a:r>
            <a:r>
              <a:rPr lang="en-GB" b="1" dirty="0"/>
              <a:t> is the flour;</a:t>
            </a:r>
            <a:br>
              <a:rPr lang="en-GB" dirty="0"/>
            </a:br>
            <a:r>
              <a:rPr lang="en-GB" dirty="0"/>
              <a:t>                 By which power the flower is created;</a:t>
            </a:r>
            <a:br>
              <a:rPr lang="en-GB" dirty="0"/>
            </a:br>
            <a:r>
              <a:rPr lang="en-GB" dirty="0"/>
              <a:t>5         </a:t>
            </a:r>
            <a:r>
              <a:rPr lang="en-GB" b="1" dirty="0" err="1"/>
              <a:t>Whan</a:t>
            </a:r>
            <a:r>
              <a:rPr lang="en-GB" b="1" dirty="0"/>
              <a:t> </a:t>
            </a:r>
            <a:r>
              <a:rPr lang="en-GB" b="1" dirty="0" err="1"/>
              <a:t>Zephirus</a:t>
            </a:r>
            <a:r>
              <a:rPr lang="en-GB" b="1" dirty="0"/>
              <a:t> eek with his </a:t>
            </a:r>
            <a:r>
              <a:rPr lang="en-GB" b="1" dirty="0" err="1"/>
              <a:t>sweete</a:t>
            </a:r>
            <a:r>
              <a:rPr lang="en-GB" b="1" dirty="0"/>
              <a:t> </a:t>
            </a:r>
            <a:r>
              <a:rPr lang="en-GB" b="1" dirty="0" err="1"/>
              <a:t>breeth</a:t>
            </a:r>
            <a:br>
              <a:rPr lang="en-GB" dirty="0"/>
            </a:br>
            <a:r>
              <a:rPr lang="en-GB" dirty="0"/>
              <a:t>                 When the West Wind also with its sweet breath,</a:t>
            </a:r>
            <a:br>
              <a:rPr lang="en-GB" dirty="0"/>
            </a:br>
            <a:r>
              <a:rPr lang="en-GB" dirty="0"/>
              <a:t>6         </a:t>
            </a:r>
            <a:r>
              <a:rPr lang="en-GB" b="1" dirty="0"/>
              <a:t>Inspired hath in every holt and </a:t>
            </a:r>
            <a:r>
              <a:rPr lang="en-GB" b="1" dirty="0" err="1"/>
              <a:t>heeth</a:t>
            </a:r>
            <a:br>
              <a:rPr lang="en-GB" dirty="0"/>
            </a:br>
            <a:r>
              <a:rPr lang="en-GB" dirty="0"/>
              <a:t>                 In every wood and field has breathed life into </a:t>
            </a:r>
            <a:br>
              <a:rPr lang="en-GB" dirty="0"/>
            </a:br>
            <a:r>
              <a:rPr lang="en-GB" dirty="0"/>
              <a:t>7         </a:t>
            </a:r>
            <a:r>
              <a:rPr lang="en-GB" b="1" dirty="0"/>
              <a:t>The </a:t>
            </a:r>
            <a:r>
              <a:rPr lang="en-GB" b="1" dirty="0" err="1"/>
              <a:t>tendre</a:t>
            </a:r>
            <a:r>
              <a:rPr lang="en-GB" b="1" dirty="0"/>
              <a:t> </a:t>
            </a:r>
            <a:r>
              <a:rPr lang="en-GB" b="1" dirty="0" err="1"/>
              <a:t>croppes</a:t>
            </a:r>
            <a:r>
              <a:rPr lang="en-GB" b="1" dirty="0"/>
              <a:t>, and the </a:t>
            </a:r>
            <a:r>
              <a:rPr lang="en-GB" b="1" dirty="0" err="1"/>
              <a:t>yonge</a:t>
            </a:r>
            <a:r>
              <a:rPr lang="en-GB" b="1" dirty="0"/>
              <a:t> </a:t>
            </a:r>
            <a:r>
              <a:rPr lang="en-GB" b="1" dirty="0" err="1"/>
              <a:t>sonne</a:t>
            </a:r>
            <a:br>
              <a:rPr lang="en-GB" dirty="0"/>
            </a:br>
            <a:r>
              <a:rPr lang="en-GB" dirty="0"/>
              <a:t>                 The tender new leaves, and the young sun</a:t>
            </a:r>
          </a:p>
        </p:txBody>
      </p:sp>
      <p:sp>
        <p:nvSpPr>
          <p:cNvPr id="4" name="TextBox 3">
            <a:extLst>
              <a:ext uri="{FF2B5EF4-FFF2-40B4-BE49-F238E27FC236}">
                <a16:creationId xmlns:a16="http://schemas.microsoft.com/office/drawing/2014/main" id="{4F0248EE-6686-3682-EB85-038D2C0177F6}"/>
              </a:ext>
            </a:extLst>
          </p:cNvPr>
          <p:cNvSpPr txBox="1"/>
          <p:nvPr/>
        </p:nvSpPr>
        <p:spPr>
          <a:xfrm>
            <a:off x="9442578" y="606490"/>
            <a:ext cx="2537927" cy="1938992"/>
          </a:xfrm>
          <a:prstGeom prst="rect">
            <a:avLst/>
          </a:prstGeom>
          <a:noFill/>
        </p:spPr>
        <p:txBody>
          <a:bodyPr wrap="square" rtlCol="0">
            <a:spAutoFit/>
          </a:bodyPr>
          <a:lstStyle/>
          <a:p>
            <a:r>
              <a:rPr lang="en-GB" sz="2400" dirty="0">
                <a:solidFill>
                  <a:srgbClr val="0070C0"/>
                </a:solidFill>
              </a:rPr>
              <a:t>Iambic Pentameter = ten syllables; </a:t>
            </a:r>
          </a:p>
          <a:p>
            <a:r>
              <a:rPr lang="en-GB" sz="2400" dirty="0">
                <a:solidFill>
                  <a:srgbClr val="0070C0"/>
                </a:solidFill>
              </a:rPr>
              <a:t>unstress-stress x 5</a:t>
            </a:r>
          </a:p>
          <a:p>
            <a:endParaRPr lang="en-GB" sz="2400" dirty="0">
              <a:solidFill>
                <a:srgbClr val="0070C0"/>
              </a:solidFill>
            </a:endParaRPr>
          </a:p>
          <a:p>
            <a:r>
              <a:rPr lang="en-GB" sz="2400" dirty="0">
                <a:solidFill>
                  <a:srgbClr val="0070C0"/>
                </a:solidFill>
              </a:rPr>
              <a:t>Rhyming couplets</a:t>
            </a:r>
          </a:p>
        </p:txBody>
      </p:sp>
    </p:spTree>
    <p:extLst>
      <p:ext uri="{BB962C8B-B14F-4D97-AF65-F5344CB8AC3E}">
        <p14:creationId xmlns:p14="http://schemas.microsoft.com/office/powerpoint/2010/main" val="311560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CF289-47B8-4DC6-BDB8-6BE3D82456AD}"/>
              </a:ext>
            </a:extLst>
          </p:cNvPr>
          <p:cNvSpPr>
            <a:spLocks noGrp="1"/>
          </p:cNvSpPr>
          <p:nvPr>
            <p:ph idx="1"/>
          </p:nvPr>
        </p:nvSpPr>
        <p:spPr>
          <a:xfrm>
            <a:off x="838200" y="365124"/>
            <a:ext cx="10515600" cy="6632023"/>
          </a:xfrm>
        </p:spPr>
        <p:txBody>
          <a:bodyPr>
            <a:normAutofit lnSpcReduction="10000"/>
          </a:bodyPr>
          <a:lstStyle/>
          <a:p>
            <a:pPr marL="0" indent="0">
              <a:buNone/>
            </a:pPr>
            <a:r>
              <a:rPr lang="en-GB" dirty="0"/>
              <a:t>8         </a:t>
            </a:r>
            <a:r>
              <a:rPr lang="en-GB" b="1" dirty="0"/>
              <a:t>Hath in the Ram his half </a:t>
            </a:r>
            <a:r>
              <a:rPr lang="en-GB" b="1" dirty="0" err="1"/>
              <a:t>cours</a:t>
            </a:r>
            <a:r>
              <a:rPr lang="en-GB" b="1" dirty="0"/>
              <a:t> </a:t>
            </a:r>
            <a:r>
              <a:rPr lang="en-GB" b="1" dirty="0" err="1"/>
              <a:t>yronne</a:t>
            </a:r>
            <a:r>
              <a:rPr lang="en-GB" b="1" dirty="0"/>
              <a:t>,</a:t>
            </a:r>
            <a:br>
              <a:rPr lang="en-GB" dirty="0"/>
            </a:br>
            <a:r>
              <a:rPr lang="en-GB" dirty="0"/>
              <a:t>                 Has run half its course in Aries,</a:t>
            </a:r>
            <a:br>
              <a:rPr lang="en-GB" dirty="0"/>
            </a:br>
            <a:r>
              <a:rPr lang="en-GB" dirty="0"/>
              <a:t>9         </a:t>
            </a:r>
            <a:r>
              <a:rPr lang="en-GB" b="1" dirty="0"/>
              <a:t>And </a:t>
            </a:r>
            <a:r>
              <a:rPr lang="en-GB" b="1" dirty="0" err="1"/>
              <a:t>smale</a:t>
            </a:r>
            <a:r>
              <a:rPr lang="en-GB" b="1" dirty="0"/>
              <a:t> </a:t>
            </a:r>
            <a:r>
              <a:rPr lang="en-GB" b="1" dirty="0" err="1"/>
              <a:t>foweles</a:t>
            </a:r>
            <a:r>
              <a:rPr lang="en-GB" b="1" dirty="0"/>
              <a:t> </a:t>
            </a:r>
            <a:r>
              <a:rPr lang="en-GB" b="1" dirty="0" err="1"/>
              <a:t>maken</a:t>
            </a:r>
            <a:r>
              <a:rPr lang="en-GB" b="1" dirty="0"/>
              <a:t> </a:t>
            </a:r>
            <a:r>
              <a:rPr lang="en-GB" b="1" dirty="0" err="1"/>
              <a:t>melodye</a:t>
            </a:r>
            <a:r>
              <a:rPr lang="en-GB" b="1" dirty="0"/>
              <a:t>,</a:t>
            </a:r>
            <a:br>
              <a:rPr lang="en-GB" dirty="0"/>
            </a:br>
            <a:r>
              <a:rPr lang="en-GB" dirty="0"/>
              <a:t>                 And small fowls make melody,</a:t>
            </a:r>
            <a:br>
              <a:rPr lang="en-GB" dirty="0"/>
            </a:br>
            <a:r>
              <a:rPr lang="en-GB" dirty="0"/>
              <a:t>10         </a:t>
            </a:r>
            <a:r>
              <a:rPr lang="en-GB" b="1" dirty="0"/>
              <a:t>That </a:t>
            </a:r>
            <a:r>
              <a:rPr lang="en-GB" b="1" dirty="0" err="1"/>
              <a:t>slepen</a:t>
            </a:r>
            <a:r>
              <a:rPr lang="en-GB" b="1" dirty="0"/>
              <a:t> al the </a:t>
            </a:r>
            <a:r>
              <a:rPr lang="en-GB" b="1" dirty="0" err="1"/>
              <a:t>nyght</a:t>
            </a:r>
            <a:r>
              <a:rPr lang="en-GB" b="1" dirty="0"/>
              <a:t> with open ye</a:t>
            </a:r>
            <a:br>
              <a:rPr lang="en-GB" dirty="0"/>
            </a:br>
            <a:r>
              <a:rPr lang="en-GB" dirty="0"/>
              <a:t>                 Those that sleep all the night with open eyes</a:t>
            </a:r>
            <a:br>
              <a:rPr lang="en-GB" dirty="0"/>
            </a:br>
            <a:r>
              <a:rPr lang="en-GB" dirty="0"/>
              <a:t>11         </a:t>
            </a:r>
            <a:r>
              <a:rPr lang="en-GB" b="1" dirty="0"/>
              <a:t>(So </a:t>
            </a:r>
            <a:r>
              <a:rPr lang="en-GB" b="1" dirty="0" err="1"/>
              <a:t>priketh</a:t>
            </a:r>
            <a:r>
              <a:rPr lang="en-GB" b="1" dirty="0"/>
              <a:t> hem Nature in </a:t>
            </a:r>
            <a:r>
              <a:rPr lang="en-GB" b="1" dirty="0" err="1"/>
              <a:t>hir</a:t>
            </a:r>
            <a:r>
              <a:rPr lang="en-GB" b="1" dirty="0"/>
              <a:t> </a:t>
            </a:r>
            <a:r>
              <a:rPr lang="en-GB" b="1" dirty="0" err="1"/>
              <a:t>corages</a:t>
            </a:r>
            <a:r>
              <a:rPr lang="en-GB" b="1" dirty="0"/>
              <a:t>),</a:t>
            </a:r>
            <a:br>
              <a:rPr lang="en-GB" dirty="0"/>
            </a:br>
            <a:r>
              <a:rPr lang="en-GB" dirty="0"/>
              <a:t>                 (So Nature incites them in their hearts),</a:t>
            </a:r>
            <a:br>
              <a:rPr lang="en-GB" dirty="0"/>
            </a:br>
            <a:r>
              <a:rPr lang="en-GB" dirty="0"/>
              <a:t>12         </a:t>
            </a:r>
            <a:r>
              <a:rPr lang="en-GB" b="1" dirty="0" err="1"/>
              <a:t>Thanne</a:t>
            </a:r>
            <a:r>
              <a:rPr lang="en-GB" b="1" dirty="0"/>
              <a:t> </a:t>
            </a:r>
            <a:r>
              <a:rPr lang="en-GB" b="1" dirty="0" err="1"/>
              <a:t>longen</a:t>
            </a:r>
            <a:r>
              <a:rPr lang="en-GB" b="1" dirty="0"/>
              <a:t> folk to goon on pilgrimages,</a:t>
            </a:r>
            <a:br>
              <a:rPr lang="en-GB" dirty="0"/>
            </a:br>
            <a:r>
              <a:rPr lang="en-GB" dirty="0"/>
              <a:t>                 Then folk long to go on pilgrimages,</a:t>
            </a:r>
            <a:br>
              <a:rPr lang="en-GB" dirty="0"/>
            </a:br>
            <a:r>
              <a:rPr lang="en-GB" dirty="0"/>
              <a:t>13         </a:t>
            </a:r>
            <a:r>
              <a:rPr lang="en-GB" b="1" dirty="0"/>
              <a:t>And </a:t>
            </a:r>
            <a:r>
              <a:rPr lang="en-GB" b="1" dirty="0" err="1"/>
              <a:t>palmeres</a:t>
            </a:r>
            <a:r>
              <a:rPr lang="en-GB" b="1" dirty="0"/>
              <a:t> for to </a:t>
            </a:r>
            <a:r>
              <a:rPr lang="en-GB" b="1" dirty="0" err="1"/>
              <a:t>seken</a:t>
            </a:r>
            <a:r>
              <a:rPr lang="en-GB" b="1" dirty="0"/>
              <a:t> </a:t>
            </a:r>
            <a:r>
              <a:rPr lang="en-GB" b="1" dirty="0" err="1"/>
              <a:t>straunge</a:t>
            </a:r>
            <a:r>
              <a:rPr lang="en-GB" b="1" dirty="0"/>
              <a:t> </a:t>
            </a:r>
            <a:r>
              <a:rPr lang="en-GB" b="1" dirty="0" err="1"/>
              <a:t>strondes</a:t>
            </a:r>
            <a:r>
              <a:rPr lang="en-GB" b="1" dirty="0"/>
              <a:t>,</a:t>
            </a:r>
            <a:br>
              <a:rPr lang="en-GB" dirty="0"/>
            </a:br>
            <a:r>
              <a:rPr lang="en-GB" dirty="0"/>
              <a:t>                 And professional pilgrims to seek foreign shores,</a:t>
            </a:r>
            <a:br>
              <a:rPr lang="en-GB" dirty="0"/>
            </a:br>
            <a:r>
              <a:rPr lang="en-GB" dirty="0"/>
              <a:t>14         </a:t>
            </a:r>
            <a:r>
              <a:rPr lang="en-GB" b="1" dirty="0"/>
              <a:t>To </a:t>
            </a:r>
            <a:r>
              <a:rPr lang="en-GB" b="1" dirty="0" err="1"/>
              <a:t>ferne</a:t>
            </a:r>
            <a:r>
              <a:rPr lang="en-GB" b="1" dirty="0"/>
              <a:t> </a:t>
            </a:r>
            <a:r>
              <a:rPr lang="en-GB" b="1" dirty="0" err="1"/>
              <a:t>halwes</a:t>
            </a:r>
            <a:r>
              <a:rPr lang="en-GB" b="1" dirty="0"/>
              <a:t>, </a:t>
            </a:r>
            <a:r>
              <a:rPr lang="en-GB" b="1" dirty="0" err="1"/>
              <a:t>kowthe</a:t>
            </a:r>
            <a:r>
              <a:rPr lang="en-GB" b="1" dirty="0"/>
              <a:t> in </a:t>
            </a:r>
            <a:r>
              <a:rPr lang="en-GB" b="1" dirty="0" err="1"/>
              <a:t>sondry</a:t>
            </a:r>
            <a:r>
              <a:rPr lang="en-GB" b="1" dirty="0"/>
              <a:t> </a:t>
            </a:r>
            <a:r>
              <a:rPr lang="en-GB" b="1" dirty="0" err="1"/>
              <a:t>londes</a:t>
            </a:r>
            <a:r>
              <a:rPr lang="en-GB" b="1" dirty="0"/>
              <a:t>;</a:t>
            </a:r>
            <a:br>
              <a:rPr lang="en-GB" dirty="0"/>
            </a:br>
            <a:r>
              <a:rPr lang="en-GB" dirty="0"/>
              <a:t>                 To distant shrines, known in various lands;</a:t>
            </a:r>
            <a:br>
              <a:rPr lang="en-GB" dirty="0"/>
            </a:br>
            <a:r>
              <a:rPr lang="en-GB" dirty="0"/>
              <a:t>15         </a:t>
            </a:r>
            <a:r>
              <a:rPr lang="en-GB" b="1" dirty="0"/>
              <a:t>And specially from every shires </a:t>
            </a:r>
            <a:r>
              <a:rPr lang="en-GB" b="1" dirty="0" err="1"/>
              <a:t>ende</a:t>
            </a:r>
            <a:br>
              <a:rPr lang="en-GB" dirty="0"/>
            </a:br>
            <a:r>
              <a:rPr lang="en-GB" dirty="0"/>
              <a:t>                 And specially from every shire's end</a:t>
            </a:r>
            <a:br>
              <a:rPr lang="en-GB" dirty="0"/>
            </a:br>
            <a:r>
              <a:rPr lang="en-GB" dirty="0"/>
              <a:t>16         </a:t>
            </a:r>
            <a:r>
              <a:rPr lang="en-GB" b="1" dirty="0"/>
              <a:t>Of </a:t>
            </a:r>
            <a:r>
              <a:rPr lang="en-GB" b="1" dirty="0" err="1"/>
              <a:t>Engelond</a:t>
            </a:r>
            <a:r>
              <a:rPr lang="en-GB" b="1" dirty="0"/>
              <a:t> to </a:t>
            </a:r>
            <a:r>
              <a:rPr lang="en-GB" b="1" dirty="0" err="1"/>
              <a:t>Caunterbury</a:t>
            </a:r>
            <a:r>
              <a:rPr lang="en-GB" b="1" dirty="0"/>
              <a:t> they </a:t>
            </a:r>
            <a:r>
              <a:rPr lang="en-GB" b="1" dirty="0" err="1"/>
              <a:t>wende</a:t>
            </a:r>
            <a:r>
              <a:rPr lang="en-GB" b="1" dirty="0"/>
              <a:t>,</a:t>
            </a:r>
            <a:br>
              <a:rPr lang="en-GB" dirty="0"/>
            </a:br>
            <a:r>
              <a:rPr lang="en-GB" dirty="0"/>
              <a:t>                 Of England to Canterbury they travel,</a:t>
            </a:r>
          </a:p>
        </p:txBody>
      </p:sp>
    </p:spTree>
    <p:extLst>
      <p:ext uri="{BB962C8B-B14F-4D97-AF65-F5344CB8AC3E}">
        <p14:creationId xmlns:p14="http://schemas.microsoft.com/office/powerpoint/2010/main" val="77968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953CF-4B30-E0F9-BB11-B97387E43030}"/>
              </a:ext>
            </a:extLst>
          </p:cNvPr>
          <p:cNvSpPr>
            <a:spLocks noGrp="1"/>
          </p:cNvSpPr>
          <p:nvPr>
            <p:ph type="title"/>
          </p:nvPr>
        </p:nvSpPr>
        <p:spPr/>
        <p:txBody>
          <a:bodyPr/>
          <a:lstStyle/>
          <a:p>
            <a:r>
              <a:rPr lang="en-GB" sz="4000" i="1" dirty="0">
                <a:solidFill>
                  <a:srgbClr val="002060"/>
                </a:solidFill>
              </a:rPr>
              <a:t>The Canterbury Tales</a:t>
            </a:r>
          </a:p>
        </p:txBody>
      </p:sp>
      <p:sp>
        <p:nvSpPr>
          <p:cNvPr id="3" name="Content Placeholder 2">
            <a:extLst>
              <a:ext uri="{FF2B5EF4-FFF2-40B4-BE49-F238E27FC236}">
                <a16:creationId xmlns:a16="http://schemas.microsoft.com/office/drawing/2014/main" id="{D57B84DA-F170-26F8-C0F1-50F508E8B36D}"/>
              </a:ext>
            </a:extLst>
          </p:cNvPr>
          <p:cNvSpPr>
            <a:spLocks noGrp="1"/>
          </p:cNvSpPr>
          <p:nvPr>
            <p:ph idx="1"/>
          </p:nvPr>
        </p:nvSpPr>
        <p:spPr>
          <a:xfrm>
            <a:off x="677863" y="2011299"/>
            <a:ext cx="8596312" cy="3881437"/>
          </a:xfrm>
        </p:spPr>
        <p:txBody>
          <a:bodyPr/>
          <a:lstStyle/>
          <a:p>
            <a:r>
              <a:rPr lang="en-GB" sz="2600" dirty="0"/>
              <a:t>The final tale is ‘The Parson’s Tale’, a sermon about penance and confession for our sins.</a:t>
            </a:r>
          </a:p>
          <a:p>
            <a:endParaRPr lang="en-GB" sz="2600" dirty="0"/>
          </a:p>
          <a:p>
            <a:r>
              <a:rPr lang="en-GB" sz="2600" b="0" i="1" dirty="0">
                <a:solidFill>
                  <a:srgbClr val="1E1E1E"/>
                </a:solidFill>
                <a:effectLst/>
              </a:rPr>
              <a:t>“…The root of this tree is Contrition, that hides himself in the heart of him that is true repentant, just as the root of a tree hides itself in the earth. Of the root of Contrition springs a stalk that bears branches and leaves of Confession, and fruit of Satisfaction.”</a:t>
            </a:r>
          </a:p>
          <a:p>
            <a:endParaRPr lang="en-GB" dirty="0"/>
          </a:p>
        </p:txBody>
      </p:sp>
    </p:spTree>
    <p:extLst>
      <p:ext uri="{BB962C8B-B14F-4D97-AF65-F5344CB8AC3E}">
        <p14:creationId xmlns:p14="http://schemas.microsoft.com/office/powerpoint/2010/main" val="238154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953CF-4B30-E0F9-BB11-B97387E43030}"/>
              </a:ext>
            </a:extLst>
          </p:cNvPr>
          <p:cNvSpPr>
            <a:spLocks noGrp="1"/>
          </p:cNvSpPr>
          <p:nvPr>
            <p:ph type="title"/>
          </p:nvPr>
        </p:nvSpPr>
        <p:spPr/>
        <p:txBody>
          <a:bodyPr/>
          <a:lstStyle/>
          <a:p>
            <a:r>
              <a:rPr lang="en-GB" sz="4000" i="1" dirty="0">
                <a:solidFill>
                  <a:srgbClr val="002060"/>
                </a:solidFill>
              </a:rPr>
              <a:t>The Canterbury Tales</a:t>
            </a:r>
          </a:p>
        </p:txBody>
      </p:sp>
      <p:sp>
        <p:nvSpPr>
          <p:cNvPr id="3" name="Content Placeholder 2">
            <a:extLst>
              <a:ext uri="{FF2B5EF4-FFF2-40B4-BE49-F238E27FC236}">
                <a16:creationId xmlns:a16="http://schemas.microsoft.com/office/drawing/2014/main" id="{D57B84DA-F170-26F8-C0F1-50F508E8B36D}"/>
              </a:ext>
            </a:extLst>
          </p:cNvPr>
          <p:cNvSpPr>
            <a:spLocks noGrp="1"/>
          </p:cNvSpPr>
          <p:nvPr>
            <p:ph idx="1"/>
          </p:nvPr>
        </p:nvSpPr>
        <p:spPr>
          <a:xfrm>
            <a:off x="677863" y="1759373"/>
            <a:ext cx="10434896" cy="3881437"/>
          </a:xfrm>
        </p:spPr>
        <p:txBody>
          <a:bodyPr/>
          <a:lstStyle/>
          <a:p>
            <a:r>
              <a:rPr lang="en-GB" sz="2600" dirty="0"/>
              <a:t>Following ‘The Parson’s Tale’, </a:t>
            </a:r>
            <a:r>
              <a:rPr lang="en-GB" sz="2600" i="1" dirty="0"/>
              <a:t>The Canterbury Tales </a:t>
            </a:r>
            <a:r>
              <a:rPr lang="en-GB" sz="2600" dirty="0"/>
              <a:t>concludes with a Retraction from Chaucer.</a:t>
            </a:r>
          </a:p>
          <a:p>
            <a:pPr marL="0" indent="0">
              <a:buNone/>
            </a:pPr>
            <a:endParaRPr lang="en-GB" sz="1200" dirty="0"/>
          </a:p>
          <a:p>
            <a:pPr marL="0" indent="0">
              <a:buNone/>
            </a:pPr>
            <a:r>
              <a:rPr lang="en-GB" sz="2600" i="1" dirty="0"/>
              <a:t>	“…</a:t>
            </a:r>
            <a:r>
              <a:rPr lang="en-GB" sz="2600" b="0" i="1" dirty="0">
                <a:solidFill>
                  <a:srgbClr val="1E1E1E"/>
                </a:solidFill>
                <a:effectLst/>
              </a:rPr>
              <a:t>Wherefore I beseech you meekly, for the mercy of God, that 	you pray for me that Christ have mercy on me and forgive me 	my sins; [1085] and namely of my translations and compositions 	of worldly vanities.” </a:t>
            </a:r>
            <a:r>
              <a:rPr lang="en-GB" sz="2600" b="0" dirty="0">
                <a:solidFill>
                  <a:srgbClr val="1E1E1E"/>
                </a:solidFill>
                <a:effectLst/>
              </a:rPr>
              <a:t>He then lists the other works he has written 	that were also in vain, and those that were good.</a:t>
            </a:r>
          </a:p>
          <a:p>
            <a:endParaRPr lang="en-GB" sz="1200" dirty="0">
              <a:solidFill>
                <a:srgbClr val="1E1E1E"/>
              </a:solidFill>
            </a:endParaRPr>
          </a:p>
          <a:p>
            <a:r>
              <a:rPr lang="en-GB" sz="2600" dirty="0">
                <a:solidFill>
                  <a:srgbClr val="1E1E1E"/>
                </a:solidFill>
              </a:rPr>
              <a:t>It seems Chaucer regretted writing these tales, and that the final tale was part of his repentance. He didn’t complete any others. </a:t>
            </a:r>
            <a:endParaRPr lang="en-GB" sz="2600" dirty="0"/>
          </a:p>
          <a:p>
            <a:endParaRPr lang="en-GB" dirty="0"/>
          </a:p>
        </p:txBody>
      </p:sp>
    </p:spTree>
    <p:extLst>
      <p:ext uri="{BB962C8B-B14F-4D97-AF65-F5344CB8AC3E}">
        <p14:creationId xmlns:p14="http://schemas.microsoft.com/office/powerpoint/2010/main" val="20316492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23D44-BB80-40EB-AB62-DE3C2C0820E8}"/>
              </a:ext>
            </a:extLst>
          </p:cNvPr>
          <p:cNvSpPr>
            <a:spLocks noGrp="1"/>
          </p:cNvSpPr>
          <p:nvPr>
            <p:ph type="title"/>
          </p:nvPr>
        </p:nvSpPr>
        <p:spPr/>
        <p:txBody>
          <a:bodyPr/>
          <a:lstStyle/>
          <a:p>
            <a:r>
              <a:rPr lang="en-US" dirty="0">
                <a:solidFill>
                  <a:srgbClr val="002060"/>
                </a:solidFill>
              </a:rPr>
              <a:t>Homework Reading:</a:t>
            </a:r>
            <a:br>
              <a:rPr lang="en-US" dirty="0">
                <a:solidFill>
                  <a:srgbClr val="002060"/>
                </a:solidFill>
              </a:rPr>
            </a:br>
            <a:br>
              <a:rPr lang="en-US" dirty="0">
                <a:solidFill>
                  <a:srgbClr val="002060"/>
                </a:solidFill>
              </a:rPr>
            </a:br>
            <a:endParaRPr lang="en-GB" dirty="0">
              <a:solidFill>
                <a:srgbClr val="002060"/>
              </a:solidFill>
            </a:endParaRPr>
          </a:p>
        </p:txBody>
      </p:sp>
      <p:sp>
        <p:nvSpPr>
          <p:cNvPr id="3" name="Content Placeholder 2">
            <a:extLst>
              <a:ext uri="{FF2B5EF4-FFF2-40B4-BE49-F238E27FC236}">
                <a16:creationId xmlns:a16="http://schemas.microsoft.com/office/drawing/2014/main" id="{37D9C565-4157-442C-81DD-6558133C4F41}"/>
              </a:ext>
            </a:extLst>
          </p:cNvPr>
          <p:cNvSpPr>
            <a:spLocks noGrp="1"/>
          </p:cNvSpPr>
          <p:nvPr>
            <p:ph idx="1"/>
          </p:nvPr>
        </p:nvSpPr>
        <p:spPr/>
        <p:txBody>
          <a:bodyPr/>
          <a:lstStyle/>
          <a:p>
            <a:r>
              <a:rPr lang="en-US" sz="3000" dirty="0"/>
              <a:t>Read the excerpts from the medieval poem, </a:t>
            </a:r>
            <a:r>
              <a:rPr lang="en-US" sz="3000" i="1" dirty="0"/>
              <a:t>Sir Gawain and the Green Knight.</a:t>
            </a:r>
          </a:p>
          <a:p>
            <a:endParaRPr lang="en-US" sz="3000" i="1" dirty="0"/>
          </a:p>
          <a:p>
            <a:r>
              <a:rPr lang="en-US" sz="3000" dirty="0"/>
              <a:t>Also read the excerpts from </a:t>
            </a:r>
            <a:r>
              <a:rPr lang="en-US" sz="3000" i="1" dirty="0"/>
              <a:t>Ivanhoe </a:t>
            </a:r>
            <a:r>
              <a:rPr lang="en-US" sz="3000" dirty="0"/>
              <a:t>by Walter Scott, a 19</a:t>
            </a:r>
            <a:r>
              <a:rPr lang="en-US" sz="3000" baseline="30000" dirty="0"/>
              <a:t>th</a:t>
            </a:r>
            <a:r>
              <a:rPr lang="en-US" sz="3000" dirty="0"/>
              <a:t> Century popular novel about medieval knights.</a:t>
            </a:r>
            <a:endParaRPr lang="en-GB" sz="3000" dirty="0"/>
          </a:p>
        </p:txBody>
      </p:sp>
    </p:spTree>
    <p:extLst>
      <p:ext uri="{BB962C8B-B14F-4D97-AF65-F5344CB8AC3E}">
        <p14:creationId xmlns:p14="http://schemas.microsoft.com/office/powerpoint/2010/main" val="304864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1210</TotalTime>
  <Words>2906</Words>
  <Application>Microsoft Office PowerPoint</Application>
  <PresentationFormat>Widescreen</PresentationFormat>
  <Paragraphs>280</Paragraphs>
  <Slides>49</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49</vt:i4>
      </vt:variant>
    </vt:vector>
  </HeadingPairs>
  <TitlesOfParts>
    <vt:vector size="57" baseType="lpstr">
      <vt:lpstr>Arial</vt:lpstr>
      <vt:lpstr>Calibri</vt:lpstr>
      <vt:lpstr>Calibri Light</vt:lpstr>
      <vt:lpstr>Trebuchet MS</vt:lpstr>
      <vt:lpstr>Wingdings 3</vt:lpstr>
      <vt:lpstr>Facet</vt:lpstr>
      <vt:lpstr>Office Theme</vt:lpstr>
      <vt:lpstr>1_Office Theme</vt:lpstr>
      <vt:lpstr>Appreciation of English and American Literature  Week 2</vt:lpstr>
      <vt:lpstr>When did the English Language Begin?</vt:lpstr>
      <vt:lpstr>How the English language was formed:</vt:lpstr>
      <vt:lpstr>A Quick History of the British Isles</vt:lpstr>
      <vt:lpstr>The Last Glacial Period: 113,000 BC to 9700 BC</vt:lpstr>
      <vt:lpstr>PowerPoint Presentation</vt:lpstr>
      <vt:lpstr>Prehistoric Britain</vt:lpstr>
      <vt:lpstr>Prehistoric European Languages</vt:lpstr>
      <vt:lpstr>‘Celtic’ Europe</vt:lpstr>
      <vt:lpstr>‘Brittonic’ Languages</vt:lpstr>
      <vt:lpstr>Roman Influence – 43 AD</vt:lpstr>
      <vt:lpstr>The Reach of the Roman Empire and Latin</vt:lpstr>
      <vt:lpstr>Perhaps 60% of Modern English has roots in Latin and Greek (also through later French influence):</vt:lpstr>
      <vt:lpstr>400 AD – The Fall of the Roman Empire  Into the Middle Ages – (The Dark Ages?)</vt:lpstr>
      <vt:lpstr>Germanic Tribes To England 410 to 1000AD </vt:lpstr>
      <vt:lpstr>Anglo-Saxon England: 5th- 10th Centuries</vt:lpstr>
      <vt:lpstr>The Viking Invasions – 8th and 9th Centuries AD</vt:lpstr>
      <vt:lpstr>Viking Influence on English</vt:lpstr>
      <vt:lpstr>Summary: Language Invasions After           the Roman Empire</vt:lpstr>
      <vt:lpstr>1066 AD – The Battle of Hastings</vt:lpstr>
      <vt:lpstr>The Bayeux Tapestry </vt:lpstr>
      <vt:lpstr>Perhaps 45% of Modern English has roots in Norman French  (also Latin influenced)</vt:lpstr>
      <vt:lpstr>The Origins of English Words</vt:lpstr>
      <vt:lpstr>The Origins of English Words</vt:lpstr>
      <vt:lpstr>PowerPoint Presentation</vt:lpstr>
      <vt:lpstr>The Origins of the English Language</vt:lpstr>
      <vt:lpstr>Beowulf </vt:lpstr>
      <vt:lpstr>Beowulf and Old English</vt:lpstr>
      <vt:lpstr>Beowulf and Old English</vt:lpstr>
      <vt:lpstr>Beowulf – Synopsis</vt:lpstr>
      <vt:lpstr>Beowulf:  homework reading – lines 144-285</vt:lpstr>
      <vt:lpstr>Beowulf and  the Dragon</vt:lpstr>
      <vt:lpstr>PowerPoint Presentation</vt:lpstr>
      <vt:lpstr>PowerPoint Presentation</vt:lpstr>
      <vt:lpstr>PowerPoint Presentation</vt:lpstr>
      <vt:lpstr>Influence upon Modern Literature and Culture</vt:lpstr>
      <vt:lpstr>Excerpts from The Hobbit:</vt:lpstr>
      <vt:lpstr>Excerpts from The Hobbit:</vt:lpstr>
      <vt:lpstr>Beowulf – line 2550-91</vt:lpstr>
      <vt:lpstr>The Canterbury Tales</vt:lpstr>
      <vt:lpstr>The Canterbury Tales</vt:lpstr>
      <vt:lpstr>Canterbury Cathedral</vt:lpstr>
      <vt:lpstr>Thomas Beckett 1119 -1170</vt:lpstr>
      <vt:lpstr>The Knight’s Tale (pages 32-96 of the translation)</vt:lpstr>
      <vt:lpstr>PowerPoint Presentation</vt:lpstr>
      <vt:lpstr>PowerPoint Presentation</vt:lpstr>
      <vt:lpstr>The Canterbury Tales</vt:lpstr>
      <vt:lpstr>The Canterbury Tales</vt:lpstr>
      <vt:lpstr>Homework 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Dom Graham</dc:creator>
  <cp:lastModifiedBy>Dominic Graham</cp:lastModifiedBy>
  <cp:revision>51</cp:revision>
  <dcterms:created xsi:type="dcterms:W3CDTF">2018-01-31T06:14:43Z</dcterms:created>
  <dcterms:modified xsi:type="dcterms:W3CDTF">2025-09-21T12:52:19Z</dcterms:modified>
</cp:coreProperties>
</file>