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426" r:id="rId4"/>
    <p:sldId id="318" r:id="rId5"/>
    <p:sldId id="257" r:id="rId6"/>
    <p:sldId id="31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F9B63-93CD-41E6-8773-0D1FA883EF37}" v="8" dt="2025-12-14T12:59:19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Graham" userId="80d46ba77b7de579" providerId="LiveId" clId="{1AE7EF3E-765B-4830-9F41-D7DA456DBC61}"/>
    <pc:docChg chg="modSld">
      <pc:chgData name="Dominic Graham" userId="80d46ba77b7de579" providerId="LiveId" clId="{1AE7EF3E-765B-4830-9F41-D7DA456DBC61}" dt="2025-12-14T12:59:19.433" v="7" actId="20577"/>
      <pc:docMkLst>
        <pc:docMk/>
      </pc:docMkLst>
      <pc:sldChg chg="modSp">
        <pc:chgData name="Dominic Graham" userId="80d46ba77b7de579" providerId="LiveId" clId="{1AE7EF3E-765B-4830-9F41-D7DA456DBC61}" dt="2025-12-14T12:59:19.433" v="7" actId="20577"/>
        <pc:sldMkLst>
          <pc:docMk/>
          <pc:sldMk cId="0" sldId="318"/>
        </pc:sldMkLst>
        <pc:spChg chg="mod">
          <ac:chgData name="Dominic Graham" userId="80d46ba77b7de579" providerId="LiveId" clId="{1AE7EF3E-765B-4830-9F41-D7DA456DBC61}" dt="2025-12-14T12:59:19.433" v="7" actId="20577"/>
          <ac:spMkLst>
            <pc:docMk/>
            <pc:sldMk cId="0" sldId="318"/>
            <ac:spMk id="25602" creationId="{00000000-0000-0000-0000-000000000000}"/>
          </ac:spMkLst>
        </pc:spChg>
      </pc:sldChg>
      <pc:sldChg chg="modSp">
        <pc:chgData name="Dominic Graham" userId="80d46ba77b7de579" providerId="LiveId" clId="{1AE7EF3E-765B-4830-9F41-D7DA456DBC61}" dt="2025-12-14T12:59:01.518" v="1" actId="20577"/>
        <pc:sldMkLst>
          <pc:docMk/>
          <pc:sldMk cId="1361731416" sldId="426"/>
        </pc:sldMkLst>
        <pc:spChg chg="mod">
          <ac:chgData name="Dominic Graham" userId="80d46ba77b7de579" providerId="LiveId" clId="{1AE7EF3E-765B-4830-9F41-D7DA456DBC61}" dt="2025-12-14T12:59:01.518" v="1" actId="20577"/>
          <ac:spMkLst>
            <pc:docMk/>
            <pc:sldMk cId="1361731416" sldId="426"/>
            <ac:spMk id="4505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685D-778E-DF38-E811-E3DFE9A0E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10D5F-6A4C-B4AA-DE5E-CBC442745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A0F3A-6A39-F397-6890-751CBBDA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CB3B2-63DF-6FB5-561D-68E4D7D4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CD273-638A-F8AC-5CA1-6D4C3A76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77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D83D-E488-1397-B79F-23A67525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49C-26AB-0DC6-0531-570163FFA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4F267-F2F5-5929-8A36-80C91FAA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69033-F915-422A-DC22-BF7669DB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2FBF-5663-2A11-F1B3-29CB5633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07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AD7C-43C4-820B-CDA8-452C2BC5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1F6CF-A53E-4886-10A9-191478C80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E9DC9-6048-45F4-69C8-77624079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D205-14CB-831E-81D9-E414E4DB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A7AC-2220-CC1B-5EB4-564357DC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61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F5DF-1EFC-C34D-FCC0-2CA272F4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9A6E-EC3E-00A8-0F1F-21A6A0141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D816D-1CF2-FA1F-88F6-DC17B51E7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AE91F-A6A0-17DA-8D82-899BA9A1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C5713-805C-C5D9-40D6-1F9A5830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5C3CC-37EE-6380-A69A-7979E671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80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7194-B07A-AEF3-776C-8A14E3FE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7D27C-8FE5-1187-9E1B-0DC893C24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6F4CE-08D5-38E9-B33A-CCA088DC5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70A05-FA46-3D01-5127-D87780DB1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68EC0D-2C25-1B52-79CF-A12966C2A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912B7-1E2D-AE4D-3FA3-E74F1D6D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2936D-AA1B-A75A-B981-208264AC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EAAAA-0AFF-453C-A5C1-27064E6F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55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CF2C-DA10-42F1-0F71-63EAE037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346537-1E7B-3F4B-7728-30628ED0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0B102-9C8F-E393-4ED1-9A821F0D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2780D-8A4D-3374-D4F6-64125C4D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9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A5936-A2CF-CA12-88B7-CF1B8B6E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0C41C-3500-5F6D-EE4F-913C430C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D2A27-A79D-6B91-09FC-650858FE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86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31EF-ACC2-B80B-9C0E-8FE2B49A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6A92C-F3BB-2EE8-2F25-A9B36CC31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915CB-7712-68F9-070E-57034F220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F5517-0E76-08F5-E4F1-C7A9AB3CC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473F8-2CA4-804D-B62C-53C61E05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C96A2-046D-6144-549F-C54B527C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7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81E4-D9CD-43C3-B928-88614D8E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BAB5E-557D-42E9-9436-2DCEBB8BB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7A5E8-3DA3-7B16-B95D-D17EFBB41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B8F1-1A30-F4D0-A224-676CD71B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BD242-50CE-6169-21D2-49129A2D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81328-1914-E438-8FCC-F4BD7F61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87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8672-21C0-8DD4-6B5F-D9013896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8A58F-D0BD-5805-90A0-F076387DB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60B99-9BC9-6EF2-7888-A04AC089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01A2C-6916-80CC-5192-6F19E65F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48415-C05A-E4FA-9EBE-D709E430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29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9478E-F1D4-87BB-EC4E-38FD49AC7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0DBEF-C2AE-6E12-F9E6-03E50A33F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8ED4-76F3-A257-ED05-020E1D8F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A261-BCF9-D7B6-DBD1-EF42434B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15C32-2E6C-5D4E-3B75-97277AE7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82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sp>
          <p:nvSpPr>
            <p:cNvPr id="5" name="Freeform 14"/>
            <p:cNvSpPr/>
            <p:nvPr/>
          </p:nvSpPr>
          <p:spPr>
            <a:xfrm>
              <a:off x="0" y="-8467"/>
              <a:ext cx="863600" cy="569797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6" name="Straight Connector 18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9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Isosceles Triangle 22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26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CBFA0-FD59-4C60-9C6B-E63D223DE4DF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EAE88-0041-4CE5-9F5F-A7B334C170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000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3B7DC-EBDB-41E8-A223-FE317061D957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0A639-BA70-489B-B20F-A465E8A4B0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13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65394-03EB-42E8-B087-5D6D7F3D299E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E0E6D-24AC-4EF4-84E8-E5DACA41FF7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301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B43E1-D039-4806-8D4C-CBDCB9C4E444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C1CBE-6DC6-414E-BA6E-5CB28F6FD6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37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26A10-50BB-43D0-A383-E20A720A98EE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D4EA8-8503-40DC-9C22-081C238B88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831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9FEDB-4E40-4B56-8F37-2F595803612C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70688-142B-42C4-920A-D00FE06F86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082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FD1AC-34A3-432B-A24D-9127B9AA2F61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4804B-423E-4671-892B-2F00723102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669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9B425-D207-41A6-B5CE-98B193B46911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9364D-F3C9-490E-ACC3-49FA4254B5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638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83336-6079-45F9-A2CC-12B24C9A292A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3A74-4CFF-4CA7-B2C2-B9161BE6FD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913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9DCFC-FC49-4A47-9961-FFE33176F016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E2880-EFD0-4B4B-BDB5-C12422FF6D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808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E96E66-D89E-4787-85BF-FC412534AACD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F698-1D1A-413C-BB3E-A9B673D820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25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B627A-1E93-44C2-8DD7-A4A5E6C665B9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3AC16-968E-4046-B4C0-CDE55C0794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6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1AFB2-9A42-4D0E-BA20-01C41C65F4F2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5BEBB-F2F8-4358-9E33-D51C3B47FB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283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1E002-AB96-46F6-8C26-EDE5A07E7414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59B7D-4275-46E0-8750-FBC5D00A25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154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2A104-8EC9-4B95-A631-6C869A5DAF06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4B23D-872E-4C04-9AB3-EB3A71A8BF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950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93BFD-C426-459D-BFFC-89415F12FE82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754B8-DB3A-4263-9FB6-97714535BF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3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C166C-9232-B26C-1C95-5D8CEBAFA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64346-89A2-CE1A-8102-9B61F5E95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42F1-2A90-68F3-F553-557CACB9D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874FF-2D1D-42D0-9FE8-E4BF7886EF11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2D28C-B947-A136-0F5A-E8115CECF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A5B43-0603-3D0C-4577-99498E77B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8B745-5661-4B4B-8761-CBA194414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5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3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2981"/>
              <a:ext cx="449263" cy="2845019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77863" y="609600"/>
            <a:ext cx="85963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863" y="2160588"/>
            <a:ext cx="8596312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663" y="6042025"/>
            <a:ext cx="9112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BDB115-8416-403A-8DCC-40A526EBEF36}" type="datetimeFigureOut">
              <a:rPr lang="en-US"/>
              <a:pPr>
                <a:defRPr/>
              </a:pPr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863" y="6042025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9963" y="6042025"/>
            <a:ext cx="684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D369C9-5C20-4ACF-B6C1-93227E8C6D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3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quest.com/" TargetMode="External"/><Relationship Id="rId2" Type="http://schemas.openxmlformats.org/officeDocument/2006/relationships/hyperlink" Target="https://www.jstor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DC8A-5620-28B9-7C62-DD9FC908DF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Appreciation of English and American Literature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CB9BC-C22E-A20E-948A-0CC94C47D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6670"/>
            <a:ext cx="9144000" cy="1655762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Essay Writing Workshops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863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b="1" dirty="0">
                <a:solidFill>
                  <a:srgbClr val="0070C0"/>
                </a:solidFill>
              </a:rPr>
              <a:t>Writing Portfolio – 20%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677863" y="1646239"/>
            <a:ext cx="10753725" cy="481563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9600" b="1" dirty="0">
                <a:sym typeface="Calibri" pitchFamily="34" charset="0"/>
              </a:rPr>
              <a:t>During the course you will attempt some of your own creative writing, based on the literature we study.</a:t>
            </a:r>
          </a:p>
          <a:p>
            <a:pPr>
              <a:lnSpc>
                <a:spcPct val="120000"/>
              </a:lnSpc>
            </a:pPr>
            <a:endParaRPr lang="en-US" altLang="zh-CN" sz="2500" b="1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9600" b="1" dirty="0">
                <a:sym typeface="Calibri" pitchFamily="34" charset="0"/>
              </a:rPr>
              <a:t>The main objective is to try your best and take part. You are not expected to write as well as Shakespeare. Some tasks will be difficult – just make a good effort!</a:t>
            </a:r>
          </a:p>
          <a:p>
            <a:pPr>
              <a:lnSpc>
                <a:spcPct val="120000"/>
              </a:lnSpc>
            </a:pPr>
            <a:endParaRPr lang="en-US" altLang="zh-CN" sz="2800" b="1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9600" b="1" i="1" dirty="0">
                <a:sym typeface="Calibri" pitchFamily="34" charset="0"/>
              </a:rPr>
              <a:t>You should submit a portfolio of at least 4 different pieces of writing written during the course. At least 3 pieces should be creative poetry/prose and 1 may be academic </a:t>
            </a:r>
            <a:r>
              <a:rPr lang="en-US" altLang="zh-CN" sz="9600" b="1" i="1" dirty="0">
                <a:solidFill>
                  <a:srgbClr val="FF0000"/>
                </a:solidFill>
                <a:sym typeface="Calibri" pitchFamily="34" charset="0"/>
              </a:rPr>
              <a:t>(handed in week 16)</a:t>
            </a:r>
            <a:r>
              <a:rPr lang="en-US" altLang="zh-CN" sz="9600" b="1" i="1" dirty="0">
                <a:sym typeface="Calibri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2500" b="1" dirty="0">
              <a:sym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9600" b="1" dirty="0">
                <a:sym typeface="Calibri" pitchFamily="34" charset="0"/>
              </a:rPr>
              <a:t>If you complete the portfolio (showing your active participation) then you will score well. However, if you write some wonderful pieces then you could also score extra points.</a:t>
            </a:r>
          </a:p>
        </p:txBody>
      </p:sp>
    </p:spTree>
    <p:extLst>
      <p:ext uri="{BB962C8B-B14F-4D97-AF65-F5344CB8AC3E}">
        <p14:creationId xmlns:p14="http://schemas.microsoft.com/office/powerpoint/2010/main" val="136173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b="1" dirty="0">
                <a:solidFill>
                  <a:srgbClr val="0070C0"/>
                </a:solidFill>
              </a:rPr>
              <a:t>Final Literature Essay – 60%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598030" y="1688841"/>
            <a:ext cx="10995940" cy="5169159"/>
          </a:xfrm>
        </p:spPr>
        <p:txBody>
          <a:bodyPr rtlCol="0">
            <a:normAutofit fontScale="70000" lnSpcReduction="2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An Argumentative Research Essay – 1200 – 1500 words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Font typeface="Wingdings 3" charset="2"/>
              <a:buNone/>
              <a:defRPr/>
            </a:pP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 panose="020F0502020204030204" pitchFamily="34" charset="0"/>
              </a:rPr>
              <a:t>													  </a:t>
            </a:r>
            <a:r>
              <a:rPr lang="en-US" altLang="zh-CN" sz="4000" b="1" i="1" dirty="0">
                <a:solidFill>
                  <a:srgbClr val="FF0000"/>
                </a:solidFill>
                <a:sym typeface="Calibri" panose="020F0502020204030204" pitchFamily="34" charset="0"/>
              </a:rPr>
              <a:t>(Handed in Week 16)</a:t>
            </a:r>
          </a:p>
          <a:p>
            <a:pPr marL="0" indent="0" fontAlgn="auto">
              <a:lnSpc>
                <a:spcPct val="80000"/>
              </a:lnSpc>
              <a:spcAft>
                <a:spcPts val="0"/>
              </a:spcAft>
              <a:buFont typeface="Wingdings 3" charset="2"/>
              <a:buNone/>
              <a:defRPr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sym typeface="Calibri" panose="020F0502020204030204" pitchFamily="34" charset="0"/>
            </a:endParaRP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300" b="1" dirty="0"/>
              <a:t>The essay should be researched and written about a literature topic of your own choosing (confirmed with Dominic). As an argumentative essay it should set out a thesis and then try to prove this throughout a series of paragraphs.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endParaRPr lang="en-US" sz="1300" b="1" dirty="0"/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300" b="1" dirty="0"/>
              <a:t>It should have an academic style and structure, be correctly referenced, and use at least 4 different sources (in addition to the literature studied).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endParaRPr lang="en-US" sz="1300" b="1" dirty="0"/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3300" b="1" dirty="0"/>
              <a:t>Class time in </a:t>
            </a:r>
            <a:r>
              <a:rPr lang="en-US" sz="3300" b="1"/>
              <a:t>weeks 14 and 15 </a:t>
            </a:r>
            <a:r>
              <a:rPr lang="en-US" sz="3300" b="1" dirty="0"/>
              <a:t>will be spent as essay writing workshops, for you to ask any questions and build your essay argument.</a:t>
            </a:r>
            <a:endParaRPr lang="en-US" altLang="zh-CN" sz="3300" b="1" dirty="0">
              <a:solidFill>
                <a:schemeClr val="tx1">
                  <a:lumMod val="75000"/>
                  <a:lumOff val="25000"/>
                </a:schemeClr>
              </a:solidFill>
              <a:sym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2604-4040-AA55-80D9-1C6CA693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Essay Writing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E207-6749-DE4C-C6FA-8A05F3791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4535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your topic and thesis (the statement you will try to prove).</a:t>
            </a:r>
          </a:p>
          <a:p>
            <a:pPr lvl="2"/>
            <a:endParaRPr lang="en-GB" sz="2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84800" lvl="2"/>
            <a:r>
              <a:rPr lang="en-GB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Remember to make a narrowed thesis, which focuses on specific details.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research online for articles. You could use the ZJU library. </a:t>
            </a:r>
          </a:p>
          <a:p>
            <a:pPr lvl="1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academic websites are: </a:t>
            </a:r>
            <a:r>
              <a:rPr lang="en-GB" b="1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https://www.jstor.org/</a:t>
            </a:r>
            <a:endParaRPr lang="en-GB" b="1" i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</a:t>
            </a:r>
            <a:r>
              <a:rPr lang="en-GB" sz="2400" b="1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https://www.proquest.com/</a:t>
            </a:r>
            <a:r>
              <a:rPr lang="en-GB" sz="2400" b="1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914400" lvl="2" indent="0">
              <a:buNone/>
            </a:pPr>
            <a:endParaRPr lang="en-GB" sz="2400" b="1" i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30400" lvl="2" indent="-230400">
              <a:spcBef>
                <a:spcPts val="1000"/>
              </a:spcBef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Writing…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Introduction… Body Paragraphs, with references… Conclusion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41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9FCD-FE28-AFE0-BEB3-0001D85F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Essay Writing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3B93-3945-4717-89DA-7AF3D3F09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Remember… don’t use much AI or translation.</a:t>
            </a:r>
          </a:p>
          <a:p>
            <a:endParaRPr lang="en-GB" dirty="0"/>
          </a:p>
          <a:p>
            <a:pPr lvl="1"/>
            <a:r>
              <a:rPr lang="en-GB" dirty="0"/>
              <a:t>You can use the dictionary, or translation for small phrases.</a:t>
            </a:r>
          </a:p>
          <a:p>
            <a:pPr lvl="1"/>
            <a:r>
              <a:rPr lang="en-GB" dirty="0"/>
              <a:t>You can use the internet to read other people’s articles, get some ideas, and then decide what you think.</a:t>
            </a:r>
          </a:p>
          <a:p>
            <a:pPr lvl="1"/>
            <a:endParaRPr lang="en-GB" sz="3200" dirty="0"/>
          </a:p>
          <a:p>
            <a:pPr marL="230400" lvl="1"/>
            <a:r>
              <a:rPr lang="en-GB" sz="2800" dirty="0"/>
              <a:t>It is important that this essay is self-written. Take the opportunity to try and express your own argument about English literature.</a:t>
            </a:r>
          </a:p>
          <a:p>
            <a:pPr marL="230400" lvl="1"/>
            <a:endParaRPr lang="en-GB" sz="2800" dirty="0"/>
          </a:p>
          <a:p>
            <a:pPr marL="687600" lvl="2"/>
            <a:r>
              <a:rPr lang="en-GB" sz="2400" dirty="0"/>
              <a:t>(Don’t worry about grammar or phrasing errors. Don’t ‘polish’ using AI. Keep </a:t>
            </a:r>
            <a:r>
              <a:rPr lang="en-GB" sz="2400"/>
              <a:t>it original, </a:t>
            </a:r>
            <a:r>
              <a:rPr lang="en-GB" sz="2400" dirty="0"/>
              <a:t>as you have tried your best to write it.) </a:t>
            </a:r>
          </a:p>
        </p:txBody>
      </p:sp>
    </p:spTree>
    <p:extLst>
      <p:ext uri="{BB962C8B-B14F-4D97-AF65-F5344CB8AC3E}">
        <p14:creationId xmlns:p14="http://schemas.microsoft.com/office/powerpoint/2010/main" val="84531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450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Trebuchet MS</vt:lpstr>
      <vt:lpstr>Wingdings 3</vt:lpstr>
      <vt:lpstr>Office Theme</vt:lpstr>
      <vt:lpstr>Facet</vt:lpstr>
      <vt:lpstr>Appreciation of English and American Literature</vt:lpstr>
      <vt:lpstr>Writing Portfolio – 20%</vt:lpstr>
      <vt:lpstr>Final Literature Essay – 60%</vt:lpstr>
      <vt:lpstr>Essay Writing Workshop</vt:lpstr>
      <vt:lpstr>Essay Writing 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Dominic Graham</dc:creator>
  <cp:lastModifiedBy>Dominic Graham</cp:lastModifiedBy>
  <cp:revision>4</cp:revision>
  <dcterms:created xsi:type="dcterms:W3CDTF">2025-05-08T08:01:56Z</dcterms:created>
  <dcterms:modified xsi:type="dcterms:W3CDTF">2025-12-14T12:59:19Z</dcterms:modified>
</cp:coreProperties>
</file>