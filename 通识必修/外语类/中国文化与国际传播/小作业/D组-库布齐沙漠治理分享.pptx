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768" y="112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47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E26F9-7A8F-48F4-B535-ED2D3A8D17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9AE54-737E-454F-B854-59F018AE24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 descr="786841f7-e0a0-4bdb-b3a5-4256f22c7369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44260"/>
              <a:gd name="connsiteX1" fmla="*/ 12192000 w 12192000"/>
              <a:gd name="connsiteY1" fmla="*/ 0 h 6144260"/>
              <a:gd name="connsiteX2" fmla="*/ 12192000 w 12192000"/>
              <a:gd name="connsiteY2" fmla="*/ 6144260 h 6144260"/>
              <a:gd name="connsiteX3" fmla="*/ 0 w 12192000"/>
              <a:gd name="connsiteY3" fmla="*/ 6144260 h 6144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44260">
                <a:moveTo>
                  <a:pt x="0" y="0"/>
                </a:moveTo>
                <a:lnTo>
                  <a:pt x="12192000" y="0"/>
                </a:lnTo>
                <a:lnTo>
                  <a:pt x="12192000" y="6144260"/>
                </a:lnTo>
                <a:lnTo>
                  <a:pt x="0" y="614426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0aebda72-8927-44e3-9181-fee1ce3d6d8c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d6aa5575-4a66-46f9-a078-2a945b173477"/>
          <p:cNvSpPr>
            <a:spLocks noGrp="1"/>
          </p:cNvSpPr>
          <p:nvPr>
            <p:ph type="subTitle" idx="1" hasCustomPrompt="1"/>
          </p:nvPr>
        </p:nvSpPr>
        <p:spPr>
          <a:xfrm>
            <a:off x="660400" y="2667000"/>
            <a:ext cx="108585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44c3833c-b5f9-4a82-833c-edbf6e084f6a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3594100"/>
            <a:ext cx="36576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b5381a74-1b05-4a24-a914-0ac9fa10eb01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3868420"/>
            <a:ext cx="36576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42261ca-5206-42a9-9ff4-0dfbdd5c2ccf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65c60366-5b6c-46d5-af85-e893957418e0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c82b1d36-2e85-4995-af9a-681c1e780c6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bb25ff0e-c29e-46e9-b4e7-db9db5966a8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9e6e1174-a467-4043-8cf1-28761389189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4389852-5b5f-49c3-9dc4-e9804f8824cf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0e8f883d-86ed-4437-ae1f-09825f7b880c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8d354079-fbfa-4f97-9ff4-42eb28529c8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1c4901e-ec06-4c14-bed0-974b16bf834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8224398-5afa-4a6f-a021-7314474996b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87c7ce0c-7725-4925-a378-bf9bd5321500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a269930b-c92f-498b-93a5-2cad5983253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 descr="fac72c68-9373-40d7-b60b-20cc84bff0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19da20c9-c1fc-4314-bbea-a313ab438614"/>
          <p:cNvSpPr>
            <a:spLocks noGrp="1"/>
          </p:cNvSpPr>
          <p:nvPr>
            <p:ph type="title" hasCustomPrompt="1"/>
          </p:nvPr>
        </p:nvSpPr>
        <p:spPr>
          <a:xfrm>
            <a:off x="1905000" y="1130300"/>
            <a:ext cx="83693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e652efa6-940e-4443-8d49-3c24163ffc8b"/>
          <p:cNvSpPr>
            <a:spLocks noGrp="1"/>
          </p:cNvSpPr>
          <p:nvPr>
            <p:ph type="body" idx="1" hasCustomPrompt="1"/>
          </p:nvPr>
        </p:nvSpPr>
        <p:spPr>
          <a:xfrm>
            <a:off x="1905000" y="2507405"/>
            <a:ext cx="8369300" cy="103589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ba9a9e57-8aea-4957-a6da-3a10d6da161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ea0553c-e39e-4c63-bab7-77011d5d99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54cfcb43-505a-48e5-aeae-50a968d00eb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a9119280-eb04-4a47-8eeb-574bc63445e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8e5cb052-29a4-410c-826e-52c79bb9b2b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0c8c0096-8603-4baf-ae16-167a54a2e2b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fe59e8a-bab6-4188-9f28-cc819ad02bc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c42e96fe-77d4-4f02-bb10-e9aebe8bdda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88e7cb3d-64f1-40dc-8b6e-d3b37101a8d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 descr="6b795f03-5acc-4ed5-97fe-3e3c62749ff3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44260"/>
              <a:gd name="connsiteX1" fmla="*/ 12192000 w 12192000"/>
              <a:gd name="connsiteY1" fmla="*/ 0 h 6144260"/>
              <a:gd name="connsiteX2" fmla="*/ 12192000 w 12192000"/>
              <a:gd name="connsiteY2" fmla="*/ 6144260 h 6144260"/>
              <a:gd name="connsiteX3" fmla="*/ 0 w 12192000"/>
              <a:gd name="connsiteY3" fmla="*/ 6144260 h 6144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44260">
                <a:moveTo>
                  <a:pt x="0" y="0"/>
                </a:moveTo>
                <a:lnTo>
                  <a:pt x="12192000" y="0"/>
                </a:lnTo>
                <a:lnTo>
                  <a:pt x="12192000" y="6144260"/>
                </a:lnTo>
                <a:lnTo>
                  <a:pt x="0" y="614426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 descr="d7020648-83a1-4014-8447-615baa9c223e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7fc3c0f8-a3d2-4881-a3ca-6ef0043b37ba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3223260"/>
            <a:ext cx="36576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e3942097-33d9-4c33-9c8b-63cb82df8ce2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3497580"/>
            <a:ext cx="36576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4.jpe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aebda72-8927-44e3-9181-fee1ce3d6d8c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latin typeface="Arial" panose="020B0604020202020204"/>
              </a:rPr>
              <a:t>Case Study on Kubuqi Desert Restoration</a:t>
            </a:r>
            <a:endParaRPr lang="en-US" sz="4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副标题 2" descr="d6aa5575-4a66-46f9-a078-2a945b173477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latin typeface="Arial" panose="020B0604020202020204"/>
              </a:rPr>
              <a:t>An in-depth exploration of China's desert reclamation success</a:t>
            </a:r>
            <a:endParaRPr lang="en-US" sz="24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文本占位符 3" descr="44c3833c-b5f9-4a82-833c-edbf6e084f6a"/>
          <p:cNvSpPr>
            <a:spLocks noGrp="1"/>
          </p:cNvSpPr>
          <p:nvPr>
            <p:ph type="body" sz="quarter" idx="13" hasCustomPrompt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endParaRPr lang="zh-CN" altLang="en-US" sz="14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b5381a74-1b05-4a24-a914-0ac9fa10eb01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endParaRPr lang="en-US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Contents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19" name="6d649ebf-74bc-446c-add3-cfd664cd660c.source.4.zh-Hans.pptx" descr="bc63a27b-1aea-41c2-b738-40b47447c723"/>
          <p:cNvGrpSpPr/>
          <p:nvPr>
            <p:custDataLst>
              <p:tags r:id="rId1"/>
            </p:custDataLst>
          </p:nvPr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id="65" name="PictureMisc1" descr="76545929-59d3-4aa2-81bb-bebddd1ac78c"/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5341" b="-18453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" descr="484d7e61-108f-43c4-98e9-2b7b5d290acf"/>
            <p:cNvSpPr/>
            <p:nvPr/>
          </p:nvSpPr>
          <p:spPr>
            <a:xfrm>
              <a:off x="598591" y="1824048"/>
              <a:ext cx="10994819" cy="4310052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cxnSp>
          <p:nvCxnSpPr>
            <p:cNvPr id="265" name="直接连接符 264" descr="2cfc25a7-b2b4-4450-a953-09bf16f26ca8"/>
            <p:cNvCxnSpPr>
              <a:stCxn id="246" idx="1"/>
              <a:endCxn id="242" idx="3"/>
            </p:cNvCxnSpPr>
            <p:nvPr>
              <p:custDataLst>
                <p:tags r:id="rId3"/>
              </p:custDataLst>
            </p:nvPr>
          </p:nvCxnSpPr>
          <p:spPr>
            <a:xfrm>
              <a:off x="3651730" y="4176507"/>
              <a:ext cx="476252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 descr="a048549a-49c2-4bcc-aecb-b7c95fc9d311"/>
            <p:cNvCxnSpPr>
              <a:stCxn id="72" idx="3"/>
              <a:endCxn id="76" idx="1"/>
            </p:cNvCxnSpPr>
            <p:nvPr>
              <p:custDataLst>
                <p:tags r:id="rId4"/>
              </p:custDataLst>
            </p:nvPr>
          </p:nvCxnSpPr>
          <p:spPr>
            <a:xfrm>
              <a:off x="3771398" y="2158127"/>
              <a:ext cx="4756171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itle" descr="611681a0-af0c-4c33-94eb-2a4d6841d92e"/>
            <p:cNvSpPr/>
            <p:nvPr/>
          </p:nvSpPr>
          <p:spPr>
            <a:xfrm>
              <a:off x="660399" y="1130300"/>
              <a:ext cx="10858500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l"/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15" name="组合 14" descr="3f65857c-32bb-415a-944c-5fe257b38d86"/>
            <p:cNvGrpSpPr/>
            <p:nvPr/>
          </p:nvGrpSpPr>
          <p:grpSpPr>
            <a:xfrm>
              <a:off x="666750" y="2008394"/>
              <a:ext cx="5306495" cy="1985305"/>
              <a:chOff x="666750" y="2008394"/>
              <a:chExt cx="5306495" cy="1985305"/>
            </a:xfrm>
          </p:grpSpPr>
          <p:sp>
            <p:nvSpPr>
              <p:cNvPr id="95" name="Bullet1" descr="e2f241c9-a8da-4eb6-98de-5d61df4cce3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0" u="none">
                    <a:solidFill>
                      <a:srgbClr val="000000"/>
                    </a:solidFill>
                    <a:latin typeface="Arial" panose="020B0604020202020204"/>
                  </a:rPr>
                  <a:t>Background</a:t>
                </a:r>
                <a:endParaRPr lang="en-US" sz="24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96" name="Text1" descr="c359a770-2cff-4206-8a30-a5fd8edda037"/>
              <p:cNvSpPr txBox="1"/>
              <p:nvPr/>
            </p:nvSpPr>
            <p:spPr>
              <a:xfrm>
                <a:off x="666750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72" name="Number1" descr="255f2870-45c2-4287-a592-893c43290bde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868596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B07E2A"/>
                    </a:solidFill>
                    <a:latin typeface="Arial" panose="020B0604020202020204"/>
                  </a:rPr>
                  <a:t>1</a:t>
                </a:r>
                <a:endParaRPr lang="en-US" sz="1200" b="1" i="0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6" name="组合 15" descr="dfa82fcc-b181-4326-940a-836376470a02"/>
            <p:cNvGrpSpPr/>
            <p:nvPr/>
          </p:nvGrpSpPr>
          <p:grpSpPr>
            <a:xfrm>
              <a:off x="6212405" y="2008394"/>
              <a:ext cx="5306495" cy="1985305"/>
              <a:chOff x="6212405" y="2008394"/>
              <a:chExt cx="5306495" cy="1985305"/>
            </a:xfrm>
          </p:grpSpPr>
          <p:sp>
            <p:nvSpPr>
              <p:cNvPr id="77" name="Bullet2" descr="6a08fd09-a145-4c4b-b444-a454bb556ebf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212405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0" u="none">
                    <a:solidFill>
                      <a:srgbClr val="000000"/>
                    </a:solidFill>
                    <a:latin typeface="Arial" panose="020B0604020202020204"/>
                  </a:rPr>
                  <a:t>Restoration Measures</a:t>
                </a:r>
                <a:endParaRPr lang="en-US" sz="24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78" name="Text2" descr="42f389bd-2862-4909-b280-e8d8bf440bb2"/>
              <p:cNvSpPr txBox="1"/>
              <p:nvPr/>
            </p:nvSpPr>
            <p:spPr>
              <a:xfrm>
                <a:off x="6212405" y="308609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76" name="Number2" descr="b1c60640-d9e4-4dc6-9ef5-ad5f7ca361c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414251" y="200839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B07E2A"/>
                    </a:solidFill>
                    <a:latin typeface="Arial" panose="020B0604020202020204"/>
                  </a:rPr>
                  <a:t>2</a:t>
                </a:r>
                <a:endParaRPr lang="en-US" sz="1200" b="1" i="0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7" name="组合 16" descr="068a29ca-f1ae-4f48-aed7-04f70498c990"/>
            <p:cNvGrpSpPr/>
            <p:nvPr/>
          </p:nvGrpSpPr>
          <p:grpSpPr>
            <a:xfrm>
              <a:off x="6212405" y="4026774"/>
              <a:ext cx="5306495" cy="1985305"/>
              <a:chOff x="6212405" y="4026774"/>
              <a:chExt cx="5306495" cy="1985305"/>
            </a:xfrm>
          </p:grpSpPr>
          <p:sp>
            <p:nvSpPr>
              <p:cNvPr id="240" name="Bullet3" descr="f11a31aa-2df8-40e1-9d08-9e4d0230815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212405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0" u="none">
                    <a:solidFill>
                      <a:srgbClr val="000000"/>
                    </a:solidFill>
                    <a:latin typeface="Arial" panose="020B0604020202020204"/>
                  </a:rPr>
                  <a:t>Implementation Effects</a:t>
                </a:r>
                <a:endParaRPr lang="en-US" sz="24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1" name="Text3" descr="3b629dbe-f07e-4768-8a22-1a0128b5540c"/>
              <p:cNvSpPr txBox="1"/>
              <p:nvPr/>
            </p:nvSpPr>
            <p:spPr>
              <a:xfrm>
                <a:off x="6212405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2" name="Number3" descr="cd47b182-dfa2-4b4e-b103-54b06dbe22cc"/>
              <p:cNvSpPr txBox="1"/>
              <p:nvPr>
                <p:custDataLst>
                  <p:tags r:id="rId10"/>
                </p:custDataLst>
              </p:nvPr>
            </p:nvSpPr>
            <p:spPr>
              <a:xfrm flipH="1">
                <a:off x="8414251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B07E2A"/>
                    </a:solidFill>
                    <a:latin typeface="Arial" panose="020B0604020202020204"/>
                  </a:rPr>
                  <a:t>3</a:t>
                </a:r>
                <a:endParaRPr lang="en-US" sz="1200" b="1" i="0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8" name="组合 17" descr="e17b95c0-e3b6-4271-b198-412a8a5c5252"/>
            <p:cNvGrpSpPr/>
            <p:nvPr/>
          </p:nvGrpSpPr>
          <p:grpSpPr>
            <a:xfrm>
              <a:off x="660400" y="4026774"/>
              <a:ext cx="5306495" cy="1985305"/>
              <a:chOff x="660400" y="4026774"/>
              <a:chExt cx="5306495" cy="1985305"/>
            </a:xfrm>
          </p:grpSpPr>
          <p:sp>
            <p:nvSpPr>
              <p:cNvPr id="244" name="Bullet4" descr="191fd3d5-7880-43bc-8b12-cdf85a9c1ccf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0400" y="444650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0" u="none">
                    <a:solidFill>
                      <a:srgbClr val="000000"/>
                    </a:solidFill>
                    <a:latin typeface="Arial" panose="020B0604020202020204"/>
                  </a:rPr>
                  <a:t>Domestic and International Impact</a:t>
                </a:r>
                <a:endParaRPr lang="en-US" sz="24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5" name="Text4" descr="63de6131-c945-48e9-9bd3-5154bd1731a5"/>
              <p:cNvSpPr txBox="1"/>
              <p:nvPr/>
            </p:nvSpPr>
            <p:spPr>
              <a:xfrm>
                <a:off x="660400" y="5104476"/>
                <a:ext cx="5306495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6" name="Number4" descr="8029407f-181a-4b44-9c13-56537a281725"/>
              <p:cNvSpPr txBox="1"/>
              <p:nvPr>
                <p:custDataLst>
                  <p:tags r:id="rId12"/>
                </p:custDataLst>
              </p:nvPr>
            </p:nvSpPr>
            <p:spPr>
              <a:xfrm flipH="1">
                <a:off x="2862246" y="4026774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B07E2A"/>
                    </a:solidFill>
                    <a:latin typeface="Arial" panose="020B0604020202020204"/>
                  </a:rPr>
                  <a:t>4</a:t>
                </a:r>
                <a:endParaRPr lang="en-US" sz="1200" b="1" i="0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9da20c9-c1fc-4314-bbea-a313ab43861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 panose="020B0604020202020204"/>
              </a:rPr>
              <a:t>Background</a:t>
            </a:r>
            <a:endParaRPr lang="en-US" sz="36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文本占位符 2" descr="e652efa6-940e-4443-8d49-3c24163ffc8b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000000"/>
                </a:solidFill>
                <a:latin typeface="Arial" panose="020B0604020202020204"/>
              </a:rPr>
              <a:t>Understanding the Kubuqi Desert's history, challenges, and ecological significance</a:t>
            </a:r>
            <a:endParaRPr lang="en-US" sz="20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Location and History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" name="2648d018-8c73-44d7-bf79-1e52f19a0e58.source.4.zh-Hans.pptx" descr="e58e4bab-9383-44ea-b708-6ea285710f7d"/>
          <p:cNvGrpSpPr/>
          <p:nvPr/>
        </p:nvGrpSpPr>
        <p:grpSpPr>
          <a:xfrm>
            <a:off x="660400" y="-10632"/>
            <a:ext cx="10585673" cy="6144732"/>
            <a:chOff x="660400" y="-10632"/>
            <a:chExt cx="10585673" cy="6144732"/>
          </a:xfrm>
        </p:grpSpPr>
        <p:cxnSp>
          <p:nvCxnSpPr>
            <p:cNvPr id="4" name="iṩlïḋe" descr="be7ddf1f-530d-4295-8b0f-29e981b235c0"/>
            <p:cNvCxnSpPr/>
            <p:nvPr/>
          </p:nvCxnSpPr>
          <p:spPr>
            <a:xfrm flipV="1">
              <a:off x="3220780" y="-10632"/>
              <a:ext cx="0" cy="5384799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íšľidê" descr="cd64870d-1093-4687-9112-7ed629e24faa"/>
            <p:cNvSpPr/>
            <p:nvPr/>
          </p:nvSpPr>
          <p:spPr>
            <a:xfrm>
              <a:off x="3144884" y="5298271"/>
              <a:ext cx="151792" cy="15179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îşľîdé" descr="67dcd559-2a25-4749-96f1-a30e5becb328"/>
            <p:cNvSpPr/>
            <p:nvPr/>
          </p:nvSpPr>
          <p:spPr>
            <a:xfrm>
              <a:off x="3144884" y="4093535"/>
              <a:ext cx="151792" cy="15179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îṩľïďe" descr="9adca447-be0f-4ea6-b3df-1c6f41c43f1a"/>
            <p:cNvSpPr/>
            <p:nvPr/>
          </p:nvSpPr>
          <p:spPr>
            <a:xfrm>
              <a:off x="3144884" y="2888800"/>
              <a:ext cx="151792" cy="15179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ṣ1îḋé" descr="17e18b4d-d536-4a14-9e1c-c8ceb36fe92c"/>
            <p:cNvSpPr/>
            <p:nvPr/>
          </p:nvSpPr>
          <p:spPr>
            <a:xfrm>
              <a:off x="3144884" y="1684065"/>
              <a:ext cx="151792" cy="15179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itle" descr="f068a477-1564-49b4-a198-6d37d7abde2b"/>
            <p:cNvSpPr txBox="1"/>
            <p:nvPr/>
          </p:nvSpPr>
          <p:spPr>
            <a:xfrm>
              <a:off x="660400" y="1130300"/>
              <a:ext cx="2560379" cy="5003800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square" rtlCol="0" anchor="ctr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latin typeface="Arial" panose="020B0604020202020204"/>
                </a:rPr>
                <a:t>Geographical overview and transformation of the Kubuqi Desert</a:t>
              </a:r>
              <a:endParaRPr lang="en-US" sz="24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grpSp>
          <p:nvGrpSpPr>
            <p:cNvPr id="30" name="组合 29" descr="dfec45f7-c31f-49eb-9790-78c7d6980d3f"/>
            <p:cNvGrpSpPr/>
            <p:nvPr/>
          </p:nvGrpSpPr>
          <p:grpSpPr>
            <a:xfrm>
              <a:off x="3410082" y="1297838"/>
              <a:ext cx="7835991" cy="1193670"/>
              <a:chOff x="3410082" y="1297838"/>
              <a:chExt cx="7835991" cy="1193670"/>
            </a:xfrm>
          </p:grpSpPr>
          <p:sp>
            <p:nvSpPr>
              <p:cNvPr id="14" name="Bullet1" descr="5bb5ee38-eee3-4e0d-8175-977d48f501a3"/>
              <p:cNvSpPr txBox="1"/>
              <p:nvPr/>
            </p:nvSpPr>
            <p:spPr>
              <a:xfrm>
                <a:off x="4044507" y="1297838"/>
                <a:ext cx="7201562" cy="445078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Location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6" name="Text1" descr="0c5d6285-4ebf-474d-bb8e-33a6930f62d2"/>
              <p:cNvSpPr txBox="1"/>
              <p:nvPr/>
            </p:nvSpPr>
            <p:spPr>
              <a:xfrm>
                <a:off x="4044507" y="1742916"/>
                <a:ext cx="7201566" cy="7485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b="0" i="0" u="none">
                    <a:solidFill>
                      <a:srgbClr val="000000"/>
                    </a:solidFill>
                    <a:latin typeface="Arial" panose="020B0604020202020204"/>
                  </a:rPr>
                  <a:t>Situated north of Ordos City in Inner Mongolia, along the Yellow River's southern bank.</a:t>
                </a:r>
                <a:endParaRPr lang="en-US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" name="Number1" descr="6856c61d-ea01-493c-8b93-994d2a81aa50"/>
              <p:cNvSpPr txBox="1"/>
              <p:nvPr/>
            </p:nvSpPr>
            <p:spPr>
              <a:xfrm>
                <a:off x="3410082" y="1467573"/>
                <a:ext cx="6344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i="1" u="none">
                    <a:solidFill>
                      <a:srgbClr val="B07E2A"/>
                    </a:solidFill>
                    <a:latin typeface="Arial" panose="020B0604020202020204"/>
                  </a:rPr>
                  <a:t>01</a:t>
                </a:r>
                <a:endParaRPr lang="en-US" sz="3200" b="1" i="1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1" name="组合 30" descr="7c958c70-e097-4865-9068-e30c3323a171"/>
            <p:cNvGrpSpPr/>
            <p:nvPr/>
          </p:nvGrpSpPr>
          <p:grpSpPr>
            <a:xfrm>
              <a:off x="3410082" y="2519124"/>
              <a:ext cx="7835991" cy="1193670"/>
              <a:chOff x="3410082" y="2519124"/>
              <a:chExt cx="7835991" cy="1193670"/>
            </a:xfrm>
          </p:grpSpPr>
          <p:sp>
            <p:nvSpPr>
              <p:cNvPr id="17" name="Bullet2" descr="f69be667-da42-4b7a-9912-0b2203866dd8"/>
              <p:cNvSpPr txBox="1"/>
              <p:nvPr/>
            </p:nvSpPr>
            <p:spPr>
              <a:xfrm>
                <a:off x="4044507" y="2519124"/>
                <a:ext cx="7201562" cy="445078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Historical Transformation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Text2" descr="d41859a3-7f18-4a98-925b-3818e9f1816b"/>
              <p:cNvSpPr txBox="1"/>
              <p:nvPr/>
            </p:nvSpPr>
            <p:spPr>
              <a:xfrm>
                <a:off x="4044507" y="2964202"/>
                <a:ext cx="7201566" cy="7485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b="0" i="0" u="none">
                    <a:solidFill>
                      <a:srgbClr val="000000"/>
                    </a:solidFill>
                    <a:latin typeface="Arial" panose="020B0604020202020204"/>
                  </a:rPr>
                  <a:t>Once a lush grassland, it gradually degraded into a desert due to climate change and human activities.</a:t>
                </a:r>
                <a:endParaRPr lang="en-US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Number2" descr="0fd869a2-c52d-4f0d-b1d5-051325c50cfe"/>
              <p:cNvSpPr txBox="1"/>
              <p:nvPr/>
            </p:nvSpPr>
            <p:spPr>
              <a:xfrm>
                <a:off x="3410082" y="2672308"/>
                <a:ext cx="6344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i="1" u="none">
                    <a:solidFill>
                      <a:srgbClr val="B07E2A"/>
                    </a:solidFill>
                    <a:latin typeface="Arial" panose="020B0604020202020204"/>
                  </a:rPr>
                  <a:t>02</a:t>
                </a:r>
                <a:endParaRPr lang="en-US" sz="3200" b="1" i="1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2" name="组合 31" descr="942056af-3ca5-4a9c-9f8e-834a0ab048fd"/>
            <p:cNvGrpSpPr/>
            <p:nvPr/>
          </p:nvGrpSpPr>
          <p:grpSpPr>
            <a:xfrm>
              <a:off x="3410082" y="3729777"/>
              <a:ext cx="7835991" cy="1193670"/>
              <a:chOff x="3410082" y="3729777"/>
              <a:chExt cx="7835991" cy="1193670"/>
            </a:xfrm>
          </p:grpSpPr>
          <p:sp>
            <p:nvSpPr>
              <p:cNvPr id="19" name="Bullet3" descr="076f8e92-979f-409e-bd62-9c57e2d46cf8"/>
              <p:cNvSpPr txBox="1"/>
              <p:nvPr/>
            </p:nvSpPr>
            <p:spPr>
              <a:xfrm>
                <a:off x="4044507" y="3729777"/>
                <a:ext cx="7201562" cy="445078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Size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0" name="Text3" descr="e33f91d0-29e8-44f8-94d9-6c81634539dd"/>
              <p:cNvSpPr txBox="1"/>
              <p:nvPr/>
            </p:nvSpPr>
            <p:spPr>
              <a:xfrm>
                <a:off x="4044507" y="4174855"/>
                <a:ext cx="7201566" cy="7485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b="0" i="0" u="none">
                    <a:solidFill>
                      <a:srgbClr val="000000"/>
                    </a:solidFill>
                    <a:latin typeface="Arial" panose="020B0604020202020204"/>
                  </a:rPr>
                  <a:t>Encompasses approximately 18,600 square kilometers, making it China's seventh-largest desert.</a:t>
                </a:r>
                <a:endParaRPr lang="en-US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6" name="Number3" descr="91f52072-3ab3-4d7a-8175-1a79122be717"/>
              <p:cNvSpPr txBox="1"/>
              <p:nvPr/>
            </p:nvSpPr>
            <p:spPr>
              <a:xfrm>
                <a:off x="3410082" y="3877043"/>
                <a:ext cx="6344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i="1" u="none">
                    <a:solidFill>
                      <a:srgbClr val="B07E2A"/>
                    </a:solidFill>
                    <a:latin typeface="Arial" panose="020B0604020202020204"/>
                  </a:rPr>
                  <a:t>03</a:t>
                </a:r>
                <a:endParaRPr lang="en-US" sz="3200" b="1" i="1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3" name="组合 32" descr="d14b1a16-886e-4e54-9389-e3b39b253bfc"/>
            <p:cNvGrpSpPr/>
            <p:nvPr/>
          </p:nvGrpSpPr>
          <p:grpSpPr>
            <a:xfrm>
              <a:off x="3410082" y="4940430"/>
              <a:ext cx="7835991" cy="1193670"/>
              <a:chOff x="3410082" y="4940430"/>
              <a:chExt cx="7835991" cy="1193670"/>
            </a:xfrm>
          </p:grpSpPr>
          <p:sp>
            <p:nvSpPr>
              <p:cNvPr id="21" name="Bullet4" descr="d6584ce7-4b15-465b-be84-a0ed11149591"/>
              <p:cNvSpPr txBox="1"/>
              <p:nvPr/>
            </p:nvSpPr>
            <p:spPr>
              <a:xfrm>
                <a:off x="4044507" y="4940430"/>
                <a:ext cx="7201562" cy="445078"/>
              </a:xfrm>
              <a:prstGeom prst="rect">
                <a:avLst/>
              </a:prstGeom>
              <a:noFill/>
            </p:spPr>
            <p:txBody>
              <a:bodyPr wrap="square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Current State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Text4" descr="f6d2aedb-0d78-4b8b-bff3-e6751291ec7a"/>
              <p:cNvSpPr txBox="1"/>
              <p:nvPr/>
            </p:nvSpPr>
            <p:spPr>
              <a:xfrm>
                <a:off x="4044507" y="5385508"/>
                <a:ext cx="7201566" cy="74859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b="0" i="0" u="none">
                    <a:solidFill>
                      <a:srgbClr val="000000"/>
                    </a:solidFill>
                    <a:latin typeface="Arial" panose="020B0604020202020204"/>
                  </a:rPr>
                  <a:t>By the late 20th century, over 60% of the land was desertified, threatening ecological security.</a:t>
                </a:r>
                <a:endParaRPr lang="en-US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7" name="Number4" descr="1e281069-6394-4475-bbc7-25a24311a42d"/>
              <p:cNvSpPr txBox="1"/>
              <p:nvPr/>
            </p:nvSpPr>
            <p:spPr>
              <a:xfrm>
                <a:off x="3410082" y="5076775"/>
                <a:ext cx="6344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i="1" u="none">
                    <a:solidFill>
                      <a:srgbClr val="B07E2A"/>
                    </a:solidFill>
                    <a:latin typeface="Arial" panose="020B0604020202020204"/>
                  </a:rPr>
                  <a:t>04</a:t>
                </a:r>
                <a:endParaRPr lang="en-US" sz="3200" b="1" i="1" u="none">
                  <a:solidFill>
                    <a:srgbClr val="B07E2A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Ecological Challenges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" name="c22b79f7-9a2d-42a5-9e34-77b70f1ad8ac.source.3.zh-Hans.pptx" descr="efbe97db-f4b3-43e8-8421-3ea396bd427a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35" name="组合 34" descr="63a0d667-ec22-473a-b8b2-2deacf8aedf9"/>
            <p:cNvGrpSpPr/>
            <p:nvPr/>
          </p:nvGrpSpPr>
          <p:grpSpPr>
            <a:xfrm>
              <a:off x="941276" y="2601998"/>
              <a:ext cx="2690924" cy="3385621"/>
              <a:chOff x="4979876" y="2096852"/>
              <a:chExt cx="3082326" cy="3878068"/>
            </a:xfrm>
          </p:grpSpPr>
          <p:grpSp>
            <p:nvGrpSpPr>
              <p:cNvPr id="4" name="íṩlíḓè" descr="8ad51dbd-0c02-44b9-9688-0a328fa0617d"/>
              <p:cNvGrpSpPr/>
              <p:nvPr/>
            </p:nvGrpSpPr>
            <p:grpSpPr>
              <a:xfrm>
                <a:off x="4979876" y="2096852"/>
                <a:ext cx="3082326" cy="3878068"/>
                <a:chOff x="4899258" y="1913651"/>
                <a:chExt cx="2945594" cy="3706037"/>
              </a:xfrm>
            </p:grpSpPr>
            <p:grpSp>
              <p:nvGrpSpPr>
                <p:cNvPr id="18" name="îšḻîḍe" descr="03daa6f8-6bac-42a4-808d-ab7ce68b6587"/>
                <p:cNvGrpSpPr/>
                <p:nvPr/>
              </p:nvGrpSpPr>
              <p:grpSpPr>
                <a:xfrm>
                  <a:off x="4899258" y="3081120"/>
                  <a:ext cx="2945594" cy="2538568"/>
                  <a:chOff x="3386138" y="2149475"/>
                  <a:chExt cx="2368550" cy="1484313"/>
                </a:xfrm>
                <a:effectLst/>
              </p:grpSpPr>
              <p:sp>
                <p:nvSpPr>
                  <p:cNvPr id="22" name="iṩ1ïdê" descr="4c9b44ed-c693-4431-9499-951152c20f36"/>
                  <p:cNvSpPr/>
                  <p:nvPr/>
                </p:nvSpPr>
                <p:spPr bwMode="auto">
                  <a:xfrm>
                    <a:off x="3386138" y="2579688"/>
                    <a:ext cx="1184275" cy="1054100"/>
                  </a:xfrm>
                  <a:custGeom>
                    <a:avLst/>
                    <a:gdLst/>
                    <a:ahLst/>
                    <a:cxnLst>
                      <a:cxn ang="0">
                        <a:pos x="746" y="266"/>
                      </a:cxn>
                      <a:cxn ang="0">
                        <a:pos x="743" y="664"/>
                      </a:cxn>
                      <a:cxn ang="0">
                        <a:pos x="0" y="266"/>
                      </a:cxn>
                      <a:cxn ang="0">
                        <a:pos x="190" y="0"/>
                      </a:cxn>
                      <a:cxn ang="0">
                        <a:pos x="746" y="266"/>
                      </a:cxn>
                      <a:cxn ang="0">
                        <a:pos x="746" y="266"/>
                      </a:cxn>
                      <a:cxn ang="0">
                        <a:pos x="746" y="266"/>
                      </a:cxn>
                    </a:cxnLst>
                    <a:rect l="0" t="0" r="r" b="b"/>
                    <a:pathLst>
                      <a:path w="746" h="664">
                        <a:moveTo>
                          <a:pt x="746" y="266"/>
                        </a:moveTo>
                        <a:lnTo>
                          <a:pt x="743" y="664"/>
                        </a:lnTo>
                        <a:lnTo>
                          <a:pt x="0" y="266"/>
                        </a:lnTo>
                        <a:lnTo>
                          <a:pt x="190" y="0"/>
                        </a:lnTo>
                        <a:lnTo>
                          <a:pt x="746" y="266"/>
                        </a:lnTo>
                        <a:lnTo>
                          <a:pt x="746" y="266"/>
                        </a:lnTo>
                        <a:lnTo>
                          <a:pt x="746" y="266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3" name="íṩḷiḓé" descr="ebfc5107-af7c-4a26-9f15-50c9f861ba06"/>
                  <p:cNvSpPr/>
                  <p:nvPr/>
                </p:nvSpPr>
                <p:spPr bwMode="auto">
                  <a:xfrm>
                    <a:off x="4570413" y="2579688"/>
                    <a:ext cx="1184275" cy="1054100"/>
                  </a:xfrm>
                  <a:custGeom>
                    <a:avLst/>
                    <a:gdLst/>
                    <a:ahLst/>
                    <a:cxnLst>
                      <a:cxn ang="0">
                        <a:pos x="3" y="266"/>
                      </a:cxn>
                      <a:cxn ang="0">
                        <a:pos x="0" y="664"/>
                      </a:cxn>
                      <a:cxn ang="0">
                        <a:pos x="746" y="266"/>
                      </a:cxn>
                      <a:cxn ang="0">
                        <a:pos x="555" y="0"/>
                      </a:cxn>
                      <a:cxn ang="0">
                        <a:pos x="3" y="266"/>
                      </a:cxn>
                      <a:cxn ang="0">
                        <a:pos x="3" y="266"/>
                      </a:cxn>
                      <a:cxn ang="0">
                        <a:pos x="3" y="266"/>
                      </a:cxn>
                    </a:cxnLst>
                    <a:rect l="0" t="0" r="r" b="b"/>
                    <a:pathLst>
                      <a:path w="746" h="664">
                        <a:moveTo>
                          <a:pt x="3" y="266"/>
                        </a:moveTo>
                        <a:lnTo>
                          <a:pt x="0" y="664"/>
                        </a:lnTo>
                        <a:lnTo>
                          <a:pt x="746" y="266"/>
                        </a:lnTo>
                        <a:lnTo>
                          <a:pt x="555" y="0"/>
                        </a:lnTo>
                        <a:lnTo>
                          <a:pt x="3" y="266"/>
                        </a:lnTo>
                        <a:lnTo>
                          <a:pt x="3" y="266"/>
                        </a:lnTo>
                        <a:lnTo>
                          <a:pt x="3" y="26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>
                    <a:noFill/>
                    <a:round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4" name="i$ľïḑé" descr="408e33d4-508f-477a-89b3-6baf7cefa0a6"/>
                  <p:cNvSpPr/>
                  <p:nvPr/>
                </p:nvSpPr>
                <p:spPr bwMode="auto">
                  <a:xfrm>
                    <a:off x="3687763" y="2149475"/>
                    <a:ext cx="1766888" cy="852488"/>
                  </a:xfrm>
                  <a:custGeom>
                    <a:avLst/>
                    <a:gdLst/>
                    <a:ahLst/>
                    <a:cxnLst>
                      <a:cxn ang="0">
                        <a:pos x="0" y="268"/>
                      </a:cxn>
                      <a:cxn ang="0">
                        <a:pos x="556" y="0"/>
                      </a:cxn>
                      <a:cxn ang="0">
                        <a:pos x="1113" y="268"/>
                      </a:cxn>
                      <a:cxn ang="0">
                        <a:pos x="556" y="537"/>
                      </a:cxn>
                      <a:cxn ang="0">
                        <a:pos x="0" y="268"/>
                      </a:cxn>
                      <a:cxn ang="0">
                        <a:pos x="0" y="268"/>
                      </a:cxn>
                    </a:cxnLst>
                    <a:rect l="0" t="0" r="r" b="b"/>
                    <a:pathLst>
                      <a:path w="1113" h="537">
                        <a:moveTo>
                          <a:pt x="0" y="268"/>
                        </a:moveTo>
                        <a:lnTo>
                          <a:pt x="556" y="0"/>
                        </a:lnTo>
                        <a:lnTo>
                          <a:pt x="1113" y="268"/>
                        </a:lnTo>
                        <a:lnTo>
                          <a:pt x="556" y="537"/>
                        </a:lnTo>
                        <a:lnTo>
                          <a:pt x="0" y="268"/>
                        </a:lnTo>
                        <a:lnTo>
                          <a:pt x="0" y="268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19" name="íṩḷidè" descr="0ec7bd1d-28ba-4ecf-ae40-6a3c9be1736a"/>
                <p:cNvGrpSpPr/>
                <p:nvPr/>
              </p:nvGrpSpPr>
              <p:grpSpPr>
                <a:xfrm>
                  <a:off x="5373081" y="1913651"/>
                  <a:ext cx="1997949" cy="2315934"/>
                  <a:chOff x="3767139" y="1466850"/>
                  <a:chExt cx="1606550" cy="1354138"/>
                </a:xfrm>
                <a:effectLst/>
              </p:grpSpPr>
              <p:sp>
                <p:nvSpPr>
                  <p:cNvPr id="20" name="isliďê" descr="ad13aaf7-a32b-49fb-9e94-992bed273b0b"/>
                  <p:cNvSpPr/>
                  <p:nvPr/>
                </p:nvSpPr>
                <p:spPr bwMode="auto">
                  <a:xfrm>
                    <a:off x="3767139" y="1466850"/>
                    <a:ext cx="823913" cy="1354138"/>
                  </a:xfrm>
                  <a:custGeom>
                    <a:avLst/>
                    <a:gdLst/>
                    <a:ahLst/>
                    <a:cxnLst>
                      <a:cxn ang="0">
                        <a:pos x="519" y="853"/>
                      </a:cxn>
                      <a:cxn ang="0">
                        <a:pos x="0" y="621"/>
                      </a:cxn>
                      <a:cxn ang="0">
                        <a:pos x="516" y="0"/>
                      </a:cxn>
                      <a:cxn ang="0">
                        <a:pos x="519" y="853"/>
                      </a:cxn>
                      <a:cxn ang="0">
                        <a:pos x="519" y="853"/>
                      </a:cxn>
                      <a:cxn ang="0">
                        <a:pos x="519" y="853"/>
                      </a:cxn>
                    </a:cxnLst>
                    <a:rect l="0" t="0" r="r" b="b"/>
                    <a:pathLst>
                      <a:path w="519" h="853">
                        <a:moveTo>
                          <a:pt x="519" y="853"/>
                        </a:moveTo>
                        <a:lnTo>
                          <a:pt x="0" y="621"/>
                        </a:lnTo>
                        <a:lnTo>
                          <a:pt x="516" y="0"/>
                        </a:lnTo>
                        <a:lnTo>
                          <a:pt x="519" y="853"/>
                        </a:lnTo>
                        <a:lnTo>
                          <a:pt x="519" y="853"/>
                        </a:lnTo>
                        <a:lnTo>
                          <a:pt x="519" y="85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1" name="îṡḷïdé" descr="68f80450-ce55-4f3b-b367-918cb9c2fcba"/>
                  <p:cNvSpPr/>
                  <p:nvPr/>
                </p:nvSpPr>
                <p:spPr bwMode="auto">
                  <a:xfrm>
                    <a:off x="4581526" y="1466850"/>
                    <a:ext cx="792163" cy="1354138"/>
                  </a:xfrm>
                  <a:custGeom>
                    <a:avLst/>
                    <a:gdLst/>
                    <a:ahLst/>
                    <a:cxnLst>
                      <a:cxn ang="0">
                        <a:pos x="1" y="853"/>
                      </a:cxn>
                      <a:cxn ang="0">
                        <a:pos x="499" y="632"/>
                      </a:cxn>
                      <a:cxn ang="0">
                        <a:pos x="0" y="0"/>
                      </a:cxn>
                      <a:cxn ang="0">
                        <a:pos x="1" y="853"/>
                      </a:cxn>
                      <a:cxn ang="0">
                        <a:pos x="1" y="853"/>
                      </a:cxn>
                      <a:cxn ang="0">
                        <a:pos x="1" y="853"/>
                      </a:cxn>
                    </a:cxnLst>
                    <a:rect l="0" t="0" r="r" b="b"/>
                    <a:pathLst>
                      <a:path w="499" h="853">
                        <a:moveTo>
                          <a:pt x="1" y="853"/>
                        </a:moveTo>
                        <a:lnTo>
                          <a:pt x="499" y="632"/>
                        </a:lnTo>
                        <a:lnTo>
                          <a:pt x="0" y="0"/>
                        </a:lnTo>
                        <a:lnTo>
                          <a:pt x="1" y="853"/>
                        </a:lnTo>
                        <a:lnTo>
                          <a:pt x="1" y="853"/>
                        </a:lnTo>
                        <a:lnTo>
                          <a:pt x="1" y="85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60000"/>
                      <a:lumOff val="40000"/>
                    </a:schemeClr>
                  </a:solidFill>
                  <a:ln w="9525">
                    <a:noFill/>
                    <a:round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5" name="îṡľîdê" descr="db37daa9-554c-4a39-8afc-ddde343f9b1b"/>
              <p:cNvGrpSpPr/>
              <p:nvPr/>
            </p:nvGrpSpPr>
            <p:grpSpPr>
              <a:xfrm>
                <a:off x="6869123" y="2632426"/>
                <a:ext cx="736567" cy="736472"/>
                <a:chOff x="2350182" y="2175671"/>
                <a:chExt cx="740664" cy="740570"/>
              </a:xfrm>
            </p:grpSpPr>
            <p:sp>
              <p:nvSpPr>
                <p:cNvPr id="16" name="íṥlïḍê" descr="57b62878-c562-46f6-a8e1-2971539a5455"/>
                <p:cNvSpPr/>
                <p:nvPr/>
              </p:nvSpPr>
              <p:spPr>
                <a:xfrm>
                  <a:off x="2350182" y="2175671"/>
                  <a:ext cx="740664" cy="740570"/>
                </a:xfrm>
                <a:prstGeom prst="ellipse">
                  <a:avLst/>
                </a:prstGeom>
                <a:solidFill>
                  <a:schemeClr val="accent1"/>
                </a:solidFill>
                <a:ln w="63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7" name="îšlíḍé" descr="0eae345a-03ef-4b8e-a15a-abbcf38f685c"/>
                <p:cNvSpPr/>
                <p:nvPr/>
              </p:nvSpPr>
              <p:spPr bwMode="auto">
                <a:xfrm>
                  <a:off x="2518499" y="2358005"/>
                  <a:ext cx="404030" cy="375902"/>
                </a:xfrm>
                <a:custGeom>
                  <a:avLst/>
                  <a:gdLst/>
                  <a:ahLst/>
                  <a:cxnLst>
                    <a:cxn ang="0">
                      <a:pos x="13" y="39"/>
                    </a:cxn>
                    <a:cxn ang="0">
                      <a:pos x="8" y="39"/>
                    </a:cxn>
                    <a:cxn ang="0">
                      <a:pos x="0" y="33"/>
                    </a:cxn>
                    <a:cxn ang="0">
                      <a:pos x="5" y="19"/>
                    </a:cxn>
                    <a:cxn ang="0">
                      <a:pos x="15" y="22"/>
                    </a:cxn>
                    <a:cxn ang="0">
                      <a:pos x="20" y="21"/>
                    </a:cxn>
                    <a:cxn ang="0">
                      <a:pos x="20" y="24"/>
                    </a:cxn>
                    <a:cxn ang="0">
                      <a:pos x="23" y="34"/>
                    </a:cxn>
                    <a:cxn ang="0">
                      <a:pos x="13" y="39"/>
                    </a:cxn>
                    <a:cxn ang="0">
                      <a:pos x="15" y="19"/>
                    </a:cxn>
                    <a:cxn ang="0">
                      <a:pos x="5" y="9"/>
                    </a:cxn>
                    <a:cxn ang="0">
                      <a:pos x="15" y="0"/>
                    </a:cxn>
                    <a:cxn ang="0">
                      <a:pos x="25" y="9"/>
                    </a:cxn>
                    <a:cxn ang="0">
                      <a:pos x="15" y="19"/>
                    </a:cxn>
                    <a:cxn ang="0">
                      <a:pos x="53" y="68"/>
                    </a:cxn>
                    <a:cxn ang="0">
                      <a:pos x="20" y="68"/>
                    </a:cxn>
                    <a:cxn ang="0">
                      <a:pos x="10" y="58"/>
                    </a:cxn>
                    <a:cxn ang="0">
                      <a:pos x="23" y="36"/>
                    </a:cxn>
                    <a:cxn ang="0">
                      <a:pos x="37" y="41"/>
                    </a:cxn>
                    <a:cxn ang="0">
                      <a:pos x="50" y="36"/>
                    </a:cxn>
                    <a:cxn ang="0">
                      <a:pos x="64" y="58"/>
                    </a:cxn>
                    <a:cxn ang="0">
                      <a:pos x="53" y="68"/>
                    </a:cxn>
                    <a:cxn ang="0">
                      <a:pos x="37" y="39"/>
                    </a:cxn>
                    <a:cxn ang="0">
                      <a:pos x="22" y="24"/>
                    </a:cxn>
                    <a:cxn ang="0">
                      <a:pos x="37" y="9"/>
                    </a:cxn>
                    <a:cxn ang="0">
                      <a:pos x="51" y="24"/>
                    </a:cxn>
                    <a:cxn ang="0">
                      <a:pos x="37" y="39"/>
                    </a:cxn>
                    <a:cxn ang="0">
                      <a:pos x="59" y="19"/>
                    </a:cxn>
                    <a:cxn ang="0">
                      <a:pos x="49" y="9"/>
                    </a:cxn>
                    <a:cxn ang="0">
                      <a:pos x="59" y="0"/>
                    </a:cxn>
                    <a:cxn ang="0">
                      <a:pos x="68" y="9"/>
                    </a:cxn>
                    <a:cxn ang="0">
                      <a:pos x="59" y="19"/>
                    </a:cxn>
                    <a:cxn ang="0">
                      <a:pos x="66" y="39"/>
                    </a:cxn>
                    <a:cxn ang="0">
                      <a:pos x="61" y="39"/>
                    </a:cxn>
                    <a:cxn ang="0">
                      <a:pos x="51" y="34"/>
                    </a:cxn>
                    <a:cxn ang="0">
                      <a:pos x="54" y="24"/>
                    </a:cxn>
                    <a:cxn ang="0">
                      <a:pos x="54" y="21"/>
                    </a:cxn>
                    <a:cxn ang="0">
                      <a:pos x="59" y="22"/>
                    </a:cxn>
                    <a:cxn ang="0">
                      <a:pos x="69" y="19"/>
                    </a:cxn>
                    <a:cxn ang="0">
                      <a:pos x="73" y="33"/>
                    </a:cxn>
                    <a:cxn ang="0">
                      <a:pos x="66" y="39"/>
                    </a:cxn>
                  </a:cxnLst>
                  <a:rect l="0" t="0" r="r" b="b"/>
                  <a:pathLst>
                    <a:path w="73" h="68">
                      <a:moveTo>
                        <a:pt x="13" y="39"/>
                      </a:moveTo>
                      <a:cubicBezTo>
                        <a:pt x="8" y="39"/>
                        <a:pt x="8" y="39"/>
                        <a:pt x="8" y="39"/>
                      </a:cubicBezTo>
                      <a:cubicBezTo>
                        <a:pt x="4" y="39"/>
                        <a:pt x="0" y="37"/>
                        <a:pt x="0" y="33"/>
                      </a:cubicBezTo>
                      <a:cubicBezTo>
                        <a:pt x="0" y="29"/>
                        <a:pt x="0" y="19"/>
                        <a:pt x="5" y="19"/>
                      </a:cubicBezTo>
                      <a:cubicBezTo>
                        <a:pt x="6" y="19"/>
                        <a:pt x="10" y="22"/>
                        <a:pt x="15" y="22"/>
                      </a:cubicBezTo>
                      <a:cubicBezTo>
                        <a:pt x="17" y="22"/>
                        <a:pt x="18" y="22"/>
                        <a:pt x="20" y="21"/>
                      </a:cubicBezTo>
                      <a:cubicBezTo>
                        <a:pt x="20" y="22"/>
                        <a:pt x="20" y="23"/>
                        <a:pt x="20" y="24"/>
                      </a:cubicBezTo>
                      <a:cubicBezTo>
                        <a:pt x="20" y="27"/>
                        <a:pt x="21" y="31"/>
                        <a:pt x="23" y="34"/>
                      </a:cubicBezTo>
                      <a:cubicBezTo>
                        <a:pt x="19" y="34"/>
                        <a:pt x="15" y="36"/>
                        <a:pt x="13" y="39"/>
                      </a:cubicBezTo>
                      <a:close/>
                      <a:moveTo>
                        <a:pt x="15" y="19"/>
                      </a:moveTo>
                      <a:cubicBezTo>
                        <a:pt x="10" y="19"/>
                        <a:pt x="5" y="15"/>
                        <a:pt x="5" y="9"/>
                      </a:cubicBezTo>
                      <a:cubicBezTo>
                        <a:pt x="5" y="4"/>
                        <a:pt x="10" y="0"/>
                        <a:pt x="15" y="0"/>
                      </a:cubicBezTo>
                      <a:cubicBezTo>
                        <a:pt x="20" y="0"/>
                        <a:pt x="25" y="4"/>
                        <a:pt x="25" y="9"/>
                      </a:cubicBezTo>
                      <a:cubicBezTo>
                        <a:pt x="25" y="15"/>
                        <a:pt x="20" y="19"/>
                        <a:pt x="15" y="19"/>
                      </a:cubicBezTo>
                      <a:close/>
                      <a:moveTo>
                        <a:pt x="53" y="68"/>
                      </a:moveTo>
                      <a:cubicBezTo>
                        <a:pt x="20" y="68"/>
                        <a:pt x="20" y="68"/>
                        <a:pt x="20" y="68"/>
                      </a:cubicBezTo>
                      <a:cubicBezTo>
                        <a:pt x="14" y="68"/>
                        <a:pt x="10" y="64"/>
                        <a:pt x="10" y="58"/>
                      </a:cubicBezTo>
                      <a:cubicBezTo>
                        <a:pt x="10" y="49"/>
                        <a:pt x="12" y="36"/>
                        <a:pt x="23" y="36"/>
                      </a:cubicBezTo>
                      <a:cubicBezTo>
                        <a:pt x="25" y="36"/>
                        <a:pt x="29" y="41"/>
                        <a:pt x="37" y="41"/>
                      </a:cubicBezTo>
                      <a:cubicBezTo>
                        <a:pt x="44" y="41"/>
                        <a:pt x="49" y="36"/>
                        <a:pt x="50" y="36"/>
                      </a:cubicBezTo>
                      <a:cubicBezTo>
                        <a:pt x="62" y="36"/>
                        <a:pt x="64" y="49"/>
                        <a:pt x="64" y="58"/>
                      </a:cubicBezTo>
                      <a:cubicBezTo>
                        <a:pt x="64" y="64"/>
                        <a:pt x="60" y="68"/>
                        <a:pt x="53" y="68"/>
                      </a:cubicBezTo>
                      <a:close/>
                      <a:moveTo>
                        <a:pt x="37" y="39"/>
                      </a:moveTo>
                      <a:cubicBezTo>
                        <a:pt x="29" y="39"/>
                        <a:pt x="22" y="32"/>
                        <a:pt x="22" y="24"/>
                      </a:cubicBezTo>
                      <a:cubicBezTo>
                        <a:pt x="22" y="16"/>
                        <a:pt x="29" y="9"/>
                        <a:pt x="37" y="9"/>
                      </a:cubicBezTo>
                      <a:cubicBezTo>
                        <a:pt x="45" y="9"/>
                        <a:pt x="51" y="16"/>
                        <a:pt x="51" y="24"/>
                      </a:cubicBezTo>
                      <a:cubicBezTo>
                        <a:pt x="51" y="32"/>
                        <a:pt x="45" y="39"/>
                        <a:pt x="37" y="39"/>
                      </a:cubicBezTo>
                      <a:close/>
                      <a:moveTo>
                        <a:pt x="59" y="19"/>
                      </a:moveTo>
                      <a:cubicBezTo>
                        <a:pt x="53" y="19"/>
                        <a:pt x="49" y="15"/>
                        <a:pt x="49" y="9"/>
                      </a:cubicBezTo>
                      <a:cubicBezTo>
                        <a:pt x="49" y="4"/>
                        <a:pt x="53" y="0"/>
                        <a:pt x="59" y="0"/>
                      </a:cubicBezTo>
                      <a:cubicBezTo>
                        <a:pt x="64" y="0"/>
                        <a:pt x="68" y="4"/>
                        <a:pt x="68" y="9"/>
                      </a:cubicBezTo>
                      <a:cubicBezTo>
                        <a:pt x="68" y="15"/>
                        <a:pt x="64" y="19"/>
                        <a:pt x="59" y="19"/>
                      </a:cubicBezTo>
                      <a:close/>
                      <a:moveTo>
                        <a:pt x="66" y="39"/>
                      </a:moveTo>
                      <a:cubicBezTo>
                        <a:pt x="61" y="39"/>
                        <a:pt x="61" y="39"/>
                        <a:pt x="61" y="39"/>
                      </a:cubicBezTo>
                      <a:cubicBezTo>
                        <a:pt x="58" y="36"/>
                        <a:pt x="55" y="34"/>
                        <a:pt x="51" y="34"/>
                      </a:cubicBezTo>
                      <a:cubicBezTo>
                        <a:pt x="53" y="31"/>
                        <a:pt x="54" y="27"/>
                        <a:pt x="54" y="24"/>
                      </a:cubicBezTo>
                      <a:cubicBezTo>
                        <a:pt x="54" y="23"/>
                        <a:pt x="54" y="22"/>
                        <a:pt x="54" y="21"/>
                      </a:cubicBezTo>
                      <a:cubicBezTo>
                        <a:pt x="55" y="22"/>
                        <a:pt x="57" y="22"/>
                        <a:pt x="59" y="22"/>
                      </a:cubicBezTo>
                      <a:cubicBezTo>
                        <a:pt x="64" y="22"/>
                        <a:pt x="68" y="19"/>
                        <a:pt x="69" y="19"/>
                      </a:cubicBezTo>
                      <a:cubicBezTo>
                        <a:pt x="73" y="19"/>
                        <a:pt x="73" y="29"/>
                        <a:pt x="73" y="33"/>
                      </a:cubicBezTo>
                      <a:cubicBezTo>
                        <a:pt x="73" y="37"/>
                        <a:pt x="70" y="39"/>
                        <a:pt x="66" y="3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6" name="îŝlîdè" descr="f090172a-b969-4f60-af5f-1f7baaeaab47"/>
              <p:cNvGrpSpPr/>
              <p:nvPr/>
            </p:nvGrpSpPr>
            <p:grpSpPr>
              <a:xfrm>
                <a:off x="5053760" y="3592267"/>
                <a:ext cx="736567" cy="736472"/>
                <a:chOff x="4036332" y="2175671"/>
                <a:chExt cx="740664" cy="740570"/>
              </a:xfrm>
            </p:grpSpPr>
            <p:sp>
              <p:nvSpPr>
                <p:cNvPr id="14" name="íSḻíḓé" descr="46527c8d-c339-4354-8667-25d2b4076c34"/>
                <p:cNvSpPr/>
                <p:nvPr/>
              </p:nvSpPr>
              <p:spPr>
                <a:xfrm>
                  <a:off x="4036332" y="2175671"/>
                  <a:ext cx="740664" cy="740570"/>
                </a:xfrm>
                <a:prstGeom prst="ellipse">
                  <a:avLst/>
                </a:prstGeom>
                <a:solidFill>
                  <a:schemeClr val="accent1"/>
                </a:solidFill>
                <a:ln w="635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5" name="íṡļîḍé" descr="621cc928-ab19-46e6-8499-2743ac7a79c8"/>
                <p:cNvSpPr/>
                <p:nvPr/>
              </p:nvSpPr>
              <p:spPr bwMode="auto">
                <a:xfrm>
                  <a:off x="4209814" y="2351959"/>
                  <a:ext cx="393700" cy="387995"/>
                </a:xfrm>
                <a:custGeom>
                  <a:avLst/>
                  <a:gdLst/>
                  <a:ahLst/>
                  <a:cxnLst>
                    <a:cxn ang="0">
                      <a:pos x="59" y="63"/>
                    </a:cxn>
                    <a:cxn ang="0">
                      <a:pos x="55" y="61"/>
                    </a:cxn>
                    <a:cxn ang="0">
                      <a:pos x="42" y="48"/>
                    </a:cxn>
                    <a:cxn ang="0">
                      <a:pos x="27" y="53"/>
                    </a:cxn>
                    <a:cxn ang="0">
                      <a:pos x="0" y="26"/>
                    </a:cxn>
                    <a:cxn ang="0">
                      <a:pos x="27" y="0"/>
                    </a:cxn>
                    <a:cxn ang="0">
                      <a:pos x="54" y="26"/>
                    </a:cxn>
                    <a:cxn ang="0">
                      <a:pos x="49" y="41"/>
                    </a:cxn>
                    <a:cxn ang="0">
                      <a:pos x="62" y="54"/>
                    </a:cxn>
                    <a:cxn ang="0">
                      <a:pos x="64" y="58"/>
                    </a:cxn>
                    <a:cxn ang="0">
                      <a:pos x="59" y="63"/>
                    </a:cxn>
                    <a:cxn ang="0">
                      <a:pos x="27" y="9"/>
                    </a:cxn>
                    <a:cxn ang="0">
                      <a:pos x="10" y="26"/>
                    </a:cxn>
                    <a:cxn ang="0">
                      <a:pos x="27" y="43"/>
                    </a:cxn>
                    <a:cxn ang="0">
                      <a:pos x="44" y="26"/>
                    </a:cxn>
                    <a:cxn ang="0">
                      <a:pos x="27" y="9"/>
                    </a:cxn>
                  </a:cxnLst>
                  <a:rect l="0" t="0" r="r" b="b"/>
                  <a:pathLst>
                    <a:path w="64" h="63">
                      <a:moveTo>
                        <a:pt x="59" y="63"/>
                      </a:moveTo>
                      <a:cubicBezTo>
                        <a:pt x="57" y="63"/>
                        <a:pt x="56" y="62"/>
                        <a:pt x="55" y="61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38" y="51"/>
                        <a:pt x="33" y="53"/>
                        <a:pt x="27" y="53"/>
                      </a:cubicBezTo>
                      <a:cubicBezTo>
                        <a:pt x="12" y="53"/>
                        <a:pt x="0" y="41"/>
                        <a:pt x="0" y="26"/>
                      </a:cubicBez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2" y="0"/>
                        <a:pt x="54" y="12"/>
                        <a:pt x="54" y="26"/>
                      </a:cubicBezTo>
                      <a:cubicBezTo>
                        <a:pt x="54" y="32"/>
                        <a:pt x="52" y="37"/>
                        <a:pt x="49" y="41"/>
                      </a:cubicBezTo>
                      <a:cubicBezTo>
                        <a:pt x="62" y="54"/>
                        <a:pt x="62" y="54"/>
                        <a:pt x="62" y="54"/>
                      </a:cubicBezTo>
                      <a:cubicBezTo>
                        <a:pt x="63" y="55"/>
                        <a:pt x="64" y="57"/>
                        <a:pt x="64" y="58"/>
                      </a:cubicBezTo>
                      <a:cubicBezTo>
                        <a:pt x="64" y="61"/>
                        <a:pt x="61" y="63"/>
                        <a:pt x="59" y="63"/>
                      </a:cubicBezTo>
                      <a:close/>
                      <a:moveTo>
                        <a:pt x="27" y="9"/>
                      </a:moveTo>
                      <a:cubicBezTo>
                        <a:pt x="18" y="9"/>
                        <a:pt x="10" y="17"/>
                        <a:pt x="10" y="26"/>
                      </a:cubicBezTo>
                      <a:cubicBezTo>
                        <a:pt x="10" y="36"/>
                        <a:pt x="18" y="43"/>
                        <a:pt x="27" y="43"/>
                      </a:cubicBezTo>
                      <a:cubicBezTo>
                        <a:pt x="37" y="43"/>
                        <a:pt x="44" y="36"/>
                        <a:pt x="44" y="26"/>
                      </a:cubicBezTo>
                      <a:cubicBezTo>
                        <a:pt x="44" y="17"/>
                        <a:pt x="37" y="9"/>
                        <a:pt x="27" y="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25" name="Title" descr="5ffbfdb9-6245-45d8-8465-55f5d246b15f"/>
            <p:cNvSpPr txBox="1"/>
            <p:nvPr/>
          </p:nvSpPr>
          <p:spPr>
            <a:xfrm>
              <a:off x="660400" y="1130300"/>
              <a:ext cx="3441700" cy="12065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36" name="组合 35" descr="f626dfdf-19bf-4f82-b93d-b817b84ba1e2"/>
            <p:cNvGrpSpPr/>
            <p:nvPr/>
          </p:nvGrpSpPr>
          <p:grpSpPr>
            <a:xfrm>
              <a:off x="4235450" y="1130300"/>
              <a:ext cx="7283450" cy="1574800"/>
              <a:chOff x="660400" y="1753484"/>
              <a:chExt cx="7283450" cy="1574800"/>
            </a:xfrm>
          </p:grpSpPr>
          <p:sp>
            <p:nvSpPr>
              <p:cNvPr id="37" name="Text1" descr="9323a4d4-feb6-4f48-8ba3-7e547cbe0680"/>
              <p:cNvSpPr/>
              <p:nvPr>
                <p:custDataLst>
                  <p:tags r:id="rId2"/>
                </p:custDataLst>
              </p:nvPr>
            </p:nvSpPr>
            <p:spPr>
              <a:xfrm>
                <a:off x="1161068" y="2195528"/>
                <a:ext cx="6782767" cy="11327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2000" b="0" i="0" u="none">
                    <a:solidFill>
                      <a:srgbClr val="000000"/>
                    </a:solidFill>
                    <a:latin typeface="Arial" panose="020B0604020202020204"/>
                  </a:rPr>
                  <a:t>Expanding mobile sand dunes discharged 160 million tons of sediment into the Yellow River annually, causing severe soil erosion.</a:t>
                </a:r>
                <a:endParaRPr lang="en-US" sz="20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8" name="Bullet1" descr="44a8b038-ec6b-4484-b341-8ef0657a913a"/>
              <p:cNvSpPr/>
              <p:nvPr>
                <p:custDataLst>
                  <p:tags r:id="rId3"/>
                </p:custDataLst>
              </p:nvPr>
            </p:nvSpPr>
            <p:spPr>
              <a:xfrm>
                <a:off x="1161070" y="1753484"/>
                <a:ext cx="6782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Desertification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9" name="Number1" descr="c721b73f-e4b8-4eef-90ea-a1caaf96136b"/>
              <p:cNvSpPr/>
              <p:nvPr>
                <p:custDataLst>
                  <p:tags r:id="rId4"/>
                </p:custDataLst>
              </p:nvPr>
            </p:nvSpPr>
            <p:spPr>
              <a:xfrm>
                <a:off x="660400" y="1753484"/>
                <a:ext cx="442045" cy="442045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 lnSpcReduction="10000"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0" name="组合 39" descr="63f37d28-2b19-4312-9a92-f7a746d6f134"/>
            <p:cNvGrpSpPr/>
            <p:nvPr/>
          </p:nvGrpSpPr>
          <p:grpSpPr>
            <a:xfrm>
              <a:off x="4235450" y="2844800"/>
              <a:ext cx="7283450" cy="1574800"/>
              <a:chOff x="660400" y="1753484"/>
              <a:chExt cx="7283450" cy="1574800"/>
            </a:xfrm>
          </p:grpSpPr>
          <p:sp>
            <p:nvSpPr>
              <p:cNvPr id="41" name="Text2" descr="e83971bf-d717-4350-b31d-fd63164f1e11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1068" y="2195528"/>
                <a:ext cx="6782767" cy="11327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2000" b="0" i="0" u="none">
                    <a:solidFill>
                      <a:srgbClr val="000000"/>
                    </a:solidFill>
                    <a:latin typeface="Arial" panose="020B0604020202020204"/>
                  </a:rPr>
                  <a:t>Vegetation coverage dropped below 5%, and animal habitats deteriorated significantly, leading to a decline in species diversity.</a:t>
                </a:r>
                <a:endParaRPr lang="en-US" sz="20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" name="Bullet2" descr="6c5e2dc7-09dd-46e4-8e0b-0b2b65536aa1"/>
              <p:cNvSpPr/>
              <p:nvPr>
                <p:custDataLst>
                  <p:tags r:id="rId6"/>
                </p:custDataLst>
              </p:nvPr>
            </p:nvSpPr>
            <p:spPr>
              <a:xfrm>
                <a:off x="1161070" y="1753484"/>
                <a:ext cx="6782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Biodiversity Loss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3" name="Number2" descr="2ce6994c-50fd-4afd-9699-eb22268a4f60"/>
              <p:cNvSpPr/>
              <p:nvPr>
                <p:custDataLst>
                  <p:tags r:id="rId7"/>
                </p:custDataLst>
              </p:nvPr>
            </p:nvSpPr>
            <p:spPr>
              <a:xfrm>
                <a:off x="660400" y="1753484"/>
                <a:ext cx="442045" cy="442045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 lnSpcReduction="10000"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4" name="组合 43" descr="14f437d7-c802-42f1-b428-9ef07b8ea686"/>
            <p:cNvGrpSpPr/>
            <p:nvPr/>
          </p:nvGrpSpPr>
          <p:grpSpPr>
            <a:xfrm>
              <a:off x="4235450" y="4559300"/>
              <a:ext cx="7283450" cy="1574800"/>
              <a:chOff x="660400" y="1753484"/>
              <a:chExt cx="7283450" cy="1574800"/>
            </a:xfrm>
          </p:grpSpPr>
          <p:sp>
            <p:nvSpPr>
              <p:cNvPr id="45" name="Text3" descr="2049f6dd-c2d0-40e3-8148-155ecc716dd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1068" y="2195528"/>
                <a:ext cx="6782767" cy="11327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2000" b="0" i="0" u="none">
                    <a:solidFill>
                      <a:srgbClr val="000000"/>
                    </a:solidFill>
                    <a:latin typeface="Arial" panose="020B0604020202020204"/>
                  </a:rPr>
                  <a:t>Over 53,000 farmers and herders were trapped in poverty due to land degradation, creating a cycle of poverty-driven overexploitation and further desertification.</a:t>
                </a:r>
                <a:endParaRPr lang="en-US" sz="20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6" name="Bullet3" descr="90115fcb-04f0-4294-bf17-29ae9559f5d4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1070" y="1753484"/>
                <a:ext cx="6782780" cy="4420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Livelihood Threats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7" name="Number3" descr="acaa4ffd-21ef-42e9-87a2-f07deca51326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0400" y="1753484"/>
                <a:ext cx="442045" cy="442045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</p:spPr>
            <p:txBody>
              <a:bodyPr wrap="none" rtlCol="0" anchor="ctr">
                <a:normAutofit lnSpcReduction="10000"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6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9da20c9-c1fc-4314-bbea-a313ab43861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 panose="020B0604020202020204"/>
              </a:rPr>
              <a:t>Restoration Measures</a:t>
            </a:r>
            <a:endParaRPr lang="en-US" sz="36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文本占位符 2" descr="e652efa6-940e-4443-8d49-3c24163ffc8b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000000"/>
                </a:solidFill>
                <a:latin typeface="Arial" panose="020B0604020202020204"/>
              </a:rPr>
              <a:t>Comprehensive strategies and technologies used in desert restoration</a:t>
            </a:r>
            <a:endParaRPr lang="en-US" sz="20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Technical Approaches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4" name="bbeceb1c-3da2-4600-be2f-6539d3cb5864.source.3.zh-Hans.pptx" descr="9b09e7d9-b1e4-47b8-951b-3e959d45b0c5"/>
          <p:cNvGrpSpPr/>
          <p:nvPr/>
        </p:nvGrpSpPr>
        <p:grpSpPr>
          <a:xfrm>
            <a:off x="-1224100" y="1130300"/>
            <a:ext cx="12742999" cy="5003800"/>
            <a:chOff x="-1224100" y="1130300"/>
            <a:chExt cx="12742999" cy="5003800"/>
          </a:xfrm>
        </p:grpSpPr>
        <p:grpSp>
          <p:nvGrpSpPr>
            <p:cNvPr id="41" name="组合 40" descr="c071bb73-4998-4a5b-b138-3ff7e3c8256d"/>
            <p:cNvGrpSpPr/>
            <p:nvPr/>
          </p:nvGrpSpPr>
          <p:grpSpPr>
            <a:xfrm>
              <a:off x="-1224100" y="1130300"/>
              <a:ext cx="12742999" cy="5003800"/>
              <a:chOff x="-498384" y="1130300"/>
              <a:chExt cx="12742999" cy="5003800"/>
            </a:xfrm>
          </p:grpSpPr>
          <p:sp>
            <p:nvSpPr>
              <p:cNvPr id="10" name="弧形 9" descr="4270d4e3-a327-4552-9682-ebfe5d915214"/>
              <p:cNvSpPr/>
              <p:nvPr/>
            </p:nvSpPr>
            <p:spPr>
              <a:xfrm>
                <a:off x="-498384" y="1130300"/>
                <a:ext cx="5003800" cy="5003800"/>
              </a:xfrm>
              <a:prstGeom prst="arc">
                <a:avLst>
                  <a:gd name="adj1" fmla="val 16200000"/>
                  <a:gd name="adj2" fmla="val 5381824"/>
                </a:avLst>
              </a:prstGeom>
              <a:noFill/>
              <a:ln w="6350" cap="sq">
                <a:solidFill>
                  <a:schemeClr val="tx1">
                    <a:alpha val="5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l"/>
              </a:p>
            </p:txBody>
          </p:sp>
          <p:grpSp>
            <p:nvGrpSpPr>
              <p:cNvPr id="11" name="组合 10" descr="c8ffd407-c893-4734-acd4-1e9c716d5f00"/>
              <p:cNvGrpSpPr/>
              <p:nvPr/>
            </p:nvGrpSpPr>
            <p:grpSpPr>
              <a:xfrm>
                <a:off x="3567380" y="1241551"/>
                <a:ext cx="8677235" cy="1406144"/>
                <a:chOff x="3159187" y="1176776"/>
                <a:chExt cx="8677235" cy="587429"/>
              </a:xfrm>
            </p:grpSpPr>
            <p:sp>
              <p:nvSpPr>
                <p:cNvPr id="37" name="椭圆 36" descr="13ade4ed-7926-46dc-99a3-ce8d2aa8f137"/>
                <p:cNvSpPr/>
                <p:nvPr/>
              </p:nvSpPr>
              <p:spPr>
                <a:xfrm>
                  <a:off x="3159187" y="1391535"/>
                  <a:ext cx="378000" cy="157913"/>
                </a:xfrm>
                <a:prstGeom prst="ellipse">
                  <a:avLst/>
                </a:prstGeom>
                <a:solidFill>
                  <a:schemeClr val="bg1"/>
                </a:solidFill>
                <a:ln w="6350" cap="sq">
                  <a:solidFill>
                    <a:schemeClr val="tx1">
                      <a:alpha val="5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/>
                </a:p>
              </p:txBody>
            </p:sp>
            <p:sp>
              <p:nvSpPr>
                <p:cNvPr id="38" name="Bullet1" descr="29b63b2d-9b7d-4714-9f91-192b387a545a"/>
                <p:cNvSpPr/>
                <p:nvPr/>
              </p:nvSpPr>
              <p:spPr>
                <a:xfrm>
                  <a:off x="3985683" y="1176776"/>
                  <a:ext cx="2742489" cy="587429"/>
                </a:xfrm>
                <a:prstGeom prst="roundRect">
                  <a:avLst>
                    <a:gd name="adj" fmla="val 50000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Straw Checkerboard Sand Fixation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9" name="Text1" descr="aee47674-2594-4282-8c48-62fb1e0d47f4"/>
                <p:cNvSpPr/>
                <p:nvPr/>
              </p:nvSpPr>
              <p:spPr>
                <a:xfrm>
                  <a:off x="6728175" y="1176776"/>
                  <a:ext cx="5108247" cy="58742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2000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Wheat straws are laid in 1m×1m grids to stabilize moving sand, effectively reducing wind speed and inhibiting dune migration.</a:t>
                  </a:r>
                  <a:endParaRPr lang="en-US" sz="2000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cxnSp>
              <p:nvCxnSpPr>
                <p:cNvPr id="40" name="直接连接符 39" descr="587ba895-e009-4e23-a7fe-b3657ce300b8"/>
                <p:cNvCxnSpPr>
                  <a:stCxn id="38" idx="1"/>
                  <a:endCxn id="37" idx="6"/>
                </p:cNvCxnSpPr>
                <p:nvPr/>
              </p:nvCxnSpPr>
              <p:spPr>
                <a:xfrm flipH="1">
                  <a:off x="3537187" y="1470491"/>
                  <a:ext cx="448496" cy="1"/>
                </a:xfrm>
                <a:prstGeom prst="line">
                  <a:avLst/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组合 11" descr="a36468b7-fdae-4cc4-8dfe-1f9423c20207"/>
              <p:cNvGrpSpPr/>
              <p:nvPr/>
            </p:nvGrpSpPr>
            <p:grpSpPr>
              <a:xfrm>
                <a:off x="4275967" y="2929127"/>
                <a:ext cx="7968647" cy="1406144"/>
                <a:chOff x="4059364" y="2041460"/>
                <a:chExt cx="7968647" cy="587429"/>
              </a:xfrm>
            </p:grpSpPr>
            <p:sp>
              <p:nvSpPr>
                <p:cNvPr id="33" name="椭圆 32" descr="670a40d4-d504-41cb-a0e7-8dc95dc0b761"/>
                <p:cNvSpPr/>
                <p:nvPr/>
              </p:nvSpPr>
              <p:spPr>
                <a:xfrm>
                  <a:off x="4059364" y="2256219"/>
                  <a:ext cx="378000" cy="157913"/>
                </a:xfrm>
                <a:prstGeom prst="ellipse">
                  <a:avLst/>
                </a:prstGeom>
                <a:solidFill>
                  <a:schemeClr val="bg1"/>
                </a:solidFill>
                <a:ln w="6350" cap="sq">
                  <a:solidFill>
                    <a:schemeClr val="tx1">
                      <a:alpha val="5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/>
                </a:p>
              </p:txBody>
            </p:sp>
            <p:sp>
              <p:nvSpPr>
                <p:cNvPr id="34" name="Bullet2" descr="0328236d-144d-4c28-9485-3b64be50d6b7"/>
                <p:cNvSpPr/>
                <p:nvPr/>
              </p:nvSpPr>
              <p:spPr>
                <a:xfrm>
                  <a:off x="4854020" y="2041460"/>
                  <a:ext cx="2742489" cy="587429"/>
                </a:xfrm>
                <a:prstGeom prst="roundRect">
                  <a:avLst>
                    <a:gd name="adj" fmla="val 50000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Minimally Invasive Tree Planting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5" name="Text2" descr="e15a2fde-caa9-4405-9b8b-3f0509f290ec"/>
                <p:cNvSpPr/>
                <p:nvPr/>
              </p:nvSpPr>
              <p:spPr>
                <a:xfrm>
                  <a:off x="7596510" y="2041460"/>
                  <a:ext cx="4431501" cy="58742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Water jets drill holes for planting drought-resistant species like Salix psammophila and Caragana korshinskii, increasing survival rates to over 80%.</a:t>
                  </a:r>
                  <a:endParaRPr lang="en-US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cxnSp>
              <p:nvCxnSpPr>
                <p:cNvPr id="36" name="直接连接符 35" descr="eafae6e6-6c6f-45a1-a553-86bfc8b57f79"/>
                <p:cNvCxnSpPr>
                  <a:stCxn id="33" idx="6"/>
                  <a:endCxn id="34" idx="1"/>
                </p:cNvCxnSpPr>
                <p:nvPr/>
              </p:nvCxnSpPr>
              <p:spPr>
                <a:xfrm flipV="1">
                  <a:off x="4437364" y="2335175"/>
                  <a:ext cx="416656" cy="1"/>
                </a:xfrm>
                <a:prstGeom prst="line">
                  <a:avLst/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 descr="159ffa05-74b7-4ed2-9f1d-4205944aec5d"/>
              <p:cNvGrpSpPr/>
              <p:nvPr/>
            </p:nvGrpSpPr>
            <p:grpSpPr>
              <a:xfrm>
                <a:off x="3567380" y="4616703"/>
                <a:ext cx="8677235" cy="1406144"/>
                <a:chOff x="4360325" y="2906144"/>
                <a:chExt cx="8677235" cy="587429"/>
              </a:xfrm>
            </p:grpSpPr>
            <p:sp>
              <p:nvSpPr>
                <p:cNvPr id="28" name="椭圆 27" descr="8aea0f91-7fd4-4fd1-b45e-855636d46c8a"/>
                <p:cNvSpPr/>
                <p:nvPr/>
              </p:nvSpPr>
              <p:spPr>
                <a:xfrm>
                  <a:off x="4360325" y="3120903"/>
                  <a:ext cx="378000" cy="157913"/>
                </a:xfrm>
                <a:prstGeom prst="ellipse">
                  <a:avLst/>
                </a:prstGeom>
                <a:solidFill>
                  <a:schemeClr val="bg1"/>
                </a:solidFill>
                <a:ln w="6350" cap="sq">
                  <a:solidFill>
                    <a:schemeClr val="tx1">
                      <a:alpha val="50000"/>
                    </a:schemeClr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/>
                </a:p>
              </p:txBody>
            </p:sp>
            <p:sp>
              <p:nvSpPr>
                <p:cNvPr id="30" name="Bullet3" descr="fbbd8692-6e80-446d-90b0-ea382694bd37"/>
                <p:cNvSpPr/>
                <p:nvPr/>
              </p:nvSpPr>
              <p:spPr>
                <a:xfrm>
                  <a:off x="5186821" y="2906144"/>
                  <a:ext cx="2742489" cy="587429"/>
                </a:xfrm>
                <a:prstGeom prst="roundRect">
                  <a:avLst>
                    <a:gd name="adj" fmla="val 50000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Infrastructure Support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1" name="Text3" descr="ab4ae0f1-5dbb-4ea7-a8b2-c23683d94cf0"/>
                <p:cNvSpPr/>
                <p:nvPr/>
              </p:nvSpPr>
              <p:spPr>
                <a:xfrm>
                  <a:off x="7929313" y="2906144"/>
                  <a:ext cx="5108247" cy="58742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2000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Yellow River diversion drip irrigation systems are constructed to establish water-efficient networks for ecological recovery.</a:t>
                  </a:r>
                  <a:endParaRPr lang="en-US" sz="2000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cxnSp>
              <p:nvCxnSpPr>
                <p:cNvPr id="32" name="直接连接符 31" descr="1c9901c2-2005-4e6a-800d-5ab823650be5"/>
                <p:cNvCxnSpPr>
                  <a:stCxn id="28" idx="6"/>
                  <a:endCxn id="30" idx="1"/>
                </p:cNvCxnSpPr>
                <p:nvPr/>
              </p:nvCxnSpPr>
              <p:spPr>
                <a:xfrm flipV="1">
                  <a:off x="4738325" y="3199859"/>
                  <a:ext cx="448496" cy="1"/>
                </a:xfrm>
                <a:prstGeom prst="line">
                  <a:avLst/>
                </a:prstGeom>
                <a:ln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" name="PictureMisc1" descr="22d423be-47fb-40ec-a6da-a85501e63de5"/>
            <p:cNvSpPr/>
            <p:nvPr/>
          </p:nvSpPr>
          <p:spPr>
            <a:xfrm>
              <a:off x="0" y="1427430"/>
              <a:ext cx="3437096" cy="4414570"/>
            </a:xfrm>
            <a:custGeom>
              <a:avLst/>
              <a:gdLst>
                <a:gd name="connsiteX0" fmla="*/ 1229811 w 3437096"/>
                <a:gd name="connsiteY0" fmla="*/ 0 h 4414570"/>
                <a:gd name="connsiteX1" fmla="*/ 3437096 w 3437096"/>
                <a:gd name="connsiteY1" fmla="*/ 2207285 h 4414570"/>
                <a:gd name="connsiteX2" fmla="*/ 1229811 w 3437096"/>
                <a:gd name="connsiteY2" fmla="*/ 4414570 h 4414570"/>
                <a:gd name="connsiteX3" fmla="*/ 85254 w 3437096"/>
                <a:gd name="connsiteY3" fmla="*/ 4095014 h 4414570"/>
                <a:gd name="connsiteX4" fmla="*/ 0 w 3437096"/>
                <a:gd name="connsiteY4" fmla="*/ 4039269 h 4414570"/>
                <a:gd name="connsiteX5" fmla="*/ 0 w 3437096"/>
                <a:gd name="connsiteY5" fmla="*/ 375302 h 4414570"/>
                <a:gd name="connsiteX6" fmla="*/ 85254 w 3437096"/>
                <a:gd name="connsiteY6" fmla="*/ 319556 h 4414570"/>
                <a:gd name="connsiteX7" fmla="*/ 1229811 w 3437096"/>
                <a:gd name="connsiteY7" fmla="*/ 0 h 441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7096" h="4414570">
                  <a:moveTo>
                    <a:pt x="1229811" y="0"/>
                  </a:moveTo>
                  <a:cubicBezTo>
                    <a:pt x="2448861" y="0"/>
                    <a:pt x="3437096" y="988235"/>
                    <a:pt x="3437096" y="2207285"/>
                  </a:cubicBezTo>
                  <a:cubicBezTo>
                    <a:pt x="3437096" y="3426335"/>
                    <a:pt x="2448861" y="4414570"/>
                    <a:pt x="1229811" y="4414570"/>
                  </a:cubicBezTo>
                  <a:cubicBezTo>
                    <a:pt x="810763" y="4414570"/>
                    <a:pt x="418988" y="4297796"/>
                    <a:pt x="85254" y="4095014"/>
                  </a:cubicBezTo>
                  <a:lnTo>
                    <a:pt x="0" y="4039269"/>
                  </a:lnTo>
                  <a:lnTo>
                    <a:pt x="0" y="375302"/>
                  </a:lnTo>
                  <a:lnTo>
                    <a:pt x="85254" y="319556"/>
                  </a:lnTo>
                  <a:cubicBezTo>
                    <a:pt x="418988" y="116774"/>
                    <a:pt x="810763" y="0"/>
                    <a:pt x="1229811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 l="-28697" r="-28525"/>
              </a:stretch>
            </a:blipFill>
            <a:ln w="6031" cap="sq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l"/>
            </a:p>
          </p:txBody>
        </p:sp>
        <p:sp>
          <p:nvSpPr>
            <p:cNvPr id="5" name="Title" descr="35582231-2a27-4040-a43e-270a07d25cd1"/>
            <p:cNvSpPr/>
            <p:nvPr/>
          </p:nvSpPr>
          <p:spPr>
            <a:xfrm>
              <a:off x="0" y="1924957"/>
              <a:ext cx="2936059" cy="3414486"/>
            </a:xfrm>
            <a:custGeom>
              <a:avLst/>
              <a:gdLst>
                <a:gd name="connsiteX0" fmla="*/ 1228816 w 2936059"/>
                <a:gd name="connsiteY0" fmla="*/ 0 h 3414486"/>
                <a:gd name="connsiteX1" fmla="*/ 2936059 w 2936059"/>
                <a:gd name="connsiteY1" fmla="*/ 1707243 h 3414486"/>
                <a:gd name="connsiteX2" fmla="*/ 1228816 w 2936059"/>
                <a:gd name="connsiteY2" fmla="*/ 3414486 h 3414486"/>
                <a:gd name="connsiteX3" fmla="*/ 21613 w 2936059"/>
                <a:gd name="connsiteY3" fmla="*/ 2914446 h 3414486"/>
                <a:gd name="connsiteX4" fmla="*/ 0 w 2936059"/>
                <a:gd name="connsiteY4" fmla="*/ 2890666 h 3414486"/>
                <a:gd name="connsiteX5" fmla="*/ 0 w 2936059"/>
                <a:gd name="connsiteY5" fmla="*/ 523820 h 3414486"/>
                <a:gd name="connsiteX6" fmla="*/ 21613 w 2936059"/>
                <a:gd name="connsiteY6" fmla="*/ 500040 h 3414486"/>
                <a:gd name="connsiteX7" fmla="*/ 1228816 w 2936059"/>
                <a:gd name="connsiteY7" fmla="*/ 0 h 341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36059" h="3414486">
                  <a:moveTo>
                    <a:pt x="1228816" y="0"/>
                  </a:moveTo>
                  <a:cubicBezTo>
                    <a:pt x="2171700" y="0"/>
                    <a:pt x="2936059" y="764359"/>
                    <a:pt x="2936059" y="1707243"/>
                  </a:cubicBezTo>
                  <a:cubicBezTo>
                    <a:pt x="2936059" y="2650127"/>
                    <a:pt x="2171700" y="3414486"/>
                    <a:pt x="1228816" y="3414486"/>
                  </a:cubicBezTo>
                  <a:cubicBezTo>
                    <a:pt x="757374" y="3414486"/>
                    <a:pt x="330563" y="3223397"/>
                    <a:pt x="21613" y="2914446"/>
                  </a:cubicBezTo>
                  <a:lnTo>
                    <a:pt x="0" y="2890666"/>
                  </a:lnTo>
                  <a:lnTo>
                    <a:pt x="0" y="523820"/>
                  </a:lnTo>
                  <a:lnTo>
                    <a:pt x="21613" y="500040"/>
                  </a:lnTo>
                  <a:cubicBezTo>
                    <a:pt x="330563" y="191090"/>
                    <a:pt x="757374" y="0"/>
                    <a:pt x="1228816" y="0"/>
                  </a:cubicBez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prstDash val="solid"/>
              <a:miter/>
            </a:ln>
          </p:spPr>
          <p:txBody>
            <a:bodyPr wrap="square" rtlCol="0" anchor="ctr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latin typeface="Arial" panose="020B0604020202020204"/>
                </a:rPr>
                <a:t>Innovative methods for stabilizing sand and promoting growth</a:t>
              </a:r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Biodiversity and Industry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1" name="5eddbfb3-6d94-4d3f-8736-9b34fb7d7e4a.source.5.zh-Hans.pptx" descr="d9a8dea5-8e28-4db5-9a58-074b621decff"/>
          <p:cNvGrpSpPr/>
          <p:nvPr/>
        </p:nvGrpSpPr>
        <p:grpSpPr>
          <a:xfrm>
            <a:off x="658005" y="1130303"/>
            <a:ext cx="10996966" cy="4683476"/>
            <a:chOff x="658005" y="1130303"/>
            <a:chExt cx="10996966" cy="4683476"/>
          </a:xfrm>
        </p:grpSpPr>
        <p:sp>
          <p:nvSpPr>
            <p:cNvPr id="3" name="Title" descr="69d9f9b8-a4db-4bb0-a247-b54dd986dd7c"/>
            <p:cNvSpPr txBox="1"/>
            <p:nvPr/>
          </p:nvSpPr>
          <p:spPr>
            <a:xfrm>
              <a:off x="660400" y="1130303"/>
              <a:ext cx="10858500" cy="7368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latin typeface="Arial" panose="020B0604020202020204"/>
                </a:rPr>
                <a:t>Efforts to enhance biodiversity and promote sustainable industries</a:t>
              </a:r>
              <a:endParaRPr lang="en-US" sz="2400" b="1" i="0" u="none" strike="noStrik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15" name="组合 14" descr="2fae3e7e-a61d-4e69-b567-d17a86bd4fc9"/>
            <p:cNvGrpSpPr/>
            <p:nvPr/>
          </p:nvGrpSpPr>
          <p:grpSpPr>
            <a:xfrm>
              <a:off x="658005" y="2541728"/>
              <a:ext cx="2519535" cy="3272051"/>
              <a:chOff x="658005" y="2541728"/>
              <a:chExt cx="2519535" cy="3272051"/>
            </a:xfrm>
          </p:grpSpPr>
          <p:sp>
            <p:nvSpPr>
              <p:cNvPr id="4" name="Bullet1" descr="7eaacff2-762c-4efd-b766-ab6d59d485ef"/>
              <p:cNvSpPr/>
              <p:nvPr/>
            </p:nvSpPr>
            <p:spPr>
              <a:xfrm>
                <a:off x="660400" y="2541728"/>
                <a:ext cx="2517140" cy="1455230"/>
              </a:xfrm>
              <a:prstGeom prst="homePlate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Key Pioneer Plants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Text1" descr="37c09163-9b1a-4da4-b62f-1987669a97b1"/>
              <p:cNvSpPr/>
              <p:nvPr/>
            </p:nvSpPr>
            <p:spPr>
              <a:xfrm>
                <a:off x="658005" y="4136337"/>
                <a:ext cx="1915830" cy="16774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Haloxylon ammodendron and Hippophae rhamnoides are prioritized to form a multi-layered "grass-shrub-tree" protective system.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6" name="组合 15" descr="55389b20-7375-4571-a34c-fea90c0e7767"/>
            <p:cNvGrpSpPr/>
            <p:nvPr/>
          </p:nvGrpSpPr>
          <p:grpSpPr>
            <a:xfrm>
              <a:off x="2638934" y="2541728"/>
              <a:ext cx="2657964" cy="3272051"/>
              <a:chOff x="2638934" y="2541728"/>
              <a:chExt cx="2657964" cy="3272051"/>
            </a:xfrm>
          </p:grpSpPr>
          <p:sp>
            <p:nvSpPr>
              <p:cNvPr id="5" name="Bullet2" descr="23e79cb6-dd34-4e66-a9f9-1253e0e3f607"/>
              <p:cNvSpPr/>
              <p:nvPr/>
            </p:nvSpPr>
            <p:spPr>
              <a:xfrm>
                <a:off x="2638934" y="2541728"/>
                <a:ext cx="2657964" cy="1455230"/>
              </a:xfrm>
              <a:prstGeom prst="chevron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Soil Improvement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Text2" descr="5cfca6e8-29a3-4ea6-91e8-416839d8d5dc"/>
              <p:cNvSpPr/>
              <p:nvPr/>
            </p:nvSpPr>
            <p:spPr>
              <a:xfrm>
                <a:off x="2731220" y="4136337"/>
                <a:ext cx="1915830" cy="16774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Organic fertilizers and microbial agents are applied to improve sandy soil, significantly enhancing water retention.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7" name="组合 16" descr="7ce36a25-c1cb-4ff7-a28e-f1df7d851759"/>
            <p:cNvGrpSpPr/>
            <p:nvPr/>
          </p:nvGrpSpPr>
          <p:grpSpPr>
            <a:xfrm>
              <a:off x="4758292" y="2541728"/>
              <a:ext cx="2657964" cy="3272051"/>
              <a:chOff x="4758292" y="2541728"/>
              <a:chExt cx="2657964" cy="3272051"/>
            </a:xfrm>
          </p:grpSpPr>
          <p:sp>
            <p:nvSpPr>
              <p:cNvPr id="6" name="Bullet3" descr="97386374-496a-4e37-bdde-a7d46b09279f"/>
              <p:cNvSpPr/>
              <p:nvPr/>
            </p:nvSpPr>
            <p:spPr>
              <a:xfrm>
                <a:off x="4758292" y="2541728"/>
                <a:ext cx="2657964" cy="1455230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/>
                <a:r>
                  <a:rPr lang="en-US" sz="1700" b="1" i="0" u="none">
                    <a:solidFill>
                      <a:srgbClr val="FFFFFF"/>
                    </a:solidFill>
                    <a:latin typeface="Arial" panose="020B0604020202020204"/>
                  </a:rPr>
                  <a:t>Industrial Development</a:t>
                </a:r>
                <a:endParaRPr lang="en-US" sz="17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Text3" descr="8a20bb04-54cd-403f-b44f-0b354bd2a6f9"/>
              <p:cNvSpPr/>
              <p:nvPr/>
            </p:nvSpPr>
            <p:spPr>
              <a:xfrm>
                <a:off x="4804435" y="4136337"/>
                <a:ext cx="1915830" cy="16774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Photovoltaic (PV) sand-control projects generate over 4 billion kWh annually, while under-panel cultivation of licorice and other crops creates compound benefits.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8" name="组合 17" descr="2bb2b99a-36cb-4a41-9808-6e142eacf804"/>
            <p:cNvGrpSpPr/>
            <p:nvPr/>
          </p:nvGrpSpPr>
          <p:grpSpPr>
            <a:xfrm>
              <a:off x="6877650" y="2541728"/>
              <a:ext cx="2657964" cy="3272051"/>
              <a:chOff x="6877650" y="2541728"/>
              <a:chExt cx="2657964" cy="3272051"/>
            </a:xfrm>
          </p:grpSpPr>
          <p:sp>
            <p:nvSpPr>
              <p:cNvPr id="7" name="Bullet4" descr="f2366006-957d-4efd-9d19-a651dedb4888"/>
              <p:cNvSpPr/>
              <p:nvPr/>
            </p:nvSpPr>
            <p:spPr>
              <a:xfrm>
                <a:off x="6877650" y="2541728"/>
                <a:ext cx="2657964" cy="1455230"/>
              </a:xfrm>
              <a:prstGeom prst="chevron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/>
                <a:r>
                  <a:rPr lang="en-US" sz="1400" b="1" i="0" u="none">
                    <a:solidFill>
                      <a:srgbClr val="000000"/>
                    </a:solidFill>
                    <a:latin typeface="Arial" panose="020B0604020202020204"/>
                  </a:rPr>
                  <a:t>Ecotourism</a:t>
                </a:r>
                <a:endParaRPr lang="en-US" sz="14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3" name="Text4" descr="08bb64cd-4d33-43ef-910f-33f69bf947d0"/>
              <p:cNvSpPr/>
              <p:nvPr/>
            </p:nvSpPr>
            <p:spPr>
              <a:xfrm>
                <a:off x="6877650" y="4136337"/>
                <a:ext cx="1915830" cy="16774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Sites like Qixing Lake and Xiangshawan attract over 3 million visitors yearly, driving employment transformation.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9" name="组合 18" descr="717cb641-5e3d-4eef-9e86-53a25eae4f8a"/>
            <p:cNvGrpSpPr/>
            <p:nvPr/>
          </p:nvGrpSpPr>
          <p:grpSpPr>
            <a:xfrm>
              <a:off x="8950864" y="2541728"/>
              <a:ext cx="2704107" cy="3272051"/>
              <a:chOff x="8950864" y="2541728"/>
              <a:chExt cx="2704107" cy="3272051"/>
            </a:xfrm>
          </p:grpSpPr>
          <p:sp>
            <p:nvSpPr>
              <p:cNvPr id="10" name="Bullet5" descr="122b1cd4-e5d2-4740-a2eb-08b1d939e4a1"/>
              <p:cNvSpPr/>
              <p:nvPr/>
            </p:nvSpPr>
            <p:spPr>
              <a:xfrm>
                <a:off x="8997007" y="2541728"/>
                <a:ext cx="2657964" cy="1455230"/>
              </a:xfrm>
              <a:prstGeom prst="chevron">
                <a:avLst/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rmAutofit/>
              </a:bodyPr>
              <a:lstStyle/>
              <a:p>
                <a:pPr algn="ctr"/>
                <a:r>
                  <a:rPr lang="en-US" sz="1700" b="1" i="0" u="none">
                    <a:solidFill>
                      <a:srgbClr val="000000"/>
                    </a:solidFill>
                    <a:latin typeface="Arial" panose="020B0604020202020204"/>
                  </a:rPr>
                  <a:t>Medicinal Plant Industry</a:t>
                </a:r>
                <a:endParaRPr lang="en-US" sz="17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4" name="Text5" descr="5e9fcb78-f9b5-4ffd-9b73-ccc1daa2cd52"/>
              <p:cNvSpPr/>
              <p:nvPr/>
            </p:nvSpPr>
            <p:spPr>
              <a:xfrm>
                <a:off x="8950864" y="4136337"/>
                <a:ext cx="1915830" cy="16774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The cultivation of desert-adapted herbs has grown into a billion-yuan sector, achieving dual goals of desert control and poverty alleviation.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Policy and Community Involvement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4" name="b47b567e-9602-4d1b-9f2c-41deb98bd653.source.5.zh-Hans.pptx" descr="6ee8b348-3064-4d38-a279-4f05c2cc172e"/>
          <p:cNvGrpSpPr/>
          <p:nvPr/>
        </p:nvGrpSpPr>
        <p:grpSpPr>
          <a:xfrm>
            <a:off x="660400" y="1130300"/>
            <a:ext cx="10864850" cy="5003800"/>
            <a:chOff x="660400" y="1130300"/>
            <a:chExt cx="10864850" cy="5003800"/>
          </a:xfrm>
        </p:grpSpPr>
        <p:sp>
          <p:nvSpPr>
            <p:cNvPr id="3" name="Title" descr="ea2db882-aa7a-45d1-a7d8-a3c2bd7669a3"/>
            <p:cNvSpPr txBox="1"/>
            <p:nvPr/>
          </p:nvSpPr>
          <p:spPr>
            <a:xfrm>
              <a:off x="66675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latin typeface="Arial" panose="020B0604020202020204"/>
                </a:rPr>
                <a:t>Collaboration and engagement for effective restoration</a:t>
              </a:r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cxnSp>
          <p:nvCxnSpPr>
            <p:cNvPr id="4" name="直接连接符 3" descr="d1cab775-c85c-4cb6-8fa8-c3341136fab0"/>
            <p:cNvCxnSpPr/>
            <p:nvPr/>
          </p:nvCxnSpPr>
          <p:spPr>
            <a:xfrm>
              <a:off x="666750" y="2496457"/>
              <a:ext cx="108585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合 24" descr="a6ba51eb-f616-4dae-98b8-00f8372c0c87"/>
            <p:cNvGrpSpPr/>
            <p:nvPr/>
          </p:nvGrpSpPr>
          <p:grpSpPr>
            <a:xfrm>
              <a:off x="660400" y="2380342"/>
              <a:ext cx="2317934" cy="3753758"/>
              <a:chOff x="972414" y="2380342"/>
              <a:chExt cx="2317934" cy="3753758"/>
            </a:xfrm>
          </p:grpSpPr>
          <p:sp>
            <p:nvSpPr>
              <p:cNvPr id="21" name="Bullet1" descr="8526b62e-727c-4715-aa86-3bb6698335bd"/>
              <p:cNvSpPr/>
              <p:nvPr/>
            </p:nvSpPr>
            <p:spPr>
              <a:xfrm>
                <a:off x="1093958" y="2795817"/>
                <a:ext cx="2074846" cy="1215910"/>
              </a:xfrm>
              <a:custGeom>
                <a:avLst/>
                <a:gdLst>
                  <a:gd name="connsiteX0" fmla="*/ 1088571 w 2177143"/>
                  <a:gd name="connsiteY0" fmla="*/ 0 h 1451429"/>
                  <a:gd name="connsiteX1" fmla="*/ 1197428 w 2177143"/>
                  <a:gd name="connsiteY1" fmla="*/ 130629 h 1451429"/>
                  <a:gd name="connsiteX2" fmla="*/ 2177143 w 2177143"/>
                  <a:gd name="connsiteY2" fmla="*/ 130629 h 1451429"/>
                  <a:gd name="connsiteX3" fmla="*/ 2177143 w 2177143"/>
                  <a:gd name="connsiteY3" fmla="*/ 1451429 h 1451429"/>
                  <a:gd name="connsiteX4" fmla="*/ 0 w 2177143"/>
                  <a:gd name="connsiteY4" fmla="*/ 1451429 h 1451429"/>
                  <a:gd name="connsiteX5" fmla="*/ 0 w 2177143"/>
                  <a:gd name="connsiteY5" fmla="*/ 130629 h 1451429"/>
                  <a:gd name="connsiteX6" fmla="*/ 979714 w 2177143"/>
                  <a:gd name="connsiteY6" fmla="*/ 130629 h 145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7143" h="1451429">
                    <a:moveTo>
                      <a:pt x="1088571" y="0"/>
                    </a:moveTo>
                    <a:lnTo>
                      <a:pt x="1197428" y="130629"/>
                    </a:lnTo>
                    <a:lnTo>
                      <a:pt x="2177143" y="130629"/>
                    </a:lnTo>
                    <a:lnTo>
                      <a:pt x="2177143" y="1451429"/>
                    </a:lnTo>
                    <a:lnTo>
                      <a:pt x="0" y="1451429"/>
                    </a:lnTo>
                    <a:lnTo>
                      <a:pt x="0" y="130629"/>
                    </a:lnTo>
                    <a:lnTo>
                      <a:pt x="979714" y="1306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Government Initiatives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ComponentBackground1" descr="1360908b-d9a6-4461-8772-2fd8ade06394"/>
              <p:cNvSpPr/>
              <p:nvPr/>
            </p:nvSpPr>
            <p:spPr>
              <a:xfrm>
                <a:off x="1093958" y="4011725"/>
                <a:ext cx="2074846" cy="2122375"/>
              </a:xfrm>
              <a:prstGeom prst="rect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hape1" descr="6180b9a0-8305-4138-8dc2-fb103411db07"/>
              <p:cNvSpPr/>
              <p:nvPr/>
            </p:nvSpPr>
            <p:spPr>
              <a:xfrm>
                <a:off x="2015267" y="2380342"/>
                <a:ext cx="232229" cy="23222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1" descr="45081b89-0339-4e48-b544-753299fd5b38"/>
              <p:cNvSpPr/>
              <p:nvPr/>
            </p:nvSpPr>
            <p:spPr>
              <a:xfrm>
                <a:off x="972414" y="4194972"/>
                <a:ext cx="2317934" cy="17994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Central and local governments invested over 10 billion yuan in initiatives like the Grain-for-Green Program and ecological compensation policies.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6" name="组合 25" descr="656715a4-0381-40c3-aeff-505b7741c9c4"/>
            <p:cNvGrpSpPr/>
            <p:nvPr/>
          </p:nvGrpSpPr>
          <p:grpSpPr>
            <a:xfrm>
              <a:off x="2795542" y="2380342"/>
              <a:ext cx="2317934" cy="3753758"/>
              <a:chOff x="3611260" y="2380342"/>
              <a:chExt cx="2317934" cy="3753758"/>
            </a:xfrm>
          </p:grpSpPr>
          <p:sp>
            <p:nvSpPr>
              <p:cNvPr id="17" name="Bullet2" descr="cebb272e-0e0f-47d0-861e-60d68bf8bb5f"/>
              <p:cNvSpPr/>
              <p:nvPr/>
            </p:nvSpPr>
            <p:spPr>
              <a:xfrm>
                <a:off x="3732804" y="2795817"/>
                <a:ext cx="2074846" cy="1215910"/>
              </a:xfrm>
              <a:custGeom>
                <a:avLst/>
                <a:gdLst>
                  <a:gd name="connsiteX0" fmla="*/ 1088571 w 2177143"/>
                  <a:gd name="connsiteY0" fmla="*/ 0 h 1451429"/>
                  <a:gd name="connsiteX1" fmla="*/ 1197428 w 2177143"/>
                  <a:gd name="connsiteY1" fmla="*/ 130629 h 1451429"/>
                  <a:gd name="connsiteX2" fmla="*/ 2177143 w 2177143"/>
                  <a:gd name="connsiteY2" fmla="*/ 130629 h 1451429"/>
                  <a:gd name="connsiteX3" fmla="*/ 2177143 w 2177143"/>
                  <a:gd name="connsiteY3" fmla="*/ 1451429 h 1451429"/>
                  <a:gd name="connsiteX4" fmla="*/ 0 w 2177143"/>
                  <a:gd name="connsiteY4" fmla="*/ 1451429 h 1451429"/>
                  <a:gd name="connsiteX5" fmla="*/ 0 w 2177143"/>
                  <a:gd name="connsiteY5" fmla="*/ 130629 h 1451429"/>
                  <a:gd name="connsiteX6" fmla="*/ 979714 w 2177143"/>
                  <a:gd name="connsiteY6" fmla="*/ 130629 h 145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7143" h="1451429">
                    <a:moveTo>
                      <a:pt x="1088571" y="0"/>
                    </a:moveTo>
                    <a:lnTo>
                      <a:pt x="1197428" y="130629"/>
                    </a:lnTo>
                    <a:lnTo>
                      <a:pt x="2177143" y="130629"/>
                    </a:lnTo>
                    <a:lnTo>
                      <a:pt x="2177143" y="1451429"/>
                    </a:lnTo>
                    <a:lnTo>
                      <a:pt x="0" y="1451429"/>
                    </a:lnTo>
                    <a:lnTo>
                      <a:pt x="0" y="130629"/>
                    </a:lnTo>
                    <a:lnTo>
                      <a:pt x="979714" y="1306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Corporate Partnerships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ComponentBackground2" descr="0668fd51-7f5f-4b8d-ac43-ba85241e38c4"/>
              <p:cNvSpPr/>
              <p:nvPr/>
            </p:nvSpPr>
            <p:spPr>
              <a:xfrm>
                <a:off x="3732804" y="4011725"/>
                <a:ext cx="2074846" cy="2122375"/>
              </a:xfrm>
              <a:prstGeom prst="rect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hape2" descr="eca45417-249a-4a3c-8cad-0c30df1eb0a4"/>
              <p:cNvSpPr/>
              <p:nvPr/>
            </p:nvSpPr>
            <p:spPr>
              <a:xfrm>
                <a:off x="4654113" y="2380342"/>
                <a:ext cx="232229" cy="232229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2" descr="4811f13e-5192-4381-986b-56546a20c847"/>
              <p:cNvSpPr/>
              <p:nvPr/>
            </p:nvSpPr>
            <p:spPr>
              <a:xfrm>
                <a:off x="3611260" y="4194972"/>
                <a:ext cx="2317934" cy="17994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Companies such as Elion Resources Group promoted restoration projects via Public-Private Partnership (PPP) models.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7" name="组合 26" descr="c6f8a5ba-2f80-4f4b-a272-88213614070f"/>
            <p:cNvGrpSpPr/>
            <p:nvPr/>
          </p:nvGrpSpPr>
          <p:grpSpPr>
            <a:xfrm>
              <a:off x="4930684" y="2380342"/>
              <a:ext cx="2317934" cy="3753758"/>
              <a:chOff x="6250106" y="2380342"/>
              <a:chExt cx="2317934" cy="3753758"/>
            </a:xfrm>
          </p:grpSpPr>
          <p:sp>
            <p:nvSpPr>
              <p:cNvPr id="13" name="Bullet3" descr="994a2188-1183-4ab7-8fbc-d008a2e5c819"/>
              <p:cNvSpPr/>
              <p:nvPr/>
            </p:nvSpPr>
            <p:spPr>
              <a:xfrm>
                <a:off x="6371650" y="2795817"/>
                <a:ext cx="2074846" cy="1215910"/>
              </a:xfrm>
              <a:custGeom>
                <a:avLst/>
                <a:gdLst>
                  <a:gd name="connsiteX0" fmla="*/ 1088571 w 2177143"/>
                  <a:gd name="connsiteY0" fmla="*/ 0 h 1451429"/>
                  <a:gd name="connsiteX1" fmla="*/ 1197428 w 2177143"/>
                  <a:gd name="connsiteY1" fmla="*/ 130629 h 1451429"/>
                  <a:gd name="connsiteX2" fmla="*/ 2177143 w 2177143"/>
                  <a:gd name="connsiteY2" fmla="*/ 130629 h 1451429"/>
                  <a:gd name="connsiteX3" fmla="*/ 2177143 w 2177143"/>
                  <a:gd name="connsiteY3" fmla="*/ 1451429 h 1451429"/>
                  <a:gd name="connsiteX4" fmla="*/ 0 w 2177143"/>
                  <a:gd name="connsiteY4" fmla="*/ 1451429 h 1451429"/>
                  <a:gd name="connsiteX5" fmla="*/ 0 w 2177143"/>
                  <a:gd name="connsiteY5" fmla="*/ 130629 h 1451429"/>
                  <a:gd name="connsiteX6" fmla="*/ 979714 w 2177143"/>
                  <a:gd name="connsiteY6" fmla="*/ 130629 h 145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7143" h="1451429">
                    <a:moveTo>
                      <a:pt x="1088571" y="0"/>
                    </a:moveTo>
                    <a:lnTo>
                      <a:pt x="1197428" y="130629"/>
                    </a:lnTo>
                    <a:lnTo>
                      <a:pt x="2177143" y="130629"/>
                    </a:lnTo>
                    <a:lnTo>
                      <a:pt x="2177143" y="1451429"/>
                    </a:lnTo>
                    <a:lnTo>
                      <a:pt x="0" y="1451429"/>
                    </a:lnTo>
                    <a:lnTo>
                      <a:pt x="0" y="130629"/>
                    </a:lnTo>
                    <a:lnTo>
                      <a:pt x="979714" y="1306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50000">
                    <a:schemeClr val="accent3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International Recognition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4" name="ComponentBackground3" descr="5cd66a0e-9adf-4ff9-a9db-bd14de707ba3"/>
              <p:cNvSpPr/>
              <p:nvPr/>
            </p:nvSpPr>
            <p:spPr>
              <a:xfrm>
                <a:off x="6371650" y="4011725"/>
                <a:ext cx="2074846" cy="2122375"/>
              </a:xfrm>
              <a:prstGeom prst="rect">
                <a:avLst/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Shape3" descr="6f4383dc-c3f9-41e2-93dd-d705a35df018"/>
              <p:cNvSpPr/>
              <p:nvPr/>
            </p:nvSpPr>
            <p:spPr>
              <a:xfrm>
                <a:off x="7292959" y="2380342"/>
                <a:ext cx="232229" cy="232229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50000">
                    <a:schemeClr val="accent3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3" descr="5f017bf6-dba1-48fe-b23d-993ab6af9693"/>
              <p:cNvSpPr/>
              <p:nvPr/>
            </p:nvSpPr>
            <p:spPr>
              <a:xfrm>
                <a:off x="6250106" y="4194972"/>
                <a:ext cx="2317934" cy="17994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The United Nations Environment Programme (UNEP) has endorsed the “Kubuqi Model” and promoted it to over 30 countries.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8" name="组合 27" descr="269da6d7-4c65-4258-92c3-0bc3c82de785"/>
            <p:cNvGrpSpPr/>
            <p:nvPr/>
          </p:nvGrpSpPr>
          <p:grpSpPr>
            <a:xfrm>
              <a:off x="7065826" y="2380342"/>
              <a:ext cx="2317934" cy="3753758"/>
              <a:chOff x="8888952" y="2380342"/>
              <a:chExt cx="2317934" cy="3753758"/>
            </a:xfrm>
          </p:grpSpPr>
          <p:sp>
            <p:nvSpPr>
              <p:cNvPr id="9" name="Bullet4" descr="b41de917-6da3-4a8d-a63a-8409db89ccc5"/>
              <p:cNvSpPr/>
              <p:nvPr/>
            </p:nvSpPr>
            <p:spPr>
              <a:xfrm>
                <a:off x="9010496" y="2795817"/>
                <a:ext cx="2074846" cy="1215910"/>
              </a:xfrm>
              <a:custGeom>
                <a:avLst/>
                <a:gdLst>
                  <a:gd name="connsiteX0" fmla="*/ 1088571 w 2177143"/>
                  <a:gd name="connsiteY0" fmla="*/ 0 h 1451429"/>
                  <a:gd name="connsiteX1" fmla="*/ 1197428 w 2177143"/>
                  <a:gd name="connsiteY1" fmla="*/ 130629 h 1451429"/>
                  <a:gd name="connsiteX2" fmla="*/ 2177143 w 2177143"/>
                  <a:gd name="connsiteY2" fmla="*/ 130629 h 1451429"/>
                  <a:gd name="connsiteX3" fmla="*/ 2177143 w 2177143"/>
                  <a:gd name="connsiteY3" fmla="*/ 1451429 h 1451429"/>
                  <a:gd name="connsiteX4" fmla="*/ 0 w 2177143"/>
                  <a:gd name="connsiteY4" fmla="*/ 1451429 h 1451429"/>
                  <a:gd name="connsiteX5" fmla="*/ 0 w 2177143"/>
                  <a:gd name="connsiteY5" fmla="*/ 130629 h 1451429"/>
                  <a:gd name="connsiteX6" fmla="*/ 979714 w 2177143"/>
                  <a:gd name="connsiteY6" fmla="*/ 130629 h 145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7143" h="1451429">
                    <a:moveTo>
                      <a:pt x="1088571" y="0"/>
                    </a:moveTo>
                    <a:lnTo>
                      <a:pt x="1197428" y="130629"/>
                    </a:lnTo>
                    <a:lnTo>
                      <a:pt x="2177143" y="130629"/>
                    </a:lnTo>
                    <a:lnTo>
                      <a:pt x="2177143" y="1451429"/>
                    </a:lnTo>
                    <a:lnTo>
                      <a:pt x="0" y="1451429"/>
                    </a:lnTo>
                    <a:lnTo>
                      <a:pt x="0" y="130629"/>
                    </a:lnTo>
                    <a:lnTo>
                      <a:pt x="979714" y="1306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50000">
                    <a:schemeClr val="accent4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Community Empowerment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0" name="ComponentBackground4" descr="2bded712-f381-4896-a752-1874644a331c"/>
              <p:cNvSpPr/>
              <p:nvPr/>
            </p:nvSpPr>
            <p:spPr>
              <a:xfrm>
                <a:off x="9010496" y="4011725"/>
                <a:ext cx="2074846" cy="2122375"/>
              </a:xfrm>
              <a:prstGeom prst="rect">
                <a:avLst/>
              </a:prstGeom>
              <a:solidFill>
                <a:schemeClr val="accent4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Shape4" descr="8ace79f6-62ab-4874-96fe-10d6d185bd4b"/>
              <p:cNvSpPr/>
              <p:nvPr/>
            </p:nvSpPr>
            <p:spPr>
              <a:xfrm>
                <a:off x="9931805" y="2380342"/>
                <a:ext cx="232229" cy="232229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50000">
                    <a:schemeClr val="accent4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4" descr="019dfe0b-3fc1-496a-8e5c-20ec94506b5b"/>
              <p:cNvSpPr/>
              <p:nvPr/>
            </p:nvSpPr>
            <p:spPr>
              <a:xfrm>
                <a:off x="8888952" y="4194972"/>
                <a:ext cx="2317934" cy="17994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Training programs equipped over 50,000 people in planting techniques and tourism services, lifting them out of poverty.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9" name="组合 28" descr="fe530049-5e6d-4796-bec6-8b936ef7c129"/>
            <p:cNvGrpSpPr/>
            <p:nvPr/>
          </p:nvGrpSpPr>
          <p:grpSpPr>
            <a:xfrm>
              <a:off x="9200966" y="2380342"/>
              <a:ext cx="2317934" cy="3753758"/>
              <a:chOff x="8888952" y="2380342"/>
              <a:chExt cx="2317934" cy="3753758"/>
            </a:xfrm>
          </p:grpSpPr>
          <p:sp>
            <p:nvSpPr>
              <p:cNvPr id="30" name="Bullet5" descr="c86ddaef-9aa8-45f8-815a-017ef2001f21"/>
              <p:cNvSpPr/>
              <p:nvPr/>
            </p:nvSpPr>
            <p:spPr>
              <a:xfrm>
                <a:off x="9010496" y="2795817"/>
                <a:ext cx="2074846" cy="1215910"/>
              </a:xfrm>
              <a:custGeom>
                <a:avLst/>
                <a:gdLst>
                  <a:gd name="connsiteX0" fmla="*/ 1088571 w 2177143"/>
                  <a:gd name="connsiteY0" fmla="*/ 0 h 1451429"/>
                  <a:gd name="connsiteX1" fmla="*/ 1197428 w 2177143"/>
                  <a:gd name="connsiteY1" fmla="*/ 130629 h 1451429"/>
                  <a:gd name="connsiteX2" fmla="*/ 2177143 w 2177143"/>
                  <a:gd name="connsiteY2" fmla="*/ 130629 h 1451429"/>
                  <a:gd name="connsiteX3" fmla="*/ 2177143 w 2177143"/>
                  <a:gd name="connsiteY3" fmla="*/ 1451429 h 1451429"/>
                  <a:gd name="connsiteX4" fmla="*/ 0 w 2177143"/>
                  <a:gd name="connsiteY4" fmla="*/ 1451429 h 1451429"/>
                  <a:gd name="connsiteX5" fmla="*/ 0 w 2177143"/>
                  <a:gd name="connsiteY5" fmla="*/ 130629 h 1451429"/>
                  <a:gd name="connsiteX6" fmla="*/ 979714 w 2177143"/>
                  <a:gd name="connsiteY6" fmla="*/ 130629 h 1451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7143" h="1451429">
                    <a:moveTo>
                      <a:pt x="1088571" y="0"/>
                    </a:moveTo>
                    <a:lnTo>
                      <a:pt x="1197428" y="130629"/>
                    </a:lnTo>
                    <a:lnTo>
                      <a:pt x="2177143" y="130629"/>
                    </a:lnTo>
                    <a:lnTo>
                      <a:pt x="2177143" y="1451429"/>
                    </a:lnTo>
                    <a:lnTo>
                      <a:pt x="0" y="1451429"/>
                    </a:lnTo>
                    <a:lnTo>
                      <a:pt x="0" y="130629"/>
                    </a:lnTo>
                    <a:lnTo>
                      <a:pt x="979714" y="13062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50000">
                    <a:schemeClr val="accent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Volunteer Participation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1" name="ComponentBackground5" descr="24551a90-9a9c-4c0e-a50c-f370035f1a3f"/>
              <p:cNvSpPr/>
              <p:nvPr/>
            </p:nvSpPr>
            <p:spPr>
              <a:xfrm>
                <a:off x="9010496" y="4011725"/>
                <a:ext cx="2074846" cy="2122375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hape5" descr="6900a515-87a6-4386-b44b-e962e96f180f"/>
              <p:cNvSpPr/>
              <p:nvPr/>
            </p:nvSpPr>
            <p:spPr>
              <a:xfrm>
                <a:off x="9931805" y="2380342"/>
                <a:ext cx="232229" cy="232229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50000">
                    <a:schemeClr val="accent5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ext5" descr="d3b79b26-577c-4fcb-b418-c90382b7622b"/>
              <p:cNvSpPr/>
              <p:nvPr/>
            </p:nvSpPr>
            <p:spPr>
              <a:xfrm>
                <a:off x="8888952" y="4194972"/>
                <a:ext cx="2317934" cy="17994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latin typeface="Arial" panose="020B0604020202020204"/>
                  </a:rPr>
                  <a:t>More than 100,000 volunteers engaged in sand-control activities, fostering a nationwide participatory approach to ecological restoration.</a:t>
                </a:r>
                <a:endParaRPr lang="en-US" sz="1200" b="0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9da20c9-c1fc-4314-bbea-a313ab43861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 panose="020B0604020202020204"/>
              </a:rPr>
              <a:t>Implementation Effects</a:t>
            </a:r>
            <a:endParaRPr lang="en-US" sz="36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文本占位符 2" descr="e652efa6-940e-4443-8d49-3c24163ffc8b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000000"/>
                </a:solidFill>
                <a:latin typeface="Arial" panose="020B0604020202020204"/>
              </a:rPr>
              <a:t>The impact and outcomes of the Kubuqi Desert restoration project</a:t>
            </a:r>
            <a:endParaRPr lang="en-US" sz="20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Ecological Impact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" name="abea29fe-d9e1-4e55-b313-8e9551e1ebf7.source.2.zh-Hans.pptx" descr="50d21ef5-0138-46a7-b932-38694a5a1556"/>
          <p:cNvGrpSpPr/>
          <p:nvPr/>
        </p:nvGrpSpPr>
        <p:grpSpPr>
          <a:xfrm>
            <a:off x="0" y="1028700"/>
            <a:ext cx="11518900" cy="5829300"/>
            <a:chOff x="0" y="1028700"/>
            <a:chExt cx="11518900" cy="5829300"/>
          </a:xfrm>
        </p:grpSpPr>
        <p:grpSp>
          <p:nvGrpSpPr>
            <p:cNvPr id="17" name="组合 16" descr="e8d0d002-7fa7-4b94-8dc9-9e16b484a4a2"/>
            <p:cNvGrpSpPr/>
            <p:nvPr/>
          </p:nvGrpSpPr>
          <p:grpSpPr>
            <a:xfrm>
              <a:off x="0" y="1028700"/>
              <a:ext cx="11518900" cy="5829300"/>
              <a:chOff x="0" y="1028700"/>
              <a:chExt cx="11518900" cy="5829300"/>
            </a:xfrm>
          </p:grpSpPr>
          <p:sp>
            <p:nvSpPr>
              <p:cNvPr id="6" name="ComponentBackground1" descr="81643be2-a437-4a25-b367-6ea850debd5c"/>
              <p:cNvSpPr/>
              <p:nvPr>
                <p:custDataLst>
                  <p:tags r:id="rId1"/>
                </p:custDataLst>
              </p:nvPr>
            </p:nvSpPr>
            <p:spPr>
              <a:xfrm>
                <a:off x="3375110" y="1224592"/>
                <a:ext cx="8143790" cy="2293049"/>
              </a:xfrm>
              <a:prstGeom prst="round1Rect">
                <a:avLst/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" name="Text1" descr="ba9ae734-ab98-4166-bbba-776a9b638e4e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3515586" y="1803401"/>
                <a:ext cx="7654922" cy="162465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Over 6,000 square kilometers of desert have been rehabilitated, with vegetation coverage increasing from 3% to 53%. This significant increase in greenery has stabilized sand dunes, reduced dust storms, and improved local climate conditions.</a:t>
                </a:r>
                <a:endParaRPr lang="en-US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8" name="Bullet1" descr="ebb6da07-4072-4b9a-aff5-bcdf832a784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515592" y="1279648"/>
                <a:ext cx="7654922" cy="468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Desert Rehabilitation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Shape1" descr="e2d8c57e-7d34-44ff-bb8f-0f4c200fbe90"/>
              <p:cNvSpPr/>
              <p:nvPr>
                <p:custDataLst>
                  <p:tags r:id="rId4"/>
                </p:custDataLst>
              </p:nvPr>
            </p:nvSpPr>
            <p:spPr>
              <a:xfrm>
                <a:off x="3180659" y="1028700"/>
                <a:ext cx="393664" cy="396548"/>
              </a:xfrm>
              <a:prstGeom prst="pie">
                <a:avLst>
                  <a:gd name="adj1" fmla="val 0"/>
                  <a:gd name="adj2" fmla="val 53873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PictureMisc1" descr="58d5fd1f-86c9-498f-af8e-90273a57f254"/>
              <p:cNvSpPr/>
              <p:nvPr/>
            </p:nvSpPr>
            <p:spPr>
              <a:xfrm>
                <a:off x="0" y="1655326"/>
                <a:ext cx="2949966" cy="5202674"/>
              </a:xfrm>
              <a:prstGeom prst="round1Rect">
                <a:avLst>
                  <a:gd name="adj" fmla="val 22897"/>
                </a:avLst>
              </a:prstGeom>
              <a:blipFill dpi="0" rotWithShape="1">
                <a:blip r:embed="rId5"/>
                <a:srcRect/>
                <a:stretch>
                  <a:fillRect l="-82627" r="-8191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dk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6" name="Title" descr="ea5ee0a3-0caa-4cb2-8313-432c894bde16"/>
            <p:cNvSpPr txBox="1"/>
            <p:nvPr/>
          </p:nvSpPr>
          <p:spPr>
            <a:xfrm>
              <a:off x="660400" y="1785934"/>
              <a:ext cx="2151102" cy="4348166"/>
            </a:xfrm>
            <a:prstGeom prst="round1Rect">
              <a:avLst>
                <a:gd name="adj" fmla="val 26337"/>
              </a:avLst>
            </a:prstGeom>
            <a:solidFill>
              <a:schemeClr val="bg1">
                <a:alpha val="90000"/>
              </a:schemeClr>
            </a:solidFill>
            <a:ln w="6350">
              <a:solidFill>
                <a:schemeClr val="bg1">
                  <a:alpha val="50000"/>
                </a:schemeClr>
              </a:solidFill>
            </a:ln>
          </p:spPr>
          <p:txBody>
            <a:bodyPr wrap="square" anchor="ctr" anchorCtr="0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latin typeface="Arial" panose="020B0604020202020204"/>
                </a:rPr>
                <a:t>Positive changes in the desert's ecology</a:t>
              </a:r>
              <a:endParaRPr lang="en-US" sz="2400" b="1" i="0" u="none" strike="noStrik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18" name="组合 17" descr="551b4dd8-e2a1-4bdf-b942-5002472c5ee8"/>
            <p:cNvGrpSpPr/>
            <p:nvPr/>
          </p:nvGrpSpPr>
          <p:grpSpPr>
            <a:xfrm>
              <a:off x="3180659" y="3644845"/>
              <a:ext cx="8338241" cy="2489255"/>
              <a:chOff x="3180659" y="3644845"/>
              <a:chExt cx="8338241" cy="2489255"/>
            </a:xfrm>
          </p:grpSpPr>
          <p:sp>
            <p:nvSpPr>
              <p:cNvPr id="11" name="ComponentBackground2" descr="7365396f-cef4-496e-b147-b7d19426cc38"/>
              <p:cNvSpPr/>
              <p:nvPr>
                <p:custDataLst>
                  <p:tags r:id="rId6"/>
                </p:custDataLst>
              </p:nvPr>
            </p:nvSpPr>
            <p:spPr>
              <a:xfrm>
                <a:off x="3375110" y="3841051"/>
                <a:ext cx="8143790" cy="2293049"/>
              </a:xfrm>
              <a:prstGeom prst="round1Rect">
                <a:avLst/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" name="Text2" descr="c46170e5-90f2-4750-9b5a-84f57458ee13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3515586" y="4419860"/>
                <a:ext cx="7654922" cy="162465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The restored areas provide habitats for various species, promoting biodiversity. Additionally, the increased vegetation contributes to carbon sequestration efforts, aiding in climate change mitigation.</a:t>
                </a:r>
                <a:endParaRPr lang="en-US" sz="2000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3" name="Bullet2" descr="7f8fc21e-86b0-426f-89b9-2e422e36562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515592" y="3896107"/>
                <a:ext cx="7654922" cy="468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Biodiversity Improvement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4" name="Shape2" descr="84e8e375-ec7f-4b48-b252-2c54afb5c28e"/>
              <p:cNvSpPr/>
              <p:nvPr>
                <p:custDataLst>
                  <p:tags r:id="rId9"/>
                </p:custDataLst>
              </p:nvPr>
            </p:nvSpPr>
            <p:spPr>
              <a:xfrm>
                <a:off x="3180659" y="3644845"/>
                <a:ext cx="393664" cy="396548"/>
              </a:xfrm>
              <a:prstGeom prst="pie">
                <a:avLst>
                  <a:gd name="adj1" fmla="val 0"/>
                  <a:gd name="adj2" fmla="val 53873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Economic and Social Benefits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48" name="0e93c409-2e53-4217-a55a-354404f5d14b.source.3.zh-Hans.pptx" descr="b5dc0597-d139-4baf-a7ef-060764911b7d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itle" descr="e9d863f5-889a-42a6-90a0-27b3339c2233"/>
            <p:cNvSpPr/>
            <p:nvPr/>
          </p:nvSpPr>
          <p:spPr>
            <a:xfrm>
              <a:off x="660400" y="1130300"/>
              <a:ext cx="10858500" cy="658911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latin typeface="Arial" panose="020B0604020202020204"/>
                </a:rPr>
                <a:t>Improvements in local livelihoods and economy</a:t>
              </a:r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7" name="组合 46" descr="9f23c9fa-f21a-4ba9-a337-50dbc088f485"/>
            <p:cNvGrpSpPr/>
            <p:nvPr/>
          </p:nvGrpSpPr>
          <p:grpSpPr>
            <a:xfrm>
              <a:off x="660400" y="2340762"/>
              <a:ext cx="10858500" cy="3793338"/>
              <a:chOff x="660400" y="2340762"/>
              <a:chExt cx="10858500" cy="3793338"/>
            </a:xfrm>
          </p:grpSpPr>
          <p:grpSp>
            <p:nvGrpSpPr>
              <p:cNvPr id="14" name="组合 13" descr="f53858fa-4cb9-45b3-864d-e7173af1d671"/>
              <p:cNvGrpSpPr/>
              <p:nvPr/>
            </p:nvGrpSpPr>
            <p:grpSpPr>
              <a:xfrm>
                <a:off x="660400" y="2340762"/>
                <a:ext cx="10858500" cy="1026324"/>
                <a:chOff x="660400" y="2340762"/>
                <a:chExt cx="10858500" cy="1026324"/>
              </a:xfrm>
            </p:grpSpPr>
            <p:sp>
              <p:nvSpPr>
                <p:cNvPr id="5" name="Bullet1" descr="a884ff7f-c226-4714-a18c-3a8c268d4a03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878871" y="2340762"/>
                  <a:ext cx="279230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1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Job Creation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10" name="组合 9" descr="bea4a32f-2cfc-411c-9bd5-f81d4823e022"/>
                <p:cNvGrpSpPr/>
                <p:nvPr/>
              </p:nvGrpSpPr>
              <p:grpSpPr>
                <a:xfrm>
                  <a:off x="660400" y="2340762"/>
                  <a:ext cx="1026324" cy="1026324"/>
                  <a:chOff x="1976838" y="2175114"/>
                  <a:chExt cx="1026324" cy="1026324"/>
                </a:xfrm>
              </p:grpSpPr>
              <p:sp>
                <p:nvSpPr>
                  <p:cNvPr id="8" name="iŝḻiḍe" descr="f41517c4-217e-421e-9d88-fa808ec3782a"/>
                  <p:cNvSpPr/>
                  <p:nvPr/>
                </p:nvSpPr>
                <p:spPr>
                  <a:xfrm>
                    <a:off x="1976838" y="2175114"/>
                    <a:ext cx="1026324" cy="1026324"/>
                  </a:xfrm>
                  <a:prstGeom prst="roundRect">
                    <a:avLst/>
                  </a:prstGeom>
                  <a:solidFill>
                    <a:schemeClr val="accent1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9" name="Icon1" descr="32761233-d420-4b79-8975-1250d1ca0add"/>
                  <p:cNvSpPr/>
                  <p:nvPr/>
                </p:nvSpPr>
                <p:spPr>
                  <a:xfrm>
                    <a:off x="2293149" y="2507633"/>
                    <a:ext cx="393700" cy="361286"/>
                  </a:xfrm>
                  <a:custGeom>
                    <a:avLst/>
                    <a:gdLst>
                      <a:gd name="connsiteX0" fmla="*/ 350851 w 599171"/>
                      <a:gd name="connsiteY0" fmla="*/ 405257 h 549846"/>
                      <a:gd name="connsiteX1" fmla="*/ 394672 w 599171"/>
                      <a:gd name="connsiteY1" fmla="*/ 405257 h 549846"/>
                      <a:gd name="connsiteX2" fmla="*/ 394672 w 599171"/>
                      <a:gd name="connsiteY2" fmla="*/ 528464 h 549846"/>
                      <a:gd name="connsiteX3" fmla="*/ 350851 w 599171"/>
                      <a:gd name="connsiteY3" fmla="*/ 528464 h 549846"/>
                      <a:gd name="connsiteX4" fmla="*/ 418947 w 599171"/>
                      <a:gd name="connsiteY4" fmla="*/ 362989 h 549846"/>
                      <a:gd name="connsiteX5" fmla="*/ 462839 w 599171"/>
                      <a:gd name="connsiteY5" fmla="*/ 362989 h 549846"/>
                      <a:gd name="connsiteX6" fmla="*/ 462839 w 599171"/>
                      <a:gd name="connsiteY6" fmla="*/ 528465 h 549846"/>
                      <a:gd name="connsiteX7" fmla="*/ 418947 w 599171"/>
                      <a:gd name="connsiteY7" fmla="*/ 528465 h 549846"/>
                      <a:gd name="connsiteX8" fmla="*/ 487113 w 599171"/>
                      <a:gd name="connsiteY8" fmla="*/ 320932 h 549846"/>
                      <a:gd name="connsiteX9" fmla="*/ 531005 w 599171"/>
                      <a:gd name="connsiteY9" fmla="*/ 320932 h 549846"/>
                      <a:gd name="connsiteX10" fmla="*/ 531005 w 599171"/>
                      <a:gd name="connsiteY10" fmla="*/ 528465 h 549846"/>
                      <a:gd name="connsiteX11" fmla="*/ 487113 w 599171"/>
                      <a:gd name="connsiteY11" fmla="*/ 528465 h 549846"/>
                      <a:gd name="connsiteX12" fmla="*/ 555279 w 599171"/>
                      <a:gd name="connsiteY12" fmla="*/ 278945 h 549846"/>
                      <a:gd name="connsiteX13" fmla="*/ 599171 w 599171"/>
                      <a:gd name="connsiteY13" fmla="*/ 278945 h 549846"/>
                      <a:gd name="connsiteX14" fmla="*/ 599171 w 599171"/>
                      <a:gd name="connsiteY14" fmla="*/ 528464 h 549846"/>
                      <a:gd name="connsiteX15" fmla="*/ 555279 w 599171"/>
                      <a:gd name="connsiteY15" fmla="*/ 528464 h 549846"/>
                      <a:gd name="connsiteX16" fmla="*/ 257092 w 599171"/>
                      <a:gd name="connsiteY16" fmla="*/ 0 h 549846"/>
                      <a:gd name="connsiteX17" fmla="*/ 399061 w 599171"/>
                      <a:gd name="connsiteY17" fmla="*/ 142037 h 549846"/>
                      <a:gd name="connsiteX18" fmla="*/ 320591 w 599171"/>
                      <a:gd name="connsiteY18" fmla="*/ 290261 h 549846"/>
                      <a:gd name="connsiteX19" fmla="*/ 424874 w 599171"/>
                      <a:gd name="connsiteY19" fmla="*/ 341559 h 549846"/>
                      <a:gd name="connsiteX20" fmla="*/ 397512 w 599171"/>
                      <a:gd name="connsiteY20" fmla="*/ 341559 h 549846"/>
                      <a:gd name="connsiteX21" fmla="*/ 397512 w 599171"/>
                      <a:gd name="connsiteY21" fmla="*/ 383578 h 549846"/>
                      <a:gd name="connsiteX22" fmla="*/ 329367 w 599171"/>
                      <a:gd name="connsiteY22" fmla="*/ 383578 h 549846"/>
                      <a:gd name="connsiteX23" fmla="*/ 329367 w 599171"/>
                      <a:gd name="connsiteY23" fmla="*/ 547526 h 549846"/>
                      <a:gd name="connsiteX24" fmla="*/ 257092 w 599171"/>
                      <a:gd name="connsiteY24" fmla="*/ 549846 h 549846"/>
                      <a:gd name="connsiteX25" fmla="*/ 329109 w 599171"/>
                      <a:gd name="connsiteY25" fmla="*/ 477925 h 549846"/>
                      <a:gd name="connsiteX26" fmla="*/ 268450 w 599171"/>
                      <a:gd name="connsiteY26" fmla="*/ 331506 h 549846"/>
                      <a:gd name="connsiteX27" fmla="*/ 269224 w 599171"/>
                      <a:gd name="connsiteY27" fmla="*/ 331506 h 549846"/>
                      <a:gd name="connsiteX28" fmla="*/ 292714 w 599171"/>
                      <a:gd name="connsiteY28" fmla="*/ 304439 h 549846"/>
                      <a:gd name="connsiteX29" fmla="*/ 257092 w 599171"/>
                      <a:gd name="connsiteY29" fmla="*/ 311141 h 549846"/>
                      <a:gd name="connsiteX30" fmla="*/ 221471 w 599171"/>
                      <a:gd name="connsiteY30" fmla="*/ 304439 h 549846"/>
                      <a:gd name="connsiteX31" fmla="*/ 245219 w 599171"/>
                      <a:gd name="connsiteY31" fmla="*/ 331506 h 549846"/>
                      <a:gd name="connsiteX32" fmla="*/ 245735 w 599171"/>
                      <a:gd name="connsiteY32" fmla="*/ 331506 h 549846"/>
                      <a:gd name="connsiteX33" fmla="*/ 185075 w 599171"/>
                      <a:gd name="connsiteY33" fmla="*/ 477925 h 549846"/>
                      <a:gd name="connsiteX34" fmla="*/ 257092 w 599171"/>
                      <a:gd name="connsiteY34" fmla="*/ 549846 h 549846"/>
                      <a:gd name="connsiteX35" fmla="*/ 0 w 599171"/>
                      <a:gd name="connsiteY35" fmla="*/ 486432 h 549846"/>
                      <a:gd name="connsiteX36" fmla="*/ 193594 w 599171"/>
                      <a:gd name="connsiteY36" fmla="*/ 290261 h 549846"/>
                      <a:gd name="connsiteX37" fmla="*/ 115124 w 599171"/>
                      <a:gd name="connsiteY37" fmla="*/ 142037 h 549846"/>
                      <a:gd name="connsiteX38" fmla="*/ 257092 w 599171"/>
                      <a:gd name="connsiteY38" fmla="*/ 0 h 549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599171" h="549846">
                        <a:moveTo>
                          <a:pt x="350851" y="405257"/>
                        </a:moveTo>
                        <a:lnTo>
                          <a:pt x="394672" y="405257"/>
                        </a:lnTo>
                        <a:lnTo>
                          <a:pt x="394672" y="528464"/>
                        </a:lnTo>
                        <a:lnTo>
                          <a:pt x="350851" y="528464"/>
                        </a:lnTo>
                        <a:close/>
                        <a:moveTo>
                          <a:pt x="418947" y="362989"/>
                        </a:moveTo>
                        <a:lnTo>
                          <a:pt x="462839" y="362989"/>
                        </a:lnTo>
                        <a:lnTo>
                          <a:pt x="462839" y="528465"/>
                        </a:lnTo>
                        <a:lnTo>
                          <a:pt x="418947" y="528465"/>
                        </a:lnTo>
                        <a:close/>
                        <a:moveTo>
                          <a:pt x="487113" y="320932"/>
                        </a:moveTo>
                        <a:lnTo>
                          <a:pt x="531005" y="320932"/>
                        </a:lnTo>
                        <a:lnTo>
                          <a:pt x="531005" y="528465"/>
                        </a:lnTo>
                        <a:lnTo>
                          <a:pt x="487113" y="528465"/>
                        </a:lnTo>
                        <a:close/>
                        <a:moveTo>
                          <a:pt x="555279" y="278945"/>
                        </a:moveTo>
                        <a:lnTo>
                          <a:pt x="599171" y="278945"/>
                        </a:lnTo>
                        <a:lnTo>
                          <a:pt x="599171" y="528464"/>
                        </a:lnTo>
                        <a:lnTo>
                          <a:pt x="555279" y="528464"/>
                        </a:lnTo>
                        <a:close/>
                        <a:moveTo>
                          <a:pt x="257092" y="0"/>
                        </a:moveTo>
                        <a:cubicBezTo>
                          <a:pt x="335562" y="0"/>
                          <a:pt x="399061" y="63672"/>
                          <a:pt x="399061" y="142037"/>
                        </a:cubicBezTo>
                        <a:cubicBezTo>
                          <a:pt x="399061" y="197460"/>
                          <a:pt x="367054" y="259069"/>
                          <a:pt x="320591" y="290261"/>
                        </a:cubicBezTo>
                        <a:cubicBezTo>
                          <a:pt x="359826" y="300314"/>
                          <a:pt x="395447" y="318875"/>
                          <a:pt x="424874" y="341559"/>
                        </a:cubicBezTo>
                        <a:lnTo>
                          <a:pt x="397512" y="341559"/>
                        </a:lnTo>
                        <a:lnTo>
                          <a:pt x="397512" y="383578"/>
                        </a:lnTo>
                        <a:lnTo>
                          <a:pt x="329367" y="383578"/>
                        </a:lnTo>
                        <a:lnTo>
                          <a:pt x="329367" y="547526"/>
                        </a:lnTo>
                        <a:cubicBezTo>
                          <a:pt x="305878" y="549073"/>
                          <a:pt x="281614" y="549846"/>
                          <a:pt x="257092" y="549846"/>
                        </a:cubicBezTo>
                        <a:lnTo>
                          <a:pt x="329109" y="477925"/>
                        </a:lnTo>
                        <a:lnTo>
                          <a:pt x="268450" y="331506"/>
                        </a:lnTo>
                        <a:lnTo>
                          <a:pt x="269224" y="331506"/>
                        </a:lnTo>
                        <a:lnTo>
                          <a:pt x="292714" y="304439"/>
                        </a:lnTo>
                        <a:cubicBezTo>
                          <a:pt x="281356" y="308563"/>
                          <a:pt x="269482" y="311141"/>
                          <a:pt x="257092" y="311141"/>
                        </a:cubicBezTo>
                        <a:cubicBezTo>
                          <a:pt x="244961" y="311141"/>
                          <a:pt x="233087" y="308563"/>
                          <a:pt x="221471" y="304439"/>
                        </a:cubicBezTo>
                        <a:lnTo>
                          <a:pt x="245219" y="331506"/>
                        </a:lnTo>
                        <a:lnTo>
                          <a:pt x="245735" y="331506"/>
                        </a:lnTo>
                        <a:lnTo>
                          <a:pt x="185075" y="477925"/>
                        </a:lnTo>
                        <a:lnTo>
                          <a:pt x="257092" y="549846"/>
                        </a:lnTo>
                        <a:cubicBezTo>
                          <a:pt x="128546" y="549846"/>
                          <a:pt x="0" y="528708"/>
                          <a:pt x="0" y="486432"/>
                        </a:cubicBezTo>
                        <a:cubicBezTo>
                          <a:pt x="0" y="415027"/>
                          <a:pt x="82342" y="318617"/>
                          <a:pt x="193594" y="290261"/>
                        </a:cubicBezTo>
                        <a:cubicBezTo>
                          <a:pt x="147131" y="259069"/>
                          <a:pt x="115124" y="197460"/>
                          <a:pt x="115124" y="142037"/>
                        </a:cubicBezTo>
                        <a:cubicBezTo>
                          <a:pt x="115124" y="63672"/>
                          <a:pt x="178622" y="0"/>
                          <a:pt x="25709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92500"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</a:p>
                </p:txBody>
              </p:sp>
            </p:grpSp>
            <p:sp>
              <p:nvSpPr>
                <p:cNvPr id="12" name="Text1" descr="e8a75a77-3ca8-4ab3-aa7f-5509930a30cc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4863319" y="2340762"/>
                  <a:ext cx="665558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b="0" i="0" u="none">
                      <a:solidFill>
                        <a:srgbClr val="FFFFFF"/>
                      </a:solidFill>
                      <a:latin typeface="Arial" panose="020B0604020202020204"/>
                    </a:rPr>
                    <a:t>Afforestation projects have generated numerous jobs, offering employment opportunities for local residents.</a:t>
                  </a:r>
                  <a:endParaRPr lang="en-US" b="0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7" name="组合 16" descr="1c583a9f-d2e1-4295-8f82-a9841369f111"/>
              <p:cNvGrpSpPr/>
              <p:nvPr/>
            </p:nvGrpSpPr>
            <p:grpSpPr>
              <a:xfrm>
                <a:off x="660400" y="3724269"/>
                <a:ext cx="10858500" cy="1026324"/>
                <a:chOff x="660400" y="2340762"/>
                <a:chExt cx="10858500" cy="1026324"/>
              </a:xfrm>
            </p:grpSpPr>
            <p:sp>
              <p:nvSpPr>
                <p:cNvPr id="19" name="Bullet2" descr="cf41bbf3-20f9-4f82-a31a-dafc52dc296e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878871" y="2340762"/>
                  <a:ext cx="279230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1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Sustainable Agriculture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23" name="组合 22" descr="417fbfae-9efe-4646-9dce-72a99e8206a4"/>
                <p:cNvGrpSpPr/>
                <p:nvPr/>
              </p:nvGrpSpPr>
              <p:grpSpPr>
                <a:xfrm>
                  <a:off x="660400" y="2340762"/>
                  <a:ext cx="1026324" cy="1026324"/>
                  <a:chOff x="1976838" y="2175114"/>
                  <a:chExt cx="1026324" cy="1026324"/>
                </a:xfrm>
              </p:grpSpPr>
              <p:sp>
                <p:nvSpPr>
                  <p:cNvPr id="26" name="iŝḻiḍe" descr="fa763eb2-b1ff-4d10-9122-ab5516d3eb20"/>
                  <p:cNvSpPr/>
                  <p:nvPr/>
                </p:nvSpPr>
                <p:spPr>
                  <a:xfrm>
                    <a:off x="1976838" y="2175114"/>
                    <a:ext cx="1026324" cy="1026324"/>
                  </a:xfrm>
                  <a:prstGeom prst="roundRect">
                    <a:avLst/>
                  </a:prstGeom>
                  <a:solidFill>
                    <a:schemeClr val="tx2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29" name="Icon2" descr="88c81b32-e0b9-4503-8ab9-a9e1003cebf1"/>
                  <p:cNvSpPr/>
                  <p:nvPr/>
                </p:nvSpPr>
                <p:spPr>
                  <a:xfrm>
                    <a:off x="2293149" y="2507633"/>
                    <a:ext cx="393700" cy="361286"/>
                  </a:xfrm>
                  <a:custGeom>
                    <a:avLst/>
                    <a:gdLst>
                      <a:gd name="connsiteX0" fmla="*/ 350851 w 599171"/>
                      <a:gd name="connsiteY0" fmla="*/ 405257 h 549846"/>
                      <a:gd name="connsiteX1" fmla="*/ 394672 w 599171"/>
                      <a:gd name="connsiteY1" fmla="*/ 405257 h 549846"/>
                      <a:gd name="connsiteX2" fmla="*/ 394672 w 599171"/>
                      <a:gd name="connsiteY2" fmla="*/ 528464 h 549846"/>
                      <a:gd name="connsiteX3" fmla="*/ 350851 w 599171"/>
                      <a:gd name="connsiteY3" fmla="*/ 528464 h 549846"/>
                      <a:gd name="connsiteX4" fmla="*/ 418947 w 599171"/>
                      <a:gd name="connsiteY4" fmla="*/ 362989 h 549846"/>
                      <a:gd name="connsiteX5" fmla="*/ 462839 w 599171"/>
                      <a:gd name="connsiteY5" fmla="*/ 362989 h 549846"/>
                      <a:gd name="connsiteX6" fmla="*/ 462839 w 599171"/>
                      <a:gd name="connsiteY6" fmla="*/ 528465 h 549846"/>
                      <a:gd name="connsiteX7" fmla="*/ 418947 w 599171"/>
                      <a:gd name="connsiteY7" fmla="*/ 528465 h 549846"/>
                      <a:gd name="connsiteX8" fmla="*/ 487113 w 599171"/>
                      <a:gd name="connsiteY8" fmla="*/ 320932 h 549846"/>
                      <a:gd name="connsiteX9" fmla="*/ 531005 w 599171"/>
                      <a:gd name="connsiteY9" fmla="*/ 320932 h 549846"/>
                      <a:gd name="connsiteX10" fmla="*/ 531005 w 599171"/>
                      <a:gd name="connsiteY10" fmla="*/ 528465 h 549846"/>
                      <a:gd name="connsiteX11" fmla="*/ 487113 w 599171"/>
                      <a:gd name="connsiteY11" fmla="*/ 528465 h 549846"/>
                      <a:gd name="connsiteX12" fmla="*/ 555279 w 599171"/>
                      <a:gd name="connsiteY12" fmla="*/ 278945 h 549846"/>
                      <a:gd name="connsiteX13" fmla="*/ 599171 w 599171"/>
                      <a:gd name="connsiteY13" fmla="*/ 278945 h 549846"/>
                      <a:gd name="connsiteX14" fmla="*/ 599171 w 599171"/>
                      <a:gd name="connsiteY14" fmla="*/ 528464 h 549846"/>
                      <a:gd name="connsiteX15" fmla="*/ 555279 w 599171"/>
                      <a:gd name="connsiteY15" fmla="*/ 528464 h 549846"/>
                      <a:gd name="connsiteX16" fmla="*/ 257092 w 599171"/>
                      <a:gd name="connsiteY16" fmla="*/ 0 h 549846"/>
                      <a:gd name="connsiteX17" fmla="*/ 399061 w 599171"/>
                      <a:gd name="connsiteY17" fmla="*/ 142037 h 549846"/>
                      <a:gd name="connsiteX18" fmla="*/ 320591 w 599171"/>
                      <a:gd name="connsiteY18" fmla="*/ 290261 h 549846"/>
                      <a:gd name="connsiteX19" fmla="*/ 424874 w 599171"/>
                      <a:gd name="connsiteY19" fmla="*/ 341559 h 549846"/>
                      <a:gd name="connsiteX20" fmla="*/ 397512 w 599171"/>
                      <a:gd name="connsiteY20" fmla="*/ 341559 h 549846"/>
                      <a:gd name="connsiteX21" fmla="*/ 397512 w 599171"/>
                      <a:gd name="connsiteY21" fmla="*/ 383578 h 549846"/>
                      <a:gd name="connsiteX22" fmla="*/ 329367 w 599171"/>
                      <a:gd name="connsiteY22" fmla="*/ 383578 h 549846"/>
                      <a:gd name="connsiteX23" fmla="*/ 329367 w 599171"/>
                      <a:gd name="connsiteY23" fmla="*/ 547526 h 549846"/>
                      <a:gd name="connsiteX24" fmla="*/ 257092 w 599171"/>
                      <a:gd name="connsiteY24" fmla="*/ 549846 h 549846"/>
                      <a:gd name="connsiteX25" fmla="*/ 329109 w 599171"/>
                      <a:gd name="connsiteY25" fmla="*/ 477925 h 549846"/>
                      <a:gd name="connsiteX26" fmla="*/ 268450 w 599171"/>
                      <a:gd name="connsiteY26" fmla="*/ 331506 h 549846"/>
                      <a:gd name="connsiteX27" fmla="*/ 269224 w 599171"/>
                      <a:gd name="connsiteY27" fmla="*/ 331506 h 549846"/>
                      <a:gd name="connsiteX28" fmla="*/ 292714 w 599171"/>
                      <a:gd name="connsiteY28" fmla="*/ 304439 h 549846"/>
                      <a:gd name="connsiteX29" fmla="*/ 257092 w 599171"/>
                      <a:gd name="connsiteY29" fmla="*/ 311141 h 549846"/>
                      <a:gd name="connsiteX30" fmla="*/ 221471 w 599171"/>
                      <a:gd name="connsiteY30" fmla="*/ 304439 h 549846"/>
                      <a:gd name="connsiteX31" fmla="*/ 245219 w 599171"/>
                      <a:gd name="connsiteY31" fmla="*/ 331506 h 549846"/>
                      <a:gd name="connsiteX32" fmla="*/ 245735 w 599171"/>
                      <a:gd name="connsiteY32" fmla="*/ 331506 h 549846"/>
                      <a:gd name="connsiteX33" fmla="*/ 185075 w 599171"/>
                      <a:gd name="connsiteY33" fmla="*/ 477925 h 549846"/>
                      <a:gd name="connsiteX34" fmla="*/ 257092 w 599171"/>
                      <a:gd name="connsiteY34" fmla="*/ 549846 h 549846"/>
                      <a:gd name="connsiteX35" fmla="*/ 0 w 599171"/>
                      <a:gd name="connsiteY35" fmla="*/ 486432 h 549846"/>
                      <a:gd name="connsiteX36" fmla="*/ 193594 w 599171"/>
                      <a:gd name="connsiteY36" fmla="*/ 290261 h 549846"/>
                      <a:gd name="connsiteX37" fmla="*/ 115124 w 599171"/>
                      <a:gd name="connsiteY37" fmla="*/ 142037 h 549846"/>
                      <a:gd name="connsiteX38" fmla="*/ 257092 w 599171"/>
                      <a:gd name="connsiteY38" fmla="*/ 0 h 549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599171" h="549846">
                        <a:moveTo>
                          <a:pt x="350851" y="405257"/>
                        </a:moveTo>
                        <a:lnTo>
                          <a:pt x="394672" y="405257"/>
                        </a:lnTo>
                        <a:lnTo>
                          <a:pt x="394672" y="528464"/>
                        </a:lnTo>
                        <a:lnTo>
                          <a:pt x="350851" y="528464"/>
                        </a:lnTo>
                        <a:close/>
                        <a:moveTo>
                          <a:pt x="418947" y="362989"/>
                        </a:moveTo>
                        <a:lnTo>
                          <a:pt x="462839" y="362989"/>
                        </a:lnTo>
                        <a:lnTo>
                          <a:pt x="462839" y="528465"/>
                        </a:lnTo>
                        <a:lnTo>
                          <a:pt x="418947" y="528465"/>
                        </a:lnTo>
                        <a:close/>
                        <a:moveTo>
                          <a:pt x="487113" y="320932"/>
                        </a:moveTo>
                        <a:lnTo>
                          <a:pt x="531005" y="320932"/>
                        </a:lnTo>
                        <a:lnTo>
                          <a:pt x="531005" y="528465"/>
                        </a:lnTo>
                        <a:lnTo>
                          <a:pt x="487113" y="528465"/>
                        </a:lnTo>
                        <a:close/>
                        <a:moveTo>
                          <a:pt x="555279" y="278945"/>
                        </a:moveTo>
                        <a:lnTo>
                          <a:pt x="599171" y="278945"/>
                        </a:lnTo>
                        <a:lnTo>
                          <a:pt x="599171" y="528464"/>
                        </a:lnTo>
                        <a:lnTo>
                          <a:pt x="555279" y="528464"/>
                        </a:lnTo>
                        <a:close/>
                        <a:moveTo>
                          <a:pt x="257092" y="0"/>
                        </a:moveTo>
                        <a:cubicBezTo>
                          <a:pt x="335562" y="0"/>
                          <a:pt x="399061" y="63672"/>
                          <a:pt x="399061" y="142037"/>
                        </a:cubicBezTo>
                        <a:cubicBezTo>
                          <a:pt x="399061" y="197460"/>
                          <a:pt x="367054" y="259069"/>
                          <a:pt x="320591" y="290261"/>
                        </a:cubicBezTo>
                        <a:cubicBezTo>
                          <a:pt x="359826" y="300314"/>
                          <a:pt x="395447" y="318875"/>
                          <a:pt x="424874" y="341559"/>
                        </a:cubicBezTo>
                        <a:lnTo>
                          <a:pt x="397512" y="341559"/>
                        </a:lnTo>
                        <a:lnTo>
                          <a:pt x="397512" y="383578"/>
                        </a:lnTo>
                        <a:lnTo>
                          <a:pt x="329367" y="383578"/>
                        </a:lnTo>
                        <a:lnTo>
                          <a:pt x="329367" y="547526"/>
                        </a:lnTo>
                        <a:cubicBezTo>
                          <a:pt x="305878" y="549073"/>
                          <a:pt x="281614" y="549846"/>
                          <a:pt x="257092" y="549846"/>
                        </a:cubicBezTo>
                        <a:lnTo>
                          <a:pt x="329109" y="477925"/>
                        </a:lnTo>
                        <a:lnTo>
                          <a:pt x="268450" y="331506"/>
                        </a:lnTo>
                        <a:lnTo>
                          <a:pt x="269224" y="331506"/>
                        </a:lnTo>
                        <a:lnTo>
                          <a:pt x="292714" y="304439"/>
                        </a:lnTo>
                        <a:cubicBezTo>
                          <a:pt x="281356" y="308563"/>
                          <a:pt x="269482" y="311141"/>
                          <a:pt x="257092" y="311141"/>
                        </a:cubicBezTo>
                        <a:cubicBezTo>
                          <a:pt x="244961" y="311141"/>
                          <a:pt x="233087" y="308563"/>
                          <a:pt x="221471" y="304439"/>
                        </a:cubicBezTo>
                        <a:lnTo>
                          <a:pt x="245219" y="331506"/>
                        </a:lnTo>
                        <a:lnTo>
                          <a:pt x="245735" y="331506"/>
                        </a:lnTo>
                        <a:lnTo>
                          <a:pt x="185075" y="477925"/>
                        </a:lnTo>
                        <a:lnTo>
                          <a:pt x="257092" y="549846"/>
                        </a:lnTo>
                        <a:cubicBezTo>
                          <a:pt x="128546" y="549846"/>
                          <a:pt x="0" y="528708"/>
                          <a:pt x="0" y="486432"/>
                        </a:cubicBezTo>
                        <a:cubicBezTo>
                          <a:pt x="0" y="415027"/>
                          <a:pt x="82342" y="318617"/>
                          <a:pt x="193594" y="290261"/>
                        </a:cubicBezTo>
                        <a:cubicBezTo>
                          <a:pt x="147131" y="259069"/>
                          <a:pt x="115124" y="197460"/>
                          <a:pt x="115124" y="142037"/>
                        </a:cubicBezTo>
                        <a:cubicBezTo>
                          <a:pt x="115124" y="63672"/>
                          <a:pt x="178622" y="0"/>
                          <a:pt x="25709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92500"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</a:p>
                </p:txBody>
              </p:sp>
            </p:grpSp>
            <p:sp>
              <p:nvSpPr>
                <p:cNvPr id="25" name="Text2" descr="3ffba29c-9a9c-4578-8ce0-ff2e0305351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4863319" y="2340762"/>
                  <a:ext cx="665558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The cultivation of drought-resistant crops has been encouraged, promoting sustainable agricultural practices.</a:t>
                  </a:r>
                  <a:endParaRPr lang="en-US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36" name="组合 35" descr="efba1b4e-b0cb-4fe2-a1e9-8f94095dae3b"/>
              <p:cNvGrpSpPr/>
              <p:nvPr/>
            </p:nvGrpSpPr>
            <p:grpSpPr>
              <a:xfrm>
                <a:off x="660400" y="5107776"/>
                <a:ext cx="10858500" cy="1026324"/>
                <a:chOff x="660400" y="2340762"/>
                <a:chExt cx="10858500" cy="1026324"/>
              </a:xfrm>
            </p:grpSpPr>
            <p:sp>
              <p:nvSpPr>
                <p:cNvPr id="42" name="Bullet3" descr="9615be09-64d7-40fe-819d-f4f204b32d2c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878871" y="2340762"/>
                  <a:ext cx="279230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1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Livelihood Improvement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grpSp>
              <p:nvGrpSpPr>
                <p:cNvPr id="43" name="组合 42" descr="1c0d772c-dc8a-4672-8a4d-bf6e430d4b6b"/>
                <p:cNvGrpSpPr/>
                <p:nvPr/>
              </p:nvGrpSpPr>
              <p:grpSpPr>
                <a:xfrm>
                  <a:off x="660400" y="2340762"/>
                  <a:ext cx="1026324" cy="1026324"/>
                  <a:chOff x="1976838" y="2175114"/>
                  <a:chExt cx="1026324" cy="1026324"/>
                </a:xfrm>
              </p:grpSpPr>
              <p:sp>
                <p:nvSpPr>
                  <p:cNvPr id="45" name="iŝḻiḍe" descr="7c6c747b-0049-4f7b-ac2f-5c71cd6bf584"/>
                  <p:cNvSpPr/>
                  <p:nvPr/>
                </p:nvSpPr>
                <p:spPr>
                  <a:xfrm>
                    <a:off x="1976838" y="2175114"/>
                    <a:ext cx="1026324" cy="1026324"/>
                  </a:xfrm>
                  <a:prstGeom prst="roundRect">
                    <a:avLst/>
                  </a:prstGeom>
                  <a:solidFill>
                    <a:schemeClr val="tx2"/>
                  </a:solidFill>
                  <a:ln w="28575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46" name="Icon3" descr="14e77830-08d7-4de7-82eb-82c0531db9bf"/>
                  <p:cNvSpPr/>
                  <p:nvPr/>
                </p:nvSpPr>
                <p:spPr>
                  <a:xfrm>
                    <a:off x="2293149" y="2507633"/>
                    <a:ext cx="393700" cy="361286"/>
                  </a:xfrm>
                  <a:custGeom>
                    <a:avLst/>
                    <a:gdLst>
                      <a:gd name="connsiteX0" fmla="*/ 350851 w 599171"/>
                      <a:gd name="connsiteY0" fmla="*/ 405257 h 549846"/>
                      <a:gd name="connsiteX1" fmla="*/ 394672 w 599171"/>
                      <a:gd name="connsiteY1" fmla="*/ 405257 h 549846"/>
                      <a:gd name="connsiteX2" fmla="*/ 394672 w 599171"/>
                      <a:gd name="connsiteY2" fmla="*/ 528464 h 549846"/>
                      <a:gd name="connsiteX3" fmla="*/ 350851 w 599171"/>
                      <a:gd name="connsiteY3" fmla="*/ 528464 h 549846"/>
                      <a:gd name="connsiteX4" fmla="*/ 418947 w 599171"/>
                      <a:gd name="connsiteY4" fmla="*/ 362989 h 549846"/>
                      <a:gd name="connsiteX5" fmla="*/ 462839 w 599171"/>
                      <a:gd name="connsiteY5" fmla="*/ 362989 h 549846"/>
                      <a:gd name="connsiteX6" fmla="*/ 462839 w 599171"/>
                      <a:gd name="connsiteY6" fmla="*/ 528465 h 549846"/>
                      <a:gd name="connsiteX7" fmla="*/ 418947 w 599171"/>
                      <a:gd name="connsiteY7" fmla="*/ 528465 h 549846"/>
                      <a:gd name="connsiteX8" fmla="*/ 487113 w 599171"/>
                      <a:gd name="connsiteY8" fmla="*/ 320932 h 549846"/>
                      <a:gd name="connsiteX9" fmla="*/ 531005 w 599171"/>
                      <a:gd name="connsiteY9" fmla="*/ 320932 h 549846"/>
                      <a:gd name="connsiteX10" fmla="*/ 531005 w 599171"/>
                      <a:gd name="connsiteY10" fmla="*/ 528465 h 549846"/>
                      <a:gd name="connsiteX11" fmla="*/ 487113 w 599171"/>
                      <a:gd name="connsiteY11" fmla="*/ 528465 h 549846"/>
                      <a:gd name="connsiteX12" fmla="*/ 555279 w 599171"/>
                      <a:gd name="connsiteY12" fmla="*/ 278945 h 549846"/>
                      <a:gd name="connsiteX13" fmla="*/ 599171 w 599171"/>
                      <a:gd name="connsiteY13" fmla="*/ 278945 h 549846"/>
                      <a:gd name="connsiteX14" fmla="*/ 599171 w 599171"/>
                      <a:gd name="connsiteY14" fmla="*/ 528464 h 549846"/>
                      <a:gd name="connsiteX15" fmla="*/ 555279 w 599171"/>
                      <a:gd name="connsiteY15" fmla="*/ 528464 h 549846"/>
                      <a:gd name="connsiteX16" fmla="*/ 257092 w 599171"/>
                      <a:gd name="connsiteY16" fmla="*/ 0 h 549846"/>
                      <a:gd name="connsiteX17" fmla="*/ 399061 w 599171"/>
                      <a:gd name="connsiteY17" fmla="*/ 142037 h 549846"/>
                      <a:gd name="connsiteX18" fmla="*/ 320591 w 599171"/>
                      <a:gd name="connsiteY18" fmla="*/ 290261 h 549846"/>
                      <a:gd name="connsiteX19" fmla="*/ 424874 w 599171"/>
                      <a:gd name="connsiteY19" fmla="*/ 341559 h 549846"/>
                      <a:gd name="connsiteX20" fmla="*/ 397512 w 599171"/>
                      <a:gd name="connsiteY20" fmla="*/ 341559 h 549846"/>
                      <a:gd name="connsiteX21" fmla="*/ 397512 w 599171"/>
                      <a:gd name="connsiteY21" fmla="*/ 383578 h 549846"/>
                      <a:gd name="connsiteX22" fmla="*/ 329367 w 599171"/>
                      <a:gd name="connsiteY22" fmla="*/ 383578 h 549846"/>
                      <a:gd name="connsiteX23" fmla="*/ 329367 w 599171"/>
                      <a:gd name="connsiteY23" fmla="*/ 547526 h 549846"/>
                      <a:gd name="connsiteX24" fmla="*/ 257092 w 599171"/>
                      <a:gd name="connsiteY24" fmla="*/ 549846 h 549846"/>
                      <a:gd name="connsiteX25" fmla="*/ 329109 w 599171"/>
                      <a:gd name="connsiteY25" fmla="*/ 477925 h 549846"/>
                      <a:gd name="connsiteX26" fmla="*/ 268450 w 599171"/>
                      <a:gd name="connsiteY26" fmla="*/ 331506 h 549846"/>
                      <a:gd name="connsiteX27" fmla="*/ 269224 w 599171"/>
                      <a:gd name="connsiteY27" fmla="*/ 331506 h 549846"/>
                      <a:gd name="connsiteX28" fmla="*/ 292714 w 599171"/>
                      <a:gd name="connsiteY28" fmla="*/ 304439 h 549846"/>
                      <a:gd name="connsiteX29" fmla="*/ 257092 w 599171"/>
                      <a:gd name="connsiteY29" fmla="*/ 311141 h 549846"/>
                      <a:gd name="connsiteX30" fmla="*/ 221471 w 599171"/>
                      <a:gd name="connsiteY30" fmla="*/ 304439 h 549846"/>
                      <a:gd name="connsiteX31" fmla="*/ 245219 w 599171"/>
                      <a:gd name="connsiteY31" fmla="*/ 331506 h 549846"/>
                      <a:gd name="connsiteX32" fmla="*/ 245735 w 599171"/>
                      <a:gd name="connsiteY32" fmla="*/ 331506 h 549846"/>
                      <a:gd name="connsiteX33" fmla="*/ 185075 w 599171"/>
                      <a:gd name="connsiteY33" fmla="*/ 477925 h 549846"/>
                      <a:gd name="connsiteX34" fmla="*/ 257092 w 599171"/>
                      <a:gd name="connsiteY34" fmla="*/ 549846 h 549846"/>
                      <a:gd name="connsiteX35" fmla="*/ 0 w 599171"/>
                      <a:gd name="connsiteY35" fmla="*/ 486432 h 549846"/>
                      <a:gd name="connsiteX36" fmla="*/ 193594 w 599171"/>
                      <a:gd name="connsiteY36" fmla="*/ 290261 h 549846"/>
                      <a:gd name="connsiteX37" fmla="*/ 115124 w 599171"/>
                      <a:gd name="connsiteY37" fmla="*/ 142037 h 549846"/>
                      <a:gd name="connsiteX38" fmla="*/ 257092 w 599171"/>
                      <a:gd name="connsiteY38" fmla="*/ 0 h 549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</a:cxnLst>
                    <a:rect l="l" t="t" r="r" b="b"/>
                    <a:pathLst>
                      <a:path w="599171" h="549846">
                        <a:moveTo>
                          <a:pt x="350851" y="405257"/>
                        </a:moveTo>
                        <a:lnTo>
                          <a:pt x="394672" y="405257"/>
                        </a:lnTo>
                        <a:lnTo>
                          <a:pt x="394672" y="528464"/>
                        </a:lnTo>
                        <a:lnTo>
                          <a:pt x="350851" y="528464"/>
                        </a:lnTo>
                        <a:close/>
                        <a:moveTo>
                          <a:pt x="418947" y="362989"/>
                        </a:moveTo>
                        <a:lnTo>
                          <a:pt x="462839" y="362989"/>
                        </a:lnTo>
                        <a:lnTo>
                          <a:pt x="462839" y="528465"/>
                        </a:lnTo>
                        <a:lnTo>
                          <a:pt x="418947" y="528465"/>
                        </a:lnTo>
                        <a:close/>
                        <a:moveTo>
                          <a:pt x="487113" y="320932"/>
                        </a:moveTo>
                        <a:lnTo>
                          <a:pt x="531005" y="320932"/>
                        </a:lnTo>
                        <a:lnTo>
                          <a:pt x="531005" y="528465"/>
                        </a:lnTo>
                        <a:lnTo>
                          <a:pt x="487113" y="528465"/>
                        </a:lnTo>
                        <a:close/>
                        <a:moveTo>
                          <a:pt x="555279" y="278945"/>
                        </a:moveTo>
                        <a:lnTo>
                          <a:pt x="599171" y="278945"/>
                        </a:lnTo>
                        <a:lnTo>
                          <a:pt x="599171" y="528464"/>
                        </a:lnTo>
                        <a:lnTo>
                          <a:pt x="555279" y="528464"/>
                        </a:lnTo>
                        <a:close/>
                        <a:moveTo>
                          <a:pt x="257092" y="0"/>
                        </a:moveTo>
                        <a:cubicBezTo>
                          <a:pt x="335562" y="0"/>
                          <a:pt x="399061" y="63672"/>
                          <a:pt x="399061" y="142037"/>
                        </a:cubicBezTo>
                        <a:cubicBezTo>
                          <a:pt x="399061" y="197460"/>
                          <a:pt x="367054" y="259069"/>
                          <a:pt x="320591" y="290261"/>
                        </a:cubicBezTo>
                        <a:cubicBezTo>
                          <a:pt x="359826" y="300314"/>
                          <a:pt x="395447" y="318875"/>
                          <a:pt x="424874" y="341559"/>
                        </a:cubicBezTo>
                        <a:lnTo>
                          <a:pt x="397512" y="341559"/>
                        </a:lnTo>
                        <a:lnTo>
                          <a:pt x="397512" y="383578"/>
                        </a:lnTo>
                        <a:lnTo>
                          <a:pt x="329367" y="383578"/>
                        </a:lnTo>
                        <a:lnTo>
                          <a:pt x="329367" y="547526"/>
                        </a:lnTo>
                        <a:cubicBezTo>
                          <a:pt x="305878" y="549073"/>
                          <a:pt x="281614" y="549846"/>
                          <a:pt x="257092" y="549846"/>
                        </a:cubicBezTo>
                        <a:lnTo>
                          <a:pt x="329109" y="477925"/>
                        </a:lnTo>
                        <a:lnTo>
                          <a:pt x="268450" y="331506"/>
                        </a:lnTo>
                        <a:lnTo>
                          <a:pt x="269224" y="331506"/>
                        </a:lnTo>
                        <a:lnTo>
                          <a:pt x="292714" y="304439"/>
                        </a:lnTo>
                        <a:cubicBezTo>
                          <a:pt x="281356" y="308563"/>
                          <a:pt x="269482" y="311141"/>
                          <a:pt x="257092" y="311141"/>
                        </a:cubicBezTo>
                        <a:cubicBezTo>
                          <a:pt x="244961" y="311141"/>
                          <a:pt x="233087" y="308563"/>
                          <a:pt x="221471" y="304439"/>
                        </a:cubicBezTo>
                        <a:lnTo>
                          <a:pt x="245219" y="331506"/>
                        </a:lnTo>
                        <a:lnTo>
                          <a:pt x="245735" y="331506"/>
                        </a:lnTo>
                        <a:lnTo>
                          <a:pt x="185075" y="477925"/>
                        </a:lnTo>
                        <a:lnTo>
                          <a:pt x="257092" y="549846"/>
                        </a:lnTo>
                        <a:cubicBezTo>
                          <a:pt x="128546" y="549846"/>
                          <a:pt x="0" y="528708"/>
                          <a:pt x="0" y="486432"/>
                        </a:cubicBezTo>
                        <a:cubicBezTo>
                          <a:pt x="0" y="415027"/>
                          <a:pt x="82342" y="318617"/>
                          <a:pt x="193594" y="290261"/>
                        </a:cubicBezTo>
                        <a:cubicBezTo>
                          <a:pt x="147131" y="259069"/>
                          <a:pt x="115124" y="197460"/>
                          <a:pt x="115124" y="142037"/>
                        </a:cubicBezTo>
                        <a:cubicBezTo>
                          <a:pt x="115124" y="63672"/>
                          <a:pt x="178622" y="0"/>
                          <a:pt x="25709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rmAutofit fontScale="92500" lnSpcReduction="1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</a:p>
                </p:txBody>
              </p:sp>
            </p:grpSp>
            <p:sp>
              <p:nvSpPr>
                <p:cNvPr id="44" name="Text3" descr="1aee7830-c870-4081-9d2c-f29d40152cb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863319" y="2340762"/>
                  <a:ext cx="6655581" cy="1026324"/>
                </a:xfrm>
                <a:prstGeom prst="roundRect">
                  <a:avLst>
                    <a:gd name="adj" fmla="val 14802"/>
                  </a:avLst>
                </a:prstGeom>
                <a:solidFill>
                  <a:schemeClr val="tx2">
                    <a:alpha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Community engagement in restoration initiatives has led to better living conditions and increased incomes for residents.</a:t>
                  </a:r>
                  <a:endParaRPr lang="en-US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9da20c9-c1fc-4314-bbea-a313ab43861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latin typeface="Arial" panose="020B0604020202020204"/>
              </a:rPr>
              <a:t>Domestic and International Impact</a:t>
            </a:r>
            <a:endParaRPr lang="en-US" sz="36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文本占位符 2" descr="e652efa6-940e-4443-8d49-3c24163ffc8b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000000"/>
                </a:solidFill>
                <a:latin typeface="Arial" panose="020B0604020202020204"/>
              </a:rPr>
              <a:t>The broader influence of the Kubuqi Desert restoration project</a:t>
            </a:r>
            <a:endParaRPr lang="en-US" sz="2000" b="0" i="0" u="none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Domestic Impact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16" name="fa4909c7-3307-4154-94e6-d913da0cc45e.source.3.zh-Hans.pptx" descr="8c679de4-b62d-4f1d-b57e-40ce7a8460b2"/>
          <p:cNvGrpSpPr/>
          <p:nvPr>
            <p:custDataLst>
              <p:tags r:id="rId1"/>
            </p:custDataLst>
          </p:nvPr>
        </p:nvGrpSpPr>
        <p:grpSpPr>
          <a:xfrm>
            <a:off x="-127229" y="0"/>
            <a:ext cx="12319229" cy="7017655"/>
            <a:chOff x="-127229" y="0"/>
            <a:chExt cx="12319229" cy="7017655"/>
          </a:xfrm>
        </p:grpSpPr>
        <p:grpSp>
          <p:nvGrpSpPr>
            <p:cNvPr id="15" name="组合 14" descr="db2f9301-54f0-4d49-8f02-dd55bc20adc2"/>
            <p:cNvGrpSpPr/>
            <p:nvPr/>
          </p:nvGrpSpPr>
          <p:grpSpPr>
            <a:xfrm>
              <a:off x="-127229" y="0"/>
              <a:ext cx="12319229" cy="7017655"/>
              <a:chOff x="-127229" y="0"/>
              <a:chExt cx="12319229" cy="7017655"/>
            </a:xfrm>
          </p:grpSpPr>
          <p:grpSp>
            <p:nvGrpSpPr>
              <p:cNvPr id="13" name="组合 12" descr="f1a5c983-6e91-421b-a3df-6d254e7719b2"/>
              <p:cNvGrpSpPr/>
              <p:nvPr/>
            </p:nvGrpSpPr>
            <p:grpSpPr>
              <a:xfrm>
                <a:off x="0" y="0"/>
                <a:ext cx="12192000" cy="6858000"/>
                <a:chOff x="0" y="0"/>
                <a:chExt cx="12192000" cy="6858000"/>
              </a:xfrm>
            </p:grpSpPr>
            <p:sp>
              <p:nvSpPr>
                <p:cNvPr id="243" name="任意多边形: 形状 242" descr="135b6b8b-37d7-44df-8ea0-c3d4e72c801b"/>
                <p:cNvSpPr/>
                <p:nvPr/>
              </p:nvSpPr>
              <p:spPr>
                <a:xfrm>
                  <a:off x="0" y="0"/>
                  <a:ext cx="12192000" cy="6858000"/>
                </a:xfrm>
                <a:custGeom>
                  <a:avLst/>
                  <a:gdLst>
                    <a:gd name="connsiteX0" fmla="*/ 0 w 12192000"/>
                    <a:gd name="connsiteY0" fmla="*/ 0 h 6858000"/>
                    <a:gd name="connsiteX1" fmla="*/ 12192000 w 12192000"/>
                    <a:gd name="connsiteY1" fmla="*/ 0 h 6858000"/>
                    <a:gd name="connsiteX2" fmla="*/ 12192000 w 12192000"/>
                    <a:gd name="connsiteY2" fmla="*/ 6858000 h 6858000"/>
                    <a:gd name="connsiteX3" fmla="*/ 0 w 12192000"/>
                    <a:gd name="connsiteY3" fmla="*/ 6858000 h 685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0" h="6858000">
                      <a:moveTo>
                        <a:pt x="0" y="0"/>
                      </a:moveTo>
                      <a:lnTo>
                        <a:pt x="12192000" y="0"/>
                      </a:lnTo>
                      <a:lnTo>
                        <a:pt x="12192000" y="6858000"/>
                      </a:lnTo>
                      <a:lnTo>
                        <a:pt x="0" y="68580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accent1">
                        <a:alpha val="16000"/>
                      </a:schemeClr>
                    </a:gs>
                    <a:gs pos="0">
                      <a:schemeClr val="accent1">
                        <a:alpha val="15000"/>
                      </a:schemeClr>
                    </a:gs>
                    <a:gs pos="77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4" name="椭圆 3" descr="6a7fdc25-8ec9-407e-9be2-28b0a5aaae01"/>
                <p:cNvSpPr/>
                <p:nvPr/>
              </p:nvSpPr>
              <p:spPr>
                <a:xfrm>
                  <a:off x="11090194" y="2310431"/>
                  <a:ext cx="1027954" cy="1027954"/>
                </a:xfrm>
                <a:prstGeom prst="ellipse">
                  <a:avLst/>
                </a:prstGeom>
                <a:gradFill flip="none" rotWithShape="1">
                  <a:gsLst>
                    <a:gs pos="2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  <a:effectLst>
                  <a:softEdge rad="11430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5" name="椭圆 4" descr="f734fcdf-1d63-4a7a-ba16-5ef11d113cb5"/>
                <p:cNvSpPr/>
                <p:nvPr/>
              </p:nvSpPr>
              <p:spPr>
                <a:xfrm>
                  <a:off x="10834192" y="736763"/>
                  <a:ext cx="512004" cy="512004"/>
                </a:xfrm>
                <a:prstGeom prst="ellipse">
                  <a:avLst/>
                </a:prstGeom>
                <a:gradFill flip="none" rotWithShape="1">
                  <a:gsLst>
                    <a:gs pos="21000">
                      <a:schemeClr val="accent1">
                        <a:alpha val="58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  <a:effectLst>
                  <a:softEdge rad="11430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3" name="组合 2" descr="abc70853-47fb-4db3-b063-a1a4a3010b70"/>
                <p:cNvGrpSpPr/>
                <p:nvPr/>
              </p:nvGrpSpPr>
              <p:grpSpPr>
                <a:xfrm>
                  <a:off x="660400" y="1949300"/>
                  <a:ext cx="3523388" cy="3204072"/>
                  <a:chOff x="800100" y="1663078"/>
                  <a:chExt cx="2478772" cy="1305155"/>
                </a:xfrm>
              </p:grpSpPr>
              <p:sp>
                <p:nvSpPr>
                  <p:cNvPr id="11" name="Text1" descr="c08c0052-513b-4acb-a064-599cd868bc4b"/>
                  <p:cNvSpPr txBox="1"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910489" y="2081807"/>
                    <a:ext cx="2368383" cy="84117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b="0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The Kubuqi model has influenced national policies like the "Three-North Shelterbelt Program," aiming to combat desertification across northern China.</a:t>
                    </a:r>
                    <a:endParaRPr lang="en-US" b="0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12" name="Bullet1" descr="97241c8c-ad82-4106-858a-6ddbf72b5240"/>
                  <p:cNvSpPr txBox="1"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910489" y="1663078"/>
                    <a:ext cx="2368383" cy="41872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</a:pPr>
                    <a:r>
                      <a:rPr lang="en-US" sz="1800" b="1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Policy Inspiration</a:t>
                    </a:r>
                    <a:endParaRPr lang="en-US" sz="1800" b="1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cxnSp>
                <p:nvCxnSpPr>
                  <p:cNvPr id="61" name="Shape1" descr="c52160c8-7b99-4197-97dd-590c5e52de7a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>
                    <a:off x="800100" y="1995488"/>
                    <a:ext cx="0" cy="972745"/>
                  </a:xfrm>
                  <a:prstGeom prst="line">
                    <a:avLst/>
                  </a:prstGeom>
                  <a:ln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alpha val="0"/>
                          </a:schemeClr>
                        </a:gs>
                      </a:gsLst>
                      <a:lin ang="5400000" scaled="1"/>
                    </a:gradFill>
                    <a:head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" name="组合 20" descr="9e8c7ae6-882e-4d84-8008-be3b70d9e06c"/>
                <p:cNvGrpSpPr/>
                <p:nvPr/>
              </p:nvGrpSpPr>
              <p:grpSpPr>
                <a:xfrm>
                  <a:off x="4327956" y="1949300"/>
                  <a:ext cx="3523388" cy="3204072"/>
                  <a:chOff x="800100" y="1663078"/>
                  <a:chExt cx="2478772" cy="1305155"/>
                </a:xfrm>
              </p:grpSpPr>
              <p:sp>
                <p:nvSpPr>
                  <p:cNvPr id="22" name="Text1" descr="6667962c-b719-4f80-bb35-b366017fbfc3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910489" y="2081807"/>
                    <a:ext cx="2368383" cy="84117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b="0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It has raised public awareness about environmental conservation, encouraging community participation in ecological projects.</a:t>
                    </a:r>
                    <a:endParaRPr lang="en-US" b="0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23" name="Bullet1" descr="9efad95f-06da-4c19-ba88-7da4aaccf039"/>
                  <p:cNvSpPr txBox="1"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910489" y="1663078"/>
                    <a:ext cx="2368383" cy="41872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</a:pPr>
                    <a:r>
                      <a:rPr lang="en-US" sz="1800" b="1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Public Awareness</a:t>
                    </a:r>
                    <a:endParaRPr lang="en-US" sz="1800" b="1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cxnSp>
                <p:nvCxnSpPr>
                  <p:cNvPr id="24" name="Shape1" descr="79b7dd53-3430-4378-a6c5-40bec6927555"/>
                  <p:cNvCxnSpPr/>
                  <p:nvPr>
                    <p:custDataLst>
                      <p:tags r:id="rId7"/>
                    </p:custDataLst>
                  </p:nvPr>
                </p:nvCxnSpPr>
                <p:spPr>
                  <a:xfrm>
                    <a:off x="800100" y="1995488"/>
                    <a:ext cx="0" cy="972745"/>
                  </a:xfrm>
                  <a:prstGeom prst="line">
                    <a:avLst/>
                  </a:prstGeom>
                  <a:ln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alpha val="0"/>
                          </a:schemeClr>
                        </a:gs>
                      </a:gsLst>
                      <a:lin ang="5400000" scaled="1"/>
                    </a:gradFill>
                    <a:head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32" name="直接连接符 231" descr="7200c27a-bae3-49d5-af1d-19a3199f8a9c"/>
                <p:cNvCxnSpPr/>
                <p:nvPr/>
              </p:nvCxnSpPr>
              <p:spPr>
                <a:xfrm>
                  <a:off x="660399" y="5153380"/>
                  <a:ext cx="10858500" cy="0"/>
                </a:xfrm>
                <a:prstGeom prst="line">
                  <a:avLst/>
                </a:prstGeom>
                <a:ln>
                  <a:solidFill>
                    <a:schemeClr val="tx1">
                      <a:alpha val="50000"/>
                    </a:schemeClr>
                  </a:solidFill>
                  <a:headEnd type="stealth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" name="组合 5" descr="08d6951a-f95d-448d-82b5-8e507e355bbe"/>
                <p:cNvGrpSpPr/>
                <p:nvPr/>
              </p:nvGrpSpPr>
              <p:grpSpPr>
                <a:xfrm>
                  <a:off x="7996147" y="1949300"/>
                  <a:ext cx="3522753" cy="3204072"/>
                  <a:chOff x="800547" y="1663078"/>
                  <a:chExt cx="2478325" cy="1305155"/>
                </a:xfrm>
              </p:grpSpPr>
              <p:sp>
                <p:nvSpPr>
                  <p:cNvPr id="7" name="Text1" descr="4b85e1ce-5f54-47d4-b986-9cf51ef3ea65"/>
                  <p:cNvSpPr txBox="1"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910489" y="2081807"/>
                    <a:ext cx="2368383" cy="84117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20000"/>
                      </a:lnSpc>
                    </a:pPr>
                    <a:r>
                      <a:rPr lang="en-US" b="0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The integration of technology, such as drip irrigation and drone planting, has set a precedent for innovative approaches to land restoration in China.</a:t>
                    </a:r>
                    <a:endParaRPr lang="en-US" b="0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sp>
                <p:nvSpPr>
                  <p:cNvPr id="8" name="Bullet1" descr="7c796abf-b4e7-4249-ad29-a0a064ccfdab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910489" y="1663078"/>
                    <a:ext cx="2368383" cy="41872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0">
                    <a:norm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>
                      <a:lnSpc>
                        <a:spcPct val="100000"/>
                      </a:lnSpc>
                    </a:pPr>
                    <a:r>
                      <a:rPr lang="en-US" sz="1800" b="1" i="0" u="none">
                        <a:solidFill>
                          <a:srgbClr val="000000"/>
                        </a:solidFill>
                        <a:latin typeface="Arial" panose="020B0604020202020204"/>
                      </a:rPr>
                      <a:t>Technological Advancement</a:t>
                    </a:r>
                    <a:endParaRPr lang="en-US" sz="1800" b="1" i="0" u="none">
                      <a:solidFill>
                        <a:srgbClr val="000000"/>
                      </a:solidFill>
                      <a:latin typeface="Arial" panose="020B0604020202020204"/>
                    </a:endParaRPr>
                  </a:p>
                </p:txBody>
              </p:sp>
              <p:cxnSp>
                <p:nvCxnSpPr>
                  <p:cNvPr id="9" name="Shape1" descr="9b458807-762d-473c-9e76-6b8e97e294fd"/>
                  <p:cNvCxnSpPr/>
                  <p:nvPr>
                    <p:custDataLst>
                      <p:tags r:id="rId10"/>
                    </p:custDataLst>
                  </p:nvPr>
                </p:nvCxnSpPr>
                <p:spPr>
                  <a:xfrm>
                    <a:off x="800547" y="1995488"/>
                    <a:ext cx="0" cy="972745"/>
                  </a:xfrm>
                  <a:prstGeom prst="line">
                    <a:avLst/>
                  </a:prstGeom>
                  <a:ln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alpha val="0"/>
                          </a:schemeClr>
                        </a:gs>
                      </a:gsLst>
                      <a:lin ang="5400000" scaled="1"/>
                    </a:gradFill>
                    <a:head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" name="任意多边形: 形状 13" descr="98c255f5-db6e-4233-983f-39cb54cb62d2"/>
              <p:cNvSpPr/>
              <p:nvPr/>
            </p:nvSpPr>
            <p:spPr>
              <a:xfrm flipH="1">
                <a:off x="-127229" y="5337053"/>
                <a:ext cx="1592897" cy="1680602"/>
              </a:xfrm>
              <a:custGeom>
                <a:avLst/>
                <a:gdLst>
                  <a:gd name="connsiteX0" fmla="*/ 1432299 w 2105399"/>
                  <a:gd name="connsiteY0" fmla="*/ 0 h 2221323"/>
                  <a:gd name="connsiteX1" fmla="*/ 1989815 w 2105399"/>
                  <a:gd name="connsiteY1" fmla="*/ 112557 h 2221323"/>
                  <a:gd name="connsiteX2" fmla="*/ 2105399 w 2105399"/>
                  <a:gd name="connsiteY2" fmla="*/ 168237 h 2221323"/>
                  <a:gd name="connsiteX3" fmla="*/ 2105399 w 2105399"/>
                  <a:gd name="connsiteY3" fmla="*/ 2221323 h 2221323"/>
                  <a:gd name="connsiteX4" fmla="*/ 237453 w 2105399"/>
                  <a:gd name="connsiteY4" fmla="*/ 2221323 h 2221323"/>
                  <a:gd name="connsiteX5" fmla="*/ 172871 w 2105399"/>
                  <a:gd name="connsiteY5" fmla="*/ 2115018 h 2221323"/>
                  <a:gd name="connsiteX6" fmla="*/ 0 w 2105399"/>
                  <a:gd name="connsiteY6" fmla="*/ 1432299 h 2221323"/>
                  <a:gd name="connsiteX7" fmla="*/ 1432299 w 2105399"/>
                  <a:gd name="connsiteY7" fmla="*/ 0 h 2221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05399" h="2221323">
                    <a:moveTo>
                      <a:pt x="1432299" y="0"/>
                    </a:moveTo>
                    <a:cubicBezTo>
                      <a:pt x="1630058" y="0"/>
                      <a:pt x="1818457" y="40079"/>
                      <a:pt x="1989815" y="112557"/>
                    </a:cubicBezTo>
                    <a:lnTo>
                      <a:pt x="2105399" y="168237"/>
                    </a:lnTo>
                    <a:lnTo>
                      <a:pt x="2105399" y="2221323"/>
                    </a:lnTo>
                    <a:lnTo>
                      <a:pt x="237453" y="2221323"/>
                    </a:lnTo>
                    <a:lnTo>
                      <a:pt x="172871" y="2115018"/>
                    </a:lnTo>
                    <a:cubicBezTo>
                      <a:pt x="62623" y="1912071"/>
                      <a:pt x="0" y="1679498"/>
                      <a:pt x="0" y="1432299"/>
                    </a:cubicBezTo>
                    <a:cubicBezTo>
                      <a:pt x="0" y="641262"/>
                      <a:pt x="641262" y="0"/>
                      <a:pt x="1432299" y="0"/>
                    </a:cubicBezTo>
                    <a:close/>
                  </a:path>
                </a:pathLst>
              </a:custGeom>
              <a:gradFill flip="none" rotWithShape="1">
                <a:gsLst>
                  <a:gs pos="21000">
                    <a:schemeClr val="accent1">
                      <a:alpha val="3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  <a:effectLst>
                <a:softEdge rad="1143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10" name="Title" descr="a5e8dcf9-e302-4156-887e-27fd73bb209f"/>
            <p:cNvSpPr/>
            <p:nvPr/>
          </p:nvSpPr>
          <p:spPr>
            <a:xfrm>
              <a:off x="660399" y="1130300"/>
              <a:ext cx="10858500" cy="8418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latin typeface="Arial" panose="020B0604020202020204"/>
                </a:rPr>
                <a:t>Influence within China</a:t>
              </a:r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0c6981c2-da18-4509-b258-50f2a7e3aa7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latin typeface="Arial" panose="020B0604020202020204"/>
              </a:rPr>
              <a:t>International Impact</a:t>
            </a:r>
            <a:endParaRPr lang="en-US" sz="2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49" name="bd836d25-d828-4359-b17f-df0e40e179f8.source.3.zh-Hans.pptx" descr="e92a7c1f-25a3-421d-b52b-67e82117032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itle" descr="468ce368-68fd-49df-b1e4-8276dd093eac"/>
            <p:cNvSpPr txBox="1"/>
            <p:nvPr/>
          </p:nvSpPr>
          <p:spPr>
            <a:xfrm>
              <a:off x="660400" y="1130300"/>
              <a:ext cx="10858500" cy="561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en-US"/>
              </a:defPPr>
              <a:lvl1pPr marR="0" lvl="0" indent="0" defTabSz="913765" fontAlgn="auto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4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>
                  <a:solidFill>
                    <a:srgbClr val="000000"/>
                  </a:solidFill>
                  <a:latin typeface="Arial" panose="020B0604020202020204"/>
                </a:rPr>
                <a:t>Global recognition and influence</a:t>
              </a:r>
              <a:endParaRPr lang="en-US" sz="24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" name="组合 3" descr="a9c68a18-bc96-4a40-919b-5c42145917f8"/>
            <p:cNvGrpSpPr/>
            <p:nvPr/>
          </p:nvGrpSpPr>
          <p:grpSpPr>
            <a:xfrm>
              <a:off x="694842" y="1994763"/>
              <a:ext cx="3462641" cy="4139337"/>
              <a:chOff x="694842" y="3046323"/>
              <a:chExt cx="3462641" cy="4139337"/>
            </a:xfrm>
          </p:grpSpPr>
          <p:sp>
            <p:nvSpPr>
              <p:cNvPr id="5" name="Number1" descr="27e6e69f-947d-406d-93cd-51f9a4dce8aa"/>
              <p:cNvSpPr/>
              <p:nvPr/>
            </p:nvSpPr>
            <p:spPr>
              <a:xfrm>
                <a:off x="694842" y="3046323"/>
                <a:ext cx="561340" cy="56134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6" name="组合 5" descr="2d905cdb-9801-436b-af41-149fa8173d3d"/>
              <p:cNvGrpSpPr/>
              <p:nvPr/>
            </p:nvGrpSpPr>
            <p:grpSpPr>
              <a:xfrm>
                <a:off x="1256182" y="3046323"/>
                <a:ext cx="2901301" cy="4139337"/>
                <a:chOff x="1385780" y="2954116"/>
                <a:chExt cx="1922406" cy="4139337"/>
              </a:xfrm>
            </p:grpSpPr>
            <p:sp>
              <p:nvSpPr>
                <p:cNvPr id="7" name="Bullet1" descr="2d671087-8163-4d43-990e-0c26b50ad790"/>
                <p:cNvSpPr/>
                <p:nvPr/>
              </p:nvSpPr>
              <p:spPr>
                <a:xfrm>
                  <a:off x="1385780" y="2954116"/>
                  <a:ext cx="1922406" cy="5613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U.N. Recognition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8" name="Text1" descr="a8417781-0d62-4021-9cfa-7f3d0a00dc15"/>
                <p:cNvSpPr/>
                <p:nvPr/>
              </p:nvSpPr>
              <p:spPr>
                <a:xfrm>
                  <a:off x="1385780" y="3515456"/>
                  <a:ext cx="1922405" cy="35779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1400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The Kubuqi Desert project has been recognized by the United Nations as a successful case of sustainable land management, contributing to the UN's Sustainable Development Goals, particularly those related to combating desertification and climate change.</a:t>
                  </a:r>
                  <a:endParaRPr lang="en-US" sz="1400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</p:grpSp>
        </p:grpSp>
        <p:grpSp>
          <p:nvGrpSpPr>
            <p:cNvPr id="44" name="组合 43" descr="338ed740-a28f-47f1-afc7-ec4abea048d0"/>
            <p:cNvGrpSpPr/>
            <p:nvPr/>
          </p:nvGrpSpPr>
          <p:grpSpPr>
            <a:xfrm>
              <a:off x="4375550" y="1994763"/>
              <a:ext cx="3462641" cy="4139337"/>
              <a:chOff x="3766585" y="3046323"/>
              <a:chExt cx="3462641" cy="4139337"/>
            </a:xfrm>
          </p:grpSpPr>
          <p:sp>
            <p:nvSpPr>
              <p:cNvPr id="10" name="Number2" descr="7bd4dfab-05be-479b-aeff-af0e65774e26"/>
              <p:cNvSpPr/>
              <p:nvPr/>
            </p:nvSpPr>
            <p:spPr>
              <a:xfrm>
                <a:off x="3766585" y="3046323"/>
                <a:ext cx="561340" cy="56134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1" name="组合 10" descr="646ce2ad-630c-42a7-b141-936cc601ecf9"/>
              <p:cNvGrpSpPr/>
              <p:nvPr/>
            </p:nvGrpSpPr>
            <p:grpSpPr>
              <a:xfrm>
                <a:off x="4327925" y="3046323"/>
                <a:ext cx="2901301" cy="4139337"/>
                <a:chOff x="1385780" y="2954116"/>
                <a:chExt cx="1922406" cy="4139337"/>
              </a:xfrm>
            </p:grpSpPr>
            <p:sp>
              <p:nvSpPr>
                <p:cNvPr id="12" name="Bullet2" descr="6d92a417-1193-40dc-9749-4aeef69b5053"/>
                <p:cNvSpPr/>
                <p:nvPr/>
              </p:nvSpPr>
              <p:spPr>
                <a:xfrm>
                  <a:off x="1385780" y="2954116"/>
                  <a:ext cx="1922406" cy="5613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Global Inspiration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3" name="Text2" descr="0d5fcd63-7ac7-44ad-b3e3-3b710721b7ac"/>
                <p:cNvSpPr/>
                <p:nvPr/>
              </p:nvSpPr>
              <p:spPr>
                <a:xfrm>
                  <a:off x="1385780" y="3515456"/>
                  <a:ext cx="1922405" cy="35779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2000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The project has inspired similar initiatives in arid regions across Africa and the Middle East, where desertification poses a severe threat to livelihoods.</a:t>
                  </a:r>
                  <a:endParaRPr lang="en-US" sz="2000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</p:grpSp>
        </p:grpSp>
        <p:grpSp>
          <p:nvGrpSpPr>
            <p:cNvPr id="46" name="组合 45" descr="b6a2571b-397d-4b5f-8af9-03e1c699f307"/>
            <p:cNvGrpSpPr/>
            <p:nvPr/>
          </p:nvGrpSpPr>
          <p:grpSpPr>
            <a:xfrm>
              <a:off x="8056259" y="1994763"/>
              <a:ext cx="3462641" cy="4139337"/>
              <a:chOff x="6838328" y="3046323"/>
              <a:chExt cx="3462641" cy="4139337"/>
            </a:xfrm>
          </p:grpSpPr>
          <p:sp>
            <p:nvSpPr>
              <p:cNvPr id="15" name="Number3" descr="13fe63ba-f307-4efa-951a-9bbf6f4f0600"/>
              <p:cNvSpPr/>
              <p:nvPr/>
            </p:nvSpPr>
            <p:spPr>
              <a:xfrm>
                <a:off x="6838328" y="3046323"/>
                <a:ext cx="561340" cy="56134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6" name="组合 15" descr="02e19fee-17e6-4a5a-8ff4-e58118ef19e2"/>
              <p:cNvGrpSpPr/>
              <p:nvPr/>
            </p:nvGrpSpPr>
            <p:grpSpPr>
              <a:xfrm>
                <a:off x="7399668" y="3046323"/>
                <a:ext cx="2901301" cy="4139337"/>
                <a:chOff x="1385780" y="2954116"/>
                <a:chExt cx="1922406" cy="4139337"/>
              </a:xfrm>
            </p:grpSpPr>
            <p:sp>
              <p:nvSpPr>
                <p:cNvPr id="17" name="Bullet3" descr="f957b37f-34f9-4064-9a99-8c8a44ad268c"/>
                <p:cNvSpPr/>
                <p:nvPr/>
              </p:nvSpPr>
              <p:spPr>
                <a:xfrm>
                  <a:off x="1385780" y="2954116"/>
                  <a:ext cx="1922406" cy="5613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800" b="1" i="0" u="none">
                      <a:solidFill>
                        <a:srgbClr val="000000"/>
                      </a:solidFill>
                      <a:latin typeface="Arial" panose="020B0604020202020204"/>
                    </a:rPr>
                    <a:t>International Collaboration</a:t>
                  </a:r>
                  <a:endParaRPr lang="en-US" sz="1800" b="1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8" name="Text3" descr="c301a7b2-d46f-4ab9-abad-fd8a626e3fec"/>
                <p:cNvSpPr/>
                <p:nvPr/>
              </p:nvSpPr>
              <p:spPr>
                <a:xfrm>
                  <a:off x="1385780" y="3515456"/>
                  <a:ext cx="1922405" cy="357799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30000"/>
                    </a:lnSpc>
                  </a:pPr>
                  <a:r>
                    <a:rPr lang="en-US" sz="2000" b="0" i="0" u="none">
                      <a:solidFill>
                        <a:srgbClr val="000000"/>
                      </a:solidFill>
                      <a:latin typeface="Arial" panose="020B0604020202020204"/>
                    </a:rPr>
                    <a:t>China's expertise in desert reclamation has been shared through international forums, fostering collaboration on global environmental challenges.</a:t>
                  </a:r>
                  <a:endParaRPr lang="en-US" sz="2000" b="0" i="0" u="non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7020648-83a1-4014-8447-615baa9c223e"/>
          <p:cNvSpPr>
            <a:spLocks noGrp="1"/>
          </p:cNvSpPr>
          <p:nvPr>
            <p:ph type="title" hasCustomPrompt="1"/>
          </p:nvPr>
        </p:nvSpPr>
        <p:spPr>
          <a:xfrm>
            <a:off x="666750" y="2299335"/>
            <a:ext cx="10858500" cy="1371600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 panose="020B0503020204020204" charset="-122"/>
              </a:rPr>
              <a:t>Thanks</a:t>
            </a:r>
            <a:endParaRPr lang="en-US" sz="4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e3942097-33d9-4c33-9c8b-63cb82df8ce2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endParaRPr lang="en-US"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2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3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4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5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6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7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8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9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0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1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2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3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4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5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6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7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8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29.xml><?xml version="1.0" encoding="utf-8"?>
<p:tagLst xmlns:p="http://schemas.openxmlformats.org/presentationml/2006/main">
  <p:tag name="KSO_WM_DIAGRAM_VIRTUALLY_FRAME" val="{&quot;height&quot;:459,&quot;left&quot;:0,&quot;top&quot;:81,&quot;width&quot;:907}"/>
</p:tagLst>
</file>

<file path=ppt/tags/tag3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7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38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39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0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1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2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3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4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5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6.xml><?xml version="1.0" encoding="utf-8"?>
<p:tagLst xmlns:p="http://schemas.openxmlformats.org/presentationml/2006/main">
  <p:tag name="KSO_WM_DIAGRAM_VIRTUALLY_FRAME" val="{&quot;height&quot;:552.5712598425197,&quot;left&quot;:-10.018031496062992,&quot;top&quot;:0,&quot;width&quot;:970.0180314960629}"/>
</p:tagLst>
</file>

<file path=ppt/tags/tag47.xml><?xml version="1.0" encoding="utf-8"?>
<p:tagLst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B07E2A"/>
      </a:accent1>
      <a:accent2>
        <a:srgbClr val="FF9527"/>
      </a:accent2>
      <a:accent3>
        <a:srgbClr val="69777E"/>
      </a:accent3>
      <a:accent4>
        <a:srgbClr val="B8B8B8"/>
      </a:accent4>
      <a:accent5>
        <a:srgbClr val="909090"/>
      </a:accent5>
      <a:accent6>
        <a:srgbClr val="676767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6001</Words>
  <Application>WPS 演示</Application>
  <PresentationFormat>宽屏</PresentationFormat>
  <Paragraphs>218</Paragraphs>
  <Slides>16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等线</vt:lpstr>
      <vt:lpstr>Designed by iSlide</vt:lpstr>
      <vt:lpstr>Case Study on Kubuqi Desert Restoration</vt:lpstr>
      <vt:lpstr>Contents</vt:lpstr>
      <vt:lpstr>Background</vt:lpstr>
      <vt:lpstr>Location and History</vt:lpstr>
      <vt:lpstr>Ecological Challenges</vt:lpstr>
      <vt:lpstr>Restoration Measures</vt:lpstr>
      <vt:lpstr>Technical Approaches</vt:lpstr>
      <vt:lpstr>Biodiversity and Industry</vt:lpstr>
      <vt:lpstr>Policy and Community Involvement</vt:lpstr>
      <vt:lpstr>Implementation Effects</vt:lpstr>
      <vt:lpstr>Ecological Impact</vt:lpstr>
      <vt:lpstr>Economic and Social Benefits</vt:lpstr>
      <vt:lpstr>Domestic and International Impact</vt:lpstr>
      <vt:lpstr>Domestic Impact</vt:lpstr>
      <vt:lpstr>International Impact</vt:lpstr>
      <vt:lpstr>Thanks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iSlide</dc:creator>
  <cp:lastModifiedBy>王瑞</cp:lastModifiedBy>
  <cp:revision>4</cp:revision>
  <cp:lastPrinted>2024-01-14T16:00:00Z</cp:lastPrinted>
  <dcterms:created xsi:type="dcterms:W3CDTF">2024-01-14T16:00:00Z</dcterms:created>
  <dcterms:modified xsi:type="dcterms:W3CDTF">2026-02-24T03:10:15Z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b579820e-6aea-47b6-b11e-079fea5b3f55</vt:lpwstr>
  </property>
  <property fmtid="{D5CDD505-2E9C-101B-9397-08002B2CF9AE}" pid="3" name="ICV">
    <vt:lpwstr>6D8DC27FD8A44A599F453CB8E498F5DC_12</vt:lpwstr>
  </property>
  <property fmtid="{D5CDD505-2E9C-101B-9397-08002B2CF9AE}" pid="4" name="KSOProductBuildVer">
    <vt:lpwstr>2052-12.1.0.23542</vt:lpwstr>
  </property>
</Properties>
</file>