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1122680"/>
            <a:ext cx="105156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38200" y="3602355"/>
            <a:ext cx="10515600" cy="165544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7485"/>
            <a:ext cx="10515600" cy="1325563"/>
          </a:xfrm>
        </p:spPr>
        <p:txBody>
          <a:bodyPr anchor="b" anchorCtr="0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02435"/>
            <a:ext cx="10515600" cy="4474845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959100"/>
            <a:ext cx="10515600" cy="2781300"/>
          </a:xfrm>
        </p:spPr>
        <p:txBody>
          <a:bodyPr anchor="t" anchorCtr="0"/>
          <a:lstStyle>
            <a:lvl1pPr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722120"/>
            <a:ext cx="10515600" cy="1102995"/>
          </a:xfrm>
        </p:spPr>
        <p:txBody>
          <a:bodyPr lIns="144145" anchor="b" anchorCtr="0"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05" y="365125"/>
            <a:ext cx="10515600" cy="8001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470" y="1482090"/>
            <a:ext cx="5220970" cy="823595"/>
          </a:xfrm>
        </p:spPr>
        <p:txBody>
          <a:bodyPr anchor="ctr" anchorCtr="0"/>
          <a:lstStyle>
            <a:lvl1pPr marL="0" indent="0">
              <a:buNone/>
              <a:defRPr sz="3200">
                <a:solidFill>
                  <a:srgbClr val="0070C0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200" y="2368550"/>
            <a:ext cx="5222240" cy="3820795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655" y="1482090"/>
            <a:ext cx="5097145" cy="823595"/>
          </a:xfrm>
        </p:spPr>
        <p:txBody>
          <a:bodyPr anchor="ctr" anchorCtr="0"/>
          <a:lstStyle>
            <a:lvl1pPr marL="0" indent="0">
              <a:buNone/>
              <a:defRPr sz="3200">
                <a:solidFill>
                  <a:srgbClr val="0070C0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655" y="2368550"/>
            <a:ext cx="5097145" cy="3820795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97485"/>
            <a:ext cx="10515600" cy="1325563"/>
          </a:xfrm>
        </p:spPr>
        <p:txBody>
          <a:bodyPr anchor="b" anchorCtr="0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 +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-12700" y="-1905"/>
            <a:ext cx="7017385" cy="6861810"/>
          </a:xfrm>
          <a:noFill/>
        </p:spPr>
        <p:txBody>
          <a:bodyPr lIns="252095" tIns="144145"/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50125" y="457200"/>
            <a:ext cx="4392295" cy="105537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49490" y="1694180"/>
            <a:ext cx="4393565" cy="448056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文本 + 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505" y="-7620"/>
            <a:ext cx="7017385" cy="6861810"/>
          </a:xfrm>
          <a:noFill/>
        </p:spPr>
        <p:txBody>
          <a:bodyPr lIns="252095" tIns="144145"/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9575" y="457200"/>
            <a:ext cx="4279900" cy="105537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09575" y="1694180"/>
            <a:ext cx="4280535" cy="448056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3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27025"/>
            <a:ext cx="10515600" cy="5850255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effectLst>
            <a:outerShdw blurRad="88900" dist="101600" dir="5400000" algn="ctr" rotWithShape="0">
              <a:srgbClr val="000000">
                <a:alpha val="2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202020"/>
          </a:solidFill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75000"/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75945" indent="-228600" algn="l" defTabSz="914400" rtl="0" eaLnBrk="1" fontAlgn="auto" latinLnBrk="0" hangingPunct="1">
        <a:lnSpc>
          <a:spcPct val="12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07745" indent="-228600" algn="l" defTabSz="914400" rtl="0" eaLnBrk="1" fontAlgn="auto" latinLnBrk="0" hangingPunct="1">
        <a:lnSpc>
          <a:spcPct val="120000"/>
        </a:lnSpc>
        <a:spcBef>
          <a:spcPts val="500"/>
        </a:spcBef>
        <a:buSzPct val="75000"/>
        <a:buFont typeface="Arial" panose="020B0604020202020204" pitchFamily="34" charset="0"/>
        <a:buChar char="‒"/>
        <a:defRPr sz="2000" kern="1200">
          <a:solidFill>
            <a:schemeClr val="tx1">
              <a:lumMod val="65000"/>
              <a:lumOff val="35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511935" indent="-228600" algn="l" defTabSz="914400" rtl="0" eaLnBrk="1" fontAlgn="auto" latinLnBrk="0" hangingPunct="1">
        <a:lnSpc>
          <a:spcPct val="100000"/>
        </a:lnSpc>
        <a:spcBef>
          <a:spcPts val="500"/>
        </a:spcBef>
        <a:buSzPct val="75000"/>
        <a:buFont typeface="Arial" panose="020B0604020202020204" pitchFamily="34" charset="0"/>
        <a:buChar char="˃"/>
        <a:defRPr sz="1800" kern="1200">
          <a:solidFill>
            <a:schemeClr val="tx1">
              <a:lumMod val="50000"/>
              <a:lumOff val="50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943735" indent="-228600" algn="l" defTabSz="914400" rtl="0" eaLnBrk="1" fontAlgn="auto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˃"/>
        <a:defRPr sz="1800" kern="1200">
          <a:solidFill>
            <a:schemeClr val="tx1">
              <a:lumMod val="50000"/>
              <a:lumOff val="50000"/>
            </a:schemeClr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WifiRobot</a:t>
            </a:r>
            <a:r>
              <a:rPr lang="zh-CN" altLang="en-US"/>
              <a:t>脚本说明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关于</a:t>
            </a:r>
            <a:r>
              <a:rPr lang="en-US" altLang="zh-CN"/>
              <a:t>WifiRobotDebug</a:t>
            </a:r>
            <a:r>
              <a:rPr lang="zh-CN" altLang="en-US"/>
              <a:t>界面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WIFI</a:t>
            </a:r>
            <a:r>
              <a:rPr lang="zh-CN" altLang="en-US"/>
              <a:t>机器人小车脚本调试助手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465" y="1588135"/>
            <a:ext cx="5880100" cy="51574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252210" y="1843405"/>
            <a:ext cx="569658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功能：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查看时基变量（</a:t>
            </a:r>
            <a:r>
              <a:rPr lang="en-US" altLang="zh-CN"/>
              <a:t>32</a:t>
            </a:r>
            <a:r>
              <a:rPr lang="zh-CN" altLang="en-US"/>
              <a:t>个）和值基变量（</a:t>
            </a:r>
            <a:r>
              <a:rPr lang="en-US" altLang="zh-CN"/>
              <a:t>32</a:t>
            </a:r>
            <a:r>
              <a:rPr lang="zh-CN" altLang="en-US"/>
              <a:t>个）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查看配置变量（前</a:t>
            </a:r>
            <a:r>
              <a:rPr lang="en-US" altLang="zh-CN"/>
              <a:t>16</a:t>
            </a:r>
            <a:r>
              <a:rPr lang="zh-CN" altLang="en-US"/>
              <a:t>个可写可读，后</a:t>
            </a:r>
            <a:r>
              <a:rPr lang="en-US" altLang="zh-CN"/>
              <a:t>16</a:t>
            </a:r>
            <a:r>
              <a:rPr lang="zh-CN" altLang="en-US"/>
              <a:t>个只读）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查看通信日志</a:t>
            </a: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endParaRPr lang="zh-CN" altLang="en-US"/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/>
              <a:t>脚本相关性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时基变量由</a:t>
            </a:r>
            <a:r>
              <a:rPr lang="en-US" altLang="zh-CN"/>
              <a:t>setTimeBase(index)</a:t>
            </a:r>
            <a:r>
              <a:rPr lang="zh-CN" altLang="en-US"/>
              <a:t>设置初值，并在初值被设置后随时间变化而变化。当</a:t>
            </a:r>
            <a:r>
              <a:rPr lang="en-US" altLang="zh-CN"/>
              <a:t>elapsed(index)</a:t>
            </a:r>
            <a:r>
              <a:rPr lang="zh-CN" altLang="en-US"/>
              <a:t>被调用时取出当前值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值基变量由</a:t>
            </a:r>
            <a:r>
              <a:rPr lang="en-US" altLang="zh-CN"/>
              <a:t>setVaueBase(index,val)</a:t>
            </a:r>
            <a:r>
              <a:rPr lang="zh-CN" altLang="en-US"/>
              <a:t>设置，设置后不变。当</a:t>
            </a:r>
            <a:r>
              <a:rPr lang="en-US" altLang="zh-CN"/>
              <a:t>difference(index,newVal)</a:t>
            </a:r>
            <a:r>
              <a:rPr lang="zh-CN" altLang="en-US"/>
              <a:t>被调用时，返回</a:t>
            </a:r>
            <a:r>
              <a:rPr lang="en-US" altLang="zh-CN"/>
              <a:t>newVal-val</a:t>
            </a:r>
            <a:r>
              <a:rPr lang="zh-CN" altLang="en-US"/>
              <a:t>。值基变量仍然保持为</a:t>
            </a:r>
            <a:r>
              <a:rPr lang="en-US" altLang="zh-CN"/>
              <a:t>val</a:t>
            </a:r>
            <a:r>
              <a:rPr lang="zh-CN" altLang="en-US"/>
              <a:t>不变。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配置变量可以通过</a:t>
            </a:r>
            <a:r>
              <a:rPr lang="en-US" altLang="zh-CN"/>
              <a:t>getConfig(index)</a:t>
            </a:r>
            <a:r>
              <a:rPr lang="zh-CN" altLang="en-US"/>
              <a:t>读取。当</a:t>
            </a:r>
            <a:r>
              <a:rPr lang="en-US" altLang="zh-CN"/>
              <a:t>index</a:t>
            </a:r>
            <a:r>
              <a:rPr lang="zh-CN" altLang="en-US"/>
              <a:t>小于</a:t>
            </a:r>
            <a:r>
              <a:rPr lang="en-US" altLang="zh-CN"/>
              <a:t>16</a:t>
            </a:r>
            <a:r>
              <a:rPr lang="zh-CN" altLang="en-US"/>
              <a:t>时，可以通过</a:t>
            </a:r>
            <a:r>
              <a:rPr lang="en-US" altLang="zh-CN"/>
              <a:t>setConfig(index,newVal)</a:t>
            </a:r>
            <a:r>
              <a:rPr lang="zh-CN" altLang="en-US"/>
              <a:t>来改变其值。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以上</a:t>
            </a:r>
            <a:r>
              <a:rPr lang="en-US" altLang="zh-CN"/>
              <a:t>index</a:t>
            </a:r>
            <a:r>
              <a:rPr lang="zh-CN" altLang="en-US"/>
              <a:t>除特别说明的以外，取值均为</a:t>
            </a:r>
            <a:r>
              <a:rPr lang="en-US" altLang="zh-CN"/>
              <a:t>0~31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当脚本执行结果有对小车的操作时，在通信日志窗口可以看到具体的操作描述和通信命令字。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67510" y="5811520"/>
            <a:ext cx="158115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通信日志窗口</a:t>
            </a:r>
            <a:endParaRPr lang="zh-CN" altLang="en-US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setTimeBase</a:t>
            </a:r>
            <a:r>
              <a:rPr lang="zh-CN" altLang="en-US"/>
              <a:t>和</a:t>
            </a:r>
            <a:r>
              <a:rPr lang="en-US" altLang="zh-CN"/>
              <a:t>elapsed</a:t>
            </a:r>
            <a:r>
              <a:rPr lang="zh-CN" altLang="en-US"/>
              <a:t>的动画说明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</p:nvPr>
        </p:nvGraphicFramePr>
        <p:xfrm>
          <a:off x="361950" y="2415540"/>
          <a:ext cx="1753870" cy="348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260"/>
                <a:gridCol w="943610"/>
              </a:tblGrid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index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time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Base</a:t>
                      </a:r>
                      <a:endParaRPr lang="en-US" altLang="zh-CN"/>
                    </a:p>
                  </a:txBody>
                  <a:tcPr/>
                </a:tc>
              </a:tr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燕尾形箭头 4"/>
          <p:cNvSpPr/>
          <p:nvPr/>
        </p:nvSpPr>
        <p:spPr>
          <a:xfrm rot="5400000">
            <a:off x="2642870" y="2625090"/>
            <a:ext cx="743585" cy="32385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63165" y="2047240"/>
            <a:ext cx="1113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时间流逝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59330" y="3799840"/>
            <a:ext cx="1644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setTimeBase(1)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072890" y="2047240"/>
            <a:ext cx="1113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t0=0s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4072890" y="3799840"/>
            <a:ext cx="1113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t1=12.30s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2433955" y="4949190"/>
            <a:ext cx="116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elapsed(1)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072890" y="4949190"/>
            <a:ext cx="1113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t2=22.45s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101725" y="3577590"/>
            <a:ext cx="1113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t1=12.30s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2433955" y="5628640"/>
            <a:ext cx="14693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elapsed</a:t>
            </a:r>
            <a:r>
              <a:rPr lang="zh-CN" altLang="en-US"/>
              <a:t>返回</a:t>
            </a:r>
            <a:endParaRPr lang="zh-CN" altLang="en-US"/>
          </a:p>
          <a:p>
            <a:r>
              <a:rPr lang="en-US" altLang="zh-CN"/>
              <a:t>t2-t1=10.15s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4072890" y="3799840"/>
            <a:ext cx="1113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t1=12.30s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259330" y="4295140"/>
            <a:ext cx="1729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setTimeBase(30)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072890" y="4295140"/>
            <a:ext cx="1113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t3=15.30s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29 -0.025000 L 0.000729 0.087407 " pathEditMode="relative" rAng="0" ptsTypes="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243750 -0.032963 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1 0.094815 L 0.000677 0.179074 " pathEditMode="relative" rAng="0" ptsTypes=""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243750 0.101759 " pathEditMode="relative" rAng="0" ptsTypes=""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176204 L 0.000000 0.270741 " pathEditMode="relative" rAng="0" ptsTypes="">
                                      <p:cBhvr>
                                        <p:cTn id="4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4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243177 0.234630 " pathEditMode="relative" rAng="0" ptsTypes="">
                                      <p:cBhvr>
                                        <p:cTn id="6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/>
      <p:bldP spid="9" grpId="1"/>
      <p:bldP spid="5" grpId="1" animBg="1"/>
      <p:bldP spid="10" grpId="0"/>
      <p:bldP spid="11" grpId="0"/>
      <p:bldP spid="12" grpId="1"/>
      <p:bldP spid="12" grpId="2"/>
      <p:bldP spid="12" grpId="3"/>
      <p:bldP spid="12" grpId="4"/>
      <p:bldP spid="12" grpId="5"/>
      <p:bldP spid="12" grpId="6"/>
      <p:bldP spid="12" grpId="7"/>
      <p:bldP spid="13" grpId="0"/>
      <p:bldP spid="14" grpId="0"/>
      <p:bldP spid="15" grpId="0"/>
      <p:bldP spid="16" grpId="0"/>
      <p:bldP spid="16" grpId="1"/>
      <p:bldP spid="15" grpId="1"/>
      <p:bldP spid="5" grpId="2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setValueBase</a:t>
            </a:r>
            <a:r>
              <a:rPr lang="zh-CN" altLang="en-US"/>
              <a:t>和</a:t>
            </a:r>
            <a:r>
              <a:rPr lang="en-US" altLang="zh-CN"/>
              <a:t>difference</a:t>
            </a:r>
            <a:r>
              <a:rPr lang="zh-CN" altLang="en-US"/>
              <a:t>的动画说明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</p:nvPr>
        </p:nvGraphicFramePr>
        <p:xfrm>
          <a:off x="361950" y="2415540"/>
          <a:ext cx="1820545" cy="348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260"/>
                <a:gridCol w="1010285"/>
              </a:tblGrid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index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Value</a:t>
                      </a:r>
                      <a:endParaRPr lang="en-US" altLang="zh-CN"/>
                    </a:p>
                    <a:p>
                      <a:pPr algn="ctr">
                        <a:buNone/>
                      </a:pPr>
                      <a:r>
                        <a:rPr lang="en-US" altLang="zh-CN"/>
                        <a:t>Base</a:t>
                      </a:r>
                      <a:endParaRPr lang="en-US" altLang="zh-CN"/>
                    </a:p>
                  </a:txBody>
                  <a:tcPr/>
                </a:tc>
              </a:tr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4737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燕尾形箭头 4"/>
          <p:cNvSpPr/>
          <p:nvPr/>
        </p:nvSpPr>
        <p:spPr>
          <a:xfrm rot="5400000">
            <a:off x="2642870" y="2625090"/>
            <a:ext cx="743585" cy="323850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463165" y="2047240"/>
            <a:ext cx="1113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时间流逝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14880" y="3799840"/>
            <a:ext cx="1952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setValueBase(1,v1)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072890" y="3799840"/>
            <a:ext cx="1189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v1=101.23</a:t>
            </a:r>
            <a:endParaRPr lang="en-US" altLang="zh-CN"/>
          </a:p>
        </p:txBody>
      </p:sp>
      <p:sp>
        <p:nvSpPr>
          <p:cNvPr id="10" name="文本框 9"/>
          <p:cNvSpPr txBox="1"/>
          <p:nvPr/>
        </p:nvSpPr>
        <p:spPr>
          <a:xfrm>
            <a:off x="2291080" y="4949190"/>
            <a:ext cx="167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difference</a:t>
            </a:r>
            <a:r>
              <a:rPr lang="en-US" altLang="zh-CN"/>
              <a:t>(1,v2)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072890" y="4949190"/>
            <a:ext cx="1255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v2=202.45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1101725" y="3577590"/>
            <a:ext cx="1189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v1=101.23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2433955" y="5628640"/>
            <a:ext cx="16389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difference</a:t>
            </a:r>
            <a:r>
              <a:rPr lang="zh-CN" altLang="en-US"/>
              <a:t>返回</a:t>
            </a:r>
            <a:endParaRPr lang="zh-CN" altLang="en-US"/>
          </a:p>
          <a:p>
            <a:r>
              <a:rPr lang="en-US" altLang="zh-CN"/>
              <a:t>v2-v1=101.22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4072890" y="3799840"/>
            <a:ext cx="1255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v1=101.23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2291080" y="4304665"/>
            <a:ext cx="2037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setValueBase(30,v3)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328795" y="4304665"/>
            <a:ext cx="1255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v3=55.5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29 -0.025000 L 0.000729 0.087407 " pathEditMode="relative" rAng="0" ptsTypes="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243750 -0.032963 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" y="-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1 0.094815 L 0.000677 0.183241 " pathEditMode="relative" rAng="0" ptsTypes="">
                                      <p:cBhvr>
                                        <p:cTn id="2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262760 0.101759 " pathEditMode="relative" rAng="0" ptsTypes="">
                                      <p:cBhvr>
                                        <p:cTn id="3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5" y="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184630 L 0.000000 0.277685 " pathEditMode="relative" rAng="0" ptsTypes="">
                                      <p:cBhvr>
                                        <p:cTn id="4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1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0" presetClass="entr" presetSubtype="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500"/>
                            </p:stCondLst>
                            <p:childTnLst>
                              <p:par>
                                <p:cTn id="59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243177 0.234630 " pathEditMode="relative" rAng="0" ptsTypes="">
                                      <p:cBhvr>
                                        <p:cTn id="6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500"/>
                            </p:stCondLst>
                            <p:childTnLst>
                              <p:par>
                                <p:cTn id="6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/>
      <p:bldP spid="9" grpId="0"/>
      <p:bldP spid="9" grpId="1"/>
      <p:bldP spid="5" grpId="1" bldLvl="0" animBg="1"/>
      <p:bldP spid="10" grpId="0"/>
      <p:bldP spid="11" grpId="0"/>
      <p:bldP spid="12" grpId="1"/>
      <p:bldP spid="12" grpId="2"/>
      <p:bldP spid="12" grpId="3"/>
      <p:bldP spid="12" grpId="4"/>
      <p:bldP spid="12" grpId="5"/>
      <p:bldP spid="12" grpId="6"/>
      <p:bldP spid="12" grpId="7"/>
      <p:bldP spid="13" grpId="0"/>
      <p:bldP spid="14" grpId="0"/>
      <p:bldP spid="15" grpId="0"/>
      <p:bldP spid="16" grpId="0"/>
      <p:bldP spid="16" grpId="1"/>
      <p:bldP spid="5" grpId="2" animBg="1"/>
      <p:bldP spid="15" grpId="1"/>
      <p:bldP spid="15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配置值和小车</a:t>
            </a:r>
            <a:r>
              <a:rPr lang="en-US" altLang="zh-CN"/>
              <a:t>App</a:t>
            </a:r>
            <a:r>
              <a:rPr lang="zh-CN" altLang="en-US"/>
              <a:t>里面设置项的对应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465" y="1588135"/>
            <a:ext cx="5880100" cy="51574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49891"/>
          <a:stretch>
            <a:fillRect/>
          </a:stretch>
        </p:blipFill>
        <p:spPr>
          <a:xfrm>
            <a:off x="5917565" y="1948815"/>
            <a:ext cx="3070860" cy="342392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 flipH="1" flipV="1">
            <a:off x="2895600" y="2633345"/>
            <a:ext cx="3095625" cy="190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 flipH="1" flipV="1">
            <a:off x="2790825" y="2842895"/>
            <a:ext cx="3495675" cy="457200"/>
          </a:xfrm>
          <a:prstGeom prst="straightConnector1">
            <a:avLst/>
          </a:prstGeom>
          <a:ln>
            <a:solidFill>
              <a:srgbClr val="FF3300"/>
            </a:solidFill>
            <a:tailEnd type="arrow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 flipV="1">
            <a:off x="2867025" y="3061970"/>
            <a:ext cx="3467100" cy="9239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 flipV="1">
            <a:off x="2828925" y="3233420"/>
            <a:ext cx="3533775" cy="14573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2833370" y="3438525"/>
            <a:ext cx="3319780" cy="170942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73856" r="18153"/>
          <a:stretch>
            <a:fillRect/>
          </a:stretch>
        </p:blipFill>
        <p:spPr>
          <a:xfrm>
            <a:off x="5936615" y="5477510"/>
            <a:ext cx="6205855" cy="1162685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H="1" flipV="1">
            <a:off x="2819400" y="3638550"/>
            <a:ext cx="3743325" cy="27908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 flipV="1">
            <a:off x="2867025" y="3849370"/>
            <a:ext cx="4219575" cy="25609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 flipV="1">
            <a:off x="2867025" y="4079240"/>
            <a:ext cx="4676775" cy="23406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 flipV="1">
            <a:off x="2867025" y="4222115"/>
            <a:ext cx="5324475" cy="21977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2867025" y="4442460"/>
            <a:ext cx="5943600" cy="19964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 flipV="1">
            <a:off x="2895600" y="4643755"/>
            <a:ext cx="7743825" cy="17951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8763000" y="2143125"/>
            <a:ext cx="180975" cy="171450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曲线连接符 18"/>
          <p:cNvCxnSpPr>
            <a:stCxn id="18" idx="5"/>
          </p:cNvCxnSpPr>
          <p:nvPr/>
        </p:nvCxnSpPr>
        <p:spPr>
          <a:xfrm rot="5400000" flipV="1">
            <a:off x="7974965" y="3230880"/>
            <a:ext cx="3178175" cy="1293495"/>
          </a:xfrm>
          <a:prstGeom prst="curvedConnector3">
            <a:avLst>
              <a:gd name="adj1" fmla="val 50410"/>
            </a:avLst>
          </a:prstGeom>
          <a:ln>
            <a:solidFill>
              <a:srgbClr val="99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9363710" y="2000250"/>
            <a:ext cx="25615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注意，在脚本中可以通过</a:t>
            </a:r>
            <a:r>
              <a:rPr lang="en-US" altLang="zh-CN"/>
              <a:t>setConfig</a:t>
            </a:r>
            <a:r>
              <a:rPr lang="zh-CN" altLang="en-US"/>
              <a:t>修改这些配置，但是不会被保存，即</a:t>
            </a:r>
            <a:r>
              <a:rPr lang="zh-CN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软件重启后会回到设置界面设置的初始值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zh-CN"/>
              <a:t>表征系统状态的只读配置项</a:t>
            </a:r>
            <a:endParaRPr lang="zh-CN" altLang="zh-CN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rcRect l="1208" t="6887" r="-1288" b="266"/>
          <a:stretch>
            <a:fillRect/>
          </a:stretch>
        </p:blipFill>
        <p:spPr>
          <a:xfrm>
            <a:off x="175260" y="1523365"/>
            <a:ext cx="5862955" cy="5177790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/>
        </p:nvGraphicFramePr>
        <p:xfrm>
          <a:off x="6104255" y="1952625"/>
          <a:ext cx="5848350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7725"/>
                <a:gridCol w="50006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配置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8229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23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超声波测距结果</a:t>
                      </a:r>
                      <a:r>
                        <a:rPr lang="en-US" altLang="zh-CN" sz="1600"/>
                        <a:t>,</a:t>
                      </a:r>
                      <a:r>
                        <a:rPr lang="zh-CN" altLang="en-US" sz="1600"/>
                        <a:t>测距命令</a:t>
                      </a:r>
                      <a:r>
                        <a:rPr lang="en-US" altLang="zh-CN" sz="1600"/>
                        <a:t>0xFFAA1000FF</a:t>
                      </a:r>
                      <a:r>
                        <a:rPr lang="zh-CN" altLang="en-US" sz="1600"/>
                        <a:t>【脚本命令为</a:t>
                      </a:r>
                      <a:r>
                        <a:rPr lang="zh-CN" altLang="en-US" sz="1200" i="1">
                          <a:solidFill>
                            <a:schemeClr val="accent1"/>
                          </a:solidFill>
                        </a:rPr>
                        <a:t>$DC = true;$Dir = 262803456;</a:t>
                      </a:r>
                      <a:r>
                        <a:rPr lang="zh-CN" altLang="en-US" sz="1600"/>
                        <a:t>或</a:t>
                      </a:r>
                      <a:r>
                        <a:rPr lang="zh-CN" altLang="en-US" sz="1200" i="1">
                          <a:solidFill>
                            <a:schemeClr val="accent1"/>
                          </a:solidFill>
                        </a:rPr>
                        <a:t>updateNow("{'VehicleMove':{'Valid':true,'Value':262803456}}");</a:t>
                      </a:r>
                      <a:r>
                        <a:rPr lang="zh-CN" altLang="en-US" sz="1600"/>
                        <a:t>】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24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串口语音模块发音状态，</a:t>
                      </a:r>
                      <a:r>
                        <a:rPr lang="en-US" altLang="zh-CN" sz="1600"/>
                        <a:t>2-</a:t>
                      </a:r>
                      <a:r>
                        <a:rPr lang="zh-CN" altLang="en-US" sz="1600"/>
                        <a:t>空闲 </a:t>
                      </a:r>
                      <a:r>
                        <a:rPr lang="en-US" altLang="zh-CN" sz="1600"/>
                        <a:t>1-</a:t>
                      </a:r>
                      <a:r>
                        <a:rPr lang="zh-CN" altLang="en-US" sz="1600"/>
                        <a:t>忙碌 </a:t>
                      </a:r>
                      <a:r>
                        <a:rPr lang="en-US" altLang="zh-CN" sz="1600"/>
                        <a:t>0-</a:t>
                      </a:r>
                      <a:r>
                        <a:rPr lang="zh-CN" altLang="en-US" sz="1600"/>
                        <a:t>初始态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25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串口数据序号，用于判断是否有新数据到达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  <a:tr h="5791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26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树莓派串口接收到的数据，连接语音识别模块时用于判断语音识别结果（返回设定语音序号</a:t>
                      </a:r>
                      <a:r>
                        <a:rPr lang="en-US" altLang="zh-CN" sz="1600"/>
                        <a:t>+128</a:t>
                      </a:r>
                      <a:r>
                        <a:rPr lang="zh-CN" altLang="en-US" sz="1600"/>
                        <a:t>）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  <a:tr h="8229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27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车辆上面的</a:t>
                      </a:r>
                      <a:r>
                        <a:rPr lang="en-US" altLang="zh-CN" sz="1600"/>
                        <a:t>5</a:t>
                      </a:r>
                      <a:r>
                        <a:rPr lang="zh-CN" altLang="en-US" sz="1600"/>
                        <a:t>个红外传感器的状态，设传感器状态为</a:t>
                      </a:r>
                      <a:r>
                        <a:rPr lang="en-US" altLang="zh-CN" sz="1600"/>
                        <a:t>S0~S5(</a:t>
                      </a:r>
                      <a:r>
                        <a:rPr lang="zh-CN" altLang="en-US" sz="1600"/>
                        <a:t>值为</a:t>
                      </a:r>
                      <a:r>
                        <a:rPr lang="en-US" altLang="zh-CN" sz="1600"/>
                        <a:t>0</a:t>
                      </a:r>
                      <a:r>
                        <a:rPr lang="zh-CN" altLang="en-US" sz="1600"/>
                        <a:t>或</a:t>
                      </a:r>
                      <a:r>
                        <a:rPr lang="en-US" altLang="zh-CN" sz="1600"/>
                        <a:t>1)</a:t>
                      </a:r>
                      <a:r>
                        <a:rPr lang="zh-CN" altLang="en-US" sz="1600"/>
                        <a:t>，则此值为</a:t>
                      </a:r>
                      <a:r>
                        <a:rPr lang="en-US" altLang="zh-CN" sz="1600" i="1">
                          <a:solidFill>
                            <a:srgbClr val="FF0000"/>
                          </a:solidFill>
                        </a:rPr>
                        <a:t>S0*1+S1*2+S2*4+S3*8+S4*16+S5*32</a:t>
                      </a:r>
                      <a:endParaRPr lang="en-US" altLang="zh-CN" sz="1600" i="1">
                        <a:solidFill>
                          <a:srgbClr val="FF0000"/>
                        </a:solidFill>
                      </a:endParaRPr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28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当配置</a:t>
                      </a:r>
                      <a:r>
                        <a:rPr lang="en-US" altLang="zh-CN" sz="1600"/>
                        <a:t>6</a:t>
                      </a:r>
                      <a:r>
                        <a:rPr lang="zh-CN" altLang="en-US" sz="1600"/>
                        <a:t>缩小检测为真时，此值为缩小的比例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29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原始视频的</a:t>
                      </a:r>
                      <a:r>
                        <a:rPr lang="en-US" altLang="zh-CN" sz="1600"/>
                        <a:t>x</a:t>
                      </a:r>
                      <a:r>
                        <a:rPr lang="zh-CN" altLang="en-US" sz="1600"/>
                        <a:t>方向像素点数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30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600"/>
                        <a:t>原始视频的</a:t>
                      </a:r>
                      <a:r>
                        <a:rPr lang="en-US" altLang="zh-CN" sz="1600"/>
                        <a:t>y</a:t>
                      </a:r>
                      <a:r>
                        <a:rPr lang="zh-CN" altLang="en-US" sz="1600"/>
                        <a:t>方向像素点数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31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/>
                        <a:t>PC</a:t>
                      </a:r>
                      <a:r>
                        <a:rPr lang="zh-CN" altLang="en-US" sz="1600"/>
                        <a:t>语音播放驱动的状态，</a:t>
                      </a:r>
                      <a:r>
                        <a:rPr lang="en-US" altLang="zh-CN" sz="1600"/>
                        <a:t>2-</a:t>
                      </a:r>
                      <a:r>
                        <a:rPr lang="zh-CN" altLang="en-US" sz="1600"/>
                        <a:t>空闲 </a:t>
                      </a:r>
                      <a:r>
                        <a:rPr lang="en-US" altLang="zh-CN" sz="1600"/>
                        <a:t>1-</a:t>
                      </a:r>
                      <a:r>
                        <a:rPr lang="zh-CN" altLang="en-US" sz="1600"/>
                        <a:t>忙碌 </a:t>
                      </a:r>
                      <a:r>
                        <a:rPr lang="en-US" altLang="zh-CN" sz="1600"/>
                        <a:t>0-</a:t>
                      </a:r>
                      <a:r>
                        <a:rPr lang="zh-CN" altLang="en-US" sz="1600"/>
                        <a:t>初始态</a:t>
                      </a:r>
                      <a:endParaRPr lang="zh-CN" altLang="en-US" sz="16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</Words>
  <Application>WPS 演示</Application>
  <PresentationFormat>宽屏</PresentationFormat>
  <Paragraphs>148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微软雅黑 Light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setTimeBase和elapsed的动画说明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hing</dc:creator>
  <cp:lastModifiedBy>不再年轻</cp:lastModifiedBy>
  <cp:revision>130</cp:revision>
  <dcterms:created xsi:type="dcterms:W3CDTF">2017-08-03T09:01:00Z</dcterms:created>
  <dcterms:modified xsi:type="dcterms:W3CDTF">2018-08-25T01:44:55Z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2052-10.1.0.7023</vt:lpwstr>
  </property>
</Properties>
</file>