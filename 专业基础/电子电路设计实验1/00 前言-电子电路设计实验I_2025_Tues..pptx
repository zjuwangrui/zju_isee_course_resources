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361" r:id="rId2"/>
    <p:sldId id="344" r:id="rId3"/>
    <p:sldId id="343" r:id="rId4"/>
    <p:sldId id="345" r:id="rId5"/>
    <p:sldId id="767" r:id="rId6"/>
    <p:sldId id="769" r:id="rId7"/>
    <p:sldId id="716" r:id="rId8"/>
    <p:sldId id="366" r:id="rId9"/>
    <p:sldId id="715" r:id="rId10"/>
    <p:sldId id="717" r:id="rId11"/>
    <p:sldId id="722" r:id="rId12"/>
    <p:sldId id="772" r:id="rId13"/>
    <p:sldId id="721" r:id="rId14"/>
    <p:sldId id="770" r:id="rId15"/>
    <p:sldId id="372" r:id="rId16"/>
    <p:sldId id="365" r:id="rId17"/>
    <p:sldId id="346" r:id="rId18"/>
    <p:sldId id="364" r:id="rId19"/>
    <p:sldId id="377" r:id="rId20"/>
    <p:sldId id="374" r:id="rId21"/>
    <p:sldId id="347" r:id="rId22"/>
    <p:sldId id="376" r:id="rId23"/>
    <p:sldId id="780" r:id="rId24"/>
    <p:sldId id="774" r:id="rId25"/>
    <p:sldId id="773" r:id="rId26"/>
    <p:sldId id="379" r:id="rId27"/>
    <p:sldId id="775" r:id="rId28"/>
    <p:sldId id="778" r:id="rId29"/>
    <p:sldId id="776" r:id="rId30"/>
    <p:sldId id="777" r:id="rId31"/>
    <p:sldId id="779" r:id="rId32"/>
    <p:sldId id="781" r:id="rId3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19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8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pPr>
            <a:r>
              <a:rPr lang="zh-CN" altLang="en-US" sz="36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成绩组成</a:t>
            </a:r>
          </a:p>
        </c:rich>
      </c:tx>
      <c:layout>
        <c:manualLayout>
          <c:xMode val="edge"/>
          <c:yMode val="edge"/>
          <c:x val="0.37615698721091695"/>
          <c:y val="1.257185075314292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+mn-cs"/>
            </a:defRPr>
          </a:pPr>
          <a:endParaRPr lang="zh-CN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2.0666660916886987E-3"/>
          <c:y val="7.5669999545045505E-3"/>
          <c:w val="0.96562499999999996"/>
          <c:h val="0.81116315138021955"/>
        </c:manualLayout>
      </c:layout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总成绩</c:v>
                </c:pt>
              </c:strCache>
            </c:strRef>
          </c:tx>
          <c:dPt>
            <c:idx val="0"/>
            <c:bubble3D val="0"/>
            <c:explosion val="21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D282-44A7-A56B-482A40157D8B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D282-44A7-A56B-482A40157D8B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D282-44A7-A56B-482A40157D8B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D282-44A7-A56B-482A40157D8B}"/>
              </c:ext>
            </c:extLst>
          </c:dPt>
          <c:cat>
            <c:strRef>
              <c:f>Sheet1!$A$2:$A$5</c:f>
              <c:strCache>
                <c:ptCount val="4"/>
                <c:pt idx="0">
                  <c:v>实验报告60%</c:v>
                </c:pt>
                <c:pt idx="1">
                  <c:v>考试20%</c:v>
                </c:pt>
                <c:pt idx="2">
                  <c:v>预习10%</c:v>
                </c:pt>
                <c:pt idx="3">
                  <c:v>态度（签到、平时表现）10%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20</c:v>
                </c:pt>
                <c:pt idx="2">
                  <c:v>10</c:v>
                </c:pt>
                <c:pt idx="3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282-44A7-A56B-482A40157D8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5.9933316658972266E-2"/>
          <c:y val="0.70240460139925742"/>
          <c:w val="0.9374797706749195"/>
          <c:h val="0.2975953986007426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0" i="0" u="none" strike="noStrike" kern="1200" baseline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CDA3B1-6E09-45B9-B2EE-7EEF560A7407}" type="datetimeFigureOut">
              <a:rPr lang="zh-CN" altLang="en-US" smtClean="0"/>
              <a:t>2025/11/3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431A47-DA18-490A-95F3-14578546A2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0524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C11698-55ED-4AE0-B86C-48433676CA6B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39738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latin typeface="黑体" panose="02010609060101010101" pitchFamily="49" charset="-122"/>
                <a:ea typeface="黑体" panose="02010609060101010101" pitchFamily="49" charset="-122"/>
              </a:rPr>
              <a:t>验证</a:t>
            </a: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KCL,KVL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，叠加定理，</a:t>
            </a:r>
            <a:r>
              <a:rPr lang="zh-CN" altLang="en-US" sz="1200" u="sng" dirty="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戴维南定理和诺顿定理</a:t>
            </a:r>
            <a:r>
              <a:rPr lang="en-US" altLang="zh-CN" sz="1200" u="sng" dirty="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1200" u="sng" dirty="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二选一</a:t>
            </a:r>
            <a:r>
              <a:rPr lang="en-US" altLang="zh-CN" sz="1200" u="sng" dirty="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)【</a:t>
            </a:r>
            <a:r>
              <a:rPr lang="zh-CN" altLang="en-US" sz="1200" u="sng" dirty="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学习电源</a:t>
            </a:r>
            <a:r>
              <a:rPr lang="en-US" altLang="zh-CN" sz="1200" u="sng" dirty="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{</a:t>
            </a:r>
            <a:r>
              <a:rPr lang="zh-CN" altLang="en-US" sz="1200" u="sng" dirty="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直流稳压元、电流源</a:t>
            </a:r>
            <a:r>
              <a:rPr lang="en-US" altLang="zh-CN" sz="1200" u="sng" dirty="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}</a:t>
            </a:r>
            <a:r>
              <a:rPr lang="zh-CN" altLang="en-US" sz="1200" u="sng" dirty="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、万用表、示波器的使用，学会测量电压、电流、电阻基本电物理量</a:t>
            </a:r>
            <a:r>
              <a:rPr lang="en-US" altLang="zh-CN" sz="1200" u="sng" dirty="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】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latin typeface="黑体" panose="02010609060101010101" pitchFamily="49" charset="-122"/>
                <a:ea typeface="黑体" panose="02010609060101010101" pitchFamily="49" charset="-122"/>
              </a:rPr>
              <a:t>观察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一阶</a:t>
            </a: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RC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电路的瞬态响应过程，并</a:t>
            </a:r>
            <a:r>
              <a:rPr lang="zh-CN" altLang="en-US" sz="1200" b="1" dirty="0">
                <a:latin typeface="黑体" panose="02010609060101010101" pitchFamily="49" charset="-122"/>
                <a:ea typeface="黑体" panose="02010609060101010101" pitchFamily="49" charset="-122"/>
              </a:rPr>
              <a:t>测量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时间常数</a:t>
            </a:r>
            <a:r>
              <a:rPr lang="el-GR" altLang="zh-CN" sz="12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τ</a:t>
            </a:r>
            <a:endParaRPr lang="zh-CN" altLang="en-US" sz="1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电路仿真软件</a:t>
            </a: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PSpice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的使用练习（二极管</a:t>
            </a: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V-A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特性、</a:t>
            </a: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RC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低通滤波器的幅频特性、桥式整流电路、稳压二极管电路）</a:t>
            </a: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【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学会使用仿真软件进行电路仿真</a:t>
            </a: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】【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以上技能为实验</a:t>
            </a: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4-7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打基础</a:t>
            </a: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】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阻容耦合共射放大电路</a:t>
            </a:r>
            <a:r>
              <a:rPr lang="zh-CN" altLang="en-US" sz="1200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设计、仿真验证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zh-CN" altLang="en-US" sz="12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测试</a:t>
            </a:r>
            <a:endParaRPr lang="en-US" altLang="zh-CN" sz="1200" dirty="0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积分电路，迟滞比较器，三角波和方波发生电路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200" dirty="0">
              <a:solidFill>
                <a:schemeClr val="accent1">
                  <a:lumMod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498266-85B4-4A81-A915-049B6F9337F2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11524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今天回去就要去下载并安装</a:t>
            </a:r>
            <a:r>
              <a:rPr lang="en-US" altLang="zh-CN" dirty="0"/>
              <a:t>OrCAD</a:t>
            </a:r>
            <a:r>
              <a:rPr lang="zh-CN" altLang="en-US" dirty="0"/>
              <a:t>软件，分散时间下载，避免拥挤导致下载时间过长。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498266-85B4-4A81-A915-049B6F9337F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00588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50153-85E8-115A-7A44-0C128849B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1358181-6A8C-441B-A473-A6B8CDDFED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AA332B4-3DB3-18B6-EED3-D3BF1F62A2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养成良好的实验习惯和研究习惯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05A2104-6B68-0A94-5DA2-41DD0F34AB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498266-85B4-4A81-A915-049B6F9337F2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08563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0EF20-E4AD-284C-3FB1-847BF2F02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4A16457-D6CC-EFAF-29EA-CB8FBB59C7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4AD420C-9351-EAD2-010A-CE8DBFC14A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计算过程，步骤和数据记录表格，不要求写很多字，</a:t>
            </a:r>
            <a:endParaRPr lang="en-US" altLang="zh-CN" dirty="0"/>
          </a:p>
          <a:p>
            <a:r>
              <a:rPr lang="zh-CN" altLang="en-US" dirty="0"/>
              <a:t>看明白实验电路板，</a:t>
            </a:r>
            <a:r>
              <a:rPr lang="en-US" altLang="zh-CN" dirty="0"/>
              <a:t>PPT</a:t>
            </a:r>
            <a:r>
              <a:rPr lang="zh-CN" altLang="en-US" dirty="0"/>
              <a:t>上有照片，把电路原理图和电路板上的电路对照着看清楚。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9AE7FC3-1A52-9CF2-5266-7DF9618784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498266-85B4-4A81-A915-049B6F9337F2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80440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0E48A-DE4D-8696-D0C1-234E3E0E0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74B6CB3-9FCE-E826-E893-014B3C01F1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F0C577A-13F0-E1C4-D016-FA1AF6CC6D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计算过程，步骤和数据记录表格，不要求写很多字，</a:t>
            </a:r>
            <a:endParaRPr lang="en-US" altLang="zh-CN" dirty="0"/>
          </a:p>
          <a:p>
            <a:r>
              <a:rPr lang="zh-CN" altLang="en-US" dirty="0"/>
              <a:t>看明白实验电路板，</a:t>
            </a:r>
            <a:r>
              <a:rPr lang="en-US" altLang="zh-CN" dirty="0"/>
              <a:t>PPT</a:t>
            </a:r>
            <a:r>
              <a:rPr lang="zh-CN" altLang="en-US" dirty="0"/>
              <a:t>上有照片，把电路原理图和电路板上的电路对照着看清楚。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E1EC1A3-5FC7-07FF-EEBB-8E6D7C98DE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498266-85B4-4A81-A915-049B6F9337F2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83242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/>
              <a:t>预习（实验记录本，课前抽查）</a:t>
            </a:r>
            <a:endParaRPr lang="en-US" altLang="zh-CN" sz="1200" b="1" dirty="0">
              <a:uFill>
                <a:solidFill>
                  <a:srgbClr val="FF0000"/>
                </a:solidFill>
              </a:uFill>
            </a:endParaRPr>
          </a:p>
          <a:p>
            <a:endParaRPr lang="en-US" altLang="zh-CN" dirty="0"/>
          </a:p>
          <a:p>
            <a:r>
              <a:rPr lang="zh-CN" altLang="en-US" dirty="0"/>
              <a:t>实验报告</a:t>
            </a:r>
            <a:r>
              <a:rPr lang="en-US" altLang="zh-CN" sz="1200" b="1" dirty="0">
                <a:uFill>
                  <a:solidFill>
                    <a:srgbClr val="FF0000"/>
                  </a:solidFill>
                </a:uFill>
              </a:rPr>
              <a:t>(</a:t>
            </a:r>
            <a:r>
              <a:rPr lang="zh-CN" altLang="en-US" sz="1200" b="1" dirty="0">
                <a:solidFill>
                  <a:srgbClr val="FF0000"/>
                </a:solidFill>
              </a:rPr>
              <a:t>迟交；抄袭报告，</a:t>
            </a:r>
            <a:r>
              <a:rPr lang="en-US" altLang="zh-CN" sz="1200" b="1" dirty="0">
                <a:solidFill>
                  <a:srgbClr val="FF0000"/>
                </a:solidFill>
              </a:rPr>
              <a:t>2</a:t>
            </a:r>
            <a:r>
              <a:rPr lang="zh-CN" altLang="en-US" sz="1200" b="1" dirty="0">
                <a:solidFill>
                  <a:srgbClr val="FF0000"/>
                </a:solidFill>
              </a:rPr>
              <a:t>人分数</a:t>
            </a:r>
            <a:r>
              <a:rPr lang="en-US" altLang="zh-CN" sz="1200" b="1" dirty="0">
                <a:solidFill>
                  <a:srgbClr val="FF0000"/>
                </a:solidFill>
              </a:rPr>
              <a:t>·50%</a:t>
            </a:r>
            <a:r>
              <a:rPr lang="en-US" altLang="zh-CN" sz="1200" b="1" dirty="0">
                <a:uFill>
                  <a:solidFill>
                    <a:srgbClr val="FF0000"/>
                  </a:solidFill>
                </a:uFill>
              </a:rPr>
              <a:t>)</a:t>
            </a:r>
            <a:r>
              <a:rPr lang="zh-CN" altLang="en-US" dirty="0"/>
              <a:t>互相抄袭、抄袭旧报告。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498266-85B4-4A81-A915-049B6F9337F2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08181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498266-85B4-4A81-A915-049B6F9337F2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0748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FAD81-5BFA-AB41-CB4C-F91939BC7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4DB7764-8EBB-9037-FE71-1731E5B79E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3A945FB-E341-4801-8ADA-F9FFE3F37B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Latex</a:t>
            </a:r>
            <a:r>
              <a:rPr lang="zh-CN" altLang="en-US" dirty="0"/>
              <a:t>模版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32A57B-42EF-ABBD-E23F-2BA8DD4E7F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498266-85B4-4A81-A915-049B6F9337F2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87280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46179-D04C-CF25-7BFE-9440E7482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832D1AD-C463-E8D5-5424-65D7730D72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B54A42D-DF3C-34D0-C2C5-31D47C2DCC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Latex</a:t>
            </a:r>
            <a:r>
              <a:rPr lang="zh-CN" altLang="en-US" dirty="0"/>
              <a:t>模版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CC7AAF2-BDA3-1EAA-532A-3FC30BC42D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498266-85B4-4A81-A915-049B6F9337F2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34422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Latex</a:t>
            </a:r>
            <a:r>
              <a:rPr lang="zh-CN" altLang="en-US" dirty="0"/>
              <a:t>模版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498266-85B4-4A81-A915-049B6F9337F2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62931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E4481-427D-701A-C050-7537455D9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11346D3-19CE-772E-95BE-AECF86F637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8CA4798-1F0A-BE2C-EA8E-2F08C67DE5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Latex</a:t>
            </a:r>
            <a:r>
              <a:rPr lang="zh-CN" altLang="en-US" dirty="0"/>
              <a:t>模版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3247D11-2631-881F-F614-8B19FDBE61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498266-85B4-4A81-A915-049B6F9337F2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78962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484A7-1561-EA1A-2FDE-8FD940378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42001F0-26EE-D8BF-4985-06DC10FFA9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3C0DB28-911D-487C-401D-2C25D618E7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Latex</a:t>
            </a:r>
            <a:r>
              <a:rPr lang="zh-CN" altLang="en-US" dirty="0"/>
              <a:t>模版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FDAFA3B-5306-EAEE-D2F6-AB15F96FBD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498266-85B4-4A81-A915-049B6F9337F2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93620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0CA9D-F4B6-9A09-23A9-B0F6CBB02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D7A1BA3-9E3D-2F05-E1B6-5151014B1E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0FBCF10-AED3-A62C-5948-F1632D34EF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Latex</a:t>
            </a:r>
            <a:r>
              <a:rPr lang="zh-CN" altLang="en-US" dirty="0"/>
              <a:t>模版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7BC6375-294D-51A2-7B9E-B95D0A84F3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498266-85B4-4A81-A915-049B6F9337F2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63544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F1F9C-834B-F714-9BF8-BC22035FF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37221EA-DB52-7A8B-0D08-F54F02B596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8CCDD5A-0805-1A44-9C2D-A5134C7AF3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Latex</a:t>
            </a:r>
            <a:r>
              <a:rPr lang="zh-CN" altLang="en-US" dirty="0"/>
              <a:t>模版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D71C44C-3DA9-7346-A6DB-DAC5FBA346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498266-85B4-4A81-A915-049B6F9337F2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9490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A939A-11DB-FEB9-334E-EDB00D976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40D66C8-E0E6-5863-BA90-4FF540376C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4EFDBD9-0BEE-2687-CEAE-6FBF9EA3ED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Latex</a:t>
            </a:r>
            <a:r>
              <a:rPr lang="zh-CN" altLang="en-US" dirty="0"/>
              <a:t>模版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8B68CD7-D482-488E-5A68-0416F5B6C5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498266-85B4-4A81-A915-049B6F9337F2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85135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A2A27-3009-5FCC-2F53-51538C57D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17B9AAC-0513-3AA5-0762-EBEBDD22DD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B595B81-80EF-764F-1278-E4F3B0506C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Latex</a:t>
            </a:r>
            <a:r>
              <a:rPr lang="zh-CN" altLang="en-US" dirty="0"/>
              <a:t>模版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6EAB187-A8EB-CD78-9562-621EE59B56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498266-85B4-4A81-A915-049B6F9337F2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99969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533A73-AB9C-28B0-1F69-BE2FCAA370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5849D2C-2DF1-738A-F5B2-E6E67B59F1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71B1F3-1800-443A-0185-4E408D830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C8EFC-4975-478F-9CF5-88340B96FD11}" type="datetimeFigureOut">
              <a:rPr lang="zh-CN" altLang="en-US" smtClean="0"/>
              <a:t>2025/11/3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A0CF89-2E76-7138-7D16-CEAF7C605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EAA9A57-D3F2-612B-1F6A-13FF2AFD7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E76C0-D956-4B81-BAB1-4235B4F08D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79652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0185C1-88B9-F57E-5888-5F112A93F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22AE5B-0F37-A1AF-C2CC-0564AA88F1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2F5D8E3-1C6D-3B70-62BE-69D36606D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C8EFC-4975-478F-9CF5-88340B96FD11}" type="datetimeFigureOut">
              <a:rPr lang="zh-CN" altLang="en-US" smtClean="0"/>
              <a:t>2025/11/3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9E4762-5EA4-9C7E-0805-EF6A05CFF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5BE4E31-AC8E-8D3F-8CFB-C78221DDA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E76C0-D956-4B81-BAB1-4235B4F08D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2114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056FA7-0289-537E-2461-50D5CD833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0B016E1-BC6A-DD16-043E-13AF6B62DE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3F44CA-4EA4-8E1D-2D3B-ACF0ECE77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C8EFC-4975-478F-9CF5-88340B96FD11}" type="datetimeFigureOut">
              <a:rPr lang="zh-CN" altLang="en-US" smtClean="0"/>
              <a:t>2025/11/3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7D461D-C588-9691-1444-3F808ED7A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3C4469D-616B-AD7A-F3F4-16966202E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E76C0-D956-4B81-BAB1-4235B4F08D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1093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A506A7-D24D-87A2-D927-8921FDBCF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D3AA468-B776-C5D4-2BD2-C45A0692AD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B9E15BB-B918-24DC-C45B-BAEF2EB2AF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80ADF65-4D32-1BF0-0F49-FCA86DFAB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C8EFC-4975-478F-9CF5-88340B96FD11}" type="datetimeFigureOut">
              <a:rPr lang="zh-CN" altLang="en-US" smtClean="0"/>
              <a:t>2025/11/3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50AF4CA-2188-062D-F96A-F674AD5A0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2DE9061-5676-B367-5D2B-0BDD9C8DE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E76C0-D956-4B81-BAB1-4235B4F08D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02961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2E2B7A-F981-4AF8-2F00-2F71F05F6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C22FA3C-E46C-CD62-8439-68B19386A5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C765A20-3679-4389-99F2-1226D75A6F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763C40D-B838-F121-8885-96378268F7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675284F-4BE0-FBA2-87FC-58A6CE2489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B4778B4-3F8C-2B08-207A-35BC1D7C7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C8EFC-4975-478F-9CF5-88340B96FD11}" type="datetimeFigureOut">
              <a:rPr lang="zh-CN" altLang="en-US" smtClean="0"/>
              <a:t>2025/11/3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D04347C-4FAE-DA8A-ACF5-2D7E55190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740227F-8A61-9579-6632-072D45422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E76C0-D956-4B81-BAB1-4235B4F08D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4081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79F2E3-093B-12C6-F31E-9E48458D0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5A3CC36-C28C-9C8B-F1C6-ACA2AD206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C8EFC-4975-478F-9CF5-88340B96FD11}" type="datetimeFigureOut">
              <a:rPr lang="zh-CN" altLang="en-US" smtClean="0"/>
              <a:t>2025/11/3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7404DE8-9AE5-AF6A-D986-DE165C835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3573D39-895F-B341-B6FA-8FCCFAC89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E76C0-D956-4B81-BAB1-4235B4F08D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75975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327588E-5DDF-C9CA-D755-84EC19F16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C8EFC-4975-478F-9CF5-88340B96FD11}" type="datetimeFigureOut">
              <a:rPr lang="zh-CN" altLang="en-US" smtClean="0"/>
              <a:t>2025/11/3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B0A0C66-9AEF-F4B4-1ED1-92E56B4FC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8E63AE6-A517-61B8-C80D-4FFF45DCC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E76C0-D956-4B81-BAB1-4235B4F08D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2015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CEAE83-E244-0E31-8450-4A6CDD1C3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56AF6E-EA83-F734-C2FB-34CA9B801D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D358736-5644-1458-F5E6-663A65C2AF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811B360-28B6-CD12-00D4-A3FB96D01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C8EFC-4975-478F-9CF5-88340B96FD11}" type="datetimeFigureOut">
              <a:rPr lang="zh-CN" altLang="en-US" smtClean="0"/>
              <a:t>2025/11/3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9ACD79C-DEAF-009E-35B4-2F128DCD8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2020629-C5BA-3EB8-DCDB-EDC96A524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E76C0-D956-4B81-BAB1-4235B4F08D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8105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3C2A18-3979-73E7-99A5-297E5ABEA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D78B2AF-B3CC-765A-EC9A-C8F8C2A3E7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1F6D5EE-EBD7-8076-C02B-DFF500D51D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BF7BCA8-B9F7-8609-EDD2-2B3552918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C8EFC-4975-478F-9CF5-88340B96FD11}" type="datetimeFigureOut">
              <a:rPr lang="zh-CN" altLang="en-US" smtClean="0"/>
              <a:t>2025/11/3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55313EF-AC04-75EF-0185-D7AB491EB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EB388BA-3C64-31BB-6DC3-6C62BB072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E76C0-D956-4B81-BAB1-4235B4F08D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9580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90A41F-18D9-D8D3-ACB4-8E769236D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C740560-1EC7-F5F0-2AF2-932B61D50E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21D2A45-A0A4-B443-55BA-DC1CAD912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C8EFC-4975-478F-9CF5-88340B96FD11}" type="datetimeFigureOut">
              <a:rPr lang="zh-CN" altLang="en-US" smtClean="0"/>
              <a:t>2025/11/3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EB192D-6C8E-D33D-F415-324BA0C4B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88A91D-CF69-0E23-3089-AA07D9913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E76C0-D956-4B81-BAB1-4235B4F08D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830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A20DCC5-39DB-C9D1-79D0-49A83A9AA9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587DCA4-10EA-3500-2CA3-7799FB61BC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DF710E-A3CE-8BEE-26D3-5D9F26142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C8EFC-4975-478F-9CF5-88340B96FD11}" type="datetimeFigureOut">
              <a:rPr lang="zh-CN" altLang="en-US" smtClean="0"/>
              <a:t>2025/11/3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C3208D3-6A9B-10E1-CE91-C46D074EB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AF9A1E5-F499-6CDC-5ED1-6AAC9EB2E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E76C0-D956-4B81-BAB1-4235B4F08D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96884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781F300-418B-50BE-F817-47EB40ADD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5A05427-3042-D04E-DD83-9D1490EE6D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81B391D-8AD5-CCA1-9573-8581E94E2D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3C8EFC-4975-478F-9CF5-88340B96FD11}" type="datetimeFigureOut">
              <a:rPr lang="zh-CN" altLang="en-US" smtClean="0"/>
              <a:t>2025/11/3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B8FC4C-0882-521D-0CEB-EAD42B3C4B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43B0D7-1FAA-DD05-F0DD-49F3AAA05C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0E76C0-D956-4B81-BAB1-4235B4F08D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2719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hyperlink" Target="mailto:jingjing.deng@zju.edu.cn" TargetMode="Externa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yexianfeng@zju.edu.cn" TargetMode="External"/><Relationship Id="rId5" Type="http://schemas.openxmlformats.org/officeDocument/2006/relationships/hyperlink" Target="mailto:shihj@zju.edu.cn" TargetMode="External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course163.org/" TargetMode="External"/><Relationship Id="rId7" Type="http://schemas.openxmlformats.org/officeDocument/2006/relationships/image" Target="../media/image13.png"/><Relationship Id="rId2" Type="http://schemas.openxmlformats.org/officeDocument/2006/relationships/hyperlink" Target="ftp://10.71.72.109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hyperlink" Target="https://www.zhihuishu.com/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ftp://10.71.72.109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www.zhihuishu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jpeg"/><Relationship Id="rId4" Type="http://schemas.openxmlformats.org/officeDocument/2006/relationships/image" Target="../media/image3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verleaf.com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57675CD8-99B4-297B-D0B2-683879EC348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82" t="14195" r="22187" b="9968"/>
          <a:stretch/>
        </p:blipFill>
        <p:spPr bwMode="auto">
          <a:xfrm>
            <a:off x="285291" y="14630"/>
            <a:ext cx="775052" cy="801697"/>
          </a:xfrm>
          <a:prstGeom prst="parallelogram">
            <a:avLst>
              <a:gd name="adj" fmla="val 0"/>
            </a:avLst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DDDB4B62-318D-843B-DAF0-3D47F5ABBEFB}"/>
              </a:ext>
            </a:extLst>
          </p:cNvPr>
          <p:cNvSpPr/>
          <p:nvPr/>
        </p:nvSpPr>
        <p:spPr>
          <a:xfrm>
            <a:off x="-7319" y="2054213"/>
            <a:ext cx="12199315" cy="2526308"/>
          </a:xfrm>
          <a:prstGeom prst="rect">
            <a:avLst/>
          </a:prstGeom>
          <a:solidFill>
            <a:srgbClr val="003F88"/>
          </a:solidFill>
          <a:ln>
            <a:solidFill>
              <a:srgbClr val="003F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1CB9553-3F69-85FA-5128-CF5D3D2043C8}"/>
              </a:ext>
            </a:extLst>
          </p:cNvPr>
          <p:cNvSpPr txBox="1"/>
          <p:nvPr/>
        </p:nvSpPr>
        <p:spPr>
          <a:xfrm>
            <a:off x="2773068" y="2855702"/>
            <a:ext cx="66385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>
                <a:solidFill>
                  <a:schemeClr val="bg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电子电路设计实验</a:t>
            </a:r>
            <a:r>
              <a:rPr lang="en-US" altLang="zh-CN" sz="5400" b="1" dirty="0">
                <a:solidFill>
                  <a:schemeClr val="bg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</a:t>
            </a:r>
            <a:endParaRPr lang="zh-CN" altLang="en-US" sz="5400" b="1" dirty="0">
              <a:solidFill>
                <a:schemeClr val="bg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CB5BCA8-8BBC-B331-6BC5-CEA8736FEFD0}"/>
              </a:ext>
            </a:extLst>
          </p:cNvPr>
          <p:cNvSpPr txBox="1"/>
          <p:nvPr/>
        </p:nvSpPr>
        <p:spPr>
          <a:xfrm>
            <a:off x="2786962" y="4939357"/>
            <a:ext cx="66385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主讲人：施红军，叶险峰，邓靖靖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D94AE4A-F3F5-23E5-B7DC-D80B71BB772B}"/>
              </a:ext>
            </a:extLst>
          </p:cNvPr>
          <p:cNvSpPr txBox="1"/>
          <p:nvPr/>
        </p:nvSpPr>
        <p:spPr>
          <a:xfrm>
            <a:off x="2786962" y="6358844"/>
            <a:ext cx="66385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2025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年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11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月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11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日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6473FA3F-5470-1DB9-B911-CE47293A6DF4}"/>
              </a:ext>
            </a:extLst>
          </p:cNvPr>
          <p:cNvGrpSpPr/>
          <p:nvPr/>
        </p:nvGrpSpPr>
        <p:grpSpPr>
          <a:xfrm>
            <a:off x="358239" y="57977"/>
            <a:ext cx="5747995" cy="701611"/>
            <a:chOff x="762532" y="218907"/>
            <a:chExt cx="5747995" cy="701611"/>
          </a:xfrm>
        </p:grpSpPr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86DDB960-59CA-9944-7A3B-24FA51153A20}"/>
                </a:ext>
              </a:extLst>
            </p:cNvPr>
            <p:cNvSpPr txBox="1"/>
            <p:nvPr/>
          </p:nvSpPr>
          <p:spPr>
            <a:xfrm>
              <a:off x="762532" y="218907"/>
              <a:ext cx="567979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b="1" dirty="0">
                  <a:solidFill>
                    <a:srgbClr val="003F88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浙江大学信息与电子工程学院</a:t>
              </a: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FC20DF8F-B8F4-B417-A50F-A5D87143E176}"/>
                </a:ext>
              </a:extLst>
            </p:cNvPr>
            <p:cNvSpPr txBox="1"/>
            <p:nvPr/>
          </p:nvSpPr>
          <p:spPr>
            <a:xfrm>
              <a:off x="1474316" y="612741"/>
              <a:ext cx="503621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dirty="0">
                  <a:solidFill>
                    <a:srgbClr val="003F88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College of Information Science &amp; Electronic Engineering</a:t>
              </a:r>
              <a:endParaRPr lang="zh-CN" altLang="en-US" sz="1400" b="1" dirty="0">
                <a:solidFill>
                  <a:srgbClr val="003F88"/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</p:grpSp>
      <p:sp>
        <p:nvSpPr>
          <p:cNvPr id="4" name="矩形 3">
            <a:extLst>
              <a:ext uri="{FF2B5EF4-FFF2-40B4-BE49-F238E27FC236}">
                <a16:creationId xmlns:a16="http://schemas.microsoft.com/office/drawing/2014/main" id="{405832C4-EDFC-5FD0-F373-DDA50A3EBCDB}"/>
              </a:ext>
            </a:extLst>
          </p:cNvPr>
          <p:cNvSpPr/>
          <p:nvPr/>
        </p:nvSpPr>
        <p:spPr>
          <a:xfrm flipV="1">
            <a:off x="-1" y="801697"/>
            <a:ext cx="6106235" cy="46589"/>
          </a:xfrm>
          <a:prstGeom prst="rect">
            <a:avLst/>
          </a:prstGeom>
          <a:solidFill>
            <a:srgbClr val="003F88"/>
          </a:solidFill>
          <a:ln>
            <a:solidFill>
              <a:srgbClr val="003F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形 4">
            <a:extLst>
              <a:ext uri="{FF2B5EF4-FFF2-40B4-BE49-F238E27FC236}">
                <a16:creationId xmlns:a16="http://schemas.microsoft.com/office/drawing/2014/main" id="{8C6D0F9E-C365-A319-C2E3-6A13E9DFC4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80338" y="5875146"/>
            <a:ext cx="623999" cy="518142"/>
          </a:xfrm>
          <a:prstGeom prst="rect">
            <a:avLst/>
          </a:prstGeom>
          <a:effectLst>
            <a:glow rad="12700">
              <a:schemeClr val="bg1">
                <a:alpha val="41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1564436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19BE24CD-5033-C5AD-61CF-40A3675D43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979" y="563590"/>
            <a:ext cx="2998134" cy="5436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75499608-8549-486A-7CAD-F2F09855E6B6}"/>
              </a:ext>
            </a:extLst>
          </p:cNvPr>
          <p:cNvGrpSpPr/>
          <p:nvPr/>
        </p:nvGrpSpPr>
        <p:grpSpPr>
          <a:xfrm>
            <a:off x="0" y="1289410"/>
            <a:ext cx="4614333" cy="757589"/>
            <a:chOff x="-8313" y="1494236"/>
            <a:chExt cx="4319047" cy="757589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6218E73E-643F-A957-F60A-AF6FB16B46FB}"/>
                </a:ext>
              </a:extLst>
            </p:cNvPr>
            <p:cNvSpPr/>
            <p:nvPr/>
          </p:nvSpPr>
          <p:spPr>
            <a:xfrm>
              <a:off x="-8313" y="1540255"/>
              <a:ext cx="4160031" cy="711570"/>
            </a:xfrm>
            <a:prstGeom prst="rect">
              <a:avLst/>
            </a:prstGeom>
            <a:gradFill flip="none" rotWithShape="1">
              <a:gsLst>
                <a:gs pos="22000">
                  <a:srgbClr val="165195"/>
                </a:gs>
                <a:gs pos="0">
                  <a:srgbClr val="003F88"/>
                </a:gs>
                <a:gs pos="100000">
                  <a:srgbClr val="BFDEF5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B04CA291-BE8A-2FA0-EF00-DD6ADD5E1BDA}"/>
                </a:ext>
              </a:extLst>
            </p:cNvPr>
            <p:cNvSpPr txBox="1"/>
            <p:nvPr/>
          </p:nvSpPr>
          <p:spPr>
            <a:xfrm>
              <a:off x="2798804" y="1494236"/>
              <a:ext cx="151193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4000" b="1" dirty="0">
                  <a:ln w="10160">
                    <a:solidFill>
                      <a:schemeClr val="accent5"/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目录</a:t>
              </a:r>
              <a:endParaRPr lang="zh-CN" altLang="en-US" sz="2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0697A2EF-4D6B-6368-F208-856A0C25DFB3}"/>
              </a:ext>
            </a:extLst>
          </p:cNvPr>
          <p:cNvGrpSpPr/>
          <p:nvPr/>
        </p:nvGrpSpPr>
        <p:grpSpPr>
          <a:xfrm>
            <a:off x="4040183" y="2208705"/>
            <a:ext cx="6418522" cy="1744266"/>
            <a:chOff x="4393412" y="2240607"/>
            <a:chExt cx="6418522" cy="1744266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D03B8042-0F6F-B65E-D7F1-F33567A7D7D4}"/>
                </a:ext>
              </a:extLst>
            </p:cNvPr>
            <p:cNvSpPr txBox="1"/>
            <p:nvPr/>
          </p:nvSpPr>
          <p:spPr>
            <a:xfrm>
              <a:off x="4393412" y="2240607"/>
              <a:ext cx="340517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600" dirty="0">
                  <a:solidFill>
                    <a:schemeClr val="accent1">
                      <a:lumMod val="7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一、课程介绍</a:t>
              </a: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BEBC9277-BD14-D509-9D3A-C136D7084E53}"/>
                </a:ext>
              </a:extLst>
            </p:cNvPr>
            <p:cNvSpPr txBox="1"/>
            <p:nvPr/>
          </p:nvSpPr>
          <p:spPr>
            <a:xfrm>
              <a:off x="4401879" y="3155072"/>
              <a:ext cx="340517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600" dirty="0">
                  <a:solidFill>
                    <a:schemeClr val="accent5">
                      <a:lumMod val="20000"/>
                      <a:lumOff val="80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二、注意事项</a:t>
              </a:r>
            </a:p>
          </p:txBody>
        </p: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0461A4B4-03A7-D4D5-58D7-CC8D5CB7D725}"/>
                </a:ext>
              </a:extLst>
            </p:cNvPr>
            <p:cNvCxnSpPr>
              <a:cxnSpLocks/>
            </p:cNvCxnSpPr>
            <p:nvPr/>
          </p:nvCxnSpPr>
          <p:spPr>
            <a:xfrm>
              <a:off x="4495801" y="3048003"/>
              <a:ext cx="6316133" cy="0"/>
            </a:xfrm>
            <a:prstGeom prst="line">
              <a:avLst/>
            </a:prstGeom>
            <a:ln w="28575">
              <a:solidFill>
                <a:schemeClr val="accent1">
                  <a:lumMod val="60000"/>
                  <a:lumOff val="4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4B754A98-031E-ED9F-7B63-3A811E7B3A4C}"/>
                </a:ext>
              </a:extLst>
            </p:cNvPr>
            <p:cNvCxnSpPr>
              <a:cxnSpLocks/>
            </p:cNvCxnSpPr>
            <p:nvPr/>
          </p:nvCxnSpPr>
          <p:spPr>
            <a:xfrm>
              <a:off x="4495801" y="3984873"/>
              <a:ext cx="6316133" cy="0"/>
            </a:xfrm>
            <a:prstGeom prst="line">
              <a:avLst/>
            </a:prstGeom>
            <a:ln w="28575">
              <a:solidFill>
                <a:schemeClr val="accent1">
                  <a:lumMod val="60000"/>
                  <a:lumOff val="4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ED35FE95-6661-E1BE-2C85-7D5BBC539B78}"/>
              </a:ext>
            </a:extLst>
          </p:cNvPr>
          <p:cNvSpPr txBox="1"/>
          <p:nvPr/>
        </p:nvSpPr>
        <p:spPr>
          <a:xfrm>
            <a:off x="4040183" y="4037635"/>
            <a:ext cx="65886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accent5">
                    <a:lumMod val="20000"/>
                    <a:lumOff val="8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三、实验报告格式要求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809E3781-0BD4-FCA4-7323-4A155A037AA5}"/>
              </a:ext>
            </a:extLst>
          </p:cNvPr>
          <p:cNvCxnSpPr>
            <a:cxnSpLocks/>
          </p:cNvCxnSpPr>
          <p:nvPr/>
        </p:nvCxnSpPr>
        <p:spPr>
          <a:xfrm>
            <a:off x="4142572" y="4850438"/>
            <a:ext cx="6316133" cy="0"/>
          </a:xfrm>
          <a:prstGeom prst="line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4675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6218E73E-643F-A957-F60A-AF6FB16B46FB}"/>
              </a:ext>
            </a:extLst>
          </p:cNvPr>
          <p:cNvSpPr/>
          <p:nvPr/>
        </p:nvSpPr>
        <p:spPr>
          <a:xfrm>
            <a:off x="1" y="561912"/>
            <a:ext cx="416966" cy="740193"/>
          </a:xfrm>
          <a:prstGeom prst="rect">
            <a:avLst/>
          </a:prstGeom>
          <a:solidFill>
            <a:srgbClr val="003F88"/>
          </a:solidFill>
          <a:ln>
            <a:solidFill>
              <a:srgbClr val="003F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347718B-9E21-D081-172E-2851BAF23170}"/>
              </a:ext>
            </a:extLst>
          </p:cNvPr>
          <p:cNvSpPr txBox="1"/>
          <p:nvPr/>
        </p:nvSpPr>
        <p:spPr>
          <a:xfrm>
            <a:off x="541079" y="608842"/>
            <a:ext cx="68672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课程介绍</a:t>
            </a:r>
            <a:r>
              <a:rPr lang="en-US" altLang="zh-CN" sz="4000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4000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授课团队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963BF5EE-ADC8-0645-C519-A734A758625B}"/>
              </a:ext>
            </a:extLst>
          </p:cNvPr>
          <p:cNvGrpSpPr/>
          <p:nvPr/>
        </p:nvGrpSpPr>
        <p:grpSpPr>
          <a:xfrm>
            <a:off x="1143320" y="2016581"/>
            <a:ext cx="2238957" cy="2904409"/>
            <a:chOff x="3500423" y="1680645"/>
            <a:chExt cx="1818428" cy="2532385"/>
          </a:xfrm>
        </p:grpSpPr>
        <p:pic>
          <p:nvPicPr>
            <p:cNvPr id="7" name="Picture 6" descr="用户头像">
              <a:extLst>
                <a:ext uri="{FF2B5EF4-FFF2-40B4-BE49-F238E27FC236}">
                  <a16:creationId xmlns:a16="http://schemas.microsoft.com/office/drawing/2014/main" id="{5A41886B-44F8-818D-6A29-12CE5ABC707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00423" y="1680645"/>
              <a:ext cx="1818428" cy="1818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F7CAF717-62B9-7460-CFBC-EFECF06E27C8}"/>
                </a:ext>
              </a:extLst>
            </p:cNvPr>
            <p:cNvSpPr txBox="1"/>
            <p:nvPr/>
          </p:nvSpPr>
          <p:spPr>
            <a:xfrm>
              <a:off x="3531303" y="3703159"/>
              <a:ext cx="1714501" cy="50987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32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rPr>
                <a:t>施红军</a:t>
              </a:r>
              <a:endParaRPr lang="en-US" altLang="zh-CN" sz="3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D4162330-C5AB-13BF-AC8E-0473CF76B0F5}"/>
              </a:ext>
            </a:extLst>
          </p:cNvPr>
          <p:cNvGrpSpPr/>
          <p:nvPr/>
        </p:nvGrpSpPr>
        <p:grpSpPr>
          <a:xfrm>
            <a:off x="4671613" y="2009506"/>
            <a:ext cx="2497311" cy="2925345"/>
            <a:chOff x="6167767" y="1690711"/>
            <a:chExt cx="1804581" cy="2396732"/>
          </a:xfrm>
        </p:grpSpPr>
        <p:pic>
          <p:nvPicPr>
            <p:cNvPr id="10" name="Picture 4" descr="用户头像">
              <a:extLst>
                <a:ext uri="{FF2B5EF4-FFF2-40B4-BE49-F238E27FC236}">
                  <a16:creationId xmlns:a16="http://schemas.microsoft.com/office/drawing/2014/main" id="{E6FA3F67-A841-910A-45DD-9E2A87DB8F8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67767" y="1690711"/>
              <a:ext cx="1714500" cy="17145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E6DA1587-7FA0-B577-EA27-31DC8D58FD82}"/>
                </a:ext>
              </a:extLst>
            </p:cNvPr>
            <p:cNvSpPr txBox="1"/>
            <p:nvPr/>
          </p:nvSpPr>
          <p:spPr>
            <a:xfrm>
              <a:off x="6257849" y="3608337"/>
              <a:ext cx="1714499" cy="4791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ctr">
                <a:defRPr/>
              </a:lvl1pPr>
            </a:lstStyle>
            <a:p>
              <a:r>
                <a:rPr lang="zh-CN" altLang="en-US" sz="32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rPr>
                <a:t>叶险峰</a:t>
              </a:r>
              <a:endParaRPr lang="en-US" altLang="zh-CN" sz="3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E9ACD64-14D6-FDB4-7927-56936A7BD477}"/>
              </a:ext>
            </a:extLst>
          </p:cNvPr>
          <p:cNvGrpSpPr/>
          <p:nvPr/>
        </p:nvGrpSpPr>
        <p:grpSpPr>
          <a:xfrm>
            <a:off x="8263712" y="2009506"/>
            <a:ext cx="2238957" cy="2911486"/>
            <a:chOff x="8525515" y="1673383"/>
            <a:chExt cx="1714500" cy="2403406"/>
          </a:xfrm>
        </p:grpSpPr>
        <p:pic>
          <p:nvPicPr>
            <p:cNvPr id="13" name="Picture 8" descr="用户头像">
              <a:extLst>
                <a:ext uri="{FF2B5EF4-FFF2-40B4-BE49-F238E27FC236}">
                  <a16:creationId xmlns:a16="http://schemas.microsoft.com/office/drawing/2014/main" id="{C9F946A0-2EE0-0805-B9CA-4F3016C3F8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25515" y="1673383"/>
              <a:ext cx="1714500" cy="17145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8ED66698-03AD-A3C8-1047-F0C5BD719D9A}"/>
                </a:ext>
              </a:extLst>
            </p:cNvPr>
            <p:cNvSpPr txBox="1"/>
            <p:nvPr/>
          </p:nvSpPr>
          <p:spPr>
            <a:xfrm>
              <a:off x="8525516" y="3594062"/>
              <a:ext cx="1714499" cy="48272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ctr">
                <a:defRPr/>
              </a:lvl1pPr>
            </a:lstStyle>
            <a:p>
              <a:r>
                <a:rPr lang="zh-CN" altLang="en-US" sz="32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rPr>
                <a:t>邓靖靖</a:t>
              </a:r>
              <a:endParaRPr lang="en-US" altLang="zh-CN" sz="3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EE150E96-9494-480C-40F0-8A89C9A55FA3}"/>
              </a:ext>
            </a:extLst>
          </p:cNvPr>
          <p:cNvSpPr txBox="1"/>
          <p:nvPr/>
        </p:nvSpPr>
        <p:spPr>
          <a:xfrm>
            <a:off x="1018658" y="4990320"/>
            <a:ext cx="3499334" cy="1208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00"/>
              </a:lnSpc>
              <a:spcBef>
                <a:spcPts val="600"/>
              </a:spcBef>
            </a:pPr>
            <a:r>
              <a:rPr lang="en-US" altLang="zh-CN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Gadugi" panose="020B0502040204020203" pitchFamily="34" charset="0"/>
                <a:cs typeface="Arial" panose="020B0604020202020204" pitchFamily="34" charset="0"/>
              </a:rPr>
              <a:t>► 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Gadugi" panose="020B0502040204020203" pitchFamily="34" charset="0"/>
                <a:cs typeface="Arial" panose="020B0604020202020204" pitchFamily="34" charset="0"/>
              </a:rPr>
              <a:t>办公电话：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  <a:cs typeface="Times New Roman" panose="02020603050405020304" pitchFamily="18" charset="0"/>
              </a:rPr>
              <a:t>88206223</a:t>
            </a:r>
            <a:endParaRPr lang="en-US" altLang="zh-CN" sz="2400" dirty="0">
              <a:latin typeface="Gadugi" panose="020B0502040204020203" pitchFamily="34" charset="0"/>
              <a:ea typeface="Gadugi" panose="020B0502040204020203" pitchFamily="34" charset="0"/>
              <a:cs typeface="Times New Roman" panose="02020603050405020304" pitchFamily="18" charset="0"/>
            </a:endParaRPr>
          </a:p>
          <a:p>
            <a:pPr>
              <a:lnSpc>
                <a:spcPts val="2500"/>
              </a:lnSpc>
              <a:spcBef>
                <a:spcPts val="600"/>
              </a:spcBef>
            </a:pPr>
            <a:r>
              <a:rPr lang="en-US" altLang="zh-CN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Gadugi" panose="020B0502040204020203" pitchFamily="34" charset="0"/>
                <a:cs typeface="Arial" panose="020B0604020202020204" pitchFamily="34" charset="0"/>
              </a:rPr>
              <a:t>►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Gadugi" panose="020B0502040204020203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紫金港校区东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  <a:cs typeface="Times New Roman" panose="02020603050405020304" pitchFamily="18" charset="0"/>
              </a:rPr>
              <a:t>4-422</a:t>
            </a:r>
          </a:p>
          <a:p>
            <a:pPr>
              <a:lnSpc>
                <a:spcPts val="2500"/>
              </a:lnSpc>
              <a:spcBef>
                <a:spcPts val="600"/>
              </a:spcBef>
            </a:pPr>
            <a:r>
              <a:rPr lang="en-US" altLang="zh-CN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Gadugi" panose="020B0502040204020203" pitchFamily="34" charset="0"/>
                <a:cs typeface="Arial" panose="020B0604020202020204" pitchFamily="34" charset="0"/>
              </a:rPr>
              <a:t>► </a:t>
            </a:r>
            <a:r>
              <a:rPr lang="en-US" altLang="zh-CN" sz="2400" dirty="0">
                <a:latin typeface="Gadugi" panose="020B0502040204020203" pitchFamily="34" charset="0"/>
                <a:ea typeface="Gadugi" panose="020B0502040204020203" pitchFamily="34" charset="0"/>
                <a:cs typeface="Times New Roman" panose="02020603050405020304" pitchFamily="18" charset="0"/>
                <a:hlinkClick r:id="rId5"/>
              </a:rPr>
              <a:t>shihj@zju.edu.cn</a:t>
            </a:r>
            <a:endParaRPr lang="en-US" altLang="zh-CN" sz="2400" dirty="0">
              <a:latin typeface="Gadugi" panose="020B0502040204020203" pitchFamily="34" charset="0"/>
              <a:ea typeface="Gadugi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23DBE02-3F10-424F-588B-325B4D1A8390}"/>
              </a:ext>
            </a:extLst>
          </p:cNvPr>
          <p:cNvSpPr txBox="1"/>
          <p:nvPr/>
        </p:nvSpPr>
        <p:spPr>
          <a:xfrm>
            <a:off x="4517992" y="4990319"/>
            <a:ext cx="3835966" cy="1208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00"/>
              </a:lnSpc>
              <a:spcBef>
                <a:spcPts val="600"/>
              </a:spcBef>
            </a:pPr>
            <a:r>
              <a:rPr lang="en-US" altLang="zh-CN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Gadugi" panose="020B0502040204020203" pitchFamily="34" charset="0"/>
                <a:cs typeface="Arial" panose="020B0604020202020204" pitchFamily="34" charset="0"/>
              </a:rPr>
              <a:t>► 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Gadugi" panose="020B0502040204020203" pitchFamily="34" charset="0"/>
                <a:cs typeface="Arial" panose="020B0604020202020204" pitchFamily="34" charset="0"/>
              </a:rPr>
              <a:t>办公电话：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  <a:cs typeface="Times New Roman" panose="02020603050405020304" pitchFamily="18" charset="0"/>
              </a:rPr>
              <a:t>88206883</a:t>
            </a:r>
          </a:p>
          <a:p>
            <a:pPr>
              <a:lnSpc>
                <a:spcPts val="2500"/>
              </a:lnSpc>
              <a:spcBef>
                <a:spcPts val="600"/>
              </a:spcBef>
            </a:pPr>
            <a:r>
              <a:rPr lang="en-US" altLang="zh-CN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Gadugi" panose="020B0502040204020203" pitchFamily="34" charset="0"/>
                <a:cs typeface="Arial" panose="020B0604020202020204" pitchFamily="34" charset="0"/>
              </a:rPr>
              <a:t>►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Gadugi" panose="020B0502040204020203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紫金港校区东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  <a:cs typeface="Times New Roman" panose="02020603050405020304" pitchFamily="18" charset="0"/>
              </a:rPr>
              <a:t>4-225</a:t>
            </a:r>
          </a:p>
          <a:p>
            <a:pPr>
              <a:lnSpc>
                <a:spcPts val="2500"/>
              </a:lnSpc>
              <a:spcBef>
                <a:spcPts val="600"/>
              </a:spcBef>
            </a:pPr>
            <a:r>
              <a:rPr lang="en-US" altLang="zh-CN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Gadugi" panose="020B0502040204020203" pitchFamily="34" charset="0"/>
                <a:cs typeface="Arial" panose="020B0604020202020204" pitchFamily="34" charset="0"/>
              </a:rPr>
              <a:t>►</a:t>
            </a:r>
            <a:r>
              <a:rPr lang="en-US" altLang="zh-CN" sz="2400" dirty="0">
                <a:latin typeface="Gadugi" panose="020B0502040204020203" pitchFamily="34" charset="0"/>
                <a:ea typeface="Gadugi" panose="020B0502040204020203" pitchFamily="34" charset="0"/>
                <a:cs typeface="Times New Roman" panose="02020603050405020304" pitchFamily="18" charset="0"/>
                <a:hlinkClick r:id="rId6"/>
              </a:rPr>
              <a:t>yexianfeng@zju.edu.cn</a:t>
            </a:r>
            <a:endParaRPr lang="en-US" altLang="zh-CN" sz="2400" dirty="0">
              <a:latin typeface="Gadugi" panose="020B0502040204020203" pitchFamily="34" charset="0"/>
              <a:ea typeface="Gadugi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09CFD4B-068B-A81E-CEA6-04217A233551}"/>
              </a:ext>
            </a:extLst>
          </p:cNvPr>
          <p:cNvSpPr txBox="1"/>
          <p:nvPr/>
        </p:nvSpPr>
        <p:spPr>
          <a:xfrm>
            <a:off x="8153984" y="4992687"/>
            <a:ext cx="4213579" cy="1208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00"/>
              </a:lnSpc>
              <a:spcBef>
                <a:spcPts val="600"/>
              </a:spcBef>
            </a:pPr>
            <a:r>
              <a:rPr lang="en-US" altLang="zh-CN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Gadugi" panose="020B0502040204020203" pitchFamily="34" charset="0"/>
                <a:cs typeface="Arial" panose="020B0604020202020204" pitchFamily="34" charset="0"/>
              </a:rPr>
              <a:t>► 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Gadugi" panose="020B0502040204020203" pitchFamily="34" charset="0"/>
                <a:cs typeface="Arial" panose="020B0604020202020204" pitchFamily="34" charset="0"/>
              </a:rPr>
              <a:t>办公电话：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  <a:cs typeface="Times New Roman" panose="02020603050405020304" pitchFamily="18" charset="0"/>
              </a:rPr>
              <a:t>88206883</a:t>
            </a:r>
          </a:p>
          <a:p>
            <a:pPr>
              <a:lnSpc>
                <a:spcPts val="2500"/>
              </a:lnSpc>
              <a:spcBef>
                <a:spcPts val="600"/>
              </a:spcBef>
            </a:pPr>
            <a:r>
              <a:rPr lang="en-US" altLang="zh-CN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Gadugi" panose="020B0502040204020203" pitchFamily="34" charset="0"/>
                <a:cs typeface="Arial" panose="020B0604020202020204" pitchFamily="34" charset="0"/>
              </a:rPr>
              <a:t>►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Gadugi" panose="020B0502040204020203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紫金港校区东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  <a:cs typeface="Times New Roman" panose="02020603050405020304" pitchFamily="18" charset="0"/>
              </a:rPr>
              <a:t>4-225</a:t>
            </a:r>
          </a:p>
          <a:p>
            <a:pPr>
              <a:lnSpc>
                <a:spcPts val="2500"/>
              </a:lnSpc>
              <a:spcBef>
                <a:spcPts val="600"/>
              </a:spcBef>
            </a:pPr>
            <a:r>
              <a:rPr lang="en-US" altLang="zh-CN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Gadugi" panose="020B0502040204020203" pitchFamily="34" charset="0"/>
                <a:cs typeface="Arial" panose="020B0604020202020204" pitchFamily="34" charset="0"/>
              </a:rPr>
              <a:t>► </a:t>
            </a:r>
            <a:r>
              <a:rPr lang="en-US" altLang="zh-CN" sz="2400" dirty="0">
                <a:latin typeface="Gadugi" panose="020B0502040204020203" pitchFamily="34" charset="0"/>
                <a:ea typeface="Gadugi" panose="020B0502040204020203" pitchFamily="34" charset="0"/>
                <a:cs typeface="Times New Roman" panose="02020603050405020304" pitchFamily="18" charset="0"/>
                <a:hlinkClick r:id="rId7"/>
              </a:rPr>
              <a:t>jingjing.deng@zju.edu.cn</a:t>
            </a:r>
            <a:endParaRPr lang="en-US" altLang="zh-CN" sz="2400" dirty="0">
              <a:latin typeface="Gadugi" panose="020B0502040204020203" pitchFamily="34" charset="0"/>
              <a:ea typeface="Gadugi" panose="020B0502040204020203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6362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6218E73E-643F-A957-F60A-AF6FB16B46FB}"/>
              </a:ext>
            </a:extLst>
          </p:cNvPr>
          <p:cNvSpPr/>
          <p:nvPr/>
        </p:nvSpPr>
        <p:spPr>
          <a:xfrm>
            <a:off x="1" y="561912"/>
            <a:ext cx="416966" cy="740193"/>
          </a:xfrm>
          <a:prstGeom prst="rect">
            <a:avLst/>
          </a:prstGeom>
          <a:solidFill>
            <a:srgbClr val="003F88"/>
          </a:solidFill>
          <a:ln>
            <a:solidFill>
              <a:srgbClr val="003F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97D543E6-EE91-BD46-AAD5-341847DF4DF5}"/>
              </a:ext>
            </a:extLst>
          </p:cNvPr>
          <p:cNvGrpSpPr/>
          <p:nvPr/>
        </p:nvGrpSpPr>
        <p:grpSpPr>
          <a:xfrm>
            <a:off x="4699705" y="1967789"/>
            <a:ext cx="2792590" cy="3778653"/>
            <a:chOff x="585092" y="313374"/>
            <a:chExt cx="2469431" cy="3668358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EE5368E9-591D-1F4E-9ABA-1F5C89F2A1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5092" y="313374"/>
              <a:ext cx="2469431" cy="24694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64A08C0C-5983-4037-3993-76F16E2CE68D}"/>
                </a:ext>
              </a:extLst>
            </p:cNvPr>
            <p:cNvSpPr txBox="1"/>
            <p:nvPr/>
          </p:nvSpPr>
          <p:spPr>
            <a:xfrm>
              <a:off x="693028" y="2935957"/>
              <a:ext cx="2253560" cy="1045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32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rPr>
                <a:t>李锡华老师</a:t>
              </a:r>
              <a:endParaRPr lang="en-US" altLang="zh-CN" sz="32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endParaRPr>
            </a:p>
            <a:p>
              <a:pPr algn="ctr"/>
              <a:r>
                <a:rPr lang="zh-CN" altLang="en-US" sz="32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rPr>
                <a:t>（已退休）</a:t>
              </a: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EFD4C2D6-C54B-7185-8BCA-22A1ABAD767A}"/>
              </a:ext>
            </a:extLst>
          </p:cNvPr>
          <p:cNvSpPr txBox="1"/>
          <p:nvPr/>
        </p:nvSpPr>
        <p:spPr>
          <a:xfrm>
            <a:off x="541079" y="608842"/>
            <a:ext cx="68672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课程介绍</a:t>
            </a:r>
            <a:r>
              <a:rPr lang="en-US" altLang="zh-CN" sz="4000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4000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授课团队</a:t>
            </a:r>
          </a:p>
        </p:txBody>
      </p:sp>
    </p:spTree>
    <p:extLst>
      <p:ext uri="{BB962C8B-B14F-4D97-AF65-F5344CB8AC3E}">
        <p14:creationId xmlns:p14="http://schemas.microsoft.com/office/powerpoint/2010/main" val="30058828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D1FF9-F8ED-6EDF-5B98-8C4C14A4C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83B839A-76AA-3076-11B6-9482875302AA}"/>
              </a:ext>
            </a:extLst>
          </p:cNvPr>
          <p:cNvSpPr/>
          <p:nvPr/>
        </p:nvSpPr>
        <p:spPr>
          <a:xfrm>
            <a:off x="1" y="561912"/>
            <a:ext cx="416966" cy="740193"/>
          </a:xfrm>
          <a:prstGeom prst="rect">
            <a:avLst/>
          </a:prstGeom>
          <a:solidFill>
            <a:srgbClr val="003F88"/>
          </a:solidFill>
          <a:ln>
            <a:solidFill>
              <a:srgbClr val="003F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7D4E268-D081-79F6-94B5-43BE27C099B7}"/>
              </a:ext>
            </a:extLst>
          </p:cNvPr>
          <p:cNvSpPr txBox="1"/>
          <p:nvPr/>
        </p:nvSpPr>
        <p:spPr>
          <a:xfrm>
            <a:off x="541079" y="608842"/>
            <a:ext cx="68672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课程介绍</a:t>
            </a:r>
            <a:r>
              <a:rPr lang="en-US" altLang="zh-CN" sz="4000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4000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课程安排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61E220A2-3261-874D-27A1-37D8778332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5167" y="5422163"/>
            <a:ext cx="5601663" cy="1337512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6945AB5C-CDA7-C8D6-6A40-88CCE89FA7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8164" y="1650618"/>
            <a:ext cx="12192000" cy="3556764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8EB2242C-0898-90BC-ACFA-F0651D68501A}"/>
              </a:ext>
            </a:extLst>
          </p:cNvPr>
          <p:cNvGrpSpPr/>
          <p:nvPr/>
        </p:nvGrpSpPr>
        <p:grpSpPr>
          <a:xfrm>
            <a:off x="7209884" y="1691442"/>
            <a:ext cx="6081566" cy="1233668"/>
            <a:chOff x="7209884" y="1691442"/>
            <a:chExt cx="6081566" cy="1233668"/>
          </a:xfrm>
        </p:grpSpPr>
        <p:sp>
          <p:nvSpPr>
            <p:cNvPr id="3" name="箭头: 上 2">
              <a:extLst>
                <a:ext uri="{FF2B5EF4-FFF2-40B4-BE49-F238E27FC236}">
                  <a16:creationId xmlns:a16="http://schemas.microsoft.com/office/drawing/2014/main" id="{0E106EC1-8858-D518-039B-F3FA92015EA8}"/>
                </a:ext>
              </a:extLst>
            </p:cNvPr>
            <p:cNvSpPr/>
            <p:nvPr/>
          </p:nvSpPr>
          <p:spPr>
            <a:xfrm rot="4362326">
              <a:off x="8356890" y="1098937"/>
              <a:ext cx="302346" cy="2596358"/>
            </a:xfrm>
            <a:prstGeom prst="upArrow">
              <a:avLst>
                <a:gd name="adj1" fmla="val 32828"/>
                <a:gd name="adj2" fmla="val 97844"/>
              </a:avLst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C00000"/>
                </a:solidFill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D9968ABA-E65A-9BB3-9A73-CD7C3EDF3C01}"/>
                </a:ext>
              </a:extLst>
            </p:cNvPr>
            <p:cNvSpPr txBox="1"/>
            <p:nvPr/>
          </p:nvSpPr>
          <p:spPr>
            <a:xfrm>
              <a:off x="9850290" y="1691442"/>
              <a:ext cx="29884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rgbClr val="C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冬</a:t>
              </a:r>
              <a:r>
                <a:rPr lang="en-US" altLang="zh-CN" b="1" dirty="0">
                  <a:solidFill>
                    <a:srgbClr val="C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r>
                <a:rPr lang="zh-CN" altLang="en-US" b="1" dirty="0">
                  <a:solidFill>
                    <a:srgbClr val="C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：安装</a:t>
              </a:r>
              <a:r>
                <a:rPr lang="en-US" altLang="zh-CN" b="1" dirty="0">
                  <a:solidFill>
                    <a:srgbClr val="C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OrCAD</a:t>
              </a:r>
              <a:r>
                <a:rPr lang="zh-CN" altLang="en-US" b="1" dirty="0">
                  <a:solidFill>
                    <a:srgbClr val="C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软件</a:t>
              </a: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175A7FE8-804A-1EA4-7A29-DD4E3795640B}"/>
                </a:ext>
              </a:extLst>
            </p:cNvPr>
            <p:cNvSpPr txBox="1"/>
            <p:nvPr/>
          </p:nvSpPr>
          <p:spPr>
            <a:xfrm>
              <a:off x="9619319" y="2124564"/>
              <a:ext cx="36721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rgbClr val="C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冬</a:t>
              </a:r>
              <a:r>
                <a:rPr lang="en-US" altLang="zh-CN" b="1" dirty="0">
                  <a:solidFill>
                    <a:srgbClr val="C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</a:t>
              </a:r>
              <a:r>
                <a:rPr lang="zh-CN" altLang="en-US" b="1" dirty="0">
                  <a:solidFill>
                    <a:srgbClr val="C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：解决软件安装问题</a:t>
              </a: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E3EF7520-FB74-7295-B353-DFDB9071C30E}"/>
                </a:ext>
              </a:extLst>
            </p:cNvPr>
            <p:cNvSpPr txBox="1"/>
            <p:nvPr/>
          </p:nvSpPr>
          <p:spPr>
            <a:xfrm>
              <a:off x="9175730" y="2555778"/>
              <a:ext cx="36721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rgbClr val="C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冬</a:t>
              </a:r>
              <a:r>
                <a:rPr lang="en-US" altLang="zh-CN" b="1" dirty="0">
                  <a:solidFill>
                    <a:srgbClr val="C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3</a:t>
              </a:r>
              <a:r>
                <a:rPr lang="zh-CN" altLang="en-US" b="1" dirty="0">
                  <a:solidFill>
                    <a:srgbClr val="C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：确保课前完成软件安装</a:t>
              </a:r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3CC13F09-7B80-F9FD-E2C5-9792969C8377}"/>
              </a:ext>
            </a:extLst>
          </p:cNvPr>
          <p:cNvGrpSpPr/>
          <p:nvPr/>
        </p:nvGrpSpPr>
        <p:grpSpPr>
          <a:xfrm>
            <a:off x="1894114" y="34079"/>
            <a:ext cx="10329621" cy="2492936"/>
            <a:chOff x="1894114" y="34079"/>
            <a:chExt cx="10329621" cy="2492936"/>
          </a:xfrm>
        </p:grpSpPr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CC66C640-3330-7757-6DA6-8BEF1B591E0B}"/>
                </a:ext>
              </a:extLst>
            </p:cNvPr>
            <p:cNvSpPr txBox="1"/>
            <p:nvPr/>
          </p:nvSpPr>
          <p:spPr>
            <a:xfrm>
              <a:off x="5701393" y="34079"/>
              <a:ext cx="6522342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solidFill>
                    <a:schemeClr val="accent2">
                      <a:lumMod val="75000"/>
                    </a:schemeClr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学习使用：</a:t>
              </a:r>
              <a:endParaRPr lang="en-US" altLang="zh-CN" sz="2400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  <a:p>
              <a:r>
                <a:rPr lang="en-US" altLang="zh-CN" sz="2400" dirty="0">
                  <a:solidFill>
                    <a:schemeClr val="accent2">
                      <a:lumMod val="75000"/>
                    </a:schemeClr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1.</a:t>
              </a:r>
              <a:r>
                <a:rPr lang="zh-CN" altLang="en-US" sz="2400" dirty="0">
                  <a:solidFill>
                    <a:schemeClr val="accent2">
                      <a:lumMod val="75000"/>
                    </a:schemeClr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直流稳压源、电流源（电源）；</a:t>
              </a:r>
              <a:endParaRPr lang="en-US" altLang="zh-CN" sz="2400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  <a:p>
              <a:r>
                <a:rPr lang="en-US" altLang="zh-CN" sz="2400" dirty="0">
                  <a:solidFill>
                    <a:schemeClr val="accent2">
                      <a:lumMod val="75000"/>
                    </a:schemeClr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2.</a:t>
              </a:r>
              <a:r>
                <a:rPr lang="zh-CN" altLang="en-US" sz="2400" dirty="0">
                  <a:solidFill>
                    <a:schemeClr val="accent2">
                      <a:lumMod val="75000"/>
                    </a:schemeClr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万用表、电流表（测量电阻、电压、电流）；</a:t>
              </a:r>
              <a:endParaRPr lang="en-US" altLang="zh-CN" sz="2400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  <a:p>
              <a:r>
                <a:rPr lang="en-US" altLang="zh-CN" sz="2400" dirty="0">
                  <a:solidFill>
                    <a:schemeClr val="accent2">
                      <a:lumMod val="75000"/>
                    </a:schemeClr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3.</a:t>
              </a:r>
              <a:r>
                <a:rPr lang="zh-CN" altLang="en-US" sz="2400" dirty="0">
                  <a:solidFill>
                    <a:schemeClr val="accent2">
                      <a:lumMod val="75000"/>
                    </a:schemeClr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示波器（观察波形、测量信号相关参数）</a:t>
              </a:r>
            </a:p>
          </p:txBody>
        </p:sp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FA4B0413-CCD7-8F4D-6BDF-1B04CF3F90AE}"/>
                </a:ext>
              </a:extLst>
            </p:cNvPr>
            <p:cNvSpPr/>
            <p:nvPr/>
          </p:nvSpPr>
          <p:spPr>
            <a:xfrm>
              <a:off x="1894114" y="1691442"/>
              <a:ext cx="1779815" cy="835573"/>
            </a:xfrm>
            <a:prstGeom prst="roundRect">
              <a:avLst/>
            </a:prstGeom>
            <a:noFill/>
            <a:ln w="381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箭头: 上 12">
              <a:extLst>
                <a:ext uri="{FF2B5EF4-FFF2-40B4-BE49-F238E27FC236}">
                  <a16:creationId xmlns:a16="http://schemas.microsoft.com/office/drawing/2014/main" id="{A2920536-3ECE-FEEF-24A5-01283EDF861A}"/>
                </a:ext>
              </a:extLst>
            </p:cNvPr>
            <p:cNvSpPr/>
            <p:nvPr/>
          </p:nvSpPr>
          <p:spPr>
            <a:xfrm rot="3350453">
              <a:off x="4565974" y="-226537"/>
              <a:ext cx="293809" cy="2634950"/>
            </a:xfrm>
            <a:prstGeom prst="upArrow">
              <a:avLst>
                <a:gd name="adj1" fmla="val 32828"/>
                <a:gd name="adj2" fmla="val 97844"/>
              </a:avLst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C00000"/>
                </a:solidFill>
              </a:endParaRP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A168531B-8A57-0713-8BC2-E833F80CD611}"/>
              </a:ext>
            </a:extLst>
          </p:cNvPr>
          <p:cNvGrpSpPr/>
          <p:nvPr/>
        </p:nvGrpSpPr>
        <p:grpSpPr>
          <a:xfrm>
            <a:off x="1551215" y="2968208"/>
            <a:ext cx="10515598" cy="1742550"/>
            <a:chOff x="1551215" y="2968208"/>
            <a:chExt cx="10515598" cy="1742550"/>
          </a:xfrm>
        </p:grpSpPr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7EAD599D-B73C-AFB5-D5D2-638A5C678C8E}"/>
                </a:ext>
              </a:extLst>
            </p:cNvPr>
            <p:cNvGrpSpPr/>
            <p:nvPr/>
          </p:nvGrpSpPr>
          <p:grpSpPr>
            <a:xfrm>
              <a:off x="1902277" y="2986992"/>
              <a:ext cx="10164536" cy="1699273"/>
              <a:chOff x="1902277" y="2986992"/>
              <a:chExt cx="10164536" cy="1699273"/>
            </a:xfrm>
          </p:grpSpPr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632BCF24-8FCB-738F-12F9-A81E4E4E7FB9}"/>
                  </a:ext>
                </a:extLst>
              </p:cNvPr>
              <p:cNvSpPr/>
              <p:nvPr/>
            </p:nvSpPr>
            <p:spPr>
              <a:xfrm>
                <a:off x="1902277" y="2986992"/>
                <a:ext cx="10164536" cy="1699273"/>
              </a:xfrm>
              <a:prstGeom prst="rect">
                <a:avLst/>
              </a:prstGeom>
              <a:noFill/>
              <a:ln w="57150">
                <a:solidFill>
                  <a:schemeClr val="accent4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548EB031-53DF-9C86-1D1A-EEA1D58CA5AD}"/>
                  </a:ext>
                </a:extLst>
              </p:cNvPr>
              <p:cNvCxnSpPr>
                <a:stCxn id="16" idx="1"/>
                <a:endCxn id="16" idx="3"/>
              </p:cNvCxnSpPr>
              <p:nvPr/>
            </p:nvCxnSpPr>
            <p:spPr>
              <a:xfrm>
                <a:off x="1902277" y="3836629"/>
                <a:ext cx="10164536" cy="0"/>
              </a:xfrm>
              <a:prstGeom prst="line">
                <a:avLst/>
              </a:prstGeom>
              <a:ln w="28575">
                <a:solidFill>
                  <a:schemeClr val="accent4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F3D36BAA-F4A4-BA7B-9D7D-7F3902965359}"/>
                </a:ext>
              </a:extLst>
            </p:cNvPr>
            <p:cNvSpPr/>
            <p:nvPr/>
          </p:nvSpPr>
          <p:spPr>
            <a:xfrm>
              <a:off x="1551215" y="2968208"/>
              <a:ext cx="318407" cy="1742550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模电部分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81482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1D640-4B92-60FB-8A4E-DF6819946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0EC985F3-5B78-5E36-D0F5-05FB3893062E}"/>
              </a:ext>
            </a:extLst>
          </p:cNvPr>
          <p:cNvSpPr/>
          <p:nvPr/>
        </p:nvSpPr>
        <p:spPr>
          <a:xfrm>
            <a:off x="1" y="561912"/>
            <a:ext cx="416966" cy="740193"/>
          </a:xfrm>
          <a:prstGeom prst="rect">
            <a:avLst/>
          </a:prstGeom>
          <a:solidFill>
            <a:srgbClr val="003F88"/>
          </a:solidFill>
          <a:ln>
            <a:solidFill>
              <a:srgbClr val="003F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94C326-1D17-75B0-9F3C-FFDCB588D1F0}"/>
              </a:ext>
            </a:extLst>
          </p:cNvPr>
          <p:cNvSpPr txBox="1"/>
          <p:nvPr/>
        </p:nvSpPr>
        <p:spPr>
          <a:xfrm>
            <a:off x="541079" y="608842"/>
            <a:ext cx="68672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课程介绍</a:t>
            </a:r>
            <a:r>
              <a:rPr lang="en-US" altLang="zh-CN" sz="4000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4000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课程资源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2F92D447-4EF7-C3A5-EE1F-016491026DE1}"/>
              </a:ext>
            </a:extLst>
          </p:cNvPr>
          <p:cNvGrpSpPr/>
          <p:nvPr/>
        </p:nvGrpSpPr>
        <p:grpSpPr>
          <a:xfrm>
            <a:off x="541080" y="1909692"/>
            <a:ext cx="11594838" cy="4580864"/>
            <a:chOff x="0" y="2165331"/>
            <a:chExt cx="12191999" cy="4580864"/>
          </a:xfrm>
        </p:grpSpPr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05294946-5488-1E9A-717F-05A45359ACAE}"/>
                </a:ext>
              </a:extLst>
            </p:cNvPr>
            <p:cNvSpPr txBox="1"/>
            <p:nvPr/>
          </p:nvSpPr>
          <p:spPr>
            <a:xfrm>
              <a:off x="0" y="2165331"/>
              <a:ext cx="12191999" cy="44935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2400"/>
                </a:spcAft>
              </a:pPr>
              <a:r>
                <a:rPr lang="en-US" altLang="zh-CN" sz="3600" dirty="0"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1.			     《</a:t>
              </a:r>
              <a:r>
                <a:rPr lang="zh-CN" altLang="en-US" sz="3600" dirty="0"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讲义</a:t>
              </a:r>
              <a:r>
                <a:rPr lang="en-US" altLang="zh-CN" sz="3600" dirty="0"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》</a:t>
              </a:r>
              <a:r>
                <a:rPr lang="zh-CN" altLang="en-US" sz="3600" dirty="0"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、课程</a:t>
              </a:r>
              <a:r>
                <a:rPr lang="en-US" altLang="zh-CN" sz="3600" dirty="0"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PPT</a:t>
              </a:r>
              <a:r>
                <a:rPr lang="zh-CN" altLang="en-US" sz="3600" dirty="0"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、实验报告模板等；</a:t>
              </a:r>
              <a:endParaRPr lang="en-US" altLang="zh-CN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endParaRPr>
            </a:p>
            <a:p>
              <a:pPr>
                <a:spcAft>
                  <a:spcPts val="2400"/>
                </a:spcAft>
              </a:pPr>
              <a:r>
                <a:rPr lang="en-US" altLang="zh-CN" sz="3600" dirty="0"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2.  </a:t>
              </a:r>
              <a:r>
                <a:rPr lang="en-US" altLang="zh-CN" sz="3600" i="1" dirty="0"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  <a:hlinkClick r:id="rId2"/>
                </a:rPr>
                <a:t>ftp://10.71.72.109</a:t>
              </a:r>
              <a:r>
                <a:rPr lang="zh-CN" altLang="en-US" sz="3600" dirty="0"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：下载仿真软件</a:t>
              </a:r>
              <a:r>
                <a:rPr lang="en-US" altLang="zh-CN" sz="3600" dirty="0"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OrCAD</a:t>
              </a:r>
              <a:r>
                <a:rPr lang="zh-CN" altLang="en-US" sz="3600" dirty="0"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；</a:t>
              </a:r>
              <a:endParaRPr lang="en-US" altLang="zh-CN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endParaRPr>
            </a:p>
            <a:p>
              <a:pPr>
                <a:spcAft>
                  <a:spcPts val="1200"/>
                </a:spcAft>
              </a:pPr>
              <a:r>
                <a:rPr lang="en-US" altLang="zh-CN" sz="3600" dirty="0"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3.  </a:t>
              </a:r>
              <a:r>
                <a:rPr lang="en-US" altLang="zh-CN" sz="36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MOOC</a:t>
              </a:r>
              <a:r>
                <a:rPr lang="zh-CN" altLang="en-US" sz="3600" dirty="0"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搜索</a:t>
              </a:r>
              <a:r>
                <a:rPr lang="en-US" altLang="zh-CN" sz="3600" dirty="0"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:</a:t>
              </a:r>
              <a:r>
                <a:rPr lang="zh-CN" altLang="en-US" sz="3600" dirty="0"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“</a:t>
              </a:r>
              <a:r>
                <a:rPr lang="zh-CN" altLang="en-US" sz="3600" u="sng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电子电路实验，浙江大学</a:t>
              </a:r>
              <a:r>
                <a:rPr lang="zh-CN" altLang="en-US" sz="3600" dirty="0"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”</a:t>
              </a:r>
              <a:endParaRPr lang="en-US" altLang="zh-CN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endParaRPr>
            </a:p>
            <a:p>
              <a:pPr>
                <a:spcAft>
                  <a:spcPts val="1200"/>
                </a:spcAft>
              </a:pPr>
              <a:r>
                <a:rPr lang="zh-CN" altLang="en-US" sz="3600" dirty="0"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    </a:t>
              </a:r>
              <a:r>
                <a:rPr lang="zh-CN" altLang="en-US" sz="3600" i="1" dirty="0">
                  <a:latin typeface="Arial" panose="020B0604020202020204" pitchFamily="34" charset="0"/>
                  <a:cs typeface="Arial" panose="020B0604020202020204" pitchFamily="34" charset="0"/>
                  <a:hlinkClick r:id="rId3"/>
                </a:rPr>
                <a:t>https://www.icourse163.org</a:t>
              </a:r>
              <a:endParaRPr lang="en-US" altLang="zh-CN" sz="3600" i="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>
                <a:spcAft>
                  <a:spcPts val="1200"/>
                </a:spcAft>
              </a:pPr>
              <a:r>
                <a:rPr lang="zh-CN" altLang="en-US" sz="3600" dirty="0"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    </a:t>
              </a:r>
              <a:r>
                <a:rPr lang="zh-CN" altLang="en-US" sz="36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智慧树</a:t>
              </a:r>
              <a:r>
                <a:rPr lang="zh-CN" altLang="en-US" sz="3600" dirty="0"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搜索</a:t>
              </a:r>
              <a:r>
                <a:rPr lang="en-US" altLang="zh-CN" sz="3600" dirty="0"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:</a:t>
              </a:r>
              <a:r>
                <a:rPr lang="zh-CN" altLang="en-US" sz="3600" dirty="0"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“</a:t>
              </a:r>
              <a:r>
                <a:rPr lang="zh-CN" altLang="en-US" sz="3600" u="sng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电子电路实验（浙江大学）</a:t>
              </a:r>
              <a:r>
                <a:rPr lang="zh-CN" altLang="en-US" sz="3600" dirty="0"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”</a:t>
              </a:r>
              <a:endParaRPr lang="en-US" altLang="zh-CN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endParaRPr>
            </a:p>
            <a:p>
              <a:pPr>
                <a:spcAft>
                  <a:spcPts val="1200"/>
                </a:spcAft>
              </a:pPr>
              <a:r>
                <a:rPr lang="zh-CN" altLang="en-US" sz="3600" dirty="0"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    </a:t>
              </a:r>
              <a:r>
                <a:rPr lang="zh-CN" altLang="en-US" sz="3600" i="1" dirty="0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https://www.zhihuishu.com/</a:t>
              </a:r>
              <a:r>
                <a:rPr lang="en-US" altLang="zh-CN" sz="3600" dirty="0"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		</a:t>
              </a:r>
              <a:endParaRPr lang="zh-CN" altLang="en-US" sz="3600" dirty="0">
                <a:solidFill>
                  <a:srgbClr val="0070C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CD81AF23-DAD9-36F1-356E-6E9A543324A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79538" y="2165331"/>
              <a:ext cx="2590800" cy="752475"/>
            </a:xfrm>
            <a:prstGeom prst="rect">
              <a:avLst/>
            </a:prstGeom>
          </p:spPr>
        </p:pic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8E6492BF-3EF7-EF7F-4763-64D9A92D8C6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18141" r="75235" b="72789"/>
            <a:stretch>
              <a:fillRect/>
            </a:stretch>
          </p:blipFill>
          <p:spPr>
            <a:xfrm>
              <a:off x="6763416" y="4466826"/>
              <a:ext cx="3691065" cy="740193"/>
            </a:xfrm>
            <a:prstGeom prst="rect">
              <a:avLst/>
            </a:prstGeom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</p:pic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580E705A-1918-A5E1-4FF6-A017FE021EC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763416" y="5982091"/>
              <a:ext cx="2725304" cy="764104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15563050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42293-DCCE-07F0-3C79-445FF1E16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2EF2C6B-B451-B10F-5159-4F1213C88C6B}"/>
              </a:ext>
            </a:extLst>
          </p:cNvPr>
          <p:cNvSpPr/>
          <p:nvPr/>
        </p:nvSpPr>
        <p:spPr>
          <a:xfrm>
            <a:off x="1" y="561912"/>
            <a:ext cx="416966" cy="740193"/>
          </a:xfrm>
          <a:prstGeom prst="rect">
            <a:avLst/>
          </a:prstGeom>
          <a:solidFill>
            <a:srgbClr val="003F88"/>
          </a:solidFill>
          <a:ln>
            <a:solidFill>
              <a:srgbClr val="003F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85B0F64-D8F0-B3AD-ECB2-4AD3A2195A12}"/>
              </a:ext>
            </a:extLst>
          </p:cNvPr>
          <p:cNvSpPr txBox="1"/>
          <p:nvPr/>
        </p:nvSpPr>
        <p:spPr>
          <a:xfrm>
            <a:off x="541078" y="608842"/>
            <a:ext cx="96397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课程介绍</a:t>
            </a:r>
            <a:r>
              <a:rPr lang="en-US" altLang="zh-CN" sz="4000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4000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课程资源</a:t>
            </a:r>
            <a:r>
              <a:rPr lang="en-US" altLang="zh-CN" sz="4000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——1.</a:t>
            </a:r>
            <a:r>
              <a:rPr lang="zh-CN" altLang="en-US" sz="4000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学在浙大</a:t>
            </a:r>
            <a:endParaRPr lang="zh-CN" altLang="en-US" sz="4000" dirty="0">
              <a:solidFill>
                <a:srgbClr val="FF0000"/>
              </a:solidFill>
              <a:highlight>
                <a:srgbClr val="FFFF00"/>
              </a:highligh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3716F3D-F418-FE0C-8B68-E54D77BF33EC}"/>
              </a:ext>
            </a:extLst>
          </p:cNvPr>
          <p:cNvSpPr txBox="1"/>
          <p:nvPr/>
        </p:nvSpPr>
        <p:spPr>
          <a:xfrm>
            <a:off x="955810" y="2261459"/>
            <a:ext cx="11380178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2400"/>
              </a:spcAft>
            </a:pPr>
            <a:r>
              <a:rPr lang="en-US" altLang="zh-CN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1.1 《</a:t>
            </a:r>
            <a:r>
              <a:rPr lang="zh-CN" altLang="en-US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讲义</a:t>
            </a:r>
            <a:r>
              <a:rPr lang="en-US" altLang="zh-CN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》</a:t>
            </a:r>
            <a:r>
              <a:rPr lang="zh-CN" altLang="en-US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电子版；</a:t>
            </a:r>
            <a:endParaRPr lang="en-US" altLang="zh-CN" sz="36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spcAft>
                <a:spcPts val="2400"/>
              </a:spcAft>
            </a:pPr>
            <a:r>
              <a:rPr lang="en-US" altLang="zh-CN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1.2 </a:t>
            </a:r>
            <a:r>
              <a:rPr lang="zh-CN" altLang="en-US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课程</a:t>
            </a:r>
            <a:r>
              <a:rPr lang="en-US" altLang="zh-CN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PPT</a:t>
            </a:r>
            <a:r>
              <a:rPr lang="zh-CN" altLang="en-US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；</a:t>
            </a:r>
            <a:endParaRPr lang="en-US" altLang="zh-CN" sz="36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spcAft>
                <a:spcPts val="2400"/>
              </a:spcAft>
            </a:pPr>
            <a:r>
              <a:rPr lang="en-US" altLang="zh-CN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1.3 </a:t>
            </a:r>
            <a:r>
              <a:rPr lang="zh-CN" altLang="en-US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实验报告模板；</a:t>
            </a:r>
            <a:endParaRPr lang="en-US" altLang="zh-CN" sz="36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spcAft>
                <a:spcPts val="2400"/>
              </a:spcAft>
            </a:pPr>
            <a:r>
              <a:rPr lang="en-US" altLang="zh-CN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1.4 </a:t>
            </a:r>
            <a:r>
              <a:rPr lang="zh-CN" altLang="en-US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其它相关资料；</a:t>
            </a:r>
            <a:endParaRPr lang="en-US" altLang="zh-CN" sz="36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4211BD0-EE7D-1A82-9576-86805C8349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1292" y="641938"/>
            <a:ext cx="2272981" cy="660167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03EDCE86-03B4-F1AE-EBFB-CE4B44909556}"/>
              </a:ext>
            </a:extLst>
          </p:cNvPr>
          <p:cNvGrpSpPr/>
          <p:nvPr/>
        </p:nvGrpSpPr>
        <p:grpSpPr>
          <a:xfrm>
            <a:off x="5924549" y="2375782"/>
            <a:ext cx="6207579" cy="3079950"/>
            <a:chOff x="6095999" y="2490107"/>
            <a:chExt cx="6207579" cy="3079950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D1159CB9-E298-7A05-9EB2-3C33BFBA759E}"/>
                </a:ext>
              </a:extLst>
            </p:cNvPr>
            <p:cNvSpPr txBox="1"/>
            <p:nvPr/>
          </p:nvSpPr>
          <p:spPr>
            <a:xfrm>
              <a:off x="6095999" y="2492291"/>
              <a:ext cx="6207579" cy="3077766"/>
            </a:xfrm>
            <a:prstGeom prst="rect">
              <a:avLst/>
            </a:prstGeom>
            <a:no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>
                <a:spcAft>
                  <a:spcPts val="2400"/>
                </a:spcAft>
              </a:pPr>
              <a:r>
                <a:rPr lang="zh-CN" altLang="en-US" sz="3600" dirty="0">
                  <a:solidFill>
                    <a:srgbClr val="2F5597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纸质</a:t>
              </a:r>
              <a:r>
                <a:rPr lang="en-US" altLang="zh-CN" sz="3600" dirty="0">
                  <a:solidFill>
                    <a:srgbClr val="2F5597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《</a:t>
              </a:r>
              <a:r>
                <a:rPr lang="zh-CN" altLang="en-US" sz="3600" dirty="0">
                  <a:solidFill>
                    <a:srgbClr val="2F5597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讲义</a:t>
              </a:r>
              <a:r>
                <a:rPr lang="en-US" altLang="zh-CN" sz="3600" dirty="0">
                  <a:solidFill>
                    <a:srgbClr val="2F5597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》</a:t>
              </a:r>
            </a:p>
            <a:p>
              <a:pPr marL="571500" indent="-571500">
                <a:spcAft>
                  <a:spcPts val="1200"/>
                </a:spcAft>
                <a:buFont typeface="Arial" panose="020B0604020202020204" pitchFamily="34" charset="0"/>
                <a:buChar char="•"/>
              </a:pPr>
              <a:r>
                <a:rPr lang="zh-CN" altLang="en-US" sz="3200" dirty="0"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请勿带离教室；</a:t>
              </a:r>
              <a:endParaRPr lang="en-US" altLang="zh-CN" sz="32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endParaRPr>
            </a:p>
            <a:p>
              <a:pPr marL="571500" indent="-571500">
                <a:spcAft>
                  <a:spcPts val="1200"/>
                </a:spcAft>
                <a:buFont typeface="Arial" panose="020B0604020202020204" pitchFamily="34" charset="0"/>
                <a:buChar char="•"/>
              </a:pPr>
              <a:r>
                <a:rPr lang="zh-CN" altLang="en-US" sz="3200" dirty="0"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重复使用，请勿书写、涂画。请将实验数据记录在 “实验记录本”上。</a:t>
              </a:r>
              <a:endParaRPr lang="en-US" altLang="zh-CN" sz="32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D87B153B-F3A2-9875-E05A-DA7DA541100F}"/>
                </a:ext>
              </a:extLst>
            </p:cNvPr>
            <p:cNvSpPr/>
            <p:nvPr/>
          </p:nvSpPr>
          <p:spPr>
            <a:xfrm>
              <a:off x="6096000" y="2490107"/>
              <a:ext cx="6207578" cy="3077766"/>
            </a:xfrm>
            <a:prstGeom prst="rect">
              <a:avLst/>
            </a:pr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0845157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6218E73E-643F-A957-F60A-AF6FB16B46FB}"/>
              </a:ext>
            </a:extLst>
          </p:cNvPr>
          <p:cNvSpPr/>
          <p:nvPr/>
        </p:nvSpPr>
        <p:spPr>
          <a:xfrm>
            <a:off x="1" y="561912"/>
            <a:ext cx="416966" cy="740193"/>
          </a:xfrm>
          <a:prstGeom prst="rect">
            <a:avLst/>
          </a:prstGeom>
          <a:solidFill>
            <a:srgbClr val="003F88"/>
          </a:solidFill>
          <a:ln>
            <a:solidFill>
              <a:srgbClr val="003F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48F9632-678E-C19F-AC08-FB77F46C0BCF}"/>
              </a:ext>
            </a:extLst>
          </p:cNvPr>
          <p:cNvSpPr txBox="1"/>
          <p:nvPr/>
        </p:nvSpPr>
        <p:spPr>
          <a:xfrm>
            <a:off x="541079" y="608842"/>
            <a:ext cx="116509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课程介绍</a:t>
            </a:r>
            <a:r>
              <a:rPr lang="en-US" altLang="zh-CN" sz="4000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4000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课程资源</a:t>
            </a:r>
            <a:r>
              <a:rPr lang="en-US" altLang="zh-CN" sz="4000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——2.</a:t>
            </a:r>
            <a:r>
              <a:rPr lang="zh-CN" altLang="en-US" sz="4000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服务器 </a:t>
            </a:r>
            <a:r>
              <a:rPr lang="en-US" altLang="zh-CN" sz="3600" i="1" dirty="0">
                <a:solidFill>
                  <a:srgbClr val="003F8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ftp://10.71.72.109</a:t>
            </a:r>
            <a:endParaRPr lang="zh-CN" altLang="en-US" sz="4000" dirty="0">
              <a:solidFill>
                <a:srgbClr val="003F8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Sans Serif" panose="020B0604020202020204" pitchFamily="34" charset="0"/>
              <a:ea typeface="黑体" panose="02010609060101010101" pitchFamily="49" charset="-122"/>
              <a:cs typeface="Microsoft Sans Serif" panose="020B0604020202020204" pitchFamily="34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EC9F2BB8-D662-ACDE-665D-46663F7920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822" y="3064135"/>
            <a:ext cx="11304468" cy="3001931"/>
          </a:xfrm>
          <a:prstGeom prst="rect">
            <a:avLst/>
          </a:prstGeom>
          <a:ln>
            <a:solidFill>
              <a:srgbClr val="7030A0"/>
            </a:solidFill>
          </a:ln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6BBBC2DE-95DC-B17C-BE3E-8AFB9E0A4109}"/>
              </a:ext>
            </a:extLst>
          </p:cNvPr>
          <p:cNvSpPr txBox="1"/>
          <p:nvPr/>
        </p:nvSpPr>
        <p:spPr>
          <a:xfrm>
            <a:off x="416967" y="2083035"/>
            <a:ext cx="113801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下载：</a:t>
            </a:r>
            <a:r>
              <a:rPr lang="zh-CN" altLang="en-US" sz="3600" dirty="0">
                <a:solidFill>
                  <a:srgbClr val="C0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仿真软件</a:t>
            </a:r>
            <a:r>
              <a:rPr lang="en-US" altLang="zh-CN" sz="3600" dirty="0">
                <a:solidFill>
                  <a:srgbClr val="C0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OrCAD</a:t>
            </a:r>
            <a:r>
              <a:rPr lang="zh-CN" altLang="en-US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、</a:t>
            </a:r>
            <a:r>
              <a:rPr lang="zh-CN" altLang="en-US" sz="3600" dirty="0">
                <a:solidFill>
                  <a:srgbClr val="00B05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课件</a:t>
            </a:r>
            <a:r>
              <a:rPr lang="zh-CN" altLang="en-US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、</a:t>
            </a:r>
            <a:r>
              <a:rPr lang="zh-CN" altLang="en-US" sz="3600" dirty="0">
                <a:solidFill>
                  <a:srgbClr val="003F88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仪器仪表使用说明书</a:t>
            </a:r>
            <a:endParaRPr lang="en-US" altLang="zh-CN" sz="3600" dirty="0">
              <a:solidFill>
                <a:srgbClr val="003F88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A6D216A7-1C15-C97E-3E8B-83A2BE7EE1B2}"/>
              </a:ext>
            </a:extLst>
          </p:cNvPr>
          <p:cNvCxnSpPr>
            <a:cxnSpLocks/>
          </p:cNvCxnSpPr>
          <p:nvPr/>
        </p:nvCxnSpPr>
        <p:spPr>
          <a:xfrm flipH="1">
            <a:off x="3647768" y="2739748"/>
            <a:ext cx="157316" cy="1925221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C3F39032-A622-D570-5E7E-3C1428A87246}"/>
              </a:ext>
            </a:extLst>
          </p:cNvPr>
          <p:cNvCxnSpPr>
            <a:cxnSpLocks/>
          </p:cNvCxnSpPr>
          <p:nvPr/>
        </p:nvCxnSpPr>
        <p:spPr>
          <a:xfrm>
            <a:off x="8311243" y="2729366"/>
            <a:ext cx="2494409" cy="1945435"/>
          </a:xfrm>
          <a:prstGeom prst="straightConnector1">
            <a:avLst/>
          </a:prstGeom>
          <a:ln w="57150">
            <a:solidFill>
              <a:srgbClr val="003F8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317B6B90-3F99-237F-6E8B-073CAFF1D83B}"/>
              </a:ext>
            </a:extLst>
          </p:cNvPr>
          <p:cNvCxnSpPr>
            <a:cxnSpLocks/>
          </p:cNvCxnSpPr>
          <p:nvPr/>
        </p:nvCxnSpPr>
        <p:spPr>
          <a:xfrm>
            <a:off x="5692877" y="2739748"/>
            <a:ext cx="2448233" cy="2642976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27755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AF9F6-6FB1-E451-54B4-DC003B4B5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755D26A-46FD-2D1F-E371-2751E404CE73}"/>
              </a:ext>
            </a:extLst>
          </p:cNvPr>
          <p:cNvSpPr/>
          <p:nvPr/>
        </p:nvSpPr>
        <p:spPr>
          <a:xfrm>
            <a:off x="1" y="561912"/>
            <a:ext cx="416966" cy="740193"/>
          </a:xfrm>
          <a:prstGeom prst="rect">
            <a:avLst/>
          </a:prstGeom>
          <a:solidFill>
            <a:srgbClr val="003F88"/>
          </a:solidFill>
          <a:ln>
            <a:solidFill>
              <a:srgbClr val="003F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22C9572-B397-5D80-9747-59355C945502}"/>
              </a:ext>
            </a:extLst>
          </p:cNvPr>
          <p:cNvSpPr txBox="1"/>
          <p:nvPr/>
        </p:nvSpPr>
        <p:spPr>
          <a:xfrm>
            <a:off x="541079" y="608842"/>
            <a:ext cx="101296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课程介绍</a:t>
            </a:r>
            <a:r>
              <a:rPr lang="en-US" altLang="zh-CN" sz="4000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4000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课程资源</a:t>
            </a:r>
            <a:r>
              <a:rPr lang="en-US" altLang="zh-CN" sz="4000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——3.</a:t>
            </a:r>
            <a:r>
              <a:rPr lang="zh-CN" altLang="en-US" sz="4000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线上学习资源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0DD7A7B-FF88-F212-5DCB-4E2E21EB047F}"/>
              </a:ext>
            </a:extLst>
          </p:cNvPr>
          <p:cNvSpPr txBox="1"/>
          <p:nvPr/>
        </p:nvSpPr>
        <p:spPr>
          <a:xfrm>
            <a:off x="416967" y="2083035"/>
            <a:ext cx="11380178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2400"/>
              </a:spcAft>
            </a:pPr>
            <a:r>
              <a:rPr lang="en-US" altLang="zh-CN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3.1 </a:t>
            </a:r>
            <a:r>
              <a:rPr lang="zh-CN" altLang="en-US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中国大学慕课     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https://www.icourse163.org</a:t>
            </a:r>
          </a:p>
          <a:p>
            <a:pPr marL="571500" indent="-571500">
              <a:spcAft>
                <a:spcPts val="1200"/>
              </a:spcAft>
              <a:buFont typeface="Wingdings" panose="05000000000000000000" pitchFamily="2" charset="2"/>
              <a:buChar char="p"/>
            </a:pPr>
            <a:r>
              <a:rPr lang="zh-CN" altLang="en-US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搜索“电子电路实验，浙江大学”；</a:t>
            </a:r>
            <a:endParaRPr lang="en-US" altLang="zh-CN" sz="36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marL="571500" indent="-571500">
              <a:spcAft>
                <a:spcPts val="1200"/>
              </a:spcAft>
              <a:buFont typeface="Wingdings" panose="05000000000000000000" pitchFamily="2" charset="2"/>
              <a:buChar char="p"/>
            </a:pPr>
            <a:r>
              <a:rPr lang="zh-CN" alt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第一章</a:t>
            </a:r>
            <a:r>
              <a:rPr lang="en-US" altLang="zh-CN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·</a:t>
            </a:r>
            <a:r>
              <a:rPr lang="zh-CN" alt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常用仪器的使用</a:t>
            </a:r>
            <a:endParaRPr lang="en-US" altLang="zh-CN" sz="36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spcAft>
                <a:spcPts val="1200"/>
              </a:spcAft>
            </a:pPr>
            <a:r>
              <a:rPr lang="en-US" altLang="zh-CN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   </a:t>
            </a:r>
            <a:r>
              <a:rPr lang="zh-CN" altLang="en-US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介绍如何使用：</a:t>
            </a:r>
            <a:endParaRPr lang="en-US" altLang="zh-CN" sz="36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spcAft>
                <a:spcPts val="1200"/>
              </a:spcAft>
            </a:pPr>
            <a:r>
              <a:rPr lang="en-US" altLang="zh-CN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       </a:t>
            </a:r>
            <a:r>
              <a:rPr lang="zh-CN" altLang="en-US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万用表、直流稳压源、</a:t>
            </a:r>
            <a:endParaRPr lang="en-US" altLang="zh-CN" sz="36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spcAft>
                <a:spcPts val="1200"/>
              </a:spcAft>
            </a:pPr>
            <a:r>
              <a:rPr lang="en-US" altLang="zh-CN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       </a:t>
            </a:r>
            <a:r>
              <a:rPr lang="zh-CN" altLang="en-US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信号源、示波器。</a:t>
            </a:r>
            <a:endParaRPr lang="en-US" altLang="zh-CN" sz="36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5B21682E-5083-4D4C-8C57-61C7C5C1A6B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40" t="41243" r="11550" b="1593"/>
          <a:stretch>
            <a:fillRect/>
          </a:stretch>
        </p:blipFill>
        <p:spPr>
          <a:xfrm>
            <a:off x="6664148" y="4721991"/>
            <a:ext cx="5264506" cy="1909240"/>
          </a:xfrm>
          <a:prstGeom prst="rect">
            <a:avLst/>
          </a:prstGeom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0E0E1774-E135-C5DD-902F-0FD2C5EC59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141" r="75235" b="72789"/>
          <a:stretch>
            <a:fillRect/>
          </a:stretch>
        </p:blipFill>
        <p:spPr>
          <a:xfrm>
            <a:off x="6664148" y="3912653"/>
            <a:ext cx="3763302" cy="754680"/>
          </a:xfrm>
          <a:prstGeom prst="rect">
            <a:avLst/>
          </a:prstGeom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</p:spTree>
    <p:extLst>
      <p:ext uri="{BB962C8B-B14F-4D97-AF65-F5344CB8AC3E}">
        <p14:creationId xmlns:p14="http://schemas.microsoft.com/office/powerpoint/2010/main" val="30529672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188D4-CD3B-21AD-80A5-5E75BE400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8C14A85A-6EC2-EFD9-E334-C0290453939F}"/>
              </a:ext>
            </a:extLst>
          </p:cNvPr>
          <p:cNvSpPr/>
          <p:nvPr/>
        </p:nvSpPr>
        <p:spPr>
          <a:xfrm>
            <a:off x="1" y="561912"/>
            <a:ext cx="416966" cy="740193"/>
          </a:xfrm>
          <a:prstGeom prst="rect">
            <a:avLst/>
          </a:prstGeom>
          <a:solidFill>
            <a:srgbClr val="003F88"/>
          </a:solidFill>
          <a:ln>
            <a:solidFill>
              <a:srgbClr val="003F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90FE409-24E7-827B-882D-8B243D5E3569}"/>
              </a:ext>
            </a:extLst>
          </p:cNvPr>
          <p:cNvSpPr txBox="1"/>
          <p:nvPr/>
        </p:nvSpPr>
        <p:spPr>
          <a:xfrm>
            <a:off x="541078" y="608842"/>
            <a:ext cx="108236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课程介绍</a:t>
            </a:r>
            <a:r>
              <a:rPr lang="en-US" altLang="zh-CN" sz="4000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4000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课程资源</a:t>
            </a:r>
            <a:r>
              <a:rPr lang="en-US" altLang="zh-CN" sz="4000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——3.</a:t>
            </a:r>
            <a:r>
              <a:rPr lang="zh-CN" altLang="en-US" sz="4000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线上学习资源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AC6FB77-C591-6BB2-FC78-E8F8846BFEA0}"/>
              </a:ext>
            </a:extLst>
          </p:cNvPr>
          <p:cNvSpPr txBox="1"/>
          <p:nvPr/>
        </p:nvSpPr>
        <p:spPr>
          <a:xfrm>
            <a:off x="416967" y="2083035"/>
            <a:ext cx="11630178" cy="2292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2400"/>
              </a:spcAft>
            </a:pPr>
            <a:r>
              <a:rPr lang="en-US" altLang="zh-CN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3.2 </a:t>
            </a:r>
            <a:r>
              <a:rPr lang="zh-CN" altLang="en-US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智慧树    </a:t>
            </a:r>
            <a:r>
              <a:rPr lang="zh-CN" altLang="en-US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https://www.zhihuishu.com/</a:t>
            </a:r>
            <a:endParaRPr lang="en-US" altLang="zh-CN" sz="36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marL="571500" indent="-571500">
              <a:spcAft>
                <a:spcPts val="1200"/>
              </a:spcAft>
              <a:buFont typeface="Wingdings" panose="05000000000000000000" pitchFamily="2" charset="2"/>
              <a:buChar char="p"/>
            </a:pPr>
            <a:r>
              <a:rPr lang="zh-CN" altLang="en-US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搜索“电子电路实验（浙江大学）” </a:t>
            </a:r>
            <a:endParaRPr lang="en-US" altLang="zh-CN" sz="36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marL="571500" indent="-571500">
              <a:spcAft>
                <a:spcPts val="1200"/>
              </a:spcAft>
              <a:buFont typeface="Wingdings" panose="05000000000000000000" pitchFamily="2" charset="2"/>
              <a:buChar char="p"/>
            </a:pPr>
            <a:r>
              <a:rPr lang="zh-CN" altLang="en-US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内容与</a:t>
            </a:r>
            <a:r>
              <a:rPr lang="en-US" altLang="zh-CN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MOOC</a:t>
            </a:r>
            <a:r>
              <a:rPr lang="zh-CN" altLang="en-US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相似。</a:t>
            </a:r>
            <a:endParaRPr lang="en-US" altLang="zh-CN" sz="36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638A3489-4A51-3214-984E-110A57422D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976381"/>
            <a:ext cx="2725304" cy="76410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4C0D5FC8-9335-C9D4-9466-5F4C31847D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4740485"/>
            <a:ext cx="5951145" cy="191158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714188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73DF1-5219-C285-78B4-673081A23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DE1E4298-4E6A-A2D9-8B81-748EE362BD15}"/>
              </a:ext>
            </a:extLst>
          </p:cNvPr>
          <p:cNvSpPr/>
          <p:nvPr/>
        </p:nvSpPr>
        <p:spPr>
          <a:xfrm>
            <a:off x="1" y="561912"/>
            <a:ext cx="416966" cy="740193"/>
          </a:xfrm>
          <a:prstGeom prst="rect">
            <a:avLst/>
          </a:prstGeom>
          <a:solidFill>
            <a:srgbClr val="003F88"/>
          </a:solidFill>
          <a:ln>
            <a:solidFill>
              <a:srgbClr val="003F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B78BC0F-B9D2-25F8-FF11-83F127E68728}"/>
              </a:ext>
            </a:extLst>
          </p:cNvPr>
          <p:cNvSpPr txBox="1"/>
          <p:nvPr/>
        </p:nvSpPr>
        <p:spPr>
          <a:xfrm>
            <a:off x="541078" y="608842"/>
            <a:ext cx="116509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养成良好的科学研究习惯：用好</a:t>
            </a:r>
            <a:r>
              <a:rPr lang="en-US" altLang="zh-CN" sz="4000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《</a:t>
            </a:r>
            <a:r>
              <a:rPr lang="zh-CN" altLang="en-US" sz="4000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实验记录本</a:t>
            </a:r>
            <a:r>
              <a:rPr lang="en-US" altLang="zh-CN" sz="4000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》</a:t>
            </a:r>
            <a:endParaRPr lang="zh-CN" altLang="en-US" sz="4000" dirty="0">
              <a:solidFill>
                <a:schemeClr val="accent1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1E739CC-01A0-B796-6BC8-B15E7FB50660}"/>
              </a:ext>
            </a:extLst>
          </p:cNvPr>
          <p:cNvSpPr txBox="1"/>
          <p:nvPr/>
        </p:nvSpPr>
        <p:spPr>
          <a:xfrm>
            <a:off x="546544" y="1937314"/>
            <a:ext cx="10736519" cy="4216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实验</a:t>
            </a:r>
            <a:r>
              <a:rPr lang="zh-CN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前</a:t>
            </a: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，做好实验准备工作，</a:t>
            </a:r>
            <a:r>
              <a:rPr lang="zh-CN" altLang="en-US" sz="36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在</a:t>
            </a:r>
            <a:r>
              <a:rPr lang="en-US" altLang="zh-CN" sz="36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《</a:t>
            </a:r>
            <a:r>
              <a:rPr lang="zh-CN" altLang="en-US" sz="36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实验记录本</a:t>
            </a:r>
            <a:r>
              <a:rPr lang="en-US" altLang="zh-CN" sz="36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》</a:t>
            </a:r>
            <a:r>
              <a:rPr lang="zh-CN" altLang="en-US" sz="36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上做必要记录</a:t>
            </a: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。实验开始之前，心中有数；</a:t>
            </a:r>
            <a:endParaRPr lang="en-US" altLang="zh-CN" sz="36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571500" indent="-571500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实验</a:t>
            </a:r>
            <a:r>
              <a:rPr lang="zh-CN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中</a:t>
            </a: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，记录：实验</a:t>
            </a:r>
            <a:r>
              <a:rPr lang="zh-CN" altLang="en-US" sz="3600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数据</a:t>
            </a: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、实验过程中观测到的</a:t>
            </a:r>
            <a:r>
              <a:rPr lang="zh-CN" altLang="en-US" sz="3600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现象</a:t>
            </a: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和发现的</a:t>
            </a:r>
            <a:r>
              <a:rPr lang="zh-CN" altLang="en-US" sz="3600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问题</a:t>
            </a: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、你的</a:t>
            </a:r>
            <a:r>
              <a:rPr lang="zh-CN" altLang="en-US" sz="3600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疑问和思考</a:t>
            </a: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等。</a:t>
            </a:r>
            <a:endParaRPr lang="en-US" altLang="zh-CN" sz="36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571500" indent="-571500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实验</a:t>
            </a:r>
            <a:r>
              <a:rPr lang="zh-CN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后</a:t>
            </a: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，进行实验数据</a:t>
            </a:r>
            <a:r>
              <a:rPr lang="zh-CN" altLang="en-US" sz="36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分析</a:t>
            </a: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，得出</a:t>
            </a:r>
            <a:r>
              <a:rPr lang="zh-CN" altLang="en-US" sz="36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结论</a:t>
            </a: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zh-CN" altLang="en-US" sz="36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撰写</a:t>
            </a: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实验报告或论文；</a:t>
            </a:r>
            <a:endParaRPr lang="en-US" altLang="zh-CN" sz="3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062002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97E3A-3527-3C88-3173-EC5A04C43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529623E-1CDA-F3C2-8D7C-36E97E1B5355}"/>
              </a:ext>
            </a:extLst>
          </p:cNvPr>
          <p:cNvSpPr/>
          <p:nvPr/>
        </p:nvSpPr>
        <p:spPr>
          <a:xfrm>
            <a:off x="1" y="561912"/>
            <a:ext cx="416966" cy="740193"/>
          </a:xfrm>
          <a:prstGeom prst="rect">
            <a:avLst/>
          </a:prstGeom>
          <a:solidFill>
            <a:srgbClr val="003F88"/>
          </a:solidFill>
          <a:ln>
            <a:solidFill>
              <a:srgbClr val="003F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0D685C1-BCC7-6C6E-31FA-261F378E4DCD}"/>
              </a:ext>
            </a:extLst>
          </p:cNvPr>
          <p:cNvSpPr txBox="1"/>
          <p:nvPr/>
        </p:nvSpPr>
        <p:spPr>
          <a:xfrm>
            <a:off x="541078" y="608842"/>
            <a:ext cx="88808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实验预习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B006975B-D44D-28D6-40E4-97D6BEFF74E4}"/>
              </a:ext>
            </a:extLst>
          </p:cNvPr>
          <p:cNvGrpSpPr/>
          <p:nvPr/>
        </p:nvGrpSpPr>
        <p:grpSpPr>
          <a:xfrm>
            <a:off x="3557184" y="-16075"/>
            <a:ext cx="4548852" cy="6712572"/>
            <a:chOff x="7529338" y="-11581"/>
            <a:chExt cx="4548852" cy="6712572"/>
          </a:xfrm>
        </p:grpSpPr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CCFAD1CD-9444-0120-F076-8B08F4EFB2A0}"/>
                </a:ext>
              </a:extLst>
            </p:cNvPr>
            <p:cNvGrpSpPr/>
            <p:nvPr/>
          </p:nvGrpSpPr>
          <p:grpSpPr>
            <a:xfrm>
              <a:off x="7529338" y="-11581"/>
              <a:ext cx="4548852" cy="6712572"/>
              <a:chOff x="7529338" y="-11581"/>
              <a:chExt cx="4548852" cy="6712572"/>
            </a:xfrm>
          </p:grpSpPr>
          <p:grpSp>
            <p:nvGrpSpPr>
              <p:cNvPr id="6" name="组合 5">
                <a:extLst>
                  <a:ext uri="{FF2B5EF4-FFF2-40B4-BE49-F238E27FC236}">
                    <a16:creationId xmlns:a16="http://schemas.microsoft.com/office/drawing/2014/main" id="{9687CE7B-B395-1A7D-0A78-34EFEC3E13BC}"/>
                  </a:ext>
                </a:extLst>
              </p:cNvPr>
              <p:cNvGrpSpPr/>
              <p:nvPr/>
            </p:nvGrpSpPr>
            <p:grpSpPr>
              <a:xfrm>
                <a:off x="7529339" y="-11581"/>
                <a:ext cx="4548851" cy="6712572"/>
                <a:chOff x="3177227" y="1108090"/>
                <a:chExt cx="4548851" cy="5635639"/>
              </a:xfrm>
            </p:grpSpPr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4FA9F083-42B5-C0F3-FE46-FA6C61E04FE0}"/>
                    </a:ext>
                  </a:extLst>
                </p:cNvPr>
                <p:cNvSpPr/>
                <p:nvPr/>
              </p:nvSpPr>
              <p:spPr>
                <a:xfrm>
                  <a:off x="4246445" y="1108090"/>
                  <a:ext cx="2646878" cy="387598"/>
                </a:xfrm>
                <a:prstGeom prst="rect">
                  <a:avLst/>
                </a:prstGeom>
                <a:noFill/>
              </p:spPr>
              <p:txBody>
                <a:bodyPr wrap="none" lIns="91440" tIns="45720" rIns="91440" bIns="45720">
                  <a:spAutoFit/>
                </a:bodyPr>
                <a:lstStyle/>
                <a:p>
                  <a:r>
                    <a:rPr lang="zh-CN" altLang="en-US" sz="2400" b="1" dirty="0"/>
                    <a:t>实验记录本示例：</a:t>
                  </a:r>
                  <a:endParaRPr lang="zh-CN" altLang="en-US" sz="2400" b="0" cap="none" spc="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endParaRPr>
                </a:p>
              </p:txBody>
            </p:sp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80C4E7BE-CABB-BB07-EAB7-24994DA67E87}"/>
                    </a:ext>
                  </a:extLst>
                </p:cNvPr>
                <p:cNvSpPr/>
                <p:nvPr/>
              </p:nvSpPr>
              <p:spPr>
                <a:xfrm>
                  <a:off x="3177227" y="2381965"/>
                  <a:ext cx="4548162" cy="4361764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>
                  <a:spAutoFit/>
                </a:bodyPr>
                <a:lstStyle/>
                <a:p>
                  <a:pPr algn="just" eaLnBrk="1" hangingPunct="1">
                    <a:spcBef>
                      <a:spcPct val="60000"/>
                    </a:spcBef>
                  </a:pPr>
                  <a:r>
                    <a:rPr lang="en-US" altLang="zh-CN" sz="2000" b="1" dirty="0"/>
                    <a:t>1. </a:t>
                  </a:r>
                  <a:r>
                    <a:rPr lang="zh-CN" altLang="en-US" sz="2000" b="1" dirty="0"/>
                    <a:t>实验目的：</a:t>
                  </a:r>
                  <a:endParaRPr lang="en-US" altLang="zh-CN" sz="2000" b="1" dirty="0"/>
                </a:p>
                <a:p>
                  <a:pPr algn="just" eaLnBrk="1" hangingPunct="1">
                    <a:spcBef>
                      <a:spcPct val="60000"/>
                    </a:spcBef>
                  </a:pPr>
                  <a:r>
                    <a:rPr lang="en-US" altLang="zh-CN" sz="2000" b="1" dirty="0"/>
                    <a:t>2. </a:t>
                  </a:r>
                  <a:r>
                    <a:rPr lang="zh-CN" altLang="en-US" sz="2000" b="1" dirty="0"/>
                    <a:t>理论计算：</a:t>
                  </a:r>
                  <a:endParaRPr lang="en-US" altLang="zh-CN" sz="2000" b="1" dirty="0"/>
                </a:p>
                <a:p>
                  <a:pPr eaLnBrk="1" hangingPunct="1">
                    <a:spcBef>
                      <a:spcPct val="60000"/>
                    </a:spcBef>
                  </a:pPr>
                  <a:r>
                    <a:rPr lang="en-US" altLang="zh-CN" sz="2000" b="1" dirty="0"/>
                    <a:t>3. </a:t>
                  </a:r>
                  <a:r>
                    <a:rPr lang="zh-CN" altLang="en-US" sz="2000" b="1" dirty="0"/>
                    <a:t>实验步骤：</a:t>
                  </a:r>
                  <a:endParaRPr lang="en-US" altLang="zh-CN" sz="2000" b="1" dirty="0"/>
                </a:p>
                <a:p>
                  <a:pPr eaLnBrk="1" hangingPunct="1">
                    <a:spcBef>
                      <a:spcPct val="60000"/>
                    </a:spcBef>
                  </a:pPr>
                  <a:r>
                    <a:rPr lang="en-US" altLang="zh-CN" sz="1600" b="1" dirty="0"/>
                    <a:t> </a:t>
                  </a:r>
                  <a:r>
                    <a:rPr lang="zh-CN" altLang="en-US" sz="1600" b="1" dirty="0"/>
                    <a:t>（</a:t>
                  </a:r>
                  <a:r>
                    <a:rPr lang="en-US" altLang="zh-CN" sz="1600" b="1" dirty="0"/>
                    <a:t>1</a:t>
                  </a:r>
                  <a:r>
                    <a:rPr lang="zh-CN" altLang="en-US" sz="1600" b="1" dirty="0"/>
                    <a:t>）第</a:t>
                  </a:r>
                  <a:r>
                    <a:rPr lang="en-US" altLang="zh-CN" sz="1600" b="1" dirty="0"/>
                    <a:t>1</a:t>
                  </a:r>
                  <a:r>
                    <a:rPr lang="zh-CN" altLang="en-US" sz="1600" b="1" dirty="0"/>
                    <a:t>步：</a:t>
                  </a:r>
                  <a:r>
                    <a:rPr lang="en-US" altLang="zh-CN" sz="1600" b="1" dirty="0"/>
                    <a:t>…</a:t>
                  </a:r>
                </a:p>
                <a:p>
                  <a:pPr eaLnBrk="1" hangingPunct="1">
                    <a:spcBef>
                      <a:spcPct val="60000"/>
                    </a:spcBef>
                  </a:pPr>
                  <a:r>
                    <a:rPr lang="zh-CN" altLang="en-US" sz="1400" b="1" dirty="0"/>
                    <a:t>     数据记录方式</a:t>
                  </a:r>
                  <a:r>
                    <a:rPr lang="en-US" altLang="zh-CN" sz="1400" b="1" dirty="0"/>
                    <a:t>1</a:t>
                  </a:r>
                  <a:r>
                    <a:rPr lang="zh-CN" altLang="en-US" sz="1400" b="1" dirty="0"/>
                    <a:t>：表格</a:t>
                  </a:r>
                  <a:endParaRPr lang="en-US" altLang="zh-CN" sz="1600" b="1" dirty="0"/>
                </a:p>
                <a:p>
                  <a:pPr eaLnBrk="1" hangingPunct="1">
                    <a:spcBef>
                      <a:spcPct val="60000"/>
                    </a:spcBef>
                  </a:pPr>
                  <a:endParaRPr lang="en-US" altLang="zh-CN" sz="1600" b="1" dirty="0"/>
                </a:p>
                <a:p>
                  <a:pPr eaLnBrk="1" hangingPunct="1">
                    <a:spcBef>
                      <a:spcPct val="60000"/>
                    </a:spcBef>
                  </a:pPr>
                  <a:endParaRPr lang="en-US" altLang="zh-CN" sz="1600" b="1" dirty="0"/>
                </a:p>
                <a:p>
                  <a:pPr eaLnBrk="1" hangingPunct="1">
                    <a:spcBef>
                      <a:spcPct val="60000"/>
                    </a:spcBef>
                  </a:pPr>
                  <a:endParaRPr lang="en-US" altLang="zh-CN" sz="1600" b="1" dirty="0"/>
                </a:p>
                <a:p>
                  <a:pPr eaLnBrk="1" hangingPunct="1">
                    <a:spcBef>
                      <a:spcPct val="60000"/>
                    </a:spcBef>
                  </a:pPr>
                  <a:endParaRPr lang="en-US" altLang="zh-CN" sz="1600" b="1" dirty="0"/>
                </a:p>
                <a:p>
                  <a:pPr eaLnBrk="1" hangingPunct="1">
                    <a:spcBef>
                      <a:spcPct val="60000"/>
                    </a:spcBef>
                  </a:pPr>
                  <a:r>
                    <a:rPr lang="zh-CN" altLang="en-US" sz="1600" b="1" dirty="0"/>
                    <a:t>（</a:t>
                  </a:r>
                  <a:r>
                    <a:rPr lang="en-US" altLang="zh-CN" sz="1600" b="1" dirty="0"/>
                    <a:t>2</a:t>
                  </a:r>
                  <a:r>
                    <a:rPr lang="zh-CN" altLang="en-US" sz="1600" b="1" dirty="0"/>
                    <a:t>）第</a:t>
                  </a:r>
                  <a:r>
                    <a:rPr lang="en-US" altLang="zh-CN" sz="1600" b="1" dirty="0"/>
                    <a:t>2</a:t>
                  </a:r>
                  <a:r>
                    <a:rPr lang="zh-CN" altLang="en-US" sz="1600" b="1" dirty="0"/>
                    <a:t>步：</a:t>
                  </a:r>
                  <a:r>
                    <a:rPr lang="en-US" altLang="zh-CN" sz="1600" b="1" dirty="0"/>
                    <a:t>…</a:t>
                  </a:r>
                </a:p>
                <a:p>
                  <a:pPr eaLnBrk="1" hangingPunct="1">
                    <a:spcBef>
                      <a:spcPct val="60000"/>
                    </a:spcBef>
                  </a:pPr>
                  <a:r>
                    <a:rPr lang="en-US" altLang="zh-CN" sz="1600" b="1" dirty="0"/>
                    <a:t>    </a:t>
                  </a:r>
                  <a:r>
                    <a:rPr lang="zh-CN" altLang="en-US" sz="1400" b="1" dirty="0"/>
                    <a:t>数据记录方式</a:t>
                  </a:r>
                  <a:r>
                    <a:rPr lang="en-US" altLang="zh-CN" sz="1400" b="1" dirty="0"/>
                    <a:t>2</a:t>
                  </a:r>
                  <a:r>
                    <a:rPr lang="zh-CN" altLang="en-US" sz="1400" b="1" dirty="0"/>
                    <a:t>：电子数据（记录存储数据的命名和测量量的对应关系、存储位置、做好数据备份）</a:t>
                  </a:r>
                  <a:endParaRPr lang="en-US" altLang="zh-CN" sz="1400" b="1" dirty="0"/>
                </a:p>
                <a:p>
                  <a:pPr eaLnBrk="1" hangingPunct="1">
                    <a:spcBef>
                      <a:spcPct val="60000"/>
                    </a:spcBef>
                  </a:pPr>
                  <a:r>
                    <a:rPr lang="en-US" altLang="zh-CN" sz="2000" b="1" dirty="0"/>
                    <a:t>4. </a:t>
                  </a:r>
                  <a:r>
                    <a:rPr lang="zh-CN" altLang="en-US" sz="2000" b="1" dirty="0"/>
                    <a:t>其他：实验现象、问题、疑问和思考</a:t>
                  </a:r>
                  <a:endParaRPr lang="en-US" altLang="zh-CN" sz="1600" b="1" dirty="0"/>
                </a:p>
              </p:txBody>
            </p:sp>
            <p:sp>
              <p:nvSpPr>
                <p:cNvPr id="11" name="矩形 10">
                  <a:extLst>
                    <a:ext uri="{FF2B5EF4-FFF2-40B4-BE49-F238E27FC236}">
                      <a16:creationId xmlns:a16="http://schemas.microsoft.com/office/drawing/2014/main" id="{0C99034A-0006-9E7F-2EC3-42245C4325C0}"/>
                    </a:ext>
                  </a:extLst>
                </p:cNvPr>
                <p:cNvSpPr/>
                <p:nvPr/>
              </p:nvSpPr>
              <p:spPr>
                <a:xfrm>
                  <a:off x="3177915" y="1524080"/>
                  <a:ext cx="4548163" cy="5200998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12838EA4-8659-5CFA-4A5C-C5D4B1A43103}"/>
                  </a:ext>
                </a:extLst>
              </p:cNvPr>
              <p:cNvSpPr/>
              <p:nvPr/>
            </p:nvSpPr>
            <p:spPr>
              <a:xfrm>
                <a:off x="7529338" y="899699"/>
                <a:ext cx="4548163" cy="584775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spAutoFit/>
              </a:bodyPr>
              <a:lstStyle/>
              <a:p>
                <a:r>
                  <a:rPr lang="zh-CN" altLang="en-US" sz="16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时间：</a:t>
                </a:r>
                <a:r>
                  <a:rPr lang="zh-CN" altLang="en-US" sz="1600" u="sng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1600" u="sng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	    </a:t>
                </a:r>
                <a:r>
                  <a:rPr lang="en-US" altLang="zh-CN" sz="16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   </a:t>
                </a:r>
                <a:r>
                  <a:rPr lang="zh-CN" altLang="en-US" sz="16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地点：</a:t>
                </a:r>
                <a:r>
                  <a:rPr lang="en-US" altLang="zh-CN" sz="1600" u="sng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      </a:t>
                </a:r>
                <a:r>
                  <a:rPr lang="en-US" altLang="zh-CN" sz="16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zh-CN" altLang="en-US" sz="16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参与人员：</a:t>
                </a:r>
                <a:endParaRPr lang="en-US" altLang="zh-CN" sz="16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r>
                  <a:rPr lang="zh-CN" altLang="en-US" sz="16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温度：</a:t>
                </a:r>
                <a:r>
                  <a:rPr lang="en-US" altLang="zh-CN" sz="1600" u="sng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       </a:t>
                </a:r>
                <a:r>
                  <a:rPr lang="en-US" altLang="zh-CN" sz="16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   </a:t>
                </a:r>
                <a:r>
                  <a:rPr lang="zh-CN" altLang="en-US" sz="16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湿度：</a:t>
                </a:r>
                <a:r>
                  <a:rPr lang="zh-CN" altLang="en-US" sz="1600" u="sng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      </a:t>
                </a:r>
                <a:r>
                  <a:rPr lang="zh-CN" altLang="en-US" sz="1600" dirty="0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设</a:t>
                </a:r>
                <a:r>
                  <a:rPr lang="zh-CN" altLang="en-US" sz="1600" u="sng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   </a:t>
                </a:r>
                <a:r>
                  <a:rPr lang="zh-CN" altLang="en-US" sz="1600" u="sng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  </a:t>
                </a:r>
                <a:endParaRPr lang="en-US" altLang="zh-CN" sz="1600" u="sng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cxnSp>
            <p:nvCxnSpPr>
              <p:cNvPr id="8" name="直接连接符 7">
                <a:extLst>
                  <a:ext uri="{FF2B5EF4-FFF2-40B4-BE49-F238E27FC236}">
                    <a16:creationId xmlns:a16="http://schemas.microsoft.com/office/drawing/2014/main" id="{DB231187-040B-7C0F-4CE4-6D6ECBF6452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492177" y="1221638"/>
                <a:ext cx="48280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845A1E1A-C509-9352-22CC-613E5312BA51}"/>
                </a:ext>
              </a:extLst>
            </p:cNvPr>
            <p:cNvSpPr/>
            <p:nvPr/>
          </p:nvSpPr>
          <p:spPr>
            <a:xfrm>
              <a:off x="8519253" y="441402"/>
              <a:ext cx="2568332" cy="46166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zh-CN" altLang="en-US" sz="2000" b="1" dirty="0"/>
                <a:t>标题：</a:t>
              </a:r>
              <a:r>
                <a:rPr lang="zh-CN" altLang="en-US" sz="2400" b="1" u="sng" dirty="0"/>
                <a:t>                   </a:t>
              </a:r>
              <a:endParaRPr lang="zh-CN" altLang="en-US" sz="2400" b="0" u="sng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9C0F6E67-9045-37FA-BB8D-D1B95BBD04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2543186"/>
              </p:ext>
            </p:extLst>
          </p:nvPr>
        </p:nvGraphicFramePr>
        <p:xfrm>
          <a:off x="4827054" y="3872850"/>
          <a:ext cx="2245576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4120">
                  <a:extLst>
                    <a:ext uri="{9D8B030D-6E8A-4147-A177-3AD203B41FA5}">
                      <a16:colId xmlns:a16="http://schemas.microsoft.com/office/drawing/2014/main" val="1255600464"/>
                    </a:ext>
                  </a:extLst>
                </a:gridCol>
                <a:gridCol w="558668">
                  <a:extLst>
                    <a:ext uri="{9D8B030D-6E8A-4147-A177-3AD203B41FA5}">
                      <a16:colId xmlns:a16="http://schemas.microsoft.com/office/drawing/2014/main" val="2037349575"/>
                    </a:ext>
                  </a:extLst>
                </a:gridCol>
                <a:gridCol w="561394">
                  <a:extLst>
                    <a:ext uri="{9D8B030D-6E8A-4147-A177-3AD203B41FA5}">
                      <a16:colId xmlns:a16="http://schemas.microsoft.com/office/drawing/2014/main" val="2252645287"/>
                    </a:ext>
                  </a:extLst>
                </a:gridCol>
                <a:gridCol w="561394">
                  <a:extLst>
                    <a:ext uri="{9D8B030D-6E8A-4147-A177-3AD203B41FA5}">
                      <a16:colId xmlns:a16="http://schemas.microsoft.com/office/drawing/2014/main" val="2940601561"/>
                    </a:ext>
                  </a:extLst>
                </a:gridCol>
              </a:tblGrid>
              <a:tr h="30002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3817487"/>
                  </a:ext>
                </a:extLst>
              </a:tr>
              <a:tr h="190003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1497277"/>
                  </a:ext>
                </a:extLst>
              </a:tr>
              <a:tr h="30002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5491220"/>
                  </a:ext>
                </a:extLst>
              </a:tr>
            </a:tbl>
          </a:graphicData>
        </a:graphic>
      </p:graphicFrame>
      <p:sp>
        <p:nvSpPr>
          <p:cNvPr id="17" name="文本框 16">
            <a:extLst>
              <a:ext uri="{FF2B5EF4-FFF2-40B4-BE49-F238E27FC236}">
                <a16:creationId xmlns:a16="http://schemas.microsoft.com/office/drawing/2014/main" id="{9BAB491A-FD9A-53E9-8208-66D9D09BF339}"/>
              </a:ext>
            </a:extLst>
          </p:cNvPr>
          <p:cNvSpPr txBox="1"/>
          <p:nvPr/>
        </p:nvSpPr>
        <p:spPr>
          <a:xfrm>
            <a:off x="5029988" y="3592759"/>
            <a:ext cx="19159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rPr>
              <a:t>表序号：</a:t>
            </a:r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</a:rPr>
              <a:t>……</a:t>
            </a:r>
            <a:endParaRPr lang="zh-CN" alt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2715E6D-DC8A-E544-25A8-099B00110248}"/>
              </a:ext>
            </a:extLst>
          </p:cNvPr>
          <p:cNvSpPr txBox="1"/>
          <p:nvPr/>
        </p:nvSpPr>
        <p:spPr>
          <a:xfrm>
            <a:off x="0" y="1706161"/>
            <a:ext cx="3336018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eaLnBrk="1" hangingPunct="1">
              <a:spcAft>
                <a:spcPts val="2400"/>
              </a:spcAft>
              <a:buFont typeface="Wingdings" panose="05000000000000000000" pitchFamily="2" charset="2"/>
              <a:buChar char="p"/>
            </a:pPr>
            <a:r>
              <a:rPr lang="zh-CN" altLang="en-US" sz="2400" b="1" dirty="0"/>
              <a:t>对于不同类型的实验，实验预习不局限于示例的形式和内容。</a:t>
            </a:r>
            <a:endParaRPr lang="en-US" altLang="zh-CN" sz="2400" b="1" dirty="0"/>
          </a:p>
          <a:p>
            <a:pPr marL="342900" indent="-342900" eaLnBrk="1" hangingPunct="1">
              <a:spcAft>
                <a:spcPts val="2400"/>
              </a:spcAft>
              <a:buFont typeface="Wingdings" panose="05000000000000000000" pitchFamily="2" charset="2"/>
              <a:buChar char="p"/>
            </a:pPr>
            <a:r>
              <a:rPr lang="zh-CN" altLang="en-US" sz="2400" b="1" dirty="0"/>
              <a:t>根据具体实验的特点，简要记录实验准备的必要内容即可。</a:t>
            </a:r>
            <a:endParaRPr lang="en-US" altLang="zh-CN" sz="2400" b="1" dirty="0"/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919F6617-4F9A-F315-1C46-ED39D88D9E35}"/>
              </a:ext>
            </a:extLst>
          </p:cNvPr>
          <p:cNvGrpSpPr/>
          <p:nvPr/>
        </p:nvGrpSpPr>
        <p:grpSpPr>
          <a:xfrm>
            <a:off x="6620044" y="516632"/>
            <a:ext cx="5579212" cy="6102135"/>
            <a:chOff x="6620044" y="516632"/>
            <a:chExt cx="5579212" cy="6102135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21047AC0-4347-A4FE-FC44-EC7FB2C1D24F}"/>
                </a:ext>
              </a:extLst>
            </p:cNvPr>
            <p:cNvSpPr txBox="1"/>
            <p:nvPr/>
          </p:nvSpPr>
          <p:spPr>
            <a:xfrm>
              <a:off x="8281813" y="516632"/>
              <a:ext cx="3888242" cy="15696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6">
                  <a:lumMod val="5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schemeClr val="accent6">
                      <a:lumMod val="75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设计、绘制实验数据记录表：</a:t>
              </a:r>
              <a:endParaRPr lang="en-US" altLang="zh-CN" sz="2400" b="1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zh-CN" altLang="en-US" sz="2400" b="1" dirty="0">
                  <a:solidFill>
                    <a:schemeClr val="accent6">
                      <a:lumMod val="75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表头</a:t>
              </a:r>
              <a:endParaRPr lang="en-US" altLang="zh-CN" sz="2400" b="1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zh-CN" altLang="en-US" sz="2400" b="1" dirty="0">
                  <a:solidFill>
                    <a:schemeClr val="accent6">
                      <a:lumMod val="75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标注数据单位</a:t>
              </a:r>
              <a:endParaRPr lang="en-US" altLang="zh-CN" sz="2400" b="1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zh-CN" altLang="en-US" sz="2400" b="1" dirty="0">
                  <a:solidFill>
                    <a:schemeClr val="accent6">
                      <a:lumMod val="75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小数点后保留位数一致</a:t>
              </a:r>
            </a:p>
          </p:txBody>
        </p:sp>
        <p:sp>
          <p:nvSpPr>
            <p:cNvPr id="18" name="箭头: 圆角右 17">
              <a:extLst>
                <a:ext uri="{FF2B5EF4-FFF2-40B4-BE49-F238E27FC236}">
                  <a16:creationId xmlns:a16="http://schemas.microsoft.com/office/drawing/2014/main" id="{9C036B08-F800-3E4D-5C5A-C292CD5C7382}"/>
                </a:ext>
              </a:extLst>
            </p:cNvPr>
            <p:cNvSpPr/>
            <p:nvPr/>
          </p:nvSpPr>
          <p:spPr>
            <a:xfrm>
              <a:off x="6620044" y="1178664"/>
              <a:ext cx="1609414" cy="2610483"/>
            </a:xfrm>
            <a:prstGeom prst="bentArrow">
              <a:avLst>
                <a:gd name="adj1" fmla="val 10354"/>
                <a:gd name="adj2" fmla="val 16604"/>
                <a:gd name="adj3" fmla="val 12079"/>
                <a:gd name="adj4" fmla="val 47133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3246B08B-83D6-7226-0288-A6F21F38987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05086" y="2537537"/>
              <a:ext cx="3494170" cy="871342"/>
            </a:xfrm>
            <a:prstGeom prst="rect">
              <a:avLst/>
            </a:prstGeom>
            <a:ln>
              <a:noFill/>
            </a:ln>
          </p:spPr>
        </p:pic>
        <p:pic>
          <p:nvPicPr>
            <p:cNvPr id="25" name="图片 24">
              <a:extLst>
                <a:ext uri="{FF2B5EF4-FFF2-40B4-BE49-F238E27FC236}">
                  <a16:creationId xmlns:a16="http://schemas.microsoft.com/office/drawing/2014/main" id="{89089039-6759-4B8E-90ED-00492B241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778240" y="3762553"/>
              <a:ext cx="3242076" cy="2856214"/>
            </a:xfrm>
            <a:prstGeom prst="rect">
              <a:avLst/>
            </a:prstGeom>
            <a:ln>
              <a:noFill/>
            </a:ln>
          </p:spPr>
        </p:pic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BB277AEC-472C-4C04-681C-16061AD201EA}"/>
                </a:ext>
              </a:extLst>
            </p:cNvPr>
            <p:cNvSpPr txBox="1"/>
            <p:nvPr/>
          </p:nvSpPr>
          <p:spPr>
            <a:xfrm>
              <a:off x="8010983" y="2436451"/>
              <a:ext cx="76725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chemeClr val="accent6">
                      <a:lumMod val="50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例</a:t>
              </a:r>
              <a:r>
                <a:rPr lang="en-US" altLang="zh-CN" sz="2400" b="1" dirty="0">
                  <a:solidFill>
                    <a:schemeClr val="accent6">
                      <a:lumMod val="50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r>
                <a:rPr lang="zh-CN" altLang="en-US" sz="2400" b="1" dirty="0">
                  <a:solidFill>
                    <a:schemeClr val="accent6">
                      <a:lumMod val="50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：</a:t>
              </a: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D5952B76-4A2B-0CFE-3677-13917D16D285}"/>
                </a:ext>
              </a:extLst>
            </p:cNvPr>
            <p:cNvSpPr txBox="1"/>
            <p:nvPr/>
          </p:nvSpPr>
          <p:spPr>
            <a:xfrm>
              <a:off x="8010982" y="3762553"/>
              <a:ext cx="76725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chemeClr val="accent6">
                      <a:lumMod val="50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例</a:t>
              </a:r>
              <a:r>
                <a:rPr lang="en-US" altLang="zh-CN" sz="2400" b="1" dirty="0">
                  <a:solidFill>
                    <a:schemeClr val="accent6">
                      <a:lumMod val="50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r>
                <a:rPr lang="zh-CN" altLang="en-US" sz="2400" b="1" dirty="0">
                  <a:solidFill>
                    <a:schemeClr val="accent6">
                      <a:lumMod val="50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：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1477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F9838-96EE-F3D2-97AF-3CCED5E0D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4B24F76-7F3E-86DD-F46B-5487521891C4}"/>
              </a:ext>
            </a:extLst>
          </p:cNvPr>
          <p:cNvSpPr/>
          <p:nvPr/>
        </p:nvSpPr>
        <p:spPr>
          <a:xfrm>
            <a:off x="1" y="561912"/>
            <a:ext cx="416966" cy="740193"/>
          </a:xfrm>
          <a:prstGeom prst="rect">
            <a:avLst/>
          </a:prstGeom>
          <a:solidFill>
            <a:srgbClr val="003F88"/>
          </a:solidFill>
          <a:ln>
            <a:solidFill>
              <a:srgbClr val="003F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8CB3118-4770-48ED-5779-8DAA6B441882}"/>
              </a:ext>
            </a:extLst>
          </p:cNvPr>
          <p:cNvSpPr txBox="1"/>
          <p:nvPr/>
        </p:nvSpPr>
        <p:spPr>
          <a:xfrm>
            <a:off x="541078" y="608842"/>
            <a:ext cx="88808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实验预习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080308C-38E0-2979-C4CA-981EEC613D71}"/>
              </a:ext>
            </a:extLst>
          </p:cNvPr>
          <p:cNvSpPr txBox="1"/>
          <p:nvPr/>
        </p:nvSpPr>
        <p:spPr>
          <a:xfrm>
            <a:off x="541078" y="1710543"/>
            <a:ext cx="11645456" cy="37087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spcAft>
                <a:spcPts val="2400"/>
              </a:spcAft>
              <a:buFont typeface="Wingdings" panose="05000000000000000000" pitchFamily="2" charset="2"/>
              <a:buChar char="p"/>
            </a:pP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课前抽查，期末上交；</a:t>
            </a:r>
            <a:endParaRPr lang="en-US" altLang="zh-CN" sz="36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571500" indent="-571500">
              <a:spcAft>
                <a:spcPts val="1800"/>
              </a:spcAft>
              <a:buFont typeface="Wingdings" panose="05000000000000000000" pitchFamily="2" charset="2"/>
              <a:buChar char="p"/>
            </a:pPr>
            <a:r>
              <a:rPr lang="zh-CN" altLang="zh-CN" sz="3600" dirty="0">
                <a:latin typeface="黑体" panose="02010609060101010101" pitchFamily="49" charset="-122"/>
                <a:ea typeface="黑体" panose="02010609060101010101" pitchFamily="49" charset="-122"/>
              </a:rPr>
              <a:t>预习参考：</a:t>
            </a:r>
            <a:endParaRPr lang="en-US" altLang="zh-CN" sz="36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1028700" lvl="1" indent="-571500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US" altLang="zh-CN" sz="3600" dirty="0">
                <a:latin typeface="黑体" panose="02010609060101010101" pitchFamily="49" charset="-122"/>
                <a:ea typeface="黑体" panose="02010609060101010101" pitchFamily="49" charset="-122"/>
              </a:rPr>
              <a:t>《</a:t>
            </a:r>
            <a:r>
              <a:rPr lang="zh-CN" altLang="zh-CN" sz="3600" dirty="0">
                <a:latin typeface="黑体" panose="02010609060101010101" pitchFamily="49" charset="-122"/>
                <a:ea typeface="黑体" panose="02010609060101010101" pitchFamily="49" charset="-122"/>
              </a:rPr>
              <a:t>电子电路设计实验</a:t>
            </a:r>
            <a:r>
              <a:rPr lang="en-US" altLang="zh-CN" sz="3600" dirty="0">
                <a:latin typeface="黑体" panose="02010609060101010101" pitchFamily="49" charset="-122"/>
                <a:ea typeface="黑体" panose="02010609060101010101" pitchFamily="49" charset="-122"/>
              </a:rPr>
              <a:t>I</a:t>
            </a:r>
            <a:r>
              <a:rPr lang="zh-CN" altLang="zh-CN" sz="3600" dirty="0">
                <a:latin typeface="黑体" panose="02010609060101010101" pitchFamily="49" charset="-122"/>
                <a:ea typeface="黑体" panose="02010609060101010101" pitchFamily="49" charset="-122"/>
              </a:rPr>
              <a:t>讲义</a:t>
            </a:r>
            <a:r>
              <a:rPr lang="en-US" altLang="zh-CN" sz="3600" dirty="0">
                <a:latin typeface="黑体" panose="02010609060101010101" pitchFamily="49" charset="-122"/>
                <a:ea typeface="黑体" panose="02010609060101010101" pitchFamily="49" charset="-122"/>
              </a:rPr>
              <a:t>》</a:t>
            </a: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endParaRPr lang="en-US" altLang="zh-CN" sz="36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1028700" lvl="1" indent="-571500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US" altLang="zh-CN" sz="3600" dirty="0">
                <a:latin typeface="黑体" panose="02010609060101010101" pitchFamily="49" charset="-122"/>
                <a:ea typeface="黑体" panose="02010609060101010101" pitchFamily="49" charset="-122"/>
              </a:rPr>
              <a:t>PPT</a:t>
            </a: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endParaRPr lang="en-US" altLang="zh-CN" sz="36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1028700" lvl="1" indent="-571500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US" altLang="zh-CN" sz="3600" dirty="0">
                <a:latin typeface="黑体" panose="02010609060101010101" pitchFamily="49" charset="-122"/>
                <a:ea typeface="黑体" panose="02010609060101010101" pitchFamily="49" charset="-122"/>
              </a:rPr>
              <a:t>MOOC</a:t>
            </a: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和智慧树。</a:t>
            </a:r>
            <a:endParaRPr lang="zh-CN" altLang="zh-CN" sz="3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8200A42B-868A-C64C-EE30-546F1B2B7DD5}"/>
              </a:ext>
            </a:extLst>
          </p:cNvPr>
          <p:cNvGrpSpPr/>
          <p:nvPr/>
        </p:nvGrpSpPr>
        <p:grpSpPr>
          <a:xfrm>
            <a:off x="8439826" y="1971824"/>
            <a:ext cx="2459821" cy="2212471"/>
            <a:chOff x="8435137" y="1239658"/>
            <a:chExt cx="3276498" cy="4063095"/>
          </a:xfrm>
        </p:grpSpPr>
        <p:pic>
          <p:nvPicPr>
            <p:cNvPr id="29" name="图片 28">
              <a:extLst>
                <a:ext uri="{FF2B5EF4-FFF2-40B4-BE49-F238E27FC236}">
                  <a16:creationId xmlns:a16="http://schemas.microsoft.com/office/drawing/2014/main" id="{51363F52-D710-FAC3-095B-0A291B73FB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435137" y="1239658"/>
              <a:ext cx="3276498" cy="4063095"/>
            </a:xfrm>
            <a:prstGeom prst="rect">
              <a:avLst/>
            </a:prstGeom>
          </p:spPr>
        </p:pic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6B59CD7D-1E25-B58C-D1BB-7415A886BB26}"/>
                </a:ext>
              </a:extLst>
            </p:cNvPr>
            <p:cNvCxnSpPr/>
            <p:nvPr/>
          </p:nvCxnSpPr>
          <p:spPr>
            <a:xfrm>
              <a:off x="10007194" y="3899002"/>
              <a:ext cx="83423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E181F744-CC15-7F26-98D8-87B215DDE534}"/>
                </a:ext>
              </a:extLst>
            </p:cNvPr>
            <p:cNvCxnSpPr/>
            <p:nvPr/>
          </p:nvCxnSpPr>
          <p:spPr>
            <a:xfrm>
              <a:off x="10007194" y="4139185"/>
              <a:ext cx="83423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E39D6CCD-AD0C-32C1-467A-3752A106B18F}"/>
                </a:ext>
              </a:extLst>
            </p:cNvPr>
            <p:cNvCxnSpPr/>
            <p:nvPr/>
          </p:nvCxnSpPr>
          <p:spPr>
            <a:xfrm>
              <a:off x="10007194" y="4387901"/>
              <a:ext cx="83423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980994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14AEC-502F-E853-074B-0F30CA52A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0103394-028F-A575-F85F-0665151BAE4A}"/>
              </a:ext>
            </a:extLst>
          </p:cNvPr>
          <p:cNvSpPr/>
          <p:nvPr/>
        </p:nvSpPr>
        <p:spPr>
          <a:xfrm>
            <a:off x="1" y="561912"/>
            <a:ext cx="416966" cy="740193"/>
          </a:xfrm>
          <a:prstGeom prst="rect">
            <a:avLst/>
          </a:prstGeom>
          <a:solidFill>
            <a:srgbClr val="003F88"/>
          </a:solidFill>
          <a:ln>
            <a:solidFill>
              <a:srgbClr val="003F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746B5A9-AD06-F1D5-7C9B-198865632736}"/>
              </a:ext>
            </a:extLst>
          </p:cNvPr>
          <p:cNvSpPr txBox="1"/>
          <p:nvPr/>
        </p:nvSpPr>
        <p:spPr>
          <a:xfrm>
            <a:off x="700918" y="1705108"/>
            <a:ext cx="11369164" cy="1624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请假</a:t>
            </a:r>
            <a:endParaRPr lang="en-US" altLang="zh-CN" sz="360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遇特殊情况，请提前请假。</a:t>
            </a:r>
            <a:endParaRPr lang="en-US" altLang="zh-CN" sz="360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9479BBE-9F93-88A7-41A5-65A2382FD26D}"/>
              </a:ext>
            </a:extLst>
          </p:cNvPr>
          <p:cNvSpPr txBox="1"/>
          <p:nvPr/>
        </p:nvSpPr>
        <p:spPr>
          <a:xfrm>
            <a:off x="541079" y="608842"/>
            <a:ext cx="68672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请假和补实验</a:t>
            </a:r>
          </a:p>
        </p:txBody>
      </p:sp>
    </p:spTree>
    <p:extLst>
      <p:ext uri="{BB962C8B-B14F-4D97-AF65-F5344CB8AC3E}">
        <p14:creationId xmlns:p14="http://schemas.microsoft.com/office/powerpoint/2010/main" val="5321831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6218E73E-643F-A957-F60A-AF6FB16B46FB}"/>
              </a:ext>
            </a:extLst>
          </p:cNvPr>
          <p:cNvSpPr/>
          <p:nvPr/>
        </p:nvSpPr>
        <p:spPr>
          <a:xfrm>
            <a:off x="1" y="561912"/>
            <a:ext cx="416966" cy="740193"/>
          </a:xfrm>
          <a:prstGeom prst="rect">
            <a:avLst/>
          </a:prstGeom>
          <a:solidFill>
            <a:srgbClr val="003F88"/>
          </a:solidFill>
          <a:ln>
            <a:solidFill>
              <a:srgbClr val="003F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AD00D4D-5CF2-822B-8EAB-A2D93882B418}"/>
              </a:ext>
            </a:extLst>
          </p:cNvPr>
          <p:cNvSpPr txBox="1"/>
          <p:nvPr/>
        </p:nvSpPr>
        <p:spPr>
          <a:xfrm>
            <a:off x="693602" y="1683162"/>
            <a:ext cx="11369164" cy="4948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3600" u="sng" dirty="0"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做好预习，提高课堂效率</a:t>
            </a:r>
            <a:endParaRPr lang="en-US" altLang="zh-CN" sz="3600" u="sng" dirty="0">
              <a:highlight>
                <a:srgbClr val="FFFF00"/>
              </a:highlight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36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1.</a:t>
            </a: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延迟，</a:t>
            </a:r>
            <a:r>
              <a:rPr lang="en-US" altLang="zh-CN" sz="36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6/7</a:t>
            </a: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节班级可延迟到</a:t>
            </a:r>
            <a:r>
              <a:rPr lang="en-US" altLang="zh-CN" sz="36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16:00</a:t>
            </a:r>
          </a:p>
          <a:p>
            <a:pPr>
              <a:lnSpc>
                <a:spcPct val="150000"/>
              </a:lnSpc>
            </a:pPr>
            <a:r>
              <a:rPr lang="en-US" altLang="zh-CN" sz="36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		9/10</a:t>
            </a: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节最多延迟至</a:t>
            </a:r>
            <a:r>
              <a:rPr lang="en-US" altLang="zh-CN" sz="36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18:50</a:t>
            </a:r>
          </a:p>
          <a:p>
            <a:pPr>
              <a:lnSpc>
                <a:spcPct val="150000"/>
              </a:lnSpc>
            </a:pPr>
            <a:r>
              <a:rPr lang="en-US" altLang="zh-CN" sz="36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2.</a:t>
            </a: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优先选择周一、周二下午补实验</a:t>
            </a:r>
            <a:endParaRPr lang="en-US" altLang="zh-CN" sz="360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（周一、周二，</a:t>
            </a:r>
            <a:r>
              <a:rPr lang="en-US" altLang="zh-CN" sz="36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个班同步课程）。</a:t>
            </a:r>
            <a:endParaRPr lang="en-US" altLang="zh-CN" sz="360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36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3.</a:t>
            </a: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预约其它时间（ 周一至周五 </a:t>
            </a:r>
            <a:r>
              <a:rPr lang="en-US" altLang="zh-CN" sz="36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8:30-16:30</a:t>
            </a: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）。</a:t>
            </a:r>
            <a:endParaRPr lang="en-US" altLang="zh-CN" sz="360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DCF1C596-75FC-7745-F435-822B0D4B70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3112" y="2733545"/>
            <a:ext cx="4398888" cy="2516777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BED23F9E-210D-91DA-1C90-ECB70BF63159}"/>
              </a:ext>
            </a:extLst>
          </p:cNvPr>
          <p:cNvSpPr txBox="1"/>
          <p:nvPr/>
        </p:nvSpPr>
        <p:spPr>
          <a:xfrm>
            <a:off x="541079" y="608842"/>
            <a:ext cx="68672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请假和补实验</a:t>
            </a:r>
          </a:p>
        </p:txBody>
      </p:sp>
    </p:spTree>
    <p:extLst>
      <p:ext uri="{BB962C8B-B14F-4D97-AF65-F5344CB8AC3E}">
        <p14:creationId xmlns:p14="http://schemas.microsoft.com/office/powerpoint/2010/main" val="856410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6218E73E-643F-A957-F60A-AF6FB16B46FB}"/>
              </a:ext>
            </a:extLst>
          </p:cNvPr>
          <p:cNvSpPr/>
          <p:nvPr/>
        </p:nvSpPr>
        <p:spPr>
          <a:xfrm>
            <a:off x="1" y="561912"/>
            <a:ext cx="416966" cy="740193"/>
          </a:xfrm>
          <a:prstGeom prst="rect">
            <a:avLst/>
          </a:prstGeom>
          <a:solidFill>
            <a:srgbClr val="003F88"/>
          </a:solidFill>
          <a:ln>
            <a:solidFill>
              <a:srgbClr val="003F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AD00D4D-5CF2-822B-8EAB-A2D93882B418}"/>
              </a:ext>
            </a:extLst>
          </p:cNvPr>
          <p:cNvSpPr txBox="1"/>
          <p:nvPr/>
        </p:nvSpPr>
        <p:spPr>
          <a:xfrm>
            <a:off x="541079" y="1822493"/>
            <a:ext cx="10313835" cy="32864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答疑：</a:t>
            </a:r>
            <a:endParaRPr lang="en-US" altLang="zh-CN" sz="360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36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1.</a:t>
            </a:r>
            <a:r>
              <a:rPr lang="zh-CN" altLang="en-US" sz="3600" u="sng" dirty="0"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推荐在钉钉</a:t>
            </a:r>
            <a:r>
              <a:rPr lang="zh-CN" altLang="en-US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课程群</a:t>
            </a:r>
            <a:r>
              <a:rPr lang="zh-CN" altLang="en-US" sz="3600" u="sng" dirty="0"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提问！</a:t>
            </a: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共享解答、提高效率、 </a:t>
            </a:r>
            <a:endParaRPr lang="en-US" altLang="zh-CN" sz="360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36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互帮互助。</a:t>
            </a:r>
            <a:endParaRPr lang="en-US" altLang="zh-CN" sz="360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en-US" altLang="zh-CN" sz="36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2.</a:t>
            </a: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软件安装问题，当面解决，不建议线上答疑。</a:t>
            </a:r>
            <a:endParaRPr lang="en-US" altLang="zh-CN" sz="360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74F3057-7818-F517-3652-0AA8A65A5746}"/>
              </a:ext>
            </a:extLst>
          </p:cNvPr>
          <p:cNvSpPr txBox="1"/>
          <p:nvPr/>
        </p:nvSpPr>
        <p:spPr>
          <a:xfrm>
            <a:off x="541079" y="608842"/>
            <a:ext cx="68672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答疑</a:t>
            </a:r>
          </a:p>
        </p:txBody>
      </p:sp>
    </p:spTree>
    <p:extLst>
      <p:ext uri="{BB962C8B-B14F-4D97-AF65-F5344CB8AC3E}">
        <p14:creationId xmlns:p14="http://schemas.microsoft.com/office/powerpoint/2010/main" val="34895769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6218E73E-643F-A957-F60A-AF6FB16B46FB}"/>
              </a:ext>
            </a:extLst>
          </p:cNvPr>
          <p:cNvSpPr/>
          <p:nvPr/>
        </p:nvSpPr>
        <p:spPr>
          <a:xfrm>
            <a:off x="1" y="561912"/>
            <a:ext cx="416966" cy="740193"/>
          </a:xfrm>
          <a:prstGeom prst="rect">
            <a:avLst/>
          </a:prstGeom>
          <a:solidFill>
            <a:srgbClr val="003F88"/>
          </a:solidFill>
          <a:ln>
            <a:solidFill>
              <a:srgbClr val="003F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347718B-9E21-D081-172E-2851BAF23170}"/>
              </a:ext>
            </a:extLst>
          </p:cNvPr>
          <p:cNvSpPr txBox="1"/>
          <p:nvPr/>
        </p:nvSpPr>
        <p:spPr>
          <a:xfrm>
            <a:off x="541079" y="608842"/>
            <a:ext cx="68672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排查问题的思路：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32DAA75-59D9-B3B2-D3A7-6459D50ADE81}"/>
              </a:ext>
            </a:extLst>
          </p:cNvPr>
          <p:cNvSpPr txBox="1"/>
          <p:nvPr/>
        </p:nvSpPr>
        <p:spPr>
          <a:xfrm>
            <a:off x="-78658" y="1922085"/>
            <a:ext cx="12270657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pPr marL="571500" indent="-571500" algn="l">
              <a:spcAft>
                <a:spcPts val="1800"/>
              </a:spcAft>
              <a:buFont typeface="Wingdings" panose="05000000000000000000" pitchFamily="2" charset="2"/>
              <a:buChar char="p"/>
            </a:pP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实验中遇到困难：逐一排查，多思考，尝试自己解决问题。</a:t>
            </a:r>
            <a:endParaRPr lang="en-US" altLang="zh-CN" sz="36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571500" indent="-571500" algn="l">
              <a:spcAft>
                <a:spcPts val="1800"/>
              </a:spcAft>
              <a:buFont typeface="Wingdings" panose="05000000000000000000" pitchFamily="2" charset="2"/>
              <a:buChar char="p"/>
            </a:pP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排查顺序：</a:t>
            </a:r>
            <a:r>
              <a:rPr lang="en-US" altLang="zh-CN" sz="3600" dirty="0">
                <a:latin typeface="黑体" panose="02010609060101010101" pitchFamily="49" charset="-122"/>
                <a:ea typeface="黑体" panose="02010609060101010101" pitchFamily="49" charset="-122"/>
              </a:rPr>
              <a:t>【</a:t>
            </a: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供电</a:t>
            </a:r>
            <a:r>
              <a:rPr lang="en-US" altLang="zh-CN" sz="3600" dirty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→</a:t>
            </a: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电路连接</a:t>
            </a:r>
            <a:r>
              <a:rPr lang="en-US" altLang="zh-CN" sz="3600" dirty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→</a:t>
            </a: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测量各</a:t>
            </a:r>
            <a:r>
              <a:rPr lang="zh-CN" altLang="en-US" sz="3600" u="sng" dirty="0">
                <a:latin typeface="黑体" panose="02010609060101010101" pitchFamily="49" charset="-122"/>
                <a:ea typeface="黑体" panose="02010609060101010101" pitchFamily="49" charset="-122"/>
              </a:rPr>
              <a:t>单元模块</a:t>
            </a: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的电压、电流</a:t>
            </a:r>
            <a:r>
              <a:rPr lang="en-US" altLang="zh-CN" sz="3600" dirty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→</a:t>
            </a: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元件焊接点接触情况</a:t>
            </a:r>
            <a:r>
              <a:rPr lang="en-US" altLang="zh-CN" sz="3600" dirty="0">
                <a:latin typeface="黑体" panose="02010609060101010101" pitchFamily="49" charset="-122"/>
                <a:ea typeface="黑体" panose="02010609060101010101" pitchFamily="49" charset="-122"/>
              </a:rPr>
              <a:t>】</a:t>
            </a:r>
          </a:p>
          <a:p>
            <a:pPr marL="571500" indent="-571500" algn="l">
              <a:buFont typeface="Wingdings" panose="05000000000000000000" pitchFamily="2" charset="2"/>
              <a:buChar char="p"/>
            </a:pPr>
            <a:r>
              <a:rPr lang="en-US" altLang="zh-CN" sz="36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人一组做实验，合理分工，交换任务。</a:t>
            </a:r>
            <a:endParaRPr lang="en-US" altLang="zh-CN" sz="3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65754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6218E73E-643F-A957-F60A-AF6FB16B46FB}"/>
              </a:ext>
            </a:extLst>
          </p:cNvPr>
          <p:cNvSpPr/>
          <p:nvPr/>
        </p:nvSpPr>
        <p:spPr>
          <a:xfrm>
            <a:off x="1" y="561912"/>
            <a:ext cx="416966" cy="740193"/>
          </a:xfrm>
          <a:prstGeom prst="rect">
            <a:avLst/>
          </a:prstGeom>
          <a:solidFill>
            <a:srgbClr val="003F88"/>
          </a:solidFill>
          <a:ln>
            <a:solidFill>
              <a:srgbClr val="003F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347718B-9E21-D081-172E-2851BAF23170}"/>
              </a:ext>
            </a:extLst>
          </p:cNvPr>
          <p:cNvSpPr txBox="1"/>
          <p:nvPr/>
        </p:nvSpPr>
        <p:spPr>
          <a:xfrm>
            <a:off x="541079" y="608842"/>
            <a:ext cx="68672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考试和成绩组成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23C02F2-6C00-DCF9-A78C-DDEEE3771AE5}"/>
              </a:ext>
            </a:extLst>
          </p:cNvPr>
          <p:cNvSpPr txBox="1"/>
          <p:nvPr/>
        </p:nvSpPr>
        <p:spPr>
          <a:xfrm>
            <a:off x="314232" y="1791649"/>
            <a:ext cx="10649135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3600" b="1" dirty="0">
                <a:sym typeface="Wingdings" panose="05000000000000000000" pitchFamily="2" charset="2"/>
              </a:rPr>
              <a:t> 考试：</a:t>
            </a:r>
            <a:endParaRPr lang="en-US" altLang="zh-CN" sz="3600" b="1" dirty="0">
              <a:sym typeface="Wingdings" panose="05000000000000000000" pitchFamily="2" charset="2"/>
            </a:endParaRPr>
          </a:p>
          <a:p>
            <a:r>
              <a:rPr lang="en-US" altLang="zh-CN" sz="3600" b="1" dirty="0">
                <a:sym typeface="Wingdings" panose="05000000000000000000" pitchFamily="2" charset="2"/>
              </a:rPr>
              <a:t>	</a:t>
            </a:r>
            <a:r>
              <a:rPr lang="zh-CN" altLang="en-US" sz="3600" b="1" dirty="0">
                <a:sym typeface="Wingdings" panose="05000000000000000000" pitchFamily="2" charset="2"/>
              </a:rPr>
              <a:t>一人一组，分批考试；</a:t>
            </a:r>
            <a:endParaRPr lang="en-US" altLang="zh-CN" sz="3600" b="1" dirty="0">
              <a:sym typeface="Wingdings" panose="05000000000000000000" pitchFamily="2" charset="2"/>
            </a:endParaRPr>
          </a:p>
          <a:p>
            <a:r>
              <a:rPr lang="en-US" altLang="zh-CN" sz="3600" b="1" dirty="0">
                <a:sym typeface="Wingdings" panose="05000000000000000000" pitchFamily="2" charset="2"/>
              </a:rPr>
              <a:t>	</a:t>
            </a:r>
            <a:r>
              <a:rPr lang="zh-CN" altLang="en-US" sz="3600" b="1" dirty="0">
                <a:sym typeface="Wingdings" panose="05000000000000000000" pitchFamily="2" charset="2"/>
              </a:rPr>
              <a:t>现场进行计算和操作；</a:t>
            </a:r>
            <a:endParaRPr lang="en-US" altLang="zh-CN" sz="3600" b="1" dirty="0">
              <a:sym typeface="Wingdings" panose="05000000000000000000" pitchFamily="2" charset="2"/>
            </a:endParaRPr>
          </a:p>
          <a:p>
            <a:endParaRPr lang="en-US" altLang="zh-CN" sz="3600" b="1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3600" b="1" dirty="0">
                <a:sym typeface="Wingdings" panose="05000000000000000000" pitchFamily="2" charset="2"/>
              </a:rPr>
              <a:t>成绩组成：</a:t>
            </a:r>
            <a:endParaRPr lang="en-US" altLang="zh-CN" sz="3600" b="1" dirty="0">
              <a:sym typeface="Wingdings" panose="05000000000000000000" pitchFamily="2" charset="2"/>
            </a:endParaRPr>
          </a:p>
          <a:p>
            <a:r>
              <a:rPr lang="en-US" altLang="zh-CN" sz="3600" b="1" dirty="0">
                <a:sym typeface="Wingdings" panose="05000000000000000000" pitchFamily="2" charset="2"/>
              </a:rPr>
              <a:t>	60% </a:t>
            </a:r>
            <a:r>
              <a:rPr lang="zh-CN" altLang="en-US" sz="3600" b="1" dirty="0">
                <a:sym typeface="Wingdings" panose="05000000000000000000" pitchFamily="2" charset="2"/>
              </a:rPr>
              <a:t>实验报告</a:t>
            </a:r>
            <a:endParaRPr lang="en-US" altLang="zh-CN" sz="3600" b="1" dirty="0">
              <a:sym typeface="Wingdings" panose="05000000000000000000" pitchFamily="2" charset="2"/>
            </a:endParaRPr>
          </a:p>
          <a:p>
            <a:r>
              <a:rPr lang="en-US" altLang="zh-CN" sz="3600" b="1" dirty="0">
                <a:sym typeface="Wingdings" panose="05000000000000000000" pitchFamily="2" charset="2"/>
              </a:rPr>
              <a:t>	20%</a:t>
            </a:r>
            <a:r>
              <a:rPr lang="zh-CN" altLang="en-US" sz="3600" b="1" dirty="0">
                <a:sym typeface="Wingdings" panose="05000000000000000000" pitchFamily="2" charset="2"/>
              </a:rPr>
              <a:t>考试</a:t>
            </a:r>
            <a:endParaRPr lang="en-US" altLang="zh-CN" sz="3600" b="1" dirty="0">
              <a:sym typeface="Wingdings" panose="05000000000000000000" pitchFamily="2" charset="2"/>
            </a:endParaRPr>
          </a:p>
          <a:p>
            <a:r>
              <a:rPr lang="en-US" altLang="zh-CN" sz="3600" b="1" dirty="0">
                <a:sym typeface="Wingdings" panose="05000000000000000000" pitchFamily="2" charset="2"/>
              </a:rPr>
              <a:t>	10%</a:t>
            </a:r>
            <a:r>
              <a:rPr lang="zh-CN" altLang="en-US" sz="3600" b="1" dirty="0">
                <a:sym typeface="Wingdings" panose="05000000000000000000" pitchFamily="2" charset="2"/>
              </a:rPr>
              <a:t>预习</a:t>
            </a:r>
            <a:endParaRPr lang="en-US" altLang="zh-CN" sz="3600" b="1" dirty="0">
              <a:sym typeface="Wingdings" panose="05000000000000000000" pitchFamily="2" charset="2"/>
            </a:endParaRPr>
          </a:p>
          <a:p>
            <a:r>
              <a:rPr lang="en-US" altLang="zh-CN" sz="3600" b="1" dirty="0">
                <a:sym typeface="Wingdings" panose="05000000000000000000" pitchFamily="2" charset="2"/>
              </a:rPr>
              <a:t>	10%</a:t>
            </a:r>
            <a:r>
              <a:rPr lang="zh-CN" altLang="en-US" sz="3600" b="1" dirty="0">
                <a:sym typeface="Wingdings" panose="05000000000000000000" pitchFamily="2" charset="2"/>
              </a:rPr>
              <a:t>态度</a:t>
            </a:r>
            <a:endParaRPr lang="en-US" altLang="zh-CN" sz="3600" b="1" dirty="0">
              <a:sym typeface="Wingdings" panose="05000000000000000000" pitchFamily="2" charset="2"/>
            </a:endParaRPr>
          </a:p>
        </p:txBody>
      </p:sp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DCF36501-A970-A79E-6FB7-6A8218033B4C}"/>
              </a:ext>
            </a:extLst>
          </p:cNvPr>
          <p:cNvGraphicFramePr/>
          <p:nvPr/>
        </p:nvGraphicFramePr>
        <p:xfrm>
          <a:off x="5638799" y="327970"/>
          <a:ext cx="6145163" cy="56928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5141435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19BE24CD-5033-C5AD-61CF-40A3675D43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979" y="563590"/>
            <a:ext cx="2998134" cy="5436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75499608-8549-486A-7CAD-F2F09855E6B6}"/>
              </a:ext>
            </a:extLst>
          </p:cNvPr>
          <p:cNvGrpSpPr/>
          <p:nvPr/>
        </p:nvGrpSpPr>
        <p:grpSpPr>
          <a:xfrm>
            <a:off x="0" y="1289410"/>
            <a:ext cx="4614333" cy="757589"/>
            <a:chOff x="-8313" y="1494236"/>
            <a:chExt cx="4319047" cy="757589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6218E73E-643F-A957-F60A-AF6FB16B46FB}"/>
                </a:ext>
              </a:extLst>
            </p:cNvPr>
            <p:cNvSpPr/>
            <p:nvPr/>
          </p:nvSpPr>
          <p:spPr>
            <a:xfrm>
              <a:off x="-8313" y="1540255"/>
              <a:ext cx="4160031" cy="711570"/>
            </a:xfrm>
            <a:prstGeom prst="rect">
              <a:avLst/>
            </a:prstGeom>
            <a:gradFill flip="none" rotWithShape="1">
              <a:gsLst>
                <a:gs pos="22000">
                  <a:srgbClr val="165195"/>
                </a:gs>
                <a:gs pos="0">
                  <a:srgbClr val="003F88"/>
                </a:gs>
                <a:gs pos="100000">
                  <a:srgbClr val="BFDEF5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B04CA291-BE8A-2FA0-EF00-DD6ADD5E1BDA}"/>
                </a:ext>
              </a:extLst>
            </p:cNvPr>
            <p:cNvSpPr txBox="1"/>
            <p:nvPr/>
          </p:nvSpPr>
          <p:spPr>
            <a:xfrm>
              <a:off x="2798804" y="1494236"/>
              <a:ext cx="151193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4000" b="1" dirty="0">
                  <a:ln w="10160">
                    <a:solidFill>
                      <a:schemeClr val="accent5"/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目录</a:t>
              </a:r>
              <a:endParaRPr lang="zh-CN" altLang="en-US" sz="2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0697A2EF-4D6B-6368-F208-856A0C25DFB3}"/>
              </a:ext>
            </a:extLst>
          </p:cNvPr>
          <p:cNvGrpSpPr/>
          <p:nvPr/>
        </p:nvGrpSpPr>
        <p:grpSpPr>
          <a:xfrm>
            <a:off x="4040183" y="2208705"/>
            <a:ext cx="6588642" cy="2641733"/>
            <a:chOff x="4393412" y="2240607"/>
            <a:chExt cx="6588642" cy="2641733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D03B8042-0F6F-B65E-D7F1-F33567A7D7D4}"/>
                </a:ext>
              </a:extLst>
            </p:cNvPr>
            <p:cNvSpPr txBox="1"/>
            <p:nvPr/>
          </p:nvSpPr>
          <p:spPr>
            <a:xfrm>
              <a:off x="4393412" y="2240607"/>
              <a:ext cx="340517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600" dirty="0">
                  <a:solidFill>
                    <a:schemeClr val="accent5">
                      <a:lumMod val="20000"/>
                      <a:lumOff val="80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一、课程介绍</a:t>
              </a: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BEBC9277-BD14-D509-9D3A-C136D7084E53}"/>
                </a:ext>
              </a:extLst>
            </p:cNvPr>
            <p:cNvSpPr txBox="1"/>
            <p:nvPr/>
          </p:nvSpPr>
          <p:spPr>
            <a:xfrm>
              <a:off x="4401879" y="3155072"/>
              <a:ext cx="340517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600" dirty="0">
                  <a:solidFill>
                    <a:schemeClr val="accent1">
                      <a:lumMod val="7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二、注意事项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CE67D595-06BB-6F82-E89C-BBBCE42CD56C}"/>
                </a:ext>
              </a:extLst>
            </p:cNvPr>
            <p:cNvSpPr txBox="1"/>
            <p:nvPr/>
          </p:nvSpPr>
          <p:spPr>
            <a:xfrm>
              <a:off x="4393412" y="4069537"/>
              <a:ext cx="658864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600" dirty="0">
                  <a:solidFill>
                    <a:schemeClr val="accent5">
                      <a:lumMod val="20000"/>
                      <a:lumOff val="80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三、实验报告格式要求</a:t>
              </a:r>
            </a:p>
          </p:txBody>
        </p: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0461A4B4-03A7-D4D5-58D7-CC8D5CB7D725}"/>
                </a:ext>
              </a:extLst>
            </p:cNvPr>
            <p:cNvCxnSpPr>
              <a:cxnSpLocks/>
            </p:cNvCxnSpPr>
            <p:nvPr/>
          </p:nvCxnSpPr>
          <p:spPr>
            <a:xfrm>
              <a:off x="4495801" y="3048003"/>
              <a:ext cx="6316133" cy="0"/>
            </a:xfrm>
            <a:prstGeom prst="line">
              <a:avLst/>
            </a:prstGeom>
            <a:ln w="28575">
              <a:solidFill>
                <a:schemeClr val="accent1">
                  <a:lumMod val="60000"/>
                  <a:lumOff val="4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4B754A98-031E-ED9F-7B63-3A811E7B3A4C}"/>
                </a:ext>
              </a:extLst>
            </p:cNvPr>
            <p:cNvCxnSpPr>
              <a:cxnSpLocks/>
            </p:cNvCxnSpPr>
            <p:nvPr/>
          </p:nvCxnSpPr>
          <p:spPr>
            <a:xfrm>
              <a:off x="4495801" y="3984873"/>
              <a:ext cx="6316133" cy="0"/>
            </a:xfrm>
            <a:prstGeom prst="line">
              <a:avLst/>
            </a:prstGeom>
            <a:ln w="28575">
              <a:solidFill>
                <a:schemeClr val="accent1">
                  <a:lumMod val="60000"/>
                  <a:lumOff val="4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2333E1F0-2EC8-8DB9-6923-BE7959B6F668}"/>
                </a:ext>
              </a:extLst>
            </p:cNvPr>
            <p:cNvCxnSpPr>
              <a:cxnSpLocks/>
            </p:cNvCxnSpPr>
            <p:nvPr/>
          </p:nvCxnSpPr>
          <p:spPr>
            <a:xfrm>
              <a:off x="4495801" y="4882340"/>
              <a:ext cx="6316133" cy="0"/>
            </a:xfrm>
            <a:prstGeom prst="line">
              <a:avLst/>
            </a:prstGeom>
            <a:ln w="28575">
              <a:solidFill>
                <a:schemeClr val="accent1">
                  <a:lumMod val="60000"/>
                  <a:lumOff val="4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17194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405832C4-EDFC-5FD0-F373-DDA50A3EBCDB}"/>
              </a:ext>
            </a:extLst>
          </p:cNvPr>
          <p:cNvSpPr/>
          <p:nvPr/>
        </p:nvSpPr>
        <p:spPr>
          <a:xfrm>
            <a:off x="-7315" y="6176963"/>
            <a:ext cx="12199315" cy="695668"/>
          </a:xfrm>
          <a:prstGeom prst="rect">
            <a:avLst/>
          </a:prstGeom>
          <a:solidFill>
            <a:srgbClr val="003F88"/>
          </a:solidFill>
          <a:ln>
            <a:solidFill>
              <a:srgbClr val="003F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AAE960D-24A2-708F-EB89-641ABBA97C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178" y="6208261"/>
            <a:ext cx="2238375" cy="647700"/>
          </a:xfrm>
          <a:prstGeom prst="rect">
            <a:avLst/>
          </a:prstGeom>
        </p:spPr>
      </p:pic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D7700AA8-1D59-ABE4-82CF-83ADF3643F4C}"/>
              </a:ext>
            </a:extLst>
          </p:cNvPr>
          <p:cNvCxnSpPr>
            <a:cxnSpLocks/>
          </p:cNvCxnSpPr>
          <p:nvPr/>
        </p:nvCxnSpPr>
        <p:spPr>
          <a:xfrm>
            <a:off x="-8313" y="709574"/>
            <a:ext cx="11878888" cy="0"/>
          </a:xfrm>
          <a:prstGeom prst="line">
            <a:avLst/>
          </a:prstGeom>
          <a:ln w="41275">
            <a:solidFill>
              <a:srgbClr val="003F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99E0CD92-A30A-C59C-0BA8-BB52BC7C56B5}"/>
              </a:ext>
            </a:extLst>
          </p:cNvPr>
          <p:cNvSpPr txBox="1"/>
          <p:nvPr/>
        </p:nvSpPr>
        <p:spPr>
          <a:xfrm>
            <a:off x="11331855" y="226769"/>
            <a:ext cx="5167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图形 11">
            <a:extLst>
              <a:ext uri="{FF2B5EF4-FFF2-40B4-BE49-F238E27FC236}">
                <a16:creationId xmlns:a16="http://schemas.microsoft.com/office/drawing/2014/main" id="{B36FA3AB-F30E-B2FB-70EA-1319F3010C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31855" y="6265726"/>
            <a:ext cx="623999" cy="518142"/>
          </a:xfrm>
          <a:prstGeom prst="rect">
            <a:avLst/>
          </a:prstGeom>
          <a:effectLst>
            <a:glow rad="12700">
              <a:schemeClr val="bg1">
                <a:alpha val="41000"/>
              </a:schemeClr>
            </a:glow>
          </a:effectLst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189D7CA0-495C-DABA-170B-0C694DCD7B22}"/>
              </a:ext>
            </a:extLst>
          </p:cNvPr>
          <p:cNvSpPr/>
          <p:nvPr/>
        </p:nvSpPr>
        <p:spPr>
          <a:xfrm>
            <a:off x="-8313" y="-18651"/>
            <a:ext cx="4330597" cy="728226"/>
          </a:xfrm>
          <a:prstGeom prst="rect">
            <a:avLst/>
          </a:prstGeom>
          <a:solidFill>
            <a:srgbClr val="003F88"/>
          </a:solidFill>
          <a:ln>
            <a:solidFill>
              <a:srgbClr val="003F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 b="1" dirty="0"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19E7BD6-C0D8-FD71-D716-2BAC600E09B4}"/>
              </a:ext>
            </a:extLst>
          </p:cNvPr>
          <p:cNvSpPr txBox="1"/>
          <p:nvPr/>
        </p:nvSpPr>
        <p:spPr>
          <a:xfrm>
            <a:off x="279138" y="1000861"/>
            <a:ext cx="31216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实验课注意事项：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4FC0196-726D-C955-6EE1-40FBEE5E0BB4}"/>
              </a:ext>
            </a:extLst>
          </p:cNvPr>
          <p:cNvSpPr txBox="1"/>
          <p:nvPr/>
        </p:nvSpPr>
        <p:spPr>
          <a:xfrm>
            <a:off x="129913" y="1607264"/>
            <a:ext cx="11878888" cy="2608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hangingPunct="1">
              <a:lnSpc>
                <a:spcPct val="120000"/>
              </a:lnSpc>
              <a:buFontTx/>
              <a:buNone/>
            </a:pP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预习：课前必须预习实验内容，明确实验目的、原理、实验步骤 ，写预习记录；</a:t>
            </a:r>
          </a:p>
          <a:p>
            <a:pPr algn="just" eaLnBrk="1" hangingPunct="1">
              <a:lnSpc>
                <a:spcPct val="120000"/>
              </a:lnSpc>
              <a:buFontTx/>
              <a:buNone/>
            </a:pP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准时上课，不要迟到；</a:t>
            </a:r>
          </a:p>
          <a:p>
            <a:pPr algn="just" eaLnBrk="1" hangingPunct="1">
              <a:lnSpc>
                <a:spcPct val="120000"/>
              </a:lnSpc>
              <a:buFontTx/>
              <a:buNone/>
            </a:pP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3.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实验中</a:t>
            </a:r>
            <a:r>
              <a:rPr lang="zh-CN" altLang="en-US" sz="2800" dirty="0"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如实记录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实验数据，严禁抄袭、伪造实验数据；</a:t>
            </a:r>
          </a:p>
          <a:p>
            <a:pPr algn="just" eaLnBrk="1" hangingPunct="1">
              <a:lnSpc>
                <a:spcPct val="120000"/>
              </a:lnSpc>
              <a:buFontTx/>
              <a:buNone/>
            </a:pP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4.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实验完毕后，请</a:t>
            </a:r>
            <a:r>
              <a:rPr lang="zh-CN" altLang="en-US" sz="2800" b="1" dirty="0"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带走垃圾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zh-CN" altLang="en-US" sz="2800" dirty="0"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关闭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仪器仪表</a:t>
            </a:r>
            <a:r>
              <a:rPr lang="zh-CN" altLang="en-US" sz="2800" dirty="0"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电源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zh-CN" altLang="en-US" sz="2800" b="1" dirty="0"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整理桌面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EE6BC8D-AB8E-55E4-51D5-E992B972FA58}"/>
              </a:ext>
            </a:extLst>
          </p:cNvPr>
          <p:cNvSpPr txBox="1"/>
          <p:nvPr/>
        </p:nvSpPr>
        <p:spPr>
          <a:xfrm>
            <a:off x="-8312" y="0"/>
            <a:ext cx="43305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6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注意事项</a:t>
            </a:r>
            <a:endParaRPr lang="en-US" altLang="zh-CN" sz="3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FD8957A-009C-7D34-C5D5-D79FE4F3CB18}"/>
              </a:ext>
            </a:extLst>
          </p:cNvPr>
          <p:cNvSpPr txBox="1"/>
          <p:nvPr/>
        </p:nvSpPr>
        <p:spPr>
          <a:xfrm>
            <a:off x="4821019" y="123584"/>
            <a:ext cx="602041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2800" dirty="0">
                <a:solidFill>
                  <a:srgbClr val="003F88"/>
                </a:solidFill>
                <a:latin typeface="Calibri" panose="020F0502020204030204" pitchFamily="34" charset="0"/>
              </a:rPr>
              <a:t>实验课注意事项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606EA4BE-6337-E4ED-8208-D01F447B440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772"/>
          <a:stretch/>
        </p:blipFill>
        <p:spPr>
          <a:xfrm>
            <a:off x="5897205" y="4230086"/>
            <a:ext cx="2947556" cy="1884106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D1F26A62-B104-F779-C7DD-6892F300037D}"/>
              </a:ext>
            </a:extLst>
          </p:cNvPr>
          <p:cNvSpPr txBox="1"/>
          <p:nvPr/>
        </p:nvSpPr>
        <p:spPr>
          <a:xfrm>
            <a:off x="923110" y="4472144"/>
            <a:ext cx="479366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离开前请：</a:t>
            </a:r>
            <a:endParaRPr lang="en-US" altLang="zh-CN" sz="28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关闭桌上所有仪器的电源；</a:t>
            </a:r>
            <a:endParaRPr lang="en-US" altLang="zh-CN" sz="28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试验台恢复原样</a:t>
            </a:r>
            <a:endParaRPr lang="en-US" altLang="zh-CN" sz="28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3345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405832C4-EDFC-5FD0-F373-DDA50A3EBCDB}"/>
              </a:ext>
            </a:extLst>
          </p:cNvPr>
          <p:cNvSpPr/>
          <p:nvPr/>
        </p:nvSpPr>
        <p:spPr>
          <a:xfrm>
            <a:off x="-7315" y="6176963"/>
            <a:ext cx="12199315" cy="695668"/>
          </a:xfrm>
          <a:prstGeom prst="rect">
            <a:avLst/>
          </a:prstGeom>
          <a:solidFill>
            <a:srgbClr val="003F88"/>
          </a:solidFill>
          <a:ln>
            <a:solidFill>
              <a:srgbClr val="003F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AAE960D-24A2-708F-EB89-641ABBA97C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178" y="6208261"/>
            <a:ext cx="2238375" cy="647700"/>
          </a:xfrm>
          <a:prstGeom prst="rect">
            <a:avLst/>
          </a:prstGeom>
        </p:spPr>
      </p:pic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D7700AA8-1D59-ABE4-82CF-83ADF3643F4C}"/>
              </a:ext>
            </a:extLst>
          </p:cNvPr>
          <p:cNvCxnSpPr>
            <a:cxnSpLocks/>
          </p:cNvCxnSpPr>
          <p:nvPr/>
        </p:nvCxnSpPr>
        <p:spPr>
          <a:xfrm>
            <a:off x="-8313" y="709574"/>
            <a:ext cx="11878888" cy="0"/>
          </a:xfrm>
          <a:prstGeom prst="line">
            <a:avLst/>
          </a:prstGeom>
          <a:ln w="41275">
            <a:solidFill>
              <a:srgbClr val="003F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99E0CD92-A30A-C59C-0BA8-BB52BC7C56B5}"/>
              </a:ext>
            </a:extLst>
          </p:cNvPr>
          <p:cNvSpPr txBox="1"/>
          <p:nvPr/>
        </p:nvSpPr>
        <p:spPr>
          <a:xfrm>
            <a:off x="11331855" y="226769"/>
            <a:ext cx="5167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图形 11">
            <a:extLst>
              <a:ext uri="{FF2B5EF4-FFF2-40B4-BE49-F238E27FC236}">
                <a16:creationId xmlns:a16="http://schemas.microsoft.com/office/drawing/2014/main" id="{B36FA3AB-F30E-B2FB-70EA-1319F3010C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31855" y="6265726"/>
            <a:ext cx="623999" cy="518142"/>
          </a:xfrm>
          <a:prstGeom prst="rect">
            <a:avLst/>
          </a:prstGeom>
          <a:effectLst>
            <a:glow rad="12700">
              <a:schemeClr val="bg1">
                <a:alpha val="41000"/>
              </a:schemeClr>
            </a:glow>
          </a:effectLst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189D7CA0-495C-DABA-170B-0C694DCD7B22}"/>
              </a:ext>
            </a:extLst>
          </p:cNvPr>
          <p:cNvSpPr/>
          <p:nvPr/>
        </p:nvSpPr>
        <p:spPr>
          <a:xfrm>
            <a:off x="-8313" y="-30032"/>
            <a:ext cx="4330597" cy="746997"/>
          </a:xfrm>
          <a:prstGeom prst="rect">
            <a:avLst/>
          </a:prstGeom>
          <a:solidFill>
            <a:srgbClr val="003F88"/>
          </a:solidFill>
          <a:ln>
            <a:solidFill>
              <a:srgbClr val="003F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1071F254-A06F-BC75-3BE8-0CFFAA3A3E19}"/>
              </a:ext>
            </a:extLst>
          </p:cNvPr>
          <p:cNvSpPr txBox="1"/>
          <p:nvPr/>
        </p:nvSpPr>
        <p:spPr>
          <a:xfrm>
            <a:off x="968207" y="1575578"/>
            <a:ext cx="10248270" cy="37353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lnSpc>
                <a:spcPts val="29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Tx/>
              <a:buChar char="•"/>
            </a:pP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凡是进入实验室的学生，必须自觉服从管理，严格执行实验室的各项管理规定，严格遵守仪器设备的操作规程。请务必仔细阅读实验室墙上的</a:t>
            </a:r>
            <a:r>
              <a:rPr lang="en-US" altLang="zh-CN" sz="20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《</a:t>
            </a:r>
            <a:r>
              <a:rPr lang="zh-CN" altLang="en-US" sz="20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实验室学生安全操作规则</a:t>
            </a:r>
            <a:r>
              <a:rPr lang="en-US" altLang="zh-CN" sz="20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》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20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《</a:t>
            </a:r>
            <a:r>
              <a:rPr lang="zh-CN" altLang="en-US" sz="20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实验室学生守则</a:t>
            </a:r>
            <a:r>
              <a:rPr lang="en-US" altLang="zh-CN" sz="20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》</a:t>
            </a: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同</a:t>
            </a: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《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电子电路设计实验讲义</a:t>
            </a: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》Page 1)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 </a:t>
            </a:r>
          </a:p>
          <a:p>
            <a:pPr fontAlgn="base">
              <a:lnSpc>
                <a:spcPts val="29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Tx/>
              <a:buChar char="•"/>
            </a:pP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进入实验室之前必须认真</a:t>
            </a:r>
            <a:r>
              <a:rPr lang="zh-CN" altLang="en-US" sz="20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预习实验内容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，明确实验目的、原理、实验步骤 。</a:t>
            </a:r>
          </a:p>
          <a:p>
            <a:pPr fontAlgn="base">
              <a:lnSpc>
                <a:spcPts val="29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Tx/>
              <a:buChar char="•"/>
            </a:pP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仪器设备应按使用方法操作，不得随意更换或拆卸，</a:t>
            </a:r>
            <a:r>
              <a:rPr lang="zh-CN" altLang="en-US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实验完毕后应关闭实验桌上所有设备电源并按原样整理桌面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。仪器设备若有故障， 请向老师报告并做好记录，不要擅自处理。</a:t>
            </a:r>
          </a:p>
          <a:p>
            <a:pPr fontAlgn="base">
              <a:lnSpc>
                <a:spcPts val="29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Tx/>
              <a:buChar char="•"/>
            </a:pP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实验过程中应</a:t>
            </a:r>
            <a:r>
              <a:rPr lang="zh-CN" altLang="en-US" sz="2000" dirty="0">
                <a:solidFill>
                  <a:srgbClr val="FF0000"/>
                </a:solidFill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随时注意安全，若发现异常现象（例如：冒烟、发热、异味、爆炸等），应切断电源并报告老师处理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，切勿盲目乱试，擅自拆修。</a:t>
            </a:r>
            <a:endParaRPr lang="en-US" altLang="zh-CN" sz="20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399B8A2-DE5E-2BD6-43C1-AD77D2C0FA73}"/>
              </a:ext>
            </a:extLst>
          </p:cNvPr>
          <p:cNvSpPr txBox="1"/>
          <p:nvPr/>
        </p:nvSpPr>
        <p:spPr>
          <a:xfrm>
            <a:off x="4550967" y="97591"/>
            <a:ext cx="67808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2800" dirty="0">
                <a:solidFill>
                  <a:srgbClr val="003F88"/>
                </a:solidFill>
                <a:latin typeface="Calibri" panose="020F0502020204030204" pitchFamily="34" charset="0"/>
              </a:rPr>
              <a:t>信息与电子工程实验中心</a:t>
            </a:r>
            <a:r>
              <a:rPr lang="en-US" altLang="zh-CN" sz="2800" dirty="0">
                <a:solidFill>
                  <a:srgbClr val="003F88"/>
                </a:solidFill>
                <a:latin typeface="Calibri" panose="020F0502020204030204" pitchFamily="34" charset="0"/>
              </a:rPr>
              <a:t>·</a:t>
            </a:r>
            <a:r>
              <a:rPr lang="zh-CN" altLang="en-US" sz="2800" dirty="0">
                <a:solidFill>
                  <a:srgbClr val="003F88"/>
                </a:solidFill>
                <a:latin typeface="Calibri" panose="020F0502020204030204" pitchFamily="34" charset="0"/>
              </a:rPr>
              <a:t>实验室安全教育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C23F4E2-3A3D-FAD1-8242-D8F3E291461D}"/>
              </a:ext>
            </a:extLst>
          </p:cNvPr>
          <p:cNvSpPr txBox="1"/>
          <p:nvPr/>
        </p:nvSpPr>
        <p:spPr>
          <a:xfrm>
            <a:off x="-8312" y="0"/>
            <a:ext cx="43305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6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注意事项</a:t>
            </a:r>
            <a:endParaRPr lang="en-US" altLang="zh-CN" sz="3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0A3717F-6F04-709E-82C0-F5DB2D0D0960}"/>
              </a:ext>
            </a:extLst>
          </p:cNvPr>
          <p:cNvSpPr txBox="1"/>
          <p:nvPr/>
        </p:nvSpPr>
        <p:spPr>
          <a:xfrm>
            <a:off x="4341372" y="900709"/>
            <a:ext cx="35019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>
                <a:latin typeface="华文新魏" panose="02010800040101010101" pitchFamily="2" charset="-122"/>
                <a:ea typeface="华文新魏" panose="02010800040101010101" pitchFamily="2" charset="-122"/>
              </a:rPr>
              <a:t>《</a:t>
            </a:r>
            <a:r>
              <a:rPr lang="zh-CN" altLang="en-US" sz="3600" dirty="0">
                <a:latin typeface="华文新魏" panose="02010800040101010101" pitchFamily="2" charset="-122"/>
                <a:ea typeface="华文新魏" panose="02010800040101010101" pitchFamily="2" charset="-122"/>
              </a:rPr>
              <a:t>讲义</a:t>
            </a:r>
            <a:r>
              <a:rPr lang="en-US" altLang="zh-CN" sz="3600" dirty="0">
                <a:latin typeface="华文新魏" panose="02010800040101010101" pitchFamily="2" charset="-122"/>
                <a:ea typeface="华文新魏" panose="02010800040101010101" pitchFamily="2" charset="-122"/>
              </a:rPr>
              <a:t>》</a:t>
            </a:r>
            <a:r>
              <a:rPr lang="zh-CN" altLang="en-US" sz="3600" dirty="0">
                <a:latin typeface="华文新魏" panose="02010800040101010101" pitchFamily="2" charset="-122"/>
                <a:ea typeface="华文新魏" panose="02010800040101010101" pitchFamily="2" charset="-122"/>
              </a:rPr>
              <a:t>第一页</a:t>
            </a:r>
          </a:p>
        </p:txBody>
      </p:sp>
    </p:spTree>
    <p:extLst>
      <p:ext uri="{BB962C8B-B14F-4D97-AF65-F5344CB8AC3E}">
        <p14:creationId xmlns:p14="http://schemas.microsoft.com/office/powerpoint/2010/main" val="1965985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405832C4-EDFC-5FD0-F373-DDA50A3EBCDB}"/>
              </a:ext>
            </a:extLst>
          </p:cNvPr>
          <p:cNvSpPr/>
          <p:nvPr/>
        </p:nvSpPr>
        <p:spPr>
          <a:xfrm>
            <a:off x="-7315" y="6176963"/>
            <a:ext cx="12199315" cy="695668"/>
          </a:xfrm>
          <a:prstGeom prst="rect">
            <a:avLst/>
          </a:prstGeom>
          <a:solidFill>
            <a:srgbClr val="003F88"/>
          </a:solidFill>
          <a:ln>
            <a:solidFill>
              <a:srgbClr val="003F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AAE960D-24A2-708F-EB89-641ABBA97C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178" y="6208261"/>
            <a:ext cx="2238375" cy="647700"/>
          </a:xfrm>
          <a:prstGeom prst="rect">
            <a:avLst/>
          </a:prstGeom>
        </p:spPr>
      </p:pic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D7700AA8-1D59-ABE4-82CF-83ADF3643F4C}"/>
              </a:ext>
            </a:extLst>
          </p:cNvPr>
          <p:cNvCxnSpPr>
            <a:cxnSpLocks/>
          </p:cNvCxnSpPr>
          <p:nvPr/>
        </p:nvCxnSpPr>
        <p:spPr>
          <a:xfrm>
            <a:off x="-8313" y="709574"/>
            <a:ext cx="11878888" cy="0"/>
          </a:xfrm>
          <a:prstGeom prst="line">
            <a:avLst/>
          </a:prstGeom>
          <a:ln w="41275">
            <a:solidFill>
              <a:srgbClr val="003F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99E0CD92-A30A-C59C-0BA8-BB52BC7C56B5}"/>
              </a:ext>
            </a:extLst>
          </p:cNvPr>
          <p:cNvSpPr txBox="1"/>
          <p:nvPr/>
        </p:nvSpPr>
        <p:spPr>
          <a:xfrm>
            <a:off x="11331855" y="226769"/>
            <a:ext cx="5167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图形 11">
            <a:extLst>
              <a:ext uri="{FF2B5EF4-FFF2-40B4-BE49-F238E27FC236}">
                <a16:creationId xmlns:a16="http://schemas.microsoft.com/office/drawing/2014/main" id="{B36FA3AB-F30E-B2FB-70EA-1319F3010C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31855" y="6265726"/>
            <a:ext cx="623999" cy="518142"/>
          </a:xfrm>
          <a:prstGeom prst="rect">
            <a:avLst/>
          </a:prstGeom>
          <a:effectLst>
            <a:glow rad="12700">
              <a:schemeClr val="bg1">
                <a:alpha val="41000"/>
              </a:schemeClr>
            </a:glow>
          </a:effectLst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189D7CA0-495C-DABA-170B-0C694DCD7B22}"/>
              </a:ext>
            </a:extLst>
          </p:cNvPr>
          <p:cNvSpPr/>
          <p:nvPr/>
        </p:nvSpPr>
        <p:spPr>
          <a:xfrm>
            <a:off x="1" y="-20032"/>
            <a:ext cx="4330597" cy="746997"/>
          </a:xfrm>
          <a:prstGeom prst="rect">
            <a:avLst/>
          </a:prstGeom>
          <a:solidFill>
            <a:srgbClr val="003F88"/>
          </a:solidFill>
          <a:ln>
            <a:solidFill>
              <a:srgbClr val="003F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DD06558-FFAC-20F2-8D95-D13157868FCC}"/>
              </a:ext>
            </a:extLst>
          </p:cNvPr>
          <p:cNvSpPr txBox="1"/>
          <p:nvPr/>
        </p:nvSpPr>
        <p:spPr>
          <a:xfrm>
            <a:off x="-8312" y="0"/>
            <a:ext cx="43305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6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注意事项</a:t>
            </a:r>
            <a:endParaRPr lang="en-US" altLang="zh-CN" sz="3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F6F91D7-006D-C0F8-F23D-00E0F1401935}"/>
              </a:ext>
            </a:extLst>
          </p:cNvPr>
          <p:cNvSpPr txBox="1"/>
          <p:nvPr/>
        </p:nvSpPr>
        <p:spPr>
          <a:xfrm>
            <a:off x="4550967" y="97591"/>
            <a:ext cx="67808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2800" dirty="0">
                <a:solidFill>
                  <a:srgbClr val="003F88"/>
                </a:solidFill>
                <a:latin typeface="Calibri" panose="020F0502020204030204" pitchFamily="34" charset="0"/>
              </a:rPr>
              <a:t>信息与电子工程实验中心</a:t>
            </a:r>
            <a:r>
              <a:rPr lang="en-US" altLang="zh-CN" sz="2800" dirty="0">
                <a:solidFill>
                  <a:srgbClr val="003F88"/>
                </a:solidFill>
                <a:latin typeface="Calibri" panose="020F0502020204030204" pitchFamily="34" charset="0"/>
              </a:rPr>
              <a:t>·</a:t>
            </a:r>
            <a:r>
              <a:rPr lang="zh-CN" altLang="en-US" sz="2800" dirty="0">
                <a:solidFill>
                  <a:srgbClr val="003F88"/>
                </a:solidFill>
                <a:latin typeface="Calibri" panose="020F0502020204030204" pitchFamily="34" charset="0"/>
              </a:rPr>
              <a:t>实验室安全教育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41B1BBC-302F-F219-CA25-48FB6495C1BC}"/>
              </a:ext>
            </a:extLst>
          </p:cNvPr>
          <p:cNvSpPr txBox="1"/>
          <p:nvPr/>
        </p:nvSpPr>
        <p:spPr>
          <a:xfrm>
            <a:off x="968207" y="1573844"/>
            <a:ext cx="10248270" cy="3710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fontAlgn="base">
              <a:lnSpc>
                <a:spcPts val="29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Tx/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dirty="0"/>
              <a:t>使用</a:t>
            </a:r>
            <a:r>
              <a:rPr lang="zh-CN" altLang="en-US" b="1" dirty="0"/>
              <a:t>电烙铁</a:t>
            </a:r>
            <a:r>
              <a:rPr lang="zh-CN" altLang="en-US" dirty="0"/>
              <a:t>要</a:t>
            </a:r>
            <a:r>
              <a:rPr lang="zh-CN" altLang="en-US" dirty="0">
                <a:solidFill>
                  <a:srgbClr val="FF0000"/>
                </a:solidFill>
              </a:rPr>
              <a:t>特别注意人身安全和电气安全，严禁将电烙铁随意放置在桌面或地上，绝对不可让烙铁头碰触电线、也不要让烙铁头直接碰触桌面和仪器面板，避免烫坏。电烙铁使用后要稳妥放置在烙铁架上</a:t>
            </a:r>
            <a:r>
              <a:rPr lang="zh-CN" altLang="en-US" dirty="0"/>
              <a:t>，并随时注意导线、人体不要碰到烙铁头，以免烧化塑料引起短路以致触电事故或不必要的烫伤。电烙铁使用完毕或中途离开实验室要及时断电，以防引起火灾。</a:t>
            </a:r>
            <a:endParaRPr lang="en-US" altLang="zh-CN" dirty="0"/>
          </a:p>
          <a:p>
            <a:r>
              <a:rPr lang="zh-CN" altLang="en-US" dirty="0"/>
              <a:t>实验中需如实记录实验数据，严禁抄袭他人数据或伪造实验记录 。</a:t>
            </a:r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  <a:highlight>
                  <a:srgbClr val="FFFF00"/>
                </a:highlight>
              </a:rPr>
              <a:t>不得将食物带入实验室</a:t>
            </a:r>
            <a:r>
              <a:rPr lang="zh-CN" altLang="en-US" dirty="0"/>
              <a:t>，不允许穿拖鞋、背心进入实验室。 </a:t>
            </a:r>
            <a:endParaRPr lang="en-US" altLang="zh-CN" dirty="0"/>
          </a:p>
          <a:p>
            <a:r>
              <a:rPr lang="zh-CN" altLang="en-US" dirty="0"/>
              <a:t>实验室内不得乱扔杂物、纸屑，不得大声喧哗，严禁吸烟。</a:t>
            </a:r>
            <a:r>
              <a:rPr lang="zh-CN" altLang="en-US" dirty="0">
                <a:solidFill>
                  <a:srgbClr val="FF0000"/>
                </a:solidFill>
              </a:rPr>
              <a:t>保持实验室内文明卫生整洁。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3E0960F-8BF9-EC10-F75D-0A112EEF4D99}"/>
              </a:ext>
            </a:extLst>
          </p:cNvPr>
          <p:cNvSpPr txBox="1"/>
          <p:nvPr/>
        </p:nvSpPr>
        <p:spPr>
          <a:xfrm>
            <a:off x="4341372" y="900709"/>
            <a:ext cx="35019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>
                <a:latin typeface="华文新魏" panose="02010800040101010101" pitchFamily="2" charset="-122"/>
                <a:ea typeface="华文新魏" panose="02010800040101010101" pitchFamily="2" charset="-122"/>
              </a:rPr>
              <a:t>《</a:t>
            </a:r>
            <a:r>
              <a:rPr lang="zh-CN" altLang="en-US" sz="3600" dirty="0">
                <a:latin typeface="华文新魏" panose="02010800040101010101" pitchFamily="2" charset="-122"/>
                <a:ea typeface="华文新魏" panose="02010800040101010101" pitchFamily="2" charset="-122"/>
              </a:rPr>
              <a:t>讲义</a:t>
            </a:r>
            <a:r>
              <a:rPr lang="en-US" altLang="zh-CN" sz="3600" dirty="0">
                <a:latin typeface="华文新魏" panose="02010800040101010101" pitchFamily="2" charset="-122"/>
                <a:ea typeface="华文新魏" panose="02010800040101010101" pitchFamily="2" charset="-122"/>
              </a:rPr>
              <a:t>》</a:t>
            </a:r>
            <a:r>
              <a:rPr lang="zh-CN" altLang="en-US" sz="3600" dirty="0">
                <a:latin typeface="华文新魏" panose="02010800040101010101" pitchFamily="2" charset="-122"/>
                <a:ea typeface="华文新魏" panose="02010800040101010101" pitchFamily="2" charset="-122"/>
              </a:rPr>
              <a:t>第一页</a:t>
            </a:r>
          </a:p>
        </p:txBody>
      </p:sp>
    </p:spTree>
    <p:extLst>
      <p:ext uri="{BB962C8B-B14F-4D97-AF65-F5344CB8AC3E}">
        <p14:creationId xmlns:p14="http://schemas.microsoft.com/office/powerpoint/2010/main" val="3824552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B61F7-D048-4234-D8B2-B133B49B0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6D42DF29-DC30-5AEA-3D62-7902F9FCE7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979" y="563590"/>
            <a:ext cx="2998134" cy="5436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FAAD80F4-F55B-C5E5-9253-C77DD2C537A3}"/>
              </a:ext>
            </a:extLst>
          </p:cNvPr>
          <p:cNvGrpSpPr/>
          <p:nvPr/>
        </p:nvGrpSpPr>
        <p:grpSpPr>
          <a:xfrm>
            <a:off x="0" y="1289410"/>
            <a:ext cx="4614333" cy="757589"/>
            <a:chOff x="-8313" y="1494236"/>
            <a:chExt cx="4319047" cy="757589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EB5BE6B5-9BC0-9FFD-87DC-1969D2C69A48}"/>
                </a:ext>
              </a:extLst>
            </p:cNvPr>
            <p:cNvSpPr/>
            <p:nvPr/>
          </p:nvSpPr>
          <p:spPr>
            <a:xfrm>
              <a:off x="-8313" y="1540255"/>
              <a:ext cx="4160031" cy="711570"/>
            </a:xfrm>
            <a:prstGeom prst="rect">
              <a:avLst/>
            </a:prstGeom>
            <a:gradFill flip="none" rotWithShape="1">
              <a:gsLst>
                <a:gs pos="22000">
                  <a:srgbClr val="165195"/>
                </a:gs>
                <a:gs pos="0">
                  <a:srgbClr val="003F88"/>
                </a:gs>
                <a:gs pos="100000">
                  <a:srgbClr val="BFDEF5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8D97AD8A-2777-E92F-AE4B-6040411037DF}"/>
                </a:ext>
              </a:extLst>
            </p:cNvPr>
            <p:cNvSpPr txBox="1"/>
            <p:nvPr/>
          </p:nvSpPr>
          <p:spPr>
            <a:xfrm>
              <a:off x="2798804" y="1494236"/>
              <a:ext cx="151193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4000" b="1" dirty="0">
                  <a:ln w="10160">
                    <a:solidFill>
                      <a:schemeClr val="accent5"/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目录</a:t>
              </a:r>
              <a:endParaRPr lang="zh-CN" altLang="en-US" sz="2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8885BA8B-4C50-DF7F-178E-7B911A03B0B1}"/>
              </a:ext>
            </a:extLst>
          </p:cNvPr>
          <p:cNvGrpSpPr/>
          <p:nvPr/>
        </p:nvGrpSpPr>
        <p:grpSpPr>
          <a:xfrm>
            <a:off x="4040183" y="2208705"/>
            <a:ext cx="6588642" cy="2641733"/>
            <a:chOff x="4393412" y="2240607"/>
            <a:chExt cx="6588642" cy="2641733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BF1A709B-30BC-E688-5A62-B67711579387}"/>
                </a:ext>
              </a:extLst>
            </p:cNvPr>
            <p:cNvSpPr txBox="1"/>
            <p:nvPr/>
          </p:nvSpPr>
          <p:spPr>
            <a:xfrm>
              <a:off x="4393412" y="2240607"/>
              <a:ext cx="340517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600" dirty="0">
                  <a:solidFill>
                    <a:schemeClr val="accent5">
                      <a:lumMod val="20000"/>
                      <a:lumOff val="80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一、课程介绍</a:t>
              </a: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22B22635-EBA4-FDCF-D3A6-5237036C84BF}"/>
                </a:ext>
              </a:extLst>
            </p:cNvPr>
            <p:cNvSpPr txBox="1"/>
            <p:nvPr/>
          </p:nvSpPr>
          <p:spPr>
            <a:xfrm>
              <a:off x="4401879" y="3155072"/>
              <a:ext cx="340517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600" dirty="0">
                  <a:solidFill>
                    <a:schemeClr val="accent5">
                      <a:lumMod val="20000"/>
                      <a:lumOff val="80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二、注意事项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028A0631-E0F8-207B-D50F-C922491EB2E3}"/>
                </a:ext>
              </a:extLst>
            </p:cNvPr>
            <p:cNvSpPr txBox="1"/>
            <p:nvPr/>
          </p:nvSpPr>
          <p:spPr>
            <a:xfrm>
              <a:off x="4393412" y="4069537"/>
              <a:ext cx="658864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600" dirty="0">
                  <a:solidFill>
                    <a:schemeClr val="accent1">
                      <a:lumMod val="7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三、实验报告格式要求</a:t>
              </a:r>
            </a:p>
          </p:txBody>
        </p: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4FA8CA25-2871-BC98-7750-F1EDA42D7EFF}"/>
                </a:ext>
              </a:extLst>
            </p:cNvPr>
            <p:cNvCxnSpPr>
              <a:cxnSpLocks/>
            </p:cNvCxnSpPr>
            <p:nvPr/>
          </p:nvCxnSpPr>
          <p:spPr>
            <a:xfrm>
              <a:off x="4495801" y="3048003"/>
              <a:ext cx="6316133" cy="0"/>
            </a:xfrm>
            <a:prstGeom prst="line">
              <a:avLst/>
            </a:prstGeom>
            <a:ln w="28575">
              <a:solidFill>
                <a:schemeClr val="accent1">
                  <a:lumMod val="60000"/>
                  <a:lumOff val="4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0AFF255C-1669-2242-68F8-41A8A87B6AC9}"/>
                </a:ext>
              </a:extLst>
            </p:cNvPr>
            <p:cNvCxnSpPr>
              <a:cxnSpLocks/>
            </p:cNvCxnSpPr>
            <p:nvPr/>
          </p:nvCxnSpPr>
          <p:spPr>
            <a:xfrm>
              <a:off x="4495801" y="3984873"/>
              <a:ext cx="6316133" cy="0"/>
            </a:xfrm>
            <a:prstGeom prst="line">
              <a:avLst/>
            </a:prstGeom>
            <a:ln w="28575">
              <a:solidFill>
                <a:schemeClr val="accent1">
                  <a:lumMod val="60000"/>
                  <a:lumOff val="4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7B56AE8A-65E1-FEAE-15D2-738B19DFDC62}"/>
                </a:ext>
              </a:extLst>
            </p:cNvPr>
            <p:cNvCxnSpPr>
              <a:cxnSpLocks/>
            </p:cNvCxnSpPr>
            <p:nvPr/>
          </p:nvCxnSpPr>
          <p:spPr>
            <a:xfrm>
              <a:off x="4495801" y="4882340"/>
              <a:ext cx="6316133" cy="0"/>
            </a:xfrm>
            <a:prstGeom prst="line">
              <a:avLst/>
            </a:prstGeom>
            <a:ln w="28575">
              <a:solidFill>
                <a:schemeClr val="accent1">
                  <a:lumMod val="60000"/>
                  <a:lumOff val="4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25633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65FEB-D0EF-DCAA-05EC-7D6ACF392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883783A-7AC6-0050-BF7C-06835CB3132A}"/>
              </a:ext>
            </a:extLst>
          </p:cNvPr>
          <p:cNvSpPr/>
          <p:nvPr/>
        </p:nvSpPr>
        <p:spPr>
          <a:xfrm>
            <a:off x="1" y="561912"/>
            <a:ext cx="416966" cy="740193"/>
          </a:xfrm>
          <a:prstGeom prst="rect">
            <a:avLst/>
          </a:prstGeom>
          <a:solidFill>
            <a:srgbClr val="003F88"/>
          </a:solidFill>
          <a:ln>
            <a:solidFill>
              <a:srgbClr val="003F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3F400CA-6F76-F1E1-14DB-6AA0135B3F26}"/>
              </a:ext>
            </a:extLst>
          </p:cNvPr>
          <p:cNvSpPr txBox="1"/>
          <p:nvPr/>
        </p:nvSpPr>
        <p:spPr>
          <a:xfrm>
            <a:off x="541079" y="608842"/>
            <a:ext cx="68672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实验报告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09AA78D8-3CCD-EEA5-BC77-4286930CCC07}"/>
              </a:ext>
            </a:extLst>
          </p:cNvPr>
          <p:cNvGrpSpPr/>
          <p:nvPr/>
        </p:nvGrpSpPr>
        <p:grpSpPr>
          <a:xfrm>
            <a:off x="537015" y="1123452"/>
            <a:ext cx="10874698" cy="5463034"/>
            <a:chOff x="541079" y="1481158"/>
            <a:chExt cx="10874698" cy="5463034"/>
          </a:xfrm>
        </p:grpSpPr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973BB71E-3F96-0F53-D33B-AEEB90B1DC37}"/>
                </a:ext>
              </a:extLst>
            </p:cNvPr>
            <p:cNvSpPr txBox="1"/>
            <p:nvPr/>
          </p:nvSpPr>
          <p:spPr>
            <a:xfrm>
              <a:off x="541079" y="1481158"/>
              <a:ext cx="10874698" cy="546303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en-US" altLang="zh-CN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endParaRPr>
            </a:p>
            <a:p>
              <a:r>
                <a:rPr lang="en-US" altLang="zh-CN" sz="3600" dirty="0"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1.</a:t>
              </a:r>
              <a:r>
                <a:rPr lang="zh-CN" altLang="en-US" sz="3600" dirty="0"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报告模板：学在浙大</a:t>
              </a:r>
              <a:endParaRPr lang="en-US" altLang="zh-CN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endParaRPr>
            </a:p>
            <a:p>
              <a:endParaRPr lang="en-US" altLang="zh-CN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endParaRPr>
            </a:p>
            <a:p>
              <a:endParaRPr lang="en-US" altLang="zh-CN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endParaRPr>
            </a:p>
            <a:p>
              <a:endParaRPr lang="en-US" altLang="zh-CN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endParaRPr>
            </a:p>
            <a:p>
              <a:endParaRPr lang="en-US" altLang="zh-CN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endParaRPr>
            </a:p>
            <a:p>
              <a:pPr>
                <a:spcBef>
                  <a:spcPts val="3000"/>
                </a:spcBef>
              </a:pPr>
              <a:r>
                <a:rPr lang="en-US" altLang="zh-CN" sz="3600" dirty="0"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2. </a:t>
              </a:r>
              <a:r>
                <a:rPr lang="zh-CN" altLang="en-US" sz="3600" dirty="0"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形式：打印、手写均可。</a:t>
              </a:r>
              <a:endParaRPr lang="en-US" altLang="zh-CN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endParaRPr>
            </a:p>
            <a:p>
              <a:r>
                <a:rPr lang="en-US" altLang="zh-CN" sz="3600" dirty="0"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3. </a:t>
              </a:r>
              <a:r>
                <a:rPr lang="zh-CN" altLang="en-US" sz="3600" dirty="0"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提交：下次课，将纸质报告按照“</a:t>
              </a:r>
              <a:r>
                <a:rPr lang="zh-CN" altLang="en-US" sz="3600" dirty="0">
                  <a:solidFill>
                    <a:srgbClr val="C0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序号</a:t>
              </a:r>
              <a:r>
                <a:rPr lang="zh-CN" altLang="en-US" sz="3600" dirty="0"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”顺序（</a:t>
              </a:r>
              <a:r>
                <a:rPr lang="zh-CN" altLang="en-US" sz="3600" dirty="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实验台的席卡上，姓名右侧数字</a:t>
              </a:r>
              <a:r>
                <a:rPr lang="zh-CN" altLang="en-US" sz="3600" dirty="0"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），依次摆放在讲台上。</a:t>
              </a:r>
              <a:endParaRPr lang="en-US" altLang="zh-CN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DCCB91C5-13D5-F4B2-A1D0-F3FA084BEE7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01365" y="2673339"/>
              <a:ext cx="3895725" cy="2314575"/>
            </a:xfrm>
            <a:prstGeom prst="rect">
              <a:avLst/>
            </a:prstGeom>
          </p:spPr>
        </p:pic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D93377B6-0FCE-53FE-6B0F-3E8B7CB56899}"/>
                </a:ext>
              </a:extLst>
            </p:cNvPr>
            <p:cNvSpPr txBox="1"/>
            <p:nvPr/>
          </p:nvSpPr>
          <p:spPr>
            <a:xfrm>
              <a:off x="5046143" y="2912545"/>
              <a:ext cx="524855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→仅第一次报告需要装订封面</a:t>
              </a: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65D6AB7B-3B10-404D-A80A-7D281AF85563}"/>
                </a:ext>
              </a:extLst>
            </p:cNvPr>
            <p:cNvSpPr txBox="1"/>
            <p:nvPr/>
          </p:nvSpPr>
          <p:spPr>
            <a:xfrm>
              <a:off x="5052765" y="3663504"/>
              <a:ext cx="560954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→请在报告首页左上角，标注</a:t>
              </a:r>
              <a:r>
                <a:rPr lang="zh-CN" altLang="en-US" sz="2800" b="1" dirty="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序号</a:t>
              </a: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676F6D91-ED44-FA54-EDF7-544060A859D2}"/>
              </a:ext>
            </a:extLst>
          </p:cNvPr>
          <p:cNvGrpSpPr/>
          <p:nvPr/>
        </p:nvGrpSpPr>
        <p:grpSpPr>
          <a:xfrm>
            <a:off x="8339217" y="561912"/>
            <a:ext cx="2940730" cy="4306770"/>
            <a:chOff x="4159220" y="877682"/>
            <a:chExt cx="3844977" cy="5016743"/>
          </a:xfrm>
        </p:grpSpPr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878EB66F-65B4-A6AE-D1C8-1214166E7166}"/>
                </a:ext>
              </a:extLst>
            </p:cNvPr>
            <p:cNvGrpSpPr/>
            <p:nvPr/>
          </p:nvGrpSpPr>
          <p:grpSpPr>
            <a:xfrm>
              <a:off x="4159220" y="877682"/>
              <a:ext cx="3844977" cy="5016743"/>
              <a:chOff x="4091088" y="1486799"/>
              <a:chExt cx="3844977" cy="5016743"/>
            </a:xfrm>
          </p:grpSpPr>
          <p:grpSp>
            <p:nvGrpSpPr>
              <p:cNvPr id="23" name="组合 22">
                <a:extLst>
                  <a:ext uri="{FF2B5EF4-FFF2-40B4-BE49-F238E27FC236}">
                    <a16:creationId xmlns:a16="http://schemas.microsoft.com/office/drawing/2014/main" id="{ED6761CC-AE9F-4994-8BC9-F958EA585F33}"/>
                  </a:ext>
                </a:extLst>
              </p:cNvPr>
              <p:cNvGrpSpPr/>
              <p:nvPr/>
            </p:nvGrpSpPr>
            <p:grpSpPr>
              <a:xfrm>
                <a:off x="4091088" y="1486799"/>
                <a:ext cx="3844977" cy="5016743"/>
                <a:chOff x="3177915" y="1524081"/>
                <a:chExt cx="3844977" cy="4209655"/>
              </a:xfrm>
            </p:grpSpPr>
            <p:sp>
              <p:nvSpPr>
                <p:cNvPr id="28" name="矩形 27">
                  <a:extLst>
                    <a:ext uri="{FF2B5EF4-FFF2-40B4-BE49-F238E27FC236}">
                      <a16:creationId xmlns:a16="http://schemas.microsoft.com/office/drawing/2014/main" id="{6A7BE1E3-3B79-3DE0-E959-907BB26F351A}"/>
                    </a:ext>
                  </a:extLst>
                </p:cNvPr>
                <p:cNvSpPr/>
                <p:nvPr/>
              </p:nvSpPr>
              <p:spPr>
                <a:xfrm>
                  <a:off x="3469187" y="2580769"/>
                  <a:ext cx="3262433" cy="338554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>
                  <a:spAutoFit/>
                </a:bodyPr>
                <a:lstStyle/>
                <a:p>
                  <a:pPr algn="just" eaLnBrk="1" hangingPunct="1">
                    <a:spcBef>
                      <a:spcPct val="60000"/>
                    </a:spcBef>
                    <a:buFontTx/>
                    <a:buNone/>
                  </a:pPr>
                  <a:endParaRPr lang="en-US" altLang="zh-CN" sz="1600" b="1" i="1" u="sng" dirty="0"/>
                </a:p>
              </p:txBody>
            </p:sp>
            <p:sp>
              <p:nvSpPr>
                <p:cNvPr id="29" name="矩形 28">
                  <a:extLst>
                    <a:ext uri="{FF2B5EF4-FFF2-40B4-BE49-F238E27FC236}">
                      <a16:creationId xmlns:a16="http://schemas.microsoft.com/office/drawing/2014/main" id="{0CE83E43-9DA8-CB86-B1A7-71A9A23E4B3E}"/>
                    </a:ext>
                  </a:extLst>
                </p:cNvPr>
                <p:cNvSpPr/>
                <p:nvPr/>
              </p:nvSpPr>
              <p:spPr>
                <a:xfrm>
                  <a:off x="3177915" y="1524081"/>
                  <a:ext cx="3844977" cy="4209655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pic>
            <p:nvPicPr>
              <p:cNvPr id="27" name="图片 26">
                <a:extLst>
                  <a:ext uri="{FF2B5EF4-FFF2-40B4-BE49-F238E27FC236}">
                    <a16:creationId xmlns:a16="http://schemas.microsoft.com/office/drawing/2014/main" id="{02BBC2C8-FCED-83E6-1814-7EBE2955BB6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82359" y="1590016"/>
                <a:ext cx="3262433" cy="829145"/>
              </a:xfrm>
              <a:prstGeom prst="rect">
                <a:avLst/>
              </a:prstGeom>
            </p:spPr>
          </p:pic>
        </p:grp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7DC3410F-7726-9F8D-BA96-71CB104ECD97}"/>
                </a:ext>
              </a:extLst>
            </p:cNvPr>
            <p:cNvSpPr/>
            <p:nvPr/>
          </p:nvSpPr>
          <p:spPr>
            <a:xfrm>
              <a:off x="4322284" y="1000861"/>
              <a:ext cx="498735" cy="523220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rgbClr val="C00000"/>
                  </a:solidFill>
                </a:rPr>
                <a:t>序号</a:t>
              </a:r>
              <a:endParaRPr lang="zh-CN" altLang="en-US" dirty="0">
                <a:solidFill>
                  <a:srgbClr val="C00000"/>
                </a:solidFill>
              </a:endParaRPr>
            </a:p>
          </p:txBody>
        </p:sp>
      </p:grp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2E9E7AE1-67B8-060B-B7F5-CF147205D4A6}"/>
              </a:ext>
            </a:extLst>
          </p:cNvPr>
          <p:cNvSpPr/>
          <p:nvPr/>
        </p:nvSpPr>
        <p:spPr>
          <a:xfrm>
            <a:off x="3667108" y="2662733"/>
            <a:ext cx="444087" cy="358445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45635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E3D5C-1517-1CB5-8185-11207E5B1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41E28032-DF90-1A57-B112-BDAFB5B93DC1}"/>
              </a:ext>
            </a:extLst>
          </p:cNvPr>
          <p:cNvSpPr/>
          <p:nvPr/>
        </p:nvSpPr>
        <p:spPr>
          <a:xfrm>
            <a:off x="1" y="561912"/>
            <a:ext cx="416966" cy="740193"/>
          </a:xfrm>
          <a:prstGeom prst="rect">
            <a:avLst/>
          </a:prstGeom>
          <a:solidFill>
            <a:srgbClr val="003F88"/>
          </a:solidFill>
          <a:ln>
            <a:solidFill>
              <a:srgbClr val="003F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1D65AD8-E864-12DE-727A-E6449C841876}"/>
              </a:ext>
            </a:extLst>
          </p:cNvPr>
          <p:cNvSpPr txBox="1"/>
          <p:nvPr/>
        </p:nvSpPr>
        <p:spPr>
          <a:xfrm>
            <a:off x="541079" y="608842"/>
            <a:ext cx="68672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实验报告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A686B05-3871-0D15-76C0-71F3508E0106}"/>
              </a:ext>
            </a:extLst>
          </p:cNvPr>
          <p:cNvSpPr txBox="1"/>
          <p:nvPr/>
        </p:nvSpPr>
        <p:spPr>
          <a:xfrm>
            <a:off x="515241" y="1107310"/>
            <a:ext cx="1125979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altLang="zh-CN" sz="36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r>
              <a:rPr lang="en-US" altLang="zh-CN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4. </a:t>
            </a:r>
            <a:r>
              <a:rPr lang="zh-CN" altLang="en-US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内容</a:t>
            </a:r>
            <a:endParaRPr lang="en-US" altLang="zh-CN" sz="36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FC7A4185-5012-7D97-A92F-8A61F9103FCF}"/>
              </a:ext>
            </a:extLst>
          </p:cNvPr>
          <p:cNvGrpSpPr/>
          <p:nvPr/>
        </p:nvGrpSpPr>
        <p:grpSpPr>
          <a:xfrm>
            <a:off x="3414971" y="120085"/>
            <a:ext cx="5460333" cy="6617828"/>
            <a:chOff x="6751931" y="199074"/>
            <a:chExt cx="5348594" cy="6318769"/>
          </a:xfrm>
        </p:grpSpPr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62E15632-FFC9-076C-0E24-04844F5534AF}"/>
                </a:ext>
              </a:extLst>
            </p:cNvPr>
            <p:cNvGrpSpPr/>
            <p:nvPr/>
          </p:nvGrpSpPr>
          <p:grpSpPr>
            <a:xfrm>
              <a:off x="6751931" y="199074"/>
              <a:ext cx="5348594" cy="6318769"/>
              <a:chOff x="4091088" y="1486799"/>
              <a:chExt cx="3915446" cy="5016743"/>
            </a:xfrm>
          </p:grpSpPr>
          <p:grpSp>
            <p:nvGrpSpPr>
              <p:cNvPr id="23" name="组合 22">
                <a:extLst>
                  <a:ext uri="{FF2B5EF4-FFF2-40B4-BE49-F238E27FC236}">
                    <a16:creationId xmlns:a16="http://schemas.microsoft.com/office/drawing/2014/main" id="{EF99516A-3458-C36F-8743-F4DD2F78B39F}"/>
                  </a:ext>
                </a:extLst>
              </p:cNvPr>
              <p:cNvGrpSpPr/>
              <p:nvPr/>
            </p:nvGrpSpPr>
            <p:grpSpPr>
              <a:xfrm>
                <a:off x="4091088" y="1486799"/>
                <a:ext cx="3844977" cy="5016743"/>
                <a:chOff x="3177915" y="1524081"/>
                <a:chExt cx="3844977" cy="4209655"/>
              </a:xfrm>
            </p:grpSpPr>
            <p:sp>
              <p:nvSpPr>
                <p:cNvPr id="28" name="矩形 27">
                  <a:extLst>
                    <a:ext uri="{FF2B5EF4-FFF2-40B4-BE49-F238E27FC236}">
                      <a16:creationId xmlns:a16="http://schemas.microsoft.com/office/drawing/2014/main" id="{0E46674A-F2D0-32F9-526B-F147F1699023}"/>
                    </a:ext>
                  </a:extLst>
                </p:cNvPr>
                <p:cNvSpPr/>
                <p:nvPr/>
              </p:nvSpPr>
              <p:spPr>
                <a:xfrm>
                  <a:off x="3469187" y="2580769"/>
                  <a:ext cx="3262433" cy="338554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>
                  <a:spAutoFit/>
                </a:bodyPr>
                <a:lstStyle/>
                <a:p>
                  <a:pPr algn="just" eaLnBrk="1" hangingPunct="1">
                    <a:spcBef>
                      <a:spcPct val="60000"/>
                    </a:spcBef>
                    <a:buFontTx/>
                    <a:buNone/>
                  </a:pPr>
                  <a:endParaRPr lang="en-US" altLang="zh-CN" sz="1600" b="1" i="1" u="sng" dirty="0"/>
                </a:p>
              </p:txBody>
            </p:sp>
            <p:sp>
              <p:nvSpPr>
                <p:cNvPr id="29" name="矩形 28">
                  <a:extLst>
                    <a:ext uri="{FF2B5EF4-FFF2-40B4-BE49-F238E27FC236}">
                      <a16:creationId xmlns:a16="http://schemas.microsoft.com/office/drawing/2014/main" id="{13754E36-8CEC-28BD-F31E-6EFD0E2CFC13}"/>
                    </a:ext>
                  </a:extLst>
                </p:cNvPr>
                <p:cNvSpPr/>
                <p:nvPr/>
              </p:nvSpPr>
              <p:spPr>
                <a:xfrm>
                  <a:off x="3177915" y="1524081"/>
                  <a:ext cx="3844977" cy="4209655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90F8BCAC-B96C-FFA9-6BC4-6545CD1B7C18}"/>
                  </a:ext>
                </a:extLst>
              </p:cNvPr>
              <p:cNvSpPr txBox="1"/>
              <p:nvPr/>
            </p:nvSpPr>
            <p:spPr>
              <a:xfrm>
                <a:off x="4260870" y="2522379"/>
                <a:ext cx="3745664" cy="37097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eaLnBrk="1" hangingPunct="1">
                  <a:buFontTx/>
                  <a:buNone/>
                </a:pPr>
                <a:r>
                  <a:rPr lang="zh-CN" altLang="en-US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一、实验目的</a:t>
                </a:r>
                <a:endParaRPr lang="en-US" altLang="zh-CN" sz="24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eaLnBrk="1" hangingPunct="1">
                  <a:buFontTx/>
                  <a:buNone/>
                </a:pPr>
                <a:r>
                  <a:rPr lang="zh-CN" altLang="en-US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二、实验任务与要求</a:t>
                </a:r>
              </a:p>
              <a:p>
                <a:pPr eaLnBrk="1" hangingPunct="1">
                  <a:buFontTx/>
                  <a:buNone/>
                </a:pPr>
                <a:r>
                  <a:rPr lang="zh-CN" altLang="en-US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三、实验原理</a:t>
                </a:r>
              </a:p>
              <a:p>
                <a:pPr eaLnBrk="1" hangingPunct="1">
                  <a:buFontTx/>
                  <a:buNone/>
                </a:pPr>
                <a:r>
                  <a:rPr lang="zh-CN" altLang="en-US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四、实验方案设计与参数计算</a:t>
                </a:r>
              </a:p>
              <a:p>
                <a:pPr eaLnBrk="1" hangingPunct="1">
                  <a:buFontTx/>
                  <a:buNone/>
                </a:pPr>
                <a:r>
                  <a:rPr lang="en-US" altLang="zh-CN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 4.1 </a:t>
                </a:r>
                <a:r>
                  <a:rPr lang="zh-CN" altLang="en-US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实验方案总体设计</a:t>
                </a:r>
                <a:endParaRPr lang="en-US" altLang="zh-CN" sz="24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r>
                  <a:rPr lang="en-US" altLang="zh-CN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 4.2 </a:t>
                </a:r>
                <a:r>
                  <a:rPr lang="zh-CN" altLang="en-US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实验电路</a:t>
                </a:r>
                <a:endParaRPr lang="en-US" altLang="zh-CN" sz="24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r>
                  <a:rPr lang="en-US" altLang="zh-CN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 4.3 </a:t>
                </a:r>
                <a:r>
                  <a:rPr lang="zh-CN" altLang="en-US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各功能电路设计与计算</a:t>
                </a:r>
              </a:p>
              <a:p>
                <a:pPr eaLnBrk="1" hangingPunct="1">
                  <a:buFontTx/>
                  <a:buNone/>
                </a:pPr>
                <a:r>
                  <a:rPr lang="zh-CN" altLang="en-US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五、实验仪器设备		</a:t>
                </a:r>
              </a:p>
              <a:p>
                <a:r>
                  <a:rPr lang="zh-CN" altLang="en-US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六、实验步骤、调试过程、实验数据</a:t>
                </a:r>
              </a:p>
              <a:p>
                <a:pPr eaLnBrk="1" hangingPunct="1">
                  <a:buFontTx/>
                  <a:buNone/>
                </a:pPr>
                <a:r>
                  <a:rPr lang="zh-CN" altLang="en-US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七、</a:t>
                </a:r>
                <a:r>
                  <a:rPr lang="zh-CN" altLang="en-US" sz="2400" b="1" dirty="0">
                    <a:solidFill>
                      <a:srgbClr val="C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数据分析与讨论</a:t>
                </a:r>
              </a:p>
              <a:p>
                <a:pPr eaLnBrk="1" hangingPunct="1">
                  <a:buFontTx/>
                  <a:buNone/>
                </a:pPr>
                <a:r>
                  <a:rPr lang="zh-CN" altLang="en-US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八、结论</a:t>
                </a:r>
              </a:p>
              <a:p>
                <a:pPr eaLnBrk="1" hangingPunct="1">
                  <a:buFontTx/>
                  <a:buNone/>
                </a:pPr>
                <a:r>
                  <a:rPr lang="zh-CN" altLang="en-US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九、心得与体会</a:t>
                </a:r>
              </a:p>
              <a:p>
                <a:pPr eaLnBrk="1" hangingPunct="1">
                  <a:buFontTx/>
                  <a:buNone/>
                </a:pPr>
                <a:r>
                  <a:rPr lang="zh-CN" altLang="en-US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十、思考题</a:t>
                </a:r>
              </a:p>
            </p:txBody>
          </p:sp>
          <p:pic>
            <p:nvPicPr>
              <p:cNvPr id="27" name="图片 26">
                <a:extLst>
                  <a:ext uri="{FF2B5EF4-FFF2-40B4-BE49-F238E27FC236}">
                    <a16:creationId xmlns:a16="http://schemas.microsoft.com/office/drawing/2014/main" id="{38397940-13D4-81C5-9A42-470BE7698E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82359" y="1590016"/>
                <a:ext cx="3262433" cy="829145"/>
              </a:xfrm>
              <a:prstGeom prst="rect">
                <a:avLst/>
              </a:prstGeom>
            </p:spPr>
          </p:pic>
        </p:grpSp>
        <p:sp>
          <p:nvSpPr>
            <p:cNvPr id="32" name="星形: 五角 31">
              <a:extLst>
                <a:ext uri="{FF2B5EF4-FFF2-40B4-BE49-F238E27FC236}">
                  <a16:creationId xmlns:a16="http://schemas.microsoft.com/office/drawing/2014/main" id="{1ABB7DAA-106B-4C90-8F14-3C9CD44B7480}"/>
                </a:ext>
              </a:extLst>
            </p:cNvPr>
            <p:cNvSpPr/>
            <p:nvPr/>
          </p:nvSpPr>
          <p:spPr>
            <a:xfrm>
              <a:off x="9878395" y="4733623"/>
              <a:ext cx="365760" cy="307239"/>
            </a:xfrm>
            <a:prstGeom prst="star5">
              <a:avLst/>
            </a:prstGeom>
            <a:solidFill>
              <a:srgbClr val="FF00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445394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6218E73E-643F-A957-F60A-AF6FB16B46FB}"/>
              </a:ext>
            </a:extLst>
          </p:cNvPr>
          <p:cNvSpPr/>
          <p:nvPr/>
        </p:nvSpPr>
        <p:spPr>
          <a:xfrm>
            <a:off x="1" y="561912"/>
            <a:ext cx="416966" cy="740193"/>
          </a:xfrm>
          <a:prstGeom prst="rect">
            <a:avLst/>
          </a:prstGeom>
          <a:solidFill>
            <a:srgbClr val="003F88"/>
          </a:solidFill>
          <a:ln>
            <a:solidFill>
              <a:srgbClr val="003F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347718B-9E21-D081-172E-2851BAF23170}"/>
              </a:ext>
            </a:extLst>
          </p:cNvPr>
          <p:cNvSpPr txBox="1"/>
          <p:nvPr/>
        </p:nvSpPr>
        <p:spPr>
          <a:xfrm>
            <a:off x="541079" y="608842"/>
            <a:ext cx="68672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实验报告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6E78C34-127D-CF1B-CAFE-A913CB776813}"/>
              </a:ext>
            </a:extLst>
          </p:cNvPr>
          <p:cNvSpPr txBox="1"/>
          <p:nvPr/>
        </p:nvSpPr>
        <p:spPr>
          <a:xfrm>
            <a:off x="515241" y="1107310"/>
            <a:ext cx="11269546" cy="57708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altLang="zh-CN" sz="36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spcAft>
                <a:spcPts val="2400"/>
              </a:spcAft>
            </a:pPr>
            <a:r>
              <a:rPr lang="en-US" altLang="zh-CN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5. 《</a:t>
            </a:r>
            <a:r>
              <a:rPr lang="zh-CN" altLang="en-US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实验报告</a:t>
            </a:r>
            <a:r>
              <a:rPr lang="en-US" altLang="zh-CN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》</a:t>
            </a:r>
            <a:r>
              <a:rPr lang="zh-CN" altLang="en-US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的文档编辑：</a:t>
            </a:r>
            <a:endParaRPr lang="en-US" altLang="zh-CN" sz="36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marL="571500" indent="-571500">
              <a:spcAft>
                <a:spcPts val="1200"/>
              </a:spcAft>
              <a:buFont typeface="Wingdings" panose="05000000000000000000" pitchFamily="2" charset="2"/>
              <a:buChar char="p"/>
            </a:pPr>
            <a:r>
              <a:rPr lang="en-US" altLang="zh-CN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Word/ WPS</a:t>
            </a:r>
          </a:p>
          <a:p>
            <a:pPr marL="571500" indent="-571500">
              <a:spcAft>
                <a:spcPts val="1200"/>
              </a:spcAft>
              <a:buFont typeface="Wingdings" panose="05000000000000000000" pitchFamily="2" charset="2"/>
              <a:buChar char="p"/>
            </a:pPr>
            <a:r>
              <a:rPr lang="en-US" altLang="zh-CN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Latex</a:t>
            </a:r>
            <a:r>
              <a:rPr lang="zh-CN" altLang="en-US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：鼓励使用</a:t>
            </a:r>
            <a:r>
              <a:rPr lang="en-US" altLang="zh-CN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Latex</a:t>
            </a:r>
            <a:r>
              <a:rPr lang="zh-CN" altLang="en-US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，进行实验报告、论文、演示文档、简历等文档的编辑。</a:t>
            </a:r>
            <a:endParaRPr lang="en-US" altLang="zh-CN" sz="36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marL="1028700" lvl="1" indent="-5715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Overleaf</a:t>
            </a:r>
            <a:r>
              <a:rPr lang="zh-CN" altLang="en-US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：            </a:t>
            </a:r>
            <a:r>
              <a:rPr lang="en-US" altLang="zh-CN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hlinkClick r:id="rId3"/>
              </a:rPr>
              <a:t>https://www.overleaf.com</a:t>
            </a:r>
            <a:r>
              <a:rPr lang="zh-CN" altLang="en-US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，</a:t>
            </a:r>
            <a:r>
              <a:rPr lang="en-US" altLang="zh-CN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Latex</a:t>
            </a:r>
            <a:r>
              <a:rPr lang="zh-CN" altLang="en-US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在线编辑器，提供各类模板供参考和使用；</a:t>
            </a:r>
            <a:endParaRPr lang="en-US" altLang="zh-CN" sz="36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marL="1028700" lvl="1" indent="-5715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Tex Live</a:t>
            </a:r>
            <a:r>
              <a:rPr lang="zh-CN" altLang="en-US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：安装花费时间较长，建议初学者先使用</a:t>
            </a:r>
            <a:r>
              <a:rPr lang="en-US" altLang="zh-CN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Overleaf</a:t>
            </a:r>
            <a:r>
              <a:rPr lang="zh-CN" altLang="en-US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。</a:t>
            </a:r>
            <a:endParaRPr lang="en-US" altLang="zh-CN" sz="36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ECB8547-6138-5562-01EF-75719440AC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8418" y="4479331"/>
            <a:ext cx="1470278" cy="535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5426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3B388-E321-CC79-286D-359067426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591BD454-746A-C869-F07F-B9A506FA05EC}"/>
              </a:ext>
            </a:extLst>
          </p:cNvPr>
          <p:cNvSpPr/>
          <p:nvPr/>
        </p:nvSpPr>
        <p:spPr>
          <a:xfrm>
            <a:off x="1" y="561912"/>
            <a:ext cx="416966" cy="740193"/>
          </a:xfrm>
          <a:prstGeom prst="rect">
            <a:avLst/>
          </a:prstGeom>
          <a:solidFill>
            <a:srgbClr val="003F88"/>
          </a:solidFill>
          <a:ln>
            <a:solidFill>
              <a:srgbClr val="003F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1031954-EF11-50AC-37E3-0896FFF20E23}"/>
              </a:ext>
            </a:extLst>
          </p:cNvPr>
          <p:cNvSpPr txBox="1"/>
          <p:nvPr/>
        </p:nvSpPr>
        <p:spPr>
          <a:xfrm>
            <a:off x="541079" y="608842"/>
            <a:ext cx="68672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实验报告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B2C062DF-4DE7-D2CD-D1C7-BB7534DF83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9721" y="153299"/>
            <a:ext cx="2633303" cy="3593535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9B6BD76D-1D63-A72A-7858-2DE09ECF81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7970" y="513342"/>
            <a:ext cx="4044029" cy="1807175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9B8FA9CF-A5F0-5DFA-B82F-02E9D80041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59721" y="4018288"/>
            <a:ext cx="6515236" cy="2501158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sp>
        <p:nvSpPr>
          <p:cNvPr id="19" name="箭头: 右 18">
            <a:extLst>
              <a:ext uri="{FF2B5EF4-FFF2-40B4-BE49-F238E27FC236}">
                <a16:creationId xmlns:a16="http://schemas.microsoft.com/office/drawing/2014/main" id="{C977CC7A-8413-4FE8-2E0E-27A2BFE8D69D}"/>
              </a:ext>
            </a:extLst>
          </p:cNvPr>
          <p:cNvSpPr/>
          <p:nvPr/>
        </p:nvSpPr>
        <p:spPr>
          <a:xfrm>
            <a:off x="7871155" y="1236269"/>
            <a:ext cx="445982" cy="292608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箭头: 右 20">
            <a:extLst>
              <a:ext uri="{FF2B5EF4-FFF2-40B4-BE49-F238E27FC236}">
                <a16:creationId xmlns:a16="http://schemas.microsoft.com/office/drawing/2014/main" id="{9C7AD2A4-08E1-16D0-C5DE-D707C0466BDD}"/>
              </a:ext>
            </a:extLst>
          </p:cNvPr>
          <p:cNvSpPr/>
          <p:nvPr/>
        </p:nvSpPr>
        <p:spPr>
          <a:xfrm rot="5400000">
            <a:off x="9472616" y="3005435"/>
            <a:ext cx="961865" cy="312116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571BC463-8540-232F-6A66-CADAC88C5934}"/>
              </a:ext>
            </a:extLst>
          </p:cNvPr>
          <p:cNvSpPr/>
          <p:nvPr/>
        </p:nvSpPr>
        <p:spPr>
          <a:xfrm>
            <a:off x="5464868" y="2421332"/>
            <a:ext cx="409237" cy="33855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197AB529-EEB9-1DAC-864F-F57ACCE5F58D}"/>
              </a:ext>
            </a:extLst>
          </p:cNvPr>
          <p:cNvSpPr/>
          <p:nvPr/>
        </p:nvSpPr>
        <p:spPr>
          <a:xfrm>
            <a:off x="8060602" y="1797799"/>
            <a:ext cx="409237" cy="33855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809386B8-0997-6641-81DB-8DEEF41043B9}"/>
              </a:ext>
            </a:extLst>
          </p:cNvPr>
          <p:cNvSpPr/>
          <p:nvPr/>
        </p:nvSpPr>
        <p:spPr>
          <a:xfrm>
            <a:off x="5484893" y="5615478"/>
            <a:ext cx="409237" cy="33855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F3C834F8-F3A5-7ACF-DB05-786C47A9771F}"/>
              </a:ext>
            </a:extLst>
          </p:cNvPr>
          <p:cNvSpPr txBox="1"/>
          <p:nvPr/>
        </p:nvSpPr>
        <p:spPr>
          <a:xfrm>
            <a:off x="43890" y="6541045"/>
            <a:ext cx="121919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altLang="zh-CN" sz="16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Stantchev R I, Yu X, Blu T, et al. Real-time terahertz imaging with a single-pixel detector[J]. Nature communications, 2020, 11(1): 2535.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2A29432-EAB8-7BA0-1EB3-8AF6765710B2}"/>
              </a:ext>
            </a:extLst>
          </p:cNvPr>
          <p:cNvSpPr txBox="1"/>
          <p:nvPr/>
        </p:nvSpPr>
        <p:spPr>
          <a:xfrm>
            <a:off x="200688" y="1107310"/>
            <a:ext cx="5378889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altLang="zh-CN" sz="36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spcAft>
                <a:spcPts val="2400"/>
              </a:spcAft>
            </a:pPr>
            <a:r>
              <a:rPr lang="en-US" altLang="zh-CN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6. 《</a:t>
            </a:r>
            <a:r>
              <a:rPr lang="zh-CN" altLang="en-US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实验报告</a:t>
            </a:r>
            <a:r>
              <a:rPr lang="en-US" altLang="zh-CN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》</a:t>
            </a:r>
            <a:r>
              <a:rPr lang="zh-CN" altLang="en-US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的图片</a:t>
            </a:r>
            <a:endParaRPr lang="en-US" altLang="zh-CN" sz="36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spcAft>
                <a:spcPts val="1200"/>
              </a:spcAft>
            </a:pPr>
            <a:r>
              <a:rPr lang="en-US" altLang="zh-CN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(1). </a:t>
            </a:r>
            <a:r>
              <a:rPr lang="zh-CN" altLang="en-US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一份包含多张图片的实验报告或科学研究论文：</a:t>
            </a:r>
            <a:endParaRPr lang="en-US" altLang="zh-CN" sz="36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marL="571500" indent="-571500">
              <a:spcAft>
                <a:spcPts val="1200"/>
              </a:spcAft>
              <a:buFont typeface="Wingdings" panose="05000000000000000000" pitchFamily="2" charset="2"/>
              <a:buChar char="p"/>
            </a:pPr>
            <a:r>
              <a:rPr lang="zh-CN" altLang="en-US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图序号：图片的排列顺序应与文本的逻辑一致；</a:t>
            </a:r>
            <a:endParaRPr lang="en-US" altLang="zh-CN" sz="36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marL="571500" indent="-571500">
              <a:spcAft>
                <a:spcPts val="1200"/>
              </a:spcAft>
              <a:buFont typeface="Wingdings" panose="05000000000000000000" pitchFamily="2" charset="2"/>
              <a:buChar char="p"/>
            </a:pPr>
            <a:r>
              <a:rPr lang="zh-CN" altLang="en-US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使读者</a:t>
            </a:r>
            <a:r>
              <a:rPr lang="zh-CN" alt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仅通过图片就可以大致了解该文所述内容；</a:t>
            </a:r>
            <a:endParaRPr lang="en-US" altLang="zh-CN" sz="36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0656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57492-1910-56DA-7D2F-F4E7A7F63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3F6CE806-27FD-D4C3-5FD8-C2C36C4800A7}"/>
              </a:ext>
            </a:extLst>
          </p:cNvPr>
          <p:cNvSpPr/>
          <p:nvPr/>
        </p:nvSpPr>
        <p:spPr>
          <a:xfrm>
            <a:off x="1" y="561912"/>
            <a:ext cx="416966" cy="740193"/>
          </a:xfrm>
          <a:prstGeom prst="rect">
            <a:avLst/>
          </a:prstGeom>
          <a:solidFill>
            <a:srgbClr val="003F88"/>
          </a:solidFill>
          <a:ln>
            <a:solidFill>
              <a:srgbClr val="003F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DEE21F4-91B6-29CF-F642-6840F4AF3580}"/>
              </a:ext>
            </a:extLst>
          </p:cNvPr>
          <p:cNvSpPr txBox="1"/>
          <p:nvPr/>
        </p:nvSpPr>
        <p:spPr>
          <a:xfrm>
            <a:off x="541079" y="608842"/>
            <a:ext cx="68672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实验报告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0BE0D9A0-1C50-04B4-E978-5993B39FF116}"/>
              </a:ext>
            </a:extLst>
          </p:cNvPr>
          <p:cNvSpPr txBox="1"/>
          <p:nvPr/>
        </p:nvSpPr>
        <p:spPr>
          <a:xfrm>
            <a:off x="0" y="6519446"/>
            <a:ext cx="1207495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altLang="zh-CN" sz="16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Lu X, Zhang F, Zhu L, et al. A terahertz meta-sensor array for 2D strain mapping[J]. Nature Communications, 2024, 15(1): 3157.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A839347-CD84-ECED-D094-B7130D5DC0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2046" y="199490"/>
            <a:ext cx="6745357" cy="5677892"/>
          </a:xfrm>
          <a:prstGeom prst="rect">
            <a:avLst/>
          </a:prstGeom>
          <a:ln>
            <a:solidFill>
              <a:schemeClr val="accent6">
                <a:lumMod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E76ADC75-6370-F7B9-6271-18C44CED9F9E}"/>
              </a:ext>
            </a:extLst>
          </p:cNvPr>
          <p:cNvSpPr txBox="1"/>
          <p:nvPr/>
        </p:nvSpPr>
        <p:spPr>
          <a:xfrm>
            <a:off x="515242" y="1107310"/>
            <a:ext cx="4837176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altLang="zh-CN" sz="36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spcAft>
                <a:spcPts val="2400"/>
              </a:spcAft>
            </a:pPr>
            <a:r>
              <a:rPr lang="en-US" altLang="zh-CN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6. 《</a:t>
            </a:r>
            <a:r>
              <a:rPr lang="zh-CN" altLang="en-US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实验报告</a:t>
            </a:r>
            <a:r>
              <a:rPr lang="en-US" altLang="zh-CN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》</a:t>
            </a:r>
            <a:r>
              <a:rPr lang="zh-CN" altLang="en-US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的图片</a:t>
            </a:r>
            <a:endParaRPr lang="en-US" altLang="zh-CN" sz="36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spcAft>
                <a:spcPts val="1200"/>
              </a:spcAft>
            </a:pPr>
            <a:r>
              <a:rPr lang="en-US" altLang="zh-CN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(2). </a:t>
            </a:r>
            <a:r>
              <a:rPr lang="zh-CN" altLang="en-US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图序号</a:t>
            </a:r>
            <a:r>
              <a:rPr lang="en-US" altLang="zh-CN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+</a:t>
            </a:r>
            <a:r>
              <a:rPr lang="zh-CN" altLang="en-US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标题</a:t>
            </a:r>
            <a:r>
              <a:rPr lang="en-US" altLang="zh-CN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+</a:t>
            </a:r>
            <a:r>
              <a:rPr lang="zh-CN" altLang="en-US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简要解释</a:t>
            </a:r>
            <a:r>
              <a:rPr lang="en-US" altLang="zh-CN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+</a:t>
            </a:r>
            <a:r>
              <a:rPr lang="zh-CN" altLang="en-US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子图序号；</a:t>
            </a:r>
            <a:endParaRPr lang="en-US" altLang="zh-CN" sz="36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3457B0CF-5715-BA47-515F-3D5B0669104A}"/>
              </a:ext>
            </a:extLst>
          </p:cNvPr>
          <p:cNvSpPr/>
          <p:nvPr/>
        </p:nvSpPr>
        <p:spPr>
          <a:xfrm>
            <a:off x="5229361" y="4806086"/>
            <a:ext cx="337506" cy="18288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95A3566C-5392-A932-A738-3DA8C31321CC}"/>
              </a:ext>
            </a:extLst>
          </p:cNvPr>
          <p:cNvCxnSpPr/>
          <p:nvPr/>
        </p:nvCxnSpPr>
        <p:spPr>
          <a:xfrm>
            <a:off x="5632704" y="4959706"/>
            <a:ext cx="1901952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262A57BF-2785-B150-D5CE-24988D2D220A}"/>
              </a:ext>
            </a:extLst>
          </p:cNvPr>
          <p:cNvSpPr/>
          <p:nvPr/>
        </p:nvSpPr>
        <p:spPr>
          <a:xfrm>
            <a:off x="5566868" y="206656"/>
            <a:ext cx="337506" cy="18288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0CA44E77-7C67-DB6A-8C03-27B672758871}"/>
              </a:ext>
            </a:extLst>
          </p:cNvPr>
          <p:cNvSpPr/>
          <p:nvPr/>
        </p:nvSpPr>
        <p:spPr>
          <a:xfrm>
            <a:off x="6779971" y="196370"/>
            <a:ext cx="337506" cy="18288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27528F29-B611-810D-02AC-F7508A503027}"/>
              </a:ext>
            </a:extLst>
          </p:cNvPr>
          <p:cNvSpPr/>
          <p:nvPr/>
        </p:nvSpPr>
        <p:spPr>
          <a:xfrm>
            <a:off x="9329583" y="199341"/>
            <a:ext cx="337506" cy="18288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D86B940C-1E53-9C24-8667-6C043943EBC7}"/>
              </a:ext>
            </a:extLst>
          </p:cNvPr>
          <p:cNvSpPr/>
          <p:nvPr/>
        </p:nvSpPr>
        <p:spPr>
          <a:xfrm>
            <a:off x="5566867" y="2695647"/>
            <a:ext cx="337506" cy="18288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51BC9593-156C-769E-204E-C756B8CCDA58}"/>
              </a:ext>
            </a:extLst>
          </p:cNvPr>
          <p:cNvSpPr/>
          <p:nvPr/>
        </p:nvSpPr>
        <p:spPr>
          <a:xfrm>
            <a:off x="8620327" y="2695647"/>
            <a:ext cx="337506" cy="18288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9055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E119D-6E0E-84E3-B232-2DCA64F2A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193DEC2E-2BF0-BCB0-86F8-D1964EF8CC84}"/>
              </a:ext>
            </a:extLst>
          </p:cNvPr>
          <p:cNvSpPr/>
          <p:nvPr/>
        </p:nvSpPr>
        <p:spPr>
          <a:xfrm>
            <a:off x="1" y="561912"/>
            <a:ext cx="416966" cy="740193"/>
          </a:xfrm>
          <a:prstGeom prst="rect">
            <a:avLst/>
          </a:prstGeom>
          <a:solidFill>
            <a:srgbClr val="003F88"/>
          </a:solidFill>
          <a:ln>
            <a:solidFill>
              <a:srgbClr val="003F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66F33CF-9787-B58B-AE56-BE415CCB8995}"/>
              </a:ext>
            </a:extLst>
          </p:cNvPr>
          <p:cNvSpPr txBox="1"/>
          <p:nvPr/>
        </p:nvSpPr>
        <p:spPr>
          <a:xfrm>
            <a:off x="541079" y="608842"/>
            <a:ext cx="68672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实验报告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6FB3757-B864-B2E2-D733-E35250AA0117}"/>
              </a:ext>
            </a:extLst>
          </p:cNvPr>
          <p:cNvSpPr txBox="1"/>
          <p:nvPr/>
        </p:nvSpPr>
        <p:spPr>
          <a:xfrm>
            <a:off x="515241" y="1107310"/>
            <a:ext cx="6697546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altLang="zh-CN" sz="36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spcAft>
                <a:spcPts val="2400"/>
              </a:spcAft>
            </a:pPr>
            <a:r>
              <a:rPr lang="en-US" altLang="zh-CN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6. 《</a:t>
            </a:r>
            <a:r>
              <a:rPr lang="zh-CN" altLang="en-US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实验报告</a:t>
            </a:r>
            <a:r>
              <a:rPr lang="en-US" altLang="zh-CN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》</a:t>
            </a:r>
            <a:r>
              <a:rPr lang="zh-CN" altLang="en-US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的图片</a:t>
            </a:r>
            <a:endParaRPr lang="en-US" altLang="zh-CN" sz="36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spcAft>
                <a:spcPts val="1200"/>
              </a:spcAft>
            </a:pPr>
            <a:r>
              <a:rPr lang="en-US" altLang="zh-CN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(3). </a:t>
            </a:r>
            <a:r>
              <a:rPr lang="zh-CN" altLang="en-US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坐标与单位</a:t>
            </a:r>
            <a:endParaRPr lang="en-US" altLang="zh-CN" sz="36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spcAft>
                <a:spcPts val="1200"/>
              </a:spcAft>
            </a:pPr>
            <a:r>
              <a:rPr lang="zh-CN" altLang="en-US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标注：横、纵坐标代表的</a:t>
            </a:r>
            <a:r>
              <a:rPr lang="zh-CN" altLang="en-US" sz="36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物理量</a:t>
            </a:r>
            <a:r>
              <a:rPr lang="zh-CN" altLang="en-US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及其</a:t>
            </a:r>
            <a:r>
              <a:rPr lang="zh-CN" altLang="en-US" sz="36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单位</a:t>
            </a:r>
            <a:r>
              <a:rPr lang="zh-CN" altLang="en-US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；</a:t>
            </a:r>
            <a:endParaRPr lang="en-US" altLang="zh-CN" sz="36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49B38F64-2019-D69A-B370-5FBA14EF02BA}"/>
              </a:ext>
            </a:extLst>
          </p:cNvPr>
          <p:cNvSpPr txBox="1"/>
          <p:nvPr/>
        </p:nvSpPr>
        <p:spPr>
          <a:xfrm>
            <a:off x="0" y="6519446"/>
            <a:ext cx="1207495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altLang="zh-CN" sz="16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Lu X, Zhang F, Zhu L, et al. A terahertz meta-sensor array for 2D strain mapping[J]. Nature Communications, 2024, 15(1): 3157.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40A3CD8-9CC4-69C3-650B-E7273C4946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8922" y="1107310"/>
            <a:ext cx="5050391" cy="3383548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10" name="矩形: 圆角 9">
            <a:extLst>
              <a:ext uri="{FF2B5EF4-FFF2-40B4-BE49-F238E27FC236}">
                <a16:creationId xmlns:a16="http://schemas.microsoft.com/office/drawing/2014/main" id="{037750A8-558A-9F5E-643D-D0ECD633EBF7}"/>
              </a:ext>
            </a:extLst>
          </p:cNvPr>
          <p:cNvSpPr/>
          <p:nvPr/>
        </p:nvSpPr>
        <p:spPr>
          <a:xfrm>
            <a:off x="9597542" y="4198925"/>
            <a:ext cx="672999" cy="33855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C0818659-64F1-011E-5B7A-EF7B4A48F170}"/>
              </a:ext>
            </a:extLst>
          </p:cNvPr>
          <p:cNvSpPr/>
          <p:nvPr/>
        </p:nvSpPr>
        <p:spPr>
          <a:xfrm>
            <a:off x="7110374" y="1992468"/>
            <a:ext cx="261384" cy="124816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4266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3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E9491-6D39-51D6-6A32-D9D02B3A0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5E179F6-1417-B1D8-A900-11A8513B3C26}"/>
              </a:ext>
            </a:extLst>
          </p:cNvPr>
          <p:cNvSpPr/>
          <p:nvPr/>
        </p:nvSpPr>
        <p:spPr>
          <a:xfrm>
            <a:off x="1" y="561912"/>
            <a:ext cx="416966" cy="740193"/>
          </a:xfrm>
          <a:prstGeom prst="rect">
            <a:avLst/>
          </a:prstGeom>
          <a:solidFill>
            <a:srgbClr val="003F88"/>
          </a:solidFill>
          <a:ln>
            <a:solidFill>
              <a:srgbClr val="003F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69991DE-9CDD-F4A2-DE3D-3622BE441B5B}"/>
              </a:ext>
            </a:extLst>
          </p:cNvPr>
          <p:cNvSpPr txBox="1"/>
          <p:nvPr/>
        </p:nvSpPr>
        <p:spPr>
          <a:xfrm>
            <a:off x="541079" y="608842"/>
            <a:ext cx="68672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实验报告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F8D18BAE-D5EF-0E75-AE59-3545478FA641}"/>
              </a:ext>
            </a:extLst>
          </p:cNvPr>
          <p:cNvSpPr txBox="1"/>
          <p:nvPr/>
        </p:nvSpPr>
        <p:spPr>
          <a:xfrm>
            <a:off x="0" y="6519446"/>
            <a:ext cx="1207495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altLang="zh-CN" sz="16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Lu X, Zhang F, Zhu L, et al. A terahertz meta-sensor array for 2D strain mapping[J]. Nature Communications, 2024, 15(1): 3157.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76A26446-EA02-DE97-9E1E-0471D6E021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4479" y="4389723"/>
            <a:ext cx="5127521" cy="1977508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429A2A5E-7E75-D237-18C1-5B5F028A11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6496" y="194522"/>
            <a:ext cx="4123340" cy="3789860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077D3E06-D458-9291-14C9-3F675932276F}"/>
              </a:ext>
            </a:extLst>
          </p:cNvPr>
          <p:cNvSpPr/>
          <p:nvPr/>
        </p:nvSpPr>
        <p:spPr>
          <a:xfrm>
            <a:off x="11697005" y="4427325"/>
            <a:ext cx="505552" cy="1680869"/>
          </a:xfrm>
          <a:prstGeom prst="roundRect">
            <a:avLst/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8F10ADF4-36C1-38EB-3771-281DDC0717A1}"/>
              </a:ext>
            </a:extLst>
          </p:cNvPr>
          <p:cNvSpPr/>
          <p:nvPr/>
        </p:nvSpPr>
        <p:spPr>
          <a:xfrm>
            <a:off x="8778240" y="234210"/>
            <a:ext cx="2216506" cy="1408753"/>
          </a:xfrm>
          <a:prstGeom prst="roundRect">
            <a:avLst/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BCBF16A-4FC0-4CCA-530E-A05B40A8409C}"/>
              </a:ext>
            </a:extLst>
          </p:cNvPr>
          <p:cNvSpPr txBox="1"/>
          <p:nvPr/>
        </p:nvSpPr>
        <p:spPr>
          <a:xfrm>
            <a:off x="515241" y="1107310"/>
            <a:ext cx="6697546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altLang="zh-CN" sz="36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spcAft>
                <a:spcPts val="2400"/>
              </a:spcAft>
            </a:pPr>
            <a:r>
              <a:rPr lang="en-US" altLang="zh-CN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6. 《</a:t>
            </a:r>
            <a:r>
              <a:rPr lang="zh-CN" altLang="en-US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实验报告</a:t>
            </a:r>
            <a:r>
              <a:rPr lang="en-US" altLang="zh-CN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》</a:t>
            </a:r>
            <a:r>
              <a:rPr lang="zh-CN" altLang="en-US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的图片</a:t>
            </a:r>
            <a:endParaRPr lang="en-US" altLang="zh-CN" sz="36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spcAft>
                <a:spcPts val="1200"/>
              </a:spcAft>
            </a:pPr>
            <a:r>
              <a:rPr lang="en-US" altLang="zh-CN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(4). </a:t>
            </a:r>
            <a:r>
              <a:rPr lang="zh-CN" altLang="en-US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颜色的使用：</a:t>
            </a:r>
            <a:endParaRPr lang="en-US" altLang="zh-CN" sz="36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marL="571500" indent="-571500">
              <a:spcAft>
                <a:spcPts val="1200"/>
              </a:spcAft>
              <a:buFont typeface="Wingdings" panose="05000000000000000000" pitchFamily="2" charset="2"/>
              <a:buChar char="p"/>
            </a:pPr>
            <a:r>
              <a:rPr lang="zh-CN" altLang="en-US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用颜色区分不同数据对象；  </a:t>
            </a:r>
            <a:endParaRPr lang="en-US" altLang="zh-CN" sz="36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marL="571500" indent="-571500">
              <a:spcAft>
                <a:spcPts val="1200"/>
              </a:spcAft>
              <a:buFont typeface="Wingdings" panose="05000000000000000000" pitchFamily="2" charset="2"/>
              <a:buChar char="p"/>
            </a:pPr>
            <a:r>
              <a:rPr lang="zh-CN" altLang="en-US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说明不同颜色所代表的内容；</a:t>
            </a:r>
            <a:r>
              <a:rPr lang="en-US" altLang="zh-CN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02691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4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repeatCount="4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C5D1F-D618-DA05-D5A8-883980D8A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4B082D6-875B-99A6-F550-3FAF34A5B122}"/>
              </a:ext>
            </a:extLst>
          </p:cNvPr>
          <p:cNvSpPr/>
          <p:nvPr/>
        </p:nvSpPr>
        <p:spPr>
          <a:xfrm>
            <a:off x="1" y="561912"/>
            <a:ext cx="416966" cy="740193"/>
          </a:xfrm>
          <a:prstGeom prst="rect">
            <a:avLst/>
          </a:prstGeom>
          <a:solidFill>
            <a:srgbClr val="003F88"/>
          </a:solidFill>
          <a:ln>
            <a:solidFill>
              <a:srgbClr val="003F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709D77C-7CE7-17EC-6359-91115FD5ADC4}"/>
              </a:ext>
            </a:extLst>
          </p:cNvPr>
          <p:cNvSpPr txBox="1"/>
          <p:nvPr/>
        </p:nvSpPr>
        <p:spPr>
          <a:xfrm>
            <a:off x="541079" y="608842"/>
            <a:ext cx="68672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实验报告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85128D2-14C3-9D74-C1A6-7CE028704CB3}"/>
              </a:ext>
            </a:extLst>
          </p:cNvPr>
          <p:cNvSpPr txBox="1"/>
          <p:nvPr/>
        </p:nvSpPr>
        <p:spPr>
          <a:xfrm>
            <a:off x="515241" y="1107310"/>
            <a:ext cx="6697546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altLang="zh-CN" sz="36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spcAft>
                <a:spcPts val="2400"/>
              </a:spcAft>
            </a:pPr>
            <a:r>
              <a:rPr lang="en-US" altLang="zh-CN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6. 《</a:t>
            </a:r>
            <a:r>
              <a:rPr lang="zh-CN" altLang="en-US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实验报告</a:t>
            </a:r>
            <a:r>
              <a:rPr lang="en-US" altLang="zh-CN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》</a:t>
            </a:r>
            <a:r>
              <a:rPr lang="zh-CN" altLang="en-US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的图片</a:t>
            </a:r>
            <a:endParaRPr lang="en-US" altLang="zh-CN" sz="36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spcAft>
                <a:spcPts val="1200"/>
              </a:spcAft>
            </a:pPr>
            <a:r>
              <a:rPr lang="en-US" altLang="zh-CN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(5). </a:t>
            </a:r>
            <a:r>
              <a:rPr lang="zh-CN" altLang="en-US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绘图工具</a:t>
            </a:r>
            <a:endParaRPr lang="en-US" altLang="zh-CN" sz="36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marL="1028700" lvl="1" indent="-571500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US" altLang="zh-CN" sz="3600" dirty="0" err="1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Matlab</a:t>
            </a:r>
            <a:r>
              <a:rPr lang="zh-CN" altLang="en-US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；</a:t>
            </a:r>
            <a:endParaRPr lang="en-US" altLang="zh-CN" sz="36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marL="1028700" lvl="1" indent="-571500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US" altLang="zh-CN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Origin;</a:t>
            </a:r>
          </a:p>
          <a:p>
            <a:pPr marL="1028700" lvl="1" indent="-571500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US" altLang="zh-CN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Visio;</a:t>
            </a:r>
          </a:p>
          <a:p>
            <a:pPr>
              <a:spcAft>
                <a:spcPts val="1200"/>
              </a:spcAft>
            </a:pPr>
            <a:r>
              <a:rPr lang="en-US" altLang="zh-CN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	…</a:t>
            </a:r>
          </a:p>
        </p:txBody>
      </p:sp>
      <p:sp>
        <p:nvSpPr>
          <p:cNvPr id="2" name="AutoShape 2" descr="MathWorks">
            <a:extLst>
              <a:ext uri="{FF2B5EF4-FFF2-40B4-BE49-F238E27FC236}">
                <a16:creationId xmlns:a16="http://schemas.microsoft.com/office/drawing/2014/main" id="{CB4DAC18-0DDB-C0CE-A153-BD03291E52F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710989" y="3276599"/>
            <a:ext cx="1537411" cy="15374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1028" name="Picture 4" descr="MATLAB - Wikipedia">
            <a:extLst>
              <a:ext uri="{FF2B5EF4-FFF2-40B4-BE49-F238E27FC236}">
                <a16:creationId xmlns:a16="http://schemas.microsoft.com/office/drawing/2014/main" id="{16EEE490-CA83-9C7A-5BB8-206D033FBC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5488" y="3022164"/>
            <a:ext cx="962228" cy="8611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34334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24BEF-4892-D60F-BD93-81D9571BE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FDE70AA-FD98-4D74-6F04-19D9083AD66E}"/>
              </a:ext>
            </a:extLst>
          </p:cNvPr>
          <p:cNvSpPr/>
          <p:nvPr/>
        </p:nvSpPr>
        <p:spPr>
          <a:xfrm>
            <a:off x="1" y="561912"/>
            <a:ext cx="416966" cy="740193"/>
          </a:xfrm>
          <a:prstGeom prst="rect">
            <a:avLst/>
          </a:prstGeom>
          <a:solidFill>
            <a:srgbClr val="003F88"/>
          </a:solidFill>
          <a:ln>
            <a:solidFill>
              <a:srgbClr val="003F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AFB3C79-220C-E1E5-70B7-286E79BDC71A}"/>
              </a:ext>
            </a:extLst>
          </p:cNvPr>
          <p:cNvSpPr txBox="1"/>
          <p:nvPr/>
        </p:nvSpPr>
        <p:spPr>
          <a:xfrm>
            <a:off x="541079" y="608842"/>
            <a:ext cx="68672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实验报告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765DC44-57F8-2546-46BA-B55B5802EF36}"/>
              </a:ext>
            </a:extLst>
          </p:cNvPr>
          <p:cNvSpPr txBox="1"/>
          <p:nvPr/>
        </p:nvSpPr>
        <p:spPr>
          <a:xfrm>
            <a:off x="515241" y="1107310"/>
            <a:ext cx="6697546" cy="4739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altLang="zh-CN" sz="36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spcAft>
                <a:spcPts val="2400"/>
              </a:spcAft>
            </a:pPr>
            <a:r>
              <a:rPr lang="en-US" altLang="zh-CN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7. 《</a:t>
            </a:r>
            <a:r>
              <a:rPr lang="zh-CN" altLang="en-US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实验报告</a:t>
            </a:r>
            <a:r>
              <a:rPr lang="en-US" altLang="zh-CN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》</a:t>
            </a:r>
            <a:r>
              <a:rPr lang="zh-CN" altLang="en-US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的表格</a:t>
            </a:r>
            <a:endParaRPr lang="en-US" altLang="zh-CN" sz="36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marL="571500" indent="-571500">
              <a:spcAft>
                <a:spcPts val="1200"/>
              </a:spcAft>
              <a:buFont typeface="Wingdings" panose="05000000000000000000" pitchFamily="2" charset="2"/>
              <a:buChar char="p"/>
            </a:pPr>
            <a:r>
              <a:rPr lang="zh-CN" altLang="en-US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序号</a:t>
            </a:r>
            <a:r>
              <a:rPr lang="en-US" altLang="zh-CN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+</a:t>
            </a:r>
            <a:r>
              <a:rPr lang="zh-CN" altLang="en-US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标题</a:t>
            </a:r>
            <a:r>
              <a:rPr lang="en-US" altLang="zh-CN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/</a:t>
            </a:r>
            <a:r>
              <a:rPr lang="zh-CN" altLang="en-US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说明；</a:t>
            </a:r>
            <a:endParaRPr lang="en-US" altLang="zh-CN" sz="36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marL="571500" indent="-571500">
              <a:spcAft>
                <a:spcPts val="1200"/>
              </a:spcAft>
              <a:buFont typeface="Wingdings" panose="05000000000000000000" pitchFamily="2" charset="2"/>
              <a:buChar char="p"/>
            </a:pPr>
            <a:r>
              <a:rPr lang="zh-CN" altLang="en-US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数据单位；</a:t>
            </a:r>
            <a:endParaRPr lang="en-US" altLang="zh-CN" sz="36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marL="571500" indent="-571500">
              <a:spcAft>
                <a:spcPts val="1200"/>
              </a:spcAft>
              <a:buFont typeface="Wingdings" panose="05000000000000000000" pitchFamily="2" charset="2"/>
              <a:buChar char="p"/>
            </a:pPr>
            <a:r>
              <a:rPr lang="zh-CN" altLang="en-US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大部分情况下，确保小数点后保留位数一致；</a:t>
            </a:r>
            <a:endParaRPr lang="en-US" altLang="zh-CN" sz="36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spcAft>
                <a:spcPts val="1200"/>
              </a:spcAft>
            </a:pPr>
            <a:endParaRPr lang="en-US" altLang="zh-CN" sz="36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" name="AutoShape 2" descr="MathWorks">
            <a:extLst>
              <a:ext uri="{FF2B5EF4-FFF2-40B4-BE49-F238E27FC236}">
                <a16:creationId xmlns:a16="http://schemas.microsoft.com/office/drawing/2014/main" id="{1451E439-993A-474D-0857-0F91F188699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710989" y="3276599"/>
            <a:ext cx="1537411" cy="15374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3520DDF-78B4-5E74-0F42-16B18B39A8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3658" y="799501"/>
            <a:ext cx="5741299" cy="1431709"/>
          </a:xfrm>
          <a:prstGeom prst="rect">
            <a:avLst/>
          </a:prstGeom>
          <a:ln>
            <a:noFill/>
          </a:ln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3CD42B7A-3AE6-144C-0F1E-790307AEED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1656" y="2520558"/>
            <a:ext cx="4125301" cy="3634320"/>
          </a:xfrm>
          <a:prstGeom prst="rect">
            <a:avLst/>
          </a:prstGeom>
          <a:ln>
            <a:noFill/>
          </a:ln>
        </p:spPr>
      </p:pic>
      <p:sp>
        <p:nvSpPr>
          <p:cNvPr id="7" name="矩形: 圆角 6">
            <a:extLst>
              <a:ext uri="{FF2B5EF4-FFF2-40B4-BE49-F238E27FC236}">
                <a16:creationId xmlns:a16="http://schemas.microsoft.com/office/drawing/2014/main" id="{982A7A03-B6E6-B93E-081E-EF1668D1B690}"/>
              </a:ext>
            </a:extLst>
          </p:cNvPr>
          <p:cNvSpPr/>
          <p:nvPr/>
        </p:nvSpPr>
        <p:spPr>
          <a:xfrm>
            <a:off x="8888742" y="2465759"/>
            <a:ext cx="672999" cy="26281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798E504E-DB85-5AD2-75FE-29B6F30A7509}"/>
              </a:ext>
            </a:extLst>
          </p:cNvPr>
          <p:cNvSpPr/>
          <p:nvPr/>
        </p:nvSpPr>
        <p:spPr>
          <a:xfrm>
            <a:off x="6333659" y="749171"/>
            <a:ext cx="557260" cy="26176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8FC49971-8C1C-B7EC-57C9-48ED0F604D6B}"/>
              </a:ext>
            </a:extLst>
          </p:cNvPr>
          <p:cNvCxnSpPr/>
          <p:nvPr/>
        </p:nvCxnSpPr>
        <p:spPr>
          <a:xfrm>
            <a:off x="6964072" y="988986"/>
            <a:ext cx="499628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8AFC6980-64D4-AB21-0D72-DBACB7CE532A}"/>
              </a:ext>
            </a:extLst>
          </p:cNvPr>
          <p:cNvCxnSpPr>
            <a:cxnSpLocks/>
          </p:cNvCxnSpPr>
          <p:nvPr/>
        </p:nvCxnSpPr>
        <p:spPr>
          <a:xfrm>
            <a:off x="6363007" y="1177962"/>
            <a:ext cx="466831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5961A60A-0345-6E13-5AC8-15F836B6F86B}"/>
              </a:ext>
            </a:extLst>
          </p:cNvPr>
          <p:cNvCxnSpPr>
            <a:cxnSpLocks/>
          </p:cNvCxnSpPr>
          <p:nvPr/>
        </p:nvCxnSpPr>
        <p:spPr>
          <a:xfrm>
            <a:off x="7212787" y="2859240"/>
            <a:ext cx="3994099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4886F68D-460B-859B-60D3-25D1D4B50F25}"/>
              </a:ext>
            </a:extLst>
          </p:cNvPr>
          <p:cNvCxnSpPr>
            <a:cxnSpLocks/>
          </p:cNvCxnSpPr>
          <p:nvPr/>
        </p:nvCxnSpPr>
        <p:spPr>
          <a:xfrm>
            <a:off x="7913827" y="3018955"/>
            <a:ext cx="262006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A786742A-383E-213E-9EA1-D2FB71C9F04F}"/>
              </a:ext>
            </a:extLst>
          </p:cNvPr>
          <p:cNvSpPr/>
          <p:nvPr/>
        </p:nvSpPr>
        <p:spPr>
          <a:xfrm>
            <a:off x="8351282" y="1294790"/>
            <a:ext cx="419643" cy="165203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75069EB9-3B96-530C-A7E9-D5F050C04CCC}"/>
              </a:ext>
            </a:extLst>
          </p:cNvPr>
          <p:cNvSpPr/>
          <p:nvPr/>
        </p:nvSpPr>
        <p:spPr>
          <a:xfrm>
            <a:off x="11266957" y="1294789"/>
            <a:ext cx="419643" cy="165203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8736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4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 tmFilter="0, 0; .2, .5; .8, .5; 1, 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" dur="250" autoRev="1" fill="hold"/>
                                        <p:tgtEl>
                                          <p:spTgt spid="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9" grpId="0" animBg="1"/>
      <p:bldP spid="21" grpId="0" animBg="1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5650</TotalTime>
  <Words>2230</Words>
  <Application>Microsoft Office PowerPoint</Application>
  <PresentationFormat>宽屏</PresentationFormat>
  <Paragraphs>285</Paragraphs>
  <Slides>32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46" baseType="lpstr">
      <vt:lpstr>Malgun Gothic</vt:lpstr>
      <vt:lpstr>等线</vt:lpstr>
      <vt:lpstr>等线 Light</vt:lpstr>
      <vt:lpstr>黑体</vt:lpstr>
      <vt:lpstr>华文新魏</vt:lpstr>
      <vt:lpstr>楷体</vt:lpstr>
      <vt:lpstr>宋体</vt:lpstr>
      <vt:lpstr>Arial</vt:lpstr>
      <vt:lpstr>Calibri</vt:lpstr>
      <vt:lpstr>Gadugi</vt:lpstr>
      <vt:lpstr>Microsoft Sans Serif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123 123</dc:creator>
  <cp:lastModifiedBy>123 123</cp:lastModifiedBy>
  <cp:revision>14</cp:revision>
  <dcterms:created xsi:type="dcterms:W3CDTF">2025-10-29T06:33:11Z</dcterms:created>
  <dcterms:modified xsi:type="dcterms:W3CDTF">2025-11-03T02:49:17Z</dcterms:modified>
</cp:coreProperties>
</file>