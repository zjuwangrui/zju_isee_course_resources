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82"/>
  </p:handoutMasterIdLst>
  <p:sldIdLst>
    <p:sldId id="539" r:id="rId3"/>
    <p:sldId id="406" r:id="rId5"/>
    <p:sldId id="518" r:id="rId6"/>
    <p:sldId id="407" r:id="rId7"/>
    <p:sldId id="408" r:id="rId8"/>
    <p:sldId id="410" r:id="rId9"/>
    <p:sldId id="411" r:id="rId10"/>
    <p:sldId id="412" r:id="rId11"/>
    <p:sldId id="535" r:id="rId12"/>
    <p:sldId id="416" r:id="rId13"/>
    <p:sldId id="546" r:id="rId14"/>
    <p:sldId id="547" r:id="rId15"/>
    <p:sldId id="422" r:id="rId16"/>
    <p:sldId id="425" r:id="rId17"/>
    <p:sldId id="426" r:id="rId18"/>
    <p:sldId id="427" r:id="rId19"/>
    <p:sldId id="504" r:id="rId20"/>
    <p:sldId id="430" r:id="rId21"/>
    <p:sldId id="540" r:id="rId22"/>
    <p:sldId id="431" r:id="rId23"/>
    <p:sldId id="432" r:id="rId24"/>
    <p:sldId id="433" r:id="rId25"/>
    <p:sldId id="434" r:id="rId26"/>
    <p:sldId id="435" r:id="rId27"/>
    <p:sldId id="269" r:id="rId28"/>
    <p:sldId id="260" r:id="rId29"/>
    <p:sldId id="261" r:id="rId30"/>
    <p:sldId id="262" r:id="rId31"/>
    <p:sldId id="281" r:id="rId32"/>
    <p:sldId id="436" r:id="rId33"/>
    <p:sldId id="506" r:id="rId34"/>
    <p:sldId id="536" r:id="rId35"/>
    <p:sldId id="505" r:id="rId36"/>
    <p:sldId id="541" r:id="rId37"/>
    <p:sldId id="531" r:id="rId38"/>
    <p:sldId id="439" r:id="rId39"/>
    <p:sldId id="545" r:id="rId40"/>
    <p:sldId id="532" r:id="rId41"/>
    <p:sldId id="444" r:id="rId42"/>
    <p:sldId id="445" r:id="rId43"/>
    <p:sldId id="446" r:id="rId44"/>
    <p:sldId id="509" r:id="rId45"/>
    <p:sldId id="447" r:id="rId46"/>
    <p:sldId id="510" r:id="rId47"/>
    <p:sldId id="533" r:id="rId48"/>
    <p:sldId id="448" r:id="rId49"/>
    <p:sldId id="449" r:id="rId50"/>
    <p:sldId id="450" r:id="rId51"/>
    <p:sldId id="542" r:id="rId52"/>
    <p:sldId id="537" r:id="rId53"/>
    <p:sldId id="511" r:id="rId54"/>
    <p:sldId id="512" r:id="rId55"/>
    <p:sldId id="460" r:id="rId56"/>
    <p:sldId id="461" r:id="rId57"/>
    <p:sldId id="462" r:id="rId58"/>
    <p:sldId id="463" r:id="rId59"/>
    <p:sldId id="464" r:id="rId60"/>
    <p:sldId id="465" r:id="rId61"/>
    <p:sldId id="466" r:id="rId62"/>
    <p:sldId id="467" r:id="rId63"/>
    <p:sldId id="473" r:id="rId64"/>
    <p:sldId id="474" r:id="rId65"/>
    <p:sldId id="475" r:id="rId66"/>
    <p:sldId id="476" r:id="rId67"/>
    <p:sldId id="477" r:id="rId68"/>
    <p:sldId id="480" r:id="rId69"/>
    <p:sldId id="482" r:id="rId70"/>
    <p:sldId id="513" r:id="rId71"/>
    <p:sldId id="484" r:id="rId72"/>
    <p:sldId id="485" r:id="rId73"/>
    <p:sldId id="514" r:id="rId74"/>
    <p:sldId id="538" r:id="rId75"/>
    <p:sldId id="515" r:id="rId76"/>
    <p:sldId id="496" r:id="rId77"/>
    <p:sldId id="501" r:id="rId78"/>
    <p:sldId id="502" r:id="rId79"/>
    <p:sldId id="526" r:id="rId80"/>
    <p:sldId id="544" r:id="rId81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86"/>
      <p:bold r:id="rId87"/>
      <p:italic r:id="rId88"/>
      <p:boldItalic r:id="rId89"/>
    </p:embeddedFont>
    <p:embeddedFont>
      <p:font typeface="MS PGothic" panose="020B0600070205080204" pitchFamily="34" charset="-128"/>
      <p:regular r:id="rId90"/>
    </p:embeddedFont>
    <p:embeddedFont>
      <p:font typeface="Trebuchet MS" panose="020B0603020202020204" charset="0"/>
      <p:regular r:id="rId91"/>
      <p:bold r:id="rId92"/>
      <p:italic r:id="rId93"/>
      <p:boldItalic r:id="rId94"/>
    </p:embeddedFont>
    <p:embeddedFont>
      <p:font typeface="Symath" panose="00000400000000000000" charset="0"/>
      <p:regular r:id="rId95"/>
    </p:embeddedFont>
    <p:embeddedFont>
      <p:font typeface="Cascadia Mono" panose="020B0609020000020004" charset="0"/>
      <p:regular r:id="rId96"/>
      <p:bold r:id="rId97"/>
      <p:italic r:id="rId98"/>
      <p:boldItalic r:id="rId99"/>
    </p:embeddedFont>
    <p:embeddedFont>
      <p:font typeface="华康行楷体 W5" panose="03000509000000000000" charset="-122"/>
      <p:regular r:id="rId100"/>
    </p:embeddedFont>
    <p:embeddedFont>
      <p:font typeface="Saturday Sans Regular" panose="02010600010101010101" charset="-122"/>
      <p:regular r:id="rId101"/>
    </p:embeddedFont>
    <p:embeddedFont>
      <p:font typeface="Lucida Casual Regular" panose="02010600010101010101" charset="-122"/>
      <p:regular r:id="rId102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54" autoAdjust="0"/>
    <p:restoredTop sz="92245" autoAdjust="0"/>
  </p:normalViewPr>
  <p:slideViewPr>
    <p:cSldViewPr showGuides="1">
      <p:cViewPr varScale="1">
        <p:scale>
          <a:sx n="148" d="100"/>
          <a:sy n="148" d="100"/>
        </p:scale>
        <p:origin x="2052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1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font" Target="fonts/font14.fntdata"/><Relationship Id="rId98" Type="http://schemas.openxmlformats.org/officeDocument/2006/relationships/font" Target="fonts/font13.fntdata"/><Relationship Id="rId97" Type="http://schemas.openxmlformats.org/officeDocument/2006/relationships/font" Target="fonts/font12.fntdata"/><Relationship Id="rId96" Type="http://schemas.openxmlformats.org/officeDocument/2006/relationships/font" Target="fonts/font11.fntdata"/><Relationship Id="rId95" Type="http://schemas.openxmlformats.org/officeDocument/2006/relationships/font" Target="fonts/font10.fntdata"/><Relationship Id="rId94" Type="http://schemas.openxmlformats.org/officeDocument/2006/relationships/font" Target="fonts/font9.fntdata"/><Relationship Id="rId93" Type="http://schemas.openxmlformats.org/officeDocument/2006/relationships/font" Target="fonts/font8.fntdata"/><Relationship Id="rId92" Type="http://schemas.openxmlformats.org/officeDocument/2006/relationships/font" Target="fonts/font7.fntdata"/><Relationship Id="rId91" Type="http://schemas.openxmlformats.org/officeDocument/2006/relationships/font" Target="fonts/font6.fntdata"/><Relationship Id="rId90" Type="http://schemas.openxmlformats.org/officeDocument/2006/relationships/font" Target="fonts/font5.fntdata"/><Relationship Id="rId9" Type="http://schemas.openxmlformats.org/officeDocument/2006/relationships/slide" Target="slides/slide6.xml"/><Relationship Id="rId89" Type="http://schemas.openxmlformats.org/officeDocument/2006/relationships/font" Target="fonts/font4.fntdata"/><Relationship Id="rId88" Type="http://schemas.openxmlformats.org/officeDocument/2006/relationships/font" Target="fonts/font3.fntdata"/><Relationship Id="rId87" Type="http://schemas.openxmlformats.org/officeDocument/2006/relationships/font" Target="fonts/font2.fntdata"/><Relationship Id="rId86" Type="http://schemas.openxmlformats.org/officeDocument/2006/relationships/font" Target="fonts/font1.fntdata"/><Relationship Id="rId85" Type="http://schemas.openxmlformats.org/officeDocument/2006/relationships/tableStyles" Target="tableStyles.xml"/><Relationship Id="rId84" Type="http://schemas.openxmlformats.org/officeDocument/2006/relationships/viewProps" Target="viewProps.xml"/><Relationship Id="rId83" Type="http://schemas.openxmlformats.org/officeDocument/2006/relationships/presProps" Target="presProps.xml"/><Relationship Id="rId82" Type="http://schemas.openxmlformats.org/officeDocument/2006/relationships/handoutMaster" Target="handoutMasters/handoutMaster1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2" Type="http://schemas.openxmlformats.org/officeDocument/2006/relationships/font" Target="fonts/font17.fntdata"/><Relationship Id="rId101" Type="http://schemas.openxmlformats.org/officeDocument/2006/relationships/font" Target="fonts/font16.fntdata"/><Relationship Id="rId100" Type="http://schemas.openxmlformats.org/officeDocument/2006/relationships/font" Target="fonts/font15.fntdata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84.wmf"/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D83002F-A1A4-8B44-8A56-A9E767754299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D83002F-A1A4-8B44-8A56-A9E76775429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D83002F-A1A4-8B44-8A56-A9E76775429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4DEE746-4291-7A47-9DCC-2D1A74E3F12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3C66F9E-0F53-0440-8F89-3CC976F19731}" type="slidenum">
              <a:rPr lang="en-US" altLang="zh-CN" sz="1200">
                <a:latin typeface="Arial" panose="020B0604020202020204" pitchFamily="34" charset="0"/>
              </a:rPr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EDD956A-B5C4-A745-B686-8C5E2460B8A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46BDB9B-EA6B-7049-BA85-B8E82C87379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1CC8FBB-26EA-3946-8C53-66A8CD0634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8F92559-C80C-D244-A81D-2055F988048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4758EF4-9B16-2145-BD76-DEAA755C6B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The “Sampling” (A/D conversion) and “Reconstruction” (D/A) processes form the connection between the Analog world (where we live) and the universe as seen by your computer.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D9209C8-BE48-AD4F-A608-25951EB7A83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Sampled signals are “Discrete-Time” signals</a:t>
            </a:r>
            <a:endParaRPr lang="en-US" altLang="zh-CN">
              <a:latin typeface="Arial" panose="020B0604020202020204" pitchFamily="34" charset="0"/>
            </a:endParaRPr>
          </a:p>
          <a:p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Digital Signals also have discrete values.</a:t>
            </a:r>
            <a:endParaRPr lang="en-US" altLang="zh-CN">
              <a:latin typeface="Arial" panose="020B0604020202020204" pitchFamily="34" charset="0"/>
            </a:endParaRPr>
          </a:p>
          <a:p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Binary is a particular number system used to represent the “Quantized” sample values.  We sometimes use </a:t>
            </a:r>
            <a:br>
              <a:rPr lang="en-US" altLang="zh-CN">
                <a:latin typeface="Arial" panose="020B0604020202020204" pitchFamily="34" charset="0"/>
              </a:rPr>
            </a:br>
            <a:r>
              <a:rPr lang="en-US" altLang="zh-CN">
                <a:latin typeface="Arial" panose="020B0604020202020204" pitchFamily="34" charset="0"/>
              </a:rPr>
              <a:t>Octal (Base “8” – 3 bits/word) or Hex (Base “16” – 4 bits/word) as shorthand number systems to represent a binary system.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9994BCD-FEDC-B540-96CF-99BF729BF59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Power amplification is a function of the impedances (Input &amp; Output) as well as voltage gain.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9CDAE8-B250-4948-9D5C-B0844DE269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Tx/>
              <a:buAutoNum type="alphaLcParenR"/>
              <a:defRPr/>
            </a:pPr>
            <a:r>
              <a:rPr lang="en-US" dirty="0"/>
              <a:t>Double ended (balanced) input and output (differential mode signals).  This configuration attempts to reject common mode signals at the input.</a:t>
            </a:r>
            <a:endParaRPr lang="en-US" dirty="0"/>
          </a:p>
          <a:p>
            <a:pPr marL="228600" indent="-228600">
              <a:buFontTx/>
              <a:buAutoNum type="alphaLcParenR"/>
              <a:defRPr/>
            </a:pPr>
            <a:r>
              <a:rPr lang="en-US" dirty="0"/>
              <a:t>Single-ended (unbalanced) input and output (common mode signals).</a:t>
            </a:r>
            <a:endParaRPr lang="en-US" dirty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6F1BB62-4EF9-4943-94D0-0FC18A4A8C3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Transformers:</a:t>
            </a:r>
            <a:endParaRPr lang="en-US" dirty="0"/>
          </a:p>
          <a:p>
            <a:pPr marL="228600" indent="-228600">
              <a:buFont typeface="+mj-lt"/>
              <a:buAutoNum type="arabicPeriod"/>
              <a:defRPr/>
            </a:pPr>
            <a:r>
              <a:rPr lang="en-US" dirty="0"/>
              <a:t>Do not work at DC!</a:t>
            </a:r>
            <a:endParaRPr lang="en-US" dirty="0"/>
          </a:p>
          <a:p>
            <a:pPr marL="228600" indent="-228600">
              <a:buFont typeface="+mj-lt"/>
              <a:buAutoNum type="arabicPeriod"/>
              <a:defRPr/>
            </a:pPr>
            <a:r>
              <a:rPr lang="en-US" dirty="0"/>
              <a:t>Power out = power in (No Power Gain, Some power lost)</a:t>
            </a:r>
            <a:endParaRPr lang="en-US" dirty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35C9B2-7C96-6A48-A268-5C6F6BFEB6D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You should know how to deal with logarithms and their inverse, the exponential function.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763A0F5-AEDF-DD47-8912-7C90F3FA647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41987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1800">
                <a:solidFill>
                  <a:srgbClr val="000000"/>
                </a:solidFill>
                <a:latin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Memorize these values! You will use them very often.</a:t>
            </a:r>
            <a:endParaRPr lang="en-US" altLang="en-US" sz="1800">
              <a:solidFill>
                <a:srgbClr val="000000"/>
              </a:solidFill>
              <a:latin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43011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1800">
                <a:solidFill>
                  <a:srgbClr val="000000"/>
                </a:solidFill>
                <a:latin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What if I want to use a logarithmic scale to express a power?</a:t>
            </a:r>
            <a:endParaRPr lang="en-US" altLang="en-US" sz="1800">
              <a:solidFill>
                <a:srgbClr val="000000"/>
              </a:solidFill>
              <a:latin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  <a:p>
            <a:pPr eaLnBrk="1" hangingPunct="1"/>
            <a:r>
              <a:rPr lang="en-US" altLang="en-US" sz="1800">
                <a:solidFill>
                  <a:srgbClr val="000000"/>
                </a:solidFill>
                <a:latin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To do so, I have to use a reference value of power. Let’s assume it’s 1 mW. So I define the dBm.</a:t>
            </a:r>
            <a:endParaRPr lang="en-US" altLang="en-US" sz="1800">
              <a:solidFill>
                <a:srgbClr val="000000"/>
              </a:solidFill>
              <a:latin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  <a:p>
            <a:pPr eaLnBrk="1" hangingPunct="1"/>
            <a:endParaRPr lang="en-US" altLang="en-US" sz="1800">
              <a:solidFill>
                <a:srgbClr val="000000"/>
              </a:solidFill>
              <a:latin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  <a:p>
            <a:pPr eaLnBrk="1" hangingPunct="1"/>
            <a:r>
              <a:rPr lang="en-US" altLang="en-US" sz="1800">
                <a:solidFill>
                  <a:srgbClr val="000000"/>
                </a:solidFill>
                <a:latin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Using dBm, the reference is 1 milliwatt. </a:t>
            </a:r>
            <a:endParaRPr lang="en-US" altLang="en-US" sz="1800">
              <a:solidFill>
                <a:srgbClr val="000000"/>
              </a:solidFill>
              <a:latin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  <a:p>
            <a:pPr eaLnBrk="1" hangingPunct="1"/>
            <a:r>
              <a:rPr lang="en-US" altLang="en-US" sz="1800" b="1">
                <a:solidFill>
                  <a:srgbClr val="000000"/>
                </a:solidFill>
                <a:latin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0 dBm</a:t>
            </a:r>
            <a:r>
              <a:rPr lang="en-US" altLang="en-US" sz="1800">
                <a:solidFill>
                  <a:srgbClr val="000000"/>
                </a:solidFill>
                <a:latin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 is therefore equal to </a:t>
            </a:r>
            <a:r>
              <a:rPr lang="en-US" altLang="en-US" sz="1800" b="1">
                <a:solidFill>
                  <a:srgbClr val="000000"/>
                </a:solidFill>
                <a:latin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1 mW</a:t>
            </a:r>
            <a:r>
              <a:rPr lang="en-US" altLang="en-US" sz="1800">
                <a:solidFill>
                  <a:srgbClr val="000000"/>
                </a:solidFill>
                <a:latin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.</a:t>
            </a:r>
            <a:endParaRPr lang="en-US" altLang="en-US" sz="1800">
              <a:solidFill>
                <a:srgbClr val="000000"/>
              </a:solidFill>
              <a:latin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  <a:p>
            <a:pPr eaLnBrk="1" hangingPunct="1"/>
            <a:endParaRPr lang="en-US" altLang="en-US" sz="1800">
              <a:solidFill>
                <a:srgbClr val="000000"/>
              </a:solidFill>
              <a:latin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  <a:p>
            <a:pPr eaLnBrk="1" hangingPunct="1"/>
            <a:r>
              <a:rPr lang="en-US" altLang="en-US" sz="1800">
                <a:solidFill>
                  <a:srgbClr val="000000"/>
                </a:solidFill>
                <a:latin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Note that it is impossible to represent </a:t>
            </a:r>
            <a:r>
              <a:rPr lang="en-US" altLang="en-US" sz="1800" i="1">
                <a:solidFill>
                  <a:srgbClr val="000000"/>
                </a:solidFill>
                <a:latin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0 mW</a:t>
            </a:r>
            <a:r>
              <a:rPr lang="en-US" altLang="en-US" sz="1800">
                <a:solidFill>
                  <a:srgbClr val="000000"/>
                </a:solidFill>
                <a:latin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 (zero power, i.e. no power at all) using dBm!</a:t>
            </a:r>
            <a:endParaRPr lang="en-US" altLang="en-US" sz="1800">
              <a:solidFill>
                <a:srgbClr val="000000"/>
              </a:solidFill>
              <a:latin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  <a:p>
            <a:pPr eaLnBrk="1" hangingPunct="1"/>
            <a:endParaRPr lang="en-US" altLang="en-US" sz="1800">
              <a:solidFill>
                <a:srgbClr val="000000"/>
              </a:solidFill>
              <a:latin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44035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1800">
                <a:solidFill>
                  <a:srgbClr val="000000"/>
                </a:solidFill>
                <a:latin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These formulas are the definition of dBm and can be used to convert between dBm and mW, but there is a simpler way to do it that does not require a calculator, and we will see it very soon!</a:t>
            </a:r>
            <a:endParaRPr lang="en-US" altLang="en-US" sz="1800">
              <a:solidFill>
                <a:srgbClr val="000000"/>
              </a:solidFill>
              <a:latin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45059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Example: imagine a radio with an output power of 100mW</a:t>
            </a:r>
            <a:endParaRPr lang="en-US" altLang="en-US" sz="1800" dirty="0">
              <a:solidFill>
                <a:srgbClr val="000000"/>
              </a:solidFill>
              <a:latin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Example: imagine a signal measurement of 17 dBm</a:t>
            </a:r>
            <a:endParaRPr lang="en-US" altLang="en-US" sz="1800" dirty="0">
              <a:solidFill>
                <a:srgbClr val="000000"/>
              </a:solidFill>
              <a:latin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  <a:p>
            <a:pPr eaLnBrk="1" hangingPunct="1"/>
            <a:endParaRPr lang="en-US" altLang="en-US" sz="1800" dirty="0">
              <a:solidFill>
                <a:srgbClr val="000000"/>
              </a:solidFill>
              <a:latin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To find the log or the power, in these formulas, you will probably need a calculator. But there are much simpler ways to do these calculations in your mind, we are going to see them in a few minutes!</a:t>
            </a:r>
            <a:endParaRPr lang="en-US" altLang="en-US" sz="1800" dirty="0">
              <a:solidFill>
                <a:srgbClr val="000000"/>
              </a:solidFill>
              <a:latin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These terms are used generically in circuits using other components.  In an earlier era we used notation from Vacuum Tubes!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A9C9DCF-6D60-F444-A5A9-1CEE970D922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  <a:sym typeface="Symbol" panose="05050102010706020507" pitchFamily="2" charset="2"/>
              </a:rPr>
              <a:t>Where does the rest of the power go?</a:t>
            </a:r>
            <a:endParaRPr lang="en-US" altLang="zh-CN">
              <a:latin typeface="Arial" panose="020B0604020202020204" pitchFamily="34" charset="0"/>
              <a:sym typeface="Symbol" panose="05050102010706020507" pitchFamily="2" charset="2"/>
            </a:endParaRPr>
          </a:p>
          <a:p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F43D231-DED9-E742-AA88-7D712342D0D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The ground on the OpAmp is shown </a:t>
            </a:r>
            <a:r>
              <a:rPr lang="en-US" altLang="zh-CN" b="1">
                <a:latin typeface="Arial" panose="020B0604020202020204" pitchFamily="34" charset="0"/>
              </a:rPr>
              <a:t>incorrectly</a:t>
            </a:r>
            <a:r>
              <a:rPr lang="en-US" altLang="zh-CN">
                <a:latin typeface="Arial" panose="020B0604020202020204" pitchFamily="34" charset="0"/>
              </a:rPr>
              <a:t>!  It is the other differential input (no input signal) that is grounded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1640461-112A-D249-9FD1-C392BCC84F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B212904-C43A-3A4B-B5FA-6DEACF28F4F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>
              <a:latin typeface="Arial" panose="020B0604020202020204" pitchFamily="34" charset="0"/>
            </a:endParaRPr>
          </a:p>
          <a:p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A54298C-FB84-674C-86F9-4F1CEB7F56E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0AD9FE-48CD-3045-ADFD-D5555319566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This is NOT nonlinearity!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0B8E54-F6C8-CC44-AFF0-0767B9006BE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Note that real OpAmps are not quite “Ideal”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8BE3BC8-C93B-1549-A1A8-0A96E542077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These devices do exist as integrated cicuit products that we can use in our designs.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0A73A52-B4FD-AF44-A036-F28F8CE9B1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75799FF-C1E3-624C-B89B-A076471764B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You can also vary the “load” resistor to determine the output resistance.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836F3B1-4E5F-434F-947E-5E8757CA15E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A bipolar transistor is best modeled as a current controlled current amplifier.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F0F6EB1-3E4D-F741-8713-9E462A82C24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This is only a small signal model! As the input actually looks like a diode, not a resistor.  </a:t>
            </a:r>
            <a:endParaRPr lang="en-US" altLang="zh-CN">
              <a:latin typeface="Arial" panose="020B0604020202020204" pitchFamily="34" charset="0"/>
            </a:endParaRPr>
          </a:p>
          <a:p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It also exhibits Saturation and Cutoff nonlinear characteristics.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A4D98EA-1A7A-B24C-A6E3-61B2C7D3E6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B889C1-445A-A94E-AA63-11901B3B02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And is why we (EEs) use single frequency analysis!</a:t>
            </a:r>
            <a:endParaRPr lang="en-US" altLang="zh-CN">
              <a:latin typeface="Arial" panose="020B0604020202020204" pitchFamily="34" charset="0"/>
            </a:endParaRPr>
          </a:p>
          <a:p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Another way that is often used to measure frequency response is to apply a “white noise” signal and examine the output “spectrum”.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9542F30-C6C6-CD4E-BA0A-F29D1E7B85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“similar” in shape as in similar triangles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EC754C-A096-5240-85D8-CB8ABD15B5F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The phase shift is related to “Delay” by the frequency (actually the period) of the signal.</a:t>
            </a:r>
            <a:endParaRPr lang="en-US" altLang="zh-CN">
              <a:latin typeface="Arial" panose="020B0604020202020204" pitchFamily="34" charset="0"/>
            </a:endParaRPr>
          </a:p>
          <a:p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Phase should be in Radians but is commonly stated in degrees.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997F12A-54DB-5240-89A0-A5795D5E247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3103256-B7B7-D746-9F7E-CB89A36276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Again from your circuits course!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AB1A82-0502-884A-A194-7DB5C32D2F7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These RC circuits were studied in the first Circuits course.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EB37AA4-1070-094A-8A25-3BD0C03B7A6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CB3F205-7F8A-5A46-AC83-1384D879217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D3F9C96-78CF-924E-8B0D-129691D2EE4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D83002F-A1A4-8B44-8A56-A9E76775429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Coupling capacitors block “DC” so that you can separately “bias” each amplifier stage.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116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52479EA-B563-5C47-82B3-56C04E61782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Oxford University Publishing</a:t>
            </a:r>
            <a:endParaRPr lang="en-US" altLang="zh-CN"/>
          </a:p>
          <a:p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046815-36C1-4344-811D-0C55BA0650E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Oxford University Publishing</a:t>
            </a:r>
            <a:endParaRPr lang="en-US" altLang="zh-CN"/>
          </a:p>
          <a:p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0D3ED-9000-954D-A93A-63CE86EA717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Oxford University Publishing</a:t>
            </a:r>
            <a:endParaRPr lang="en-US" altLang="zh-CN"/>
          </a:p>
          <a:p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F787F4-F513-5542-A70C-D8913AA6024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2057400"/>
            <a:ext cx="43053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2057400"/>
            <a:ext cx="43053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Oxford University Publishing</a:t>
            </a:r>
            <a:endParaRPr lang="en-US" altLang="zh-CN"/>
          </a:p>
          <a:p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EFA70-01CE-654B-8C25-0B15621C904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Oxford University Publishing</a:t>
            </a:r>
            <a:endParaRPr lang="en-US" altLang="zh-CN"/>
          </a:p>
          <a:p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606B62-F20E-144B-9C4A-C3912B9020B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Oxford University Publishing</a:t>
            </a:r>
            <a:endParaRPr lang="en-US" altLang="zh-CN"/>
          </a:p>
          <a:p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3B650C-1050-834C-A1F9-3C3FF18F7E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Oxford University Publishing</a:t>
            </a:r>
            <a:endParaRPr lang="en-US" altLang="zh-CN"/>
          </a:p>
          <a:p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25C0C2-AFA7-8E4D-9186-C4E1C1179A3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Oxford University Publishing</a:t>
            </a:r>
            <a:endParaRPr lang="en-US" altLang="zh-CN"/>
          </a:p>
          <a:p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495DC1-4AAD-D348-B7CC-EB4DC2AEEFA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Oxford University Publishing</a:t>
            </a:r>
            <a:endParaRPr lang="en-US" altLang="zh-CN"/>
          </a:p>
          <a:p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59F72-98AB-EF4D-8EAA-CCB08AD2F5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Oxford University Publishing</a:t>
            </a:r>
            <a:endParaRPr lang="en-US" altLang="zh-CN"/>
          </a:p>
          <a:p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7AA4F-D71C-AD43-9F58-1E3E42DBDB7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152400"/>
            <a:ext cx="21907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4198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Oxford University Publishing</a:t>
            </a:r>
            <a:endParaRPr lang="en-US" altLang="zh-CN"/>
          </a:p>
          <a:p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27ABA-A48E-7545-A394-C56D9DB47AF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3657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2400" y="2057400"/>
            <a:ext cx="43053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2057400"/>
            <a:ext cx="43053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Oxford University Publishing</a:t>
            </a:r>
            <a:endParaRPr lang="en-US" altLang="zh-CN"/>
          </a:p>
          <a:p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FABD7D-BE1B-7E4B-A061-E71720DCADC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3657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2400" y="2057400"/>
            <a:ext cx="43053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2057400"/>
            <a:ext cx="43053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10100" y="4152900"/>
            <a:ext cx="43053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Oxford University Publishing</a:t>
            </a:r>
            <a:endParaRPr lang="en-US" altLang="zh-CN"/>
          </a:p>
          <a:p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8AA65B-FEE2-364C-AFD8-C8F6234041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2.jpeg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1"/>
          <p:cNvSpPr>
            <a:spLocks noChangeArrowheads="1"/>
          </p:cNvSpPr>
          <p:nvPr userDrawn="1"/>
        </p:nvSpPr>
        <p:spPr bwMode="auto">
          <a:xfrm>
            <a:off x="0" y="0"/>
            <a:ext cx="1371600" cy="16764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027" name="Rectangle 16"/>
          <p:cNvSpPr>
            <a:spLocks noChangeArrowheads="1"/>
          </p:cNvSpPr>
          <p:nvPr userDrawn="1"/>
        </p:nvSpPr>
        <p:spPr bwMode="auto">
          <a:xfrm>
            <a:off x="1371600" y="0"/>
            <a:ext cx="4114800" cy="1676400"/>
          </a:xfrm>
          <a:prstGeom prst="rect">
            <a:avLst/>
          </a:prstGeom>
          <a:gradFill rotWithShape="1">
            <a:gsLst>
              <a:gs pos="0">
                <a:srgbClr val="D9D9D9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52400"/>
            <a:ext cx="36576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2057400"/>
            <a:ext cx="87630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172200"/>
            <a:ext cx="4343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  <a:p>
            <a:r>
              <a:rPr lang="en-US" altLang="zh-CN"/>
              <a:t>Oxford University Publishing</a:t>
            </a:r>
            <a:endParaRPr lang="en-US" altLang="zh-CN"/>
          </a:p>
          <a:p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smtClean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2087BC5-E150-EB4F-BBC8-183ABC7496B9}" type="slidenum">
              <a:rPr lang="en-US" altLang="zh-CN"/>
            </a:fld>
            <a:endParaRPr lang="en-US" altLang="zh-CN"/>
          </a:p>
        </p:txBody>
      </p:sp>
      <p:sp>
        <p:nvSpPr>
          <p:cNvPr id="1032" name="Rectangle 13"/>
          <p:cNvSpPr>
            <a:spLocks noChangeArrowheads="1"/>
          </p:cNvSpPr>
          <p:nvPr userDrawn="1"/>
        </p:nvSpPr>
        <p:spPr bwMode="auto">
          <a:xfrm>
            <a:off x="1371600" y="1600200"/>
            <a:ext cx="4114800" cy="3048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033" name="Rectangle 93"/>
          <p:cNvSpPr>
            <a:spLocks noChangeArrowheads="1"/>
          </p:cNvSpPr>
          <p:nvPr userDrawn="1"/>
        </p:nvSpPr>
        <p:spPr bwMode="auto">
          <a:xfrm>
            <a:off x="0" y="1600200"/>
            <a:ext cx="1371600" cy="304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pic>
        <p:nvPicPr>
          <p:cNvPr id="1034" name="Picture 94" descr="oxford logo4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8" y="152400"/>
            <a:ext cx="506412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95" descr="book cover2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86000"/>
            <a:ext cx="2797175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6" name="Rectangle 96"/>
          <p:cNvSpPr>
            <a:spLocks noChangeArrowheads="1"/>
          </p:cNvSpPr>
          <p:nvPr userDrawn="1"/>
        </p:nvSpPr>
        <p:spPr bwMode="auto">
          <a:xfrm>
            <a:off x="457200" y="2133600"/>
            <a:ext cx="4038600" cy="4038600"/>
          </a:xfrm>
          <a:prstGeom prst="rect">
            <a:avLst/>
          </a:prstGeom>
          <a:solidFill>
            <a:schemeClr val="bg1">
              <a:alpha val="9490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jpeg"/><Relationship Id="rId1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jpeg"/><Relationship Id="rId1" Type="http://schemas.openxmlformats.org/officeDocument/2006/relationships/image" Target="../media/image26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image" Target="../media/image27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wmf"/><Relationship Id="rId1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5.wmf"/><Relationship Id="rId1" Type="http://schemas.openxmlformats.org/officeDocument/2006/relationships/oleObject" Target="../embeddings/oleObject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wmf"/><Relationship Id="rId1" Type="http://schemas.openxmlformats.org/officeDocument/2006/relationships/oleObject" Target="../embeddings/oleObject3.bin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1.wmf"/><Relationship Id="rId1" Type="http://schemas.openxmlformats.org/officeDocument/2006/relationships/oleObject" Target="../embeddings/oleObject4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tif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jpe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3.wmf"/><Relationship Id="rId1" Type="http://schemas.openxmlformats.org/officeDocument/2006/relationships/oleObject" Target="../embeddings/oleObject5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62.wmf"/><Relationship Id="rId4" Type="http://schemas.openxmlformats.org/officeDocument/2006/relationships/oleObject" Target="../embeddings/oleObject7.bin"/><Relationship Id="rId3" Type="http://schemas.openxmlformats.org/officeDocument/2006/relationships/image" Target="../media/image61.wmf"/><Relationship Id="rId2" Type="http://schemas.openxmlformats.org/officeDocument/2006/relationships/oleObject" Target="../embeddings/oleObject6.bin"/><Relationship Id="rId1" Type="http://schemas.openxmlformats.org/officeDocument/2006/relationships/image" Target="../media/image60.jpe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3.wmf"/><Relationship Id="rId1" Type="http://schemas.openxmlformats.org/officeDocument/2006/relationships/oleObject" Target="../embeddings/oleObject8.bin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3.wmf"/><Relationship Id="rId1" Type="http://schemas.openxmlformats.org/officeDocument/2006/relationships/oleObject" Target="../embeddings/oleObject9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7" Type="http://schemas.openxmlformats.org/officeDocument/2006/relationships/vmlDrawing" Target="../drawings/vmlDrawing9.v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3" Type="http://schemas.openxmlformats.org/officeDocument/2006/relationships/image" Target="../media/image60.jpeg"/><Relationship Id="rId2" Type="http://schemas.openxmlformats.org/officeDocument/2006/relationships/image" Target="../media/image64.wmf"/><Relationship Id="rId1" Type="http://schemas.openxmlformats.org/officeDocument/2006/relationships/oleObject" Target="../embeddings/oleObject10.bin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7.wmf"/><Relationship Id="rId1" Type="http://schemas.openxmlformats.org/officeDocument/2006/relationships/oleObject" Target="../embeddings/oleObject11.bin"/></Relationships>
</file>

<file path=ppt/slides/_rels/slide4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1.v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2.wmf"/><Relationship Id="rId4" Type="http://schemas.openxmlformats.org/officeDocument/2006/relationships/oleObject" Target="../embeddings/oleObject13.bin"/><Relationship Id="rId3" Type="http://schemas.openxmlformats.org/officeDocument/2006/relationships/image" Target="../media/image61.wmf"/><Relationship Id="rId2" Type="http://schemas.openxmlformats.org/officeDocument/2006/relationships/oleObject" Target="../embeddings/oleObject12.bin"/><Relationship Id="rId1" Type="http://schemas.openxmlformats.org/officeDocument/2006/relationships/image" Target="../media/image60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9.wmf"/><Relationship Id="rId2" Type="http://schemas.openxmlformats.org/officeDocument/2006/relationships/oleObject" Target="../embeddings/oleObject14.bin"/><Relationship Id="rId1" Type="http://schemas.openxmlformats.org/officeDocument/2006/relationships/image" Target="../media/image68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png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png"/><Relationship Id="rId8" Type="http://schemas.openxmlformats.org/officeDocument/2006/relationships/image" Target="../media/image78.png"/><Relationship Id="rId7" Type="http://schemas.openxmlformats.org/officeDocument/2006/relationships/image" Target="../media/image77.png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7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0.jpeg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wmf"/><Relationship Id="rId8" Type="http://schemas.openxmlformats.org/officeDocument/2006/relationships/oleObject" Target="../embeddings/oleObject18.bin"/><Relationship Id="rId7" Type="http://schemas.openxmlformats.org/officeDocument/2006/relationships/image" Target="../media/image83.wmf"/><Relationship Id="rId6" Type="http://schemas.openxmlformats.org/officeDocument/2006/relationships/oleObject" Target="../embeddings/oleObject17.bin"/><Relationship Id="rId5" Type="http://schemas.openxmlformats.org/officeDocument/2006/relationships/image" Target="../media/image82.wmf"/><Relationship Id="rId4" Type="http://schemas.openxmlformats.org/officeDocument/2006/relationships/oleObject" Target="../embeddings/oleObject16.bin"/><Relationship Id="rId3" Type="http://schemas.openxmlformats.org/officeDocument/2006/relationships/image" Target="../media/image81.wmf"/><Relationship Id="rId2" Type="http://schemas.openxmlformats.org/officeDocument/2006/relationships/oleObject" Target="../embeddings/oleObject15.bin"/><Relationship Id="rId12" Type="http://schemas.openxmlformats.org/officeDocument/2006/relationships/notesSlide" Target="../notesSlides/notesSlide29.xml"/><Relationship Id="rId11" Type="http://schemas.openxmlformats.org/officeDocument/2006/relationships/vmlDrawing" Target="../drawings/vmlDrawing13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80.jpe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5.wmf"/><Relationship Id="rId1" Type="http://schemas.openxmlformats.org/officeDocument/2006/relationships/oleObject" Target="../embeddings/oleObject19.bin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6.jpe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7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1.jpe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2.wmf"/><Relationship Id="rId1" Type="http://schemas.openxmlformats.org/officeDocument/2006/relationships/oleObject" Target="../embeddings/oleObject20.bin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3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4.jpeg"/></Relationships>
</file>

<file path=ppt/slides/_rels/slide6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6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5.wmf"/><Relationship Id="rId2" Type="http://schemas.openxmlformats.org/officeDocument/2006/relationships/oleObject" Target="../embeddings/oleObject21.bin"/><Relationship Id="rId1" Type="http://schemas.openxmlformats.org/officeDocument/2006/relationships/image" Target="../media/image94.jpeg"/></Relationships>
</file>

<file path=ppt/slides/_rels/slide6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98.png"/><Relationship Id="rId3" Type="http://schemas.openxmlformats.org/officeDocument/2006/relationships/image" Target="../media/image97.png"/><Relationship Id="rId2" Type="http://schemas.openxmlformats.org/officeDocument/2006/relationships/image" Target="../media/image94.jpeg"/><Relationship Id="rId1" Type="http://schemas.openxmlformats.org/officeDocument/2006/relationships/image" Target="../media/image96.png"/></Relationships>
</file>

<file path=ppt/slides/_rels/slide7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02.png"/><Relationship Id="rId3" Type="http://schemas.openxmlformats.org/officeDocument/2006/relationships/image" Target="../media/image101.png"/><Relationship Id="rId2" Type="http://schemas.openxmlformats.org/officeDocument/2006/relationships/image" Target="../media/image100.jpeg"/><Relationship Id="rId1" Type="http://schemas.openxmlformats.org/officeDocument/2006/relationships/image" Target="../media/image99.jpeg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0.jpeg"/><Relationship Id="rId1" Type="http://schemas.openxmlformats.org/officeDocument/2006/relationships/image" Target="../media/image99.jpe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4.png"/><Relationship Id="rId1" Type="http://schemas.openxmlformats.org/officeDocument/2006/relationships/image" Target="../media/image103.png"/></Relationships>
</file>

<file path=ppt/slides/_rels/slide7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3.png"/><Relationship Id="rId8" Type="http://schemas.openxmlformats.org/officeDocument/2006/relationships/image" Target="../media/image112.png"/><Relationship Id="rId7" Type="http://schemas.openxmlformats.org/officeDocument/2006/relationships/image" Target="../media/image111.png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2" Type="http://schemas.openxmlformats.org/officeDocument/2006/relationships/notesSlide" Target="../notesSlides/notesSlide42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14.png"/><Relationship Id="rId1" Type="http://schemas.openxmlformats.org/officeDocument/2006/relationships/image" Target="../media/image105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5.png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7.png"/><Relationship Id="rId1" Type="http://schemas.openxmlformats.org/officeDocument/2006/relationships/image" Target="../media/image11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9.png"/><Relationship Id="rId1" Type="http://schemas.openxmlformats.org/officeDocument/2006/relationships/image" Target="../media/image118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0.png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52600"/>
            <a:ext cx="2610578" cy="301642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1" y="76199"/>
            <a:ext cx="5947448" cy="6756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492375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zh-CN" sz="6000">
                <a:solidFill>
                  <a:srgbClr val="0000FF"/>
                </a:solidFill>
                <a:ea typeface="宋体" panose="02010600030101010101" pitchFamily="2" charset="-122"/>
              </a:rPr>
              <a:t>Chapter #1: Signals and Amplifiers</a:t>
            </a:r>
            <a:endParaRPr lang="en-US" altLang="zh-CN" sz="60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343400"/>
            <a:ext cx="6400800" cy="1752600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</a:pPr>
            <a:r>
              <a:rPr lang="en-US" altLang="zh-CN" sz="3200">
                <a:ea typeface="宋体" panose="02010600030101010101" pitchFamily="2" charset="-122"/>
              </a:rPr>
              <a:t>from </a:t>
            </a:r>
            <a:r>
              <a:rPr lang="en-US" altLang="zh-CN" sz="3200" b="1">
                <a:ea typeface="宋体" panose="02010600030101010101" pitchFamily="2" charset="-122"/>
              </a:rPr>
              <a:t>Microelectronic Circuits</a:t>
            </a:r>
            <a:r>
              <a:rPr lang="en-US" altLang="zh-CN" sz="3200">
                <a:ea typeface="宋体" panose="02010600030101010101" pitchFamily="2" charset="-122"/>
              </a:rPr>
              <a:t> Text</a:t>
            </a:r>
            <a:endParaRPr lang="en-US" altLang="zh-CN" sz="3200">
              <a:ea typeface="宋体" panose="02010600030101010101" pitchFamily="2" charset="-122"/>
            </a:endParaRPr>
          </a:p>
          <a:p>
            <a:pPr algn="l" eaLnBrk="1" hangingPunct="1">
              <a:lnSpc>
                <a:spcPct val="90000"/>
              </a:lnSpc>
            </a:pPr>
            <a:r>
              <a:rPr lang="en-US" altLang="zh-CN" sz="3200">
                <a:ea typeface="宋体" panose="02010600030101010101" pitchFamily="2" charset="-122"/>
              </a:rPr>
              <a:t>by Sedra and Smith</a:t>
            </a:r>
            <a:endParaRPr lang="en-US" altLang="zh-CN" sz="3200">
              <a:ea typeface="宋体" panose="02010600030101010101" pitchFamily="2" charset="-122"/>
            </a:endParaRPr>
          </a:p>
          <a:p>
            <a:pPr algn="l" eaLnBrk="1" hangingPunct="1">
              <a:lnSpc>
                <a:spcPct val="90000"/>
              </a:lnSpc>
            </a:pPr>
            <a:r>
              <a:rPr lang="en-US" altLang="zh-CN" sz="3200">
                <a:ea typeface="宋体" panose="02010600030101010101" pitchFamily="2" charset="-122"/>
              </a:rPr>
              <a:t>Oxford Publishing</a:t>
            </a:r>
            <a:endParaRPr lang="en-US" altLang="zh-CN" sz="32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Introduction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2133600"/>
            <a:ext cx="8763000" cy="47244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b="1" dirty="0">
                <a:ea typeface="宋体" panose="02010600030101010101" pitchFamily="2" charset="-122"/>
              </a:rPr>
              <a:t>IN THIS CHAPTER YOU WILL LEARN…</a:t>
            </a:r>
            <a:endParaRPr lang="en-US" altLang="zh-CN" sz="2800" b="1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That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electronic circuits process signals</a:t>
            </a:r>
            <a:r>
              <a:rPr lang="en-US" altLang="zh-CN" sz="2800" dirty="0">
                <a:ea typeface="宋体" panose="02010600030101010101" pitchFamily="2" charset="-122"/>
              </a:rPr>
              <a:t>, and thus </a:t>
            </a:r>
            <a:r>
              <a:rPr lang="en-US" altLang="zh-CN" sz="2800" b="1" dirty="0">
                <a:solidFill>
                  <a:srgbClr val="0432FF"/>
                </a:solidFill>
                <a:ea typeface="宋体" panose="02010600030101010101" pitchFamily="2" charset="-122"/>
              </a:rPr>
              <a:t>understanding electrical signals </a:t>
            </a:r>
            <a:r>
              <a:rPr lang="en-US" altLang="zh-CN" sz="2800" dirty="0">
                <a:ea typeface="宋体" panose="02010600030101010101" pitchFamily="2" charset="-122"/>
              </a:rPr>
              <a:t>is essential to appreciating the material in this book.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处理信号的电路，因此，理解“什么是电信号”是基础</a:t>
            </a:r>
            <a:endParaRPr lang="en-US" altLang="zh-CN" b="1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The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Thevenin and Norton </a:t>
            </a:r>
            <a:r>
              <a:rPr lang="en-US" altLang="zh-CN" sz="2800" b="1" dirty="0">
                <a:solidFill>
                  <a:srgbClr val="0432FF"/>
                </a:solidFill>
                <a:ea typeface="宋体" panose="02010600030101010101" pitchFamily="2" charset="-122"/>
              </a:rPr>
              <a:t>representations of signal sources</a:t>
            </a:r>
            <a:r>
              <a:rPr lang="en-US" altLang="zh-CN" sz="2800" dirty="0">
                <a:ea typeface="宋体" panose="02010600030101010101" pitchFamily="2" charset="-122"/>
              </a:rPr>
              <a:t>.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信号源的戴维南和诺顿表示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The representation of a signal as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sum of sine waves</a:t>
            </a:r>
            <a:r>
              <a:rPr lang="en-US" altLang="zh-CN" sz="2800" dirty="0">
                <a:ea typeface="宋体" panose="02010600030101010101" pitchFamily="2" charset="-122"/>
              </a:rPr>
              <a:t>.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信号可以由一些列的正弦信号叠加而构成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The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analog and digital</a:t>
            </a:r>
            <a:r>
              <a:rPr lang="en-US" altLang="zh-CN" sz="2800" dirty="0">
                <a:ea typeface="宋体" panose="02010600030101010101" pitchFamily="2" charset="-122"/>
              </a:rPr>
              <a:t> representations of a signal.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模拟信号与数字信号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Introduction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2133600"/>
            <a:ext cx="8763000" cy="47244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b="1" dirty="0">
                <a:ea typeface="宋体" panose="02010600030101010101" pitchFamily="2" charset="-122"/>
              </a:rPr>
              <a:t>IN THIS CHAPTER YOU WILL LEARN…</a:t>
            </a:r>
            <a:endParaRPr lang="en-US" altLang="zh-CN" sz="2800" b="1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The most basic and pervasive signal-processing function: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signal amplification</a:t>
            </a:r>
            <a:r>
              <a:rPr lang="en-US" altLang="zh-CN" sz="2800" dirty="0">
                <a:ea typeface="宋体" panose="02010600030101010101" pitchFamily="2" charset="-122"/>
              </a:rPr>
              <a:t>, and correspondingly, the </a:t>
            </a:r>
            <a:r>
              <a:rPr lang="en-US" altLang="zh-CN" sz="2800" b="1" dirty="0">
                <a:solidFill>
                  <a:srgbClr val="0432FF"/>
                </a:solidFill>
                <a:ea typeface="宋体" panose="02010600030101010101" pitchFamily="2" charset="-122"/>
              </a:rPr>
              <a:t>signal amplifier</a:t>
            </a:r>
            <a:r>
              <a:rPr lang="en-US" altLang="zh-CN" sz="2800" dirty="0">
                <a:ea typeface="宋体" panose="02010600030101010101" pitchFamily="2" charset="-122"/>
              </a:rPr>
              <a:t>.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最为基础和普遍的信号处理</a:t>
            </a:r>
            <a:r>
              <a:rPr lang="en-US" altLang="zh-CN" b="1" dirty="0">
                <a:solidFill>
                  <a:srgbClr val="00B050"/>
                </a:solidFill>
                <a:ea typeface="宋体" panose="02010600030101010101" pitchFamily="2" charset="-122"/>
              </a:rPr>
              <a:t>——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信号放大，以及相应的电路</a:t>
            </a:r>
            <a:r>
              <a:rPr lang="en-US" altLang="zh-CN" b="1" dirty="0">
                <a:solidFill>
                  <a:srgbClr val="00B050"/>
                </a:solidFill>
                <a:ea typeface="宋体" panose="02010600030101010101" pitchFamily="2" charset="-122"/>
              </a:rPr>
              <a:t>——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信号放大器</a:t>
            </a:r>
            <a:endParaRPr lang="en-US" altLang="zh-CN" sz="2800" b="1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How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amplifiers are characterized</a:t>
            </a:r>
            <a:r>
              <a:rPr lang="en-US" altLang="zh-CN" sz="2800" dirty="0">
                <a:ea typeface="宋体" panose="02010600030101010101" pitchFamily="2" charset="-122"/>
              </a:rPr>
              <a:t> (modeled) as circuit </a:t>
            </a:r>
            <a:r>
              <a:rPr lang="en-US" altLang="zh-CN" sz="2800" b="1" dirty="0">
                <a:solidFill>
                  <a:srgbClr val="0432FF"/>
                </a:solidFill>
                <a:ea typeface="宋体" panose="02010600030101010101" pitchFamily="2" charset="-122"/>
              </a:rPr>
              <a:t>building blocks </a:t>
            </a:r>
            <a:r>
              <a:rPr lang="en-US" altLang="zh-CN" sz="2800" dirty="0">
                <a:ea typeface="宋体" panose="02010600030101010101" pitchFamily="2" charset="-122"/>
              </a:rPr>
              <a:t>independent of their internal circuitry.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理解放大器的行为模型，不</a:t>
            </a:r>
            <a:r>
              <a:rPr lang="en-US" altLang="zh-CN" b="1" dirty="0">
                <a:solidFill>
                  <a:srgbClr val="00B050"/>
                </a:solidFill>
                <a:ea typeface="宋体" panose="02010600030101010101" pitchFamily="2" charset="-122"/>
              </a:rPr>
              <a:t>care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内部实现</a:t>
            </a:r>
            <a:endParaRPr lang="en-US" altLang="zh-CN" sz="2800" b="1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How the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frequency response </a:t>
            </a:r>
            <a:r>
              <a:rPr lang="en-US" altLang="zh-CN" sz="2800" dirty="0">
                <a:ea typeface="宋体" panose="02010600030101010101" pitchFamily="2" charset="-122"/>
              </a:rPr>
              <a:t>of an amplifier is measured, and how it is calculated, especially in the simple but common case of a </a:t>
            </a:r>
            <a:r>
              <a:rPr lang="en-US" altLang="zh-CN" sz="2800" b="1" dirty="0">
                <a:solidFill>
                  <a:srgbClr val="0432FF"/>
                </a:solidFill>
                <a:ea typeface="宋体" panose="02010600030101010101" pitchFamily="2" charset="-122"/>
              </a:rPr>
              <a:t>single-time-constant (STC)</a:t>
            </a:r>
            <a:r>
              <a:rPr lang="en-US" altLang="zh-CN" sz="2800" dirty="0">
                <a:ea typeface="宋体" panose="02010600030101010101" pitchFamily="2" charset="-122"/>
              </a:rPr>
              <a:t> type response.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放大器的频率响应</a:t>
            </a:r>
            <a:endParaRPr lang="en-US" altLang="zh-CN" sz="2800" b="1" dirty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1.1. </a:t>
            </a:r>
            <a:r>
              <a:rPr lang="en-US" altLang="zh-CN" sz="3200">
                <a:ea typeface="宋体" panose="02010600030101010101" pitchFamily="2" charset="-122"/>
              </a:rPr>
              <a:t>Signals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828800"/>
            <a:ext cx="8686800" cy="480060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signal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–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contains information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信号</a:t>
            </a:r>
            <a:r>
              <a:rPr lang="en-US" altLang="zh-CN" b="1" dirty="0">
                <a:solidFill>
                  <a:srgbClr val="00B050"/>
                </a:solidFill>
                <a:ea typeface="宋体" panose="02010600030101010101" pitchFamily="2" charset="-122"/>
              </a:rPr>
              <a:t>——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包含有用信息</a:t>
            </a:r>
            <a:endParaRPr lang="en-US" altLang="zh-CN" b="1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e.g. voice of radio announcer reading the news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process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–</a:t>
            </a:r>
            <a:r>
              <a:rPr lang="en-US" altLang="zh-CN" sz="2800" b="1" dirty="0">
                <a:ea typeface="宋体" panose="02010600030101010101" pitchFamily="2" charset="-122"/>
              </a:rPr>
              <a:t>  </a:t>
            </a:r>
            <a:r>
              <a:rPr lang="en-US" altLang="zh-CN" sz="2800" dirty="0">
                <a:ea typeface="宋体" panose="02010600030101010101" pitchFamily="2" charset="-122"/>
              </a:rPr>
              <a:t>an operation which allows an observer to understand this information from a signal (extract information from signal)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处理</a:t>
            </a:r>
            <a:r>
              <a:rPr lang="en-US" altLang="zh-CN" b="1" dirty="0">
                <a:solidFill>
                  <a:srgbClr val="00B050"/>
                </a:solidFill>
                <a:ea typeface="宋体" panose="02010600030101010101" pitchFamily="2" charset="-122"/>
              </a:rPr>
              <a:t>——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从信号从提取信息的运算</a:t>
            </a:r>
            <a:endParaRPr lang="en-US" altLang="zh-CN" b="1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generally done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electrically</a:t>
            </a:r>
            <a:endParaRPr lang="en-US" altLang="zh-CN" sz="28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transducer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– device which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converts signal</a:t>
            </a:r>
            <a:r>
              <a:rPr lang="en-US" altLang="zh-CN" sz="2800" dirty="0">
                <a:ea typeface="宋体" panose="02010600030101010101" pitchFamily="2" charset="-122"/>
              </a:rPr>
              <a:t> from non-electrical to electrical form 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换能器</a:t>
            </a:r>
            <a:r>
              <a:rPr lang="en-US" altLang="zh-CN" b="1" dirty="0">
                <a:solidFill>
                  <a:srgbClr val="00B050"/>
                </a:solidFill>
                <a:ea typeface="宋体" panose="02010600030101010101" pitchFamily="2" charset="-122"/>
              </a:rPr>
              <a:t>——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将非电信号转换为电信号</a:t>
            </a:r>
            <a:endParaRPr lang="en-US" altLang="zh-CN" b="1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e.g. microphone (sound to electrical)</a:t>
            </a:r>
            <a:endParaRPr lang="en-US" altLang="zh-CN" sz="2800" dirty="0">
              <a:solidFill>
                <a:srgbClr val="3333FF"/>
              </a:solidFill>
              <a:ea typeface="宋体" panose="02010600030101010101" pitchFamily="2" charset="-122"/>
            </a:endParaRPr>
          </a:p>
        </p:txBody>
      </p:sp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1.1: </a:t>
            </a:r>
            <a:r>
              <a:rPr lang="en-US" altLang="zh-CN" sz="3200">
                <a:ea typeface="宋体" panose="02010600030101010101" pitchFamily="2" charset="-122"/>
              </a:rPr>
              <a:t>Signals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2057400"/>
            <a:ext cx="8763000" cy="441960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Q: </a:t>
            </a:r>
            <a:r>
              <a:rPr lang="en-US" altLang="zh-CN" sz="2800" dirty="0">
                <a:ea typeface="宋体" panose="02010600030101010101" pitchFamily="2" charset="-122"/>
              </a:rPr>
              <a:t>How are signals represented?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信号表示形式</a:t>
            </a:r>
            <a:endParaRPr lang="en-US" altLang="zh-CN" sz="2800" b="1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A: </a:t>
            </a:r>
            <a:r>
              <a:rPr lang="en-US" altLang="zh-CN" sz="2800" b="1" dirty="0" err="1">
                <a:solidFill>
                  <a:srgbClr val="3333FF"/>
                </a:solidFill>
                <a:ea typeface="宋体" panose="02010600030101010101" pitchFamily="2" charset="-122"/>
              </a:rPr>
              <a:t>thevenin</a:t>
            </a:r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 form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–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voltage source 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800" i="1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with series resistance </a:t>
            </a:r>
            <a:r>
              <a:rPr lang="en-US" altLang="zh-CN" sz="2800" i="1" dirty="0">
                <a:ea typeface="宋体" panose="02010600030101010101" pitchFamily="2" charset="-122"/>
              </a:rPr>
              <a:t>R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S</a:t>
            </a:r>
            <a:endParaRPr lang="en-US" altLang="zh-CN" sz="2800" i="1" baseline="-250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800" b="1" dirty="0">
                <a:solidFill>
                  <a:srgbClr val="00B050"/>
                </a:solidFill>
                <a:ea typeface="宋体" panose="02010600030101010101" pitchFamily="2" charset="-122"/>
              </a:rPr>
              <a:t>preferable when </a:t>
            </a:r>
            <a:r>
              <a:rPr lang="en-US" altLang="zh-CN" sz="2800" b="1" i="1" dirty="0">
                <a:solidFill>
                  <a:srgbClr val="00B05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800" b="1" i="1" baseline="-25000" dirty="0">
                <a:solidFill>
                  <a:srgbClr val="00B05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="1" dirty="0">
                <a:solidFill>
                  <a:srgbClr val="00B050"/>
                </a:solidFill>
                <a:ea typeface="宋体" panose="02010600030101010101" pitchFamily="2" charset="-122"/>
              </a:rPr>
              <a:t> is low</a:t>
            </a:r>
            <a:endParaRPr lang="en-US" altLang="zh-CN" sz="2800" b="1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A: </a:t>
            </a:r>
            <a:r>
              <a:rPr lang="en-US" altLang="zh-CN" sz="2800" b="1" dirty="0" err="1">
                <a:solidFill>
                  <a:srgbClr val="3333FF"/>
                </a:solidFill>
                <a:ea typeface="宋体" panose="02010600030101010101" pitchFamily="2" charset="-122"/>
              </a:rPr>
              <a:t>norton</a:t>
            </a:r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 form </a:t>
            </a:r>
            <a:r>
              <a:rPr lang="en-US" altLang="zh-CN" sz="2800" dirty="0">
                <a:ea typeface="宋体" panose="02010600030101010101" pitchFamily="2" charset="-122"/>
              </a:rPr>
              <a:t>–</a:t>
            </a:r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current source 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800" i="1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with parallel resistance </a:t>
            </a:r>
            <a:r>
              <a:rPr lang="en-US" altLang="zh-CN" sz="2800" i="1" dirty="0">
                <a:ea typeface="宋体" panose="02010600030101010101" pitchFamily="2" charset="-122"/>
              </a:rPr>
              <a:t>R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S</a:t>
            </a:r>
            <a:endParaRPr lang="en-US" altLang="zh-CN" sz="2800" i="1" baseline="-250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800" b="1" dirty="0">
                <a:solidFill>
                  <a:srgbClr val="00B050"/>
                </a:solidFill>
                <a:ea typeface="宋体" panose="02010600030101010101" pitchFamily="2" charset="-122"/>
              </a:rPr>
              <a:t>preferable when </a:t>
            </a:r>
            <a:r>
              <a:rPr lang="en-US" altLang="zh-CN" sz="2800" b="1" i="1" dirty="0">
                <a:solidFill>
                  <a:srgbClr val="00B05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800" b="1" i="1" baseline="-25000" dirty="0">
                <a:solidFill>
                  <a:srgbClr val="00B05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="1" dirty="0">
                <a:solidFill>
                  <a:srgbClr val="00B050"/>
                </a:solidFill>
                <a:ea typeface="宋体" panose="02010600030101010101" pitchFamily="2" charset="-122"/>
              </a:rPr>
              <a:t> is high</a:t>
            </a:r>
            <a:endParaRPr lang="en-US" altLang="zh-CN" sz="2800" b="1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  <a:cs typeface="+mn-cs"/>
              </a:rPr>
              <a:t>电压信号一般内阻较小，用戴维南；</a:t>
            </a:r>
            <a:endParaRPr lang="en-US" altLang="zh-CN" b="1" dirty="0">
              <a:solidFill>
                <a:srgbClr val="00B050"/>
              </a:solidFill>
              <a:ea typeface="宋体" panose="02010600030101010101" pitchFamily="2" charset="-122"/>
              <a:cs typeface="+mn-cs"/>
            </a:endParaRPr>
          </a:p>
          <a:p>
            <a:pPr lvl="1" eaLnBrk="1" hangingPunct="1"/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  <a:cs typeface="+mn-cs"/>
              </a:rPr>
              <a:t>电流信号一般内阻较大，用诺顿；</a:t>
            </a:r>
            <a:endParaRPr lang="en-US" altLang="zh-CN" b="1" dirty="0">
              <a:solidFill>
                <a:srgbClr val="00B050"/>
              </a:solidFill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8195" name="Rectangle 5"/>
          <p:cNvSpPr>
            <a:spLocks noChangeArrowheads="1"/>
          </p:cNvSpPr>
          <p:nvPr/>
        </p:nvSpPr>
        <p:spPr bwMode="auto">
          <a:xfrm>
            <a:off x="609600" y="2133600"/>
            <a:ext cx="3276600" cy="403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1.1. </a:t>
            </a:r>
            <a:r>
              <a:rPr lang="en-US" altLang="zh-CN" sz="3200">
                <a:ea typeface="宋体" panose="02010600030101010101" pitchFamily="2" charset="-122"/>
              </a:rPr>
              <a:t>Signals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pic>
        <p:nvPicPr>
          <p:cNvPr id="8197" name="Picture 8" descr="se01F0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09800"/>
            <a:ext cx="8686800" cy="355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228600" y="5883275"/>
            <a:ext cx="8686800" cy="8223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ea typeface="MS PGothic" panose="020B0600070205080204" pitchFamily="34" charset="-128"/>
              </a:rPr>
              <a:t>Figure 1.1: </a:t>
            </a:r>
            <a:r>
              <a:rPr lang="en-US" altLang="zh-CN" dirty="0">
                <a:ea typeface="MS PGothic" panose="020B0600070205080204" pitchFamily="34" charset="-128"/>
              </a:rPr>
              <a:t>Two alternative representations of a signal source:</a:t>
            </a:r>
            <a:r>
              <a:rPr lang="en-US" altLang="zh-CN" b="1" dirty="0">
                <a:ea typeface="MS PGothic" panose="020B0600070205080204" pitchFamily="34" charset="-128"/>
              </a:rPr>
              <a:t> (a)</a:t>
            </a:r>
            <a:r>
              <a:rPr lang="en-US" altLang="zh-CN" dirty="0">
                <a:ea typeface="MS PGothic" panose="020B0600070205080204" pitchFamily="34" charset="-128"/>
              </a:rPr>
              <a:t> the </a:t>
            </a:r>
            <a:r>
              <a:rPr lang="en-US" altLang="zh-CN" dirty="0" err="1">
                <a:ea typeface="MS PGothic" panose="020B0600070205080204" pitchFamily="34" charset="-128"/>
              </a:rPr>
              <a:t>Thévenin</a:t>
            </a:r>
            <a:r>
              <a:rPr lang="en-US" altLang="zh-CN" dirty="0">
                <a:ea typeface="MS PGothic" panose="020B0600070205080204" pitchFamily="34" charset="-128"/>
              </a:rPr>
              <a:t> form; </a:t>
            </a:r>
            <a:r>
              <a:rPr lang="en-US" altLang="zh-CN" b="1" dirty="0">
                <a:ea typeface="MS PGothic" panose="020B0600070205080204" pitchFamily="34" charset="-128"/>
              </a:rPr>
              <a:t>(b)</a:t>
            </a:r>
            <a:r>
              <a:rPr lang="en-US" altLang="zh-CN" dirty="0">
                <a:ea typeface="MS PGothic" panose="020B0600070205080204" pitchFamily="34" charset="-128"/>
              </a:rPr>
              <a:t> the Norton form.</a:t>
            </a:r>
            <a:endParaRPr lang="en-US" altLang="zh-CN" dirty="0">
              <a:ea typeface="MS PGothic" panose="020B0600070205080204" pitchFamily="34" charset="-128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38800" y="1551692"/>
            <a:ext cx="274947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0432FF"/>
                </a:solidFill>
              </a:rPr>
              <a:t>信号源的两种表示形式</a:t>
            </a:r>
            <a:endParaRPr lang="en-US" sz="2000" b="1" dirty="0">
              <a:solidFill>
                <a:srgbClr val="0432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00300" y="536727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C00000"/>
                </a:solidFill>
              </a:rPr>
              <a:t>电压信号</a:t>
            </a:r>
            <a:endParaRPr kumimoji="1"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40574" y="536727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C00000"/>
                </a:solidFill>
              </a:rPr>
              <a:t>电流信号</a:t>
            </a:r>
            <a:endParaRPr kumimoji="1"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10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Example 1.1: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b="0">
                <a:ea typeface="宋体" panose="02010600030101010101" pitchFamily="2" charset="-122"/>
              </a:rPr>
              <a:t>Thevenin and Norton Equivalent Sources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016" y="1869930"/>
            <a:ext cx="8763000" cy="4038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Consider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two source / load</a:t>
            </a:r>
            <a:r>
              <a:rPr lang="en-US" altLang="zh-CN" sz="2800" dirty="0">
                <a:ea typeface="宋体" panose="02010600030101010101" pitchFamily="2" charset="-122"/>
              </a:rPr>
              <a:t> combinations to upper-right.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rgbClr val="0432FF"/>
                </a:solidFill>
                <a:ea typeface="宋体" panose="02010600030101010101" pitchFamily="2" charset="-122"/>
              </a:rPr>
              <a:t>note</a:t>
            </a:r>
            <a:r>
              <a:rPr lang="en-US" altLang="zh-CN" sz="2800" b="1" dirty="0">
                <a:solidFill>
                  <a:srgbClr val="0432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0432FF"/>
                </a:solidFill>
                <a:ea typeface="宋体" panose="02010600030101010101" pitchFamily="2" charset="-122"/>
              </a:rPr>
              <a:t>that </a:t>
            </a:r>
            <a:r>
              <a:rPr lang="en-US" altLang="zh-CN" sz="2800" b="1" dirty="0">
                <a:solidFill>
                  <a:srgbClr val="0432FF"/>
                </a:solidFill>
                <a:ea typeface="宋体" panose="02010600030101010101" pitchFamily="2" charset="-122"/>
              </a:rPr>
              <a:t>output resistance </a:t>
            </a:r>
            <a:r>
              <a:rPr lang="en-US" altLang="zh-CN" sz="2800" dirty="0">
                <a:solidFill>
                  <a:srgbClr val="0432FF"/>
                </a:solidFill>
                <a:ea typeface="宋体" panose="02010600030101010101" pitchFamily="2" charset="-122"/>
              </a:rPr>
              <a:t>of a source limits its ability to deliver a signal at full strength </a:t>
            </a:r>
            <a:r>
              <a:rPr lang="en-US" altLang="zh-CN" dirty="0">
                <a:solidFill>
                  <a:srgbClr val="0432FF"/>
                </a:solidFill>
                <a:ea typeface="宋体" panose="02010600030101010101" pitchFamily="2" charset="-122"/>
              </a:rPr>
              <a:t>(</a:t>
            </a:r>
            <a:r>
              <a:rPr lang="zh-CN" altLang="en-US" dirty="0">
                <a:solidFill>
                  <a:srgbClr val="0432FF"/>
                </a:solidFill>
                <a:ea typeface="宋体" panose="02010600030101010101" pitchFamily="2" charset="-122"/>
              </a:rPr>
              <a:t>分压</a:t>
            </a:r>
            <a:r>
              <a:rPr lang="en-US" altLang="zh-CN" dirty="0">
                <a:solidFill>
                  <a:srgbClr val="0432FF"/>
                </a:solidFill>
                <a:ea typeface="宋体" panose="02010600030101010101" pitchFamily="2" charset="-122"/>
              </a:rPr>
              <a:t>/</a:t>
            </a:r>
            <a:r>
              <a:rPr lang="zh-CN" altLang="en-US" dirty="0">
                <a:solidFill>
                  <a:srgbClr val="0432FF"/>
                </a:solidFill>
                <a:ea typeface="宋体" panose="02010600030101010101" pitchFamily="2" charset="-122"/>
              </a:rPr>
              <a:t>分流</a:t>
            </a:r>
            <a:r>
              <a:rPr lang="en-US" altLang="zh-CN" dirty="0">
                <a:solidFill>
                  <a:srgbClr val="0432FF"/>
                </a:solidFill>
                <a:ea typeface="宋体" panose="02010600030101010101" pitchFamily="2" charset="-122"/>
              </a:rPr>
              <a:t>)</a:t>
            </a:r>
            <a:endParaRPr lang="en-US" altLang="zh-CN" sz="2000" dirty="0">
              <a:solidFill>
                <a:srgbClr val="0432FF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Q(a):</a:t>
            </a:r>
            <a:r>
              <a:rPr lang="en-US" altLang="zh-CN" sz="2800" dirty="0">
                <a:ea typeface="宋体" panose="02010600030101010101" pitchFamily="2" charset="-122"/>
              </a:rPr>
              <a:t> what is the relationship between the source and output when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maximum power </a:t>
            </a:r>
            <a:r>
              <a:rPr lang="en-US" altLang="zh-CN" sz="2800" dirty="0">
                <a:ea typeface="宋体" panose="02010600030101010101" pitchFamily="2" charset="-122"/>
              </a:rPr>
              <a:t>is delivered?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solidFill>
                  <a:schemeClr val="bg2"/>
                </a:solidFill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0432FF"/>
                </a:solidFill>
                <a:ea typeface="宋体" panose="02010600030101010101" pitchFamily="2" charset="-122"/>
              </a:rPr>
              <a:t>共轭匹配</a:t>
            </a:r>
            <a:endParaRPr lang="en-US" altLang="zh-CN" dirty="0">
              <a:solidFill>
                <a:srgbClr val="0432FF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Q(b):</a:t>
            </a:r>
            <a:r>
              <a:rPr lang="en-US" altLang="zh-CN" sz="2800" dirty="0">
                <a:ea typeface="宋体" panose="02010600030101010101" pitchFamily="2" charset="-122"/>
              </a:rPr>
              <a:t> what are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ideal values of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800" i="1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dirty="0">
                <a:ea typeface="宋体" panose="02010600030101010101" pitchFamily="2" charset="-122"/>
              </a:rPr>
              <a:t> for </a:t>
            </a:r>
            <a:r>
              <a:rPr lang="en-US" altLang="zh-CN" sz="2800" dirty="0" err="1">
                <a:ea typeface="宋体" panose="02010600030101010101" pitchFamily="2" charset="-122"/>
              </a:rPr>
              <a:t>norton</a:t>
            </a:r>
            <a:r>
              <a:rPr lang="en-US" altLang="zh-CN" sz="2800" dirty="0">
                <a:ea typeface="宋体" panose="02010600030101010101" pitchFamily="2" charset="-122"/>
              </a:rPr>
              <a:t> and </a:t>
            </a:r>
            <a:r>
              <a:rPr lang="en-US" altLang="zh-CN" sz="2800" dirty="0" err="1">
                <a:ea typeface="宋体" panose="02010600030101010101" pitchFamily="2" charset="-122"/>
              </a:rPr>
              <a:t>thevenin</a:t>
            </a:r>
            <a:r>
              <a:rPr lang="en-US" altLang="zh-CN" sz="2800" dirty="0">
                <a:ea typeface="宋体" panose="02010600030101010101" pitchFamily="2" charset="-122"/>
              </a:rPr>
              <a:t> representations?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432FF"/>
                </a:solidFill>
                <a:ea typeface="宋体" panose="02010600030101010101" pitchFamily="2" charset="-122"/>
              </a:rPr>
              <a:t>电压源</a:t>
            </a:r>
            <a:r>
              <a:rPr lang="en-US" altLang="zh-CN" dirty="0">
                <a:solidFill>
                  <a:srgbClr val="0432FF"/>
                </a:solidFill>
                <a:ea typeface="宋体" panose="02010600030101010101" pitchFamily="2" charset="-122"/>
              </a:rPr>
              <a:t>~</a:t>
            </a:r>
            <a:r>
              <a:rPr lang="zh-CN" altLang="en-US" dirty="0">
                <a:solidFill>
                  <a:srgbClr val="0432FF"/>
                </a:solidFill>
                <a:ea typeface="宋体" panose="02010600030101010101" pitchFamily="2" charset="-122"/>
              </a:rPr>
              <a:t>小内阻；电流源</a:t>
            </a:r>
            <a:r>
              <a:rPr lang="en-US" altLang="zh-CN" dirty="0">
                <a:solidFill>
                  <a:srgbClr val="0432FF"/>
                </a:solidFill>
                <a:ea typeface="宋体" panose="02010600030101010101" pitchFamily="2" charset="-122"/>
              </a:rPr>
              <a:t>~</a:t>
            </a:r>
            <a:r>
              <a:rPr lang="zh-CN" altLang="en-US" dirty="0">
                <a:solidFill>
                  <a:srgbClr val="0432FF"/>
                </a:solidFill>
                <a:ea typeface="宋体" panose="02010600030101010101" pitchFamily="2" charset="-122"/>
              </a:rPr>
              <a:t>大内阻</a:t>
            </a:r>
            <a:endParaRPr lang="en-US" altLang="zh-CN" dirty="0">
              <a:solidFill>
                <a:srgbClr val="0432FF"/>
              </a:solidFill>
              <a:ea typeface="宋体" panose="02010600030101010101" pitchFamily="2" charset="-122"/>
            </a:endParaRPr>
          </a:p>
        </p:txBody>
      </p:sp>
      <p:pic>
        <p:nvPicPr>
          <p:cNvPr id="1814535" name="Picture 7" descr="se01F0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516" y="70644"/>
            <a:ext cx="4542471" cy="1377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文本框 1"/>
          <p:cNvSpPr txBox="1">
            <a:spLocks noChangeArrowheads="1"/>
          </p:cNvSpPr>
          <p:nvPr/>
        </p:nvSpPr>
        <p:spPr bwMode="auto">
          <a:xfrm>
            <a:off x="0" y="6186600"/>
            <a:ext cx="92964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/>
            <a:r>
              <a:rPr lang="zh-CN" altLang="en-US" sz="2000" b="1" dirty="0">
                <a:solidFill>
                  <a:srgbClr val="0432FF"/>
                </a:solidFill>
                <a:ea typeface="宋体" panose="02010600030101010101" pitchFamily="2" charset="-122"/>
              </a:rPr>
              <a:t>并不是所有情况，我们都希望最大功率传输。对于原本就比较微弱的信号，我们更关心电压（或电流）强度衰减的最小化，或者说更关心电压</a:t>
            </a:r>
            <a:r>
              <a:rPr lang="en-US" altLang="zh-CN" sz="2000" b="1" dirty="0">
                <a:solidFill>
                  <a:srgbClr val="0432FF"/>
                </a:solidFill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rgbClr val="0432FF"/>
                </a:solidFill>
                <a:ea typeface="宋体" panose="02010600030101010101" pitchFamily="2" charset="-122"/>
              </a:rPr>
              <a:t>电流强度的放大</a:t>
            </a:r>
            <a:endParaRPr lang="zh-CN" altLang="en-US" sz="2000" b="1" dirty="0">
              <a:solidFill>
                <a:srgbClr val="0432FF"/>
              </a:solidFill>
              <a:ea typeface="宋体" panose="02010600030101010101" pitchFamily="2" charset="-122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843148" y="5648973"/>
            <a:ext cx="7729537" cy="519113"/>
            <a:chOff x="926306" y="6296025"/>
            <a:chExt cx="7729537" cy="519113"/>
          </a:xfrm>
        </p:grpSpPr>
        <p:pic>
          <p:nvPicPr>
            <p:cNvPr id="10247" name="图片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6306" y="6357938"/>
              <a:ext cx="10541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8" name="图片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7368" y="6354763"/>
              <a:ext cx="9017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49" name="右箭头 4"/>
            <p:cNvSpPr>
              <a:spLocks noChangeArrowheads="1"/>
            </p:cNvSpPr>
            <p:nvPr/>
          </p:nvSpPr>
          <p:spPr bwMode="auto">
            <a:xfrm>
              <a:off x="2221706" y="6532563"/>
              <a:ext cx="381000" cy="152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r"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algn="r"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algn="r"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algn="r"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algn="r"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pic>
          <p:nvPicPr>
            <p:cNvPr id="10250" name="图片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9406" y="6348413"/>
              <a:ext cx="1066800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51" name="图片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25543" y="6296025"/>
              <a:ext cx="1130300" cy="444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2" name="右箭头 11"/>
            <p:cNvSpPr>
              <a:spLocks noChangeArrowheads="1"/>
            </p:cNvSpPr>
            <p:nvPr/>
          </p:nvSpPr>
          <p:spPr bwMode="auto">
            <a:xfrm>
              <a:off x="6831806" y="6456363"/>
              <a:ext cx="381000" cy="152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r"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algn="r"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algn="r"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algn="r"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algn="r"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13831" y="1540927"/>
            <a:ext cx="8392041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00B050"/>
                </a:solidFill>
              </a:rPr>
              <a:t>输出电阻：</a:t>
            </a:r>
            <a:r>
              <a:rPr kumimoji="1" lang="zh-CN" altLang="en-US" sz="2000" dirty="0">
                <a:solidFill>
                  <a:srgbClr val="00B050"/>
                </a:solidFill>
              </a:rPr>
              <a:t>从输出端看进去的等效电阻，限制着信号实际到达负载的多少</a:t>
            </a:r>
            <a:endParaRPr kumimoji="1" lang="zh-CN" altLang="en-US" sz="20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14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38200"/>
            <a:ext cx="9144000" cy="43518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4800600"/>
            <a:ext cx="3872791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一个任意的电压信号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ym typeface="Wingdings" panose="05000000000000000000" pitchFamily="2" charset="2"/>
              </a:rPr>
              <a:t>幅度的变化包含了信息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ym typeface="Wingdings" panose="05000000000000000000" pitchFamily="2" charset="2"/>
              </a:rPr>
              <a:t>难以写出解析表达式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一个信号可以有两个 </a:t>
            </a:r>
            <a:r>
              <a:rPr lang="en-US" altLang="zh-CN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views</a:t>
            </a:r>
            <a:r>
              <a:rPr lang="zh-CN" altLang="en-US" sz="2000" dirty="0">
                <a:sym typeface="Wingdings" panose="05000000000000000000" pitchFamily="2" charset="2"/>
              </a:rPr>
              <a:t>：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432FF"/>
                </a:solidFill>
                <a:sym typeface="Wingdings" panose="05000000000000000000" pitchFamily="2" charset="2"/>
              </a:rPr>
              <a:t>时域</a:t>
            </a:r>
            <a:r>
              <a:rPr lang="zh-CN" altLang="en-US" sz="2000" dirty="0">
                <a:sym typeface="Wingdings" panose="05000000000000000000" pitchFamily="2" charset="2"/>
              </a:rPr>
              <a:t> </a:t>
            </a:r>
            <a:r>
              <a:rPr lang="en-US" altLang="zh-CN" sz="2000" dirty="0">
                <a:sym typeface="Wingdings" panose="05000000000000000000" pitchFamily="2" charset="2"/>
              </a:rPr>
              <a:t></a:t>
            </a:r>
            <a:r>
              <a:rPr lang="zh-CN" altLang="en-US" sz="2000" dirty="0">
                <a:sym typeface="Wingdings" panose="05000000000000000000" pitchFamily="2" charset="2"/>
              </a:rPr>
              <a:t> </a:t>
            </a:r>
            <a:r>
              <a:rPr lang="zh-CN" altLang="en-US" sz="2000" b="1" dirty="0">
                <a:solidFill>
                  <a:srgbClr val="00B050"/>
                </a:solidFill>
                <a:sym typeface="Wingdings" panose="05000000000000000000" pitchFamily="2" charset="2"/>
              </a:rPr>
              <a:t>频域</a:t>
            </a:r>
            <a:r>
              <a:rPr lang="zh-CN" altLang="en-US" sz="2000" dirty="0">
                <a:sym typeface="Wingdings" panose="05000000000000000000" pitchFamily="2" charset="2"/>
              </a:rPr>
              <a:t> 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1.2.</a:t>
            </a:r>
            <a:r>
              <a:rPr lang="en-US" altLang="zh-CN" sz="3200">
                <a:ea typeface="宋体" panose="02010600030101010101" pitchFamily="2" charset="-122"/>
              </a:rPr>
              <a:t> Frequency Spectrum of Signals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frequency spectrum</a:t>
            </a:r>
            <a:r>
              <a:rPr lang="zh-CN" altLang="en-US" sz="2800" b="1" dirty="0">
                <a:solidFill>
                  <a:srgbClr val="3333FF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3333FF"/>
                </a:solidFill>
                <a:ea typeface="宋体" panose="02010600030101010101" pitchFamily="2" charset="-122"/>
              </a:rPr>
              <a:t>频谱</a:t>
            </a:r>
            <a:r>
              <a:rPr lang="en-US" altLang="zh-CN" sz="2800" dirty="0">
                <a:ea typeface="宋体" panose="02010600030101010101" pitchFamily="2" charset="-122"/>
              </a:rPr>
              <a:t> – The frequency spectrum of an electrical signal is the </a:t>
            </a:r>
            <a:r>
              <a:rPr lang="en-US" altLang="zh-CN" sz="2800" b="1" dirty="0">
                <a:solidFill>
                  <a:srgbClr val="0432FF"/>
                </a:solidFill>
                <a:ea typeface="宋体" panose="02010600030101010101" pitchFamily="2" charset="-122"/>
              </a:rPr>
              <a:t>distribution</a:t>
            </a:r>
            <a:r>
              <a:rPr lang="en-US" altLang="zh-CN" sz="2800" dirty="0">
                <a:ea typeface="宋体" panose="02010600030101010101" pitchFamily="2" charset="-122"/>
              </a:rPr>
              <a:t> of the amplitudes and phases of each frequency component against frequency.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时域信号在频域里的表达</a:t>
            </a:r>
            <a:endParaRPr lang="en-US" altLang="zh-CN" sz="2800" b="1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 dirty="0">
                <a:ea typeface="宋体" panose="02010600030101010101" pitchFamily="2" charset="-122"/>
              </a:rPr>
              <a:t> What is a Fourier Series?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傅里叶级数</a:t>
            </a:r>
            <a:endParaRPr lang="en-US" altLang="zh-CN" sz="2800" b="1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 dirty="0">
                <a:solidFill>
                  <a:srgbClr val="3333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An expression of a </a:t>
            </a:r>
            <a:r>
              <a:rPr lang="en-US" altLang="zh-CN" sz="2800" b="1" dirty="0">
                <a:solidFill>
                  <a:srgbClr val="0432FF"/>
                </a:solidFill>
                <a:ea typeface="宋体" panose="02010600030101010101" pitchFamily="2" charset="-122"/>
              </a:rPr>
              <a:t>periodic function </a:t>
            </a:r>
            <a:r>
              <a:rPr lang="en-US" altLang="zh-CN" sz="2800" dirty="0">
                <a:ea typeface="宋体" panose="02010600030101010101" pitchFamily="2" charset="-122"/>
              </a:rPr>
              <a:t>as the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sum of an infinite number of sinusoids</a:t>
            </a:r>
            <a:r>
              <a:rPr lang="en-US" altLang="zh-CN" sz="2800" dirty="0">
                <a:ea typeface="宋体" panose="02010600030101010101" pitchFamily="2" charset="-122"/>
              </a:rPr>
              <a:t> whose frequencies are harmonically related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432FF"/>
                </a:solidFill>
                <a:ea typeface="宋体" panose="02010600030101010101" pitchFamily="2" charset="-122"/>
              </a:rPr>
              <a:t>周期信号</a:t>
            </a:r>
            <a:r>
              <a:rPr lang="zh-CN" altLang="en-US" sz="2400" b="1" dirty="0">
                <a:solidFill>
                  <a:srgbClr val="00B050"/>
                </a:solidFill>
                <a:ea typeface="宋体" panose="02010600030101010101" pitchFamily="2" charset="-122"/>
              </a:rPr>
              <a:t>可以表达成无限个正弦信号的和，且这些正弦信号的频率呈谐波关系</a:t>
            </a:r>
            <a:endParaRPr lang="en-US" altLang="zh-CN" sz="2800" b="1" dirty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84989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5606"/>
            <a:ext cx="9144000" cy="125148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-76200" y="1507052"/>
            <a:ext cx="5791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① 类比二维坐标：内积是</a:t>
            </a:r>
            <a:r>
              <a:rPr lang="zh-CN" altLang="en-US" dirty="0">
                <a:solidFill>
                  <a:srgbClr val="0432FF"/>
                </a:solidFill>
              </a:rPr>
              <a:t>矢量</a:t>
            </a:r>
            <a:r>
              <a:rPr lang="zh-CN" altLang="en-US" dirty="0">
                <a:solidFill>
                  <a:srgbClr val="FF0000"/>
                </a:solidFill>
              </a:rPr>
              <a:t>在</a:t>
            </a:r>
            <a:r>
              <a:rPr lang="zh-CN" altLang="en-US" dirty="0">
                <a:solidFill>
                  <a:srgbClr val="0432FF"/>
                </a:solidFill>
              </a:rPr>
              <a:t>基底矢量</a:t>
            </a:r>
            <a:r>
              <a:rPr lang="zh-CN" altLang="en-US" dirty="0">
                <a:solidFill>
                  <a:srgbClr val="FF0000"/>
                </a:solidFill>
              </a:rPr>
              <a:t>（坐标轴）上的投影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" y="3097086"/>
            <a:ext cx="9144000" cy="2898239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-15025" y="5410200"/>
            <a:ext cx="47663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② </a:t>
            </a:r>
            <a:r>
              <a:rPr lang="en-US" altLang="zh-CN" dirty="0">
                <a:solidFill>
                  <a:srgbClr val="FF0000"/>
                </a:solidFill>
              </a:rPr>
              <a:t>1, </a:t>
            </a:r>
            <a:r>
              <a:rPr lang="en-US" altLang="zh-CN" dirty="0" err="1">
                <a:solidFill>
                  <a:srgbClr val="FF0000"/>
                </a:solidFill>
              </a:rPr>
              <a:t>sinx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en-US" altLang="zh-CN" dirty="0" err="1">
                <a:solidFill>
                  <a:srgbClr val="FF0000"/>
                </a:solidFill>
              </a:rPr>
              <a:t>cosx</a:t>
            </a:r>
            <a:r>
              <a:rPr lang="en-US" altLang="zh-CN" dirty="0">
                <a:solidFill>
                  <a:srgbClr val="FF0000"/>
                </a:solidFill>
              </a:rPr>
              <a:t>, sin2x, cos2x, sin3x, cos3x, … </a:t>
            </a:r>
            <a:r>
              <a:rPr lang="zh-CN" altLang="en-US" dirty="0">
                <a:solidFill>
                  <a:srgbClr val="FF0000"/>
                </a:solidFill>
              </a:rPr>
              <a:t>两两正交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5" y="5995325"/>
            <a:ext cx="9144000" cy="791491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429000" y="5948261"/>
            <a:ext cx="37866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③ 构建函数空间的基底矢量，无穷多维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848600" y="256572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长度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870065" y="350050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内积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67807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-21465" y="828303"/>
            <a:ext cx="85731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④ 将函数写成在基底矢量上的分解，系数为函数与基底的内积（写成上页③的形式更清晰）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6400"/>
            <a:ext cx="9144000" cy="349536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791200"/>
            <a:ext cx="6934200" cy="793841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-21465" y="5621923"/>
            <a:ext cx="2454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⑤ 以均值为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>
                <a:solidFill>
                  <a:srgbClr val="FF0000"/>
                </a:solidFill>
              </a:rPr>
              <a:t>的方波为例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5069361"/>
            <a:ext cx="3886200" cy="5683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20483" name="Rectangle 6"/>
          <p:cNvSpPr>
            <a:spLocks noChangeArrowheads="1"/>
          </p:cNvSpPr>
          <p:nvPr/>
        </p:nvSpPr>
        <p:spPr bwMode="auto">
          <a:xfrm>
            <a:off x="0" y="1981200"/>
            <a:ext cx="4343400" cy="4724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20484" name="Rectangle 2"/>
          <p:cNvSpPr>
            <a:spLocks noChangeArrowheads="1"/>
          </p:cNvSpPr>
          <p:nvPr/>
        </p:nvSpPr>
        <p:spPr bwMode="auto">
          <a:xfrm>
            <a:off x="0" y="5943600"/>
            <a:ext cx="9144000" cy="914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Fourier Series Example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21560"/>
            <a:ext cx="9144000" cy="43364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950" y="82137"/>
            <a:ext cx="4635500" cy="2731326"/>
          </a:xfrm>
          <a:prstGeom prst="rect">
            <a:avLst/>
          </a:prstGeom>
        </p:spPr>
      </p:pic>
      <p:sp>
        <p:nvSpPr>
          <p:cNvPr id="3" name="Left-Right Arrow 2"/>
          <p:cNvSpPr/>
          <p:nvPr/>
        </p:nvSpPr>
        <p:spPr bwMode="auto">
          <a:xfrm rot="18208375">
            <a:off x="5496856" y="3320915"/>
            <a:ext cx="1272208" cy="343640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89721"/>
            <a:ext cx="4267200" cy="6318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91622" y="248082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高阶可以忽略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11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5867400" y="4705822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</a:rPr>
              <a:t>频率越高，幅度越小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24579" name="Rectangle 11"/>
          <p:cNvSpPr>
            <a:spLocks noChangeArrowheads="1"/>
          </p:cNvSpPr>
          <p:nvPr/>
        </p:nvSpPr>
        <p:spPr bwMode="auto">
          <a:xfrm>
            <a:off x="762000" y="2057400"/>
            <a:ext cx="3276600" cy="434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24580" name="Rectangle 9"/>
          <p:cNvSpPr>
            <a:spLocks noChangeArrowheads="1"/>
          </p:cNvSpPr>
          <p:nvPr/>
        </p:nvSpPr>
        <p:spPr bwMode="auto">
          <a:xfrm>
            <a:off x="0" y="6172200"/>
            <a:ext cx="48006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1.2. </a:t>
            </a:r>
            <a:r>
              <a:rPr lang="en-US" altLang="zh-CN" sz="3200">
                <a:ea typeface="宋体" panose="02010600030101010101" pitchFamily="2" charset="-122"/>
              </a:rPr>
              <a:t>Frequency Spectrum of Signals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 </a:t>
            </a:r>
            <a:r>
              <a:rPr lang="en-US" altLang="zh-CN" sz="2800">
                <a:ea typeface="宋体" panose="02010600030101010101" pitchFamily="2" charset="-122"/>
              </a:rPr>
              <a:t>Can the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Fourier Transform </a:t>
            </a:r>
            <a:r>
              <a:rPr lang="en-US" altLang="zh-CN" sz="2800">
                <a:ea typeface="宋体" panose="02010600030101010101" pitchFamily="2" charset="-122"/>
              </a:rPr>
              <a:t>be applied to a non-periodic function of time?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 </a:t>
            </a:r>
            <a:r>
              <a:rPr lang="en-US" altLang="zh-CN" sz="2800">
                <a:ea typeface="宋体" panose="02010600030101010101" pitchFamily="2" charset="-122"/>
              </a:rPr>
              <a:t>Yes, however (as opposed to a discrete frequency spectrum) it will yield a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continuous…</a:t>
            </a:r>
            <a:endParaRPr lang="en-US" altLang="zh-CN" sz="28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pic>
        <p:nvPicPr>
          <p:cNvPr id="24583" name="Picture 7" descr="se01F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379913"/>
            <a:ext cx="411480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4" name="Picture 6" descr="se01F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962400"/>
            <a:ext cx="4114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27848" name="AutoShape 8"/>
          <p:cNvSpPr>
            <a:spLocks noChangeArrowheads="1"/>
          </p:cNvSpPr>
          <p:nvPr/>
        </p:nvSpPr>
        <p:spPr bwMode="auto">
          <a:xfrm>
            <a:off x="2438400" y="4111625"/>
            <a:ext cx="2130425" cy="1069975"/>
          </a:xfrm>
          <a:prstGeom prst="rightArrow">
            <a:avLst>
              <a:gd name="adj1" fmla="val 50000"/>
              <a:gd name="adj2" fmla="val 49777"/>
            </a:avLst>
          </a:prstGeom>
          <a:solidFill>
            <a:srgbClr val="FFFF99"/>
          </a:solidFill>
          <a:ln w="38100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34000" y="432137"/>
            <a:ext cx="31486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432FF"/>
                </a:solidFill>
              </a:rPr>
              <a:t>周期</a:t>
            </a:r>
            <a:r>
              <a:rPr lang="zh-CN" altLang="en-US" sz="2000" dirty="0"/>
              <a:t>信号</a:t>
            </a:r>
            <a:r>
              <a:rPr lang="zh-CN" altLang="en-US" sz="2000" b="1" dirty="0">
                <a:solidFill>
                  <a:srgbClr val="0432FF"/>
                </a:solidFill>
              </a:rPr>
              <a:t> </a:t>
            </a:r>
            <a:r>
              <a:rPr lang="en-US" altLang="zh-CN" sz="2000" dirty="0"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sym typeface="Wingdings" panose="05000000000000000000" pitchFamily="2" charset="2"/>
              </a:rPr>
              <a:t> </a:t>
            </a:r>
            <a:r>
              <a:rPr lang="zh-CN" altLang="en-US" sz="2000" b="1" dirty="0">
                <a:solidFill>
                  <a:srgbClr val="0432FF"/>
                </a:solidFill>
                <a:sym typeface="Wingdings" panose="05000000000000000000" pitchFamily="2" charset="2"/>
              </a:rPr>
              <a:t>离散</a:t>
            </a:r>
            <a:r>
              <a:rPr lang="zh-CN" altLang="en-US" sz="2000" dirty="0">
                <a:sym typeface="Wingdings" panose="05000000000000000000" pitchFamily="2" charset="2"/>
              </a:rPr>
              <a:t>频谱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C00000"/>
                </a:solidFill>
                <a:sym typeface="Wingdings" panose="05000000000000000000" pitchFamily="2" charset="2"/>
              </a:rPr>
              <a:t>非周期</a:t>
            </a:r>
            <a:r>
              <a:rPr lang="zh-CN" altLang="en-US" sz="2000" dirty="0">
                <a:sym typeface="Wingdings" panose="05000000000000000000" pitchFamily="2" charset="2"/>
              </a:rPr>
              <a:t>信号 </a:t>
            </a:r>
            <a:r>
              <a:rPr lang="en-US" altLang="zh-CN" sz="2000" dirty="0"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sym typeface="Wingdings" panose="05000000000000000000" pitchFamily="2" charset="2"/>
              </a:rPr>
              <a:t> </a:t>
            </a:r>
            <a:r>
              <a:rPr lang="zh-CN" altLang="en-US" sz="2000" b="1" dirty="0">
                <a:solidFill>
                  <a:srgbClr val="C00000"/>
                </a:solidFill>
                <a:sym typeface="Wingdings" panose="05000000000000000000" pitchFamily="2" charset="2"/>
              </a:rPr>
              <a:t>连续</a:t>
            </a:r>
            <a:r>
              <a:rPr lang="zh-CN" altLang="en-US" sz="2000" dirty="0">
                <a:sym typeface="Wingdings" panose="05000000000000000000" pitchFamily="2" charset="2"/>
              </a:rPr>
              <a:t>频谱</a:t>
            </a:r>
            <a:endParaRPr lang="en-US" sz="2000" dirty="0"/>
          </a:p>
        </p:txBody>
      </p:sp>
      <p:sp>
        <p:nvSpPr>
          <p:cNvPr id="11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27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182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7848" grpId="0" animBg="1"/>
      <p:bldP spid="1827848" grpId="1" animBg="1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1.3. </a:t>
            </a:r>
            <a:r>
              <a:rPr lang="en-US" altLang="zh-CN" sz="3200">
                <a:ea typeface="宋体" panose="02010600030101010101" pitchFamily="2" charset="-122"/>
              </a:rPr>
              <a:t>Analog and Digital Signals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analog signal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0432FF"/>
                </a:solidFill>
                <a:ea typeface="宋体" panose="02010600030101010101" pitchFamily="2" charset="-122"/>
              </a:rPr>
              <a:t>模拟信号</a:t>
            </a:r>
            <a:r>
              <a:rPr lang="en-US" altLang="zh-CN" b="1" dirty="0"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–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is continuous with respect to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both</a:t>
            </a:r>
            <a:r>
              <a:rPr lang="en-US" altLang="zh-CN" sz="2800" dirty="0">
                <a:ea typeface="宋体" panose="02010600030101010101" pitchFamily="2" charset="-122"/>
              </a:rPr>
              <a:t> value and time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时间和数值都连续变化</a:t>
            </a:r>
            <a:endParaRPr lang="en-US" altLang="zh-CN" sz="2800" b="1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discrete-time signal</a:t>
            </a:r>
            <a:r>
              <a:rPr lang="zh-CN" altLang="en-US" sz="2800" b="1" dirty="0">
                <a:solidFill>
                  <a:srgbClr val="3333FF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3333FF"/>
                </a:solidFill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3333FF"/>
                </a:solidFill>
                <a:ea typeface="宋体" panose="02010600030101010101" pitchFamily="2" charset="-122"/>
              </a:rPr>
              <a:t>离散时间信号</a:t>
            </a:r>
            <a:r>
              <a:rPr lang="en-US" altLang="zh-CN" b="1" dirty="0">
                <a:solidFill>
                  <a:srgbClr val="3333FF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– is continuous with respect to value but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sampled </a:t>
            </a:r>
            <a:r>
              <a:rPr lang="en-US" altLang="zh-CN" sz="2800" dirty="0">
                <a:ea typeface="宋体" panose="02010600030101010101" pitchFamily="2" charset="-122"/>
              </a:rPr>
              <a:t>at discrete points in time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在离散的时间点上对模拟信号进行抽样</a:t>
            </a:r>
            <a:endParaRPr lang="en-US" altLang="zh-CN" b="1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digital signal </a:t>
            </a:r>
            <a:r>
              <a:rPr lang="en-US" altLang="zh-CN" b="1" dirty="0">
                <a:solidFill>
                  <a:srgbClr val="3333FF"/>
                </a:solidFill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3333FF"/>
                </a:solidFill>
                <a:ea typeface="宋体" panose="02010600030101010101" pitchFamily="2" charset="-122"/>
              </a:rPr>
              <a:t>数字信号</a:t>
            </a:r>
            <a:r>
              <a:rPr lang="en-US" altLang="zh-CN" b="1" dirty="0">
                <a:solidFill>
                  <a:srgbClr val="3333FF"/>
                </a:solidFill>
                <a:ea typeface="宋体" panose="02010600030101010101" pitchFamily="2" charset="-122"/>
              </a:rPr>
              <a:t>)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– is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quantized </a:t>
            </a:r>
            <a:r>
              <a:rPr lang="en-US" altLang="zh-CN" sz="2800" dirty="0">
                <a:ea typeface="宋体" panose="02010600030101010101" pitchFamily="2" charset="-122"/>
              </a:rPr>
              <a:t>(applied to values) as well as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sampled</a:t>
            </a:r>
            <a:r>
              <a:rPr lang="en-US" altLang="zh-CN" sz="2800" dirty="0">
                <a:ea typeface="宋体" panose="02010600030101010101" pitchFamily="2" charset="-122"/>
              </a:rPr>
              <a:t> at discrete points in time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对离散时间信号的数值进行量化</a:t>
            </a:r>
            <a:r>
              <a:rPr lang="en-US" altLang="zh-CN" b="1" dirty="0">
                <a:solidFill>
                  <a:srgbClr val="00B050"/>
                </a:solidFill>
                <a:ea typeface="宋体" panose="02010600030101010101" pitchFamily="2" charset="-122"/>
              </a:rPr>
              <a:t>/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数字化</a:t>
            </a:r>
            <a:endParaRPr lang="en-US" altLang="zh-CN" b="1" dirty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30723" name="Rectangle 11"/>
          <p:cNvSpPr>
            <a:spLocks noChangeArrowheads="1"/>
          </p:cNvSpPr>
          <p:nvPr/>
        </p:nvSpPr>
        <p:spPr bwMode="auto">
          <a:xfrm>
            <a:off x="685800" y="2133600"/>
            <a:ext cx="3276600" cy="403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1.3. </a:t>
            </a:r>
            <a:r>
              <a:rPr lang="en-US" altLang="zh-CN" sz="3200">
                <a:ea typeface="宋体" panose="02010600030101010101" pitchFamily="2" charset="-122"/>
              </a:rPr>
              <a:t>Analog and Digital Signals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pic>
        <p:nvPicPr>
          <p:cNvPr id="30725" name="Picture 7" descr="se01F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057400"/>
            <a:ext cx="3446463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Picture 9" descr="se01F0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267200"/>
            <a:ext cx="7088188" cy="187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29893" name="Line 5"/>
          <p:cNvSpPr>
            <a:spLocks noChangeShapeType="1"/>
          </p:cNvSpPr>
          <p:nvPr/>
        </p:nvSpPr>
        <p:spPr bwMode="auto">
          <a:xfrm>
            <a:off x="6705600" y="3657600"/>
            <a:ext cx="0" cy="1295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9894" name="Line 6"/>
          <p:cNvSpPr>
            <a:spLocks noChangeShapeType="1"/>
          </p:cNvSpPr>
          <p:nvPr/>
        </p:nvSpPr>
        <p:spPr bwMode="auto">
          <a:xfrm flipH="1">
            <a:off x="3962400" y="2895600"/>
            <a:ext cx="1600200" cy="1828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9895" name="Line 7"/>
          <p:cNvSpPr>
            <a:spLocks noChangeShapeType="1"/>
          </p:cNvSpPr>
          <p:nvPr/>
        </p:nvSpPr>
        <p:spPr bwMode="auto">
          <a:xfrm flipH="1">
            <a:off x="4114800" y="2286000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9896" name="Text Box 8"/>
          <p:cNvSpPr txBox="1">
            <a:spLocks noChangeArrowheads="1"/>
          </p:cNvSpPr>
          <p:nvPr/>
        </p:nvSpPr>
        <p:spPr bwMode="auto">
          <a:xfrm>
            <a:off x="5257800" y="1981200"/>
            <a:ext cx="2667000" cy="5794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analog signal</a:t>
            </a:r>
            <a:endParaRPr lang="en-US" altLang="zh-CN" sz="32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829897" name="Text Box 9"/>
          <p:cNvSpPr txBox="1">
            <a:spLocks noChangeArrowheads="1"/>
          </p:cNvSpPr>
          <p:nvPr/>
        </p:nvSpPr>
        <p:spPr bwMode="auto">
          <a:xfrm>
            <a:off x="5257800" y="2667000"/>
            <a:ext cx="3657600" cy="5794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discrete-time signal</a:t>
            </a:r>
            <a:endParaRPr lang="en-US" altLang="zh-CN" sz="32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829898" name="Text Box 10"/>
          <p:cNvSpPr txBox="1">
            <a:spLocks noChangeArrowheads="1"/>
          </p:cNvSpPr>
          <p:nvPr/>
        </p:nvSpPr>
        <p:spPr bwMode="auto">
          <a:xfrm>
            <a:off x="6248400" y="3352800"/>
            <a:ext cx="2667000" cy="5794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digital signal</a:t>
            </a:r>
            <a:endParaRPr lang="en-US" altLang="zh-CN" sz="32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3406" y="250652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800" b="1" dirty="0">
                <a:solidFill>
                  <a:srgbClr val="0432FF"/>
                </a:solidFill>
              </a:rPr>
              <a:t>模拟信号</a:t>
            </a:r>
            <a:endParaRPr kumimoji="1" lang="zh-CN" altLang="en-US" sz="1800" b="1" dirty="0">
              <a:solidFill>
                <a:srgbClr val="0432FF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200" y="4812303"/>
            <a:ext cx="1125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00" b="1" dirty="0">
                <a:solidFill>
                  <a:srgbClr val="0432FF"/>
                </a:solidFill>
              </a:rPr>
              <a:t>离散时间信号</a:t>
            </a:r>
            <a:endParaRPr kumimoji="1" lang="zh-CN" altLang="en-US" sz="1800" b="1" dirty="0">
              <a:solidFill>
                <a:srgbClr val="0432FF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103369" y="5021540"/>
            <a:ext cx="112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00" b="1" dirty="0">
                <a:solidFill>
                  <a:srgbClr val="0432FF"/>
                </a:solidFill>
              </a:rPr>
              <a:t>数字信号</a:t>
            </a:r>
            <a:endParaRPr kumimoji="1" lang="zh-CN" altLang="en-US" sz="1800" b="1" dirty="0">
              <a:solidFill>
                <a:srgbClr val="0432FF"/>
              </a:solidFill>
            </a:endParaRPr>
          </a:p>
        </p:txBody>
      </p:sp>
      <p:sp>
        <p:nvSpPr>
          <p:cNvPr id="3" name="下箭头 2"/>
          <p:cNvSpPr/>
          <p:nvPr/>
        </p:nvSpPr>
        <p:spPr bwMode="auto">
          <a:xfrm>
            <a:off x="2667000" y="3657600"/>
            <a:ext cx="228600" cy="4953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7" name="下箭头 16"/>
          <p:cNvSpPr/>
          <p:nvPr/>
        </p:nvSpPr>
        <p:spPr bwMode="auto">
          <a:xfrm rot="16200000">
            <a:off x="4591050" y="4716386"/>
            <a:ext cx="228600" cy="4953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29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29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29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29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29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2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9896" grpId="0" animBg="1"/>
      <p:bldP spid="1829897" grpId="0" animBg="1"/>
      <p:bldP spid="182989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1" name="Picture 9" descr="se01F0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267200"/>
            <a:ext cx="7088188" cy="187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2" name="Picture 7" descr="se01F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057400"/>
            <a:ext cx="3446463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Rectangle 42"/>
          <p:cNvSpPr>
            <a:spLocks noChangeArrowheads="1"/>
          </p:cNvSpPr>
          <p:nvPr/>
        </p:nvSpPr>
        <p:spPr bwMode="auto">
          <a:xfrm>
            <a:off x="533400" y="1981200"/>
            <a:ext cx="7924800" cy="4191000"/>
          </a:xfrm>
          <a:prstGeom prst="rect">
            <a:avLst/>
          </a:prstGeom>
          <a:solidFill>
            <a:schemeClr val="bg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327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1.3. </a:t>
            </a:r>
            <a:r>
              <a:rPr lang="en-US" altLang="zh-CN" sz="3200">
                <a:ea typeface="宋体" panose="02010600030101010101" pitchFamily="2" charset="-122"/>
              </a:rPr>
              <a:t>Analog and Digital Signals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32775" name="Line 11"/>
          <p:cNvSpPr>
            <a:spLocks noChangeShapeType="1"/>
          </p:cNvSpPr>
          <p:nvPr/>
        </p:nvSpPr>
        <p:spPr bwMode="auto">
          <a:xfrm>
            <a:off x="15240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6" name="Line 12"/>
          <p:cNvSpPr>
            <a:spLocks noChangeShapeType="1"/>
          </p:cNvSpPr>
          <p:nvPr/>
        </p:nvSpPr>
        <p:spPr bwMode="auto">
          <a:xfrm>
            <a:off x="16764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7" name="Line 13"/>
          <p:cNvSpPr>
            <a:spLocks noChangeShapeType="1"/>
          </p:cNvSpPr>
          <p:nvPr/>
        </p:nvSpPr>
        <p:spPr bwMode="auto">
          <a:xfrm>
            <a:off x="18288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8" name="Line 14"/>
          <p:cNvSpPr>
            <a:spLocks noChangeShapeType="1"/>
          </p:cNvSpPr>
          <p:nvPr/>
        </p:nvSpPr>
        <p:spPr bwMode="auto">
          <a:xfrm>
            <a:off x="19812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9" name="Line 15"/>
          <p:cNvSpPr>
            <a:spLocks noChangeShapeType="1"/>
          </p:cNvSpPr>
          <p:nvPr/>
        </p:nvSpPr>
        <p:spPr bwMode="auto">
          <a:xfrm>
            <a:off x="21336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0" name="Line 16"/>
          <p:cNvSpPr>
            <a:spLocks noChangeShapeType="1"/>
          </p:cNvSpPr>
          <p:nvPr/>
        </p:nvSpPr>
        <p:spPr bwMode="auto">
          <a:xfrm>
            <a:off x="22860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1" name="Line 17"/>
          <p:cNvSpPr>
            <a:spLocks noChangeShapeType="1"/>
          </p:cNvSpPr>
          <p:nvPr/>
        </p:nvSpPr>
        <p:spPr bwMode="auto">
          <a:xfrm>
            <a:off x="24384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2" name="Line 18"/>
          <p:cNvSpPr>
            <a:spLocks noChangeShapeType="1"/>
          </p:cNvSpPr>
          <p:nvPr/>
        </p:nvSpPr>
        <p:spPr bwMode="auto">
          <a:xfrm>
            <a:off x="25908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3" name="Line 19"/>
          <p:cNvSpPr>
            <a:spLocks noChangeShapeType="1"/>
          </p:cNvSpPr>
          <p:nvPr/>
        </p:nvSpPr>
        <p:spPr bwMode="auto">
          <a:xfrm>
            <a:off x="27432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4" name="Line 20"/>
          <p:cNvSpPr>
            <a:spLocks noChangeShapeType="1"/>
          </p:cNvSpPr>
          <p:nvPr/>
        </p:nvSpPr>
        <p:spPr bwMode="auto">
          <a:xfrm>
            <a:off x="28956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5" name="Line 21"/>
          <p:cNvSpPr>
            <a:spLocks noChangeShapeType="1"/>
          </p:cNvSpPr>
          <p:nvPr/>
        </p:nvSpPr>
        <p:spPr bwMode="auto">
          <a:xfrm>
            <a:off x="30480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6" name="Line 22"/>
          <p:cNvSpPr>
            <a:spLocks noChangeShapeType="1"/>
          </p:cNvSpPr>
          <p:nvPr/>
        </p:nvSpPr>
        <p:spPr bwMode="auto">
          <a:xfrm>
            <a:off x="32004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7" name="Line 23"/>
          <p:cNvSpPr>
            <a:spLocks noChangeShapeType="1"/>
          </p:cNvSpPr>
          <p:nvPr/>
        </p:nvSpPr>
        <p:spPr bwMode="auto">
          <a:xfrm>
            <a:off x="33528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8" name="Line 24"/>
          <p:cNvSpPr>
            <a:spLocks noChangeShapeType="1"/>
          </p:cNvSpPr>
          <p:nvPr/>
        </p:nvSpPr>
        <p:spPr bwMode="auto">
          <a:xfrm>
            <a:off x="35052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9" name="Line 25"/>
          <p:cNvSpPr>
            <a:spLocks noChangeShapeType="1"/>
          </p:cNvSpPr>
          <p:nvPr/>
        </p:nvSpPr>
        <p:spPr bwMode="auto">
          <a:xfrm>
            <a:off x="36576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0" name="Line 26"/>
          <p:cNvSpPr>
            <a:spLocks noChangeShapeType="1"/>
          </p:cNvSpPr>
          <p:nvPr/>
        </p:nvSpPr>
        <p:spPr bwMode="auto">
          <a:xfrm>
            <a:off x="38100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1" name="Line 27"/>
          <p:cNvSpPr>
            <a:spLocks noChangeShapeType="1"/>
          </p:cNvSpPr>
          <p:nvPr/>
        </p:nvSpPr>
        <p:spPr bwMode="auto">
          <a:xfrm>
            <a:off x="39624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2" name="Line 28"/>
          <p:cNvSpPr>
            <a:spLocks noChangeShapeType="1"/>
          </p:cNvSpPr>
          <p:nvPr/>
        </p:nvSpPr>
        <p:spPr bwMode="auto">
          <a:xfrm>
            <a:off x="41148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3" name="Line 29"/>
          <p:cNvSpPr>
            <a:spLocks noChangeShapeType="1"/>
          </p:cNvSpPr>
          <p:nvPr/>
        </p:nvSpPr>
        <p:spPr bwMode="auto">
          <a:xfrm>
            <a:off x="42672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4" name="Line 30"/>
          <p:cNvSpPr>
            <a:spLocks noChangeShapeType="1"/>
          </p:cNvSpPr>
          <p:nvPr/>
        </p:nvSpPr>
        <p:spPr bwMode="auto">
          <a:xfrm>
            <a:off x="1371600" y="43434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5" name="Line 31"/>
          <p:cNvSpPr>
            <a:spLocks noChangeShapeType="1"/>
          </p:cNvSpPr>
          <p:nvPr/>
        </p:nvSpPr>
        <p:spPr bwMode="auto">
          <a:xfrm>
            <a:off x="5105400" y="4572000"/>
            <a:ext cx="3124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6" name="Line 32"/>
          <p:cNvSpPr>
            <a:spLocks noChangeShapeType="1"/>
          </p:cNvSpPr>
          <p:nvPr/>
        </p:nvSpPr>
        <p:spPr bwMode="auto">
          <a:xfrm>
            <a:off x="5105400" y="4419600"/>
            <a:ext cx="3124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7" name="Line 33"/>
          <p:cNvSpPr>
            <a:spLocks noChangeShapeType="1"/>
          </p:cNvSpPr>
          <p:nvPr/>
        </p:nvSpPr>
        <p:spPr bwMode="auto">
          <a:xfrm>
            <a:off x="5105400" y="4724400"/>
            <a:ext cx="3124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8" name="Line 34"/>
          <p:cNvSpPr>
            <a:spLocks noChangeShapeType="1"/>
          </p:cNvSpPr>
          <p:nvPr/>
        </p:nvSpPr>
        <p:spPr bwMode="auto">
          <a:xfrm>
            <a:off x="5105400" y="4876800"/>
            <a:ext cx="3124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9" name="Line 35"/>
          <p:cNvSpPr>
            <a:spLocks noChangeShapeType="1"/>
          </p:cNvSpPr>
          <p:nvPr/>
        </p:nvSpPr>
        <p:spPr bwMode="auto">
          <a:xfrm>
            <a:off x="5105400" y="5029200"/>
            <a:ext cx="3124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0" name="Line 36"/>
          <p:cNvSpPr>
            <a:spLocks noChangeShapeType="1"/>
          </p:cNvSpPr>
          <p:nvPr/>
        </p:nvSpPr>
        <p:spPr bwMode="auto">
          <a:xfrm>
            <a:off x="5105400" y="5181600"/>
            <a:ext cx="3124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1" name="Line 37"/>
          <p:cNvSpPr>
            <a:spLocks noChangeShapeType="1"/>
          </p:cNvSpPr>
          <p:nvPr/>
        </p:nvSpPr>
        <p:spPr bwMode="auto">
          <a:xfrm>
            <a:off x="5105400" y="5334000"/>
            <a:ext cx="3124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2" name="Line 38"/>
          <p:cNvSpPr>
            <a:spLocks noChangeShapeType="1"/>
          </p:cNvSpPr>
          <p:nvPr/>
        </p:nvSpPr>
        <p:spPr bwMode="auto">
          <a:xfrm>
            <a:off x="5105400" y="5486400"/>
            <a:ext cx="3124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3" name="Line 39"/>
          <p:cNvSpPr>
            <a:spLocks noChangeShapeType="1"/>
          </p:cNvSpPr>
          <p:nvPr/>
        </p:nvSpPr>
        <p:spPr bwMode="auto">
          <a:xfrm>
            <a:off x="5105400" y="5638800"/>
            <a:ext cx="3124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4" name="Line 40"/>
          <p:cNvSpPr>
            <a:spLocks noChangeShapeType="1"/>
          </p:cNvSpPr>
          <p:nvPr/>
        </p:nvSpPr>
        <p:spPr bwMode="auto">
          <a:xfrm>
            <a:off x="5105400" y="5791200"/>
            <a:ext cx="3124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5" name="Line 41"/>
          <p:cNvSpPr>
            <a:spLocks noChangeShapeType="1"/>
          </p:cNvSpPr>
          <p:nvPr/>
        </p:nvSpPr>
        <p:spPr bwMode="auto">
          <a:xfrm>
            <a:off x="5105400" y="5943600"/>
            <a:ext cx="3124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6" name="AutoShape 44"/>
          <p:cNvSpPr>
            <a:spLocks noChangeArrowheads="1"/>
          </p:cNvSpPr>
          <p:nvPr/>
        </p:nvSpPr>
        <p:spPr bwMode="auto">
          <a:xfrm rot="5400000">
            <a:off x="1333500" y="3086100"/>
            <a:ext cx="2743200" cy="1447800"/>
          </a:xfrm>
          <a:prstGeom prst="rightArrow">
            <a:avLst>
              <a:gd name="adj1" fmla="val 50000"/>
              <a:gd name="adj2" fmla="val 47368"/>
            </a:avLst>
          </a:prstGeom>
          <a:solidFill>
            <a:srgbClr val="FFFF99"/>
          </a:solidFill>
          <a:ln w="38100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32807" name="Text Box 45"/>
          <p:cNvSpPr txBox="1">
            <a:spLocks noChangeArrowheads="1"/>
          </p:cNvSpPr>
          <p:nvPr/>
        </p:nvSpPr>
        <p:spPr bwMode="auto">
          <a:xfrm rot="5400000">
            <a:off x="1843882" y="3444081"/>
            <a:ext cx="1828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sampling</a:t>
            </a:r>
            <a:endParaRPr lang="en-US" altLang="zh-CN" sz="32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2808" name="AutoShape 47"/>
          <p:cNvSpPr>
            <a:spLocks noChangeArrowheads="1"/>
          </p:cNvSpPr>
          <p:nvPr/>
        </p:nvSpPr>
        <p:spPr bwMode="auto">
          <a:xfrm>
            <a:off x="3429000" y="4419600"/>
            <a:ext cx="2743200" cy="1447800"/>
          </a:xfrm>
          <a:prstGeom prst="rightArrow">
            <a:avLst>
              <a:gd name="adj1" fmla="val 50000"/>
              <a:gd name="adj2" fmla="val 47368"/>
            </a:avLst>
          </a:prstGeom>
          <a:solidFill>
            <a:srgbClr val="FFFF99"/>
          </a:solidFill>
          <a:ln w="38100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32809" name="Text Box 48"/>
          <p:cNvSpPr txBox="1">
            <a:spLocks noChangeArrowheads="1"/>
          </p:cNvSpPr>
          <p:nvPr/>
        </p:nvSpPr>
        <p:spPr bwMode="auto">
          <a:xfrm>
            <a:off x="3505200" y="4830763"/>
            <a:ext cx="2438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quantization</a:t>
            </a:r>
            <a:endParaRPr lang="en-US" altLang="zh-CN" sz="32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457" y="3730081"/>
            <a:ext cx="2390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①在离散的时间点上对模拟信号进行抽样，</a:t>
            </a:r>
            <a:r>
              <a:rPr kumimoji="1" lang="en-US" altLang="zh-CN" b="1" dirty="0">
                <a:solidFill>
                  <a:srgbClr val="00B050"/>
                </a:solidFill>
              </a:rPr>
              <a:t>x</a:t>
            </a:r>
            <a:r>
              <a:rPr kumimoji="1" lang="zh-CN" altLang="en-US" b="1" dirty="0">
                <a:solidFill>
                  <a:srgbClr val="00B050"/>
                </a:solidFill>
              </a:rPr>
              <a:t>轴</a:t>
            </a:r>
            <a:endParaRPr kumimoji="1"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459559" y="6157737"/>
            <a:ext cx="24840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②对离散时间信号的数值进行量化</a:t>
            </a:r>
            <a:r>
              <a:rPr kumimoji="1" lang="en-US" altLang="zh-CN" b="1" dirty="0">
                <a:solidFill>
                  <a:srgbClr val="C00000"/>
                </a:solidFill>
              </a:rPr>
              <a:t>/</a:t>
            </a:r>
            <a:r>
              <a:rPr kumimoji="1" lang="zh-CN" altLang="en-US" b="1" dirty="0">
                <a:solidFill>
                  <a:srgbClr val="C00000"/>
                </a:solidFill>
              </a:rPr>
              <a:t>数字化，</a:t>
            </a:r>
            <a:r>
              <a:rPr kumimoji="1" lang="en-US" altLang="zh-CN" b="1" dirty="0">
                <a:solidFill>
                  <a:srgbClr val="00B050"/>
                </a:solidFill>
              </a:rPr>
              <a:t> y</a:t>
            </a:r>
            <a:r>
              <a:rPr kumimoji="1" lang="zh-CN" altLang="en-US" b="1" dirty="0">
                <a:solidFill>
                  <a:srgbClr val="00B050"/>
                </a:solidFill>
              </a:rPr>
              <a:t>轴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3406" y="250652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800" b="1" dirty="0">
                <a:solidFill>
                  <a:srgbClr val="0432FF"/>
                </a:solidFill>
              </a:rPr>
              <a:t>模拟信号</a:t>
            </a:r>
            <a:endParaRPr kumimoji="1" lang="zh-CN" altLang="en-US" sz="1800" b="1" dirty="0">
              <a:solidFill>
                <a:srgbClr val="0432FF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6200" y="4812303"/>
            <a:ext cx="1125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00" b="1" dirty="0">
                <a:solidFill>
                  <a:srgbClr val="0432FF"/>
                </a:solidFill>
              </a:rPr>
              <a:t>离散时间信号</a:t>
            </a:r>
            <a:endParaRPr kumimoji="1" lang="zh-CN" altLang="en-US" sz="1800" b="1" dirty="0">
              <a:solidFill>
                <a:srgbClr val="0432FF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103369" y="5021540"/>
            <a:ext cx="112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00" b="1" dirty="0">
                <a:solidFill>
                  <a:srgbClr val="0432FF"/>
                </a:solidFill>
              </a:rPr>
              <a:t>数字信号</a:t>
            </a:r>
            <a:endParaRPr kumimoji="1" lang="zh-CN" altLang="en-US" sz="1800" b="1" dirty="0">
              <a:solidFill>
                <a:srgbClr val="0432FF"/>
              </a:solidFill>
            </a:endParaRPr>
          </a:p>
        </p:txBody>
      </p:sp>
      <p:sp>
        <p:nvSpPr>
          <p:cNvPr id="4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1.3. </a:t>
            </a:r>
            <a:r>
              <a:rPr lang="en-US" altLang="zh-CN" sz="3200">
                <a:ea typeface="宋体" panose="02010600030101010101" pitchFamily="2" charset="-122"/>
              </a:rPr>
              <a:t>Analog and Digital Signals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733800" y="1981200"/>
            <a:ext cx="5181600" cy="414496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Are digital and binary synonymous?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ea typeface="宋体" panose="02010600030101010101" pitchFamily="2" charset="-122"/>
              </a:rPr>
              <a:t>No</a:t>
            </a:r>
            <a:r>
              <a:rPr lang="en-US" altLang="zh-CN" sz="2800" dirty="0">
                <a:ea typeface="宋体" panose="02010600030101010101" pitchFamily="2" charset="-122"/>
              </a:rPr>
              <a:t>.  The binary number system (base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) is one way to represent digital signals.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endParaRPr lang="en-US" altLang="zh-CN" sz="2800" dirty="0">
              <a:ea typeface="宋体" panose="02010600030101010101" pitchFamily="2" charset="-122"/>
            </a:endParaRPr>
          </a:p>
        </p:txBody>
      </p:sp>
      <p:pic>
        <p:nvPicPr>
          <p:cNvPr id="34822" name="Picture 9" descr="se01F0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33600"/>
            <a:ext cx="3733800" cy="187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3" name="Picture 6" descr="se01F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3" y="4268788"/>
            <a:ext cx="3455987" cy="167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4" name="Text Box 7"/>
          <p:cNvSpPr txBox="1">
            <a:spLocks noChangeArrowheads="1"/>
          </p:cNvSpPr>
          <p:nvPr/>
        </p:nvSpPr>
        <p:spPr bwMode="auto">
          <a:xfrm>
            <a:off x="1447800" y="2590800"/>
            <a:ext cx="1524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digital</a:t>
            </a:r>
            <a:endParaRPr lang="en-US" altLang="zh-CN" sz="32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4825" name="Text Box 8"/>
          <p:cNvSpPr txBox="1">
            <a:spLocks noChangeArrowheads="1"/>
          </p:cNvSpPr>
          <p:nvPr/>
        </p:nvSpPr>
        <p:spPr bwMode="auto">
          <a:xfrm>
            <a:off x="1295400" y="4572000"/>
            <a:ext cx="2057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digital and binary</a:t>
            </a:r>
            <a:endParaRPr lang="en-US" altLang="zh-CN" sz="32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65882"/>
            <a:ext cx="4826000" cy="151755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797665" y="1676400"/>
            <a:ext cx="5346335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00B050"/>
                </a:solidFill>
                <a:ea typeface="宋体" panose="02010600030101010101" pitchFamily="2" charset="-122"/>
              </a:rPr>
              <a:t>“数字信号”和“二进制信号”是同义词吗？</a:t>
            </a:r>
            <a:endParaRPr kumimoji="1" lang="zh-CN" altLang="en-US" sz="2000" b="1" dirty="0">
              <a:solidFill>
                <a:srgbClr val="00B05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43315" y="5105400"/>
            <a:ext cx="4572085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0432FF"/>
                </a:solidFill>
                <a:ea typeface="宋体" panose="02010600030101010101" pitchFamily="2" charset="-122"/>
              </a:rPr>
              <a:t>“二进制信号”是“数字信号”的特例</a:t>
            </a:r>
            <a:endParaRPr kumimoji="1" lang="zh-CN" altLang="en-US" sz="2000" b="1" dirty="0">
              <a:solidFill>
                <a:srgbClr val="0432FF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Oxford University Publishing</a:t>
            </a:r>
            <a:endParaRPr lang="en-US" altLang="zh-CN"/>
          </a:p>
          <a:p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363794" y="4605389"/>
          <a:ext cx="4140200" cy="211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49987200" imgH="25603200" progId="Equation.DSMT4">
                  <p:embed/>
                </p:oleObj>
              </mc:Choice>
              <mc:Fallback>
                <p:oleObj name="Equation" r:id="rId1" imgW="49987200" imgH="25603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794" y="4605389"/>
                        <a:ext cx="4140200" cy="21193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131533" y="5464990"/>
            <a:ext cx="3174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0432FF"/>
                </a:solidFill>
              </a:rPr>
              <a:t>二进制数值  </a:t>
            </a:r>
            <a:r>
              <a:rPr kumimoji="1" lang="en-US" altLang="zh-CN" sz="2000" dirty="0">
                <a:solidFill>
                  <a:srgbClr val="0432FF"/>
                </a:solidFill>
                <a:sym typeface="Wingdings" panose="05000000000000000000" pitchFamily="2" charset="2"/>
              </a:rPr>
              <a:t> </a:t>
            </a:r>
            <a:r>
              <a:rPr kumimoji="1" lang="zh-CN" altLang="en-US" sz="2000" dirty="0">
                <a:solidFill>
                  <a:srgbClr val="0432FF"/>
                </a:solidFill>
                <a:sym typeface="Wingdings" panose="05000000000000000000" pitchFamily="2" charset="2"/>
              </a:rPr>
              <a:t>十进制数值</a:t>
            </a:r>
            <a:endParaRPr kumimoji="1" lang="zh-CN" altLang="en-US" sz="2000" dirty="0">
              <a:solidFill>
                <a:srgbClr val="0432FF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33298"/>
            <a:ext cx="7454900" cy="22987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6858000" y="381000"/>
            <a:ext cx="1904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b="1" dirty="0">
                <a:solidFill>
                  <a:srgbClr val="0432FF"/>
                </a:solidFill>
                <a:latin typeface="Symath" panose="00000400000000000000" charset="0"/>
              </a:rPr>
              <a:t>Least Significant Bit</a:t>
            </a:r>
            <a:endParaRPr lang="en-GB" altLang="zh-CN" b="1" dirty="0">
              <a:solidFill>
                <a:srgbClr val="0432FF"/>
              </a:solidFill>
              <a:latin typeface="Symath" panose="00000400000000000000" charset="0"/>
            </a:endParaRPr>
          </a:p>
          <a:p>
            <a:pPr algn="r"/>
            <a:r>
              <a:rPr lang="zh-CN" altLang="en-GB" b="1" dirty="0">
                <a:solidFill>
                  <a:srgbClr val="0432FF"/>
                </a:solidFill>
                <a:latin typeface="Symath" panose="00000400000000000000" charset="0"/>
              </a:rPr>
              <a:t>最低位</a:t>
            </a:r>
            <a:endParaRPr lang="zh-CN" altLang="en-US" dirty="0">
              <a:solidFill>
                <a:srgbClr val="0432FF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45310" y="388374"/>
            <a:ext cx="18399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>
                <a:solidFill>
                  <a:srgbClr val="0432FF"/>
                </a:solidFill>
                <a:latin typeface="Symath" panose="00000400000000000000" charset="0"/>
              </a:rPr>
              <a:t>Most Significant Bit</a:t>
            </a:r>
            <a:endParaRPr lang="en-US" altLang="zh-CN" b="1" dirty="0">
              <a:solidFill>
                <a:srgbClr val="0432FF"/>
              </a:solidFill>
              <a:latin typeface="Symath" panose="00000400000000000000" charset="0"/>
            </a:endParaRPr>
          </a:p>
          <a:p>
            <a:r>
              <a:rPr lang="zh-CN" altLang="en-GB" b="1" dirty="0">
                <a:solidFill>
                  <a:srgbClr val="0432FF"/>
                </a:solidFill>
                <a:latin typeface="Symath" panose="00000400000000000000" charset="0"/>
              </a:rPr>
              <a:t>最高位</a:t>
            </a:r>
            <a:endParaRPr lang="zh-CN" altLang="en-US" dirty="0">
              <a:solidFill>
                <a:srgbClr val="0432FF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732300"/>
            <a:ext cx="5181600" cy="121619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7106" y="2825019"/>
            <a:ext cx="1308100" cy="2921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4613" y="3539636"/>
            <a:ext cx="3644900" cy="406400"/>
          </a:xfrm>
          <a:prstGeom prst="rect">
            <a:avLst/>
          </a:prstGeom>
        </p:spPr>
      </p:pic>
      <p:sp>
        <p:nvSpPr>
          <p:cNvPr id="16" name="下箭头 15"/>
          <p:cNvSpPr/>
          <p:nvPr/>
        </p:nvSpPr>
        <p:spPr bwMode="auto">
          <a:xfrm>
            <a:off x="6106856" y="3200400"/>
            <a:ext cx="228600" cy="339236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4114800" cy="1295400"/>
          </a:xfrm>
        </p:spPr>
        <p:txBody>
          <a:bodyPr/>
          <a:lstStyle/>
          <a:p>
            <a:pPr eaLnBrk="1" hangingPunct="1"/>
            <a:r>
              <a:rPr lang="en-US" altLang="zh-CN" sz="3200" b="0" dirty="0">
                <a:ea typeface="宋体" panose="02010600030101010101" pitchFamily="2" charset="-122"/>
              </a:rPr>
              <a:t>1.4.</a:t>
            </a:r>
            <a:r>
              <a:rPr lang="en-US" altLang="zh-CN" sz="3200" dirty="0">
                <a:ea typeface="宋体" panose="02010600030101010101" pitchFamily="2" charset="-122"/>
              </a:rPr>
              <a:t> Amplifiers </a:t>
            </a:r>
            <a:r>
              <a:rPr lang="zh-CN" altLang="en-US" sz="3200" dirty="0">
                <a:ea typeface="宋体" panose="02010600030101010101" pitchFamily="2" charset="-122"/>
              </a:rPr>
              <a:t>放大器</a:t>
            </a:r>
            <a:endParaRPr lang="en-US" altLang="zh-CN" sz="3200" dirty="0">
              <a:ea typeface="宋体" panose="02010600030101010101" pitchFamily="2" charset="-122"/>
            </a:endParaRP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Why is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signal amplification</a:t>
            </a:r>
            <a:r>
              <a:rPr lang="en-US" altLang="zh-CN" sz="2800" dirty="0">
                <a:ea typeface="宋体" panose="02010600030101010101" pitchFamily="2" charset="-122"/>
              </a:rPr>
              <a:t> needed?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为何需要信号放大？</a:t>
            </a:r>
            <a:endParaRPr lang="en-US" altLang="zh-CN" sz="2800" b="1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 dirty="0">
                <a:solidFill>
                  <a:srgbClr val="008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Because many transducers yield output at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low power levels</a:t>
            </a:r>
            <a:r>
              <a:rPr lang="en-US" altLang="zh-CN" sz="2800" dirty="0">
                <a:ea typeface="宋体" panose="02010600030101010101" pitchFamily="2" charset="-122"/>
              </a:rPr>
              <a:t> (</a:t>
            </a:r>
            <a:r>
              <a:rPr lang="en-US" altLang="zh-CN" sz="2800" i="1" dirty="0" err="1">
                <a:ea typeface="宋体" panose="02010600030101010101" pitchFamily="2" charset="-122"/>
              </a:rPr>
              <a:t>mW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信号源（换能器产生的电信号）的初始信号往往幅度很小</a:t>
            </a:r>
            <a:endParaRPr lang="en-US" altLang="zh-CN" sz="2800" b="1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linearity</a:t>
            </a:r>
            <a:r>
              <a:rPr lang="zh-CN" altLang="en-US" sz="2800" b="1" dirty="0">
                <a:solidFill>
                  <a:srgbClr val="3333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3333FF"/>
                </a:solidFill>
                <a:ea typeface="宋体" panose="02010600030101010101" pitchFamily="2" charset="-122"/>
              </a:rPr>
              <a:t>线性度</a:t>
            </a:r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dirty="0">
                <a:ea typeface="宋体" panose="02010600030101010101" pitchFamily="2" charset="-122"/>
              </a:rPr>
              <a:t>– is property of an amplifier which ensures a signal is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not “altered” </a:t>
            </a:r>
            <a:r>
              <a:rPr lang="en-US" altLang="zh-CN" sz="2800" dirty="0">
                <a:ea typeface="宋体" panose="02010600030101010101" pitchFamily="2" charset="-122"/>
              </a:rPr>
              <a:t>from amplification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Distortion</a:t>
            </a:r>
            <a:r>
              <a:rPr lang="zh-CN" altLang="en-US" sz="2800" b="1" dirty="0">
                <a:solidFill>
                  <a:srgbClr val="3333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3333FF"/>
                </a:solidFill>
                <a:ea typeface="宋体" panose="02010600030101010101" pitchFamily="2" charset="-122"/>
              </a:rPr>
              <a:t>失真</a:t>
            </a:r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dirty="0">
                <a:ea typeface="宋体" panose="02010600030101010101" pitchFamily="2" charset="-122"/>
              </a:rPr>
              <a:t> – is any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unintended change </a:t>
            </a:r>
            <a:r>
              <a:rPr lang="en-US" altLang="zh-CN" sz="2800" dirty="0">
                <a:ea typeface="宋体" panose="02010600030101010101" pitchFamily="2" charset="-122"/>
              </a:rPr>
              <a:t>in output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1.4.1. </a:t>
            </a:r>
            <a:r>
              <a:rPr lang="en-US" altLang="zh-CN" sz="3200">
                <a:ea typeface="宋体" panose="02010600030101010101" pitchFamily="2" charset="-122"/>
              </a:rPr>
              <a:t>Signal Amplification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81200"/>
            <a:ext cx="8305800" cy="414496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voltage amplifier</a:t>
            </a:r>
            <a:r>
              <a:rPr lang="en-US" altLang="zh-CN" sz="2800" dirty="0">
                <a:ea typeface="宋体" panose="02010600030101010101" pitchFamily="2" charset="-122"/>
              </a:rPr>
              <a:t> – is used to boost voltage levels </a:t>
            </a:r>
            <a:r>
              <a:rPr lang="zh-CN" altLang="en-US" dirty="0">
                <a:ea typeface="宋体" panose="02010600030101010101" pitchFamily="2" charset="-122"/>
              </a:rPr>
              <a:t>目的是</a:t>
            </a:r>
            <a:r>
              <a:rPr lang="zh-CN" altLang="en-US" b="1" dirty="0">
                <a:solidFill>
                  <a:srgbClr val="0432FF"/>
                </a:solidFill>
                <a:ea typeface="宋体" panose="02010600030101010101" pitchFamily="2" charset="-122"/>
              </a:rPr>
              <a:t>增加</a:t>
            </a:r>
            <a:r>
              <a:rPr lang="zh-CN" altLang="en-US" dirty="0">
                <a:ea typeface="宋体" panose="02010600030101010101" pitchFamily="2" charset="-122"/>
              </a:rPr>
              <a:t>信号的电压</a:t>
            </a:r>
            <a:r>
              <a:rPr lang="zh-CN" altLang="en-US" b="1" dirty="0">
                <a:solidFill>
                  <a:srgbClr val="0432FF"/>
                </a:solidFill>
                <a:ea typeface="宋体" panose="02010600030101010101" pitchFamily="2" charset="-122"/>
              </a:rPr>
              <a:t>幅度</a:t>
            </a:r>
            <a:endParaRPr lang="en-US" altLang="zh-CN" b="1" dirty="0">
              <a:solidFill>
                <a:srgbClr val="0432FF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 sz="2800" b="1" dirty="0">
              <a:solidFill>
                <a:srgbClr val="0432FF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 sz="2800" b="1" dirty="0">
              <a:solidFill>
                <a:srgbClr val="0432FF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 sz="2800" b="1" dirty="0">
              <a:solidFill>
                <a:srgbClr val="0432FF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 sz="2800" b="1" dirty="0">
              <a:solidFill>
                <a:srgbClr val="0432FF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power amplifier</a:t>
            </a:r>
            <a:r>
              <a:rPr lang="en-US" altLang="zh-CN" sz="2800" dirty="0">
                <a:ea typeface="宋体" panose="02010600030101010101" pitchFamily="2" charset="-122"/>
              </a:rPr>
              <a:t> –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is used to boost power levels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目的是</a:t>
            </a:r>
            <a:r>
              <a:rPr lang="zh-CN" altLang="en-US" b="1" dirty="0">
                <a:solidFill>
                  <a:srgbClr val="0432FF"/>
                </a:solidFill>
                <a:ea typeface="宋体" panose="02010600030101010101" pitchFamily="2" charset="-122"/>
              </a:rPr>
              <a:t>增加</a:t>
            </a:r>
            <a:r>
              <a:rPr lang="zh-CN" altLang="en-US" dirty="0">
                <a:ea typeface="宋体" panose="02010600030101010101" pitchFamily="2" charset="-122"/>
              </a:rPr>
              <a:t>信号的</a:t>
            </a:r>
            <a:r>
              <a:rPr lang="zh-CN" altLang="en-US" b="1" dirty="0">
                <a:solidFill>
                  <a:srgbClr val="0432FF"/>
                </a:solidFill>
                <a:ea typeface="宋体" panose="02010600030101010101" pitchFamily="2" charset="-122"/>
              </a:rPr>
              <a:t>功率</a:t>
            </a:r>
            <a:r>
              <a:rPr lang="zh-CN" altLang="en-US" dirty="0">
                <a:ea typeface="宋体" panose="02010600030101010101" pitchFamily="2" charset="-122"/>
              </a:rPr>
              <a:t>，提供中等程度的电压增益，但提供大幅的电流增益</a:t>
            </a:r>
            <a:endParaRPr lang="en-US" altLang="zh-CN" sz="2800" dirty="0">
              <a:solidFill>
                <a:srgbClr val="3333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7893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857500" y="2857500"/>
          <a:ext cx="33909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40843200" imgH="10668000" progId="Equation.DSMT4">
                  <p:embed/>
                </p:oleObj>
              </mc:Choice>
              <mc:Fallback>
                <p:oleObj name="Equation" r:id="rId1" imgW="40843200" imgH="10668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2857500"/>
                        <a:ext cx="339090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35013" name="Group 5"/>
          <p:cNvGrpSpPr/>
          <p:nvPr/>
        </p:nvGrpSpPr>
        <p:grpSpPr bwMode="auto">
          <a:xfrm>
            <a:off x="3429000" y="3743325"/>
            <a:ext cx="2667000" cy="1133475"/>
            <a:chOff x="2112" y="2256"/>
            <a:chExt cx="1680" cy="714"/>
          </a:xfrm>
        </p:grpSpPr>
        <p:sp>
          <p:nvSpPr>
            <p:cNvPr id="37895" name="Line 6"/>
            <p:cNvSpPr>
              <a:spLocks noChangeShapeType="1"/>
            </p:cNvSpPr>
            <p:nvPr/>
          </p:nvSpPr>
          <p:spPr bwMode="auto">
            <a:xfrm flipV="1">
              <a:off x="2928" y="2256"/>
              <a:ext cx="0" cy="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6" name="Text Box 7"/>
            <p:cNvSpPr txBox="1">
              <a:spLocks noChangeArrowheads="1"/>
            </p:cNvSpPr>
            <p:nvPr/>
          </p:nvSpPr>
          <p:spPr bwMode="auto">
            <a:xfrm>
              <a:off x="2112" y="2605"/>
              <a:ext cx="1680" cy="36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3200" b="1">
                  <a:solidFill>
                    <a:srgbClr val="FF0000"/>
                  </a:solidFill>
                  <a:ea typeface="宋体" panose="02010600030101010101" pitchFamily="2" charset="-122"/>
                </a:rPr>
                <a:t>voltage gain</a:t>
              </a:r>
              <a:endParaRPr lang="en-US" altLang="zh-CN" sz="3200" b="1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9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3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39939" name="Rectangle 6"/>
          <p:cNvSpPr>
            <a:spLocks noChangeArrowheads="1"/>
          </p:cNvSpPr>
          <p:nvPr/>
        </p:nvSpPr>
        <p:spPr bwMode="auto">
          <a:xfrm>
            <a:off x="0" y="1981200"/>
            <a:ext cx="4572000" cy="434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7086600" cy="1295400"/>
          </a:xfrm>
        </p:spPr>
        <p:txBody>
          <a:bodyPr/>
          <a:lstStyle/>
          <a:p>
            <a:pPr eaLnBrk="1" hangingPunct="1"/>
            <a:r>
              <a:rPr lang="en-US" altLang="zh-CN" sz="3200" b="0" dirty="0">
                <a:ea typeface="宋体" panose="02010600030101010101" pitchFamily="2" charset="-122"/>
              </a:rPr>
              <a:t>1.4.2. </a:t>
            </a:r>
            <a:r>
              <a:rPr lang="en-US" altLang="zh-CN" sz="3200" dirty="0">
                <a:ea typeface="宋体" panose="02010600030101010101" pitchFamily="2" charset="-122"/>
              </a:rPr>
              <a:t>Amplifier Circuit Symbol</a:t>
            </a:r>
            <a:br>
              <a:rPr lang="en-US" altLang="zh-CN" sz="3200" dirty="0">
                <a:ea typeface="宋体" panose="02010600030101010101" pitchFamily="2" charset="-122"/>
              </a:rPr>
            </a:br>
            <a:r>
              <a:rPr lang="zh-CN" altLang="en-US" sz="3200" dirty="0">
                <a:ea typeface="宋体" panose="02010600030101010101" pitchFamily="2" charset="-122"/>
              </a:rPr>
              <a:t>放大器的符号</a:t>
            </a:r>
            <a:endParaRPr lang="en-US" altLang="zh-CN" sz="3200" dirty="0">
              <a:ea typeface="宋体" panose="02010600030101010101" pitchFamily="2" charset="-122"/>
            </a:endParaRPr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pic>
        <p:nvPicPr>
          <p:cNvPr id="39942" name="Picture 4" descr="se01F1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057400"/>
            <a:ext cx="8763000" cy="256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3" name="Text Box 2"/>
          <p:cNvSpPr txBox="1">
            <a:spLocks noChangeArrowheads="1"/>
          </p:cNvSpPr>
          <p:nvPr/>
        </p:nvSpPr>
        <p:spPr bwMode="auto">
          <a:xfrm>
            <a:off x="457200" y="4800600"/>
            <a:ext cx="8229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MS PGothic" panose="020B0600070205080204" pitchFamily="34" charset="-128"/>
              </a:rPr>
              <a:t>Figure 1.11: (a) </a:t>
            </a:r>
            <a:r>
              <a:rPr lang="en-US" altLang="zh-CN">
                <a:ea typeface="MS PGothic" panose="020B0600070205080204" pitchFamily="34" charset="-128"/>
              </a:rPr>
              <a:t>Circuit symbol for amplifier. </a:t>
            </a:r>
            <a:r>
              <a:rPr lang="en-US" altLang="zh-CN" b="1">
                <a:ea typeface="MS PGothic" panose="020B0600070205080204" pitchFamily="34" charset="-128"/>
              </a:rPr>
              <a:t>(b)</a:t>
            </a:r>
            <a:r>
              <a:rPr lang="en-US" altLang="zh-CN">
                <a:ea typeface="MS PGothic" panose="020B0600070205080204" pitchFamily="34" charset="-128"/>
              </a:rPr>
              <a:t> An amplifier with a common terminal (ground) between the input and output ports.</a:t>
            </a:r>
            <a:endParaRPr lang="en-US" altLang="zh-CN">
              <a:ea typeface="MS PGothic" panose="020B0600070205080204" pitchFamily="34" charset="-128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76800" y="3700671"/>
            <a:ext cx="1590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C00000"/>
                </a:solidFill>
              </a:rPr>
              <a:t>输入输出有公共地时</a:t>
            </a:r>
            <a:endParaRPr kumimoji="1"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47800" y="3700671"/>
            <a:ext cx="1361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C00000"/>
                </a:solidFill>
              </a:rPr>
              <a:t>通用符号</a:t>
            </a:r>
            <a:endParaRPr kumimoji="1"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10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4198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1.4.4.</a:t>
            </a:r>
            <a:r>
              <a:rPr lang="en-US" altLang="zh-CN" sz="3200">
                <a:ea typeface="宋体" panose="02010600030101010101" pitchFamily="2" charset="-122"/>
              </a:rPr>
              <a:t> Power and Current Gain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41988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03438"/>
            <a:ext cx="8305800" cy="4144962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What is one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main difference</a:t>
            </a:r>
            <a:r>
              <a:rPr lang="en-US" altLang="zh-CN" sz="2800" dirty="0">
                <a:ea typeface="宋体" panose="02010600030101010101" pitchFamily="2" charset="-122"/>
              </a:rPr>
              <a:t> between an amplifier and transformer?  …Because both alter voltage levels.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 dirty="0">
                <a:solidFill>
                  <a:srgbClr val="008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Amplifier may be used to </a:t>
            </a:r>
            <a:r>
              <a:rPr lang="en-US" altLang="zh-CN" sz="2800" b="1" dirty="0">
                <a:solidFill>
                  <a:srgbClr val="0432FF"/>
                </a:solidFill>
                <a:ea typeface="宋体" panose="02010600030101010101" pitchFamily="2" charset="-122"/>
              </a:rPr>
              <a:t>boost</a:t>
            </a:r>
            <a:r>
              <a:rPr lang="en-US" altLang="zh-CN" sz="2800" dirty="0">
                <a:ea typeface="宋体" panose="02010600030101010101" pitchFamily="2" charset="-122"/>
              </a:rPr>
              <a:t> power delivery.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endParaRPr lang="en-US" altLang="zh-CN" sz="2800" dirty="0">
              <a:ea typeface="宋体" panose="02010600030101010101" pitchFamily="2" charset="-122"/>
            </a:endParaRPr>
          </a:p>
        </p:txBody>
      </p:sp>
      <p:graphicFrame>
        <p:nvGraphicFramePr>
          <p:cNvPr id="41989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1595438" y="3581400"/>
          <a:ext cx="595153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71628000" imgH="11887200" progId="Equation.DSMT4">
                  <p:embed/>
                </p:oleObj>
              </mc:Choice>
              <mc:Fallback>
                <p:oleObj name="Equation" r:id="rId1" imgW="71628000" imgH="1188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438" y="3581400"/>
                        <a:ext cx="5951537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990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5029200"/>
            <a:ext cx="4022725" cy="176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1" name="文本框 2"/>
          <p:cNvSpPr txBox="1">
            <a:spLocks noChangeArrowheads="1"/>
          </p:cNvSpPr>
          <p:nvPr/>
        </p:nvSpPr>
        <p:spPr bwMode="auto">
          <a:xfrm>
            <a:off x="1361942" y="4488789"/>
            <a:ext cx="68422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power delivers to the load / power draws from the signal source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pic>
        <p:nvPicPr>
          <p:cNvPr id="41992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200" y="5005388"/>
            <a:ext cx="3073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3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5949950"/>
            <a:ext cx="15748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4" name="文本框 5"/>
          <p:cNvSpPr txBox="1">
            <a:spLocks noChangeArrowheads="1"/>
          </p:cNvSpPr>
          <p:nvPr/>
        </p:nvSpPr>
        <p:spPr bwMode="auto">
          <a:xfrm>
            <a:off x="-65630" y="4958701"/>
            <a:ext cx="249299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432FF"/>
                </a:solidFill>
                <a:ea typeface="宋体" panose="02010600030101010101" pitchFamily="2" charset="-122"/>
              </a:rPr>
              <a:t>变压器没有功率增益</a:t>
            </a:r>
            <a:endParaRPr lang="zh-CN" altLang="en-US" sz="2000" dirty="0">
              <a:solidFill>
                <a:srgbClr val="0432FF"/>
              </a:solidFill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5239" y="1788560"/>
            <a:ext cx="689323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00B050"/>
                </a:solidFill>
              </a:rPr>
              <a:t>放大器和变压器的主要区别是什么？</a:t>
            </a:r>
            <a:r>
              <a:rPr kumimoji="1" lang="zh-CN" altLang="en-US" sz="2000" dirty="0">
                <a:solidFill>
                  <a:srgbClr val="00B050"/>
                </a:solidFill>
              </a:rPr>
              <a:t>两者都能改变电压幅度</a:t>
            </a:r>
            <a:endParaRPr kumimoji="1"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2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1.4.5.</a:t>
            </a:r>
            <a:r>
              <a:rPr lang="en-US" altLang="zh-CN" sz="3200">
                <a:ea typeface="宋体" panose="02010600030101010101" pitchFamily="2" charset="-122"/>
              </a:rPr>
              <a:t> Expressing Gain in Decibels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2209800"/>
            <a:ext cx="8382000" cy="4144963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>
                <a:ea typeface="宋体" panose="02010600030101010101" pitchFamily="2" charset="-122"/>
              </a:rPr>
              <a:t> How may gain be expressed in </a:t>
            </a:r>
            <a:r>
              <a:rPr lang="en-US" altLang="zh-CN" sz="2800" b="1">
                <a:solidFill>
                  <a:srgbClr val="3333FF"/>
                </a:solidFill>
                <a:ea typeface="宋体" panose="02010600030101010101" pitchFamily="2" charset="-122"/>
              </a:rPr>
              <a:t>decibels</a:t>
            </a:r>
            <a:r>
              <a:rPr lang="en-US" altLang="zh-CN" sz="2800">
                <a:ea typeface="宋体" panose="02010600030101010101" pitchFamily="2" charset="-122"/>
              </a:rPr>
              <a:t>?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graphicFrame>
        <p:nvGraphicFramePr>
          <p:cNvPr id="44037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752600" y="3503613"/>
          <a:ext cx="5567363" cy="167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66751200" imgH="20116800" progId="Equation.DSMT4">
                  <p:embed/>
                </p:oleObj>
              </mc:Choice>
              <mc:Fallback>
                <p:oleObj name="Equation" r:id="rId1" imgW="66751200" imgH="20116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503613"/>
                        <a:ext cx="5567363" cy="167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文本框 1"/>
          <p:cNvSpPr txBox="1">
            <a:spLocks noChangeArrowheads="1"/>
          </p:cNvSpPr>
          <p:nvPr/>
        </p:nvSpPr>
        <p:spPr bwMode="auto">
          <a:xfrm>
            <a:off x="304800" y="2795727"/>
            <a:ext cx="81661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/>
            <a:r>
              <a:rPr lang="zh-CN" altLang="en-US" sz="2000" dirty="0">
                <a:ea typeface="宋体" panose="02010600030101010101" pitchFamily="2" charset="-122"/>
              </a:rPr>
              <a:t>电子工程中，常常将一个无量纲的</a:t>
            </a:r>
            <a:r>
              <a:rPr lang="zh-CN" altLang="en-US" sz="2000" dirty="0">
                <a:solidFill>
                  <a:srgbClr val="FF0000"/>
                </a:solidFill>
                <a:ea typeface="宋体" panose="02010600030101010101" pitchFamily="2" charset="-122"/>
              </a:rPr>
              <a:t>比值</a:t>
            </a:r>
            <a:r>
              <a:rPr lang="zh-CN" altLang="en-US" sz="2000" dirty="0">
                <a:ea typeface="宋体" panose="02010600030101010101" pitchFamily="2" charset="-122"/>
              </a:rPr>
              <a:t>，如电压增益、功率增益等，用对数的形式（以</a:t>
            </a:r>
            <a:r>
              <a:rPr lang="en-US" altLang="zh-CN" sz="2000" dirty="0">
                <a:ea typeface="宋体" panose="02010600030101010101" pitchFamily="2" charset="-122"/>
              </a:rPr>
              <a:t>10</a:t>
            </a:r>
            <a:r>
              <a:rPr lang="zh-CN" altLang="en-US" sz="2000" dirty="0">
                <a:ea typeface="宋体" panose="02010600030101010101" pitchFamily="2" charset="-122"/>
              </a:rPr>
              <a:t>为底）表述。这是</a:t>
            </a:r>
            <a:r>
              <a:rPr lang="zh-CN" altLang="en-US" sz="2000" dirty="0">
                <a:solidFill>
                  <a:srgbClr val="FF0000"/>
                </a:solidFill>
                <a:ea typeface="宋体" panose="02010600030101010101" pitchFamily="2" charset="-122"/>
              </a:rPr>
              <a:t>工程惯例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rgbClr val="00B050"/>
                </a:solidFill>
                <a:ea typeface="宋体" panose="02010600030101010101" pitchFamily="2" charset="-122"/>
              </a:rPr>
              <a:t>功率乘以</a:t>
            </a:r>
            <a:r>
              <a:rPr lang="en-US" altLang="zh-CN" sz="2000" b="1" dirty="0">
                <a:solidFill>
                  <a:srgbClr val="00B050"/>
                </a:solidFill>
                <a:ea typeface="宋体" panose="02010600030101010101" pitchFamily="2" charset="-122"/>
              </a:rPr>
              <a:t>10</a:t>
            </a:r>
            <a:r>
              <a:rPr lang="zh-CN" altLang="en-US" sz="2000" b="1" dirty="0">
                <a:solidFill>
                  <a:srgbClr val="00B050"/>
                </a:solidFill>
                <a:ea typeface="宋体" panose="02010600030101010101" pitchFamily="2" charset="-122"/>
              </a:rPr>
              <a:t>，电压电流乘以</a:t>
            </a:r>
            <a:r>
              <a:rPr lang="en-US" altLang="zh-CN" sz="2000" b="1" dirty="0">
                <a:solidFill>
                  <a:srgbClr val="00B050"/>
                </a:solidFill>
                <a:ea typeface="宋体" panose="02010600030101010101" pitchFamily="2" charset="-122"/>
              </a:rPr>
              <a:t>20</a:t>
            </a:r>
            <a:endParaRPr lang="zh-CN" altLang="en-US" sz="2000" b="1" dirty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sp>
        <p:nvSpPr>
          <p:cNvPr id="44039" name="文本框 2"/>
          <p:cNvSpPr txBox="1">
            <a:spLocks noChangeArrowheads="1"/>
          </p:cNvSpPr>
          <p:nvPr/>
        </p:nvSpPr>
        <p:spPr bwMode="auto">
          <a:xfrm>
            <a:off x="304800" y="5256213"/>
            <a:ext cx="8305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/>
            <a:r>
              <a:rPr lang="en-US" altLang="zh-CN" sz="2000" i="1" dirty="0">
                <a:ea typeface="宋体" panose="02010600030101010101" pitchFamily="2" charset="-122"/>
              </a:rPr>
              <a:t>A</a:t>
            </a:r>
            <a:r>
              <a:rPr lang="en-US" altLang="zh-CN" sz="2000" baseline="-25000" dirty="0">
                <a:ea typeface="宋体" panose="02010600030101010101" pitchFamily="2" charset="-122"/>
              </a:rPr>
              <a:t>V</a:t>
            </a:r>
            <a:r>
              <a:rPr lang="zh-CN" altLang="en-US" sz="2000" dirty="0">
                <a:ea typeface="宋体" panose="02010600030101010101" pitchFamily="2" charset="-122"/>
              </a:rPr>
              <a:t>为负表示相位相差</a:t>
            </a:r>
            <a:r>
              <a:rPr lang="en-US" altLang="zh-CN" sz="2000" dirty="0">
                <a:ea typeface="宋体" panose="02010600030101010101" pitchFamily="2" charset="-122"/>
              </a:rPr>
              <a:t>180</a:t>
            </a:r>
            <a:r>
              <a:rPr lang="zh-CN" altLang="en-US" sz="2000" dirty="0">
                <a:ea typeface="宋体" panose="02010600030101010101" pitchFamily="2" charset="-122"/>
              </a:rPr>
              <a:t>度，并非表示信号衰减；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algn="l" eaLnBrk="1" hangingPunct="1"/>
            <a:r>
              <a:rPr lang="zh-CN" altLang="en-US" sz="2000" dirty="0">
                <a:ea typeface="宋体" panose="02010600030101010101" pitchFamily="2" charset="-122"/>
              </a:rPr>
              <a:t>而</a:t>
            </a:r>
            <a:r>
              <a:rPr lang="en-US" altLang="zh-CN" sz="2000" dirty="0">
                <a:solidFill>
                  <a:srgbClr val="0432FF"/>
                </a:solidFill>
                <a:ea typeface="宋体" panose="02010600030101010101" pitchFamily="2" charset="-122"/>
              </a:rPr>
              <a:t>dB</a:t>
            </a:r>
            <a:r>
              <a:rPr lang="zh-CN" altLang="en-US" sz="2000" dirty="0">
                <a:solidFill>
                  <a:srgbClr val="0432FF"/>
                </a:solidFill>
                <a:ea typeface="宋体" panose="02010600030101010101" pitchFamily="2" charset="-122"/>
              </a:rPr>
              <a:t>值若为负</a:t>
            </a:r>
            <a:r>
              <a:rPr lang="zh-CN" altLang="en-US" sz="2000" dirty="0">
                <a:ea typeface="宋体" panose="02010600030101010101" pitchFamily="2" charset="-122"/>
              </a:rPr>
              <a:t>，则</a:t>
            </a:r>
            <a:r>
              <a:rPr lang="zh-CN" altLang="en-US" sz="2000" dirty="0">
                <a:solidFill>
                  <a:srgbClr val="0432FF"/>
                </a:solidFill>
                <a:ea typeface="宋体" panose="02010600030101010101" pitchFamily="2" charset="-122"/>
              </a:rPr>
              <a:t>表示信号衰减</a:t>
            </a:r>
            <a:r>
              <a:rPr lang="zh-CN" altLang="en-US" sz="2000" dirty="0">
                <a:ea typeface="宋体" panose="02010600030101010101" pitchFamily="2" charset="-122"/>
              </a:rPr>
              <a:t>！ </a:t>
            </a:r>
            <a:r>
              <a:rPr lang="en-US" altLang="zh-CN" sz="2000" b="1" dirty="0">
                <a:solidFill>
                  <a:srgbClr val="C00000"/>
                </a:solidFill>
                <a:ea typeface="宋体" panose="02010600030101010101" pitchFamily="2" charset="-122"/>
              </a:rPr>
              <a:t>1:1</a:t>
            </a:r>
            <a:r>
              <a:rPr lang="zh-CN" altLang="en-US" sz="2000" b="1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~</a:t>
            </a:r>
            <a:r>
              <a:rPr lang="zh-CN" altLang="en-US" sz="2000" b="1" dirty="0">
                <a:solidFill>
                  <a:srgbClr val="C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0</a:t>
            </a:r>
            <a:r>
              <a:rPr lang="zh-CN" altLang="en-US" sz="2000" b="1" dirty="0">
                <a:solidFill>
                  <a:srgbClr val="C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dB</a:t>
            </a:r>
            <a:endParaRPr lang="zh-CN" altLang="en-US" sz="2000" b="1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dirty="0">
                <a:sym typeface="Trebuchet MS" panose="020B0603020202020204" charset="0"/>
              </a:rPr>
              <a:t>Using dB</a:t>
            </a:r>
            <a:endParaRPr lang="en-US" dirty="0">
              <a:sym typeface="Trebuchet MS" panose="020B0603020202020204" charset="0"/>
            </a:endParaRPr>
          </a:p>
        </p:txBody>
      </p:sp>
      <p:sp>
        <p:nvSpPr>
          <p:cNvPr id="27650" name="Rectangle 2"/>
          <p:cNvSpPr/>
          <p:nvPr/>
        </p:nvSpPr>
        <p:spPr bwMode="auto">
          <a:xfrm>
            <a:off x="526554" y="1910953"/>
            <a:ext cx="7938492" cy="3661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>
              <a:spcBef>
                <a:spcPts val="1405"/>
              </a:spcBef>
              <a:defRPr/>
            </a:pPr>
            <a:r>
              <a:rPr lang="en-US" sz="2530" dirty="0">
                <a:latin typeface="Times New Roman" panose="02020603050405020304" pitchFamily="18" charset="0"/>
                <a:ea typeface="Saturday Sans Regular" panose="02010600010101010101" charset="-122"/>
                <a:cs typeface="Times New Roman" panose="02020603050405020304" pitchFamily="18" charset="0"/>
                <a:sym typeface="Saturday Sans Regular" panose="02010600010101010101" charset="-122"/>
              </a:rPr>
              <a:t>Commonly used (and easy to remember) dB values:</a:t>
            </a:r>
            <a:endParaRPr lang="en-US" sz="2530" dirty="0">
              <a:latin typeface="Times New Roman" panose="02020603050405020304" pitchFamily="18" charset="0"/>
              <a:ea typeface="Saturday Sans Regular" panose="02010600010101010101" charset="-122"/>
              <a:cs typeface="Times New Roman" panose="02020603050405020304" pitchFamily="18" charset="0"/>
              <a:sym typeface="Saturday Sans Regular" panose="02010600010101010101" charset="-122"/>
            </a:endParaRPr>
          </a:p>
        </p:txBody>
      </p:sp>
      <p:sp>
        <p:nvSpPr>
          <p:cNvPr id="27651" name="Rectangle 3"/>
          <p:cNvSpPr/>
          <p:nvPr/>
        </p:nvSpPr>
        <p:spPr bwMode="auto">
          <a:xfrm>
            <a:off x="2276772" y="2620863"/>
            <a:ext cx="4438055" cy="12144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l">
              <a:defRPr/>
            </a:pPr>
            <a:r>
              <a:rPr lang="en-US" sz="2110" dirty="0"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+10 dB = 10 times the power</a:t>
            </a:r>
            <a:endParaRPr lang="en-US" sz="1125" dirty="0"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  <a:p>
            <a:pPr algn="l">
              <a:defRPr/>
            </a:pPr>
            <a:r>
              <a:rPr lang="en-US" sz="2110" dirty="0"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-10 dB = one tenth power</a:t>
            </a:r>
            <a:endParaRPr lang="en-US" sz="2110" dirty="0">
              <a:latin typeface="Cascadia Mono" panose="020B0609020000020004" charset="0"/>
              <a:ea typeface="Cascadia Mono" panose="020B0609020000020004" charset="0"/>
              <a:cs typeface="Cascadia Mono" panose="020B0609020000020004" charset="0"/>
              <a:sym typeface="Cascadia Mono" panose="020B0609020000020004" charset="0"/>
            </a:endParaRPr>
          </a:p>
          <a:p>
            <a:pPr algn="l">
              <a:defRPr/>
            </a:pPr>
            <a:r>
              <a:rPr lang="en-US" sz="2110" dirty="0"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 +3 dB = double power </a:t>
            </a:r>
            <a:endParaRPr lang="en-US" sz="1125" dirty="0"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  <a:p>
            <a:pPr algn="l">
              <a:defRPr/>
            </a:pPr>
            <a:r>
              <a:rPr lang="en-US" sz="2110" dirty="0"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 -3 dB = half the power</a:t>
            </a:r>
            <a:endParaRPr lang="en-US" sz="2110" dirty="0">
              <a:latin typeface="Cascadia Mono" panose="020B0609020000020004" charset="0"/>
              <a:ea typeface="Cascadia Mono" panose="020B0609020000020004" charset="0"/>
              <a:cs typeface="Cascadia Mono" panose="020B0609020000020004" charset="0"/>
              <a:sym typeface="Cascadia Mono" panose="020B0609020000020004" charset="0"/>
            </a:endParaRPr>
          </a:p>
        </p:txBody>
      </p:sp>
      <p:sp>
        <p:nvSpPr>
          <p:cNvPr id="27652" name="Rectangle 4"/>
          <p:cNvSpPr/>
          <p:nvPr/>
        </p:nvSpPr>
        <p:spPr bwMode="auto">
          <a:xfrm>
            <a:off x="687586" y="4732734"/>
            <a:ext cx="7938492" cy="12144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l">
              <a:defRPr/>
            </a:pPr>
            <a:r>
              <a:rPr lang="en-US" sz="2110" dirty="0"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some power + 10 dB  = 10 times the power</a:t>
            </a:r>
            <a:endParaRPr lang="en-US" sz="1125" dirty="0"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  <a:p>
            <a:pPr algn="l">
              <a:defRPr/>
            </a:pPr>
            <a:r>
              <a:rPr lang="en-US" sz="2110" dirty="0"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some power - 10 dB  = one tenth power</a:t>
            </a:r>
            <a:endParaRPr lang="en-US" sz="2110" dirty="0">
              <a:latin typeface="Cascadia Mono" panose="020B0609020000020004" charset="0"/>
              <a:ea typeface="Cascadia Mono" panose="020B0609020000020004" charset="0"/>
              <a:cs typeface="Cascadia Mono" panose="020B0609020000020004" charset="0"/>
              <a:sym typeface="Cascadia Mono" panose="020B0609020000020004" charset="0"/>
            </a:endParaRPr>
          </a:p>
          <a:p>
            <a:pPr algn="l">
              <a:defRPr/>
            </a:pPr>
            <a:r>
              <a:rPr lang="en-US" sz="2110" dirty="0"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some power + 3 dB   = double power</a:t>
            </a:r>
            <a:endParaRPr lang="en-US" sz="1125" dirty="0"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  <a:p>
            <a:pPr algn="l">
              <a:defRPr/>
            </a:pPr>
            <a:r>
              <a:rPr lang="en-US" sz="2110" dirty="0"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some power - 3 dB   = half the power</a:t>
            </a:r>
            <a:endParaRPr lang="en-US" sz="2110" dirty="0">
              <a:latin typeface="Cascadia Mono" panose="020B0609020000020004" charset="0"/>
              <a:ea typeface="Cascadia Mono" panose="020B0609020000020004" charset="0"/>
              <a:cs typeface="Cascadia Mono" panose="020B0609020000020004" charset="0"/>
              <a:sym typeface="Cascadia Mono" panose="020B0609020000020004" charset="0"/>
            </a:endParaRPr>
          </a:p>
        </p:txBody>
      </p:sp>
      <p:sp>
        <p:nvSpPr>
          <p:cNvPr id="27653" name="Rectangle 5"/>
          <p:cNvSpPr/>
          <p:nvPr/>
        </p:nvSpPr>
        <p:spPr bwMode="auto">
          <a:xfrm>
            <a:off x="616149" y="4121051"/>
            <a:ext cx="7938492" cy="3661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>
              <a:spcBef>
                <a:spcPts val="1405"/>
              </a:spcBef>
              <a:defRPr/>
            </a:pPr>
            <a:r>
              <a:rPr lang="en-US" sz="2530" dirty="0"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For example:</a:t>
            </a:r>
            <a:endParaRPr lang="en-US" sz="2530" dirty="0"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6391" name="Text Box 6"/>
          <p:cNvSpPr txBox="1">
            <a:spLocks noChangeArrowheads="1"/>
          </p:cNvSpPr>
          <p:nvPr/>
        </p:nvSpPr>
        <p:spPr bwMode="auto">
          <a:xfrm>
            <a:off x="4464844" y="6527601"/>
            <a:ext cx="223242" cy="241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r" eaLnBrk="1" hangingPunct="1"/>
            <a:fld id="{BD702EC1-9397-8A48-B866-962ADCE458FB}" type="slidenum">
              <a:rPr lang="en-US" altLang="en-US" sz="1265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</a:fld>
            <a:endParaRPr lang="en-US" altLang="en-US" sz="1265">
              <a:solidFill>
                <a:schemeClr val="tx1"/>
              </a:solidFill>
              <a:latin typeface="Saturday Sans Regular" panose="02010600010101010101" charset="-122"/>
              <a:ea typeface="华康行楷体 W5" panose="03000509000000000000" charset="-122"/>
              <a:cs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dBm and mW</a:t>
            </a:r>
            <a:endParaRPr lang="en-US" altLang="en-US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48258" y="1357313"/>
            <a:ext cx="8438555" cy="1598414"/>
          </a:xfrm>
          <a:solidFill>
            <a:schemeClr val="bg1"/>
          </a:solidFill>
        </p:spPr>
        <p:txBody>
          <a:bodyPr/>
          <a:lstStyle/>
          <a:p>
            <a:pPr marL="303530" lvl="1" indent="-285750" eaLnBrk="1" hangingPunct="1">
              <a:buClr>
                <a:srgbClr val="000000"/>
              </a:buClr>
              <a:buFont typeface="Lucida Casual Regular" panose="02010600010101010101" charset="-122"/>
              <a:buChar char="‣"/>
            </a:pPr>
            <a:r>
              <a:rPr lang="en-US" altLang="en-US" dirty="0"/>
              <a:t>What if we want to measure an absolute power with dB?</a:t>
            </a:r>
            <a:br>
              <a:rPr lang="en-US" altLang="en-US" dirty="0"/>
            </a:br>
            <a:r>
              <a:rPr lang="en-US" altLang="en-US" dirty="0"/>
              <a:t>We </a:t>
            </a:r>
            <a:r>
              <a:rPr lang="en-US" altLang="en-US" b="1" dirty="0"/>
              <a:t>have to define a reference</a:t>
            </a:r>
            <a:r>
              <a:rPr lang="en-US" altLang="en-US" dirty="0"/>
              <a:t>.</a:t>
            </a:r>
            <a:r>
              <a:rPr lang="zh-CN" altLang="en-US" dirty="0"/>
              <a:t> </a:t>
            </a:r>
            <a:r>
              <a:rPr lang="zh-CN" altLang="en-US" sz="2000" b="1" dirty="0">
                <a:solidFill>
                  <a:srgbClr val="00B050"/>
                </a:solidFill>
              </a:rPr>
              <a:t>指定一个参考功率作为分母，就可以用 </a:t>
            </a:r>
            <a:r>
              <a:rPr lang="en-US" altLang="zh-CN" sz="2000" b="1" dirty="0">
                <a:solidFill>
                  <a:srgbClr val="00B050"/>
                </a:solidFill>
              </a:rPr>
              <a:t>dB</a:t>
            </a:r>
            <a:r>
              <a:rPr lang="zh-CN" altLang="en-US" sz="2000" b="1" dirty="0">
                <a:solidFill>
                  <a:srgbClr val="00B050"/>
                </a:solidFill>
              </a:rPr>
              <a:t> 来表示功率的绝对值（</a:t>
            </a:r>
            <a:r>
              <a:rPr lang="zh-CN" altLang="en-US" sz="2000" b="1" dirty="0">
                <a:solidFill>
                  <a:srgbClr val="C00000"/>
                </a:solidFill>
              </a:rPr>
              <a:t>常常用</a:t>
            </a:r>
            <a:r>
              <a:rPr lang="en-US" altLang="zh-CN" sz="2000" b="1" dirty="0">
                <a:solidFill>
                  <a:srgbClr val="C00000"/>
                </a:solidFill>
              </a:rPr>
              <a:t>1mW</a:t>
            </a:r>
            <a:r>
              <a:rPr lang="zh-CN" altLang="en-US" sz="2000" b="1" dirty="0">
                <a:solidFill>
                  <a:srgbClr val="C00000"/>
                </a:solidFill>
              </a:rPr>
              <a:t>作为参考值</a:t>
            </a:r>
            <a:r>
              <a:rPr lang="zh-CN" altLang="en-US" sz="2000" b="1" dirty="0">
                <a:solidFill>
                  <a:srgbClr val="00B050"/>
                </a:solidFill>
              </a:rPr>
              <a:t>）</a:t>
            </a:r>
            <a:endParaRPr lang="en-US" altLang="en-US" b="1" dirty="0">
              <a:solidFill>
                <a:srgbClr val="00B050"/>
              </a:solidFill>
            </a:endParaRPr>
          </a:p>
          <a:p>
            <a:pPr marL="303530" lvl="1" indent="-285750" eaLnBrk="1" hangingPunct="1">
              <a:buClr>
                <a:srgbClr val="000000"/>
              </a:buClr>
              <a:buFont typeface="Lucida Casual Regular" panose="02010600010101010101" charset="-122"/>
              <a:buChar char="‣"/>
            </a:pPr>
            <a:r>
              <a:rPr lang="en-US" altLang="en-US" dirty="0"/>
              <a:t>The reference point that relates the logarithmic dB scale to the linear watt scale may be for example this:</a:t>
            </a:r>
            <a:endParaRPr lang="en-US" altLang="en-US" dirty="0"/>
          </a:p>
        </p:txBody>
      </p:sp>
      <p:sp>
        <p:nvSpPr>
          <p:cNvPr id="17412" name="Rectangle 3"/>
          <p:cNvSpPr/>
          <p:nvPr/>
        </p:nvSpPr>
        <p:spPr bwMode="auto">
          <a:xfrm>
            <a:off x="3045025" y="3701461"/>
            <a:ext cx="3056927" cy="49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spcBef>
                <a:spcPts val="1405"/>
              </a:spcBef>
            </a:pPr>
            <a:r>
              <a:rPr lang="en-US" altLang="en-US" sz="3235" dirty="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1 </a:t>
            </a:r>
            <a:r>
              <a:rPr lang="en-US" altLang="en-US" sz="3235" dirty="0" err="1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mW</a:t>
            </a:r>
            <a:r>
              <a:rPr lang="en-US" altLang="en-US" sz="3235" dirty="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 </a:t>
            </a:r>
            <a:r>
              <a:rPr lang="en-US" altLang="en-US" sz="2530" dirty="0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Lucida Casual Regular" panose="02010600010101010101" charset="-122"/>
                <a:sym typeface="Saturday Sans Regular" panose="02010600010101010101" charset="-122"/>
              </a:rPr>
              <a:t>→</a:t>
            </a:r>
            <a:r>
              <a:rPr lang="en-US" altLang="en-US" sz="3235" dirty="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 0 dBm</a:t>
            </a:r>
            <a:endParaRPr lang="en-US" altLang="en-US" sz="3235" dirty="0">
              <a:solidFill>
                <a:schemeClr val="tx1"/>
              </a:solidFill>
              <a:latin typeface="Cascadia Mono" panose="020B0609020000020004" charset="0"/>
              <a:ea typeface="Cascadia Mono" panose="020B0609020000020004" charset="0"/>
              <a:cs typeface="Cascadia Mono" panose="020B0609020000020004" charset="0"/>
              <a:sym typeface="Cascadia Mono" panose="020B0609020000020004" charset="0"/>
            </a:endParaRPr>
          </a:p>
        </p:txBody>
      </p:sp>
      <p:sp>
        <p:nvSpPr>
          <p:cNvPr id="17413" name="Rectangle 4"/>
          <p:cNvSpPr/>
          <p:nvPr/>
        </p:nvSpPr>
        <p:spPr bwMode="auto">
          <a:xfrm>
            <a:off x="338212" y="4822031"/>
            <a:ext cx="8466460" cy="1426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533400" indent="-4064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spcBef>
                <a:spcPts val="1405"/>
              </a:spcBef>
              <a:buClr>
                <a:srgbClr val="000000"/>
              </a:buClr>
              <a:buSzPct val="100000"/>
              <a:buFont typeface="Lucida Casual Regular" panose="02010600010101010101" charset="-122"/>
              <a:buChar char="‣"/>
            </a:pPr>
            <a:r>
              <a:rPr lang="en-US" altLang="en-US" sz="2530" dirty="0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The new </a:t>
            </a:r>
            <a:r>
              <a:rPr lang="en-US" altLang="en-US" sz="2530" b="1" dirty="0">
                <a:solidFill>
                  <a:srgbClr val="0432FF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m</a:t>
            </a:r>
            <a:r>
              <a:rPr lang="en-US" altLang="en-US" sz="2530" dirty="0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 in dBm refers to the fact that the reference is one </a:t>
            </a:r>
            <a:r>
              <a:rPr lang="en-US" altLang="en-US" sz="2530" b="1" dirty="0" err="1">
                <a:solidFill>
                  <a:srgbClr val="0432FF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m</a:t>
            </a:r>
            <a:r>
              <a:rPr lang="en-US" altLang="en-US" sz="2530" dirty="0" err="1">
                <a:solidFill>
                  <a:srgbClr val="0432FF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W</a:t>
            </a:r>
            <a:r>
              <a:rPr lang="en-US" altLang="en-US" sz="2530" dirty="0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, and therefore a </a:t>
            </a:r>
            <a:r>
              <a:rPr lang="en-US" altLang="en-US" sz="2530" b="1" dirty="0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dBm</a:t>
            </a:r>
            <a:r>
              <a:rPr lang="en-US" altLang="en-US" sz="2530" dirty="0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 measurement is a measurement of absolute power with reference to 1 </a:t>
            </a:r>
            <a:r>
              <a:rPr lang="en-US" altLang="en-US" sz="2530" dirty="0" err="1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mW</a:t>
            </a:r>
            <a:r>
              <a:rPr lang="en-US" altLang="en-US" sz="2530" dirty="0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.</a:t>
            </a:r>
            <a:r>
              <a:rPr lang="zh-CN" altLang="en-US" sz="2530" dirty="0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+mn-lt"/>
                <a:ea typeface="华康行楷体 W5" panose="03000509000000000000" charset="-122"/>
                <a:sym typeface="Saturday Sans Regular" panose="02010600010101010101" charset="-122"/>
              </a:rPr>
              <a:t>dBm</a:t>
            </a:r>
            <a:r>
              <a:rPr lang="zh-CN" altLang="en-US" sz="2000" b="1" dirty="0">
                <a:solidFill>
                  <a:srgbClr val="C00000"/>
                </a:solidFill>
                <a:latin typeface="+mn-lt"/>
                <a:ea typeface="华康行楷体 W5" panose="03000509000000000000" charset="-122"/>
                <a:sym typeface="Saturday Sans Regular" panose="02010600010101010101" charset="-122"/>
              </a:rPr>
              <a:t>表示以</a:t>
            </a:r>
            <a:r>
              <a:rPr lang="en-US" altLang="zh-CN" sz="2000" b="1" dirty="0">
                <a:solidFill>
                  <a:srgbClr val="C00000"/>
                </a:solidFill>
                <a:latin typeface="+mn-lt"/>
                <a:ea typeface="华康行楷体 W5" panose="03000509000000000000" charset="-122"/>
                <a:sym typeface="Saturday Sans Regular" panose="02010600010101010101" charset="-122"/>
              </a:rPr>
              <a:t>1mW</a:t>
            </a:r>
            <a:r>
              <a:rPr lang="zh-CN" altLang="en-US" sz="2000" b="1" dirty="0">
                <a:solidFill>
                  <a:srgbClr val="C00000"/>
                </a:solidFill>
                <a:latin typeface="+mn-lt"/>
                <a:ea typeface="华康行楷体 W5" panose="03000509000000000000" charset="-122"/>
                <a:sym typeface="Saturday Sans Regular" panose="02010600010101010101" charset="-122"/>
              </a:rPr>
              <a:t>为参考值的功率绝对值</a:t>
            </a:r>
            <a:endParaRPr lang="en-US" altLang="en-US" sz="2000" b="1" dirty="0">
              <a:solidFill>
                <a:srgbClr val="C00000"/>
              </a:solidFill>
              <a:latin typeface="+mn-lt"/>
              <a:ea typeface="华康行楷体 W5" panose="03000509000000000000" charset="-122"/>
              <a:sym typeface="Saturday Sans Regular" panose="02010600010101010101" charset="-122"/>
            </a:endParaRPr>
          </a:p>
        </p:txBody>
      </p:sp>
      <p:sp>
        <p:nvSpPr>
          <p:cNvPr id="17414" name="Text Box 5"/>
          <p:cNvSpPr txBox="1">
            <a:spLocks noChangeArrowheads="1"/>
          </p:cNvSpPr>
          <p:nvPr/>
        </p:nvSpPr>
        <p:spPr bwMode="auto">
          <a:xfrm>
            <a:off x="4464844" y="6527601"/>
            <a:ext cx="223242" cy="241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r" eaLnBrk="1" hangingPunct="1"/>
            <a:fld id="{A991CD1C-0516-A245-8EDF-A954B2D6D55D}" type="slidenum">
              <a:rPr lang="en-US" altLang="en-US" sz="1265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</a:fld>
            <a:endParaRPr lang="en-US" altLang="en-US" sz="1265">
              <a:solidFill>
                <a:schemeClr val="tx1"/>
              </a:solidFill>
              <a:latin typeface="Saturday Sans Regular" panose="02010600010101010101" charset="-122"/>
              <a:ea typeface="华康行楷体 W5" panose="03000509000000000000" charset="-122"/>
              <a:cs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172200" y="3028890"/>
            <a:ext cx="29209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m</a:t>
            </a:r>
            <a:r>
              <a:rPr lang="zh-CN" altLang="en-US" sz="2000" dirty="0"/>
              <a:t> 指以 </a:t>
            </a:r>
            <a:r>
              <a:rPr lang="en-US" altLang="zh-CN" sz="2000" dirty="0"/>
              <a:t>1mW</a:t>
            </a:r>
            <a:r>
              <a:rPr lang="zh-CN" altLang="en-US" sz="2000" dirty="0"/>
              <a:t> 为参考功率</a:t>
            </a:r>
            <a:endParaRPr lang="en-US" altLang="zh-CN" sz="2000" dirty="0"/>
          </a:p>
        </p:txBody>
      </p:sp>
      <p:cxnSp>
        <p:nvCxnSpPr>
          <p:cNvPr id="4" name="Straight Arrow Connector 3"/>
          <p:cNvCxnSpPr/>
          <p:nvPr/>
        </p:nvCxnSpPr>
        <p:spPr bwMode="auto">
          <a:xfrm flipH="1">
            <a:off x="6060876" y="3361620"/>
            <a:ext cx="222648" cy="4339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dBm and mW</a:t>
            </a:r>
            <a:endParaRPr lang="en-US" altLang="en-US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8961" y="1759149"/>
            <a:ext cx="8438555" cy="508992"/>
          </a:xfrm>
          <a:solidFill>
            <a:schemeClr val="bg1"/>
          </a:solidFill>
        </p:spPr>
        <p:txBody>
          <a:bodyPr/>
          <a:lstStyle/>
          <a:p>
            <a:pPr marL="303530" lvl="1" indent="-285750" eaLnBrk="1" hangingPunct="1">
              <a:buClr>
                <a:srgbClr val="000000"/>
              </a:buClr>
              <a:buFont typeface="Lucida Casual Regular" panose="02010600010101010101" charset="-122"/>
              <a:buChar char="‣"/>
            </a:pPr>
            <a:r>
              <a:rPr lang="en-US" altLang="en-US" dirty="0"/>
              <a:t>To convert power in </a:t>
            </a:r>
            <a:r>
              <a:rPr lang="en-US" altLang="en-US" dirty="0" err="1"/>
              <a:t>mW</a:t>
            </a:r>
            <a:r>
              <a:rPr lang="en-US" altLang="en-US" dirty="0"/>
              <a:t> to dBm:</a:t>
            </a:r>
            <a:endParaRPr lang="en-US" altLang="en-US" dirty="0"/>
          </a:p>
        </p:txBody>
      </p:sp>
      <p:sp>
        <p:nvSpPr>
          <p:cNvPr id="18436" name="Rectangle 3"/>
          <p:cNvSpPr/>
          <p:nvPr/>
        </p:nvSpPr>
        <p:spPr bwMode="auto">
          <a:xfrm>
            <a:off x="1134071" y="2600260"/>
            <a:ext cx="3255699" cy="389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spcBef>
                <a:spcPts val="1405"/>
              </a:spcBef>
            </a:pPr>
            <a:r>
              <a:rPr lang="en-US" altLang="en-US" sz="253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P</a:t>
            </a:r>
            <a:r>
              <a:rPr lang="en-US" altLang="en-US" sz="2530" baseline="-600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dBm</a:t>
            </a:r>
            <a:r>
              <a:rPr lang="en-US" altLang="en-US" sz="253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 = 10 log</a:t>
            </a:r>
            <a:r>
              <a:rPr lang="en-US" altLang="en-US" sz="2530" baseline="-1400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10</a:t>
            </a:r>
            <a:r>
              <a:rPr lang="en-US" altLang="en-US" sz="253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 P</a:t>
            </a:r>
            <a:r>
              <a:rPr lang="en-US" altLang="en-US" sz="2530" baseline="-600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mW</a:t>
            </a:r>
            <a:endParaRPr lang="en-US" altLang="en-US" sz="2530" baseline="-6000">
              <a:solidFill>
                <a:schemeClr val="tx1"/>
              </a:solidFill>
              <a:latin typeface="Cascadia Mono" panose="020B0609020000020004" charset="0"/>
              <a:ea typeface="Cascadia Mono" panose="020B0609020000020004" charset="0"/>
              <a:cs typeface="Cascadia Mono" panose="020B0609020000020004" charset="0"/>
              <a:sym typeface="Cascadia Mono" panose="020B0609020000020004" charset="0"/>
            </a:endParaRPr>
          </a:p>
        </p:txBody>
      </p:sp>
      <p:sp>
        <p:nvSpPr>
          <p:cNvPr id="18437" name="Rectangle 4"/>
          <p:cNvSpPr/>
          <p:nvPr/>
        </p:nvSpPr>
        <p:spPr bwMode="auto">
          <a:xfrm>
            <a:off x="347142" y="3576340"/>
            <a:ext cx="8466460" cy="36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533400" indent="-4064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spcBef>
                <a:spcPts val="1405"/>
              </a:spcBef>
              <a:buClr>
                <a:srgbClr val="000000"/>
              </a:buClr>
              <a:buSzPct val="100000"/>
              <a:buFont typeface="Lucida Casual Regular" panose="02010600010101010101" charset="-122"/>
              <a:buChar char="‣"/>
            </a:pPr>
            <a:r>
              <a:rPr lang="en-US" altLang="en-US" sz="2530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To convert power in dBm to mW:</a:t>
            </a:r>
            <a:endParaRPr lang="en-US" altLang="en-US" sz="2530">
              <a:solidFill>
                <a:schemeClr val="tx1"/>
              </a:solidFill>
              <a:latin typeface="Saturday Sans Regular" panose="02010600010101010101" charset="-122"/>
              <a:ea typeface="华康行楷体 W5" panose="03000509000000000000" charset="-122"/>
              <a:cs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8438" name="Rectangle 5"/>
          <p:cNvSpPr/>
          <p:nvPr/>
        </p:nvSpPr>
        <p:spPr bwMode="auto">
          <a:xfrm>
            <a:off x="1132954" y="4277320"/>
            <a:ext cx="2417328" cy="389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spcBef>
                <a:spcPts val="1405"/>
              </a:spcBef>
            </a:pPr>
            <a:r>
              <a:rPr lang="en-US" altLang="en-US" sz="253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P</a:t>
            </a:r>
            <a:r>
              <a:rPr lang="en-US" altLang="en-US" sz="2530" baseline="-600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mW</a:t>
            </a:r>
            <a:r>
              <a:rPr lang="en-US" altLang="en-US" sz="253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 = 10 </a:t>
            </a:r>
            <a:r>
              <a:rPr lang="en-US" altLang="en-US" sz="2530" baseline="4300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P</a:t>
            </a:r>
            <a:r>
              <a:rPr lang="en-US" altLang="en-US" sz="1760" baseline="4800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dBm</a:t>
            </a:r>
            <a:r>
              <a:rPr lang="en-US" altLang="en-US" sz="2530" baseline="4300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/10</a:t>
            </a:r>
            <a:endParaRPr lang="en-US" altLang="en-US" sz="2530" baseline="43000">
              <a:solidFill>
                <a:schemeClr val="tx1"/>
              </a:solidFill>
              <a:latin typeface="Cascadia Mono" panose="020B0609020000020004" charset="0"/>
              <a:ea typeface="Cascadia Mono" panose="020B0609020000020004" charset="0"/>
              <a:cs typeface="Cascadia Mono" panose="020B0609020000020004" charset="0"/>
              <a:sym typeface="Cascadia Mono" panose="020B0609020000020004" charset="0"/>
            </a:endParaRPr>
          </a:p>
        </p:txBody>
      </p:sp>
      <p:sp>
        <p:nvSpPr>
          <p:cNvPr id="18439" name="Rectangle 6"/>
          <p:cNvSpPr/>
          <p:nvPr/>
        </p:nvSpPr>
        <p:spPr bwMode="auto">
          <a:xfrm>
            <a:off x="4795242" y="4321969"/>
            <a:ext cx="4036219" cy="678656"/>
          </a:xfrm>
          <a:prstGeom prst="rect">
            <a:avLst/>
          </a:prstGeom>
          <a:solidFill>
            <a:srgbClr val="FFD06D"/>
          </a:solidFill>
          <a:ln w="12700">
            <a:solidFill>
              <a:srgbClr val="BB5A1F"/>
            </a:solidFill>
            <a:miter lim="800000"/>
          </a:ln>
        </p:spPr>
        <p:txBody>
          <a:bodyPr lIns="0" tIns="0" rIns="0" bIns="0"/>
          <a:lstStyle>
            <a:lvl1pPr marL="40005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en-US" sz="1970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10 </a:t>
            </a:r>
            <a:r>
              <a:rPr lang="en-US" altLang="en-US" sz="1970" i="1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to the power of</a:t>
            </a:r>
            <a:r>
              <a:rPr lang="en-US" altLang="en-US" sz="1970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 ( “Power in dBm” divided by 10 )</a:t>
            </a:r>
            <a:endParaRPr lang="en-US" altLang="en-US" sz="1970">
              <a:solidFill>
                <a:schemeClr val="tx1"/>
              </a:solidFill>
              <a:latin typeface="Saturday Sans Regular" panose="02010600010101010101" charset="-122"/>
              <a:ea typeface="华康行楷体 W5" panose="03000509000000000000" charset="-122"/>
              <a:cs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8440" name="Rectangle 7"/>
          <p:cNvSpPr/>
          <p:nvPr/>
        </p:nvSpPr>
        <p:spPr bwMode="auto">
          <a:xfrm>
            <a:off x="4795242" y="2518172"/>
            <a:ext cx="4036219" cy="678656"/>
          </a:xfrm>
          <a:prstGeom prst="rect">
            <a:avLst/>
          </a:prstGeom>
          <a:solidFill>
            <a:srgbClr val="FFD06D"/>
          </a:solidFill>
          <a:ln w="12700">
            <a:solidFill>
              <a:srgbClr val="BB5A1F"/>
            </a:solidFill>
            <a:miter lim="800000"/>
          </a:ln>
        </p:spPr>
        <p:txBody>
          <a:bodyPr lIns="0" tIns="0" rIns="0" bIns="0"/>
          <a:lstStyle>
            <a:lvl1pPr marL="40005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en-US" sz="1970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10 times the </a:t>
            </a:r>
            <a:r>
              <a:rPr lang="en-US" altLang="en-US" sz="1970" i="1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logarithm in base 10</a:t>
            </a:r>
            <a:r>
              <a:rPr lang="en-US" altLang="en-US" sz="1970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 of  the “Power in mW”</a:t>
            </a:r>
            <a:endParaRPr lang="en-US" altLang="en-US" sz="1970">
              <a:solidFill>
                <a:schemeClr val="tx1"/>
              </a:solidFill>
              <a:latin typeface="Saturday Sans Regular" panose="02010600010101010101" charset="-122"/>
              <a:ea typeface="华康行楷体 W5" panose="03000509000000000000" charset="-122"/>
              <a:cs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8441" name="Text Box 8"/>
          <p:cNvSpPr txBox="1">
            <a:spLocks noChangeArrowheads="1"/>
          </p:cNvSpPr>
          <p:nvPr/>
        </p:nvSpPr>
        <p:spPr bwMode="auto">
          <a:xfrm>
            <a:off x="4464844" y="6527601"/>
            <a:ext cx="223242" cy="241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r" eaLnBrk="1" hangingPunct="1"/>
            <a:fld id="{79E56A8C-9D42-BD4B-ACCB-8FC3ECAEF2CF}" type="slidenum">
              <a:rPr lang="en-US" altLang="en-US" sz="1265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</a:fld>
            <a:endParaRPr lang="en-US" altLang="en-US" sz="1265">
              <a:solidFill>
                <a:schemeClr val="tx1"/>
              </a:solidFill>
              <a:latin typeface="Saturday Sans Regular" panose="02010600010101010101" charset="-122"/>
              <a:ea typeface="华康行楷体 W5" panose="03000509000000000000" charset="-122"/>
              <a:cs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0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dBm and mW</a:t>
            </a:r>
            <a:endParaRPr lang="en-US" altLang="en-US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1955" y="1508752"/>
            <a:ext cx="7840266" cy="500063"/>
          </a:xfrm>
          <a:solidFill>
            <a:schemeClr val="bg1"/>
          </a:solidFill>
        </p:spPr>
        <p:txBody>
          <a:bodyPr/>
          <a:lstStyle/>
          <a:p>
            <a:pPr marL="303530" lvl="1" indent="-285750" eaLnBrk="1" hangingPunct="1">
              <a:buClr>
                <a:srgbClr val="000000"/>
              </a:buClr>
              <a:buFont typeface="Lucida Casual Regular" panose="02010600010101010101" charset="-122"/>
              <a:buChar char="‣"/>
            </a:pPr>
            <a:r>
              <a:rPr lang="en-US" altLang="en-US" dirty="0"/>
              <a:t>Example: </a:t>
            </a:r>
            <a:r>
              <a:rPr lang="en-US" altLang="en-US" dirty="0" err="1"/>
              <a:t>mW</a:t>
            </a:r>
            <a:r>
              <a:rPr lang="en-US" altLang="en-US" dirty="0"/>
              <a:t> to dBm</a:t>
            </a:r>
            <a:endParaRPr lang="en-US" altLang="en-US" dirty="0"/>
          </a:p>
        </p:txBody>
      </p:sp>
      <p:sp>
        <p:nvSpPr>
          <p:cNvPr id="19460" name="Rectangle 3"/>
          <p:cNvSpPr/>
          <p:nvPr/>
        </p:nvSpPr>
        <p:spPr bwMode="auto">
          <a:xfrm>
            <a:off x="898135" y="2045650"/>
            <a:ext cx="6107906" cy="1509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spcBef>
                <a:spcPts val="1405"/>
              </a:spcBef>
            </a:pPr>
            <a:r>
              <a:rPr lang="en-US" altLang="en-US" sz="2530" dirty="0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Radio power: 100mW</a:t>
            </a:r>
            <a:endParaRPr lang="en-US" altLang="en-US" sz="2530" dirty="0">
              <a:solidFill>
                <a:schemeClr val="tx1"/>
              </a:solidFill>
              <a:latin typeface="Saturday Sans Regular" panose="02010600010101010101" charset="-122"/>
              <a:ea typeface="华康行楷体 W5" panose="03000509000000000000" charset="-122"/>
              <a:cs typeface="Saturday Sans Regular" panose="02010600010101010101" charset="-122"/>
              <a:sym typeface="Saturday Sans Regular" panose="02010600010101010101" charset="-122"/>
            </a:endParaRPr>
          </a:p>
          <a:p>
            <a:pPr eaLnBrk="1" hangingPunct="1">
              <a:spcBef>
                <a:spcPts val="1405"/>
              </a:spcBef>
            </a:pPr>
            <a:r>
              <a:rPr lang="en-US" altLang="en-US" sz="2530" dirty="0" err="1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P</a:t>
            </a:r>
            <a:r>
              <a:rPr lang="en-US" altLang="en-US" sz="2530" baseline="-6000" dirty="0" err="1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dBm</a:t>
            </a:r>
            <a:r>
              <a:rPr lang="en-US" altLang="en-US" sz="2530" dirty="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 = 10 log</a:t>
            </a:r>
            <a:r>
              <a:rPr lang="en-US" altLang="en-US" sz="2530" baseline="-14000" dirty="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10</a:t>
            </a:r>
            <a:r>
              <a:rPr lang="en-US" altLang="en-US" sz="2530" dirty="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(100) </a:t>
            </a:r>
            <a:endParaRPr lang="en-US" altLang="en-US" sz="2955" dirty="0">
              <a:solidFill>
                <a:schemeClr val="tx1"/>
              </a:solidFill>
              <a:latin typeface="Cascadia Mono" panose="020B0609020000020004" charset="0"/>
              <a:ea typeface="Cascadia Mono" panose="020B0609020000020004" charset="0"/>
              <a:cs typeface="Cascadia Mono" panose="020B0609020000020004" charset="0"/>
              <a:sym typeface="Cascadia Mono" panose="020B0609020000020004" charset="0"/>
            </a:endParaRPr>
          </a:p>
          <a:p>
            <a:pPr eaLnBrk="1" hangingPunct="1">
              <a:spcBef>
                <a:spcPts val="1405"/>
              </a:spcBef>
            </a:pPr>
            <a:r>
              <a:rPr lang="en-US" altLang="en-US" sz="2530" b="1" dirty="0">
                <a:solidFill>
                  <a:srgbClr val="0432FF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100mW</a:t>
            </a:r>
            <a:r>
              <a:rPr lang="en-US" altLang="en-US" sz="2530" b="1" dirty="0">
                <a:solidFill>
                  <a:srgbClr val="0432FF"/>
                </a:solidFill>
                <a:latin typeface="Saturday Sans Regular" panose="02010600010101010101" charset="-122"/>
                <a:ea typeface="华康行楷体 W5" panose="03000509000000000000" charset="-122"/>
                <a:cs typeface="Lucida Casual Regular" panose="02010600010101010101" charset="-122"/>
                <a:sym typeface="Saturday Sans Regular" panose="02010600010101010101" charset="-122"/>
              </a:rPr>
              <a:t> →</a:t>
            </a:r>
            <a:r>
              <a:rPr lang="en-US" altLang="en-US" sz="2530" b="1" dirty="0">
                <a:solidFill>
                  <a:srgbClr val="0432FF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 20dBm</a:t>
            </a:r>
            <a:endParaRPr lang="en-US" altLang="en-US" sz="2530" b="1" dirty="0">
              <a:solidFill>
                <a:srgbClr val="0432FF"/>
              </a:solidFill>
              <a:latin typeface="Cascadia Mono" panose="020B0609020000020004" charset="0"/>
              <a:ea typeface="Cascadia Mono" panose="020B0609020000020004" charset="0"/>
              <a:cs typeface="Cascadia Mono" panose="020B0609020000020004" charset="0"/>
              <a:sym typeface="Cascadia Mono" panose="020B0609020000020004" charset="0"/>
            </a:endParaRPr>
          </a:p>
        </p:txBody>
      </p:sp>
      <p:sp>
        <p:nvSpPr>
          <p:cNvPr id="19461" name="Rectangle 4"/>
          <p:cNvSpPr/>
          <p:nvPr/>
        </p:nvSpPr>
        <p:spPr bwMode="auto">
          <a:xfrm>
            <a:off x="5250657" y="2029346"/>
            <a:ext cx="6482953" cy="1518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spcBef>
                <a:spcPts val="1405"/>
              </a:spcBef>
            </a:pPr>
            <a:r>
              <a:rPr lang="en-US" altLang="en-US" sz="2530" dirty="0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Signal measurement: 17dBm</a:t>
            </a:r>
            <a:endParaRPr lang="en-US" altLang="en-US" sz="2530" dirty="0">
              <a:solidFill>
                <a:schemeClr val="tx1"/>
              </a:solidFill>
              <a:latin typeface="Saturday Sans Regular" panose="02010600010101010101" charset="-122"/>
              <a:ea typeface="华康行楷体 W5" panose="03000509000000000000" charset="-122"/>
              <a:cs typeface="Saturday Sans Regular" panose="02010600010101010101" charset="-122"/>
              <a:sym typeface="Saturday Sans Regular" panose="02010600010101010101" charset="-122"/>
            </a:endParaRPr>
          </a:p>
          <a:p>
            <a:pPr eaLnBrk="1" hangingPunct="1">
              <a:spcBef>
                <a:spcPts val="1405"/>
              </a:spcBef>
            </a:pPr>
            <a:r>
              <a:rPr lang="en-US" altLang="en-US" sz="2530" dirty="0" err="1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P</a:t>
            </a:r>
            <a:r>
              <a:rPr lang="en-US" altLang="en-US" sz="2530" baseline="-6000" dirty="0" err="1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mW</a:t>
            </a:r>
            <a:r>
              <a:rPr lang="en-US" altLang="en-US" sz="2530" dirty="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 = 10 </a:t>
            </a:r>
            <a:r>
              <a:rPr lang="en-US" altLang="en-US" sz="2530" baseline="43000" dirty="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17/10</a:t>
            </a:r>
            <a:r>
              <a:rPr lang="en-US" altLang="en-US" sz="2530" dirty="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     </a:t>
            </a:r>
            <a:endParaRPr lang="en-US" altLang="en-US" sz="2955" dirty="0">
              <a:solidFill>
                <a:schemeClr val="tx1"/>
              </a:solidFill>
              <a:latin typeface="Cascadia Mono" panose="020B0609020000020004" charset="0"/>
              <a:ea typeface="Cascadia Mono" panose="020B0609020000020004" charset="0"/>
              <a:cs typeface="Cascadia Mono" panose="020B0609020000020004" charset="0"/>
              <a:sym typeface="Cascadia Mono" panose="020B0609020000020004" charset="0"/>
            </a:endParaRPr>
          </a:p>
          <a:p>
            <a:pPr eaLnBrk="1" hangingPunct="1">
              <a:spcBef>
                <a:spcPts val="1405"/>
              </a:spcBef>
            </a:pPr>
            <a:r>
              <a:rPr lang="en-US" altLang="en-US" sz="2530" dirty="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17dBm </a:t>
            </a:r>
            <a:r>
              <a:rPr lang="en-US" altLang="en-US" sz="2530" dirty="0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Lucida Casual Regular" panose="02010600010101010101" charset="-122"/>
                <a:sym typeface="Saturday Sans Regular" panose="02010600010101010101" charset="-122"/>
              </a:rPr>
              <a:t>→</a:t>
            </a:r>
            <a:r>
              <a:rPr lang="en-US" altLang="en-US" sz="2530" dirty="0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 50 </a:t>
            </a:r>
            <a:r>
              <a:rPr lang="en-US" altLang="en-US" sz="2530" dirty="0" err="1">
                <a:solidFill>
                  <a:schemeClr val="tx1"/>
                </a:solidFill>
                <a:latin typeface="Cascadia Mono" panose="020B0609020000020004" charset="0"/>
                <a:ea typeface="Cascadia Mono" panose="020B0609020000020004" charset="0"/>
                <a:cs typeface="Cascadia Mono" panose="020B0609020000020004" charset="0"/>
                <a:sym typeface="Cascadia Mono" panose="020B0609020000020004" charset="0"/>
              </a:rPr>
              <a:t>mW</a:t>
            </a:r>
            <a:endParaRPr lang="en-US" altLang="en-US" sz="2530" dirty="0">
              <a:solidFill>
                <a:schemeClr val="tx1"/>
              </a:solidFill>
              <a:latin typeface="Cascadia Mono" panose="020B0609020000020004" charset="0"/>
              <a:ea typeface="Cascadia Mono" panose="020B0609020000020004" charset="0"/>
              <a:cs typeface="Cascadia Mono" panose="020B0609020000020004" charset="0"/>
              <a:sym typeface="Cascadia Mono" panose="020B0609020000020004" charset="0"/>
            </a:endParaRPr>
          </a:p>
        </p:txBody>
      </p:sp>
      <p:sp>
        <p:nvSpPr>
          <p:cNvPr id="19462" name="Text Box 5"/>
          <p:cNvSpPr txBox="1">
            <a:spLocks noChangeArrowheads="1"/>
          </p:cNvSpPr>
          <p:nvPr/>
        </p:nvSpPr>
        <p:spPr bwMode="auto">
          <a:xfrm>
            <a:off x="8689777" y="3964416"/>
            <a:ext cx="223242" cy="241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r" eaLnBrk="1" hangingPunct="1"/>
            <a:fld id="{AFBB16F6-F5CF-FF4F-A120-3F9612F86882}" type="slidenum">
              <a:rPr lang="en-US" altLang="en-US" sz="1265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</a:fld>
            <a:endParaRPr lang="en-US" altLang="en-US" sz="1265">
              <a:solidFill>
                <a:schemeClr val="tx1"/>
              </a:solidFill>
              <a:latin typeface="Saturday Sans Regular" panose="02010600010101010101" charset="-122"/>
              <a:ea typeface="华康行楷体 W5" panose="03000509000000000000" charset="-122"/>
              <a:cs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9463" name="Rectangle 6"/>
          <p:cNvSpPr/>
          <p:nvPr/>
        </p:nvSpPr>
        <p:spPr bwMode="auto">
          <a:xfrm>
            <a:off x="4572000" y="1475705"/>
            <a:ext cx="7840266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</a:extLst>
        </p:spPr>
        <p:txBody>
          <a:bodyPr lIns="35719" tIns="35719" rIns="35719" bIns="35719"/>
          <a:lstStyle>
            <a:lvl1pPr marL="355600" indent="-355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l" eaLnBrk="1" hangingPunct="1">
              <a:buClr>
                <a:srgbClr val="000000"/>
              </a:buClr>
              <a:buSzPct val="100000"/>
              <a:buFont typeface="Lucida Casual Regular" panose="02010600010101010101" charset="-122"/>
              <a:buChar char="‣"/>
            </a:pPr>
            <a:r>
              <a:rPr lang="en-US" altLang="en-US" sz="2530" dirty="0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Example: dBm to </a:t>
            </a:r>
            <a:r>
              <a:rPr lang="en-US" altLang="en-US" sz="2530" dirty="0" err="1">
                <a:solidFill>
                  <a:schemeClr val="tx1"/>
                </a:solidFill>
                <a:latin typeface="Saturday Sans Regular" panose="02010600010101010101" charset="-122"/>
                <a:ea typeface="华康行楷体 W5" panose="03000509000000000000" charset="-122"/>
                <a:cs typeface="Saturday Sans Regular" panose="02010600010101010101" charset="-122"/>
                <a:sym typeface="Saturday Sans Regular" panose="02010600010101010101" charset="-122"/>
              </a:rPr>
              <a:t>mW</a:t>
            </a:r>
            <a:endParaRPr lang="en-US" altLang="en-US" sz="2530" dirty="0">
              <a:solidFill>
                <a:schemeClr val="tx1"/>
              </a:solidFill>
              <a:latin typeface="Saturday Sans Regular" panose="02010600010101010101" charset="-122"/>
              <a:ea typeface="华康行楷体 W5" panose="03000509000000000000" charset="-122"/>
              <a:cs typeface="Saturday Sans Regular" panose="02010600010101010101" charset="-122"/>
              <a:sym typeface="Saturday Sans Regular" panose="0201060001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4933" y="3689747"/>
            <a:ext cx="5554133" cy="3124200"/>
          </a:xfrm>
          <a:prstGeom prst="rect">
            <a:avLst/>
          </a:prstGeom>
        </p:spPr>
      </p:pic>
      <p:sp>
        <p:nvSpPr>
          <p:cNvPr id="9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00200"/>
            <a:ext cx="6777633" cy="5123408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dirty="0">
                <a:sym typeface="Trebuchet MS" panose="020B0603020202020204" charset="0"/>
              </a:rPr>
              <a:t>Using dB</a:t>
            </a:r>
            <a:endParaRPr lang="en-US" dirty="0">
              <a:sym typeface="Trebuchet MS" panose="020B0603020202020204" charset="0"/>
            </a:endParaRPr>
          </a:p>
        </p:txBody>
      </p:sp>
      <p:sp>
        <p:nvSpPr>
          <p:cNvPr id="4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4953000" cy="1295400"/>
          </a:xfrm>
        </p:spPr>
        <p:txBody>
          <a:bodyPr/>
          <a:lstStyle/>
          <a:p>
            <a:pPr eaLnBrk="1" hangingPunct="1"/>
            <a:r>
              <a:rPr lang="en-US" altLang="zh-CN" sz="3200" b="0" dirty="0">
                <a:ea typeface="宋体" panose="02010600030101010101" pitchFamily="2" charset="-122"/>
              </a:rPr>
              <a:t>1.4.6. </a:t>
            </a:r>
            <a:r>
              <a:rPr lang="en-US" altLang="zh-CN" sz="3200" dirty="0">
                <a:ea typeface="宋体" panose="02010600030101010101" pitchFamily="2" charset="-122"/>
              </a:rPr>
              <a:t>Amplifier Power Supply</a:t>
            </a:r>
            <a:r>
              <a:rPr lang="zh-CN" altLang="en-US" sz="3200" dirty="0">
                <a:ea typeface="宋体" panose="02010600030101010101" pitchFamily="2" charset="-122"/>
              </a:rPr>
              <a:t> 放大器供电</a:t>
            </a:r>
            <a:endParaRPr lang="en-US" altLang="zh-CN" sz="3200" dirty="0">
              <a:ea typeface="宋体" panose="02010600030101010101" pitchFamily="2" charset="-122"/>
            </a:endParaRP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2057400"/>
            <a:ext cx="8763000" cy="46482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supplies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– an amplifier has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two </a:t>
            </a:r>
            <a:r>
              <a:rPr lang="en-US" altLang="zh-CN" sz="2800" dirty="0">
                <a:ea typeface="宋体" panose="02010600030101010101" pitchFamily="2" charset="-122"/>
              </a:rPr>
              <a:t>power supplies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i="1" dirty="0">
                <a:ea typeface="宋体" panose="02010600030101010101" pitchFamily="2" charset="-122"/>
              </a:rPr>
              <a:t>V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CC</a:t>
            </a:r>
            <a:r>
              <a:rPr lang="en-US" altLang="zh-CN" sz="2800" dirty="0">
                <a:ea typeface="宋体" panose="02010600030101010101" pitchFamily="2" charset="-122"/>
              </a:rPr>
              <a:t> is </a:t>
            </a:r>
            <a:r>
              <a:rPr lang="en-US" altLang="zh-CN" sz="2800" b="1" dirty="0">
                <a:solidFill>
                  <a:srgbClr val="C00000"/>
                </a:solidFill>
                <a:ea typeface="宋体" panose="02010600030101010101" pitchFamily="2" charset="-122"/>
              </a:rPr>
              <a:t>positive</a:t>
            </a:r>
            <a:r>
              <a:rPr lang="en-US" altLang="zh-CN" sz="2800" dirty="0">
                <a:ea typeface="宋体" panose="02010600030101010101" pitchFamily="2" charset="-122"/>
              </a:rPr>
              <a:t>, current </a:t>
            </a:r>
            <a:r>
              <a:rPr lang="en-US" altLang="zh-CN" sz="2800" i="1" dirty="0">
                <a:ea typeface="宋体" panose="02010600030101010101" pitchFamily="2" charset="-122"/>
              </a:rPr>
              <a:t>I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CC</a:t>
            </a:r>
            <a:r>
              <a:rPr lang="en-US" altLang="zh-CN" sz="2800" dirty="0">
                <a:ea typeface="宋体" panose="02010600030101010101" pitchFamily="2" charset="-122"/>
              </a:rPr>
              <a:t> is drawn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i="1" dirty="0">
                <a:ea typeface="宋体" panose="02010600030101010101" pitchFamily="2" charset="-122"/>
              </a:rPr>
              <a:t>-V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EE</a:t>
            </a:r>
            <a:r>
              <a:rPr lang="en-US" altLang="zh-CN" sz="2800" dirty="0">
                <a:ea typeface="宋体" panose="02010600030101010101" pitchFamily="2" charset="-122"/>
              </a:rPr>
              <a:t> is </a:t>
            </a:r>
            <a:r>
              <a:rPr lang="en-US" altLang="zh-CN" sz="2800" b="1" dirty="0">
                <a:solidFill>
                  <a:srgbClr val="00B050"/>
                </a:solidFill>
                <a:ea typeface="宋体" panose="02010600030101010101" pitchFamily="2" charset="-122"/>
              </a:rPr>
              <a:t>negative</a:t>
            </a:r>
            <a:r>
              <a:rPr lang="en-US" altLang="zh-CN" sz="2800" dirty="0">
                <a:ea typeface="宋体" panose="02010600030101010101" pitchFamily="2" charset="-122"/>
              </a:rPr>
              <a:t>, current </a:t>
            </a:r>
            <a:r>
              <a:rPr lang="en-US" altLang="zh-CN" sz="2800" i="1" dirty="0">
                <a:ea typeface="宋体" panose="02010600030101010101" pitchFamily="2" charset="-122"/>
              </a:rPr>
              <a:t>I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EE</a:t>
            </a:r>
            <a:r>
              <a:rPr lang="en-US" altLang="zh-CN" sz="2800" dirty="0">
                <a:ea typeface="宋体" panose="02010600030101010101" pitchFamily="2" charset="-122"/>
              </a:rPr>
              <a:t> is drawn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3333FF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power draw</a:t>
            </a:r>
            <a:r>
              <a:rPr lang="en-US" altLang="zh-CN" sz="2800" b="1" dirty="0">
                <a:highlight>
                  <a:srgbClr val="FFFF00"/>
                </a:highlight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– from these supplies is defined below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i="1" dirty="0" err="1">
                <a:ea typeface="宋体" panose="02010600030101010101" pitchFamily="2" charset="-122"/>
              </a:rPr>
              <a:t>P</a:t>
            </a:r>
            <a:r>
              <a:rPr lang="en-US" altLang="zh-CN" sz="2800" i="1" baseline="-25000" dirty="0" err="1">
                <a:ea typeface="宋体" panose="02010600030101010101" pitchFamily="2" charset="-122"/>
              </a:rPr>
              <a:t>dc</a:t>
            </a:r>
            <a:r>
              <a:rPr lang="en-US" altLang="zh-CN" sz="2800" dirty="0">
                <a:ea typeface="宋体" panose="02010600030101010101" pitchFamily="2" charset="-122"/>
              </a:rPr>
              <a:t> = </a:t>
            </a:r>
            <a:r>
              <a:rPr lang="en-US" altLang="zh-CN" sz="2800" i="1" dirty="0">
                <a:ea typeface="宋体" panose="02010600030101010101" pitchFamily="2" charset="-122"/>
              </a:rPr>
              <a:t>V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CC </a:t>
            </a:r>
            <a:r>
              <a:rPr lang="en-US" altLang="zh-CN" sz="2800" i="1" dirty="0">
                <a:ea typeface="宋体" panose="02010600030101010101" pitchFamily="2" charset="-122"/>
              </a:rPr>
              <a:t>I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CC</a:t>
            </a:r>
            <a:r>
              <a:rPr lang="en-US" altLang="zh-CN" sz="2800" dirty="0">
                <a:ea typeface="宋体" panose="02010600030101010101" pitchFamily="2" charset="-122"/>
              </a:rPr>
              <a:t> + </a:t>
            </a:r>
            <a:r>
              <a:rPr lang="en-US" altLang="zh-CN" sz="2800" i="1" dirty="0">
                <a:ea typeface="宋体" panose="02010600030101010101" pitchFamily="2" charset="-122"/>
              </a:rPr>
              <a:t>V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EE </a:t>
            </a:r>
            <a:r>
              <a:rPr lang="en-US" altLang="zh-CN" sz="2800" i="1" dirty="0">
                <a:ea typeface="宋体" panose="02010600030101010101" pitchFamily="2" charset="-122"/>
              </a:rPr>
              <a:t>I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EE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6085" name="文本框 1"/>
          <p:cNvSpPr txBox="1">
            <a:spLocks noChangeArrowheads="1"/>
          </p:cNvSpPr>
          <p:nvPr/>
        </p:nvSpPr>
        <p:spPr bwMode="auto">
          <a:xfrm>
            <a:off x="381001" y="4800600"/>
            <a:ext cx="44958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“CC” relates to the “</a:t>
            </a:r>
            <a:r>
              <a:rPr lang="en-US" altLang="zh-CN" b="1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ollector” of an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npn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bipolar transistor.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Similarly, “EE” relates to the </a:t>
            </a:r>
            <a:r>
              <a:rPr lang="en-US" altLang="zh-CN" b="1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mitter of an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npn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, bipolar transistor.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5402" y="3879042"/>
            <a:ext cx="4047743" cy="2978958"/>
          </a:xfrm>
          <a:prstGeom prst="rect">
            <a:avLst/>
          </a:prstGeom>
        </p:spPr>
      </p:pic>
      <p:sp>
        <p:nvSpPr>
          <p:cNvPr id="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1.4.6. </a:t>
            </a:r>
            <a:r>
              <a:rPr lang="en-US" altLang="zh-CN" sz="3200">
                <a:ea typeface="宋体" panose="02010600030101010101" pitchFamily="2" charset="-122"/>
              </a:rPr>
              <a:t>Amplifier Power Supply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2057400"/>
            <a:ext cx="8763000" cy="46482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conservation of power </a:t>
            </a:r>
            <a:r>
              <a:rPr lang="zh-CN" altLang="en-US" b="1" dirty="0">
                <a:solidFill>
                  <a:srgbClr val="3333FF"/>
                </a:solidFill>
                <a:ea typeface="宋体" panose="02010600030101010101" pitchFamily="2" charset="-122"/>
              </a:rPr>
              <a:t>（功率守恒）</a:t>
            </a:r>
            <a:r>
              <a:rPr lang="en-US" altLang="zh-CN" sz="2800" dirty="0">
                <a:ea typeface="宋体" panose="02010600030101010101" pitchFamily="2" charset="-122"/>
              </a:rPr>
              <a:t>– dictates that power input (</a:t>
            </a:r>
            <a:r>
              <a:rPr lang="en-US" altLang="zh-CN" sz="2800" i="1" dirty="0">
                <a:ea typeface="宋体" panose="02010600030101010101" pitchFamily="2" charset="-122"/>
              </a:rPr>
              <a:t>P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i</a:t>
            </a:r>
            <a:r>
              <a:rPr lang="en-US" altLang="zh-CN" sz="2800" dirty="0">
                <a:ea typeface="宋体" panose="02010600030101010101" pitchFamily="2" charset="-122"/>
              </a:rPr>
              <a:t>) plus that drawn from supply (</a:t>
            </a:r>
            <a:r>
              <a:rPr lang="en-US" altLang="zh-CN" sz="2800" i="1" dirty="0" err="1">
                <a:ea typeface="宋体" panose="02010600030101010101" pitchFamily="2" charset="-122"/>
              </a:rPr>
              <a:t>P</a:t>
            </a:r>
            <a:r>
              <a:rPr lang="en-US" altLang="zh-CN" sz="2800" i="1" baseline="-25000" dirty="0" err="1">
                <a:ea typeface="宋体" panose="02010600030101010101" pitchFamily="2" charset="-122"/>
              </a:rPr>
              <a:t>dc</a:t>
            </a:r>
            <a:r>
              <a:rPr lang="en-US" altLang="zh-CN" sz="2800" dirty="0">
                <a:ea typeface="宋体" panose="02010600030101010101" pitchFamily="2" charset="-122"/>
              </a:rPr>
              <a:t>) is equal to output (</a:t>
            </a:r>
            <a:r>
              <a:rPr lang="en-US" altLang="zh-CN" sz="2800" i="1" dirty="0">
                <a:ea typeface="宋体" panose="02010600030101010101" pitchFamily="2" charset="-122"/>
              </a:rPr>
              <a:t>P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L</a:t>
            </a:r>
            <a:r>
              <a:rPr lang="en-US" altLang="zh-CN" sz="2800" dirty="0">
                <a:ea typeface="宋体" panose="02010600030101010101" pitchFamily="2" charset="-122"/>
              </a:rPr>
              <a:t>) plus that which is dissipated (</a:t>
            </a:r>
            <a:r>
              <a:rPr lang="en-US" altLang="zh-CN" sz="2800" i="1" dirty="0" err="1">
                <a:ea typeface="宋体" panose="02010600030101010101" pitchFamily="2" charset="-122"/>
              </a:rPr>
              <a:t>P</a:t>
            </a:r>
            <a:r>
              <a:rPr lang="en-US" altLang="zh-CN" sz="2800" i="1" baseline="-25000" dirty="0" err="1">
                <a:ea typeface="宋体" panose="02010600030101010101" pitchFamily="2" charset="-122"/>
              </a:rPr>
              <a:t>dis</a:t>
            </a:r>
            <a:r>
              <a:rPr lang="en-US" altLang="zh-CN" sz="2800" dirty="0">
                <a:ea typeface="宋体" panose="02010600030101010101" pitchFamily="2" charset="-122"/>
              </a:rPr>
              <a:t>).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endParaRPr lang="en-US" altLang="zh-CN" sz="2800" b="1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i="1" dirty="0">
                <a:ea typeface="宋体" panose="02010600030101010101" pitchFamily="2" charset="-122"/>
              </a:rPr>
              <a:t>P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i</a:t>
            </a:r>
            <a:r>
              <a:rPr lang="en-US" altLang="zh-CN" sz="2800" dirty="0">
                <a:ea typeface="宋体" panose="02010600030101010101" pitchFamily="2" charset="-122"/>
              </a:rPr>
              <a:t> + </a:t>
            </a:r>
            <a:r>
              <a:rPr lang="en-US" altLang="zh-CN" sz="2800" i="1" dirty="0" err="1">
                <a:ea typeface="宋体" panose="02010600030101010101" pitchFamily="2" charset="-122"/>
              </a:rPr>
              <a:t>P</a:t>
            </a:r>
            <a:r>
              <a:rPr lang="en-US" altLang="zh-CN" sz="2800" i="1" baseline="-25000" dirty="0" err="1">
                <a:ea typeface="宋体" panose="02010600030101010101" pitchFamily="2" charset="-122"/>
              </a:rPr>
              <a:t>dc</a:t>
            </a:r>
            <a:r>
              <a:rPr lang="en-US" altLang="zh-CN" sz="2800" dirty="0">
                <a:ea typeface="宋体" panose="02010600030101010101" pitchFamily="2" charset="-122"/>
              </a:rPr>
              <a:t> = </a:t>
            </a:r>
            <a:r>
              <a:rPr lang="en-US" altLang="zh-CN" sz="2800" i="1" dirty="0">
                <a:ea typeface="宋体" panose="02010600030101010101" pitchFamily="2" charset="-122"/>
              </a:rPr>
              <a:t>P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L</a:t>
            </a:r>
            <a:r>
              <a:rPr lang="en-US" altLang="zh-CN" sz="2800" dirty="0">
                <a:ea typeface="宋体" panose="02010600030101010101" pitchFamily="2" charset="-122"/>
              </a:rPr>
              <a:t> + </a:t>
            </a:r>
            <a:r>
              <a:rPr lang="en-US" altLang="zh-CN" sz="2800" i="1" dirty="0" err="1">
                <a:ea typeface="宋体" panose="02010600030101010101" pitchFamily="2" charset="-122"/>
              </a:rPr>
              <a:t>P</a:t>
            </a:r>
            <a:r>
              <a:rPr lang="en-US" altLang="zh-CN" sz="2800" i="1" baseline="-25000" dirty="0" err="1">
                <a:ea typeface="宋体" panose="02010600030101010101" pitchFamily="2" charset="-122"/>
              </a:rPr>
              <a:t>dissapated</a:t>
            </a:r>
            <a:r>
              <a:rPr lang="zh-CN" altLang="en-US" sz="2800" i="1" baseline="-25000" dirty="0">
                <a:ea typeface="宋体" panose="02010600030101010101" pitchFamily="2" charset="-122"/>
              </a:rPr>
              <a:t> </a:t>
            </a:r>
            <a:endParaRPr lang="en-US" altLang="zh-CN" sz="2800" b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efficiency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3333FF"/>
                </a:solidFill>
                <a:ea typeface="宋体" panose="02010600030101010101" pitchFamily="2" charset="-122"/>
              </a:rPr>
              <a:t>（效率）</a:t>
            </a:r>
            <a:r>
              <a:rPr lang="en-US" altLang="zh-CN" sz="2800" dirty="0">
                <a:ea typeface="宋体" panose="02010600030101010101" pitchFamily="2" charset="-122"/>
              </a:rPr>
              <a:t>– is the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ratio of power output to input.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efficiency = </a:t>
            </a:r>
            <a:r>
              <a:rPr lang="en-US" altLang="zh-CN" sz="2800" i="1" dirty="0">
                <a:ea typeface="宋体" panose="02010600030101010101" pitchFamily="2" charset="-122"/>
              </a:rPr>
              <a:t>P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L</a:t>
            </a:r>
            <a:r>
              <a:rPr lang="en-US" altLang="zh-CN" sz="2800" dirty="0">
                <a:ea typeface="宋体" panose="02010600030101010101" pitchFamily="2" charset="-122"/>
              </a:rPr>
              <a:t> / (</a:t>
            </a:r>
            <a:r>
              <a:rPr lang="en-US" altLang="zh-CN" sz="2800" i="1" dirty="0">
                <a:ea typeface="宋体" panose="02010600030101010101" pitchFamily="2" charset="-122"/>
              </a:rPr>
              <a:t>P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i</a:t>
            </a:r>
            <a:r>
              <a:rPr lang="en-US" altLang="zh-CN" sz="2800" dirty="0">
                <a:ea typeface="宋体" panose="02010600030101010101" pitchFamily="2" charset="-122"/>
              </a:rPr>
              <a:t> + </a:t>
            </a:r>
            <a:r>
              <a:rPr lang="en-US" altLang="zh-CN" sz="2800" i="1" dirty="0" err="1">
                <a:ea typeface="宋体" panose="02010600030101010101" pitchFamily="2" charset="-122"/>
              </a:rPr>
              <a:t>P</a:t>
            </a:r>
            <a:r>
              <a:rPr lang="en-US" altLang="zh-CN" sz="2800" i="1" baseline="-25000" dirty="0" err="1">
                <a:ea typeface="宋体" panose="02010600030101010101" pitchFamily="2" charset="-122"/>
              </a:rPr>
              <a:t>dc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dirty="0">
                <a:ea typeface="宋体" panose="02010600030101010101" pitchFamily="2" charset="-122"/>
              </a:rPr>
              <a:t>因为</a:t>
            </a:r>
            <a:r>
              <a:rPr lang="en-US" altLang="zh-CN" sz="2800" b="1" dirty="0">
                <a:solidFill>
                  <a:srgbClr val="C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800" b="1" baseline="-25000" dirty="0">
                <a:solidFill>
                  <a:srgbClr val="C00000"/>
                </a:solidFill>
                <a:ea typeface="宋体" panose="02010600030101010101" pitchFamily="2" charset="-122"/>
              </a:rPr>
              <a:t>i</a:t>
            </a:r>
            <a:r>
              <a:rPr lang="zh-CN" altLang="en-US" sz="2800" b="1" dirty="0">
                <a:solidFill>
                  <a:srgbClr val="C00000"/>
                </a:solidFill>
                <a:ea typeface="宋体" panose="02010600030101010101" pitchFamily="2" charset="-122"/>
              </a:rPr>
              <a:t>往往非常小</a:t>
            </a:r>
            <a:r>
              <a:rPr lang="zh-CN" altLang="en-US" sz="2800" dirty="0">
                <a:ea typeface="宋体" panose="02010600030101010101" pitchFamily="2" charset="-122"/>
              </a:rPr>
              <a:t>，所以：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</p:txBody>
      </p:sp>
      <p:pic>
        <p:nvPicPr>
          <p:cNvPr id="48133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5230813"/>
            <a:ext cx="19939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4" name="矩形 2"/>
          <p:cNvSpPr>
            <a:spLocks noChangeArrowheads="1"/>
          </p:cNvSpPr>
          <p:nvPr/>
        </p:nvSpPr>
        <p:spPr bwMode="auto">
          <a:xfrm>
            <a:off x="4648200" y="5383213"/>
            <a:ext cx="4191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Efficiency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 = (Power delivered to the load)/(Power supplied to Amplifier).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058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027003"/>
            <a:ext cx="77725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432FF"/>
                </a:solidFill>
              </a:rPr>
              <a:t>s</a:t>
            </a:r>
            <a:r>
              <a:rPr lang="en-US" sz="2400" b="1" dirty="0">
                <a:solidFill>
                  <a:srgbClr val="0432FF"/>
                </a:solidFill>
              </a:rPr>
              <a:t>wing</a:t>
            </a:r>
            <a:r>
              <a:rPr lang="en-US" sz="1800" dirty="0"/>
              <a:t>: </a:t>
            </a:r>
            <a:r>
              <a:rPr lang="zh-CN" altLang="en-US" sz="1800" dirty="0"/>
              <a:t>电压摆幅</a:t>
            </a:r>
            <a:endParaRPr lang="en-US" altLang="zh-CN" sz="1800" dirty="0"/>
          </a:p>
          <a:p>
            <a:r>
              <a:rPr lang="en-US" altLang="zh-CN" sz="2400" b="1" dirty="0">
                <a:solidFill>
                  <a:srgbClr val="0432FF"/>
                </a:solidFill>
              </a:rPr>
              <a:t>rail</a:t>
            </a:r>
            <a:r>
              <a:rPr lang="en-US" altLang="zh-CN" sz="1800" dirty="0"/>
              <a:t>:</a:t>
            </a:r>
            <a:r>
              <a:rPr lang="zh-CN" altLang="en-US" sz="1800" dirty="0"/>
              <a:t> 电源轨； </a:t>
            </a:r>
            <a:r>
              <a:rPr lang="en-US" altLang="zh-CN" sz="2400" b="1" dirty="0">
                <a:solidFill>
                  <a:srgbClr val="0432FF"/>
                </a:solidFill>
              </a:rPr>
              <a:t>rail-to-rail</a:t>
            </a:r>
            <a:r>
              <a:rPr lang="en-US" altLang="zh-CN" sz="1800" dirty="0"/>
              <a:t>:</a:t>
            </a:r>
            <a:r>
              <a:rPr lang="zh-CN" altLang="en-US" sz="1800" dirty="0"/>
              <a:t> 轨到轨，输入</a:t>
            </a:r>
            <a:r>
              <a:rPr lang="en-US" altLang="zh-CN" sz="1800" dirty="0"/>
              <a:t>/</a:t>
            </a:r>
            <a:r>
              <a:rPr lang="zh-CN" altLang="en-US" sz="1800" dirty="0"/>
              <a:t>输出电压摆幅非常接近于电源轨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47800" y="838200"/>
            <a:ext cx="2635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1" dirty="0"/>
              <a:t>Positive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power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supply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rail</a:t>
            </a:r>
            <a:endParaRPr lang="en-US" sz="1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47800" y="4800600"/>
            <a:ext cx="2729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1" dirty="0"/>
              <a:t>Negative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power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supply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rail</a:t>
            </a:r>
            <a:endParaRPr lang="en-US" sz="1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715000" y="228600"/>
            <a:ext cx="2902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This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amp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is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not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rail-to-rail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0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50179" name="Rectangle 7"/>
          <p:cNvSpPr>
            <a:spLocks noChangeArrowheads="1"/>
          </p:cNvSpPr>
          <p:nvPr/>
        </p:nvSpPr>
        <p:spPr bwMode="auto">
          <a:xfrm>
            <a:off x="381000" y="2057400"/>
            <a:ext cx="3962400" cy="419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1.4.6.</a:t>
            </a:r>
            <a:r>
              <a:rPr lang="en-US" altLang="zh-CN" sz="3200">
                <a:ea typeface="宋体" panose="02010600030101010101" pitchFamily="2" charset="-122"/>
              </a:rPr>
              <a:t> Amplifier Power Supply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pic>
        <p:nvPicPr>
          <p:cNvPr id="1910788" name="Picture 4" descr="se01F1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012950"/>
            <a:ext cx="8534400" cy="370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10789" name="Text Box 2"/>
          <p:cNvSpPr txBox="1">
            <a:spLocks noChangeArrowheads="1"/>
          </p:cNvSpPr>
          <p:nvPr/>
        </p:nvSpPr>
        <p:spPr bwMode="auto">
          <a:xfrm>
            <a:off x="228600" y="5883275"/>
            <a:ext cx="8686800" cy="8223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MS PGothic" panose="020B0600070205080204" pitchFamily="34" charset="-128"/>
              </a:rPr>
              <a:t>Figure 1.13: </a:t>
            </a:r>
            <a:r>
              <a:rPr lang="en-US" altLang="zh-CN">
                <a:ea typeface="MS PGothic" panose="020B0600070205080204" pitchFamily="34" charset="-128"/>
              </a:rPr>
              <a:t>An amplifier that requires two dc supplies (shown as batteries) for operation.</a:t>
            </a:r>
            <a:endParaRPr lang="en-US" altLang="zh-CN">
              <a:ea typeface="MS PGothic" panose="020B0600070205080204" pitchFamily="34" charset="-128"/>
            </a:endParaRPr>
          </a:p>
        </p:txBody>
      </p:sp>
      <p:sp>
        <p:nvSpPr>
          <p:cNvPr id="50183" name="矩形 1"/>
          <p:cNvSpPr>
            <a:spLocks noChangeArrowheads="1"/>
          </p:cNvSpPr>
          <p:nvPr/>
        </p:nvSpPr>
        <p:spPr bwMode="auto">
          <a:xfrm>
            <a:off x="4340352" y="400050"/>
            <a:ext cx="45720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Symmetric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± power supplies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allow the inputs/outputs to swing symmetrically +/- and signals can approach the “rails”.  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7552" y="1329970"/>
            <a:ext cx="411480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0432FF"/>
                </a:solidFill>
              </a:rPr>
              <a:t>对称的正负电源供电，可以使输入输出信号以“</a:t>
            </a:r>
            <a:r>
              <a:rPr kumimoji="1" lang="en-US" altLang="zh-CN" sz="2000" dirty="0">
                <a:solidFill>
                  <a:srgbClr val="0432FF"/>
                </a:solidFill>
              </a:rPr>
              <a:t>0</a:t>
            </a:r>
            <a:r>
              <a:rPr kumimoji="1" lang="zh-CN" altLang="en-US" sz="2000" dirty="0">
                <a:solidFill>
                  <a:srgbClr val="0432FF"/>
                </a:solidFill>
              </a:rPr>
              <a:t> </a:t>
            </a:r>
            <a:r>
              <a:rPr kumimoji="1" lang="en-US" altLang="zh-CN" sz="2000" dirty="0">
                <a:solidFill>
                  <a:srgbClr val="0432FF"/>
                </a:solidFill>
              </a:rPr>
              <a:t>V</a:t>
            </a:r>
            <a:r>
              <a:rPr kumimoji="1" lang="zh-CN" altLang="en-US" sz="2000" dirty="0">
                <a:solidFill>
                  <a:srgbClr val="0432FF"/>
                </a:solidFill>
              </a:rPr>
              <a:t>”为基线呈对称摆幅</a:t>
            </a:r>
            <a:endParaRPr kumimoji="1" lang="zh-CN" altLang="en-US" sz="2000" dirty="0">
              <a:solidFill>
                <a:srgbClr val="0432FF"/>
              </a:solidFill>
            </a:endParaRPr>
          </a:p>
        </p:txBody>
      </p:sp>
      <p:sp>
        <p:nvSpPr>
          <p:cNvPr id="9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10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1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078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Oxford University Publishing</a:t>
            </a:r>
            <a:endParaRPr lang="en-US" altLang="zh-CN"/>
          </a:p>
          <a:p>
            <a:r>
              <a:rPr lang="en-US" altLang="zh-CN"/>
              <a:t>Microelectronic Circuits by Adel S. Sedra and Kenneth C. Smith (0195323033)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188396"/>
          </a:xfrm>
          <a:prstGeom prst="rect">
            <a:avLst/>
          </a:prstGeom>
        </p:spPr>
      </p:pic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88" y="2227650"/>
            <a:ext cx="3613150" cy="108298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622734"/>
            <a:ext cx="5715000" cy="41229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96516" y="4572141"/>
                <a:ext cx="3054234" cy="331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nor/>
                        </m:rPr>
                        <a:rPr kumimoji="1" lang="en-US" altLang="zh-CN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sz="2000" b="0" i="0" smtClean="0">
                          <a:latin typeface="Cambria Math" panose="02040503050406030204" pitchFamily="18" charset="0"/>
                        </a:rPr>
                        <m:t>dB</m:t>
                      </m:r>
                      <m:r>
                        <m:rPr>
                          <m:nor/>
                        </m:rPr>
                        <a:rPr kumimoji="1" lang="en-US" altLang="zh-CN" sz="2000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m:rPr>
                          <m:nor/>
                        </m:rPr>
                        <a:rPr kumimoji="1" lang="en-US" altLang="zh-CN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sz="2000">
                          <a:latin typeface="Cambria Math" panose="02040503050406030204" pitchFamily="18" charset="0"/>
                        </a:rPr>
                        <m:t>dB</m:t>
                      </m:r>
                      <m:r>
                        <m:rPr>
                          <m:nor/>
                        </m:rPr>
                        <a:rPr kumimoji="1" lang="en-US" altLang="zh-CN" sz="200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kumimoji="1" lang="en-US" altLang="zh-CN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sz="2000">
                          <a:latin typeface="Cambria Math" panose="02040503050406030204" pitchFamily="18" charset="0"/>
                        </a:rPr>
                        <m:t>dB</m:t>
                      </m:r>
                      <m:r>
                        <m:rPr>
                          <m:nor/>
                        </m:rPr>
                        <a:rPr kumimoji="1" lang="en-US" altLang="zh-CN" sz="20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16" y="4572141"/>
                <a:ext cx="3054234" cy="331437"/>
              </a:xfrm>
              <a:prstGeom prst="rect">
                <a:avLst/>
              </a:prstGeom>
              <a:blipFill rotWithShape="1">
                <a:blip r:embed="rId4"/>
                <a:stretch>
                  <a:fillRect l="-10" t="-43" r="-243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1263291" y="5049959"/>
            <a:ext cx="6585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432FF"/>
                </a:solidFill>
              </a:rPr>
              <a:t>Why?</a:t>
            </a:r>
            <a:endParaRPr kumimoji="1" lang="zh-CN" altLang="en-US" dirty="0">
              <a:solidFill>
                <a:srgbClr val="0432FF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16" y="5486363"/>
            <a:ext cx="2800582" cy="6552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1.4.7. </a:t>
            </a:r>
            <a:r>
              <a:rPr lang="en-US" altLang="zh-CN" sz="3200">
                <a:ea typeface="宋体" panose="02010600030101010101" pitchFamily="2" charset="-122"/>
              </a:rPr>
              <a:t>Amplifier Saturation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458200" cy="414496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limited linear range </a:t>
            </a:r>
            <a:r>
              <a:rPr lang="en-US" altLang="zh-CN" sz="2800" dirty="0">
                <a:ea typeface="宋体" panose="02010600030101010101" pitchFamily="2" charset="-122"/>
              </a:rPr>
              <a:t>– practically, amplifier operation is linear over a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limited input range</a:t>
            </a:r>
            <a:r>
              <a:rPr lang="en-US" altLang="zh-CN" sz="2800" dirty="0">
                <a:ea typeface="宋体" panose="02010600030101010101" pitchFamily="2" charset="-122"/>
              </a:rPr>
              <a:t>.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saturation</a:t>
            </a:r>
            <a:r>
              <a:rPr lang="en-US" altLang="zh-CN" sz="2800" b="1" dirty="0">
                <a:ea typeface="宋体" panose="02010600030101010101" pitchFamily="2" charset="-122"/>
              </a:rPr>
              <a:t> (</a:t>
            </a:r>
            <a:r>
              <a:rPr lang="zh-CN" altLang="en-US" b="1" dirty="0">
                <a:ea typeface="宋体" panose="02010600030101010101" pitchFamily="2" charset="-122"/>
              </a:rPr>
              <a:t>饱和</a:t>
            </a:r>
            <a:r>
              <a:rPr lang="en-US" altLang="zh-CN" sz="2800" b="1" dirty="0">
                <a:ea typeface="宋体" panose="02010600030101010101" pitchFamily="2" charset="-122"/>
              </a:rPr>
              <a:t>)</a:t>
            </a:r>
            <a:r>
              <a:rPr lang="en-US" altLang="zh-CN" sz="2800" dirty="0">
                <a:ea typeface="宋体" panose="02010600030101010101" pitchFamily="2" charset="-122"/>
              </a:rPr>
              <a:t>– beyond this range, saturation occurs.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output remains constant as input varies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graphicFrame>
        <p:nvGraphicFramePr>
          <p:cNvPr id="53253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443287" y="4524375"/>
          <a:ext cx="2257425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27127200" imgH="19812000" progId="Equation.DSMT4">
                  <p:embed/>
                </p:oleObj>
              </mc:Choice>
              <mc:Fallback>
                <p:oleObj name="Equation" r:id="rId1" imgW="27127200" imgH="19812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287" y="4524375"/>
                        <a:ext cx="2257425" cy="164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019800" y="4876800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800" dirty="0">
                <a:solidFill>
                  <a:srgbClr val="0432FF"/>
                </a:solidFill>
              </a:rPr>
              <a:t>输入范围 </a:t>
            </a:r>
            <a:r>
              <a:rPr kumimoji="1" lang="en-US" altLang="zh-CN" sz="1800" dirty="0">
                <a:solidFill>
                  <a:srgbClr val="0432FF"/>
                </a:solidFill>
              </a:rPr>
              <a:t>=</a:t>
            </a:r>
            <a:r>
              <a:rPr kumimoji="1" lang="zh-CN" altLang="en-US" sz="1800" dirty="0">
                <a:solidFill>
                  <a:srgbClr val="0432FF"/>
                </a:solidFill>
              </a:rPr>
              <a:t> 输出范围</a:t>
            </a:r>
            <a:r>
              <a:rPr kumimoji="1" lang="en-US" altLang="zh-CN" sz="1800" dirty="0">
                <a:solidFill>
                  <a:srgbClr val="0432FF"/>
                </a:solidFill>
              </a:rPr>
              <a:t>/</a:t>
            </a:r>
            <a:r>
              <a:rPr kumimoji="1" lang="zh-CN" altLang="en-US" sz="1800" dirty="0">
                <a:solidFill>
                  <a:srgbClr val="0432FF"/>
                </a:solidFill>
              </a:rPr>
              <a:t>增益</a:t>
            </a:r>
            <a:endParaRPr kumimoji="1" lang="en-US" altLang="zh-CN" sz="1800" dirty="0">
              <a:solidFill>
                <a:srgbClr val="0432FF"/>
              </a:solidFill>
            </a:endParaRPr>
          </a:p>
        </p:txBody>
      </p:sp>
      <p:sp>
        <p:nvSpPr>
          <p:cNvPr id="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1.4.7. </a:t>
            </a:r>
            <a:r>
              <a:rPr lang="en-US" altLang="zh-CN" sz="3200">
                <a:ea typeface="宋体" panose="02010600030101010101" pitchFamily="2" charset="-122"/>
              </a:rPr>
              <a:t>Amplifier Saturation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pic>
        <p:nvPicPr>
          <p:cNvPr id="55300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49400"/>
            <a:ext cx="5164138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1" name="文本框 4"/>
          <p:cNvSpPr txBox="1">
            <a:spLocks noChangeArrowheads="1"/>
          </p:cNvSpPr>
          <p:nvPr/>
        </p:nvSpPr>
        <p:spPr bwMode="auto">
          <a:xfrm>
            <a:off x="5257800" y="85344"/>
            <a:ext cx="3886200" cy="6863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In our previous work (LTI systems), the world was 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assumed to be linear 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so that “superposition” could be used. 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The 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real</a:t>
            </a:r>
            <a:r>
              <a:rPr lang="zh-CN" altLang="en-US" sz="2000" b="1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world is non-linear 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and we must learn to deal with it.  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/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We can always do a “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Small Signal Analysis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” where an </a:t>
            </a:r>
            <a:r>
              <a:rPr lang="en-US" altLang="zh-CN" sz="2000" b="1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assumption of linearity is still reasonably accurate.</a:t>
            </a:r>
            <a:endParaRPr lang="en-US" altLang="zh-CN" sz="2000" b="1" dirty="0">
              <a:solidFill>
                <a:srgbClr val="0432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The slope of the device operational curve(s) at the </a:t>
            </a:r>
            <a:r>
              <a:rPr lang="en-US" altLang="zh-CN" sz="2000" dirty="0">
                <a:highlight>
                  <a:srgbClr val="FF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Quiescent Point</a:t>
            </a:r>
            <a:r>
              <a:rPr lang="en-US" altLang="zh-CN" sz="2000" dirty="0">
                <a:highlight>
                  <a:srgbClr val="FF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” </a:t>
            </a:r>
            <a:r>
              <a:rPr lang="en-US" altLang="zh-CN" sz="2000" b="1" dirty="0">
                <a:solidFill>
                  <a:srgbClr val="00B050"/>
                </a:solidFill>
                <a:highlight>
                  <a:srgbClr val="FF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determines the small signal parameters</a:t>
            </a:r>
            <a:r>
              <a:rPr lang="en-US" altLang="zh-CN" sz="2000" dirty="0">
                <a:highlight>
                  <a:srgbClr val="FF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  <a:endParaRPr lang="en-US" altLang="zh-CN" sz="2000" dirty="0">
              <a:highlight>
                <a:srgbClr val="FFFF00"/>
              </a:highligh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/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This set of curves indicate that there would be “soft clipping” of the signal as the output signal approached the “rails”.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02363" y="2822545"/>
            <a:ext cx="980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Q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point</a:t>
            </a:r>
            <a:endParaRPr lang="en-US" sz="2000" b="1" dirty="0">
              <a:solidFill>
                <a:srgbClr val="FF0000"/>
              </a:solidFill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1981200" y="3124200"/>
            <a:ext cx="304800" cy="5365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TextBox 4"/>
          <p:cNvSpPr txBox="1"/>
          <p:nvPr/>
        </p:nvSpPr>
        <p:spPr>
          <a:xfrm>
            <a:off x="0" y="4828738"/>
            <a:ext cx="175830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</a:rPr>
              <a:t>输入在</a:t>
            </a:r>
            <a:r>
              <a:rPr lang="en-US" altLang="zh-CN" sz="1800" b="1" dirty="0">
                <a:solidFill>
                  <a:srgbClr val="FF0000"/>
                </a:solidFill>
              </a:rPr>
              <a:t>Q</a:t>
            </a:r>
            <a:r>
              <a:rPr lang="zh-CN" altLang="en-US" sz="1800" b="1" dirty="0">
                <a:solidFill>
                  <a:srgbClr val="FF0000"/>
                </a:solidFill>
              </a:rPr>
              <a:t>点附近摆动，</a:t>
            </a:r>
            <a:r>
              <a:rPr lang="en-US" altLang="zh-CN" dirty="0">
                <a:solidFill>
                  <a:srgbClr val="FF0000"/>
                </a:solidFill>
              </a:rPr>
              <a:t>①</a:t>
            </a:r>
            <a:r>
              <a:rPr lang="zh-CN" altLang="en-US" dirty="0">
                <a:solidFill>
                  <a:srgbClr val="FF0000"/>
                </a:solidFill>
              </a:rPr>
              <a:t>摆动比较小时，输出与输入为线性关系</a:t>
            </a:r>
            <a:endParaRPr lang="en-US" sz="1800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1645094" y="4986123"/>
            <a:ext cx="660934" cy="1763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2400300" y="6122399"/>
            <a:ext cx="3059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②</a:t>
            </a:r>
            <a:r>
              <a:rPr lang="zh-CN" altLang="en-US" dirty="0">
                <a:solidFill>
                  <a:srgbClr val="FF0000"/>
                </a:solidFill>
              </a:rPr>
              <a:t> 若摆动比较大，则</a:t>
            </a:r>
            <a:r>
              <a:rPr lang="zh-CN" altLang="en-US" b="1" dirty="0">
                <a:solidFill>
                  <a:srgbClr val="0432FF"/>
                </a:solidFill>
              </a:rPr>
              <a:t>线性关系不成立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 夹断、饱和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698" y="1832030"/>
            <a:ext cx="1815706" cy="101566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</a:rPr>
              <a:t>静态工作点</a:t>
            </a:r>
            <a:r>
              <a:rPr lang="en-US" altLang="zh-CN" sz="2000" dirty="0">
                <a:solidFill>
                  <a:srgbClr val="00B050"/>
                </a:solidFill>
              </a:rPr>
              <a:t>(Q)</a:t>
            </a:r>
            <a:r>
              <a:rPr lang="zh-CN" altLang="en-US" sz="2000" dirty="0">
                <a:solidFill>
                  <a:srgbClr val="00B050"/>
                </a:solidFill>
              </a:rPr>
              <a:t> </a:t>
            </a:r>
            <a:r>
              <a:rPr lang="en-US" altLang="zh-CN" sz="2000" dirty="0">
                <a:solidFill>
                  <a:srgbClr val="00B050"/>
                </a:solidFill>
              </a:rPr>
              <a:t>➕</a:t>
            </a:r>
            <a:r>
              <a:rPr lang="zh-CN" altLang="en-US" sz="2000" dirty="0">
                <a:solidFill>
                  <a:srgbClr val="00B050"/>
                </a:solidFill>
              </a:rPr>
              <a:t> 小信号分析</a:t>
            </a:r>
            <a:r>
              <a:rPr lang="en-US" altLang="zh-CN" sz="2000" dirty="0">
                <a:solidFill>
                  <a:srgbClr val="00B050"/>
                </a:solidFill>
              </a:rPr>
              <a:t>(</a:t>
            </a:r>
            <a:r>
              <a:rPr lang="zh-CN" altLang="en-US" sz="2000" dirty="0">
                <a:solidFill>
                  <a:srgbClr val="00B050"/>
                </a:solidFill>
              </a:rPr>
              <a:t>小幅摆动</a:t>
            </a:r>
            <a:r>
              <a:rPr lang="en-US" altLang="zh-CN" sz="2000" dirty="0">
                <a:solidFill>
                  <a:srgbClr val="00B050"/>
                </a:solidFill>
              </a:rPr>
              <a:t>)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3" name="椭圆 2"/>
          <p:cNvSpPr/>
          <p:nvPr/>
        </p:nvSpPr>
        <p:spPr bwMode="auto">
          <a:xfrm>
            <a:off x="3200400" y="5715000"/>
            <a:ext cx="838200" cy="457200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70628" y="1371600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输入输出特性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9" name="直线箭头连接符 8"/>
          <p:cNvCxnSpPr/>
          <p:nvPr/>
        </p:nvCxnSpPr>
        <p:spPr bwMode="auto">
          <a:xfrm flipH="1">
            <a:off x="4589462" y="1680832"/>
            <a:ext cx="335757" cy="85908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线连接符 11"/>
          <p:cNvCxnSpPr/>
          <p:nvPr/>
        </p:nvCxnSpPr>
        <p:spPr bwMode="auto">
          <a:xfrm>
            <a:off x="304800" y="4724400"/>
            <a:ext cx="1487857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线连接符 14"/>
          <p:cNvCxnSpPr/>
          <p:nvPr/>
        </p:nvCxnSpPr>
        <p:spPr bwMode="auto">
          <a:xfrm flipV="1">
            <a:off x="1792657" y="2667000"/>
            <a:ext cx="1026743" cy="205740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线连接符 16"/>
          <p:cNvCxnSpPr/>
          <p:nvPr/>
        </p:nvCxnSpPr>
        <p:spPr bwMode="auto">
          <a:xfrm>
            <a:off x="2819400" y="2655627"/>
            <a:ext cx="21336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椭圆 21"/>
          <p:cNvSpPr/>
          <p:nvPr/>
        </p:nvSpPr>
        <p:spPr bwMode="auto">
          <a:xfrm>
            <a:off x="4592638" y="3587500"/>
            <a:ext cx="665162" cy="466115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1950371" y="1562145"/>
            <a:ext cx="665162" cy="466115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0" y="1985"/>
            <a:ext cx="5164138" cy="1323439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/>
              <a:t>模电的核心</a:t>
            </a:r>
            <a:r>
              <a:rPr kumimoji="1" lang="zh-CN" altLang="en-US" sz="2000" dirty="0"/>
              <a:t>：输入输出在大范围呈</a:t>
            </a:r>
            <a:r>
              <a:rPr kumimoji="1" lang="zh-CN" altLang="en-US" sz="2000" dirty="0">
                <a:solidFill>
                  <a:srgbClr val="FF0000"/>
                </a:solidFill>
              </a:rPr>
              <a:t>非线性</a:t>
            </a:r>
            <a:r>
              <a:rPr kumimoji="1" lang="zh-CN" altLang="en-US" sz="2000" dirty="0"/>
              <a:t>关系，但</a:t>
            </a:r>
            <a:r>
              <a:rPr kumimoji="1" lang="zh-CN" altLang="en-US" sz="2000" dirty="0">
                <a:solidFill>
                  <a:srgbClr val="0432FF"/>
                </a:solidFill>
              </a:rPr>
              <a:t>局部某一点</a:t>
            </a:r>
            <a:r>
              <a:rPr kumimoji="1" lang="zh-CN" altLang="en-US" sz="2000" b="1" dirty="0">
                <a:solidFill>
                  <a:srgbClr val="00B050"/>
                </a:solidFill>
              </a:rPr>
              <a:t>（称为静态工作点）</a:t>
            </a:r>
            <a:r>
              <a:rPr kumimoji="1" lang="zh-CN" altLang="en-US" sz="2000" dirty="0"/>
              <a:t>附近的</a:t>
            </a:r>
            <a:r>
              <a:rPr kumimoji="1" lang="zh-CN" altLang="en-US" sz="2000" dirty="0">
                <a:solidFill>
                  <a:srgbClr val="0432FF"/>
                </a:solidFill>
              </a:rPr>
              <a:t>小范围</a:t>
            </a:r>
            <a:r>
              <a:rPr kumimoji="1" lang="zh-CN" altLang="en-US" sz="2000" dirty="0"/>
              <a:t>可以</a:t>
            </a:r>
            <a:r>
              <a:rPr kumimoji="1" lang="zh-CN" altLang="en-US" sz="2000" dirty="0">
                <a:solidFill>
                  <a:srgbClr val="FF0000"/>
                </a:solidFill>
              </a:rPr>
              <a:t>线性</a:t>
            </a:r>
            <a:r>
              <a:rPr kumimoji="1" lang="zh-CN" altLang="en-US" sz="2000" dirty="0"/>
              <a:t>近似</a:t>
            </a:r>
            <a:r>
              <a:rPr kumimoji="1" lang="zh-CN" altLang="en-US" sz="2000" b="1" dirty="0">
                <a:solidFill>
                  <a:srgbClr val="00B050"/>
                </a:solidFill>
              </a:rPr>
              <a:t>（称为动态小信号）</a:t>
            </a:r>
            <a:r>
              <a:rPr kumimoji="1" lang="zh-CN" altLang="en-US" sz="2000" dirty="0"/>
              <a:t>即 “</a:t>
            </a:r>
            <a:r>
              <a:rPr kumimoji="1" lang="zh-CN" altLang="en-US" sz="2000" b="1" dirty="0"/>
              <a:t>静态工作点</a:t>
            </a:r>
            <a:r>
              <a:rPr kumimoji="1" lang="en-US" altLang="zh-CN" sz="2000" b="1" dirty="0"/>
              <a:t>+</a:t>
            </a:r>
            <a:r>
              <a:rPr kumimoji="1" lang="zh-CN" altLang="en-US" sz="2000" b="1" dirty="0"/>
              <a:t>动态小信号” 的分析理念</a:t>
            </a:r>
            <a:endParaRPr kumimoji="1" lang="zh-CN" altLang="en-US" sz="2000" b="1" dirty="0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00"/>
            <a:ext cx="4408503" cy="44958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503" y="457200"/>
            <a:ext cx="4728491" cy="52578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849948" y="5928991"/>
            <a:ext cx="5256567" cy="40011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000" dirty="0"/>
              <a:t>施加在一个电阻上，转换成放大的输出电压</a:t>
            </a:r>
            <a:endParaRPr kumimoji="1" lang="zh-CN" altLang="en-US" sz="2000" dirty="0"/>
          </a:p>
        </p:txBody>
      </p:sp>
      <p:sp>
        <p:nvSpPr>
          <p:cNvPr id="9" name="文本框 8"/>
          <p:cNvSpPr txBox="1"/>
          <p:nvPr/>
        </p:nvSpPr>
        <p:spPr>
          <a:xfrm>
            <a:off x="1219200" y="440267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非线性的输入输出关系</a:t>
            </a:r>
            <a:endParaRPr kumimoji="1"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直线箭头连接符 10"/>
          <p:cNvCxnSpPr/>
          <p:nvPr/>
        </p:nvCxnSpPr>
        <p:spPr bwMode="auto">
          <a:xfrm>
            <a:off x="2204251" y="838200"/>
            <a:ext cx="234149" cy="990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文本框 11"/>
          <p:cNvSpPr txBox="1"/>
          <p:nvPr/>
        </p:nvSpPr>
        <p:spPr>
          <a:xfrm>
            <a:off x="3608696" y="1269502"/>
            <a:ext cx="11268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0432FF"/>
                </a:solidFill>
              </a:rPr>
              <a:t>静态工作点附近小范围内的线性近似</a:t>
            </a:r>
            <a:endParaRPr kumimoji="1" lang="zh-CN" altLang="en-US" b="1" dirty="0">
              <a:solidFill>
                <a:srgbClr val="0432FF"/>
              </a:solidFill>
            </a:endParaRPr>
          </a:p>
        </p:txBody>
      </p:sp>
      <p:cxnSp>
        <p:nvCxnSpPr>
          <p:cNvPr id="14" name="直线箭头连接符 13"/>
          <p:cNvCxnSpPr/>
          <p:nvPr/>
        </p:nvCxnSpPr>
        <p:spPr bwMode="auto">
          <a:xfrm flipH="1">
            <a:off x="2095500" y="1964379"/>
            <a:ext cx="1562100" cy="6066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432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文本框 16"/>
          <p:cNvSpPr txBox="1"/>
          <p:nvPr/>
        </p:nvSpPr>
        <p:spPr>
          <a:xfrm>
            <a:off x="403125" y="2013810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00B050"/>
                </a:solidFill>
              </a:rPr>
              <a:t>静态工作点</a:t>
            </a:r>
            <a:r>
              <a:rPr kumimoji="1" lang="en-US" altLang="zh-CN" b="1" dirty="0">
                <a:solidFill>
                  <a:srgbClr val="00B050"/>
                </a:solidFill>
              </a:rPr>
              <a:t>Q</a:t>
            </a:r>
            <a:endParaRPr kumimoji="1" lang="zh-CN" altLang="en-US" b="1" dirty="0">
              <a:solidFill>
                <a:srgbClr val="00B050"/>
              </a:solidFill>
            </a:endParaRPr>
          </a:p>
        </p:txBody>
      </p:sp>
      <p:cxnSp>
        <p:nvCxnSpPr>
          <p:cNvPr id="19" name="直线箭头连接符 18"/>
          <p:cNvCxnSpPr/>
          <p:nvPr/>
        </p:nvCxnSpPr>
        <p:spPr bwMode="auto">
          <a:xfrm>
            <a:off x="1344597" y="2267711"/>
            <a:ext cx="560403" cy="3795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文本框 19"/>
          <p:cNvSpPr txBox="1"/>
          <p:nvPr/>
        </p:nvSpPr>
        <p:spPr>
          <a:xfrm>
            <a:off x="792701" y="5458287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/>
              <a:t>更实际的一个例子</a:t>
            </a:r>
            <a:endParaRPr kumimoji="1" lang="zh-CN" altLang="en-US" sz="2800" b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符号规范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7347" name="内容占位符 3"/>
          <p:cNvSpPr>
            <a:spLocks noGrp="1"/>
          </p:cNvSpPr>
          <p:nvPr>
            <p:ph sz="half" idx="2"/>
          </p:nvPr>
        </p:nvSpPr>
        <p:spPr>
          <a:xfrm>
            <a:off x="6034088" y="2057400"/>
            <a:ext cx="2957512" cy="4038600"/>
          </a:xfrm>
        </p:spPr>
        <p:txBody>
          <a:bodyPr/>
          <a:lstStyle/>
          <a:p>
            <a:r>
              <a:rPr lang="zh-CN" altLang="en-US" sz="2000" dirty="0">
                <a:ea typeface="宋体" panose="02010600030101010101" pitchFamily="2" charset="-122"/>
              </a:rPr>
              <a:t>① 小写</a:t>
            </a:r>
            <a:r>
              <a:rPr lang="zh-CN" altLang="en-US" sz="2000" baseline="-25000" dirty="0">
                <a:ea typeface="宋体" panose="02010600030101010101" pitchFamily="2" charset="-122"/>
              </a:rPr>
              <a:t>大写</a:t>
            </a:r>
            <a:r>
              <a:rPr lang="zh-CN" altLang="en-US" sz="2000" dirty="0">
                <a:ea typeface="宋体" panose="02010600030101010101" pitchFamily="2" charset="-122"/>
              </a:rPr>
              <a:t>：瞬时总量</a:t>
            </a:r>
            <a:endParaRPr lang="en-US" altLang="zh-CN" sz="2000" dirty="0">
              <a:ea typeface="宋体" panose="02010600030101010101" pitchFamily="2" charset="-122"/>
            </a:endParaRPr>
          </a:p>
          <a:p>
            <a:endParaRPr lang="en-US" altLang="zh-CN" sz="2000" dirty="0">
              <a:ea typeface="宋体" panose="02010600030101010101" pitchFamily="2" charset="-122"/>
            </a:endParaRPr>
          </a:p>
          <a:p>
            <a:r>
              <a:rPr lang="zh-CN" altLang="en-US" sz="2000" dirty="0">
                <a:ea typeface="宋体" panose="02010600030101010101" pitchFamily="2" charset="-122"/>
              </a:rPr>
              <a:t>②大写</a:t>
            </a:r>
            <a:r>
              <a:rPr lang="zh-CN" altLang="en-US" sz="2000" baseline="-25000" dirty="0">
                <a:ea typeface="宋体" panose="02010600030101010101" pitchFamily="2" charset="-122"/>
              </a:rPr>
              <a:t>大写</a:t>
            </a:r>
            <a:r>
              <a:rPr lang="zh-CN" altLang="en-US" sz="2000" dirty="0">
                <a:ea typeface="宋体" panose="02010600030101010101" pitchFamily="2" charset="-122"/>
              </a:rPr>
              <a:t>：直流量</a:t>
            </a:r>
            <a:endParaRPr lang="en-US" altLang="zh-CN" sz="2000" dirty="0">
              <a:ea typeface="宋体" panose="02010600030101010101" pitchFamily="2" charset="-122"/>
            </a:endParaRPr>
          </a:p>
          <a:p>
            <a:endParaRPr lang="en-US" altLang="zh-CN" sz="2000" dirty="0">
              <a:ea typeface="宋体" panose="02010600030101010101" pitchFamily="2" charset="-122"/>
            </a:endParaRPr>
          </a:p>
          <a:p>
            <a:r>
              <a:rPr lang="zh-CN" altLang="en-US" sz="2000" dirty="0">
                <a:ea typeface="宋体" panose="02010600030101010101" pitchFamily="2" charset="-122"/>
              </a:rPr>
              <a:t>③小写</a:t>
            </a:r>
            <a:r>
              <a:rPr lang="zh-CN" altLang="en-US" sz="2000" baseline="-25000" dirty="0">
                <a:ea typeface="宋体" panose="02010600030101010101" pitchFamily="2" charset="-122"/>
              </a:rPr>
              <a:t>小写</a:t>
            </a:r>
            <a:r>
              <a:rPr lang="zh-CN" altLang="en-US" sz="2000" dirty="0">
                <a:ea typeface="宋体" panose="02010600030101010101" pitchFamily="2" charset="-122"/>
              </a:rPr>
              <a:t>：瞬时增量（交流量）</a:t>
            </a:r>
            <a:endParaRPr lang="en-US" altLang="zh-CN" sz="2000" dirty="0">
              <a:ea typeface="宋体" panose="02010600030101010101" pitchFamily="2" charset="-122"/>
            </a:endParaRPr>
          </a:p>
          <a:p>
            <a:endParaRPr lang="en-US" altLang="zh-CN" sz="2000" dirty="0">
              <a:ea typeface="宋体" panose="02010600030101010101" pitchFamily="2" charset="-122"/>
            </a:endParaRPr>
          </a:p>
          <a:p>
            <a:r>
              <a:rPr lang="zh-CN" altLang="en-US" sz="2000" dirty="0">
                <a:ea typeface="宋体" panose="02010600030101010101" pitchFamily="2" charset="-122"/>
              </a:rPr>
              <a:t>④大写</a:t>
            </a:r>
            <a:r>
              <a:rPr lang="zh-CN" altLang="en-US" sz="2000" baseline="-25000" dirty="0">
                <a:ea typeface="宋体" panose="02010600030101010101" pitchFamily="2" charset="-122"/>
              </a:rPr>
              <a:t>小写</a:t>
            </a:r>
            <a:r>
              <a:rPr lang="zh-CN" altLang="en-US" sz="2000" dirty="0">
                <a:ea typeface="宋体" panose="02010600030101010101" pitchFamily="2" charset="-122"/>
              </a:rPr>
              <a:t>：正弦量的幅度</a:t>
            </a:r>
            <a:endParaRPr lang="en-US" altLang="zh-CN" sz="2000" dirty="0">
              <a:ea typeface="宋体" panose="02010600030101010101" pitchFamily="2" charset="-122"/>
            </a:endParaRPr>
          </a:p>
          <a:p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57348" name="页脚占位符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endParaRPr lang="en-US" altLang="zh-CN" sz="1000"/>
          </a:p>
          <a:p>
            <a:pPr algn="ctr"/>
            <a:r>
              <a:rPr lang="en-US" altLang="zh-CN" sz="1000"/>
              <a:t>Oxford University Publishing</a:t>
            </a:r>
            <a:endParaRPr lang="en-US" altLang="zh-CN" sz="1000"/>
          </a:p>
          <a:p>
            <a:pPr algn="ctr"/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pic>
        <p:nvPicPr>
          <p:cNvPr id="57349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2030413"/>
            <a:ext cx="6032500" cy="401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03200"/>
            <a:ext cx="2857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1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084263"/>
            <a:ext cx="2527300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7352" name="直接连接符 10"/>
          <p:cNvCxnSpPr>
            <a:cxnSpLocks noChangeShapeType="1"/>
          </p:cNvCxnSpPr>
          <p:nvPr/>
        </p:nvCxnSpPr>
        <p:spPr bwMode="auto">
          <a:xfrm>
            <a:off x="5562600" y="1828800"/>
            <a:ext cx="33528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7086600" cy="1295400"/>
          </a:xfrm>
        </p:spPr>
        <p:txBody>
          <a:bodyPr/>
          <a:lstStyle/>
          <a:p>
            <a:pPr eaLnBrk="1" hangingPunct="1"/>
            <a:r>
              <a:rPr lang="en-US" altLang="zh-CN" sz="3200" b="0" dirty="0">
                <a:ea typeface="宋体" panose="02010600030101010101" pitchFamily="2" charset="-122"/>
              </a:rPr>
              <a:t>1.5. </a:t>
            </a:r>
            <a:r>
              <a:rPr lang="en-US" altLang="zh-CN" sz="3200" dirty="0">
                <a:ea typeface="宋体" panose="02010600030101010101" pitchFamily="2" charset="-122"/>
              </a:rPr>
              <a:t>Circuit Models for Amplifiers</a:t>
            </a:r>
            <a:r>
              <a:rPr lang="zh-CN" altLang="en-US" sz="3200" dirty="0">
                <a:ea typeface="宋体" panose="02010600030101010101" pitchFamily="2" charset="-122"/>
              </a:rPr>
              <a:t> 放大器的电路模型</a:t>
            </a:r>
            <a:endParaRPr lang="en-US" altLang="zh-CN" sz="3200" dirty="0">
              <a:ea typeface="宋体" panose="02010600030101010101" pitchFamily="2" charset="-122"/>
            </a:endParaRP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model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– is the description of component’s (e.g. amplifier)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terminal behavior</a:t>
            </a:r>
            <a:endParaRPr lang="en-US" altLang="zh-CN" sz="28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neglecting internal operation / transistor design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8600" y="3671114"/>
            <a:ext cx="8839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432FF"/>
                </a:solidFill>
              </a:rPr>
              <a:t>Modelling</a:t>
            </a:r>
            <a:r>
              <a:rPr lang="en-US" sz="2000" dirty="0"/>
              <a:t> </a:t>
            </a:r>
            <a:r>
              <a:rPr lang="en-US" sz="2400" dirty="0"/>
              <a:t>is about building </a:t>
            </a:r>
            <a:r>
              <a:rPr lang="en-US" sz="2400" dirty="0">
                <a:solidFill>
                  <a:srgbClr val="FF0000"/>
                </a:solidFill>
              </a:rPr>
              <a:t>representations</a:t>
            </a:r>
            <a:r>
              <a:rPr lang="en-US" sz="2400" dirty="0"/>
              <a:t> of things in the ‘real world’</a:t>
            </a:r>
            <a:r>
              <a:rPr lang="en-US" altLang="zh-CN" sz="2400" dirty="0"/>
              <a:t>,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it</a:t>
            </a:r>
            <a:r>
              <a:rPr lang="zh-CN" altLang="en-US" sz="2400" dirty="0"/>
              <a:t> </a:t>
            </a:r>
            <a:r>
              <a:rPr lang="en-US" altLang="zh-CN" sz="2400" dirty="0"/>
              <a:t>is a way of expressing a particular view of an </a:t>
            </a:r>
            <a:r>
              <a:rPr lang="en-US" altLang="zh-CN" sz="2400" dirty="0">
                <a:solidFill>
                  <a:srgbClr val="FF0000"/>
                </a:solidFill>
              </a:rPr>
              <a:t>identifiable</a:t>
            </a:r>
            <a:r>
              <a:rPr lang="en-US" altLang="zh-CN" sz="2400" dirty="0"/>
              <a:t> system of some kind.</a:t>
            </a:r>
            <a:r>
              <a:rPr lang="en-US" sz="2000" dirty="0"/>
              <a:t> </a:t>
            </a:r>
            <a:endParaRPr lang="en-US" sz="2000" dirty="0"/>
          </a:p>
          <a:p>
            <a:endParaRPr lang="en-US" sz="2000" dirty="0"/>
          </a:p>
          <a:p>
            <a:r>
              <a:rPr lang="zh-CN" altLang="en-US" sz="2000" b="1" dirty="0">
                <a:solidFill>
                  <a:srgbClr val="00B050"/>
                </a:solidFill>
              </a:rPr>
              <a:t>物理模型：</a:t>
            </a:r>
            <a:r>
              <a:rPr lang="zh-CN" altLang="en-US" sz="2000" dirty="0"/>
              <a:t>从器件的物理机理出发，推导出具有物理意义的</a:t>
            </a:r>
            <a:r>
              <a:rPr lang="zh-CN" altLang="en-US" sz="2000" dirty="0">
                <a:solidFill>
                  <a:srgbClr val="FF0000"/>
                </a:solidFill>
              </a:rPr>
              <a:t>数学表达式</a:t>
            </a:r>
            <a:r>
              <a:rPr lang="zh-CN" altLang="en-US" sz="2000" dirty="0"/>
              <a:t>，用来表征该器件的特性；</a:t>
            </a:r>
            <a:endParaRPr lang="en-US" altLang="zh-CN" sz="2000" dirty="0"/>
          </a:p>
          <a:p>
            <a:endParaRPr lang="en-US" sz="2000" dirty="0"/>
          </a:p>
          <a:p>
            <a:r>
              <a:rPr lang="zh-CN" altLang="en-US" sz="2000" b="1" dirty="0">
                <a:solidFill>
                  <a:srgbClr val="00B050"/>
                </a:solidFill>
              </a:rPr>
              <a:t>等效电路模型：</a:t>
            </a:r>
            <a:r>
              <a:rPr lang="zh-CN" altLang="en-US" sz="2000" dirty="0"/>
              <a:t>用</a:t>
            </a:r>
            <a:r>
              <a:rPr lang="zh-CN" altLang="en-US" sz="2000" dirty="0">
                <a:solidFill>
                  <a:srgbClr val="FF0000"/>
                </a:solidFill>
              </a:rPr>
              <a:t>电路</a:t>
            </a:r>
            <a:r>
              <a:rPr lang="zh-CN" altLang="en-US" sz="2000" dirty="0"/>
              <a:t>的形式来等效器件的特性，电路参数不一定要具有物理意义。</a:t>
            </a:r>
            <a:endParaRPr lang="en-US" sz="2000" dirty="0"/>
          </a:p>
        </p:txBody>
      </p:sp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15"/>
          <p:cNvSpPr>
            <a:spLocks noChangeArrowheads="1"/>
          </p:cNvSpPr>
          <p:nvPr/>
        </p:nvSpPr>
        <p:spPr bwMode="auto">
          <a:xfrm>
            <a:off x="609600" y="2133600"/>
            <a:ext cx="3581400" cy="434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 dirty="0">
              <a:ea typeface="宋体" panose="02010600030101010101" pitchFamily="2" charset="-122"/>
            </a:endParaRPr>
          </a:p>
        </p:txBody>
      </p:sp>
      <p:sp>
        <p:nvSpPr>
          <p:cNvPr id="59396" name="Rectangle 13"/>
          <p:cNvSpPr>
            <a:spLocks noChangeArrowheads="1"/>
          </p:cNvSpPr>
          <p:nvPr/>
        </p:nvSpPr>
        <p:spPr bwMode="auto">
          <a:xfrm>
            <a:off x="1066800" y="2667000"/>
            <a:ext cx="2514600" cy="2362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59397" name="Picture 5" descr="se01F1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78" r="2"/>
          <a:stretch>
            <a:fillRect/>
          </a:stretch>
        </p:blipFill>
        <p:spPr bwMode="auto">
          <a:xfrm>
            <a:off x="1471613" y="4038600"/>
            <a:ext cx="585787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1.5.1.</a:t>
            </a:r>
            <a:r>
              <a:rPr lang="en-US" altLang="zh-CN" sz="3200">
                <a:ea typeface="宋体" panose="02010600030101010101" pitchFamily="2" charset="-122"/>
              </a:rPr>
              <a:t> Voltage Amplifiers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graphicFrame>
        <p:nvGraphicFramePr>
          <p:cNvPr id="59399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52400" y="2057400"/>
          <a:ext cx="4013200" cy="198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53644800" imgH="26517600" progId="Equation.DSMT4">
                  <p:embed/>
                </p:oleObj>
              </mc:Choice>
              <mc:Fallback>
                <p:oleObj name="Equation" r:id="rId2" imgW="53644800" imgH="26517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057400"/>
                        <a:ext cx="4013200" cy="198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0" name="Object 8"/>
          <p:cNvGraphicFramePr>
            <a:graphicFrameLocks noChangeAspect="1"/>
          </p:cNvGraphicFramePr>
          <p:nvPr/>
        </p:nvGraphicFramePr>
        <p:xfrm>
          <a:off x="4495800" y="2057400"/>
          <a:ext cx="4506913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4" imgW="60045600" imgH="26517600" progId="Equation.DSMT4">
                  <p:embed/>
                </p:oleObj>
              </mc:Choice>
              <mc:Fallback>
                <p:oleObj name="Equation" r:id="rId4" imgW="60045600" imgH="26517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057400"/>
                        <a:ext cx="4506913" cy="199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8329" name="Line 9"/>
          <p:cNvSpPr>
            <a:spLocks noChangeShapeType="1"/>
          </p:cNvSpPr>
          <p:nvPr/>
        </p:nvSpPr>
        <p:spPr bwMode="auto">
          <a:xfrm>
            <a:off x="1905000" y="3048000"/>
            <a:ext cx="114300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8330" name="Line 10"/>
          <p:cNvSpPr>
            <a:spLocks noChangeShapeType="1"/>
          </p:cNvSpPr>
          <p:nvPr/>
        </p:nvSpPr>
        <p:spPr bwMode="auto">
          <a:xfrm>
            <a:off x="6477000" y="3048000"/>
            <a:ext cx="0" cy="1371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3" name="矩形 1"/>
          <p:cNvSpPr>
            <a:spLocks noChangeArrowheads="1"/>
          </p:cNvSpPr>
          <p:nvPr/>
        </p:nvSpPr>
        <p:spPr bwMode="auto">
          <a:xfrm>
            <a:off x="4724400" y="698500"/>
            <a:ext cx="457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This assumes linear behavior.  Amplifiers can exhibit non-linear behavior as well.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62682" y="5950253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800" dirty="0">
                <a:solidFill>
                  <a:srgbClr val="0432FF"/>
                </a:solidFill>
              </a:rPr>
              <a:t>电压</a:t>
            </a:r>
            <a:r>
              <a:rPr kumimoji="1" lang="zh-CN" altLang="en-US" sz="1800" dirty="0">
                <a:solidFill>
                  <a:srgbClr val="C00000"/>
                </a:solidFill>
              </a:rPr>
              <a:t>放大器输入端口等效模型</a:t>
            </a:r>
            <a:endParaRPr kumimoji="1" lang="zh-CN" altLang="en-US" sz="1800" dirty="0">
              <a:solidFill>
                <a:srgbClr val="C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029200" y="5950253"/>
            <a:ext cx="3296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800" dirty="0">
                <a:solidFill>
                  <a:srgbClr val="0432FF"/>
                </a:solidFill>
              </a:rPr>
              <a:t>电压</a:t>
            </a:r>
            <a:r>
              <a:rPr kumimoji="1" lang="zh-CN" altLang="en-US" sz="1800" dirty="0">
                <a:solidFill>
                  <a:srgbClr val="C00000"/>
                </a:solidFill>
              </a:rPr>
              <a:t>放大器输出端口等效模型</a:t>
            </a:r>
            <a:endParaRPr kumimoji="1" lang="zh-CN" altLang="en-US" sz="1800" dirty="0">
              <a:solidFill>
                <a:srgbClr val="C0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31356" y="6368534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800" dirty="0">
                <a:solidFill>
                  <a:srgbClr val="0432FF"/>
                </a:solidFill>
              </a:rPr>
              <a:t>输入端口看进去的等效电阻？</a:t>
            </a:r>
            <a:endParaRPr kumimoji="1" lang="zh-CN" altLang="en-US" sz="1800" dirty="0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53013" y="6368534"/>
            <a:ext cx="3296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800" dirty="0">
                <a:solidFill>
                  <a:srgbClr val="0432FF"/>
                </a:solidFill>
              </a:rPr>
              <a:t>输出端口看进去的等效电阻？</a:t>
            </a:r>
            <a:endParaRPr kumimoji="1" lang="zh-CN" altLang="en-US" sz="1800" dirty="0">
              <a:solidFill>
                <a:srgbClr val="C0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858342" y="6343430"/>
            <a:ext cx="344966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800" dirty="0">
                <a:solidFill>
                  <a:srgbClr val="0432FF"/>
                </a:solidFill>
              </a:rPr>
              <a:t>R</a:t>
            </a:r>
            <a:r>
              <a:rPr kumimoji="1" lang="en-US" altLang="zh-CN" sz="1800" baseline="-25000" dirty="0">
                <a:solidFill>
                  <a:srgbClr val="0432FF"/>
                </a:solidFill>
              </a:rPr>
              <a:t>i</a:t>
            </a:r>
            <a:endParaRPr kumimoji="1" lang="zh-CN" altLang="en-US" sz="1800" baseline="-25000" dirty="0">
              <a:solidFill>
                <a:srgbClr val="C0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204773" y="6292334"/>
            <a:ext cx="386709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800" dirty="0">
                <a:solidFill>
                  <a:srgbClr val="0432FF"/>
                </a:solidFill>
              </a:rPr>
              <a:t>R</a:t>
            </a:r>
            <a:r>
              <a:rPr kumimoji="1" lang="en-US" altLang="zh-CN" sz="1800" baseline="-25000" dirty="0">
                <a:solidFill>
                  <a:srgbClr val="0432FF"/>
                </a:solidFill>
              </a:rPr>
              <a:t>o</a:t>
            </a:r>
            <a:endParaRPr kumimoji="1" lang="zh-CN" altLang="en-US" sz="1800" baseline="-25000" dirty="0">
              <a:solidFill>
                <a:srgbClr val="C00000"/>
              </a:solidFill>
            </a:endParaRPr>
          </a:p>
        </p:txBody>
      </p:sp>
      <p:cxnSp>
        <p:nvCxnSpPr>
          <p:cNvPr id="5" name="直线箭头连接符 3"/>
          <p:cNvCxnSpPr>
            <a:endCxn id="17" idx="0"/>
          </p:cNvCxnSpPr>
          <p:nvPr/>
        </p:nvCxnSpPr>
        <p:spPr bwMode="auto">
          <a:xfrm flipH="1">
            <a:off x="8398128" y="5257800"/>
            <a:ext cx="193354" cy="10345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文本框 5"/>
          <p:cNvSpPr txBox="1"/>
          <p:nvPr/>
        </p:nvSpPr>
        <p:spPr>
          <a:xfrm>
            <a:off x="7472902" y="4881146"/>
            <a:ext cx="1671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00B050"/>
                </a:solidFill>
              </a:rPr>
              <a:t>Turn</a:t>
            </a:r>
            <a:r>
              <a:rPr kumimoji="1" lang="zh-CN" altLang="en-US" b="1" dirty="0">
                <a:solidFill>
                  <a:srgbClr val="00B050"/>
                </a:solidFill>
              </a:rPr>
              <a:t> </a:t>
            </a:r>
            <a:r>
              <a:rPr kumimoji="1" lang="en-US" altLang="zh-CN" b="1" dirty="0">
                <a:solidFill>
                  <a:srgbClr val="00B050"/>
                </a:solidFill>
              </a:rPr>
              <a:t>off</a:t>
            </a:r>
            <a:r>
              <a:rPr kumimoji="1" lang="zh-CN" altLang="en-US" b="1" dirty="0">
                <a:solidFill>
                  <a:srgbClr val="00B050"/>
                </a:solidFill>
              </a:rPr>
              <a:t> 独立源</a:t>
            </a:r>
            <a:r>
              <a:rPr kumimoji="1" lang="en-US" altLang="zh-CN" b="1" dirty="0">
                <a:solidFill>
                  <a:srgbClr val="00B050"/>
                </a:solidFill>
              </a:rPr>
              <a:t>v</a:t>
            </a:r>
            <a:r>
              <a:rPr kumimoji="1" lang="en-US" altLang="zh-CN" b="1" baseline="-25000" dirty="0">
                <a:solidFill>
                  <a:srgbClr val="00B050"/>
                </a:solidFill>
              </a:rPr>
              <a:t>s</a:t>
            </a:r>
            <a:endParaRPr kumimoji="1" lang="zh-CN" altLang="en-US" b="1" baseline="-25000" dirty="0">
              <a:solidFill>
                <a:srgbClr val="00B050"/>
              </a:solidFill>
            </a:endParaRPr>
          </a:p>
        </p:txBody>
      </p:sp>
      <p:sp>
        <p:nvSpPr>
          <p:cNvPr id="21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48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48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8483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4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1848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4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5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61443" name="Rectangle 14"/>
          <p:cNvSpPr>
            <a:spLocks noChangeArrowheads="1"/>
          </p:cNvSpPr>
          <p:nvPr/>
        </p:nvSpPr>
        <p:spPr bwMode="auto">
          <a:xfrm>
            <a:off x="304800" y="1981200"/>
            <a:ext cx="4038600" cy="4648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1.5.1.</a:t>
            </a:r>
            <a:r>
              <a:rPr lang="en-US" altLang="zh-CN" sz="3200">
                <a:ea typeface="宋体" panose="02010600030101010101" pitchFamily="2" charset="-122"/>
              </a:rPr>
              <a:t> Voltage Amplifiers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614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03438"/>
            <a:ext cx="8229600" cy="4144962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 </a:t>
            </a:r>
            <a:r>
              <a:rPr lang="en-US" altLang="zh-CN" sz="2800">
                <a:ea typeface="宋体" panose="02010600030101010101" pitchFamily="2" charset="-122"/>
              </a:rPr>
              <a:t>How can one model the amplifier behavior from previous slide?</a:t>
            </a:r>
            <a:endParaRPr lang="en-US" altLang="zh-CN" sz="2800" b="1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 b="1">
                <a:ea typeface="宋体" panose="02010600030101010101" pitchFamily="2" charset="-122"/>
              </a:rPr>
              <a:t> </a:t>
            </a:r>
            <a:r>
              <a:rPr lang="en-US" altLang="zh-CN" sz="2800">
                <a:ea typeface="宋体" panose="02010600030101010101" pitchFamily="2" charset="-122"/>
              </a:rPr>
              <a:t>Model which is function of: </a:t>
            </a:r>
            <a:r>
              <a:rPr lang="en-US" altLang="zh-CN" sz="2800" i="1">
                <a:solidFill>
                  <a:srgbClr val="3333FF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solidFill>
                  <a:srgbClr val="3333FF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>
                <a:solidFill>
                  <a:srgbClr val="3333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800" i="1">
                <a:solidFill>
                  <a:srgbClr val="3333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i="1" baseline="-25000">
                <a:solidFill>
                  <a:srgbClr val="3333FF"/>
                </a:solidFill>
                <a:ea typeface="宋体" panose="02010600030101010101" pitchFamily="2" charset="-122"/>
              </a:rPr>
              <a:t>vo</a:t>
            </a:r>
            <a:r>
              <a:rPr lang="en-US" altLang="zh-CN" sz="2800">
                <a:solidFill>
                  <a:srgbClr val="3333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800" i="1">
                <a:solidFill>
                  <a:srgbClr val="3333FF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800" i="1" baseline="-25000">
                <a:solidFill>
                  <a:srgbClr val="3333FF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800">
                <a:solidFill>
                  <a:srgbClr val="3333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800" i="1">
                <a:solidFill>
                  <a:srgbClr val="3333FF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800" i="1" baseline="-25000">
                <a:solidFill>
                  <a:srgbClr val="3333FF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>
                <a:solidFill>
                  <a:srgbClr val="3333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800" i="1">
                <a:solidFill>
                  <a:srgbClr val="3333FF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800" i="1" baseline="-25000">
                <a:solidFill>
                  <a:srgbClr val="3333FF"/>
                </a:solidFill>
                <a:ea typeface="宋体" panose="02010600030101010101" pitchFamily="2" charset="-122"/>
              </a:rPr>
              <a:t>o</a:t>
            </a:r>
            <a:r>
              <a:rPr lang="en-US" altLang="zh-CN" sz="2800">
                <a:solidFill>
                  <a:srgbClr val="3333FF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800" i="1">
                <a:solidFill>
                  <a:srgbClr val="3333FF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800" i="1" baseline="-25000">
                <a:solidFill>
                  <a:srgbClr val="3333FF"/>
                </a:solidFill>
                <a:ea typeface="宋体" panose="02010600030101010101" pitchFamily="2" charset="-122"/>
              </a:rPr>
              <a:t>L</a:t>
            </a:r>
            <a:endParaRPr lang="en-US" altLang="zh-CN" sz="2800" i="1" baseline="-25000">
              <a:solidFill>
                <a:srgbClr val="3333FF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 sz="2800">
              <a:solidFill>
                <a:srgbClr val="3333FF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 sz="280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61446" name="Rectangle 9"/>
          <p:cNvSpPr>
            <a:spLocks noChangeArrowheads="1"/>
          </p:cNvSpPr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graphicFrame>
        <p:nvGraphicFramePr>
          <p:cNvPr id="61447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458913" y="3810000"/>
          <a:ext cx="6161087" cy="271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74066400" imgH="32613600" progId="Equation.DSMT4">
                  <p:embed/>
                </p:oleObj>
              </mc:Choice>
              <mc:Fallback>
                <p:oleObj name="Equation" r:id="rId1" imgW="74066400" imgH="32613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3810000"/>
                        <a:ext cx="6161087" cy="2713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9356" name="Rectangle 12"/>
          <p:cNvSpPr>
            <a:spLocks noChangeArrowheads="1"/>
          </p:cNvSpPr>
          <p:nvPr/>
        </p:nvSpPr>
        <p:spPr bwMode="auto">
          <a:xfrm>
            <a:off x="1981200" y="3733800"/>
            <a:ext cx="3048000" cy="2819400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849357" name="Line 13"/>
          <p:cNvSpPr>
            <a:spLocks noChangeShapeType="1"/>
          </p:cNvSpPr>
          <p:nvPr/>
        </p:nvSpPr>
        <p:spPr bwMode="auto">
          <a:xfrm>
            <a:off x="5257800" y="5562600"/>
            <a:ext cx="2286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849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0"/>
                                        <p:tgtEl>
                                          <p:spTgt spid="1849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935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5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62467" name="Rectangle 9"/>
          <p:cNvSpPr>
            <a:spLocks noChangeArrowheads="1"/>
          </p:cNvSpPr>
          <p:nvPr/>
        </p:nvSpPr>
        <p:spPr bwMode="auto">
          <a:xfrm>
            <a:off x="609600" y="2057400"/>
            <a:ext cx="3810000" cy="4648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1.5.1.</a:t>
            </a:r>
            <a:r>
              <a:rPr lang="en-US" altLang="zh-CN" sz="3200">
                <a:ea typeface="宋体" panose="02010600030101010101" pitchFamily="2" charset="-122"/>
              </a:rPr>
              <a:t> Voltage Amplifiers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6246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03438"/>
            <a:ext cx="8229600" cy="4144962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Q: </a:t>
            </a:r>
            <a:r>
              <a:rPr lang="en-US" altLang="zh-CN" sz="2800" dirty="0">
                <a:ea typeface="宋体" panose="02010600030101010101" pitchFamily="2" charset="-122"/>
              </a:rPr>
              <a:t>What is one “problem” with this behavior?</a:t>
            </a:r>
            <a:endParaRPr lang="en-US" altLang="zh-CN" sz="2800" dirty="0">
              <a:solidFill>
                <a:schemeClr val="bg2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Gain (ratio of </a:t>
            </a:r>
            <a:r>
              <a:rPr lang="en-US" altLang="zh-CN" sz="2800" i="1" dirty="0" err="1">
                <a:ea typeface="宋体" panose="02010600030101010101" pitchFamily="2" charset="-122"/>
              </a:rPr>
              <a:t>v</a:t>
            </a:r>
            <a:r>
              <a:rPr lang="en-US" altLang="zh-CN" sz="2800" i="1" baseline="-25000" dirty="0" err="1">
                <a:ea typeface="宋体" panose="02010600030101010101" pitchFamily="2" charset="-122"/>
              </a:rPr>
              <a:t>o</a:t>
            </a:r>
            <a:r>
              <a:rPr lang="en-US" altLang="zh-CN" sz="2800" dirty="0">
                <a:ea typeface="宋体" panose="02010600030101010101" pitchFamily="2" charset="-122"/>
              </a:rPr>
              <a:t> and </a:t>
            </a:r>
            <a:r>
              <a:rPr lang="en-US" altLang="zh-CN" sz="2800" i="1" dirty="0">
                <a:ea typeface="宋体" panose="02010600030101010101" pitchFamily="2" charset="-122"/>
              </a:rPr>
              <a:t>v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s</a:t>
            </a:r>
            <a:r>
              <a:rPr lang="en-US" altLang="zh-CN" sz="2800" dirty="0">
                <a:ea typeface="宋体" panose="02010600030101010101" pitchFamily="2" charset="-122"/>
              </a:rPr>
              <a:t>) is not constant, and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dependent on input and load resistance.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电压增益受输入电阻</a:t>
            </a:r>
            <a:r>
              <a:rPr lang="en-US" altLang="zh-CN" b="1" dirty="0">
                <a:solidFill>
                  <a:srgbClr val="00B050"/>
                </a:solidFill>
                <a:ea typeface="宋体" panose="02010600030101010101" pitchFamily="2" charset="-122"/>
              </a:rPr>
              <a:t>R</a:t>
            </a:r>
            <a:r>
              <a:rPr lang="en-US" altLang="zh-CN" b="1" baseline="-25000" dirty="0">
                <a:solidFill>
                  <a:srgbClr val="00B050"/>
                </a:solidFill>
                <a:ea typeface="宋体" panose="02010600030101010101" pitchFamily="2" charset="-122"/>
              </a:rPr>
              <a:t>i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和输出电阻</a:t>
            </a:r>
            <a:r>
              <a:rPr lang="en-US" altLang="zh-CN" b="1" dirty="0">
                <a:solidFill>
                  <a:srgbClr val="00B050"/>
                </a:solidFill>
                <a:ea typeface="宋体" panose="02010600030101010101" pitchFamily="2" charset="-122"/>
              </a:rPr>
              <a:t>R</a:t>
            </a:r>
            <a:r>
              <a:rPr lang="en-US" altLang="zh-CN" b="1" baseline="-25000" dirty="0">
                <a:solidFill>
                  <a:srgbClr val="00B050"/>
                </a:solidFill>
                <a:ea typeface="宋体" panose="02010600030101010101" pitchFamily="2" charset="-122"/>
              </a:rPr>
              <a:t>o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的影响</a:t>
            </a:r>
            <a:endParaRPr lang="en-US" altLang="zh-CN" sz="2800" b="1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lvl="1" eaLnBrk="1" hangingPunct="1"/>
            <a:endParaRPr lang="en-US" altLang="zh-CN" sz="2800" i="1" baseline="-25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 sz="28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2470" name="Rectangle 4"/>
          <p:cNvSpPr>
            <a:spLocks noChangeArrowheads="1"/>
          </p:cNvSpPr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graphicFrame>
        <p:nvGraphicFramePr>
          <p:cNvPr id="62471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458913" y="3962400"/>
          <a:ext cx="6161087" cy="271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74066400" imgH="32613600" progId="Equation.DSMT4">
                  <p:embed/>
                </p:oleObj>
              </mc:Choice>
              <mc:Fallback>
                <p:oleObj name="Equation" r:id="rId1" imgW="74066400" imgH="32613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3962400"/>
                        <a:ext cx="6161087" cy="2713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2" name="Rectangle 6"/>
          <p:cNvSpPr>
            <a:spLocks noChangeArrowheads="1"/>
          </p:cNvSpPr>
          <p:nvPr/>
        </p:nvSpPr>
        <p:spPr bwMode="auto">
          <a:xfrm>
            <a:off x="1981200" y="3886200"/>
            <a:ext cx="3048000" cy="2819400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62473" name="Line 7"/>
          <p:cNvSpPr>
            <a:spLocks noChangeShapeType="1"/>
          </p:cNvSpPr>
          <p:nvPr/>
        </p:nvSpPr>
        <p:spPr bwMode="auto">
          <a:xfrm>
            <a:off x="6705600" y="5715000"/>
            <a:ext cx="228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64515" name="Rectangle 17"/>
          <p:cNvSpPr>
            <a:spLocks noChangeArrowheads="1"/>
          </p:cNvSpPr>
          <p:nvPr/>
        </p:nvSpPr>
        <p:spPr bwMode="auto">
          <a:xfrm>
            <a:off x="457200" y="1981200"/>
            <a:ext cx="3352800" cy="4648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64516" name="Rectangle 16"/>
          <p:cNvSpPr>
            <a:spLocks noChangeArrowheads="1"/>
          </p:cNvSpPr>
          <p:nvPr/>
        </p:nvSpPr>
        <p:spPr bwMode="auto">
          <a:xfrm>
            <a:off x="838200" y="2057400"/>
            <a:ext cx="2743200" cy="2819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645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1.5.1.</a:t>
            </a:r>
            <a:r>
              <a:rPr lang="en-US" altLang="zh-CN" sz="3200">
                <a:ea typeface="宋体" panose="02010600030101010101" pitchFamily="2" charset="-122"/>
              </a:rPr>
              <a:t> Voltage Amplifiers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6451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2057400"/>
            <a:ext cx="8763000" cy="40386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3333FF"/>
                </a:solidFill>
                <a:ea typeface="宋体" panose="02010600030101010101" pitchFamily="2" charset="-122"/>
              </a:rPr>
              <a:t>ideal amplifier model </a:t>
            </a:r>
            <a:r>
              <a:rPr lang="en-US" altLang="zh-CN" sz="2800">
                <a:ea typeface="宋体" panose="02010600030101010101" pitchFamily="2" charset="-122"/>
              </a:rPr>
              <a:t>– is function of </a:t>
            </a:r>
            <a:r>
              <a:rPr lang="en-US" altLang="zh-CN" sz="2800" i="1"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ea typeface="宋体" panose="02010600030101010101" pitchFamily="2" charset="-122"/>
              </a:rPr>
              <a:t>s</a:t>
            </a:r>
            <a:r>
              <a:rPr lang="en-US" altLang="zh-CN" sz="2800">
                <a:ea typeface="宋体" panose="02010600030101010101" pitchFamily="2" charset="-122"/>
              </a:rPr>
              <a:t> and </a:t>
            </a:r>
            <a:r>
              <a:rPr lang="en-US" altLang="zh-CN" sz="2800" i="1">
                <a:ea typeface="宋体" panose="02010600030101010101" pitchFamily="2" charset="-122"/>
              </a:rPr>
              <a:t>A</a:t>
            </a:r>
            <a:r>
              <a:rPr lang="en-US" altLang="zh-CN" sz="2800" i="1" baseline="-25000">
                <a:ea typeface="宋体" panose="02010600030101010101" pitchFamily="2" charset="-122"/>
              </a:rPr>
              <a:t>vo</a:t>
            </a:r>
            <a:r>
              <a:rPr lang="en-US" altLang="zh-CN" sz="2800">
                <a:solidFill>
                  <a:srgbClr val="A5002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only!!</a:t>
            </a:r>
            <a:endParaRPr lang="en-US" altLang="zh-CN" sz="28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>
                <a:ea typeface="宋体" panose="02010600030101010101" pitchFamily="2" charset="-122"/>
              </a:rPr>
              <a:t>It is assumed that 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i="1" baseline="-25000">
                <a:ea typeface="宋体" panose="02010600030101010101" pitchFamily="2" charset="-122"/>
              </a:rPr>
              <a:t>o</a:t>
            </a:r>
            <a:r>
              <a:rPr lang="en-US" altLang="zh-CN" sz="2800">
                <a:ea typeface="宋体" panose="02010600030101010101" pitchFamily="2" charset="-122"/>
              </a:rPr>
              <a:t> &lt;&lt; 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i="1" baseline="-25000">
                <a:ea typeface="宋体" panose="02010600030101010101" pitchFamily="2" charset="-122"/>
              </a:rPr>
              <a:t>L</a:t>
            </a:r>
            <a:r>
              <a:rPr lang="en-US" altLang="zh-CN" sz="2800" i="1">
                <a:ea typeface="宋体" panose="02010600030101010101" pitchFamily="2" charset="-122"/>
              </a:rPr>
              <a:t>…</a:t>
            </a:r>
            <a:endParaRPr lang="en-US" altLang="zh-CN" sz="2800" i="1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>
                <a:ea typeface="宋体" panose="02010600030101010101" pitchFamily="2" charset="-122"/>
              </a:rPr>
              <a:t>It is assumed that 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i="1" baseline="-25000">
                <a:ea typeface="宋体" panose="02010600030101010101" pitchFamily="2" charset="-122"/>
              </a:rPr>
              <a:t>s</a:t>
            </a:r>
            <a:r>
              <a:rPr lang="en-US" altLang="zh-CN" sz="2800">
                <a:ea typeface="宋体" panose="02010600030101010101" pitchFamily="2" charset="-122"/>
              </a:rPr>
              <a:t> &lt;&lt; 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i="1" baseline="-25000">
                <a:ea typeface="宋体" panose="02010600030101010101" pitchFamily="2" charset="-122"/>
              </a:rPr>
              <a:t>i</a:t>
            </a:r>
            <a:r>
              <a:rPr lang="en-US" altLang="zh-CN" sz="2800" i="1">
                <a:ea typeface="宋体" panose="02010600030101010101" pitchFamily="2" charset="-122"/>
              </a:rPr>
              <a:t>…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graphicFrame>
        <p:nvGraphicFramePr>
          <p:cNvPr id="64519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4495800" y="-1600200"/>
          <a:ext cx="3811588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46024800" imgH="14020800" progId="Equation.DSMT4">
                  <p:embed/>
                </p:oleObj>
              </mc:Choice>
              <mc:Fallback>
                <p:oleObj name="Equation" r:id="rId1" imgW="46024800" imgH="14020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-1600200"/>
                        <a:ext cx="3811588" cy="116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0376" name="Rectangle 8"/>
          <p:cNvSpPr>
            <a:spLocks noChangeArrowheads="1"/>
          </p:cNvSpPr>
          <p:nvPr/>
        </p:nvSpPr>
        <p:spPr bwMode="auto">
          <a:xfrm>
            <a:off x="5557838" y="4267200"/>
            <a:ext cx="685800" cy="609600"/>
          </a:xfrm>
          <a:prstGeom prst="rect">
            <a:avLst/>
          </a:prstGeom>
          <a:solidFill>
            <a:srgbClr val="B9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850377" name="Line 9"/>
          <p:cNvSpPr>
            <a:spLocks noChangeShapeType="1"/>
          </p:cNvSpPr>
          <p:nvPr/>
        </p:nvSpPr>
        <p:spPr bwMode="auto">
          <a:xfrm>
            <a:off x="5557838" y="472440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23" name="Group 1"/>
          <p:cNvGrpSpPr/>
          <p:nvPr/>
        </p:nvGrpSpPr>
        <p:grpSpPr bwMode="auto">
          <a:xfrm>
            <a:off x="838200" y="4140200"/>
            <a:ext cx="6934200" cy="1803400"/>
            <a:chOff x="838200" y="4140201"/>
            <a:chExt cx="6934200" cy="1803400"/>
          </a:xfrm>
        </p:grpSpPr>
        <p:pic>
          <p:nvPicPr>
            <p:cNvPr id="64527" name="Picture 5" descr="se01F1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547"/>
            <a:stretch>
              <a:fillRect/>
            </a:stretch>
          </p:blipFill>
          <p:spPr bwMode="auto">
            <a:xfrm>
              <a:off x="838200" y="4140201"/>
              <a:ext cx="6934200" cy="180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28" name="Rectangle 10"/>
            <p:cNvSpPr>
              <a:spLocks noChangeArrowheads="1"/>
            </p:cNvSpPr>
            <p:nvPr/>
          </p:nvSpPr>
          <p:spPr bwMode="auto">
            <a:xfrm>
              <a:off x="3619500" y="4572000"/>
              <a:ext cx="685800" cy="609600"/>
            </a:xfrm>
            <a:prstGeom prst="rect">
              <a:avLst/>
            </a:prstGeom>
            <a:solidFill>
              <a:srgbClr val="B9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endParaRPr lang="zh-CN" altLang="zh-CN" sz="1600">
                <a:ea typeface="宋体" panose="02010600030101010101" pitchFamily="2" charset="-122"/>
              </a:endParaRPr>
            </a:p>
          </p:txBody>
        </p:sp>
      </p:grpSp>
      <p:sp>
        <p:nvSpPr>
          <p:cNvPr id="1850380" name="Oval 12"/>
          <p:cNvSpPr>
            <a:spLocks noChangeArrowheads="1"/>
          </p:cNvSpPr>
          <p:nvPr/>
        </p:nvSpPr>
        <p:spPr bwMode="auto">
          <a:xfrm>
            <a:off x="3652838" y="5791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850381" name="Text Box 13"/>
          <p:cNvSpPr txBox="1">
            <a:spLocks noChangeArrowheads="1"/>
          </p:cNvSpPr>
          <p:nvPr/>
        </p:nvSpPr>
        <p:spPr bwMode="auto">
          <a:xfrm>
            <a:off x="228600" y="5679014"/>
            <a:ext cx="8686800" cy="1138773"/>
          </a:xfrm>
          <a:prstGeom prst="rect">
            <a:avLst/>
          </a:prstGeom>
          <a:solidFill>
            <a:srgbClr val="FFFF99"/>
          </a:solidFill>
          <a:ln w="76200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key characteristics of ideal voltage amplifier model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=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high input impedance, low output impedance</a:t>
            </a:r>
            <a:r>
              <a:rPr lang="zh-CN" altLang="en-US" sz="2000" b="1" dirty="0">
                <a:solidFill>
                  <a:srgbClr val="00B050"/>
                </a:solidFill>
                <a:ea typeface="宋体" panose="02010600030101010101" pitchFamily="2" charset="-122"/>
              </a:rPr>
              <a:t>理想电压放大器：输入电阻</a:t>
            </a:r>
            <a:r>
              <a:rPr lang="en-US" altLang="zh-CN" sz="2000" b="1" dirty="0">
                <a:solidFill>
                  <a:srgbClr val="00B050"/>
                </a:solidFill>
                <a:ea typeface="宋体" panose="02010600030101010101" pitchFamily="2" charset="-122"/>
              </a:rPr>
              <a:t>∞</a:t>
            </a:r>
            <a:r>
              <a:rPr lang="zh-CN" altLang="en-US" sz="2000" b="1" dirty="0">
                <a:solidFill>
                  <a:srgbClr val="00B050"/>
                </a:solidFill>
                <a:ea typeface="宋体" panose="02010600030101010101" pitchFamily="2" charset="-122"/>
              </a:rPr>
              <a:t>，输出电阻为</a:t>
            </a:r>
            <a:r>
              <a:rPr lang="en-US" altLang="zh-CN" sz="2000" b="1" dirty="0">
                <a:solidFill>
                  <a:srgbClr val="00B050"/>
                </a:solidFill>
                <a:ea typeface="宋体" panose="02010600030101010101" pitchFamily="2" charset="-122"/>
              </a:rPr>
              <a:t>0</a:t>
            </a:r>
            <a:endParaRPr lang="en-US" altLang="zh-CN" b="1" dirty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pic>
        <p:nvPicPr>
          <p:cNvPr id="3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2692400"/>
            <a:ext cx="1143000" cy="787400"/>
          </a:xfrm>
          <a:prstGeom prst="rect">
            <a:avLst/>
          </a:prstGeom>
        </p:spPr>
      </p:pic>
      <p:sp>
        <p:nvSpPr>
          <p:cNvPr id="4" name="TextBox 2"/>
          <p:cNvSpPr txBox="1"/>
          <p:nvPr/>
        </p:nvSpPr>
        <p:spPr>
          <a:xfrm>
            <a:off x="7315200" y="2759214"/>
            <a:ext cx="182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432FF"/>
                </a:solidFill>
              </a:rPr>
              <a:t>理想电压放大器</a:t>
            </a:r>
            <a:r>
              <a:rPr lang="zh-CN" altLang="en-US" sz="2000" dirty="0"/>
              <a:t>的电压增益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6238" y="4283202"/>
            <a:ext cx="889000" cy="393700"/>
          </a:xfrm>
          <a:prstGeom prst="rect">
            <a:avLst/>
          </a:prstGeom>
        </p:spPr>
      </p:pic>
      <p:sp>
        <p:nvSpPr>
          <p:cNvPr id="1850383" name="Text Box 15"/>
          <p:cNvSpPr txBox="1">
            <a:spLocks noChangeArrowheads="1"/>
          </p:cNvSpPr>
          <p:nvPr/>
        </p:nvSpPr>
        <p:spPr bwMode="auto">
          <a:xfrm>
            <a:off x="3048000" y="4114800"/>
            <a:ext cx="342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ideal model</a:t>
            </a:r>
            <a:endParaRPr lang="en-US" altLang="zh-CN" sz="28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50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50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50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50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1850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5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1850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5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1850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5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1850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5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50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50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50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850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1850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5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1850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5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1850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5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1000"/>
                                        <p:tgtEl>
                                          <p:spTgt spid="1850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5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4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850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850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4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850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4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50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5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1000"/>
                                        <p:tgtEl>
                                          <p:spTgt spid="1850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5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1000"/>
                                        <p:tgtEl>
                                          <p:spTgt spid="1850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5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5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1850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5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5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1850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5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6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850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850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6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850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6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850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850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0376" grpId="0" animBg="1"/>
      <p:bldP spid="1850376" grpId="1" animBg="1"/>
      <p:bldP spid="1850376" grpId="2" animBg="1"/>
      <p:bldP spid="1850376" grpId="3" animBg="1"/>
      <p:bldP spid="1850376" grpId="4" animBg="1"/>
      <p:bldP spid="1850376" grpId="5" animBg="1"/>
      <p:bldP spid="1850376" grpId="6" animBg="1"/>
      <p:bldP spid="1850380" grpId="0" animBg="1"/>
      <p:bldP spid="1850380" grpId="1" animBg="1"/>
      <p:bldP spid="1850380" grpId="2" animBg="1"/>
      <p:bldP spid="1850380" grpId="3" animBg="1"/>
      <p:bldP spid="1850380" grpId="4" animBg="1"/>
      <p:bldP spid="1850380" grpId="5" animBg="1"/>
      <p:bldP spid="1850380" grpId="6" animBg="1"/>
      <p:bldP spid="1850381" grpId="0" animBg="1"/>
      <p:bldP spid="1850383" grpId="0"/>
      <p:bldP spid="1850383" grpId="1"/>
      <p:bldP spid="1850383" grpId="2"/>
      <p:bldP spid="1850383" grpId="3"/>
      <p:bldP spid="1850383" grpId="4"/>
      <p:bldP spid="1850383" grpId="5"/>
      <p:bldP spid="1850383" grpId="6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66563" name="Rectangle 18"/>
          <p:cNvSpPr>
            <a:spLocks noChangeArrowheads="1"/>
          </p:cNvSpPr>
          <p:nvPr/>
        </p:nvSpPr>
        <p:spPr bwMode="auto">
          <a:xfrm>
            <a:off x="609600" y="2133600"/>
            <a:ext cx="2895600" cy="3657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66564" name="Rectangle 2"/>
          <p:cNvSpPr>
            <a:spLocks noChangeArrowheads="1"/>
          </p:cNvSpPr>
          <p:nvPr/>
        </p:nvSpPr>
        <p:spPr bwMode="auto">
          <a:xfrm>
            <a:off x="838200" y="2057400"/>
            <a:ext cx="2743200" cy="2819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6656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1.5.1.</a:t>
            </a:r>
            <a:r>
              <a:rPr lang="en-US" altLang="zh-CN" sz="3200">
                <a:ea typeface="宋体" panose="02010600030101010101" pitchFamily="2" charset="-122"/>
              </a:rPr>
              <a:t> Voltage Amplifiers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66566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2057400"/>
            <a:ext cx="8763000" cy="40386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3333FF"/>
                </a:solidFill>
                <a:ea typeface="宋体" panose="02010600030101010101" pitchFamily="2" charset="-122"/>
              </a:rPr>
              <a:t>ideal amplifier model </a:t>
            </a:r>
            <a:r>
              <a:rPr lang="en-US" altLang="zh-CN" sz="2800">
                <a:ea typeface="宋体" panose="02010600030101010101" pitchFamily="2" charset="-122"/>
              </a:rPr>
              <a:t>– is function of </a:t>
            </a:r>
            <a:r>
              <a:rPr lang="en-US" altLang="zh-CN" sz="2800" i="1"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ea typeface="宋体" panose="02010600030101010101" pitchFamily="2" charset="-122"/>
              </a:rPr>
              <a:t>s</a:t>
            </a:r>
            <a:r>
              <a:rPr lang="en-US" altLang="zh-CN" sz="2800">
                <a:ea typeface="宋体" panose="02010600030101010101" pitchFamily="2" charset="-122"/>
              </a:rPr>
              <a:t> and </a:t>
            </a:r>
            <a:r>
              <a:rPr lang="en-US" altLang="zh-CN" sz="2800" i="1">
                <a:ea typeface="宋体" panose="02010600030101010101" pitchFamily="2" charset="-122"/>
              </a:rPr>
              <a:t>A</a:t>
            </a:r>
            <a:r>
              <a:rPr lang="en-US" altLang="zh-CN" sz="2800" i="1" baseline="-25000">
                <a:ea typeface="宋体" panose="02010600030101010101" pitchFamily="2" charset="-122"/>
              </a:rPr>
              <a:t>vo</a:t>
            </a:r>
            <a:r>
              <a:rPr lang="en-US" altLang="zh-CN" sz="2800">
                <a:solidFill>
                  <a:srgbClr val="A5002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only!!</a:t>
            </a:r>
            <a:endParaRPr lang="en-US" altLang="zh-CN" sz="28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>
                <a:ea typeface="宋体" panose="02010600030101010101" pitchFamily="2" charset="-122"/>
              </a:rPr>
              <a:t>It is assumed that 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i="1" baseline="-25000">
                <a:ea typeface="宋体" panose="02010600030101010101" pitchFamily="2" charset="-122"/>
              </a:rPr>
              <a:t>o</a:t>
            </a:r>
            <a:r>
              <a:rPr lang="en-US" altLang="zh-CN" sz="2800">
                <a:ea typeface="宋体" panose="02010600030101010101" pitchFamily="2" charset="-122"/>
              </a:rPr>
              <a:t> &lt;&lt; 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i="1" baseline="-25000">
                <a:ea typeface="宋体" panose="02010600030101010101" pitchFamily="2" charset="-122"/>
              </a:rPr>
              <a:t>L</a:t>
            </a:r>
            <a:r>
              <a:rPr lang="en-US" altLang="zh-CN" sz="2800" i="1">
                <a:ea typeface="宋体" panose="02010600030101010101" pitchFamily="2" charset="-122"/>
              </a:rPr>
              <a:t>…</a:t>
            </a:r>
            <a:endParaRPr lang="en-US" altLang="zh-CN" sz="2800" i="1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>
                <a:ea typeface="宋体" panose="02010600030101010101" pitchFamily="2" charset="-122"/>
              </a:rPr>
              <a:t>It is assumed that 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i="1" baseline="-25000">
                <a:ea typeface="宋体" panose="02010600030101010101" pitchFamily="2" charset="-122"/>
              </a:rPr>
              <a:t>s</a:t>
            </a:r>
            <a:r>
              <a:rPr lang="en-US" altLang="zh-CN" sz="2800">
                <a:ea typeface="宋体" panose="02010600030101010101" pitchFamily="2" charset="-122"/>
              </a:rPr>
              <a:t> &lt;&lt; 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i="1" baseline="-25000">
                <a:ea typeface="宋体" panose="02010600030101010101" pitchFamily="2" charset="-122"/>
              </a:rPr>
              <a:t>i</a:t>
            </a:r>
            <a:r>
              <a:rPr lang="en-US" altLang="zh-CN" sz="2800" i="1">
                <a:ea typeface="宋体" panose="02010600030101010101" pitchFamily="2" charset="-122"/>
              </a:rPr>
              <a:t>…</a:t>
            </a:r>
            <a:endParaRPr lang="en-US" altLang="zh-CN" sz="2800" i="1">
              <a:ea typeface="宋体" panose="02010600030101010101" pitchFamily="2" charset="-122"/>
            </a:endParaRPr>
          </a:p>
          <a:p>
            <a:pPr lvl="1" eaLnBrk="1" hangingPunct="1"/>
            <a:endParaRPr lang="en-US" altLang="zh-CN" sz="2800">
              <a:ea typeface="宋体" panose="02010600030101010101" pitchFamily="2" charset="-122"/>
            </a:endParaRPr>
          </a:p>
        </p:txBody>
      </p:sp>
      <p:graphicFrame>
        <p:nvGraphicFramePr>
          <p:cNvPr id="66567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2393950" y="3684588"/>
          <a:ext cx="4387850" cy="1344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52730400" imgH="16154400" progId="Equation.DSMT4">
                  <p:embed/>
                </p:oleObj>
              </mc:Choice>
              <mc:Fallback>
                <p:oleObj name="Equation" r:id="rId1" imgW="52730400" imgH="16154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3684588"/>
                        <a:ext cx="4387850" cy="1344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8" name="Text Box 17"/>
          <p:cNvSpPr txBox="1">
            <a:spLocks noChangeArrowheads="1"/>
          </p:cNvSpPr>
          <p:nvPr/>
        </p:nvSpPr>
        <p:spPr bwMode="auto">
          <a:xfrm>
            <a:off x="228600" y="5807075"/>
            <a:ext cx="8686800" cy="898525"/>
          </a:xfrm>
          <a:prstGeom prst="rect">
            <a:avLst/>
          </a:prstGeom>
          <a:solidFill>
            <a:srgbClr val="FFFF99"/>
          </a:solidFill>
          <a:ln w="76200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key characteristics of ideal voltage amplifier model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=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source resistance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i="1" baseline="-25000">
                <a:solidFill>
                  <a:srgbClr val="FF0000"/>
                </a:solidFill>
                <a:ea typeface="宋体" panose="02010600030101010101" pitchFamily="2" charset="-122"/>
              </a:rPr>
              <a:t>S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 and load resistance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i="1" baseline="-25000">
                <a:solidFill>
                  <a:srgbClr val="FF0000"/>
                </a:solidFill>
                <a:ea typeface="宋体" panose="02010600030101010101" pitchFamily="2" charset="-122"/>
              </a:rPr>
              <a:t>L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 have no effect on gain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Buffer amplifier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缓冲放大器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7588" name="Rectangle 15"/>
          <p:cNvSpPr>
            <a:spLocks noChangeArrowheads="1"/>
          </p:cNvSpPr>
          <p:nvPr/>
        </p:nvSpPr>
        <p:spPr bwMode="auto">
          <a:xfrm>
            <a:off x="609600" y="2133600"/>
            <a:ext cx="3581400" cy="434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67589" name="Rectangle 13"/>
          <p:cNvSpPr>
            <a:spLocks noChangeArrowheads="1"/>
          </p:cNvSpPr>
          <p:nvPr/>
        </p:nvSpPr>
        <p:spPr bwMode="auto">
          <a:xfrm>
            <a:off x="1066800" y="2667000"/>
            <a:ext cx="2514600" cy="2362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67590" name="Picture 5" descr="se01F1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78" r="2"/>
          <a:stretch>
            <a:fillRect/>
          </a:stretch>
        </p:blipFill>
        <p:spPr bwMode="auto">
          <a:xfrm>
            <a:off x="1471613" y="4038600"/>
            <a:ext cx="585787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7591" name="Object 7"/>
          <p:cNvGraphicFramePr>
            <a:graphicFrameLocks noChangeAspect="1"/>
          </p:cNvGraphicFramePr>
          <p:nvPr/>
        </p:nvGraphicFramePr>
        <p:xfrm>
          <a:off x="152400" y="2057400"/>
          <a:ext cx="4013200" cy="198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53644800" imgH="26517600" progId="Equation.DSMT4">
                  <p:embed/>
                </p:oleObj>
              </mc:Choice>
              <mc:Fallback>
                <p:oleObj name="Equation" r:id="rId2" imgW="53644800" imgH="26517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057400"/>
                        <a:ext cx="4013200" cy="198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2" name="Object 8"/>
          <p:cNvGraphicFramePr>
            <a:graphicFrameLocks noChangeAspect="1"/>
          </p:cNvGraphicFramePr>
          <p:nvPr/>
        </p:nvGraphicFramePr>
        <p:xfrm>
          <a:off x="4495800" y="2057400"/>
          <a:ext cx="4506913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4" imgW="60045600" imgH="26517600" progId="Equation.DSMT4">
                  <p:embed/>
                </p:oleObj>
              </mc:Choice>
              <mc:Fallback>
                <p:oleObj name="Equation" r:id="rId4" imgW="60045600" imgH="26517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057400"/>
                        <a:ext cx="4506913" cy="199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1905000" y="3048000"/>
            <a:ext cx="114300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>
            <a:off x="6477000" y="3048000"/>
            <a:ext cx="0" cy="1371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5" name="文本框 12"/>
          <p:cNvSpPr txBox="1">
            <a:spLocks noChangeArrowheads="1"/>
          </p:cNvSpPr>
          <p:nvPr/>
        </p:nvSpPr>
        <p:spPr bwMode="auto">
          <a:xfrm>
            <a:off x="4314825" y="84138"/>
            <a:ext cx="4687888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/>
            <a:r>
              <a:rPr lang="zh-CN" altLang="en-US" sz="2000" b="1" dirty="0">
                <a:solidFill>
                  <a:srgbClr val="0432FF"/>
                </a:solidFill>
                <a:ea typeface="宋体" panose="02010600030101010101" pitchFamily="2" charset="-122"/>
              </a:rPr>
              <a:t>如果</a:t>
            </a:r>
            <a:r>
              <a:rPr lang="en-US" altLang="zh-CN" sz="2000" b="1" dirty="0">
                <a:solidFill>
                  <a:srgbClr val="0432FF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000" b="1" baseline="-25000" dirty="0">
                <a:solidFill>
                  <a:srgbClr val="0432FF"/>
                </a:solidFill>
                <a:ea typeface="宋体" panose="02010600030101010101" pitchFamily="2" charset="-122"/>
              </a:rPr>
              <a:t>L</a:t>
            </a:r>
            <a:r>
              <a:rPr lang="zh-CN" altLang="en-US" sz="2000" b="1" dirty="0">
                <a:solidFill>
                  <a:srgbClr val="0432FF"/>
                </a:solidFill>
                <a:ea typeface="宋体" panose="02010600030101010101" pitchFamily="2" charset="-122"/>
              </a:rPr>
              <a:t>较小，而信号的</a:t>
            </a:r>
            <a:r>
              <a:rPr lang="en-US" altLang="zh-CN" sz="2000" b="1" dirty="0">
                <a:solidFill>
                  <a:srgbClr val="0432FF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000" b="1" baseline="-25000" dirty="0">
                <a:solidFill>
                  <a:srgbClr val="0432FF"/>
                </a:solidFill>
                <a:ea typeface="宋体" panose="02010600030101010101" pitchFamily="2" charset="-122"/>
              </a:rPr>
              <a:t>s</a:t>
            </a:r>
            <a:r>
              <a:rPr lang="zh-CN" altLang="en-US" sz="2000" b="1" dirty="0">
                <a:solidFill>
                  <a:srgbClr val="0432FF"/>
                </a:solidFill>
                <a:ea typeface="宋体" panose="02010600030101010101" pitchFamily="2" charset="-122"/>
              </a:rPr>
              <a:t>较大，则不能直接将两者相连（直接驱动）</a:t>
            </a:r>
            <a:r>
              <a:rPr lang="zh-CN" altLang="en-US" sz="2000" dirty="0"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rgbClr val="0432FF"/>
                </a:solidFill>
                <a:ea typeface="宋体" panose="02010600030101010101" pitchFamily="2" charset="-122"/>
              </a:rPr>
              <a:t>Why</a:t>
            </a:r>
            <a:r>
              <a:rPr lang="zh-CN" altLang="en-US" sz="2000" dirty="0">
                <a:solidFill>
                  <a:srgbClr val="0432FF"/>
                </a:solidFill>
                <a:ea typeface="宋体" panose="02010600030101010101" pitchFamily="2" charset="-122"/>
              </a:rPr>
              <a:t>？</a:t>
            </a:r>
            <a:endParaRPr lang="en-US" altLang="zh-CN" sz="2000" dirty="0">
              <a:solidFill>
                <a:srgbClr val="0432FF"/>
              </a:solidFill>
              <a:ea typeface="宋体" panose="02010600030101010101" pitchFamily="2" charset="-122"/>
            </a:endParaRPr>
          </a:p>
          <a:p>
            <a:pPr algn="l" eaLnBrk="1" hangingPunct="1"/>
            <a:endParaRPr lang="en-US" altLang="zh-CN" sz="2000" dirty="0">
              <a:ea typeface="宋体" panose="02010600030101010101" pitchFamily="2" charset="-122"/>
            </a:endParaRPr>
          </a:p>
          <a:p>
            <a:pPr algn="l" eaLnBrk="1" hangingPunct="1"/>
            <a:r>
              <a:rPr lang="zh-CN" altLang="en-US" sz="2000" dirty="0">
                <a:ea typeface="宋体" panose="02010600030101010101" pitchFamily="2" charset="-122"/>
              </a:rPr>
              <a:t>我们可以插入一个 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buffer amplifier</a:t>
            </a:r>
            <a:r>
              <a:rPr lang="zh-CN" altLang="en-US" sz="2000" dirty="0">
                <a:ea typeface="宋体" panose="02010600030101010101" pitchFamily="2" charset="-122"/>
              </a:rPr>
              <a:t>，其输入阻抗</a:t>
            </a:r>
            <a:r>
              <a:rPr lang="en-US" altLang="zh-CN" sz="2000" dirty="0">
                <a:ea typeface="宋体" panose="02010600030101010101" pitchFamily="2" charset="-122"/>
              </a:rPr>
              <a:t>=</a:t>
            </a:r>
            <a:r>
              <a:rPr lang="zh-CN" altLang="en-US" sz="2000" dirty="0">
                <a:ea typeface="宋体" panose="02010600030101010101" pitchFamily="2" charset="-122"/>
              </a:rPr>
              <a:t>∞；输出阻抗</a:t>
            </a:r>
            <a:r>
              <a:rPr lang="en-US" altLang="zh-CN" sz="2000" dirty="0">
                <a:ea typeface="宋体" panose="02010600030101010101" pitchFamily="2" charset="-122"/>
              </a:rPr>
              <a:t>=0</a:t>
            </a:r>
            <a:r>
              <a:rPr lang="zh-CN" altLang="en-US" sz="2000" dirty="0">
                <a:ea typeface="宋体" panose="02010600030101010101" pitchFamily="2" charset="-122"/>
              </a:rPr>
              <a:t>，而增益</a:t>
            </a:r>
            <a:r>
              <a:rPr lang="en-US" altLang="zh-CN" sz="2000" dirty="0">
                <a:ea typeface="宋体" panose="02010600030101010101" pitchFamily="2" charset="-122"/>
              </a:rPr>
              <a:t>Av</a:t>
            </a:r>
            <a:r>
              <a:rPr lang="zh-CN" altLang="en-US" sz="2000" dirty="0">
                <a:ea typeface="宋体" panose="02010600030101010101" pitchFamily="2" charset="-122"/>
              </a:rPr>
              <a:t>并不作要求。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algn="l" eaLnBrk="1" hangingPunct="1"/>
            <a:endParaRPr lang="zh-CN" altLang="en-US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4343400" cy="1295400"/>
          </a:xfrm>
        </p:spPr>
        <p:txBody>
          <a:bodyPr/>
          <a:lstStyle/>
          <a:p>
            <a:pPr eaLnBrk="1" hangingPunct="1"/>
            <a:r>
              <a:rPr lang="en-US" altLang="zh-CN" sz="3200" b="0" dirty="0">
                <a:ea typeface="宋体" panose="02010600030101010101" pitchFamily="2" charset="-122"/>
              </a:rPr>
              <a:t>1.5.2.</a:t>
            </a:r>
            <a:r>
              <a:rPr lang="en-US" altLang="zh-CN" sz="3200" dirty="0">
                <a:ea typeface="宋体" panose="02010600030101010101" pitchFamily="2" charset="-122"/>
              </a:rPr>
              <a:t> Cascaded Amplifiers</a:t>
            </a:r>
            <a:r>
              <a:rPr lang="zh-CN" altLang="en-US" sz="3200" dirty="0">
                <a:ea typeface="宋体" panose="02010600030101010101" pitchFamily="2" charset="-122"/>
              </a:rPr>
              <a:t> 放大器级联</a:t>
            </a:r>
            <a:endParaRPr lang="en-US" altLang="zh-CN" sz="3200" dirty="0">
              <a:ea typeface="宋体" panose="02010600030101010101" pitchFamily="2" charset="-122"/>
            </a:endParaRPr>
          </a:p>
        </p:txBody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In real life,</a:t>
            </a:r>
            <a:r>
              <a:rPr lang="en-US" altLang="zh-CN" sz="2800" dirty="0">
                <a:ea typeface="宋体" panose="02010600030101010101" pitchFamily="2" charset="-122"/>
              </a:rPr>
              <a:t> an amplifier is not ideal and will not have infinite input impedance or zero output impedance.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实际情况，输入阻抗可能不是</a:t>
            </a:r>
            <a:r>
              <a:rPr lang="en-US" altLang="zh-CN" b="1" dirty="0">
                <a:solidFill>
                  <a:srgbClr val="00B050"/>
                </a:solidFill>
                <a:ea typeface="宋体" panose="02010600030101010101" pitchFamily="2" charset="-122"/>
              </a:rPr>
              <a:t>∞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，输出阻抗也可能不是</a:t>
            </a:r>
            <a:r>
              <a:rPr lang="en-US" altLang="zh-CN" b="1" dirty="0">
                <a:solidFill>
                  <a:srgbClr val="00B050"/>
                </a:solidFill>
                <a:ea typeface="宋体" panose="02010600030101010101" pitchFamily="2" charset="-122"/>
              </a:rPr>
              <a:t>0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可以通过级联来解决</a:t>
            </a:r>
            <a:endParaRPr lang="en-US" altLang="zh-CN" sz="2800" b="1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Cascading</a:t>
            </a:r>
            <a:r>
              <a:rPr lang="en-US" altLang="zh-CN" sz="2800" dirty="0">
                <a:ea typeface="宋体" panose="02010600030101010101" pitchFamily="2" charset="-122"/>
              </a:rPr>
              <a:t> of amplifiers, however, may be used to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emphasize desirable characteristics.</a:t>
            </a:r>
            <a:endParaRPr lang="en-US" altLang="zh-CN" sz="28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first amplifier</a:t>
            </a:r>
            <a:r>
              <a:rPr lang="en-US" altLang="zh-CN" sz="2800" dirty="0">
                <a:solidFill>
                  <a:srgbClr val="3333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– high </a:t>
            </a:r>
            <a:r>
              <a:rPr lang="en-US" altLang="zh-CN" sz="2800" i="1" dirty="0">
                <a:ea typeface="宋体" panose="02010600030101010101" pitchFamily="2" charset="-122"/>
              </a:rPr>
              <a:t>R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i</a:t>
            </a:r>
            <a:r>
              <a:rPr lang="en-US" altLang="zh-CN" sz="2800" dirty="0">
                <a:ea typeface="宋体" panose="02010600030101010101" pitchFamily="2" charset="-122"/>
              </a:rPr>
              <a:t>, medium </a:t>
            </a:r>
            <a:r>
              <a:rPr lang="en-US" altLang="zh-CN" sz="2800" i="1" dirty="0">
                <a:ea typeface="宋体" panose="02010600030101010101" pitchFamily="2" charset="-122"/>
              </a:rPr>
              <a:t>R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o</a:t>
            </a:r>
            <a:endParaRPr lang="en-US" altLang="zh-CN" sz="2800" i="1" baseline="-250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last amplifier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– medium </a:t>
            </a:r>
            <a:r>
              <a:rPr lang="en-US" altLang="zh-CN" sz="2800" i="1" dirty="0">
                <a:ea typeface="宋体" panose="02010600030101010101" pitchFamily="2" charset="-122"/>
              </a:rPr>
              <a:t>R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i</a:t>
            </a:r>
            <a:r>
              <a:rPr lang="en-US" altLang="zh-CN" sz="2800" dirty="0">
                <a:ea typeface="宋体" panose="02010600030101010101" pitchFamily="2" charset="-122"/>
              </a:rPr>
              <a:t>, low </a:t>
            </a:r>
            <a:r>
              <a:rPr lang="en-US" altLang="zh-CN" sz="2800" i="1" dirty="0">
                <a:ea typeface="宋体" panose="02010600030101010101" pitchFamily="2" charset="-122"/>
              </a:rPr>
              <a:t>R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o</a:t>
            </a:r>
            <a:endParaRPr lang="en-US" altLang="zh-CN" sz="2800" i="1" baseline="-250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aggregate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–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high </a:t>
            </a:r>
            <a:r>
              <a:rPr lang="en-US" altLang="zh-CN" sz="2800" i="1" dirty="0">
                <a:ea typeface="宋体" panose="02010600030101010101" pitchFamily="2" charset="-122"/>
              </a:rPr>
              <a:t>R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i</a:t>
            </a:r>
            <a:r>
              <a:rPr lang="en-US" altLang="zh-CN" sz="2800" dirty="0">
                <a:ea typeface="宋体" panose="02010600030101010101" pitchFamily="2" charset="-122"/>
              </a:rPr>
              <a:t>, low </a:t>
            </a:r>
            <a:r>
              <a:rPr lang="en-US" altLang="zh-CN" sz="2800" i="1" dirty="0">
                <a:ea typeface="宋体" panose="02010600030101010101" pitchFamily="2" charset="-122"/>
              </a:rPr>
              <a:t>R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o</a:t>
            </a:r>
            <a:endParaRPr lang="en-US" altLang="zh-CN" sz="2800" i="1" baseline="-25000" dirty="0">
              <a:ea typeface="宋体" panose="02010600030101010101" pitchFamily="2" charset="-122"/>
            </a:endParaRPr>
          </a:p>
        </p:txBody>
      </p:sp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Example 1.3: </a:t>
            </a:r>
            <a:r>
              <a:rPr lang="en-US" altLang="zh-CN" sz="3200" b="0">
                <a:ea typeface="宋体" panose="02010600030101010101" pitchFamily="2" charset="-122"/>
              </a:rPr>
              <a:t>Cascaded Amplifier Configurations</a:t>
            </a:r>
            <a:endParaRPr lang="en-US" altLang="zh-CN" sz="3200" b="0">
              <a:ea typeface="宋体" panose="02010600030101010101" pitchFamily="2" charset="-122"/>
            </a:endParaRP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Examine system of cascaded amplifiers on next slide.</a:t>
            </a:r>
            <a:endParaRPr lang="en-US" altLang="zh-CN" sz="28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Q(a):</a:t>
            </a:r>
            <a:r>
              <a:rPr lang="en-US" altLang="zh-CN" sz="2800">
                <a:ea typeface="宋体" panose="02010600030101010101" pitchFamily="2" charset="-122"/>
              </a:rPr>
              <a:t> What is overall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voltage</a:t>
            </a:r>
            <a:r>
              <a:rPr lang="en-US" altLang="zh-CN" sz="2800">
                <a:ea typeface="宋体" panose="02010600030101010101" pitchFamily="2" charset="-122"/>
              </a:rPr>
              <a:t> gain?</a:t>
            </a:r>
            <a:endParaRPr lang="en-US" altLang="zh-CN" sz="28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Q(b):</a:t>
            </a:r>
            <a:r>
              <a:rPr lang="en-US" altLang="zh-CN" sz="2800">
                <a:ea typeface="宋体" panose="02010600030101010101" pitchFamily="2" charset="-122"/>
              </a:rPr>
              <a:t> What is overall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current</a:t>
            </a:r>
            <a:r>
              <a:rPr lang="en-US" altLang="zh-CN" sz="2800">
                <a:ea typeface="宋体" panose="02010600030101010101" pitchFamily="2" charset="-122"/>
              </a:rPr>
              <a:t> gain?</a:t>
            </a:r>
            <a:endParaRPr lang="en-US" altLang="zh-CN" sz="28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Q(c):</a:t>
            </a:r>
            <a:r>
              <a:rPr lang="en-US" altLang="zh-CN" sz="2800">
                <a:ea typeface="宋体" panose="02010600030101010101" pitchFamily="2" charset="-122"/>
              </a:rPr>
              <a:t> What is overall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power</a:t>
            </a:r>
            <a:r>
              <a:rPr lang="en-US" altLang="zh-CN" sz="2800">
                <a:ea typeface="宋体" panose="02010600030101010101" pitchFamily="2" charset="-122"/>
              </a:rPr>
              <a:t> gain?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Example 1.3: </a:t>
            </a:r>
            <a:r>
              <a:rPr lang="en-US" altLang="zh-CN" sz="3200" b="0">
                <a:ea typeface="宋体" panose="02010600030101010101" pitchFamily="2" charset="-122"/>
              </a:rPr>
              <a:t>Cascaded Amplifier Configurations</a:t>
            </a:r>
            <a:endParaRPr lang="en-US" altLang="zh-CN" sz="3200" b="0">
              <a:ea typeface="宋体" panose="02010600030101010101" pitchFamily="2" charset="-122"/>
            </a:endParaRPr>
          </a:p>
        </p:txBody>
      </p:sp>
      <p:pic>
        <p:nvPicPr>
          <p:cNvPr id="70660" name="Picture 4" descr="se01F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89150"/>
            <a:ext cx="8610600" cy="271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1" name="Text Box 3"/>
          <p:cNvSpPr txBox="1">
            <a:spLocks noChangeArrowheads="1"/>
          </p:cNvSpPr>
          <p:nvPr/>
        </p:nvSpPr>
        <p:spPr bwMode="auto">
          <a:xfrm>
            <a:off x="990600" y="5105400"/>
            <a:ext cx="685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MS PGothic" panose="020B0600070205080204" pitchFamily="34" charset="-128"/>
              </a:rPr>
              <a:t>Figure 1.17: </a:t>
            </a:r>
            <a:r>
              <a:rPr lang="en-US" altLang="zh-CN">
                <a:ea typeface="MS PGothic" panose="020B0600070205080204" pitchFamily="34" charset="-128"/>
              </a:rPr>
              <a:t>Three-stage amplifier for Example 1.3.</a:t>
            </a:r>
            <a:endParaRPr lang="en-US" altLang="zh-CN">
              <a:ea typeface="MS PGothic" panose="020B0600070205080204" pitchFamily="34" charset="-128"/>
            </a:endParaRPr>
          </a:p>
        </p:txBody>
      </p:sp>
      <p:sp>
        <p:nvSpPr>
          <p:cNvPr id="1853445" name="Rectangle 5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853446" name="Rectangle 6"/>
          <p:cNvSpPr>
            <a:spLocks noChangeArrowheads="1"/>
          </p:cNvSpPr>
          <p:nvPr/>
        </p:nvSpPr>
        <p:spPr bwMode="auto">
          <a:xfrm>
            <a:off x="2362200" y="1981200"/>
            <a:ext cx="5181600" cy="304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 dirty="0">
              <a:ea typeface="宋体" panose="02010600030101010101" pitchFamily="2" charset="-122"/>
            </a:endParaRPr>
          </a:p>
        </p:txBody>
      </p:sp>
      <p:sp>
        <p:nvSpPr>
          <p:cNvPr id="1853447" name="Freeform 7"/>
          <p:cNvSpPr/>
          <p:nvPr/>
        </p:nvSpPr>
        <p:spPr bwMode="auto">
          <a:xfrm>
            <a:off x="1295400" y="304800"/>
            <a:ext cx="6324600" cy="4648200"/>
          </a:xfrm>
          <a:custGeom>
            <a:avLst/>
            <a:gdLst>
              <a:gd name="T0" fmla="*/ 0 w 3984"/>
              <a:gd name="T1" fmla="*/ 0 h 2928"/>
              <a:gd name="T2" fmla="*/ 0 w 3984"/>
              <a:gd name="T3" fmla="*/ 2147483646 h 2928"/>
              <a:gd name="T4" fmla="*/ 2147483646 w 3984"/>
              <a:gd name="T5" fmla="*/ 2147483646 h 2928"/>
              <a:gd name="T6" fmla="*/ 0 w 3984"/>
              <a:gd name="T7" fmla="*/ 0 h 29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984" h="2928">
                <a:moveTo>
                  <a:pt x="0" y="0"/>
                </a:moveTo>
                <a:lnTo>
                  <a:pt x="0" y="2928"/>
                </a:lnTo>
                <a:lnTo>
                  <a:pt x="3984" y="1488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ln w="76200" cmpd="sng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3448" name="Text Box 8"/>
          <p:cNvSpPr txBox="1">
            <a:spLocks noChangeArrowheads="1"/>
          </p:cNvSpPr>
          <p:nvPr/>
        </p:nvSpPr>
        <p:spPr bwMode="auto">
          <a:xfrm>
            <a:off x="1371600" y="1752600"/>
            <a:ext cx="3657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>
                <a:solidFill>
                  <a:srgbClr val="FF0000"/>
                </a:solidFill>
                <a:ea typeface="宋体" panose="02010600030101010101" pitchFamily="2" charset="-122"/>
              </a:rPr>
              <a:t>aggregate amplifier 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with gain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853449" name="Object 9"/>
          <p:cNvGraphicFramePr>
            <a:graphicFrameLocks noGrp="1" noChangeAspect="1"/>
          </p:cNvGraphicFramePr>
          <p:nvPr>
            <p:ph idx="1"/>
          </p:nvPr>
        </p:nvGraphicFramePr>
        <p:xfrm>
          <a:off x="1936750" y="2794000"/>
          <a:ext cx="2178050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16764000" imgH="8839200" progId="Equation.DSMT4">
                  <p:embed/>
                </p:oleObj>
              </mc:Choice>
              <mc:Fallback>
                <p:oleObj name="Equation" r:id="rId2" imgW="16764000" imgH="8839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0" y="2794000"/>
                        <a:ext cx="2178050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1518356" y="1176635"/>
            <a:ext cx="4142481" cy="461665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注意：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kumimoji="1"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i1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，而不是</a:t>
            </a:r>
            <a:r>
              <a:rPr kumimoji="1"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zh-CN" alt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5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53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53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53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0"/>
                                        <p:tgtEl>
                                          <p:spTgt spid="185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45" grpId="0" animBg="1"/>
      <p:bldP spid="1853446" grpId="0" animBg="1"/>
      <p:bldP spid="185344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Oxford University Publishing</a:t>
            </a:r>
            <a:endParaRPr lang="en-US" altLang="zh-CN" dirty="0"/>
          </a:p>
          <a:p>
            <a:r>
              <a:rPr lang="en-US" altLang="zh-CN" dirty="0"/>
              <a:t>Microelectronic Circuits by Adel S. </a:t>
            </a:r>
            <a:r>
              <a:rPr lang="en-US" altLang="zh-CN" dirty="0" err="1"/>
              <a:t>Sedra</a:t>
            </a:r>
            <a:r>
              <a:rPr lang="en-US" altLang="zh-CN" dirty="0"/>
              <a:t> and Kenneth C. Smith (0195323033)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868242"/>
          </a:xfrm>
          <a:prstGeom prst="rect">
            <a:avLst/>
          </a:prstGeom>
        </p:spPr>
      </p:pic>
      <p:cxnSp>
        <p:nvCxnSpPr>
          <p:cNvPr id="7" name="直线连接符 6"/>
          <p:cNvCxnSpPr/>
          <p:nvPr/>
        </p:nvCxnSpPr>
        <p:spPr bwMode="auto">
          <a:xfrm>
            <a:off x="3886200" y="2057400"/>
            <a:ext cx="17526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3948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7257"/>
            <a:ext cx="2069037" cy="5769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33413"/>
            <a:ext cx="2660650" cy="6095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3761162"/>
            <a:ext cx="2736850" cy="59713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376511"/>
            <a:ext cx="3467100" cy="55033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5013517"/>
            <a:ext cx="3200400" cy="59149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999" y="6038607"/>
            <a:ext cx="2035606" cy="5999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0" y="6038607"/>
            <a:ext cx="1911258" cy="63708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3797" y="6038607"/>
            <a:ext cx="1498899" cy="649523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 bwMode="auto">
          <a:xfrm>
            <a:off x="76200" y="5791200"/>
            <a:ext cx="8991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椭圆 2"/>
          <p:cNvSpPr/>
          <p:nvPr/>
        </p:nvSpPr>
        <p:spPr bwMode="auto">
          <a:xfrm>
            <a:off x="1385137" y="5322568"/>
            <a:ext cx="457200" cy="271010"/>
          </a:xfrm>
          <a:prstGeom prst="ellipse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304800" y="6357150"/>
            <a:ext cx="457200" cy="271010"/>
          </a:xfrm>
          <a:prstGeom prst="ellipse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1.5.3. </a:t>
            </a:r>
            <a:r>
              <a:rPr lang="en-US" altLang="zh-CN" sz="3200">
                <a:ea typeface="宋体" panose="02010600030101010101" pitchFamily="2" charset="-122"/>
              </a:rPr>
              <a:t>Other Amplifier Types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71684" name="Rectangle 3"/>
          <p:cNvSpPr>
            <a:spLocks noChangeArrowheads="1"/>
          </p:cNvSpPr>
          <p:nvPr/>
        </p:nvSpPr>
        <p:spPr bwMode="auto">
          <a:xfrm>
            <a:off x="0" y="1905000"/>
            <a:ext cx="9144000" cy="4953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71685" name="Picture 7" descr="se01T0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0"/>
            <a:ext cx="8686800" cy="430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6" name="Text Box 5"/>
          <p:cNvSpPr txBox="1">
            <a:spLocks noChangeArrowheads="1"/>
          </p:cNvSpPr>
          <p:nvPr/>
        </p:nvSpPr>
        <p:spPr bwMode="auto">
          <a:xfrm>
            <a:off x="228600" y="1773238"/>
            <a:ext cx="4191000" cy="57943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voltage amplifier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71687" name="Text Box 6"/>
          <p:cNvSpPr txBox="1">
            <a:spLocks noChangeArrowheads="1"/>
          </p:cNvSpPr>
          <p:nvPr/>
        </p:nvSpPr>
        <p:spPr bwMode="auto">
          <a:xfrm>
            <a:off x="4724400" y="1773238"/>
            <a:ext cx="4191000" cy="57943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current amplifier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71688" name="Text Box 7"/>
          <p:cNvSpPr txBox="1">
            <a:spLocks noChangeArrowheads="1"/>
          </p:cNvSpPr>
          <p:nvPr/>
        </p:nvSpPr>
        <p:spPr bwMode="auto">
          <a:xfrm>
            <a:off x="152400" y="4149725"/>
            <a:ext cx="4191000" cy="57943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dirty="0">
                <a:solidFill>
                  <a:srgbClr val="FF0000"/>
                </a:solidFill>
                <a:ea typeface="宋体" panose="02010600030101010101" pitchFamily="2" charset="-122"/>
              </a:rPr>
              <a:t>transconductance amp.</a:t>
            </a:r>
            <a:endParaRPr lang="en-US" altLang="zh-CN" sz="32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71689" name="Text Box 8"/>
          <p:cNvSpPr txBox="1">
            <a:spLocks noChangeArrowheads="1"/>
          </p:cNvSpPr>
          <p:nvPr/>
        </p:nvSpPr>
        <p:spPr bwMode="auto">
          <a:xfrm>
            <a:off x="4724400" y="4183063"/>
            <a:ext cx="4191000" cy="57943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 dirty="0" err="1">
                <a:solidFill>
                  <a:srgbClr val="FF0000"/>
                </a:solidFill>
                <a:ea typeface="宋体" panose="02010600030101010101" pitchFamily="2" charset="-122"/>
              </a:rPr>
              <a:t>transresistance</a:t>
            </a:r>
            <a:r>
              <a:rPr lang="en-US" altLang="zh-CN" sz="3200" dirty="0">
                <a:solidFill>
                  <a:srgbClr val="FF0000"/>
                </a:solidFill>
                <a:ea typeface="宋体" panose="02010600030101010101" pitchFamily="2" charset="-122"/>
              </a:rPr>
              <a:t> amp.</a:t>
            </a:r>
            <a:endParaRPr lang="en-US" altLang="zh-CN" sz="32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1.5.3. </a:t>
            </a:r>
            <a:r>
              <a:rPr lang="en-US" altLang="zh-CN" sz="3200">
                <a:ea typeface="宋体" panose="02010600030101010101" pitchFamily="2" charset="-122"/>
              </a:rPr>
              <a:t>Other Amplifier Types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73732" name="Rectangle 3"/>
          <p:cNvSpPr>
            <a:spLocks noChangeArrowheads="1"/>
          </p:cNvSpPr>
          <p:nvPr/>
        </p:nvSpPr>
        <p:spPr bwMode="auto">
          <a:xfrm>
            <a:off x="0" y="1905000"/>
            <a:ext cx="9144000" cy="4953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73733" name="Picture 7" descr="se01T0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0"/>
            <a:ext cx="8686800" cy="430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3734" name="Object 9"/>
          <p:cNvGraphicFramePr>
            <a:graphicFrameLocks noChangeAspect="1"/>
          </p:cNvGraphicFramePr>
          <p:nvPr/>
        </p:nvGraphicFramePr>
        <p:xfrm>
          <a:off x="258763" y="5370513"/>
          <a:ext cx="3967162" cy="1335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31699200" imgH="10668000" progId="Equation.DSMT4">
                  <p:embed/>
                </p:oleObj>
              </mc:Choice>
              <mc:Fallback>
                <p:oleObj name="Equation" r:id="rId2" imgW="31699200" imgH="10668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3" y="5370513"/>
                        <a:ext cx="3967162" cy="1335087"/>
                      </a:xfrm>
                      <a:prstGeom prst="rect">
                        <a:avLst/>
                      </a:prstGeom>
                      <a:solidFill>
                        <a:srgbClr val="FFFF99">
                          <a:alpha val="89803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5" name="Object 10"/>
          <p:cNvGraphicFramePr>
            <a:graphicFrameLocks noChangeAspect="1"/>
          </p:cNvGraphicFramePr>
          <p:nvPr/>
        </p:nvGraphicFramePr>
        <p:xfrm>
          <a:off x="4835525" y="1524000"/>
          <a:ext cx="4003675" cy="133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4" imgW="32004000" imgH="10668000" progId="Equation.DSMT4">
                  <p:embed/>
                </p:oleObj>
              </mc:Choice>
              <mc:Fallback>
                <p:oleObj name="Equation" r:id="rId4" imgW="32004000" imgH="10668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5525" y="1524000"/>
                        <a:ext cx="4003675" cy="1335088"/>
                      </a:xfrm>
                      <a:prstGeom prst="rect">
                        <a:avLst/>
                      </a:prstGeom>
                      <a:solidFill>
                        <a:srgbClr val="FFFF99">
                          <a:alpha val="89803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6" name="Object 11"/>
          <p:cNvGraphicFramePr>
            <a:graphicFrameLocks noChangeAspect="1"/>
          </p:cNvGraphicFramePr>
          <p:nvPr/>
        </p:nvGraphicFramePr>
        <p:xfrm>
          <a:off x="4914900" y="5372100"/>
          <a:ext cx="38481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6" imgW="30784800" imgH="10668000" progId="Equation.DSMT4">
                  <p:embed/>
                </p:oleObj>
              </mc:Choice>
              <mc:Fallback>
                <p:oleObj name="Equation" r:id="rId6" imgW="30784800" imgH="10668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900" y="5372100"/>
                        <a:ext cx="3848100" cy="1333500"/>
                      </a:xfrm>
                      <a:prstGeom prst="rect">
                        <a:avLst/>
                      </a:prstGeom>
                      <a:solidFill>
                        <a:srgbClr val="FFFF99">
                          <a:alpha val="89803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7" name="Object 12"/>
          <p:cNvGraphicFramePr>
            <a:graphicFrameLocks noChangeAspect="1"/>
          </p:cNvGraphicFramePr>
          <p:nvPr/>
        </p:nvGraphicFramePr>
        <p:xfrm>
          <a:off x="254000" y="1524000"/>
          <a:ext cx="3967163" cy="133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8" imgW="31699200" imgH="10668000" progId="Equation.DSMT4">
                  <p:embed/>
                </p:oleObj>
              </mc:Choice>
              <mc:Fallback>
                <p:oleObj name="Equation" r:id="rId8" imgW="31699200" imgH="10668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" y="1524000"/>
                        <a:ext cx="3967163" cy="1335088"/>
                      </a:xfrm>
                      <a:prstGeom prst="rect">
                        <a:avLst/>
                      </a:prstGeom>
                      <a:solidFill>
                        <a:srgbClr val="FFFF99">
                          <a:alpha val="89803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8" name="Text Box 13"/>
          <p:cNvSpPr txBox="1">
            <a:spLocks noChangeArrowheads="1"/>
          </p:cNvSpPr>
          <p:nvPr/>
        </p:nvSpPr>
        <p:spPr bwMode="auto">
          <a:xfrm>
            <a:off x="1066800" y="3854450"/>
            <a:ext cx="4191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600">
                <a:solidFill>
                  <a:srgbClr val="C0C0C0"/>
                </a:solidFill>
                <a:ea typeface="宋体" panose="02010600030101010101" pitchFamily="2" charset="-122"/>
              </a:rPr>
              <a:t>voltage amplifier</a:t>
            </a:r>
            <a:endParaRPr lang="en-US" altLang="zh-CN" sz="1600">
              <a:solidFill>
                <a:srgbClr val="C0C0C0"/>
              </a:solidFill>
              <a:ea typeface="宋体" panose="02010600030101010101" pitchFamily="2" charset="-122"/>
            </a:endParaRPr>
          </a:p>
        </p:txBody>
      </p:sp>
      <p:sp>
        <p:nvSpPr>
          <p:cNvPr id="73739" name="Text Box 14"/>
          <p:cNvSpPr txBox="1">
            <a:spLocks noChangeArrowheads="1"/>
          </p:cNvSpPr>
          <p:nvPr/>
        </p:nvSpPr>
        <p:spPr bwMode="auto">
          <a:xfrm>
            <a:off x="5638800" y="3854450"/>
            <a:ext cx="4191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600">
                <a:solidFill>
                  <a:srgbClr val="C0C0C0"/>
                </a:solidFill>
                <a:ea typeface="宋体" panose="02010600030101010101" pitchFamily="2" charset="-122"/>
              </a:rPr>
              <a:t>current amplifier</a:t>
            </a:r>
            <a:endParaRPr lang="en-US" altLang="zh-CN" sz="1600">
              <a:solidFill>
                <a:srgbClr val="C0C0C0"/>
              </a:solidFill>
              <a:ea typeface="宋体" panose="02010600030101010101" pitchFamily="2" charset="-122"/>
            </a:endParaRPr>
          </a:p>
        </p:txBody>
      </p:sp>
      <p:sp>
        <p:nvSpPr>
          <p:cNvPr id="73740" name="Text Box 15"/>
          <p:cNvSpPr txBox="1">
            <a:spLocks noChangeArrowheads="1"/>
          </p:cNvSpPr>
          <p:nvPr/>
        </p:nvSpPr>
        <p:spPr bwMode="auto">
          <a:xfrm>
            <a:off x="-381000" y="4387850"/>
            <a:ext cx="4191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600">
                <a:solidFill>
                  <a:srgbClr val="C0C0C0"/>
                </a:solidFill>
                <a:ea typeface="宋体" panose="02010600030101010101" pitchFamily="2" charset="-122"/>
              </a:rPr>
              <a:t>transconductance amplifier</a:t>
            </a:r>
            <a:endParaRPr lang="en-US" altLang="zh-CN" sz="1600">
              <a:solidFill>
                <a:srgbClr val="C0C0C0"/>
              </a:solidFill>
              <a:ea typeface="宋体" panose="02010600030101010101" pitchFamily="2" charset="-122"/>
            </a:endParaRPr>
          </a:p>
        </p:txBody>
      </p:sp>
      <p:sp>
        <p:nvSpPr>
          <p:cNvPr id="73741" name="Text Box 16"/>
          <p:cNvSpPr txBox="1">
            <a:spLocks noChangeArrowheads="1"/>
          </p:cNvSpPr>
          <p:nvPr/>
        </p:nvSpPr>
        <p:spPr bwMode="auto">
          <a:xfrm>
            <a:off x="4114800" y="4387850"/>
            <a:ext cx="4191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600">
                <a:solidFill>
                  <a:srgbClr val="C0C0C0"/>
                </a:solidFill>
                <a:ea typeface="宋体" panose="02010600030101010101" pitchFamily="2" charset="-122"/>
              </a:rPr>
              <a:t>transresistance amplifier</a:t>
            </a:r>
            <a:endParaRPr lang="en-US" altLang="zh-CN" sz="1600">
              <a:solidFill>
                <a:srgbClr val="C0C0C0"/>
              </a:solidFill>
              <a:ea typeface="宋体" panose="02010600030101010101" pitchFamily="2" charset="-122"/>
            </a:endParaRPr>
          </a:p>
        </p:txBody>
      </p:sp>
      <p:sp>
        <p:nvSpPr>
          <p:cNvPr id="6" name="TextBox 1"/>
          <p:cNvSpPr txBox="1"/>
          <p:nvPr/>
        </p:nvSpPr>
        <p:spPr>
          <a:xfrm>
            <a:off x="4890516" y="1831019"/>
            <a:ext cx="591829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3200" i="1" dirty="0" err="1">
                <a:solidFill>
                  <a:srgbClr val="FF0000"/>
                </a:solidFill>
              </a:rPr>
              <a:t>A</a:t>
            </a:r>
            <a:r>
              <a:rPr lang="en-US" sz="3200" baseline="-25000" dirty="0" err="1">
                <a:solidFill>
                  <a:srgbClr val="FF0000"/>
                </a:solidFill>
              </a:rPr>
              <a:t>is</a:t>
            </a:r>
            <a:endParaRPr lang="en-US" sz="3200" baseline="-25000" dirty="0">
              <a:solidFill>
                <a:srgbClr val="FF0000"/>
              </a:solidFill>
            </a:endParaRPr>
          </a:p>
        </p:txBody>
      </p:sp>
      <p:sp>
        <p:nvSpPr>
          <p:cNvPr id="1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1.5.4.</a:t>
            </a:r>
            <a:r>
              <a:rPr lang="en-US" altLang="zh-CN" sz="3200">
                <a:ea typeface="宋体" panose="02010600030101010101" pitchFamily="2" charset="-122"/>
              </a:rPr>
              <a:t> Relationship</a:t>
            </a:r>
            <a:br>
              <a:rPr lang="en-US" altLang="zh-CN" sz="3200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Between Four Amp Models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82000" cy="396240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interchangeability </a:t>
            </a:r>
            <a:r>
              <a:rPr lang="en-US" altLang="zh-CN" sz="2800" dirty="0">
                <a:ea typeface="宋体" panose="02010600030101010101" pitchFamily="2" charset="-122"/>
              </a:rPr>
              <a:t>– although these four types exist,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any of the four</a:t>
            </a:r>
            <a:r>
              <a:rPr lang="en-US" altLang="zh-CN" sz="2800" dirty="0">
                <a:ea typeface="宋体" panose="02010600030101010101" pitchFamily="2" charset="-122"/>
              </a:rPr>
              <a:t> may be used to model any amplifier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they are related through </a:t>
            </a:r>
            <a:r>
              <a:rPr lang="en-US" altLang="zh-CN" sz="2800" i="1" dirty="0" err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i="1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vo</a:t>
            </a:r>
            <a:r>
              <a:rPr lang="en-US" altLang="zh-CN" sz="2800" dirty="0">
                <a:ea typeface="宋体" panose="02010600030101010101" pitchFamily="2" charset="-122"/>
              </a:rPr>
              <a:t> (open circuit gain)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graphicFrame>
        <p:nvGraphicFramePr>
          <p:cNvPr id="75781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362200" y="3886200"/>
          <a:ext cx="4378325" cy="193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52425600" imgH="23164800" progId="Equation.DSMT4">
                  <p:embed/>
                </p:oleObj>
              </mc:Choice>
              <mc:Fallback>
                <p:oleObj name="Equation" r:id="rId1" imgW="52425600" imgH="23164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886200"/>
                        <a:ext cx="4378325" cy="193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2" name="文本框 1"/>
          <p:cNvSpPr txBox="1">
            <a:spLocks noChangeArrowheads="1"/>
          </p:cNvSpPr>
          <p:nvPr/>
        </p:nvSpPr>
        <p:spPr bwMode="auto">
          <a:xfrm>
            <a:off x="263525" y="4022725"/>
            <a:ext cx="223651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/>
            <a:r>
              <a:rPr lang="zh-CN" altLang="en-US" sz="2000" dirty="0">
                <a:ea typeface="宋体" panose="02010600030101010101" pitchFamily="2" charset="-122"/>
              </a:rPr>
              <a:t>电路等效：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algn="l" eaLnBrk="1" hangingPunct="1"/>
            <a:r>
              <a:rPr lang="zh-CN" altLang="en-US" sz="2000" dirty="0">
                <a:ea typeface="宋体" panose="02010600030101010101" pitchFamily="2" charset="-122"/>
              </a:rPr>
              <a:t>①开路电压相等；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algn="l" eaLnBrk="1" hangingPunct="1"/>
            <a:r>
              <a:rPr lang="zh-CN" altLang="en-US" sz="2000" dirty="0">
                <a:ea typeface="宋体" panose="02010600030101010101" pitchFamily="2" charset="-122"/>
              </a:rPr>
              <a:t>②短路电流相等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5715000" y="6410325"/>
            <a:ext cx="3171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基于 </a:t>
            </a:r>
            <a:r>
              <a:rPr lang="en-US" altLang="zh-CN" sz="2000" dirty="0"/>
              <a:t>Source</a:t>
            </a:r>
            <a:r>
              <a:rPr lang="zh-CN" altLang="en-US" sz="2000" dirty="0"/>
              <a:t> </a:t>
            </a:r>
            <a:r>
              <a:rPr lang="en-US" altLang="zh-CN" sz="2000" dirty="0"/>
              <a:t>Transformation</a:t>
            </a:r>
            <a:r>
              <a:rPr lang="zh-CN" altLang="en-US" sz="2000" dirty="0"/>
              <a:t> </a:t>
            </a:r>
            <a:endParaRPr lang="en-US" sz="2000" dirty="0"/>
          </a:p>
        </p:txBody>
      </p:sp>
      <p:cxnSp>
        <p:nvCxnSpPr>
          <p:cNvPr id="4" name="Straight Arrow Connector 3"/>
          <p:cNvCxnSpPr/>
          <p:nvPr/>
        </p:nvCxnSpPr>
        <p:spPr bwMode="auto">
          <a:xfrm flipH="1" flipV="1">
            <a:off x="5486400" y="5788612"/>
            <a:ext cx="533400" cy="6217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76803" name="Rectangle 4"/>
          <p:cNvSpPr>
            <a:spLocks noChangeArrowheads="1"/>
          </p:cNvSpPr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768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1.5.5. </a:t>
            </a:r>
            <a:r>
              <a:rPr lang="en-US" altLang="zh-CN" sz="3200">
                <a:ea typeface="宋体" panose="02010600030101010101" pitchFamily="2" charset="-122"/>
              </a:rPr>
              <a:t>Determining </a:t>
            </a:r>
            <a:r>
              <a:rPr lang="en-US" altLang="zh-CN" sz="3200" i="1">
                <a:ea typeface="宋体" panose="02010600030101010101" pitchFamily="2" charset="-122"/>
              </a:rPr>
              <a:t>R</a:t>
            </a:r>
            <a:r>
              <a:rPr lang="en-US" altLang="zh-CN" sz="3200" i="1" baseline="-25000">
                <a:ea typeface="宋体" panose="02010600030101010101" pitchFamily="2" charset="-122"/>
              </a:rPr>
              <a:t>i</a:t>
            </a:r>
            <a:r>
              <a:rPr lang="en-US" altLang="zh-CN" sz="3200">
                <a:ea typeface="宋体" panose="02010600030101010101" pitchFamily="2" charset="-122"/>
              </a:rPr>
              <a:t> and </a:t>
            </a:r>
            <a:r>
              <a:rPr lang="en-US" altLang="zh-CN" sz="3200" i="1">
                <a:ea typeface="宋体" panose="02010600030101010101" pitchFamily="2" charset="-122"/>
              </a:rPr>
              <a:t>R</a:t>
            </a:r>
            <a:r>
              <a:rPr lang="en-US" altLang="zh-CN" sz="3200" i="1" baseline="-25000">
                <a:ea typeface="宋体" panose="02010600030101010101" pitchFamily="2" charset="-122"/>
              </a:rPr>
              <a:t>o</a:t>
            </a:r>
            <a:endParaRPr lang="en-US" altLang="zh-CN" sz="3200" i="1" baseline="-25000">
              <a:ea typeface="宋体" panose="02010600030101010101" pitchFamily="2" charset="-122"/>
            </a:endParaRPr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>
                <a:ea typeface="宋体" panose="02010600030101010101" pitchFamily="2" charset="-122"/>
              </a:rPr>
              <a:t> How can one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calculate input resistance</a:t>
            </a:r>
            <a:r>
              <a:rPr lang="en-US" altLang="zh-CN" sz="2800">
                <a:ea typeface="宋体" panose="02010600030101010101" pitchFamily="2" charset="-122"/>
              </a:rPr>
              <a:t> from terminal behavior?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>
                <a:ea typeface="宋体" panose="02010600030101010101" pitchFamily="2" charset="-122"/>
              </a:rPr>
              <a:t> Observe </a:t>
            </a:r>
            <a:r>
              <a:rPr lang="en-US" altLang="zh-CN" sz="2800" i="1"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ea typeface="宋体" panose="02010600030101010101" pitchFamily="2" charset="-122"/>
              </a:rPr>
              <a:t>i</a:t>
            </a:r>
            <a:r>
              <a:rPr lang="en-US" altLang="zh-CN" sz="2800">
                <a:ea typeface="宋体" panose="02010600030101010101" pitchFamily="2" charset="-122"/>
              </a:rPr>
              <a:t> and </a:t>
            </a:r>
            <a:r>
              <a:rPr lang="en-US" altLang="zh-CN" sz="2800" i="1">
                <a:ea typeface="宋体" panose="02010600030101010101" pitchFamily="2" charset="-122"/>
              </a:rPr>
              <a:t>i</a:t>
            </a:r>
            <a:r>
              <a:rPr lang="en-US" altLang="zh-CN" sz="2800" i="1" baseline="-25000">
                <a:ea typeface="宋体" panose="02010600030101010101" pitchFamily="2" charset="-122"/>
              </a:rPr>
              <a:t>i</a:t>
            </a:r>
            <a:r>
              <a:rPr lang="en-US" altLang="zh-CN" sz="2800">
                <a:ea typeface="宋体" panose="02010600030101010101" pitchFamily="2" charset="-122"/>
              </a:rPr>
              <a:t>, calculate via 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i="1" baseline="-25000">
                <a:ea typeface="宋体" panose="02010600030101010101" pitchFamily="2" charset="-122"/>
              </a:rPr>
              <a:t>i</a:t>
            </a:r>
            <a:r>
              <a:rPr lang="en-US" altLang="zh-CN" sz="2800">
                <a:ea typeface="宋体" panose="02010600030101010101" pitchFamily="2" charset="-122"/>
              </a:rPr>
              <a:t> = </a:t>
            </a:r>
            <a:r>
              <a:rPr lang="en-US" altLang="zh-CN" sz="2800" i="1"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ea typeface="宋体" panose="02010600030101010101" pitchFamily="2" charset="-122"/>
              </a:rPr>
              <a:t>i</a:t>
            </a:r>
            <a:r>
              <a:rPr lang="en-US" altLang="zh-CN" sz="2800">
                <a:ea typeface="宋体" panose="02010600030101010101" pitchFamily="2" charset="-122"/>
              </a:rPr>
              <a:t> / </a:t>
            </a:r>
            <a:r>
              <a:rPr lang="en-US" altLang="zh-CN" sz="2800" i="1">
                <a:ea typeface="宋体" panose="02010600030101010101" pitchFamily="2" charset="-122"/>
              </a:rPr>
              <a:t>i</a:t>
            </a:r>
            <a:r>
              <a:rPr lang="en-US" altLang="zh-CN" sz="2800" i="1" baseline="-25000">
                <a:ea typeface="宋体" panose="02010600030101010101" pitchFamily="2" charset="-122"/>
              </a:rPr>
              <a:t>i</a:t>
            </a:r>
            <a:endParaRPr lang="en-US" altLang="zh-CN" sz="2800" i="1" baseline="-2500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>
                <a:ea typeface="宋体" panose="02010600030101010101" pitchFamily="2" charset="-122"/>
              </a:rPr>
              <a:t> How can one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calculate output resistance</a:t>
            </a:r>
            <a:r>
              <a:rPr lang="en-US" altLang="zh-CN" sz="2800">
                <a:ea typeface="宋体" panose="02010600030101010101" pitchFamily="2" charset="-122"/>
              </a:rPr>
              <a:t> from terminal behavior?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endParaRPr lang="en-US" altLang="zh-CN" sz="2800" b="1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Remove source voltage (such that </a:t>
            </a:r>
            <a:r>
              <a:rPr lang="en-US" altLang="zh-CN" sz="2800" i="1"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ea typeface="宋体" panose="02010600030101010101" pitchFamily="2" charset="-122"/>
              </a:rPr>
              <a:t>i</a:t>
            </a:r>
            <a:r>
              <a:rPr lang="en-US" altLang="zh-CN" sz="2800">
                <a:ea typeface="宋体" panose="02010600030101010101" pitchFamily="2" charset="-122"/>
              </a:rPr>
              <a:t> = </a:t>
            </a:r>
            <a:r>
              <a:rPr lang="en-US" altLang="zh-CN" sz="2800" i="1">
                <a:ea typeface="宋体" panose="02010600030101010101" pitchFamily="2" charset="-122"/>
              </a:rPr>
              <a:t>i</a:t>
            </a:r>
            <a:r>
              <a:rPr lang="en-US" altLang="zh-CN" sz="2800" i="1" baseline="-25000">
                <a:ea typeface="宋体" panose="02010600030101010101" pitchFamily="2" charset="-122"/>
              </a:rPr>
              <a:t>i</a:t>
            </a:r>
            <a:r>
              <a:rPr lang="en-US" altLang="zh-CN" sz="2800">
                <a:ea typeface="宋体" panose="02010600030101010101" pitchFamily="2" charset="-122"/>
              </a:rPr>
              <a:t> = 0)</a:t>
            </a:r>
            <a:endParaRPr lang="en-US" altLang="zh-CN" sz="280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Apply voltage to output (</a:t>
            </a:r>
            <a:r>
              <a:rPr lang="en-US" altLang="zh-CN" sz="2800" i="1"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ea typeface="宋体" panose="02010600030101010101" pitchFamily="2" charset="-122"/>
              </a:rPr>
              <a:t>x</a:t>
            </a:r>
            <a:r>
              <a:rPr lang="en-US" altLang="zh-CN" sz="2800">
                <a:ea typeface="宋体" panose="02010600030101010101" pitchFamily="2" charset="-122"/>
              </a:rPr>
              <a:t>)</a:t>
            </a:r>
            <a:endParaRPr lang="en-US" altLang="zh-CN" sz="280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Measure negative output current (-</a:t>
            </a:r>
            <a:r>
              <a:rPr lang="en-US" altLang="zh-CN" sz="2800" i="1">
                <a:ea typeface="宋体" panose="02010600030101010101" pitchFamily="2" charset="-122"/>
              </a:rPr>
              <a:t>i</a:t>
            </a:r>
            <a:r>
              <a:rPr lang="en-US" altLang="zh-CN" sz="2800" i="1" baseline="-25000">
                <a:ea typeface="宋体" panose="02010600030101010101" pitchFamily="2" charset="-122"/>
              </a:rPr>
              <a:t>o</a:t>
            </a:r>
            <a:r>
              <a:rPr lang="en-US" altLang="zh-CN" sz="2800">
                <a:ea typeface="宋体" panose="02010600030101010101" pitchFamily="2" charset="-122"/>
              </a:rPr>
              <a:t>)</a:t>
            </a:r>
            <a:endParaRPr lang="en-US" altLang="zh-CN" sz="280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800">
                <a:ea typeface="宋体" panose="02010600030101010101" pitchFamily="2" charset="-122"/>
              </a:rPr>
              <a:t>Calculate via </a:t>
            </a:r>
            <a:r>
              <a:rPr lang="en-US" altLang="zh-CN" sz="2800" i="1">
                <a:ea typeface="宋体" panose="02010600030101010101" pitchFamily="2" charset="-122"/>
              </a:rPr>
              <a:t>R</a:t>
            </a:r>
            <a:r>
              <a:rPr lang="en-US" altLang="zh-CN" sz="2800" i="1" baseline="-25000">
                <a:ea typeface="宋体" panose="02010600030101010101" pitchFamily="2" charset="-122"/>
              </a:rPr>
              <a:t>o</a:t>
            </a:r>
            <a:r>
              <a:rPr lang="en-US" altLang="zh-CN" sz="2800">
                <a:ea typeface="宋体" panose="02010600030101010101" pitchFamily="2" charset="-122"/>
              </a:rPr>
              <a:t> = -</a:t>
            </a:r>
            <a:r>
              <a:rPr lang="en-US" altLang="zh-CN" sz="2800" i="1"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ea typeface="宋体" panose="02010600030101010101" pitchFamily="2" charset="-122"/>
              </a:rPr>
              <a:t>x </a:t>
            </a:r>
            <a:r>
              <a:rPr lang="en-US" altLang="zh-CN" sz="2800">
                <a:ea typeface="宋体" panose="02010600030101010101" pitchFamily="2" charset="-122"/>
              </a:rPr>
              <a:t>/ </a:t>
            </a:r>
            <a:r>
              <a:rPr lang="en-US" altLang="zh-CN" sz="2800" i="1">
                <a:ea typeface="宋体" panose="02010600030101010101" pitchFamily="2" charset="-122"/>
              </a:rPr>
              <a:t>i</a:t>
            </a:r>
            <a:r>
              <a:rPr lang="en-US" altLang="zh-CN" sz="2800" i="1" baseline="-25000">
                <a:ea typeface="宋体" panose="02010600030101010101" pitchFamily="2" charset="-122"/>
              </a:rPr>
              <a:t>o</a:t>
            </a:r>
            <a:endParaRPr lang="en-US" altLang="zh-CN" sz="2800" i="1" baseline="-25000">
              <a:ea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51052" y="4419600"/>
            <a:ext cx="2064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独立源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10200" y="673269"/>
            <a:ext cx="3421129" cy="7078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输入输出电阻的计算</a:t>
            </a:r>
            <a:endParaRPr lang="en-US" altLang="zh-CN" sz="2000" dirty="0"/>
          </a:p>
          <a:p>
            <a:r>
              <a:rPr lang="zh-CN" altLang="en-US" sz="2000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就是</a:t>
            </a:r>
            <a:r>
              <a:rPr lang="zh-CN" altLang="en-US" sz="2000" dirty="0">
                <a:sym typeface="Wingdings" panose="05000000000000000000" pitchFamily="2" charset="2"/>
              </a:rPr>
              <a:t> 戴维南等效电阻的计算</a:t>
            </a:r>
            <a:endParaRPr lang="en-US" sz="2000" dirty="0"/>
          </a:p>
        </p:txBody>
      </p:sp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905000" y="4291230"/>
            <a:ext cx="4727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800" dirty="0">
                <a:solidFill>
                  <a:srgbClr val="0432FF"/>
                </a:solidFill>
              </a:rPr>
              <a:t>输出电阻也可以用 “开路电压</a:t>
            </a:r>
            <a:r>
              <a:rPr kumimoji="1" lang="en-US" altLang="zh-CN" sz="1800" dirty="0">
                <a:solidFill>
                  <a:srgbClr val="0432FF"/>
                </a:solidFill>
              </a:rPr>
              <a:t>/</a:t>
            </a:r>
            <a:r>
              <a:rPr kumimoji="1" lang="zh-CN" altLang="en-US" sz="1800" dirty="0">
                <a:solidFill>
                  <a:srgbClr val="0432FF"/>
                </a:solidFill>
              </a:rPr>
              <a:t>短路电流” 计算</a:t>
            </a:r>
            <a:endParaRPr kumimoji="1" lang="zh-CN" altLang="en-US" sz="1800" dirty="0">
              <a:solidFill>
                <a:srgbClr val="0432FF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Section 1.5.5: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 b="0">
                <a:ea typeface="宋体" panose="02010600030101010101" pitchFamily="2" charset="-122"/>
              </a:rPr>
              <a:t>Determining </a:t>
            </a:r>
            <a:r>
              <a:rPr lang="en-US" altLang="zh-CN" sz="2400" b="0" i="1">
                <a:ea typeface="宋体" panose="02010600030101010101" pitchFamily="2" charset="-122"/>
              </a:rPr>
              <a:t>R</a:t>
            </a:r>
            <a:r>
              <a:rPr lang="en-US" altLang="zh-CN" sz="2400" b="0" i="1" baseline="-25000">
                <a:ea typeface="宋体" panose="02010600030101010101" pitchFamily="2" charset="-122"/>
              </a:rPr>
              <a:t>i</a:t>
            </a:r>
            <a:r>
              <a:rPr lang="en-US" altLang="zh-CN" sz="2400" b="0">
                <a:ea typeface="宋体" panose="02010600030101010101" pitchFamily="2" charset="-122"/>
              </a:rPr>
              <a:t> and </a:t>
            </a:r>
            <a:r>
              <a:rPr lang="en-US" altLang="zh-CN" sz="2400" b="0" i="1">
                <a:ea typeface="宋体" panose="02010600030101010101" pitchFamily="2" charset="-122"/>
              </a:rPr>
              <a:t>R</a:t>
            </a:r>
            <a:r>
              <a:rPr lang="en-US" altLang="zh-CN" sz="2400" b="0" i="1" baseline="-25000">
                <a:ea typeface="宋体" panose="02010600030101010101" pitchFamily="2" charset="-122"/>
              </a:rPr>
              <a:t>o</a:t>
            </a:r>
            <a:endParaRPr lang="en-US" altLang="zh-CN" sz="2400" b="0" i="1" baseline="-25000">
              <a:ea typeface="宋体" panose="02010600030101010101" pitchFamily="2" charset="-122"/>
            </a:endParaRPr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000" b="1">
                <a:solidFill>
                  <a:srgbClr val="FF0000"/>
                </a:solidFill>
                <a:ea typeface="宋体" panose="02010600030101010101" pitchFamily="2" charset="-122"/>
              </a:rPr>
              <a:t>question:</a:t>
            </a:r>
            <a:r>
              <a:rPr lang="en-US" altLang="zh-CN" sz="2000">
                <a:ea typeface="宋体" panose="02010600030101010101" pitchFamily="2" charset="-122"/>
              </a:rPr>
              <a:t> how can we calculate input resistance from terminal behavior?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b="1">
                <a:solidFill>
                  <a:srgbClr val="008000"/>
                </a:solidFill>
                <a:ea typeface="宋体" panose="02010600030101010101" pitchFamily="2" charset="-122"/>
              </a:rPr>
              <a:t>answer:</a:t>
            </a:r>
            <a:r>
              <a:rPr lang="en-US" altLang="zh-CN" sz="2000">
                <a:ea typeface="宋体" panose="02010600030101010101" pitchFamily="2" charset="-122"/>
              </a:rPr>
              <a:t> observe </a:t>
            </a:r>
            <a:r>
              <a:rPr lang="en-US" altLang="zh-CN" sz="2000" i="1">
                <a:ea typeface="宋体" panose="02010600030101010101" pitchFamily="2" charset="-122"/>
              </a:rPr>
              <a:t>v</a:t>
            </a:r>
            <a:r>
              <a:rPr lang="en-US" altLang="zh-CN" sz="2000" i="1" baseline="-25000">
                <a:ea typeface="宋体" panose="02010600030101010101" pitchFamily="2" charset="-122"/>
              </a:rPr>
              <a:t>i</a:t>
            </a:r>
            <a:r>
              <a:rPr lang="en-US" altLang="zh-CN" sz="2000">
                <a:ea typeface="宋体" panose="02010600030101010101" pitchFamily="2" charset="-122"/>
              </a:rPr>
              <a:t> and </a:t>
            </a:r>
            <a:r>
              <a:rPr lang="en-US" altLang="zh-CN" sz="2000" i="1">
                <a:ea typeface="宋体" panose="02010600030101010101" pitchFamily="2" charset="-122"/>
              </a:rPr>
              <a:t>i</a:t>
            </a:r>
            <a:r>
              <a:rPr lang="en-US" altLang="zh-CN" sz="2000" i="1" baseline="-25000">
                <a:ea typeface="宋体" panose="02010600030101010101" pitchFamily="2" charset="-122"/>
              </a:rPr>
              <a:t>i</a:t>
            </a:r>
            <a:r>
              <a:rPr lang="en-US" altLang="zh-CN" sz="2000">
                <a:ea typeface="宋体" panose="02010600030101010101" pitchFamily="2" charset="-122"/>
              </a:rPr>
              <a:t>, calculate via </a:t>
            </a:r>
            <a:r>
              <a:rPr lang="en-US" altLang="zh-CN" sz="2000" i="1">
                <a:ea typeface="宋体" panose="02010600030101010101" pitchFamily="2" charset="-122"/>
              </a:rPr>
              <a:t>R</a:t>
            </a:r>
            <a:r>
              <a:rPr lang="en-US" altLang="zh-CN" sz="2000" i="1" baseline="-25000">
                <a:ea typeface="宋体" panose="02010600030101010101" pitchFamily="2" charset="-122"/>
              </a:rPr>
              <a:t>i</a:t>
            </a:r>
            <a:r>
              <a:rPr lang="en-US" altLang="zh-CN" sz="2000">
                <a:ea typeface="宋体" panose="02010600030101010101" pitchFamily="2" charset="-122"/>
              </a:rPr>
              <a:t> = </a:t>
            </a:r>
            <a:r>
              <a:rPr lang="en-US" altLang="zh-CN" sz="2000" i="1">
                <a:ea typeface="宋体" panose="02010600030101010101" pitchFamily="2" charset="-122"/>
              </a:rPr>
              <a:t>v</a:t>
            </a:r>
            <a:r>
              <a:rPr lang="en-US" altLang="zh-CN" sz="2000" i="1" baseline="-25000">
                <a:ea typeface="宋体" panose="02010600030101010101" pitchFamily="2" charset="-122"/>
              </a:rPr>
              <a:t>i</a:t>
            </a:r>
            <a:r>
              <a:rPr lang="en-US" altLang="zh-CN" sz="2000">
                <a:ea typeface="宋体" panose="02010600030101010101" pitchFamily="2" charset="-122"/>
              </a:rPr>
              <a:t> / </a:t>
            </a:r>
            <a:r>
              <a:rPr lang="en-US" altLang="zh-CN" sz="2000" i="1">
                <a:ea typeface="宋体" panose="02010600030101010101" pitchFamily="2" charset="-122"/>
              </a:rPr>
              <a:t>i</a:t>
            </a:r>
            <a:r>
              <a:rPr lang="en-US" altLang="zh-CN" sz="2000" i="1" baseline="-25000">
                <a:ea typeface="宋体" panose="02010600030101010101" pitchFamily="2" charset="-122"/>
              </a:rPr>
              <a:t>i</a:t>
            </a:r>
            <a:endParaRPr lang="en-US" altLang="zh-CN" sz="2000" i="1" baseline="-2500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000" b="1">
                <a:solidFill>
                  <a:srgbClr val="FF0000"/>
                </a:solidFill>
                <a:ea typeface="宋体" panose="02010600030101010101" pitchFamily="2" charset="-122"/>
              </a:rPr>
              <a:t>question:</a:t>
            </a:r>
            <a:r>
              <a:rPr lang="en-US" altLang="zh-CN" sz="2000">
                <a:ea typeface="宋体" panose="02010600030101010101" pitchFamily="2" charset="-122"/>
              </a:rPr>
              <a:t> how can we calculate output resistance from terminal behavior?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b="1">
                <a:solidFill>
                  <a:srgbClr val="008000"/>
                </a:solidFill>
                <a:ea typeface="宋体" panose="02010600030101010101" pitchFamily="2" charset="-122"/>
              </a:rPr>
              <a:t>answer:</a:t>
            </a:r>
            <a:endParaRPr lang="en-US" altLang="zh-CN" sz="2000" b="1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remove source voltage (such that </a:t>
            </a:r>
            <a:r>
              <a:rPr lang="en-US" altLang="zh-CN" sz="1800" i="1">
                <a:ea typeface="宋体" panose="02010600030101010101" pitchFamily="2" charset="-122"/>
              </a:rPr>
              <a:t>v</a:t>
            </a:r>
            <a:r>
              <a:rPr lang="en-US" altLang="zh-CN" sz="1800" i="1" baseline="-25000">
                <a:ea typeface="宋体" panose="02010600030101010101" pitchFamily="2" charset="-122"/>
              </a:rPr>
              <a:t>i</a:t>
            </a:r>
            <a:r>
              <a:rPr lang="en-US" altLang="zh-CN" sz="1800">
                <a:ea typeface="宋体" panose="02010600030101010101" pitchFamily="2" charset="-122"/>
              </a:rPr>
              <a:t> = </a:t>
            </a:r>
            <a:r>
              <a:rPr lang="en-US" altLang="zh-CN" sz="1800" i="1">
                <a:ea typeface="宋体" panose="02010600030101010101" pitchFamily="2" charset="-122"/>
              </a:rPr>
              <a:t>i</a:t>
            </a:r>
            <a:r>
              <a:rPr lang="en-US" altLang="zh-CN" sz="1800" i="1" baseline="-25000">
                <a:ea typeface="宋体" panose="02010600030101010101" pitchFamily="2" charset="-122"/>
              </a:rPr>
              <a:t>i</a:t>
            </a:r>
            <a:r>
              <a:rPr lang="en-US" altLang="zh-CN" sz="1800">
                <a:ea typeface="宋体" panose="02010600030101010101" pitchFamily="2" charset="-122"/>
              </a:rPr>
              <a:t> = 0)</a:t>
            </a:r>
            <a:endParaRPr lang="en-US" altLang="zh-CN" sz="180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apply voltage to output (</a:t>
            </a:r>
            <a:r>
              <a:rPr lang="en-US" altLang="zh-CN" sz="1800" i="1">
                <a:ea typeface="宋体" panose="02010600030101010101" pitchFamily="2" charset="-122"/>
              </a:rPr>
              <a:t>v</a:t>
            </a:r>
            <a:r>
              <a:rPr lang="en-US" altLang="zh-CN" sz="1800" i="1" baseline="-25000">
                <a:ea typeface="宋体" panose="02010600030101010101" pitchFamily="2" charset="-122"/>
              </a:rPr>
              <a:t>x</a:t>
            </a:r>
            <a:r>
              <a:rPr lang="en-US" altLang="zh-CN" sz="1800">
                <a:ea typeface="宋体" panose="02010600030101010101" pitchFamily="2" charset="-122"/>
              </a:rPr>
              <a:t>)</a:t>
            </a:r>
            <a:endParaRPr lang="en-US" altLang="zh-CN" sz="180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measure negative output current (-</a:t>
            </a:r>
            <a:r>
              <a:rPr lang="en-US" altLang="zh-CN" sz="1800" i="1">
                <a:ea typeface="宋体" panose="02010600030101010101" pitchFamily="2" charset="-122"/>
              </a:rPr>
              <a:t>i</a:t>
            </a:r>
            <a:r>
              <a:rPr lang="en-US" altLang="zh-CN" sz="1800" i="1" baseline="-25000">
                <a:ea typeface="宋体" panose="02010600030101010101" pitchFamily="2" charset="-122"/>
              </a:rPr>
              <a:t>o</a:t>
            </a:r>
            <a:r>
              <a:rPr lang="en-US" altLang="zh-CN" sz="1800">
                <a:ea typeface="宋体" panose="02010600030101010101" pitchFamily="2" charset="-122"/>
              </a:rPr>
              <a:t>)</a:t>
            </a:r>
            <a:endParaRPr lang="en-US" altLang="zh-CN" sz="180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1800">
                <a:ea typeface="宋体" panose="02010600030101010101" pitchFamily="2" charset="-122"/>
              </a:rPr>
              <a:t>calculate via </a:t>
            </a:r>
            <a:r>
              <a:rPr lang="en-US" altLang="zh-CN" sz="1800" i="1">
                <a:ea typeface="宋体" panose="02010600030101010101" pitchFamily="2" charset="-122"/>
              </a:rPr>
              <a:t>R</a:t>
            </a:r>
            <a:r>
              <a:rPr lang="en-US" altLang="zh-CN" sz="1800" i="1" baseline="-25000">
                <a:ea typeface="宋体" panose="02010600030101010101" pitchFamily="2" charset="-122"/>
              </a:rPr>
              <a:t>o</a:t>
            </a:r>
            <a:r>
              <a:rPr lang="en-US" altLang="zh-CN" sz="1800">
                <a:ea typeface="宋体" panose="02010600030101010101" pitchFamily="2" charset="-122"/>
              </a:rPr>
              <a:t> = -</a:t>
            </a:r>
            <a:r>
              <a:rPr lang="en-US" altLang="zh-CN" sz="1800" i="1">
                <a:ea typeface="宋体" panose="02010600030101010101" pitchFamily="2" charset="-122"/>
              </a:rPr>
              <a:t>v</a:t>
            </a:r>
            <a:r>
              <a:rPr lang="en-US" altLang="zh-CN" sz="1800" i="1" baseline="-25000">
                <a:ea typeface="宋体" panose="02010600030101010101" pitchFamily="2" charset="-122"/>
              </a:rPr>
              <a:t>x </a:t>
            </a:r>
            <a:r>
              <a:rPr lang="en-US" altLang="zh-CN" sz="1800">
                <a:ea typeface="宋体" panose="02010600030101010101" pitchFamily="2" charset="-122"/>
              </a:rPr>
              <a:t>/ </a:t>
            </a:r>
            <a:r>
              <a:rPr lang="en-US" altLang="zh-CN" sz="1800" i="1">
                <a:ea typeface="宋体" panose="02010600030101010101" pitchFamily="2" charset="-122"/>
              </a:rPr>
              <a:t>i</a:t>
            </a:r>
            <a:r>
              <a:rPr lang="en-US" altLang="zh-CN" sz="1800" i="1" baseline="-25000">
                <a:ea typeface="宋体" panose="02010600030101010101" pitchFamily="2" charset="-122"/>
              </a:rPr>
              <a:t>o</a:t>
            </a:r>
            <a:endParaRPr lang="en-US" altLang="zh-CN" sz="1800" i="1" baseline="-25000">
              <a:ea typeface="宋体" panose="02010600030101010101" pitchFamily="2" charset="-122"/>
            </a:endParaRPr>
          </a:p>
        </p:txBody>
      </p:sp>
      <p:sp>
        <p:nvSpPr>
          <p:cNvPr id="77829" name="Rectangle 4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1865733" name="Picture 5" descr="se01F1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85788"/>
            <a:ext cx="8382000" cy="589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5734" name="Text Box 3"/>
          <p:cNvSpPr txBox="1">
            <a:spLocks noChangeArrowheads="1"/>
          </p:cNvSpPr>
          <p:nvPr/>
        </p:nvSpPr>
        <p:spPr bwMode="auto">
          <a:xfrm>
            <a:off x="381000" y="5730875"/>
            <a:ext cx="5029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MS PGothic" panose="020B0600070205080204" pitchFamily="34" charset="-128"/>
              </a:rPr>
              <a:t>Figure 1.18: </a:t>
            </a:r>
            <a:r>
              <a:rPr lang="en-US" altLang="zh-CN">
                <a:ea typeface="MS PGothic" panose="020B0600070205080204" pitchFamily="34" charset="-128"/>
              </a:rPr>
              <a:t>Determining the output resistance.</a:t>
            </a:r>
            <a:endParaRPr lang="en-US" altLang="zh-CN">
              <a:ea typeface="MS PGothic" panose="020B0600070205080204" pitchFamily="34" charset="-128"/>
            </a:endParaRPr>
          </a:p>
        </p:txBody>
      </p:sp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65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65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573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1.5.6. </a:t>
            </a:r>
            <a:r>
              <a:rPr lang="en-US" altLang="zh-CN" sz="3200">
                <a:ea typeface="宋体" panose="02010600030101010101" pitchFamily="2" charset="-122"/>
              </a:rPr>
              <a:t>Unilateral Models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unilateral model</a:t>
            </a:r>
            <a:r>
              <a:rPr lang="en-US" altLang="zh-CN" sz="2800" dirty="0">
                <a:ea typeface="宋体" panose="02010600030101010101" pitchFamily="2" charset="-122"/>
              </a:rPr>
              <a:t> (</a:t>
            </a:r>
            <a:r>
              <a:rPr lang="zh-CN" altLang="en-US" dirty="0">
                <a:ea typeface="宋体" panose="02010600030101010101" pitchFamily="2" charset="-122"/>
              </a:rPr>
              <a:t>单向模型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– is one in which signal flows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only from input to output</a:t>
            </a:r>
            <a:r>
              <a:rPr lang="en-US" altLang="zh-CN" sz="2800" dirty="0">
                <a:ea typeface="宋体" panose="02010600030101010101" pitchFamily="2" charset="-122"/>
              </a:rPr>
              <a:t> (not reverse)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However, most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practical amplifiers</a:t>
            </a:r>
            <a:r>
              <a:rPr lang="en-US" altLang="zh-CN" sz="2800" dirty="0">
                <a:ea typeface="宋体" panose="02010600030101010101" pitchFamily="2" charset="-122"/>
              </a:rPr>
              <a:t> will exhibit some reverse transmission…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80899" name="Rectangle 7"/>
          <p:cNvSpPr>
            <a:spLocks noChangeArrowheads="1"/>
          </p:cNvSpPr>
          <p:nvPr/>
        </p:nvSpPr>
        <p:spPr bwMode="auto">
          <a:xfrm>
            <a:off x="762000" y="2057400"/>
            <a:ext cx="3200400" cy="4648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80900" name="Rectangle 2"/>
          <p:cNvSpPr>
            <a:spLocks noChangeArrowheads="1"/>
          </p:cNvSpPr>
          <p:nvPr/>
        </p:nvSpPr>
        <p:spPr bwMode="auto">
          <a:xfrm>
            <a:off x="2667000" y="6553200"/>
            <a:ext cx="3810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8090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Example 1.4: </a:t>
            </a:r>
            <a:r>
              <a:rPr lang="en-US" altLang="zh-CN" sz="3200" b="0">
                <a:ea typeface="宋体" panose="02010600030101010101" pitchFamily="2" charset="-122"/>
              </a:rPr>
              <a:t>Common-Emitter Circuit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80902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Examine the </a:t>
            </a:r>
            <a:r>
              <a:rPr lang="en-US" altLang="zh-CN" sz="2800" b="1">
                <a:solidFill>
                  <a:srgbClr val="3333FF"/>
                </a:solidFill>
                <a:ea typeface="宋体" panose="02010600030101010101" pitchFamily="2" charset="-122"/>
              </a:rPr>
              <a:t>bipolar junction transistor</a:t>
            </a:r>
            <a:r>
              <a:rPr lang="en-US" altLang="zh-CN" sz="2800">
                <a:ea typeface="宋体" panose="02010600030101010101" pitchFamily="2" charset="-122"/>
              </a:rPr>
              <a:t> (BJT).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three-terminal</a:t>
            </a:r>
            <a:r>
              <a:rPr lang="en-US" altLang="zh-CN" sz="2800">
                <a:ea typeface="宋体" panose="02010600030101010101" pitchFamily="2" charset="-122"/>
              </a:rPr>
              <a:t> device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>
                <a:ea typeface="宋体" panose="02010600030101010101" pitchFamily="2" charset="-122"/>
              </a:rPr>
              <a:t>when powered up with dc source and operated with small signals, may be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modeled by linear circuit below.</a:t>
            </a:r>
            <a:endParaRPr lang="en-US" altLang="zh-CN" sz="28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80903" name="Rectangle 6"/>
          <p:cNvSpPr>
            <a:spLocks noChangeArrowheads="1"/>
          </p:cNvSpPr>
          <p:nvPr/>
        </p:nvSpPr>
        <p:spPr bwMode="auto">
          <a:xfrm>
            <a:off x="0" y="6172200"/>
            <a:ext cx="41148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8090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100" y="4073525"/>
            <a:ext cx="4559300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0905" name="Group 2"/>
          <p:cNvGrpSpPr/>
          <p:nvPr/>
        </p:nvGrpSpPr>
        <p:grpSpPr bwMode="auto">
          <a:xfrm>
            <a:off x="746125" y="4211638"/>
            <a:ext cx="1501775" cy="2130425"/>
            <a:chOff x="746106" y="4212223"/>
            <a:chExt cx="1501585" cy="2129254"/>
          </a:xfrm>
        </p:grpSpPr>
        <p:pic>
          <p:nvPicPr>
            <p:cNvPr id="80906" name="Picture 10" descr="http://www.clker.com/cliparts/4/e/6/0/11970895921290543447vermeil_IEC_NPN_Transistor_Symbol.svg.hi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998" y="4648200"/>
              <a:ext cx="1054769" cy="128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907" name="TextBox 1"/>
            <p:cNvSpPr txBox="1">
              <a:spLocks noChangeArrowheads="1"/>
            </p:cNvSpPr>
            <p:nvPr/>
          </p:nvSpPr>
          <p:spPr bwMode="auto">
            <a:xfrm>
              <a:off x="1962035" y="6002923"/>
              <a:ext cx="28565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E</a:t>
              </a: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80908" name="TextBox 10"/>
            <p:cNvSpPr txBox="1">
              <a:spLocks noChangeArrowheads="1"/>
            </p:cNvSpPr>
            <p:nvPr/>
          </p:nvSpPr>
          <p:spPr bwMode="auto">
            <a:xfrm>
              <a:off x="1820765" y="4212223"/>
              <a:ext cx="29367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C</a:t>
              </a:r>
              <a:endParaRPr lang="en-US" altLang="zh-CN" sz="1600">
                <a:ea typeface="宋体" panose="02010600030101010101" pitchFamily="2" charset="-122"/>
              </a:endParaRPr>
            </a:p>
          </p:txBody>
        </p:sp>
        <p:sp>
          <p:nvSpPr>
            <p:cNvPr id="80909" name="TextBox 11"/>
            <p:cNvSpPr txBox="1">
              <a:spLocks noChangeArrowheads="1"/>
            </p:cNvSpPr>
            <p:nvPr/>
          </p:nvSpPr>
          <p:spPr bwMode="auto">
            <a:xfrm>
              <a:off x="746106" y="5121003"/>
              <a:ext cx="29687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B</a:t>
              </a:r>
              <a:endParaRPr lang="en-US" altLang="zh-CN" sz="1600">
                <a:ea typeface="宋体" panose="02010600030101010101" pitchFamily="2" charset="-122"/>
              </a:endParaRPr>
            </a:p>
          </p:txBody>
        </p:sp>
      </p:grpSp>
      <p:sp>
        <p:nvSpPr>
          <p:cNvPr id="14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82947" name="Rectangle 2"/>
          <p:cNvSpPr>
            <a:spLocks noChangeArrowheads="1"/>
          </p:cNvSpPr>
          <p:nvPr/>
        </p:nvSpPr>
        <p:spPr bwMode="auto">
          <a:xfrm>
            <a:off x="2667000" y="6553200"/>
            <a:ext cx="3810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Example 1.4.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2949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ea typeface="宋体" panose="02010600030101010101" pitchFamily="2" charset="-122"/>
              </a:rPr>
              <a:t>examine:</a:t>
            </a:r>
            <a:endParaRPr lang="en-US" altLang="zh-CN" b="1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b="1">
                <a:ea typeface="宋体" panose="02010600030101010101" pitchFamily="2" charset="-122"/>
              </a:rPr>
              <a:t>bipolar junction transistor (BJT):</a:t>
            </a:r>
            <a:endParaRPr lang="en-US" altLang="zh-CN" b="1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>
                <a:ea typeface="宋体" panose="02010600030101010101" pitchFamily="2" charset="-122"/>
              </a:rPr>
              <a:t>three-terminal device</a:t>
            </a:r>
            <a:endParaRPr lang="en-US" altLang="zh-CN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>
                <a:ea typeface="宋体" panose="02010600030101010101" pitchFamily="2" charset="-122"/>
              </a:rPr>
              <a:t>when powered up with dc source and operated with small signals, may be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modeled by linear circuit below.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1868807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49325"/>
            <a:ext cx="8534400" cy="507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8809" name="Text Box 2"/>
          <p:cNvSpPr txBox="1">
            <a:spLocks noChangeArrowheads="1"/>
          </p:cNvSpPr>
          <p:nvPr/>
        </p:nvSpPr>
        <p:spPr bwMode="auto">
          <a:xfrm>
            <a:off x="4800600" y="5105400"/>
            <a:ext cx="4038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MS PGothic" panose="020B0600070205080204" pitchFamily="34" charset="-128"/>
              </a:rPr>
              <a:t>Figure 1.19 (a)</a:t>
            </a:r>
            <a:r>
              <a:rPr lang="en-US" altLang="zh-CN">
                <a:ea typeface="MS PGothic" panose="020B0600070205080204" pitchFamily="34" charset="-128"/>
              </a:rPr>
              <a:t> small-signal circuit model for a </a:t>
            </a:r>
            <a:r>
              <a:rPr lang="en-US" altLang="zh-CN">
                <a:solidFill>
                  <a:srgbClr val="3333FF"/>
                </a:solidFill>
                <a:ea typeface="MS PGothic" panose="020B0600070205080204" pitchFamily="34" charset="-128"/>
              </a:rPr>
              <a:t>bipolar junction transistor (BJT)</a:t>
            </a:r>
            <a:endParaRPr lang="en-US" altLang="zh-CN">
              <a:solidFill>
                <a:srgbClr val="3333FF"/>
              </a:solidFill>
              <a:ea typeface="MS PGothic" panose="020B0600070205080204" pitchFamily="34" charset="-128"/>
            </a:endParaRPr>
          </a:p>
        </p:txBody>
      </p:sp>
      <p:sp>
        <p:nvSpPr>
          <p:cNvPr id="1868810" name="Text Box 10"/>
          <p:cNvSpPr txBox="1">
            <a:spLocks noChangeArrowheads="1"/>
          </p:cNvSpPr>
          <p:nvPr/>
        </p:nvSpPr>
        <p:spPr bwMode="auto">
          <a:xfrm>
            <a:off x="228600" y="477838"/>
            <a:ext cx="2057400" cy="57943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base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868811" name="Text Box 11"/>
          <p:cNvSpPr txBox="1">
            <a:spLocks noChangeArrowheads="1"/>
          </p:cNvSpPr>
          <p:nvPr/>
        </p:nvSpPr>
        <p:spPr bwMode="auto">
          <a:xfrm>
            <a:off x="3200400" y="5943600"/>
            <a:ext cx="2057400" cy="5794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emitter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868812" name="Text Box 12"/>
          <p:cNvSpPr txBox="1">
            <a:spLocks noChangeArrowheads="1"/>
          </p:cNvSpPr>
          <p:nvPr/>
        </p:nvSpPr>
        <p:spPr bwMode="auto">
          <a:xfrm>
            <a:off x="6781800" y="477838"/>
            <a:ext cx="2057400" cy="57943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collector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868813" name="Line 13"/>
          <p:cNvSpPr>
            <a:spLocks noChangeShapeType="1"/>
          </p:cNvSpPr>
          <p:nvPr/>
        </p:nvSpPr>
        <p:spPr bwMode="auto">
          <a:xfrm flipH="1">
            <a:off x="2362200" y="457200"/>
            <a:ext cx="457200" cy="2209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68814" name="Line 14"/>
          <p:cNvSpPr>
            <a:spLocks noChangeShapeType="1"/>
          </p:cNvSpPr>
          <p:nvPr/>
        </p:nvSpPr>
        <p:spPr bwMode="auto">
          <a:xfrm>
            <a:off x="6324600" y="1143000"/>
            <a:ext cx="53340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68815" name="Text Box 15"/>
          <p:cNvSpPr txBox="1">
            <a:spLocks noChangeArrowheads="1"/>
          </p:cNvSpPr>
          <p:nvPr/>
        </p:nvSpPr>
        <p:spPr bwMode="auto">
          <a:xfrm>
            <a:off x="2438400" y="152400"/>
            <a:ext cx="3810000" cy="5794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input resistance (</a:t>
            </a: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3200" i="1" baseline="-25000">
                <a:solidFill>
                  <a:srgbClr val="FF0000"/>
                </a:solidFill>
                <a:latin typeface="Symbol" panose="05050102010706020507" pitchFamily="2" charset="2"/>
                <a:ea typeface="宋体" panose="02010600030101010101" pitchFamily="2" charset="-122"/>
              </a:rPr>
              <a:t>p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868816" name="Text Box 16"/>
          <p:cNvSpPr txBox="1">
            <a:spLocks noChangeArrowheads="1"/>
          </p:cNvSpPr>
          <p:nvPr/>
        </p:nvSpPr>
        <p:spPr bwMode="auto">
          <a:xfrm>
            <a:off x="2819400" y="838200"/>
            <a:ext cx="3810000" cy="5794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output resistance (</a:t>
            </a: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3200" i="1" baseline="-25000">
                <a:solidFill>
                  <a:srgbClr val="FF0000"/>
                </a:solidFill>
                <a:ea typeface="宋体" panose="02010600030101010101" pitchFamily="2" charset="-122"/>
              </a:rPr>
              <a:t>o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868817" name="Line 17"/>
          <p:cNvSpPr>
            <a:spLocks noChangeShapeType="1"/>
          </p:cNvSpPr>
          <p:nvPr/>
        </p:nvSpPr>
        <p:spPr bwMode="auto">
          <a:xfrm flipV="1">
            <a:off x="2743200" y="3962400"/>
            <a:ext cx="2362200" cy="1295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68808" name="Text Box 8"/>
          <p:cNvSpPr txBox="1">
            <a:spLocks noChangeArrowheads="1"/>
          </p:cNvSpPr>
          <p:nvPr/>
        </p:nvSpPr>
        <p:spPr bwMode="auto">
          <a:xfrm>
            <a:off x="228600" y="5105400"/>
            <a:ext cx="2667000" cy="155416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short-circuit conductance (</a:t>
            </a:r>
            <a:r>
              <a:rPr lang="en-US" altLang="zh-CN" sz="3200" i="1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 sz="3200" i="1" baseline="-25000">
                <a:solidFill>
                  <a:srgbClr val="FF0000"/>
                </a:solidFill>
                <a:ea typeface="宋体" panose="02010600030101010101" pitchFamily="2" charset="-122"/>
              </a:rPr>
              <a:t>m</a:t>
            </a:r>
            <a:r>
              <a:rPr lang="en-US" altLang="zh-CN" sz="320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endParaRPr lang="en-US" altLang="zh-CN" sz="32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68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68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68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68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68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68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868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68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68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68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68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68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8809" grpId="0"/>
      <p:bldP spid="1868809" grpId="1"/>
      <p:bldP spid="1868810" grpId="0" animBg="1"/>
      <p:bldP spid="1868811" grpId="0" animBg="1"/>
      <p:bldP spid="1868812" grpId="0" animBg="1"/>
      <p:bldP spid="1868815" grpId="0" animBg="1"/>
      <p:bldP spid="1868816" grpId="0" animBg="1"/>
      <p:bldP spid="186880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84995" name="Rectangle 2"/>
          <p:cNvSpPr>
            <a:spLocks noChangeArrowheads="1"/>
          </p:cNvSpPr>
          <p:nvPr/>
        </p:nvSpPr>
        <p:spPr bwMode="auto">
          <a:xfrm>
            <a:off x="2667000" y="6553200"/>
            <a:ext cx="3810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8499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Example 1.4: </a:t>
            </a:r>
            <a:r>
              <a:rPr lang="en-US" altLang="zh-CN" sz="3200" b="0">
                <a:ea typeface="宋体" panose="02010600030101010101" pitchFamily="2" charset="-122"/>
              </a:rPr>
              <a:t>Common-Emitter Circuit</a:t>
            </a:r>
            <a:r>
              <a:rPr lang="en-US" altLang="zh-CN" sz="3200">
                <a:ea typeface="宋体" panose="02010600030101010101" pitchFamily="2" charset="-122"/>
              </a:rPr>
              <a:t> 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84997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Q(a):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Derive an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expression for the voltage gain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i="1" dirty="0" err="1">
                <a:ea typeface="宋体" panose="02010600030101010101" pitchFamily="2" charset="-122"/>
              </a:rPr>
              <a:t>v</a:t>
            </a:r>
            <a:r>
              <a:rPr lang="en-US" altLang="zh-CN" sz="2800" i="1" baseline="-25000" dirty="0" err="1">
                <a:ea typeface="宋体" panose="02010600030101010101" pitchFamily="2" charset="-122"/>
              </a:rPr>
              <a:t>o</a:t>
            </a:r>
            <a:r>
              <a:rPr lang="en-US" altLang="zh-CN" sz="2800" dirty="0">
                <a:ea typeface="宋体" panose="02010600030101010101" pitchFamily="2" charset="-122"/>
              </a:rPr>
              <a:t> / </a:t>
            </a:r>
            <a:r>
              <a:rPr lang="en-US" altLang="zh-CN" sz="2800" i="1" dirty="0">
                <a:ea typeface="宋体" panose="02010600030101010101" pitchFamily="2" charset="-122"/>
              </a:rPr>
              <a:t>v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s</a:t>
            </a:r>
            <a:r>
              <a:rPr lang="en-US" altLang="zh-CN" sz="2800" dirty="0">
                <a:ea typeface="宋体" panose="02010600030101010101" pitchFamily="2" charset="-122"/>
              </a:rPr>
              <a:t> of common-emitter circuit with: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i="1" dirty="0">
                <a:ea typeface="宋体" panose="02010600030101010101" pitchFamily="2" charset="-122"/>
              </a:rPr>
              <a:t>R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s</a:t>
            </a:r>
            <a:r>
              <a:rPr lang="en-US" altLang="zh-CN" sz="2800" dirty="0">
                <a:ea typeface="宋体" panose="02010600030101010101" pitchFamily="2" charset="-122"/>
              </a:rPr>
              <a:t> = 5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kohm</a:t>
            </a:r>
            <a:endParaRPr lang="en-US" altLang="zh-CN" sz="2800" i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i="1" dirty="0" err="1">
                <a:ea typeface="宋体" panose="02010600030101010101" pitchFamily="2" charset="-122"/>
              </a:rPr>
              <a:t>r</a:t>
            </a:r>
            <a:r>
              <a:rPr lang="en-US" altLang="zh-CN" sz="2800" i="1" baseline="-25000" dirty="0" err="1">
                <a:latin typeface="Symbol" panose="05050102010706020507" pitchFamily="2" charset="2"/>
                <a:ea typeface="宋体" panose="02010600030101010101" pitchFamily="2" charset="-122"/>
              </a:rPr>
              <a:t>p</a:t>
            </a:r>
            <a:r>
              <a:rPr lang="en-US" altLang="zh-CN" sz="2800" dirty="0">
                <a:ea typeface="宋体" panose="02010600030101010101" pitchFamily="2" charset="-122"/>
              </a:rPr>
              <a:t> = 2.5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kohm</a:t>
            </a:r>
            <a:endParaRPr lang="en-US" altLang="zh-CN" sz="2800" i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i="1" dirty="0">
                <a:ea typeface="宋体" panose="02010600030101010101" pitchFamily="2" charset="-122"/>
              </a:rPr>
              <a:t>g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m</a:t>
            </a:r>
            <a:r>
              <a:rPr lang="en-US" altLang="zh-CN" sz="2800" dirty="0">
                <a:ea typeface="宋体" panose="02010600030101010101" pitchFamily="2" charset="-122"/>
              </a:rPr>
              <a:t> = 40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mA/V</a:t>
            </a:r>
            <a:endParaRPr lang="en-US" altLang="zh-CN" sz="2800" i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i="1" dirty="0" err="1">
                <a:ea typeface="宋体" panose="02010600030101010101" pitchFamily="2" charset="-122"/>
              </a:rPr>
              <a:t>r</a:t>
            </a:r>
            <a:r>
              <a:rPr lang="en-US" altLang="zh-CN" sz="2800" i="1" baseline="-25000" dirty="0" err="1">
                <a:ea typeface="宋体" panose="02010600030101010101" pitchFamily="2" charset="-122"/>
              </a:rPr>
              <a:t>o</a:t>
            </a:r>
            <a:r>
              <a:rPr lang="en-US" altLang="zh-CN" sz="2800" dirty="0">
                <a:ea typeface="宋体" panose="02010600030101010101" pitchFamily="2" charset="-122"/>
              </a:rPr>
              <a:t> = 100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kohm</a:t>
            </a:r>
            <a:endParaRPr lang="en-US" altLang="zh-CN" sz="2800" i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i="1" dirty="0">
                <a:ea typeface="宋体" panose="02010600030101010101" pitchFamily="2" charset="-122"/>
              </a:rPr>
              <a:t>R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L</a:t>
            </a:r>
            <a:r>
              <a:rPr lang="en-US" altLang="zh-CN" sz="2800" dirty="0">
                <a:ea typeface="宋体" panose="02010600030101010101" pitchFamily="2" charset="-122"/>
              </a:rPr>
              <a:t> = 5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kohm</a:t>
            </a:r>
            <a:endParaRPr lang="en-US" altLang="zh-CN" sz="2800" i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6039" y="2882900"/>
            <a:ext cx="6057900" cy="2387600"/>
          </a:xfrm>
          <a:prstGeom prst="rect">
            <a:avLst/>
          </a:prstGeom>
        </p:spPr>
      </p:pic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8602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86021" name="Rectangle 4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86022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057400"/>
            <a:ext cx="8610600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3" name="Text Box 2"/>
          <p:cNvSpPr txBox="1">
            <a:spLocks noChangeArrowheads="1"/>
          </p:cNvSpPr>
          <p:nvPr/>
        </p:nvSpPr>
        <p:spPr bwMode="auto">
          <a:xfrm>
            <a:off x="914400" y="5518150"/>
            <a:ext cx="7239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MS PGothic" panose="020B0600070205080204" pitchFamily="34" charset="-128"/>
              </a:rPr>
              <a:t>Figure 1.19(b): </a:t>
            </a:r>
            <a:r>
              <a:rPr lang="en-US" altLang="zh-CN">
                <a:ea typeface="MS PGothic" panose="020B0600070205080204" pitchFamily="34" charset="-128"/>
              </a:rPr>
              <a:t>The BJT connected as an amplifier with the emitter as a common terminal between input and output (called a common-emitter amplifier).</a:t>
            </a:r>
            <a:endParaRPr lang="en-US" altLang="zh-CN">
              <a:ea typeface="MS PGothic" panose="020B0600070205080204" pitchFamily="34" charset="-128"/>
            </a:endParaRPr>
          </a:p>
        </p:txBody>
      </p:sp>
      <p:sp>
        <p:nvSpPr>
          <p:cNvPr id="1870855" name="Line 7"/>
          <p:cNvSpPr>
            <a:spLocks noChangeShapeType="1"/>
          </p:cNvSpPr>
          <p:nvPr/>
        </p:nvSpPr>
        <p:spPr bwMode="auto">
          <a:xfrm>
            <a:off x="4114800" y="685800"/>
            <a:ext cx="0" cy="3429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70856" name="Text Box 8"/>
          <p:cNvSpPr txBox="1">
            <a:spLocks noChangeArrowheads="1"/>
          </p:cNvSpPr>
          <p:nvPr/>
        </p:nvSpPr>
        <p:spPr bwMode="auto">
          <a:xfrm>
            <a:off x="228600" y="228600"/>
            <a:ext cx="86868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input and output share common terminal</a:t>
            </a:r>
            <a:endParaRPr lang="en-US" altLang="zh-CN" sz="28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870857" name="Rectangle 9"/>
          <p:cNvSpPr>
            <a:spLocks noChangeArrowheads="1"/>
          </p:cNvSpPr>
          <p:nvPr/>
        </p:nvSpPr>
        <p:spPr bwMode="auto">
          <a:xfrm>
            <a:off x="228600" y="1981200"/>
            <a:ext cx="1981200" cy="2590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870858" name="Text Box 10"/>
          <p:cNvSpPr txBox="1">
            <a:spLocks noChangeArrowheads="1"/>
          </p:cNvSpPr>
          <p:nvPr/>
        </p:nvSpPr>
        <p:spPr bwMode="auto">
          <a:xfrm>
            <a:off x="228600" y="1524000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source</a:t>
            </a:r>
            <a:endParaRPr lang="en-US" altLang="zh-CN" sz="28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870859" name="Rectangle 11"/>
          <p:cNvSpPr>
            <a:spLocks noChangeArrowheads="1"/>
          </p:cNvSpPr>
          <p:nvPr/>
        </p:nvSpPr>
        <p:spPr bwMode="auto">
          <a:xfrm>
            <a:off x="7086600" y="1981200"/>
            <a:ext cx="1828800" cy="2590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870860" name="Text Box 12"/>
          <p:cNvSpPr txBox="1">
            <a:spLocks noChangeArrowheads="1"/>
          </p:cNvSpPr>
          <p:nvPr/>
        </p:nvSpPr>
        <p:spPr bwMode="auto">
          <a:xfrm>
            <a:off x="7010400" y="1524000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load</a:t>
            </a:r>
            <a:endParaRPr lang="en-US" altLang="zh-CN" sz="28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86030" name="矩形 1"/>
          <p:cNvSpPr>
            <a:spLocks noChangeArrowheads="1"/>
          </p:cNvSpPr>
          <p:nvPr/>
        </p:nvSpPr>
        <p:spPr bwMode="auto">
          <a:xfrm>
            <a:off x="2453240" y="1039722"/>
            <a:ext cx="4572000" cy="120032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 sz="2400" i="1" dirty="0" err="1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</a:t>
            </a:r>
            <a:r>
              <a:rPr lang="en-US" altLang="zh-CN" sz="2400" baseline="-25000" dirty="0" err="1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be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</a:t>
            </a:r>
            <a:r>
              <a:rPr lang="en-US" altLang="zh-CN" sz="2400" i="1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* r</a:t>
            </a:r>
            <a:r>
              <a:rPr lang="en-US" altLang="zh-CN" sz="2400" baseline="-250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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/(R</a:t>
            </a:r>
            <a:r>
              <a:rPr lang="en-US" altLang="zh-CN" sz="2400" baseline="-250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s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 + 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en-US" altLang="zh-CN" sz="2400" baseline="-250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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)</a:t>
            </a:r>
            <a:endParaRPr lang="en-US" altLang="zh-CN" sz="2400" dirty="0">
              <a:solidFill>
                <a:srgbClr val="0432FF"/>
              </a:solidFill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eaLnBrk="1" hangingPunct="1"/>
            <a:endParaRPr lang="en-US" altLang="zh-CN" sz="2400" dirty="0">
              <a:solidFill>
                <a:srgbClr val="0432FF"/>
              </a:solidFill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eaLnBrk="1" hangingPunct="1"/>
            <a:r>
              <a:rPr lang="en-US" altLang="zh-CN" sz="2400" i="1" dirty="0" err="1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v</a:t>
            </a:r>
            <a:r>
              <a:rPr lang="en-US" altLang="zh-CN" sz="2400" baseline="-25000" dirty="0" err="1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o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 = g</a:t>
            </a:r>
            <a:r>
              <a:rPr lang="en-US" altLang="zh-CN" sz="2400" baseline="-250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m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*</a:t>
            </a:r>
            <a:r>
              <a:rPr lang="en-US" altLang="zh-CN" sz="2400" i="1" dirty="0" err="1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</a:t>
            </a:r>
            <a:r>
              <a:rPr lang="en-US" altLang="zh-CN" sz="2400" baseline="-25000" dirty="0" err="1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be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* </a:t>
            </a:r>
            <a:r>
              <a:rPr lang="en-US" altLang="zh-CN" sz="2400" dirty="0" err="1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en-US" altLang="zh-CN" sz="2400" baseline="-25000" dirty="0" err="1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o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/(R</a:t>
            </a:r>
            <a:r>
              <a:rPr lang="en-US" altLang="zh-CN" sz="2400" baseline="-250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L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 + </a:t>
            </a:r>
            <a:r>
              <a:rPr lang="en-US" altLang="zh-CN" sz="2400" dirty="0" err="1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en-US" altLang="zh-CN" sz="2400" baseline="-25000" dirty="0" err="1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o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) * R</a:t>
            </a:r>
            <a:r>
              <a:rPr lang="en-US" altLang="zh-CN" sz="2400" baseline="-250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2" charset="2"/>
              </a:rPr>
              <a:t>L</a:t>
            </a:r>
            <a:endParaRPr lang="en-US" altLang="zh-CN" sz="2400" baseline="-25000" dirty="0">
              <a:solidFill>
                <a:srgbClr val="0432FF"/>
              </a:solidFill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1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70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70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70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70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70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70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870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70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0856" grpId="0" animBg="1"/>
      <p:bldP spid="1870857" grpId="0" animBg="1"/>
      <p:bldP spid="1870858" grpId="0"/>
      <p:bldP spid="1870858" grpId="1"/>
      <p:bldP spid="1870859" grpId="0" animBg="1"/>
      <p:bldP spid="1870860" grpId="0"/>
      <p:bldP spid="1870860" grpId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>
                <a:ea typeface="宋体" panose="02010600030101010101" pitchFamily="2" charset="-122"/>
              </a:rPr>
              <a:t> How does one examine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frequency response</a:t>
            </a:r>
            <a:r>
              <a:rPr lang="en-US" altLang="zh-CN" sz="2800">
                <a:ea typeface="宋体" panose="02010600030101010101" pitchFamily="2" charset="-122"/>
              </a:rPr>
              <a:t>?  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>
                <a:ea typeface="宋体" panose="02010600030101010101" pitchFamily="2" charset="-122"/>
              </a:rPr>
              <a:t> By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applying sine-wave </a:t>
            </a:r>
            <a:r>
              <a:rPr lang="en-US" altLang="zh-CN" sz="2800">
                <a:ea typeface="宋体" panose="02010600030101010101" pitchFamily="2" charset="-122"/>
              </a:rPr>
              <a:t>input of amplitude </a:t>
            </a:r>
            <a:r>
              <a:rPr lang="en-US" altLang="zh-CN" sz="2800" i="1">
                <a:ea typeface="宋体" panose="02010600030101010101" pitchFamily="2" charset="-122"/>
              </a:rPr>
              <a:t>V</a:t>
            </a:r>
            <a:r>
              <a:rPr lang="en-US" altLang="zh-CN" sz="2800" i="1" baseline="-25000">
                <a:ea typeface="宋体" panose="02010600030101010101" pitchFamily="2" charset="-122"/>
              </a:rPr>
              <a:t>i</a:t>
            </a:r>
            <a:r>
              <a:rPr lang="en-US" altLang="zh-CN" sz="2800">
                <a:ea typeface="宋体" panose="02010600030101010101" pitchFamily="2" charset="-122"/>
              </a:rPr>
              <a:t> and frequency </a:t>
            </a:r>
            <a:r>
              <a:rPr lang="en-US" altLang="zh-CN" sz="2800" i="1">
                <a:latin typeface="Symbol" panose="05050102010706020507" pitchFamily="2" charset="2"/>
                <a:ea typeface="宋体" panose="02010600030101010101" pitchFamily="2" charset="-122"/>
              </a:rPr>
              <a:t>w.</a:t>
            </a:r>
            <a:endParaRPr lang="en-US" altLang="zh-CN" sz="2800" i="1">
              <a:latin typeface="Symbol" panose="05050102010706020507" pitchFamily="2" charset="2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>
                <a:ea typeface="宋体" panose="02010600030101010101" pitchFamily="2" charset="-122"/>
              </a:rPr>
              <a:t> Why?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>
                <a:ea typeface="宋体" panose="02010600030101010101" pitchFamily="2" charset="-122"/>
              </a:rPr>
              <a:t> Because, although its amplitude and phase may change, its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shape and frequency will not.</a:t>
            </a:r>
            <a:endParaRPr lang="en-US" altLang="zh-CN" sz="28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 sz="2800" i="1">
              <a:ea typeface="宋体" panose="02010600030101010101" pitchFamily="2" charset="-122"/>
            </a:endParaRPr>
          </a:p>
        </p:txBody>
      </p:sp>
      <p:sp>
        <p:nvSpPr>
          <p:cNvPr id="88068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b="0">
                <a:ea typeface="宋体" panose="02010600030101010101" pitchFamily="2" charset="-122"/>
              </a:rPr>
              <a:t>1.6.1.</a:t>
            </a:r>
            <a:r>
              <a:rPr lang="en-US" altLang="zh-CN">
                <a:ea typeface="宋体" panose="02010600030101010101" pitchFamily="2" charset="-122"/>
              </a:rPr>
              <a:t> Measuring the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Amplifier Frequency Response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876996" name="Text Box 4"/>
          <p:cNvSpPr txBox="1">
            <a:spLocks noChangeArrowheads="1"/>
          </p:cNvSpPr>
          <p:nvPr/>
        </p:nvSpPr>
        <p:spPr bwMode="auto">
          <a:xfrm>
            <a:off x="228600" y="5105400"/>
            <a:ext cx="8763000" cy="94615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this characteristic of sine wave applied to linear circuit is unique</a:t>
            </a:r>
            <a:endParaRPr lang="en-US" altLang="zh-CN" sz="2800" dirty="0">
              <a:solidFill>
                <a:srgbClr val="0432FF"/>
              </a:solidFill>
              <a:ea typeface="宋体" panose="02010600030101010101" pitchFamily="2" charset="-122"/>
            </a:endParaRPr>
          </a:p>
        </p:txBody>
      </p:sp>
      <p:sp>
        <p:nvSpPr>
          <p:cNvPr id="6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76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699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90115" name="Rectangle 6"/>
          <p:cNvSpPr>
            <a:spLocks noChangeArrowheads="1"/>
          </p:cNvSpPr>
          <p:nvPr/>
        </p:nvSpPr>
        <p:spPr bwMode="auto">
          <a:xfrm>
            <a:off x="762000" y="2133600"/>
            <a:ext cx="312420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9011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b="0">
                <a:ea typeface="宋体" panose="02010600030101010101" pitchFamily="2" charset="-122"/>
              </a:rPr>
              <a:t>1.6.1:</a:t>
            </a:r>
            <a:r>
              <a:rPr lang="en-US" altLang="zh-CN">
                <a:ea typeface="宋体" panose="02010600030101010101" pitchFamily="2" charset="-122"/>
              </a:rPr>
              <a:t> Measuring the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Amplifier Frequency Response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878019" name="Rectangle 3"/>
          <p:cNvSpPr>
            <a:spLocks noChangeArrowheads="1"/>
          </p:cNvSpPr>
          <p:nvPr/>
        </p:nvSpPr>
        <p:spPr bwMode="auto">
          <a:xfrm>
            <a:off x="0" y="0"/>
            <a:ext cx="9144000" cy="1981200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90118" name="Picture 4" descr="se01F2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11400"/>
            <a:ext cx="8610600" cy="347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78021" name="Text Box 5"/>
          <p:cNvSpPr txBox="1">
            <a:spLocks noChangeArrowheads="1"/>
          </p:cNvSpPr>
          <p:nvPr/>
        </p:nvSpPr>
        <p:spPr bwMode="auto">
          <a:xfrm>
            <a:off x="1752600" y="1111250"/>
            <a:ext cx="5638800" cy="94615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input and output are similar for linear amplifier</a:t>
            </a:r>
            <a:endParaRPr lang="en-US" altLang="zh-CN" sz="28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78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878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8019" grpId="0" animBg="1"/>
      <p:bldP spid="18780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4419600" cy="1295400"/>
          </a:xfrm>
          <a:noFill/>
        </p:spPr>
        <p:txBody>
          <a:bodyPr/>
          <a:lstStyle/>
          <a:p>
            <a:pPr eaLnBrk="1" hangingPunct="1"/>
            <a:r>
              <a:rPr lang="en-US" altLang="zh-CN" b="0" dirty="0">
                <a:ea typeface="宋体" panose="02010600030101010101" pitchFamily="2" charset="-122"/>
              </a:rPr>
              <a:t>1.6.1.</a:t>
            </a:r>
            <a:r>
              <a:rPr lang="en-US" altLang="zh-CN" dirty="0">
                <a:ea typeface="宋体" panose="02010600030101010101" pitchFamily="2" charset="-122"/>
              </a:rPr>
              <a:t> Measuring the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Amplifier Frequency Response</a:t>
            </a:r>
            <a:r>
              <a:rPr lang="zh-CN" altLang="en-US" dirty="0">
                <a:ea typeface="宋体" panose="02010600030101010101" pitchFamily="2" charset="-122"/>
              </a:rPr>
              <a:t> 放大器频率响应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21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3333FF"/>
                </a:solidFill>
                <a:ea typeface="宋体" panose="02010600030101010101" pitchFamily="2" charset="-122"/>
              </a:rPr>
              <a:t>amplifier transfer function </a:t>
            </a:r>
            <a:r>
              <a:rPr lang="en-US" altLang="zh-CN" sz="2800">
                <a:ea typeface="宋体" panose="02010600030101010101" pitchFamily="2" charset="-122"/>
              </a:rPr>
              <a:t>(</a:t>
            </a:r>
            <a:r>
              <a:rPr lang="en-US" altLang="zh-CN" sz="2800" b="1">
                <a:ea typeface="宋体" panose="02010600030101010101" pitchFamily="2" charset="-122"/>
              </a:rPr>
              <a:t>T</a:t>
            </a:r>
            <a:r>
              <a:rPr lang="en-US" altLang="zh-CN" sz="2800">
                <a:ea typeface="宋体" panose="02010600030101010101" pitchFamily="2" charset="-122"/>
              </a:rPr>
              <a:t>) – describes the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 input-output relationship</a:t>
            </a:r>
            <a:r>
              <a:rPr lang="en-US" altLang="zh-CN" sz="2800">
                <a:ea typeface="宋体" panose="02010600030101010101" pitchFamily="2" charset="-122"/>
              </a:rPr>
              <a:t> of an amplifier – or other device – with respect to various parameters, including frequency of input applied.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>
                <a:ea typeface="宋体" panose="02010600030101010101" pitchFamily="2" charset="-122"/>
              </a:rPr>
              <a:t>It is a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 complex value</a:t>
            </a:r>
            <a:r>
              <a:rPr lang="en-US" altLang="zh-CN" sz="2800">
                <a:ea typeface="宋体" panose="02010600030101010101" pitchFamily="2" charset="-122"/>
              </a:rPr>
              <a:t>, often defined in terms of magnitude and phase shift.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92165" name="Rectangle 5"/>
          <p:cNvSpPr>
            <a:spLocks noChangeArrowheads="1"/>
          </p:cNvSpPr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graphicFrame>
        <p:nvGraphicFramePr>
          <p:cNvPr id="9216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174875" y="5083175"/>
          <a:ext cx="4835525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44805600" imgH="14325600" progId="Equation.DSMT4">
                  <p:embed/>
                </p:oleObj>
              </mc:Choice>
              <mc:Fallback>
                <p:oleObj name="Equation" r:id="rId1" imgW="44805600" imgH="14325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75" y="5083175"/>
                        <a:ext cx="4835525" cy="154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4343400" cy="1295400"/>
          </a:xfrm>
          <a:noFill/>
        </p:spPr>
        <p:txBody>
          <a:bodyPr/>
          <a:lstStyle/>
          <a:p>
            <a:pPr eaLnBrk="1" hangingPunct="1"/>
            <a:r>
              <a:rPr lang="en-US" altLang="zh-CN" sz="3200" b="0" dirty="0">
                <a:ea typeface="宋体" panose="02010600030101010101" pitchFamily="2" charset="-122"/>
              </a:rPr>
              <a:t>1.6.2. </a:t>
            </a:r>
            <a:r>
              <a:rPr lang="en-US" altLang="zh-CN" sz="3200" dirty="0">
                <a:ea typeface="宋体" panose="02010600030101010101" pitchFamily="2" charset="-122"/>
              </a:rPr>
              <a:t>Amplifier Bandwidth </a:t>
            </a:r>
            <a:r>
              <a:rPr lang="zh-CN" altLang="en-US" sz="3200" dirty="0">
                <a:ea typeface="宋体" panose="02010600030101010101" pitchFamily="2" charset="-122"/>
              </a:rPr>
              <a:t>放大器带宽</a:t>
            </a:r>
            <a:endParaRPr lang="en-US" altLang="zh-CN" sz="3200" dirty="0">
              <a:ea typeface="宋体" panose="02010600030101010101" pitchFamily="2" charset="-122"/>
            </a:endParaRPr>
          </a:p>
        </p:txBody>
      </p:sp>
      <p:sp>
        <p:nvSpPr>
          <p:cNvPr id="9421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>
                <a:ea typeface="宋体" panose="02010600030101010101" pitchFamily="2" charset="-122"/>
              </a:rPr>
              <a:t> What is </a:t>
            </a:r>
            <a:r>
              <a:rPr lang="en-US" altLang="zh-CN" sz="2800" b="1">
                <a:solidFill>
                  <a:srgbClr val="3333FF"/>
                </a:solidFill>
                <a:ea typeface="宋体" panose="02010600030101010101" pitchFamily="2" charset="-122"/>
              </a:rPr>
              <a:t>bandwidth</a:t>
            </a:r>
            <a:r>
              <a:rPr lang="en-US" altLang="zh-CN" sz="2800">
                <a:ea typeface="宋体" panose="02010600030101010101" pitchFamily="2" charset="-122"/>
              </a:rPr>
              <a:t> of a device?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>
                <a:ea typeface="宋体" panose="02010600030101010101" pitchFamily="2" charset="-122"/>
              </a:rPr>
              <a:t> The range of frequencies over which its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magnitude response is constant </a:t>
            </a:r>
            <a:r>
              <a:rPr lang="en-US" altLang="zh-CN" sz="2800">
                <a:ea typeface="宋体" panose="02010600030101010101" pitchFamily="2" charset="-122"/>
              </a:rPr>
              <a:t>(within 3dB).</a:t>
            </a:r>
            <a:endParaRPr lang="en-US" altLang="zh-CN" sz="28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Q:</a:t>
            </a:r>
            <a:r>
              <a:rPr lang="en-US" altLang="zh-CN" sz="2800">
                <a:ea typeface="宋体" panose="02010600030101010101" pitchFamily="2" charset="-122"/>
              </a:rPr>
              <a:t> For an amplifier, what is main bandwidth concern?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>
                <a:ea typeface="宋体" panose="02010600030101010101" pitchFamily="2" charset="-122"/>
              </a:rPr>
              <a:t> That the bandwidth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extends beyond </a:t>
            </a:r>
            <a:r>
              <a:rPr lang="en-US" altLang="zh-CN" sz="2800">
                <a:ea typeface="宋体" panose="02010600030101010101" pitchFamily="2" charset="-122"/>
              </a:rPr>
              <a:t>range of frequencies it is expected to amplify.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1.6.2. </a:t>
            </a:r>
            <a:r>
              <a:rPr lang="en-US" altLang="zh-CN" sz="3200">
                <a:ea typeface="宋体" panose="02010600030101010101" pitchFamily="2" charset="-122"/>
              </a:rPr>
              <a:t>Amplifier Bandwidth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952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endParaRPr lang="zh-CN" altLang="zh-CN" sz="2000">
              <a:ea typeface="宋体" panose="02010600030101010101" pitchFamily="2" charset="-122"/>
            </a:endParaRPr>
          </a:p>
        </p:txBody>
      </p:sp>
      <p:sp>
        <p:nvSpPr>
          <p:cNvPr id="1881092" name="Rectangle 4"/>
          <p:cNvSpPr>
            <a:spLocks noChangeArrowheads="1"/>
          </p:cNvSpPr>
          <p:nvPr/>
        </p:nvSpPr>
        <p:spPr bwMode="auto">
          <a:xfrm>
            <a:off x="0" y="0"/>
            <a:ext cx="9144000" cy="1981200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95238" name="Picture 4" descr="se01F2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33600"/>
            <a:ext cx="7578725" cy="391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9" name="矩形 1"/>
          <p:cNvSpPr>
            <a:spLocks noChangeArrowheads="1"/>
          </p:cNvSpPr>
          <p:nvPr/>
        </p:nvSpPr>
        <p:spPr bwMode="auto">
          <a:xfrm>
            <a:off x="4154488" y="939800"/>
            <a:ext cx="457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The 3dB points are the “half power” points of the frequency response curve.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8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109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97283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762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9728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3200" b="0" dirty="0">
                <a:ea typeface="宋体" panose="02010600030101010101" pitchFamily="2" charset="-122"/>
              </a:rPr>
              <a:t>1.6.4. </a:t>
            </a:r>
            <a:r>
              <a:rPr lang="en-US" altLang="zh-CN" sz="3200" dirty="0">
                <a:ea typeface="宋体" panose="02010600030101010101" pitchFamily="2" charset="-122"/>
              </a:rPr>
              <a:t>Single Time-Constant Networks</a:t>
            </a:r>
            <a:r>
              <a:rPr lang="zh-CN" altLang="en-US" sz="3200" dirty="0">
                <a:ea typeface="宋体" panose="02010600030101010101" pitchFamily="2" charset="-122"/>
              </a:rPr>
              <a:t>单时间常数网络</a:t>
            </a:r>
            <a:endParaRPr lang="en-US" altLang="zh-CN" sz="3200" dirty="0">
              <a:ea typeface="宋体" panose="02010600030101010101" pitchFamily="2" charset="-122"/>
            </a:endParaRPr>
          </a:p>
        </p:txBody>
      </p:sp>
      <p:sp>
        <p:nvSpPr>
          <p:cNvPr id="9728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20574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single time–constant (STC) network</a:t>
            </a:r>
            <a:r>
              <a:rPr lang="en-US" altLang="zh-CN" sz="2800" dirty="0">
                <a:ea typeface="宋体" panose="02010600030101010101" pitchFamily="2" charset="-122"/>
              </a:rPr>
              <a:t> – is composed of (or may be reduced to) </a:t>
            </a:r>
            <a:r>
              <a:rPr lang="en-US" altLang="zh-CN" sz="2800" b="1" dirty="0">
                <a:solidFill>
                  <a:srgbClr val="C00000"/>
                </a:solidFill>
                <a:ea typeface="宋体" panose="02010600030101010101" pitchFamily="2" charset="-122"/>
              </a:rPr>
              <a:t>one reactive component </a:t>
            </a:r>
            <a:r>
              <a:rPr lang="en-US" altLang="zh-CN" sz="2800" dirty="0">
                <a:ea typeface="宋体" panose="02010600030101010101" pitchFamily="2" charset="-122"/>
              </a:rPr>
              <a:t>and </a:t>
            </a:r>
            <a:r>
              <a:rPr lang="en-US" altLang="zh-CN" sz="2800" b="1" dirty="0">
                <a:solidFill>
                  <a:srgbClr val="C00000"/>
                </a:solidFill>
                <a:ea typeface="宋体" panose="02010600030101010101" pitchFamily="2" charset="-122"/>
              </a:rPr>
              <a:t>one resistance</a:t>
            </a:r>
            <a:r>
              <a:rPr lang="en-US" altLang="zh-CN" sz="2800" dirty="0">
                <a:ea typeface="宋体" panose="02010600030101010101" pitchFamily="2" charset="-122"/>
              </a:rPr>
              <a:t>.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ea typeface="宋体" panose="02010600030101010101" pitchFamily="2" charset="-122"/>
              </a:rPr>
              <a:t>RC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或</a:t>
            </a:r>
            <a:r>
              <a:rPr lang="en-US" altLang="zh-CN" b="1" dirty="0">
                <a:solidFill>
                  <a:srgbClr val="00B050"/>
                </a:solidFill>
                <a:ea typeface="宋体" panose="02010600030101010101" pitchFamily="2" charset="-122"/>
              </a:rPr>
              <a:t>RL</a:t>
            </a:r>
            <a:r>
              <a:rPr lang="zh-CN" altLang="en-US" b="1" dirty="0">
                <a:solidFill>
                  <a:srgbClr val="00B050"/>
                </a:solidFill>
                <a:ea typeface="宋体" panose="02010600030101010101" pitchFamily="2" charset="-122"/>
              </a:rPr>
              <a:t>电路</a:t>
            </a:r>
            <a:endParaRPr lang="en-US" altLang="zh-CN" sz="2800" b="1" dirty="0">
              <a:solidFill>
                <a:srgbClr val="00B05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low pass filter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– attenuates output at high frequencies, allow low to pass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high pass filter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– attenuates output at low frequencies, allow high to pass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time constant (</a:t>
            </a:r>
            <a:r>
              <a:rPr lang="en-US" altLang="zh-CN" sz="2800" i="1" dirty="0">
                <a:solidFill>
                  <a:srgbClr val="3333FF"/>
                </a:solidFill>
                <a:latin typeface="Symbol" panose="05050102010706020507" pitchFamily="2" charset="2"/>
                <a:ea typeface="宋体" panose="02010600030101010101" pitchFamily="2" charset="-122"/>
              </a:rPr>
              <a:t>t</a:t>
            </a:r>
            <a:r>
              <a:rPr lang="en-US" altLang="zh-CN" sz="2800" i="1" dirty="0">
                <a:solidFill>
                  <a:schemeClr val="bg1"/>
                </a:solidFill>
                <a:latin typeface="Symbol" panose="05050102010706020507" pitchFamily="2" charset="2"/>
                <a:ea typeface="宋体" panose="02010600030101010101" pitchFamily="2" charset="-122"/>
              </a:rPr>
              <a:t>.</a:t>
            </a:r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dirty="0">
                <a:ea typeface="宋体" panose="02010600030101010101" pitchFamily="2" charset="-122"/>
              </a:rPr>
              <a:t> – describes the length of time required for a network transient to settle from step change (</a:t>
            </a:r>
            <a:r>
              <a:rPr lang="en-US" altLang="zh-CN" sz="2800" b="1" i="1" dirty="0">
                <a:solidFill>
                  <a:srgbClr val="C00000"/>
                </a:solidFill>
                <a:latin typeface="Symbol" panose="05050102010706020507" pitchFamily="2" charset="2"/>
                <a:ea typeface="宋体" panose="02010600030101010101" pitchFamily="2" charset="-122"/>
              </a:rPr>
              <a:t>t</a:t>
            </a:r>
            <a:r>
              <a:rPr lang="en-US" altLang="zh-CN" sz="2800" b="1" dirty="0">
                <a:solidFill>
                  <a:srgbClr val="C00000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800" b="1" i="1" dirty="0">
                <a:solidFill>
                  <a:srgbClr val="C00000"/>
                </a:solidFill>
                <a:ea typeface="宋体" panose="02010600030101010101" pitchFamily="2" charset="-122"/>
              </a:rPr>
              <a:t>L</a:t>
            </a:r>
            <a:r>
              <a:rPr lang="en-US" altLang="zh-CN" sz="2800" b="1" dirty="0">
                <a:solidFill>
                  <a:srgbClr val="C00000"/>
                </a:solidFill>
                <a:ea typeface="宋体" panose="02010600030101010101" pitchFamily="2" charset="-122"/>
              </a:rPr>
              <a:t> / </a:t>
            </a:r>
            <a:r>
              <a:rPr lang="en-US" altLang="zh-CN" sz="2800" b="1" i="1" dirty="0">
                <a:solidFill>
                  <a:srgbClr val="C00000"/>
                </a:solidFill>
                <a:ea typeface="宋体" panose="02010600030101010101" pitchFamily="2" charset="-122"/>
              </a:rPr>
              <a:t>R </a:t>
            </a:r>
            <a:r>
              <a:rPr lang="en-US" altLang="zh-CN" sz="2800" b="1" dirty="0">
                <a:solidFill>
                  <a:srgbClr val="C00000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2800" b="1" i="1" dirty="0">
                <a:solidFill>
                  <a:srgbClr val="C00000"/>
                </a:solidFill>
                <a:ea typeface="宋体" panose="02010600030101010101" pitchFamily="2" charset="-122"/>
              </a:rPr>
              <a:t>RC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99331" name="Rectangle 9"/>
          <p:cNvSpPr>
            <a:spLocks noChangeArrowheads="1"/>
          </p:cNvSpPr>
          <p:nvPr/>
        </p:nvSpPr>
        <p:spPr bwMode="auto">
          <a:xfrm>
            <a:off x="762000" y="2057400"/>
            <a:ext cx="3200400" cy="426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99332" name="Rectangle 6"/>
          <p:cNvSpPr>
            <a:spLocks noChangeArrowheads="1"/>
          </p:cNvSpPr>
          <p:nvPr/>
        </p:nvSpPr>
        <p:spPr bwMode="auto">
          <a:xfrm>
            <a:off x="0" y="2590800"/>
            <a:ext cx="9144000" cy="426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9933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1.6.4. </a:t>
            </a:r>
            <a:r>
              <a:rPr lang="en-US" altLang="zh-CN" sz="3200">
                <a:ea typeface="宋体" panose="02010600030101010101" pitchFamily="2" charset="-122"/>
              </a:rPr>
              <a:t>Single Time-Constant Networks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9933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33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low pass filter (left)         </a:t>
            </a:r>
            <a:r>
              <a:rPr lang="en-US" altLang="zh-CN" sz="2800">
                <a:solidFill>
                  <a:schemeClr val="bg1"/>
                </a:solidFill>
                <a:ea typeface="宋体" panose="02010600030101010101" pitchFamily="2" charset="-122"/>
              </a:rPr>
              <a:t>attenuates output at high s</a:t>
            </a:r>
            <a:endParaRPr lang="en-US" altLang="zh-CN" sz="2800">
              <a:solidFill>
                <a:schemeClr val="bg1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high pass filter (right)</a:t>
            </a:r>
            <a:endParaRPr lang="en-US" altLang="zh-CN" sz="28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99335" name="Picture 4" descr="se01F2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3505200"/>
            <a:ext cx="7386637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6" name="Text Box 2"/>
          <p:cNvSpPr txBox="1">
            <a:spLocks noChangeArrowheads="1"/>
          </p:cNvSpPr>
          <p:nvPr/>
        </p:nvSpPr>
        <p:spPr bwMode="auto">
          <a:xfrm>
            <a:off x="4419600" y="2089150"/>
            <a:ext cx="4419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ea typeface="MS PGothic" panose="020B0600070205080204" pitchFamily="34" charset="-128"/>
              </a:rPr>
              <a:t>Figure 1.22: </a:t>
            </a:r>
            <a:r>
              <a:rPr lang="en-US" altLang="zh-CN">
                <a:ea typeface="MS PGothic" panose="020B0600070205080204" pitchFamily="34" charset="-128"/>
              </a:rPr>
              <a:t>Two examples of STC networks: </a:t>
            </a:r>
            <a:r>
              <a:rPr lang="en-US" altLang="zh-CN" b="1">
                <a:ea typeface="MS PGothic" panose="020B0600070205080204" pitchFamily="34" charset="-128"/>
              </a:rPr>
              <a:t>(a)</a:t>
            </a:r>
            <a:r>
              <a:rPr lang="en-US" altLang="zh-CN">
                <a:ea typeface="MS PGothic" panose="020B0600070205080204" pitchFamily="34" charset="-128"/>
              </a:rPr>
              <a:t> a low-pass network and </a:t>
            </a:r>
            <a:r>
              <a:rPr lang="en-US" altLang="zh-CN" b="1">
                <a:ea typeface="MS PGothic" panose="020B0600070205080204" pitchFamily="34" charset="-128"/>
              </a:rPr>
              <a:t>(b)</a:t>
            </a:r>
            <a:r>
              <a:rPr lang="en-US" altLang="zh-CN">
                <a:ea typeface="MS PGothic" panose="020B0600070205080204" pitchFamily="34" charset="-128"/>
              </a:rPr>
              <a:t> a high-pass network.</a:t>
            </a:r>
            <a:endParaRPr lang="en-US" altLang="zh-CN">
              <a:ea typeface="MS PGothic" panose="020B0600070205080204" pitchFamily="34" charset="-128"/>
            </a:endParaRPr>
          </a:p>
        </p:txBody>
      </p:sp>
      <p:sp>
        <p:nvSpPr>
          <p:cNvPr id="1886215" name="Line 7"/>
          <p:cNvSpPr>
            <a:spLocks noChangeShapeType="1"/>
          </p:cNvSpPr>
          <p:nvPr/>
        </p:nvSpPr>
        <p:spPr bwMode="auto">
          <a:xfrm>
            <a:off x="1371600" y="2590800"/>
            <a:ext cx="0" cy="1447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86216" name="Line 8"/>
          <p:cNvSpPr>
            <a:spLocks noChangeShapeType="1"/>
          </p:cNvSpPr>
          <p:nvPr/>
        </p:nvSpPr>
        <p:spPr bwMode="auto">
          <a:xfrm>
            <a:off x="4038600" y="3124200"/>
            <a:ext cx="1219200" cy="990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86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86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886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8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1886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8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1.6.4. </a:t>
            </a:r>
            <a:r>
              <a:rPr lang="en-US" altLang="zh-CN" sz="3200">
                <a:ea typeface="宋体" panose="02010600030101010101" pitchFamily="2" charset="-122"/>
              </a:rPr>
              <a:t>Single Time-Constant Networks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101380" name="Rectangle 11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01381" name="Rectangle 2"/>
          <p:cNvSpPr>
            <a:spLocks noChangeArrowheads="1"/>
          </p:cNvSpPr>
          <p:nvPr/>
        </p:nvSpPr>
        <p:spPr bwMode="auto">
          <a:xfrm>
            <a:off x="0" y="2590800"/>
            <a:ext cx="9144000" cy="4267200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101382" name="Picture 4" descr="se01F2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3505200"/>
            <a:ext cx="7386637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1383" name="Object 10"/>
          <p:cNvGraphicFramePr>
            <a:graphicFrameLocks noGrp="1" noChangeAspect="1"/>
          </p:cNvGraphicFramePr>
          <p:nvPr>
            <p:ph sz="half" idx="2"/>
          </p:nvPr>
        </p:nvGraphicFramePr>
        <p:xfrm>
          <a:off x="1952625" y="277813"/>
          <a:ext cx="5210175" cy="284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62484000" imgH="34137600" progId="Equation.DSMT4">
                  <p:embed/>
                </p:oleObj>
              </mc:Choice>
              <mc:Fallback>
                <p:oleObj name="Equation" r:id="rId2" imgW="62484000" imgH="34137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625" y="277813"/>
                        <a:ext cx="5210175" cy="284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1036" name="Line 12"/>
          <p:cNvSpPr>
            <a:spLocks noChangeShapeType="1"/>
          </p:cNvSpPr>
          <p:nvPr/>
        </p:nvSpPr>
        <p:spPr bwMode="auto">
          <a:xfrm>
            <a:off x="2209800" y="1295400"/>
            <a:ext cx="0" cy="2667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21037" name="Line 13"/>
          <p:cNvSpPr>
            <a:spLocks noChangeShapeType="1"/>
          </p:cNvSpPr>
          <p:nvPr/>
        </p:nvSpPr>
        <p:spPr bwMode="auto">
          <a:xfrm>
            <a:off x="3200400" y="2514600"/>
            <a:ext cx="198120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2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2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9210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2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19210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2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3200" b="0">
                <a:ea typeface="宋体" panose="02010600030101010101" pitchFamily="2" charset="-122"/>
              </a:rPr>
              <a:t>1.6.4. </a:t>
            </a:r>
            <a:r>
              <a:rPr lang="en-US" altLang="zh-CN" sz="3200">
                <a:ea typeface="宋体" panose="02010600030101010101" pitchFamily="2" charset="-122"/>
              </a:rPr>
              <a:t>Single Time-Constant Networks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102404" name="Rectangle 3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77617"/>
            <a:ext cx="9144000" cy="5366630"/>
          </a:xfrm>
          <a:prstGeom prst="rect">
            <a:avLst/>
          </a:prstGeom>
        </p:spPr>
      </p:pic>
      <p:sp>
        <p:nvSpPr>
          <p:cNvPr id="102406" name="文本框 1"/>
          <p:cNvSpPr txBox="1">
            <a:spLocks noChangeArrowheads="1"/>
          </p:cNvSpPr>
          <p:nvPr/>
        </p:nvSpPr>
        <p:spPr bwMode="auto">
          <a:xfrm>
            <a:off x="8148637" y="1782417"/>
            <a:ext cx="833437" cy="40011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/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ea typeface="宋体" panose="02010600030101010101" pitchFamily="2" charset="-122"/>
              </a:rPr>
              <a:t> =</a:t>
            </a:r>
            <a:r>
              <a:rPr lang="zh-CN" altLang="en-US" sz="2000" dirty="0">
                <a:ea typeface="宋体" panose="02010600030101010101" pitchFamily="2" charset="-122"/>
              </a:rPr>
              <a:t> </a:t>
            </a:r>
            <a:r>
              <a:rPr lang="en-US" altLang="zh-CN" sz="2000" i="1" dirty="0" err="1">
                <a:ea typeface="宋体" panose="02010600030101010101" pitchFamily="2" charset="-122"/>
              </a:rPr>
              <a:t>j</a:t>
            </a:r>
            <a:r>
              <a:rPr lang="en-US" altLang="zh-CN" sz="2000" dirty="0" err="1">
                <a:latin typeface="Symbol" panose="05050102010706020507" pitchFamily="2" charset="2"/>
                <a:ea typeface="宋体" panose="02010600030101010101" pitchFamily="2" charset="-122"/>
              </a:rPr>
              <a:t>w</a:t>
            </a:r>
            <a:endParaRPr lang="zh-CN" altLang="en-US" sz="2000" dirty="0">
              <a:latin typeface="Symbol" panose="05050102010706020507" pitchFamily="2" charset="2"/>
              <a:ea typeface="宋体" panose="02010600030101010101" pitchFamily="2" charset="-122"/>
            </a:endParaRPr>
          </a:p>
        </p:txBody>
      </p:sp>
      <p:pic>
        <p:nvPicPr>
          <p:cNvPr id="7" name="Picture 4" descr="se01F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-6504"/>
            <a:ext cx="4414837" cy="1759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730500"/>
            <a:ext cx="795277" cy="12319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797" y="2795377"/>
            <a:ext cx="795277" cy="864767"/>
          </a:xfrm>
          <a:prstGeom prst="rect">
            <a:avLst/>
          </a:prstGeom>
        </p:spPr>
      </p:pic>
      <p:cxnSp>
        <p:nvCxnSpPr>
          <p:cNvPr id="6" name="直线箭头连接符 5"/>
          <p:cNvCxnSpPr/>
          <p:nvPr/>
        </p:nvCxnSpPr>
        <p:spPr bwMode="auto">
          <a:xfrm flipH="1">
            <a:off x="4724400" y="3346450"/>
            <a:ext cx="533400" cy="31369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线箭头连接符 11"/>
          <p:cNvCxnSpPr/>
          <p:nvPr/>
        </p:nvCxnSpPr>
        <p:spPr bwMode="auto">
          <a:xfrm flipH="1">
            <a:off x="7543800" y="3184250"/>
            <a:ext cx="604838" cy="39715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线连接符 12"/>
          <p:cNvCxnSpPr/>
          <p:nvPr/>
        </p:nvCxnSpPr>
        <p:spPr bwMode="auto">
          <a:xfrm>
            <a:off x="4191000" y="3962400"/>
            <a:ext cx="381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直线连接符 17"/>
          <p:cNvCxnSpPr/>
          <p:nvPr/>
        </p:nvCxnSpPr>
        <p:spPr bwMode="auto">
          <a:xfrm>
            <a:off x="7010400" y="3962400"/>
            <a:ext cx="381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4" name="矩形 13"/>
          <p:cNvSpPr/>
          <p:nvPr/>
        </p:nvSpPr>
        <p:spPr bwMode="auto">
          <a:xfrm>
            <a:off x="3657600" y="2730500"/>
            <a:ext cx="914400" cy="615950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286060" y="2746087"/>
            <a:ext cx="1104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00B050"/>
                </a:solidFill>
              </a:rPr>
              <a:t>传递函数标准形式</a:t>
            </a:r>
            <a:endParaRPr kumimoji="1"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392617" y="2352981"/>
            <a:ext cx="1104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00B050"/>
                </a:solidFill>
              </a:rPr>
              <a:t>低通</a:t>
            </a:r>
            <a:r>
              <a:rPr kumimoji="1" lang="en-US" altLang="zh-CN" b="1" dirty="0">
                <a:solidFill>
                  <a:srgbClr val="00B050"/>
                </a:solidFill>
              </a:rPr>
              <a:t>STC</a:t>
            </a:r>
            <a:endParaRPr kumimoji="1"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160664" y="2352981"/>
            <a:ext cx="1104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00B050"/>
                </a:solidFill>
              </a:rPr>
              <a:t>高通</a:t>
            </a:r>
            <a:r>
              <a:rPr kumimoji="1" lang="en-US" altLang="zh-CN" b="1" dirty="0">
                <a:solidFill>
                  <a:srgbClr val="00B050"/>
                </a:solidFill>
              </a:rPr>
              <a:t>STC</a:t>
            </a:r>
            <a:endParaRPr kumimoji="1"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6351104" y="2736850"/>
            <a:ext cx="914400" cy="615950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103427" name="Rectangle 6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103428" name="Picture 4" descr="se01F2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74" y="2231880"/>
            <a:ext cx="8610600" cy="213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29" name="Picture 4" descr="se01F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51" y="118492"/>
            <a:ext cx="8686800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30" name="Text Box 2"/>
          <p:cNvSpPr txBox="1">
            <a:spLocks noChangeArrowheads="1"/>
          </p:cNvSpPr>
          <p:nvPr/>
        </p:nvSpPr>
        <p:spPr bwMode="auto">
          <a:xfrm>
            <a:off x="228600" y="4390120"/>
            <a:ext cx="8610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 dirty="0">
                <a:ea typeface="MS PGothic" panose="020B0600070205080204" pitchFamily="34" charset="-128"/>
              </a:rPr>
              <a:t>Figure: </a:t>
            </a:r>
            <a:r>
              <a:rPr lang="en-US" altLang="zh-CN" sz="2000" dirty="0">
                <a:ea typeface="MS PGothic" panose="020B0600070205080204" pitchFamily="34" charset="-128"/>
              </a:rPr>
              <a:t>Low-Pass Filter Magnitude (top-left) and Phase (top-right) Responses as well as High-Pass Filter (bottom-left) and Phase (bottom-right) Responses</a:t>
            </a:r>
            <a:endParaRPr lang="en-US" altLang="zh-CN" sz="2000" dirty="0">
              <a:ea typeface="MS PGothic" panose="020B0600070205080204" pitchFamily="34" charset="-128"/>
            </a:endParaRPr>
          </a:p>
        </p:txBody>
      </p:sp>
      <p:sp>
        <p:nvSpPr>
          <p:cNvPr id="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内容占位符 5"/>
          <p:cNvSpPr txBox="1"/>
          <p:nvPr/>
        </p:nvSpPr>
        <p:spPr bwMode="auto">
          <a:xfrm>
            <a:off x="178981" y="5047711"/>
            <a:ext cx="8970104" cy="1126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kumimoji="1" lang="zh-CN" altLang="en-US" kern="0" dirty="0"/>
              <a:t>波特图的特性：</a:t>
            </a:r>
            <a:r>
              <a:rPr kumimoji="1" lang="zh-CN" altLang="en-US" sz="2000" kern="0" dirty="0"/>
              <a:t>随着频率的增加，</a:t>
            </a:r>
            <a:r>
              <a:rPr kumimoji="1" lang="zh-CN" altLang="en-US" sz="2000" b="1" kern="0" dirty="0">
                <a:solidFill>
                  <a:srgbClr val="0432FF"/>
                </a:solidFill>
              </a:rPr>
              <a:t>每碰到一个零点</a:t>
            </a:r>
            <a:r>
              <a:rPr kumimoji="1" lang="zh-CN" altLang="en-US" sz="2000" kern="0" dirty="0"/>
              <a:t>，幅度的斜率</a:t>
            </a:r>
            <a:r>
              <a:rPr kumimoji="1" lang="zh-CN" altLang="en-US" sz="2000" b="1" kern="0" dirty="0">
                <a:solidFill>
                  <a:srgbClr val="0432FF"/>
                </a:solidFill>
              </a:rPr>
              <a:t>增加</a:t>
            </a:r>
            <a:r>
              <a:rPr kumimoji="1" lang="en-US" altLang="zh-CN" sz="2000" b="1" kern="0" dirty="0">
                <a:solidFill>
                  <a:srgbClr val="0432FF"/>
                </a:solidFill>
              </a:rPr>
              <a:t>20dB/</a:t>
            </a:r>
            <a:r>
              <a:rPr kumimoji="1" lang="zh-CN" altLang="en-US" sz="2000" b="1" kern="0" dirty="0">
                <a:solidFill>
                  <a:srgbClr val="0432FF"/>
                </a:solidFill>
              </a:rPr>
              <a:t>十倍频</a:t>
            </a:r>
            <a:r>
              <a:rPr kumimoji="1" lang="zh-CN" altLang="en-US" sz="2000" kern="0" dirty="0"/>
              <a:t>，相位</a:t>
            </a:r>
            <a:r>
              <a:rPr kumimoji="1" lang="zh-CN" altLang="en-US" sz="2000" b="1" kern="0" dirty="0">
                <a:solidFill>
                  <a:srgbClr val="0432FF"/>
                </a:solidFill>
              </a:rPr>
              <a:t>增加</a:t>
            </a:r>
            <a:r>
              <a:rPr kumimoji="1" lang="en-US" altLang="zh-CN" sz="2000" b="1" kern="0" dirty="0">
                <a:solidFill>
                  <a:srgbClr val="0432FF"/>
                </a:solidFill>
              </a:rPr>
              <a:t>90</a:t>
            </a:r>
            <a:r>
              <a:rPr kumimoji="1" lang="zh-CN" altLang="en-US" sz="2000" kern="0" dirty="0"/>
              <a:t>度（从</a:t>
            </a:r>
            <a:r>
              <a:rPr kumimoji="1" lang="en-US" altLang="zh-CN" sz="2000" kern="0" dirty="0"/>
              <a:t>0.1</a:t>
            </a:r>
            <a:r>
              <a:rPr kumimoji="1" lang="zh-CN" altLang="en-US" sz="2000" kern="0" dirty="0"/>
              <a:t>到</a:t>
            </a:r>
            <a:r>
              <a:rPr kumimoji="1" lang="en-US" altLang="zh-CN" sz="2000" kern="0" dirty="0"/>
              <a:t>10</a:t>
            </a:r>
            <a:r>
              <a:rPr kumimoji="1" lang="zh-CN" altLang="en-US" sz="2000" kern="0" dirty="0"/>
              <a:t>倍频率）；</a:t>
            </a:r>
            <a:r>
              <a:rPr kumimoji="1" lang="zh-CN" altLang="en-US" sz="2000" b="1" kern="0" dirty="0">
                <a:solidFill>
                  <a:srgbClr val="00B050"/>
                </a:solidFill>
              </a:rPr>
              <a:t>每碰到一个极点</a:t>
            </a:r>
            <a:r>
              <a:rPr kumimoji="1" lang="zh-CN" altLang="en-US" sz="2000" kern="0" dirty="0"/>
              <a:t>，幅度的斜率</a:t>
            </a:r>
            <a:r>
              <a:rPr kumimoji="1" lang="zh-CN" altLang="en-US" sz="2000" b="1" kern="0" dirty="0">
                <a:solidFill>
                  <a:srgbClr val="00B050"/>
                </a:solidFill>
              </a:rPr>
              <a:t>减小</a:t>
            </a:r>
            <a:r>
              <a:rPr kumimoji="1" lang="en-US" altLang="zh-CN" sz="2000" b="1" kern="0" dirty="0">
                <a:solidFill>
                  <a:srgbClr val="00B050"/>
                </a:solidFill>
              </a:rPr>
              <a:t>20dB/</a:t>
            </a:r>
            <a:r>
              <a:rPr kumimoji="1" lang="zh-CN" altLang="en-US" sz="2000" b="1" kern="0" dirty="0">
                <a:solidFill>
                  <a:srgbClr val="00B050"/>
                </a:solidFill>
              </a:rPr>
              <a:t>十倍频</a:t>
            </a:r>
            <a:r>
              <a:rPr kumimoji="1" lang="zh-CN" altLang="en-US" sz="2000" kern="0" dirty="0"/>
              <a:t>，相位</a:t>
            </a:r>
            <a:r>
              <a:rPr kumimoji="1" lang="zh-CN" altLang="en-US" sz="2000" b="1" kern="0" dirty="0">
                <a:solidFill>
                  <a:srgbClr val="00B050"/>
                </a:solidFill>
              </a:rPr>
              <a:t>减小</a:t>
            </a:r>
            <a:r>
              <a:rPr kumimoji="1" lang="en-US" altLang="zh-CN" sz="2000" b="1" kern="0" dirty="0">
                <a:solidFill>
                  <a:srgbClr val="00B050"/>
                </a:solidFill>
              </a:rPr>
              <a:t>90</a:t>
            </a:r>
            <a:r>
              <a:rPr kumimoji="1" lang="zh-CN" altLang="en-US" sz="2000" b="1" kern="0" dirty="0">
                <a:solidFill>
                  <a:srgbClr val="00B050"/>
                </a:solidFill>
              </a:rPr>
              <a:t>度</a:t>
            </a:r>
            <a:r>
              <a:rPr kumimoji="1" lang="zh-CN" altLang="en-US" sz="2000" kern="0" dirty="0"/>
              <a:t>（从</a:t>
            </a:r>
            <a:r>
              <a:rPr kumimoji="1" lang="en-US" altLang="zh-CN" sz="2000" kern="0" dirty="0"/>
              <a:t>0.1</a:t>
            </a:r>
            <a:r>
              <a:rPr kumimoji="1" lang="zh-CN" altLang="en-US" sz="2000" kern="0" dirty="0"/>
              <a:t>到</a:t>
            </a:r>
            <a:r>
              <a:rPr kumimoji="1" lang="en-US" altLang="zh-CN" sz="2000" kern="0" dirty="0"/>
              <a:t>10</a:t>
            </a:r>
            <a:r>
              <a:rPr kumimoji="1" lang="zh-CN" altLang="en-US" sz="2000" kern="0" dirty="0"/>
              <a:t>倍频率）</a:t>
            </a:r>
            <a:endParaRPr kumimoji="1" lang="zh-CN" altLang="en-US" sz="2000" b="1" kern="0" dirty="0">
              <a:solidFill>
                <a:srgbClr val="00B05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6189669"/>
            <a:ext cx="1207681" cy="54983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6921" y="6135460"/>
            <a:ext cx="2074679" cy="68138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105475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pic>
        <p:nvPicPr>
          <p:cNvPr id="105476" name="Picture 4" descr="se01F2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495800"/>
            <a:ext cx="8610600" cy="213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77" name="Picture 4" descr="se01F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8686800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8" name="Text Box 2"/>
          <p:cNvSpPr txBox="1">
            <a:spLocks noChangeArrowheads="1"/>
          </p:cNvSpPr>
          <p:nvPr/>
        </p:nvSpPr>
        <p:spPr bwMode="auto">
          <a:xfrm>
            <a:off x="914400" y="2819400"/>
            <a:ext cx="73152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C0C0C0"/>
                </a:solidFill>
                <a:ea typeface="MS PGothic" panose="020B0600070205080204" pitchFamily="34" charset="-128"/>
              </a:rPr>
              <a:t>Figure: </a:t>
            </a:r>
            <a:r>
              <a:rPr lang="en-US" altLang="zh-CN">
                <a:solidFill>
                  <a:srgbClr val="C0C0C0"/>
                </a:solidFill>
                <a:ea typeface="MS PGothic" panose="020B0600070205080204" pitchFamily="34" charset="-128"/>
              </a:rPr>
              <a:t>Low-Filter Magnitude (top-left) and Phase (top-right) Responses as well as High-Pass Filter (bottom-left) and Phase (bottom-right) Responses</a:t>
            </a:r>
            <a:endParaRPr lang="en-US" altLang="zh-CN">
              <a:solidFill>
                <a:srgbClr val="C0C0C0"/>
              </a:solidFill>
              <a:ea typeface="MS PGothic" panose="020B0600070205080204" pitchFamily="34" charset="-128"/>
            </a:endParaRPr>
          </a:p>
        </p:txBody>
      </p:sp>
      <p:sp>
        <p:nvSpPr>
          <p:cNvPr id="105479" name="Rectangle 14"/>
          <p:cNvSpPr>
            <a:spLocks noChangeArrowheads="1"/>
          </p:cNvSpPr>
          <p:nvPr/>
        </p:nvSpPr>
        <p:spPr bwMode="auto">
          <a:xfrm>
            <a:off x="0" y="76200"/>
            <a:ext cx="9144000" cy="6858000"/>
          </a:xfrm>
          <a:prstGeom prst="rect">
            <a:avLst/>
          </a:prstGeom>
          <a:solidFill>
            <a:schemeClr val="bg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05480" name="Line 8"/>
          <p:cNvSpPr>
            <a:spLocks noChangeShapeType="1"/>
          </p:cNvSpPr>
          <p:nvPr/>
        </p:nvSpPr>
        <p:spPr bwMode="auto">
          <a:xfrm rot="2280000">
            <a:off x="1752600" y="1295400"/>
            <a:ext cx="1600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1" name="Line 9"/>
          <p:cNvSpPr>
            <a:spLocks noChangeShapeType="1"/>
          </p:cNvSpPr>
          <p:nvPr/>
        </p:nvSpPr>
        <p:spPr bwMode="auto">
          <a:xfrm rot="-2280000">
            <a:off x="304800" y="5562600"/>
            <a:ext cx="1600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2" name="Line 16"/>
          <p:cNvSpPr>
            <a:spLocks noChangeShapeType="1"/>
          </p:cNvSpPr>
          <p:nvPr/>
        </p:nvSpPr>
        <p:spPr bwMode="auto">
          <a:xfrm rot="2280000">
            <a:off x="5638800" y="1295400"/>
            <a:ext cx="1600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3" name="Line 17"/>
          <p:cNvSpPr>
            <a:spLocks noChangeShapeType="1"/>
          </p:cNvSpPr>
          <p:nvPr/>
        </p:nvSpPr>
        <p:spPr bwMode="auto">
          <a:xfrm rot="2280000">
            <a:off x="5867400" y="5638800"/>
            <a:ext cx="1600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4" name="Text Box 18"/>
          <p:cNvSpPr txBox="1">
            <a:spLocks noChangeArrowheads="1"/>
          </p:cNvSpPr>
          <p:nvPr/>
        </p:nvSpPr>
        <p:spPr bwMode="auto">
          <a:xfrm>
            <a:off x="228600" y="2209800"/>
            <a:ext cx="4191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-20dB/decade drop, beginning from maximum gain at corner frequency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05485" name="Text Box 19"/>
          <p:cNvSpPr txBox="1">
            <a:spLocks noChangeArrowheads="1"/>
          </p:cNvSpPr>
          <p:nvPr/>
        </p:nvSpPr>
        <p:spPr bwMode="auto">
          <a:xfrm>
            <a:off x="228600" y="3765550"/>
            <a:ext cx="4191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+20dB/decade incline, until maximum gain is reached at corner frequency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05486" name="Text Box 20"/>
          <p:cNvSpPr txBox="1">
            <a:spLocks noChangeArrowheads="1"/>
          </p:cNvSpPr>
          <p:nvPr/>
        </p:nvSpPr>
        <p:spPr bwMode="auto">
          <a:xfrm>
            <a:off x="4724400" y="2209800"/>
            <a:ext cx="4191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-45 degrees/decade drop, moving outward from -45 degree shift at corner frequency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05487" name="Text Box 21"/>
          <p:cNvSpPr txBox="1">
            <a:spLocks noChangeArrowheads="1"/>
          </p:cNvSpPr>
          <p:nvPr/>
        </p:nvSpPr>
        <p:spPr bwMode="auto">
          <a:xfrm>
            <a:off x="4724400" y="3733800"/>
            <a:ext cx="4191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-45 degrees/decade drop, moving outward from +45 degree shift at corner frequency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05488" name="矩形 1"/>
          <p:cNvSpPr>
            <a:spLocks noChangeArrowheads="1"/>
          </p:cNvSpPr>
          <p:nvPr/>
        </p:nvSpPr>
        <p:spPr bwMode="auto">
          <a:xfrm>
            <a:off x="128588" y="6519863"/>
            <a:ext cx="68056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An octave is the range over which the frequency is doubled (from music).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0587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37383"/>
            <a:ext cx="9144000" cy="2812026"/>
          </a:xfrm>
          <a:prstGeom prst="rect">
            <a:avLst/>
          </a:prstGeom>
        </p:spPr>
      </p:pic>
      <p:sp>
        <p:nvSpPr>
          <p:cNvPr id="4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108547" name="Rectangle 2"/>
          <p:cNvSpPr>
            <a:spLocks noChangeArrowheads="1"/>
          </p:cNvSpPr>
          <p:nvPr/>
        </p:nvSpPr>
        <p:spPr bwMode="auto">
          <a:xfrm>
            <a:off x="0" y="1981200"/>
            <a:ext cx="4800600" cy="4876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08548" name="Rectangle 3"/>
          <p:cNvSpPr>
            <a:spLocks noChangeArrowheads="1"/>
          </p:cNvSpPr>
          <p:nvPr/>
        </p:nvSpPr>
        <p:spPr bwMode="auto">
          <a:xfrm>
            <a:off x="2667000" y="6553200"/>
            <a:ext cx="3810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0854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Example 1.5: </a:t>
            </a:r>
            <a:r>
              <a:rPr lang="en-US" altLang="zh-CN" sz="3200" b="0">
                <a:ea typeface="宋体" panose="02010600030101010101" pitchFamily="2" charset="-122"/>
              </a:rPr>
              <a:t>Voltage Amplifier</a:t>
            </a:r>
            <a:r>
              <a:rPr lang="en-US" altLang="zh-CN" sz="3200">
                <a:ea typeface="宋体" panose="02010600030101010101" pitchFamily="2" charset="-122"/>
              </a:rPr>
              <a:t> 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pic>
        <p:nvPicPr>
          <p:cNvPr id="108550" name="Picture 4" descr="se01F2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0"/>
            <a:ext cx="86106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51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68" y="3925887"/>
            <a:ext cx="2773680" cy="683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52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842" y="3917891"/>
            <a:ext cx="4879340" cy="771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53" name="下箭头 3"/>
          <p:cNvSpPr>
            <a:spLocks noChangeArrowheads="1"/>
          </p:cNvSpPr>
          <p:nvPr/>
        </p:nvSpPr>
        <p:spPr bwMode="auto">
          <a:xfrm rot="16200000">
            <a:off x="3518916" y="4031330"/>
            <a:ext cx="228600" cy="396875"/>
          </a:xfrm>
          <a:prstGeom prst="downArrow">
            <a:avLst>
              <a:gd name="adj1" fmla="val 50000"/>
              <a:gd name="adj2" fmla="val 4995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108555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76551"/>
            <a:ext cx="2584450" cy="121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6152277"/>
            <a:ext cx="1378424" cy="641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6608" y="6270803"/>
            <a:ext cx="1078992" cy="3776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6920" y="6118166"/>
            <a:ext cx="2070100" cy="6829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7020" y="6317740"/>
            <a:ext cx="1123950" cy="31042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" y="4976364"/>
            <a:ext cx="1612900" cy="647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39720" y="4976364"/>
            <a:ext cx="5054600" cy="698500"/>
          </a:xfrm>
          <a:prstGeom prst="rect">
            <a:avLst/>
          </a:prstGeom>
        </p:spPr>
      </p:pic>
      <p:sp>
        <p:nvSpPr>
          <p:cNvPr id="17" name="下箭头 3"/>
          <p:cNvSpPr>
            <a:spLocks noChangeArrowheads="1"/>
          </p:cNvSpPr>
          <p:nvPr/>
        </p:nvSpPr>
        <p:spPr bwMode="auto">
          <a:xfrm rot="16200000">
            <a:off x="2326894" y="5101776"/>
            <a:ext cx="228600" cy="396875"/>
          </a:xfrm>
          <a:prstGeom prst="downArrow">
            <a:avLst>
              <a:gd name="adj1" fmla="val 50000"/>
              <a:gd name="adj2" fmla="val 4995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Oxford University Publishing</a:t>
            </a:r>
            <a:endParaRPr lang="en-US" altLang="zh-CN" sz="10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sp>
        <p:nvSpPr>
          <p:cNvPr id="109571" name="Rectangle 5"/>
          <p:cNvSpPr>
            <a:spLocks noChangeArrowheads="1"/>
          </p:cNvSpPr>
          <p:nvPr/>
        </p:nvSpPr>
        <p:spPr bwMode="auto">
          <a:xfrm>
            <a:off x="0" y="6019800"/>
            <a:ext cx="9144000" cy="838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09572" name="Rectangle 2"/>
          <p:cNvSpPr>
            <a:spLocks noChangeArrowheads="1"/>
          </p:cNvSpPr>
          <p:nvPr/>
        </p:nvSpPr>
        <p:spPr bwMode="auto">
          <a:xfrm>
            <a:off x="2667000" y="6553200"/>
            <a:ext cx="3810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zh-CN" altLang="zh-CN" sz="1600">
              <a:ea typeface="宋体" panose="02010600030101010101" pitchFamily="2" charset="-122"/>
            </a:endParaRPr>
          </a:p>
        </p:txBody>
      </p:sp>
      <p:sp>
        <p:nvSpPr>
          <p:cNvPr id="10957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Example 1.5: </a:t>
            </a:r>
            <a:r>
              <a:rPr lang="en-US" altLang="zh-CN" sz="3200" b="0">
                <a:ea typeface="宋体" panose="02010600030101010101" pitchFamily="2" charset="-122"/>
              </a:rPr>
              <a:t>Voltage Amplifier</a:t>
            </a:r>
            <a:endParaRPr lang="en-US" altLang="zh-CN" sz="3200" b="0">
              <a:ea typeface="宋体" panose="02010600030101010101" pitchFamily="2" charset="-122"/>
            </a:endParaRPr>
          </a:p>
        </p:txBody>
      </p:sp>
      <p:sp>
        <p:nvSpPr>
          <p:cNvPr id="10957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Q(b): </a:t>
            </a:r>
            <a:r>
              <a:rPr lang="en-US" altLang="zh-CN" sz="2800" dirty="0">
                <a:ea typeface="宋体" panose="02010600030101010101" pitchFamily="2" charset="-122"/>
              </a:rPr>
              <a:t>What is </a:t>
            </a:r>
            <a:r>
              <a:rPr lang="en-US" altLang="zh-CN" sz="2800" b="1" dirty="0">
                <a:solidFill>
                  <a:srgbClr val="C00000"/>
                </a:solidFill>
                <a:ea typeface="宋体" panose="02010600030101010101" pitchFamily="2" charset="-122"/>
              </a:rPr>
              <a:t>unity-gain frequency</a:t>
            </a:r>
            <a:r>
              <a:rPr lang="en-US" altLang="zh-CN" sz="2800" dirty="0">
                <a:ea typeface="宋体" panose="02010600030101010101" pitchFamily="2" charset="-122"/>
              </a:rPr>
              <a:t>?  How is it calculated?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A:</a:t>
            </a:r>
            <a:r>
              <a:rPr lang="en-US" altLang="zh-CN" sz="2800" dirty="0">
                <a:ea typeface="宋体" panose="02010600030101010101" pitchFamily="2" charset="-122"/>
              </a:rPr>
              <a:t> Gain = 0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dB</a:t>
            </a:r>
            <a:endParaRPr lang="en-US" altLang="zh-CN" sz="28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A: </a:t>
            </a:r>
            <a:r>
              <a:rPr lang="en-US" altLang="zh-CN" sz="2800" dirty="0">
                <a:ea typeface="宋体" panose="02010600030101010101" pitchFamily="2" charset="-122"/>
              </a:rPr>
              <a:t>It is known that the gain of a low-pass filter drops at 20dB per decade beginning at </a:t>
            </a:r>
            <a:r>
              <a:rPr lang="en-US" altLang="zh-CN" sz="2800" i="1" dirty="0">
                <a:latin typeface="Symbol" panose="05050102010706020507" pitchFamily="2" charset="2"/>
                <a:ea typeface="宋体" panose="02010600030101010101" pitchFamily="2" charset="-122"/>
              </a:rPr>
              <a:t>w</a:t>
            </a:r>
            <a:r>
              <a:rPr lang="en-US" altLang="zh-CN" sz="2800" baseline="-25000" dirty="0">
                <a:ea typeface="宋体" panose="02010600030101010101" pitchFamily="2" charset="-122"/>
              </a:rPr>
              <a:t>0</a:t>
            </a:r>
            <a:r>
              <a:rPr lang="en-US" altLang="zh-CN" sz="2800" dirty="0">
                <a:ea typeface="宋体" panose="02010600030101010101" pitchFamily="2" charset="-122"/>
              </a:rPr>
              <a:t>.  Therefore unity gain will occur two decades past </a:t>
            </a:r>
            <a:r>
              <a:rPr lang="en-US" altLang="zh-CN" sz="2800" i="1" dirty="0">
                <a:latin typeface="Symbol" panose="05050102010706020507" pitchFamily="2" charset="2"/>
                <a:ea typeface="宋体" panose="02010600030101010101" pitchFamily="2" charset="-122"/>
              </a:rPr>
              <a:t>w</a:t>
            </a:r>
            <a:r>
              <a:rPr lang="en-US" altLang="zh-CN" sz="2800" baseline="-25000" dirty="0">
                <a:ea typeface="宋体" panose="02010600030101010101" pitchFamily="2" charset="-122"/>
              </a:rPr>
              <a:t>0 </a:t>
            </a:r>
            <a:r>
              <a:rPr lang="en-US" altLang="zh-CN" sz="2800" dirty="0">
                <a:ea typeface="宋体" panose="02010600030101010101" pitchFamily="2" charset="-122"/>
              </a:rPr>
              <a:t>(40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dB</a:t>
            </a:r>
            <a:r>
              <a:rPr lang="en-US" altLang="zh-CN" sz="2800" dirty="0">
                <a:ea typeface="宋体" panose="02010600030101010101" pitchFamily="2" charset="-122"/>
              </a:rPr>
              <a:t> – 20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dB</a:t>
            </a:r>
            <a:r>
              <a:rPr lang="en-US" altLang="zh-CN" sz="2800" dirty="0">
                <a:ea typeface="宋体" panose="02010600030101010101" pitchFamily="2" charset="-122"/>
              </a:rPr>
              <a:t> – 20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dB</a:t>
            </a:r>
            <a:r>
              <a:rPr lang="en-US" altLang="zh-CN" sz="2800" dirty="0">
                <a:ea typeface="宋体" panose="02010600030101010101" pitchFamily="2" charset="-122"/>
              </a:rPr>
              <a:t>).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Q(c): </a:t>
            </a:r>
            <a:r>
              <a:rPr lang="en-US" altLang="zh-CN" sz="2800" dirty="0">
                <a:ea typeface="宋体" panose="02010600030101010101" pitchFamily="2" charset="-122"/>
              </a:rPr>
              <a:t>Find </a:t>
            </a:r>
            <a:r>
              <a:rPr lang="en-US" altLang="zh-CN" sz="2800" i="1" dirty="0" err="1">
                <a:ea typeface="宋体" panose="02010600030101010101" pitchFamily="2" charset="-122"/>
              </a:rPr>
              <a:t>v</a:t>
            </a:r>
            <a:r>
              <a:rPr lang="en-US" altLang="zh-CN" sz="2800" i="1" baseline="-25000" dirty="0" err="1">
                <a:ea typeface="宋体" panose="02010600030101010101" pitchFamily="2" charset="-122"/>
              </a:rPr>
              <a:t>o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ea typeface="宋体" panose="02010600030101010101" pitchFamily="2" charset="-122"/>
              </a:rPr>
              <a:t>t</a:t>
            </a:r>
            <a:r>
              <a:rPr lang="en-US" altLang="zh-CN" sz="2800" dirty="0">
                <a:ea typeface="宋体" panose="02010600030101010101" pitchFamily="2" charset="-122"/>
              </a:rPr>
              <a:t>) for each of the following input: </a:t>
            </a:r>
            <a:r>
              <a:rPr lang="en-US" altLang="zh-CN" sz="2800" i="1" dirty="0">
                <a:ea typeface="宋体" panose="02010600030101010101" pitchFamily="2" charset="-122"/>
              </a:rPr>
              <a:t>v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s</a:t>
            </a:r>
            <a:r>
              <a:rPr lang="en-US" altLang="zh-CN" sz="2800" dirty="0">
                <a:ea typeface="宋体" panose="02010600030101010101" pitchFamily="2" charset="-122"/>
              </a:rPr>
              <a:t> = 0.1</a:t>
            </a:r>
            <a:r>
              <a:rPr lang="en-US" altLang="zh-CN" sz="2800" b="1" dirty="0">
                <a:ea typeface="宋体" panose="02010600030101010101" pitchFamily="2" charset="-122"/>
              </a:rPr>
              <a:t>sin</a:t>
            </a:r>
            <a:r>
              <a:rPr lang="en-US" altLang="zh-CN" sz="2800" dirty="0">
                <a:ea typeface="宋体" panose="02010600030101010101" pitchFamily="2" charset="-122"/>
              </a:rPr>
              <a:t>(10</a:t>
            </a:r>
            <a:r>
              <a:rPr lang="en-US" altLang="zh-CN" sz="2800" baseline="30000" dirty="0">
                <a:ea typeface="宋体" panose="02010600030101010101" pitchFamily="2" charset="-122"/>
              </a:rPr>
              <a:t>2</a:t>
            </a:r>
            <a:r>
              <a:rPr lang="en-US" altLang="zh-CN" sz="2800" i="1" dirty="0">
                <a:ea typeface="宋体" panose="02010600030101010101" pitchFamily="2" charset="-122"/>
              </a:rPr>
              <a:t>t</a:t>
            </a:r>
            <a:r>
              <a:rPr lang="en-US" altLang="zh-CN" sz="2800" dirty="0">
                <a:ea typeface="宋体" panose="02010600030101010101" pitchFamily="2" charset="-122"/>
              </a:rPr>
              <a:t>), </a:t>
            </a:r>
            <a:r>
              <a:rPr lang="en-US" altLang="zh-CN" sz="2800" i="1" dirty="0">
                <a:ea typeface="宋体" panose="02010600030101010101" pitchFamily="2" charset="-122"/>
              </a:rPr>
              <a:t>v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s</a:t>
            </a:r>
            <a:r>
              <a:rPr lang="en-US" altLang="zh-CN" sz="2800" dirty="0">
                <a:ea typeface="宋体" panose="02010600030101010101" pitchFamily="2" charset="-122"/>
              </a:rPr>
              <a:t> = 0.1</a:t>
            </a:r>
            <a:r>
              <a:rPr lang="en-US" altLang="zh-CN" sz="2800" b="1" dirty="0">
                <a:ea typeface="宋体" panose="02010600030101010101" pitchFamily="2" charset="-122"/>
              </a:rPr>
              <a:t>sin</a:t>
            </a:r>
            <a:r>
              <a:rPr lang="en-US" altLang="zh-CN" sz="2800" dirty="0">
                <a:ea typeface="宋体" panose="02010600030101010101" pitchFamily="2" charset="-122"/>
              </a:rPr>
              <a:t>(10</a:t>
            </a:r>
            <a:r>
              <a:rPr lang="en-US" altLang="zh-CN" sz="2800" baseline="30000" dirty="0">
                <a:ea typeface="宋体" panose="02010600030101010101" pitchFamily="2" charset="-122"/>
              </a:rPr>
              <a:t>5</a:t>
            </a:r>
            <a:r>
              <a:rPr lang="en-US" altLang="zh-CN" sz="2800" i="1" dirty="0">
                <a:ea typeface="宋体" panose="02010600030101010101" pitchFamily="2" charset="-122"/>
              </a:rPr>
              <a:t>t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0592" y="5854700"/>
            <a:ext cx="2692400" cy="850900"/>
          </a:xfrm>
          <a:prstGeom prst="rect">
            <a:avLst/>
          </a:prstGeom>
        </p:spPr>
      </p:pic>
      <p:sp>
        <p:nvSpPr>
          <p:cNvPr id="8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0">
                <a:ea typeface="宋体" panose="02010600030101010101" pitchFamily="2" charset="-122"/>
              </a:rPr>
              <a:t>1.6.5.</a:t>
            </a:r>
            <a:r>
              <a:rPr lang="en-US" altLang="zh-CN">
                <a:ea typeface="宋体" panose="02010600030101010101" pitchFamily="2" charset="-122"/>
              </a:rPr>
              <a:t> Classification of Amps Based on Frequency Response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106433"/>
            <a:ext cx="9067800" cy="403860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internal capacitances</a:t>
            </a:r>
            <a:r>
              <a:rPr lang="en-US" altLang="zh-CN" sz="2800" dirty="0">
                <a:ea typeface="宋体" panose="02010600030101010101" pitchFamily="2" charset="-122"/>
              </a:rPr>
              <a:t> – cause the falloff of gain at high frequencies 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节点到地的寄生电容：高频时增益下降的原因</a:t>
            </a:r>
            <a:endParaRPr lang="en-US" altLang="zh-CN" sz="2800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like those seen in previous example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3333FF"/>
                </a:solidFill>
                <a:ea typeface="宋体" panose="02010600030101010101" pitchFamily="2" charset="-122"/>
              </a:rPr>
              <a:t>coupling capacitors</a:t>
            </a:r>
            <a:r>
              <a:rPr lang="en-US" altLang="zh-CN" sz="2800" dirty="0">
                <a:ea typeface="宋体" panose="02010600030101010101" pitchFamily="2" charset="-122"/>
              </a:rPr>
              <a:t> (</a:t>
            </a:r>
            <a:r>
              <a:rPr lang="zh-CN" altLang="en-US" dirty="0">
                <a:ea typeface="宋体" panose="02010600030101010101" pitchFamily="2" charset="-122"/>
              </a:rPr>
              <a:t>隔直电容</a:t>
            </a:r>
            <a:r>
              <a:rPr lang="en-US" altLang="zh-CN" sz="2800" dirty="0">
                <a:ea typeface="宋体" panose="02010600030101010101" pitchFamily="2" charset="-122"/>
              </a:rPr>
              <a:t>)– cause the falloff of gain at low frequencies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隔直电容：低频时增益下降的原因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are placed in 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between amplifier stages</a:t>
            </a:r>
            <a:endParaRPr lang="en-US" altLang="zh-CN" sz="28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generally chosen to be large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ea typeface="宋体" panose="02010600030101010101" pitchFamily="2" charset="-122"/>
              </a:rPr>
              <a:t>隔离不同 </a:t>
            </a:r>
            <a:r>
              <a:rPr lang="en-US" altLang="zh-CN" dirty="0">
                <a:ea typeface="宋体" panose="02010600030101010101" pitchFamily="2" charset="-122"/>
              </a:rPr>
              <a:t>stages</a:t>
            </a:r>
            <a:r>
              <a:rPr lang="zh-CN" altLang="en-US" dirty="0">
                <a:ea typeface="宋体" panose="02010600030101010101" pitchFamily="2" charset="-122"/>
              </a:rPr>
              <a:t> 放大器的直流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600" y="4937161"/>
            <a:ext cx="2819400" cy="19208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200" y="484369"/>
            <a:ext cx="3225800" cy="1622064"/>
          </a:xfrm>
          <a:prstGeom prst="rect">
            <a:avLst/>
          </a:prstGeom>
        </p:spPr>
      </p:pic>
      <p:sp>
        <p:nvSpPr>
          <p:cNvPr id="6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0">
                <a:ea typeface="宋体" panose="02010600030101010101" pitchFamily="2" charset="-122"/>
              </a:rPr>
              <a:t>1.6.5.</a:t>
            </a:r>
            <a:r>
              <a:rPr lang="en-US" altLang="zh-CN">
                <a:ea typeface="宋体" panose="02010600030101010101" pitchFamily="2" charset="-122"/>
              </a:rPr>
              <a:t> Classification of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Amps Based on Frequency Response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" y="5638116"/>
            <a:ext cx="8763000" cy="1168856"/>
          </a:xfrm>
        </p:spPr>
        <p:txBody>
          <a:bodyPr/>
          <a:lstStyle/>
          <a:p>
            <a:pPr eaLnBrk="1" hangingPunct="1"/>
            <a:r>
              <a:rPr lang="en-US" altLang="zh-CN" sz="2000" b="1" dirty="0">
                <a:solidFill>
                  <a:srgbClr val="3333FF"/>
                </a:solidFill>
                <a:ea typeface="宋体" panose="02010600030101010101" pitchFamily="2" charset="-122"/>
              </a:rPr>
              <a:t>directly coupled / dc amplifiers</a:t>
            </a:r>
            <a:r>
              <a:rPr lang="en-US" altLang="zh-CN" sz="2000" b="1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– allow passage of low frequencies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1" dirty="0">
                <a:solidFill>
                  <a:srgbClr val="3333FF"/>
                </a:solidFill>
                <a:ea typeface="宋体" panose="02010600030101010101" pitchFamily="2" charset="-122"/>
              </a:rPr>
              <a:t>capacitively coupled amplifiers</a:t>
            </a:r>
            <a:r>
              <a:rPr lang="en-US" altLang="zh-CN" sz="2000" b="1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– allow passage of high frequencies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1" dirty="0">
                <a:solidFill>
                  <a:srgbClr val="3333FF"/>
                </a:solidFill>
                <a:ea typeface="宋体" panose="02010600030101010101" pitchFamily="2" charset="-122"/>
              </a:rPr>
              <a:t>tuned amplifiers</a:t>
            </a:r>
            <a:r>
              <a:rPr lang="en-US" altLang="zh-CN" sz="2000" dirty="0">
                <a:ea typeface="宋体" panose="02010600030101010101" pitchFamily="2" charset="-122"/>
              </a:rPr>
              <a:t> – allow passage of a “band” of frequencies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16425"/>
            <a:ext cx="6858000" cy="5660445"/>
          </a:xfrm>
          <a:prstGeom prst="rect">
            <a:avLst/>
          </a:prstGeom>
        </p:spPr>
      </p:pic>
      <p:sp>
        <p:nvSpPr>
          <p:cNvPr id="5" name="灯片编号占位符 1"/>
          <p:cNvSpPr txBox="1"/>
          <p:nvPr/>
        </p:nvSpPr>
        <p:spPr bwMode="auto">
          <a:xfrm>
            <a:off x="6988904" y="365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6C1E34A1-BD04-B143-A538-2BB0BE278DBD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4" y="2286000"/>
            <a:ext cx="2316607" cy="1600200"/>
          </a:xfrm>
          <a:prstGeom prst="rect">
            <a:avLst/>
          </a:prstGeom>
        </p:spPr>
      </p:pic>
      <p:cxnSp>
        <p:nvCxnSpPr>
          <p:cNvPr id="6" name="直线箭头连接符 5"/>
          <p:cNvCxnSpPr/>
          <p:nvPr/>
        </p:nvCxnSpPr>
        <p:spPr bwMode="auto">
          <a:xfrm flipV="1">
            <a:off x="1905000" y="2133600"/>
            <a:ext cx="533400" cy="4572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作业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120836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600"/>
            <a:ext cx="9067800" cy="129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288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231648" y="3065981"/>
            <a:ext cx="4343400" cy="476250"/>
          </a:xfrm>
          <a:noFill/>
        </p:spPr>
        <p:txBody>
          <a:bodyPr/>
          <a:lstStyle>
            <a:lvl1pPr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endParaRPr lang="en-US" altLang="zh-CN" sz="1000"/>
          </a:p>
          <a:p>
            <a:pPr algn="ctr"/>
            <a:r>
              <a:rPr lang="en-US" altLang="zh-CN" sz="1000"/>
              <a:t>Oxford University Publishing</a:t>
            </a:r>
            <a:endParaRPr lang="en-US" altLang="zh-CN" sz="1000"/>
          </a:p>
          <a:p>
            <a:pPr algn="ctr"/>
            <a:r>
              <a:rPr lang="en-US" altLang="zh-CN" sz="1000"/>
              <a:t>Microelectronic Circuits by Adel S. Sedra and Kenneth C. Smith (0195323033)</a:t>
            </a:r>
            <a:endParaRPr lang="en-US" altLang="zh-CN" sz="1000"/>
          </a:p>
        </p:txBody>
      </p:sp>
      <p:pic>
        <p:nvPicPr>
          <p:cNvPr id="7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931"/>
            <a:ext cx="8718550" cy="362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048" y="1757881"/>
            <a:ext cx="3000502" cy="19450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48" y="3204538"/>
            <a:ext cx="1168400" cy="365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22505</Words>
  <Application>WPS 演示</Application>
  <PresentationFormat>全屏显示(4:3)</PresentationFormat>
  <Paragraphs>992</Paragraphs>
  <Slides>78</Slides>
  <Notes>43</Notes>
  <HiddenSlides>0</HiddenSlides>
  <MMClips>0</MMClips>
  <ScaleCrop>false</ScaleCrop>
  <HeadingPairs>
    <vt:vector size="8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21</vt:i4>
      </vt:variant>
      <vt:variant>
        <vt:lpstr>幻灯片标题</vt:lpstr>
      </vt:variant>
      <vt:variant>
        <vt:i4>78</vt:i4>
      </vt:variant>
    </vt:vector>
  </HeadingPairs>
  <TitlesOfParts>
    <vt:vector size="125" baseType="lpstr">
      <vt:lpstr>Arial</vt:lpstr>
      <vt:lpstr>宋体</vt:lpstr>
      <vt:lpstr>Wingdings</vt:lpstr>
      <vt:lpstr>Calibri</vt:lpstr>
      <vt:lpstr>MS PGothic</vt:lpstr>
      <vt:lpstr>微软雅黑</vt:lpstr>
      <vt:lpstr>Arial Unicode MS</vt:lpstr>
      <vt:lpstr>Lato</vt:lpstr>
      <vt:lpstr>AMGDT</vt:lpstr>
      <vt:lpstr>Times New Roman</vt:lpstr>
      <vt:lpstr>Trebuchet MS</vt:lpstr>
      <vt:lpstr>Gill Sans</vt:lpstr>
      <vt:lpstr>Gill Sans MT</vt:lpstr>
      <vt:lpstr>Andale Mono</vt:lpstr>
      <vt:lpstr>Gill Sans</vt:lpstr>
      <vt:lpstr>ヒラギノ角ゴ ProN W3</vt:lpstr>
      <vt:lpstr>Lucida Grande</vt:lpstr>
      <vt:lpstr>Symbol</vt:lpstr>
      <vt:lpstr>Cambria Math</vt:lpstr>
      <vt:lpstr>Yu Gothic UI Light</vt:lpstr>
      <vt:lpstr>Symath</vt:lpstr>
      <vt:lpstr>Cascadia Mono</vt:lpstr>
      <vt:lpstr>华康行楷体 W5</vt:lpstr>
      <vt:lpstr>Saturday Sans Regular</vt:lpstr>
      <vt:lpstr>Lucida Casual Regular</vt:lpstr>
      <vt:lpstr>Default Design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Chapter #1: Signals and Amplifiers</vt:lpstr>
      <vt:lpstr>Introduction</vt:lpstr>
      <vt:lpstr>Introduction</vt:lpstr>
      <vt:lpstr>1.1. Signals</vt:lpstr>
      <vt:lpstr>1.1: Signals</vt:lpstr>
      <vt:lpstr>1.1. Signals</vt:lpstr>
      <vt:lpstr>Example 1.1:  Thevenin and Norton Equivalent Sources </vt:lpstr>
      <vt:lpstr>PowerPoint 演示文稿</vt:lpstr>
      <vt:lpstr>1.2. Frequency Spectrum of Signals</vt:lpstr>
      <vt:lpstr>PowerPoint 演示文稿</vt:lpstr>
      <vt:lpstr>PowerPoint 演示文稿</vt:lpstr>
      <vt:lpstr>Fourier Series Example</vt:lpstr>
      <vt:lpstr>1.2. Frequency Spectrum of Signals</vt:lpstr>
      <vt:lpstr>1.3. Analog and Digital Signals</vt:lpstr>
      <vt:lpstr>1.3. Analog and Digital Signals</vt:lpstr>
      <vt:lpstr>1.3. Analog and Digital Signals</vt:lpstr>
      <vt:lpstr>1.3. Analog and Digital Signals</vt:lpstr>
      <vt:lpstr>PowerPoint 演示文稿</vt:lpstr>
      <vt:lpstr>1.4. Amplifiers 放大器</vt:lpstr>
      <vt:lpstr>1.4.1. Signal Amplification</vt:lpstr>
      <vt:lpstr>1.4.2. Amplifier Circuit Symbol 放大器的符号</vt:lpstr>
      <vt:lpstr>1.4.4. Power and Current Gain</vt:lpstr>
      <vt:lpstr>1.4.5. Expressing Gain in Decibels</vt:lpstr>
      <vt:lpstr>Using dB</vt:lpstr>
      <vt:lpstr>dBm and mW</vt:lpstr>
      <vt:lpstr>dBm and mW</vt:lpstr>
      <vt:lpstr>dBm and mW</vt:lpstr>
      <vt:lpstr>Using dB</vt:lpstr>
      <vt:lpstr>1.4.6. Amplifier Power Supply 放大器供电</vt:lpstr>
      <vt:lpstr>1.4.6. Amplifier Power Supply</vt:lpstr>
      <vt:lpstr>PowerPoint 演示文稿</vt:lpstr>
      <vt:lpstr>1.4.6. Amplifier Power Supply</vt:lpstr>
      <vt:lpstr>PowerPoint 演示文稿</vt:lpstr>
      <vt:lpstr>1.4.7. Amplifier Saturation</vt:lpstr>
      <vt:lpstr>1.4.7. Amplifier Saturation</vt:lpstr>
      <vt:lpstr>PowerPoint 演示文稿</vt:lpstr>
      <vt:lpstr>符号规范</vt:lpstr>
      <vt:lpstr>1.5. Circuit Models for Amplifiers 放大器的电路模型</vt:lpstr>
      <vt:lpstr>1.5.1. Voltage Amplifiers</vt:lpstr>
      <vt:lpstr>1.5.1. Voltage Amplifiers</vt:lpstr>
      <vt:lpstr>1.5.1. Voltage Amplifiers</vt:lpstr>
      <vt:lpstr>1.5.1. Voltage Amplifiers</vt:lpstr>
      <vt:lpstr>1.5.1. Voltage Amplifiers</vt:lpstr>
      <vt:lpstr>Buffer amplifier 缓冲放大器</vt:lpstr>
      <vt:lpstr>1.5.2. Cascaded Amplifiers 放大器级联</vt:lpstr>
      <vt:lpstr>Example 1.3: Cascaded Amplifier Configurations</vt:lpstr>
      <vt:lpstr>Example 1.3: Cascaded Amplifier Configurations</vt:lpstr>
      <vt:lpstr>PowerPoint 演示文稿</vt:lpstr>
      <vt:lpstr>PowerPoint 演示文稿</vt:lpstr>
      <vt:lpstr>1.5.3. Other Amplifier Types</vt:lpstr>
      <vt:lpstr>1.5.3. Other Amplifier Types</vt:lpstr>
      <vt:lpstr>1.5.4. Relationship Between Four Amp Models</vt:lpstr>
      <vt:lpstr>1.5.5. Determining Ri and Ro</vt:lpstr>
      <vt:lpstr>Section 1.5.5: Determining Ri and Ro</vt:lpstr>
      <vt:lpstr>1.5.6. Unilateral Models</vt:lpstr>
      <vt:lpstr>Example 1.4: Common-Emitter Circuit</vt:lpstr>
      <vt:lpstr>Example 1.4. </vt:lpstr>
      <vt:lpstr>Example 1.4: Common-Emitter Circuit </vt:lpstr>
      <vt:lpstr>PowerPoint 演示文稿</vt:lpstr>
      <vt:lpstr>1.6.1. Measuring the Amplifier Frequency Response</vt:lpstr>
      <vt:lpstr>1.6.1: Measuring the Amplifier Frequency Response</vt:lpstr>
      <vt:lpstr>1.6.1. Measuring the Amplifier Frequency Response 放大器频率响应</vt:lpstr>
      <vt:lpstr>1.6.2. Amplifier Bandwidth 放大器带宽</vt:lpstr>
      <vt:lpstr>1.6.2. Amplifier Bandwidth</vt:lpstr>
      <vt:lpstr>1.6.4. Single Time-Constant Networks单时间常数网络</vt:lpstr>
      <vt:lpstr>1.6.4. Single Time-Constant Networks</vt:lpstr>
      <vt:lpstr>1.6.4. Single Time-Constant Networks</vt:lpstr>
      <vt:lpstr>1.6.4. Single Time-Constant Networks</vt:lpstr>
      <vt:lpstr>PowerPoint 演示文稿</vt:lpstr>
      <vt:lpstr>PowerPoint 演示文稿</vt:lpstr>
      <vt:lpstr>PowerPoint 演示文稿</vt:lpstr>
      <vt:lpstr>Example 1.5: Voltage Amplifier </vt:lpstr>
      <vt:lpstr>Example 1.5: Voltage Amplifier</vt:lpstr>
      <vt:lpstr>1.6.5. Classification of Amps Based on Frequency Response</vt:lpstr>
      <vt:lpstr>1.6.5. Classification of Amps Based on Frequency Response</vt:lpstr>
      <vt:lpstr>作业</vt:lpstr>
      <vt:lpstr>PowerPoint 演示文稿</vt:lpstr>
    </vt:vector>
  </TitlesOfParts>
  <Company>n/a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deese</dc:creator>
  <cp:lastModifiedBy>王瑞</cp:lastModifiedBy>
  <cp:revision>493</cp:revision>
  <cp:lastPrinted>2020-10-25T02:10:00Z</cp:lastPrinted>
  <dcterms:created xsi:type="dcterms:W3CDTF">2010-11-05T02:06:00Z</dcterms:created>
  <dcterms:modified xsi:type="dcterms:W3CDTF">2025-10-24T12:42:41Z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03FF5E7A65284A99BDA1CC366BD78CA1_12</vt:lpwstr>
  </property>
  <property fmtid="{D5CDD505-2E9C-101B-9397-08002B2CF9AE}" pid="3" name="KSOProductBuildVer">
    <vt:lpwstr>2052-12.1.0.19770</vt:lpwstr>
  </property>
</Properties>
</file>