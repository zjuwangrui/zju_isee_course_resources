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02"/>
  </p:handoutMasterIdLst>
  <p:sldIdLst>
    <p:sldId id="406" r:id="rId3"/>
    <p:sldId id="665" r:id="rId4"/>
    <p:sldId id="654" r:id="rId5"/>
    <p:sldId id="655" r:id="rId6"/>
    <p:sldId id="521" r:id="rId7"/>
    <p:sldId id="668" r:id="rId9"/>
    <p:sldId id="666" r:id="rId10"/>
    <p:sldId id="667" r:id="rId11"/>
    <p:sldId id="523" r:id="rId12"/>
    <p:sldId id="669" r:id="rId13"/>
    <p:sldId id="524" r:id="rId14"/>
    <p:sldId id="525" r:id="rId15"/>
    <p:sldId id="527" r:id="rId16"/>
    <p:sldId id="716" r:id="rId17"/>
    <p:sldId id="530" r:id="rId18"/>
    <p:sldId id="531" r:id="rId19"/>
    <p:sldId id="533" r:id="rId20"/>
    <p:sldId id="534" r:id="rId21"/>
    <p:sldId id="535" r:id="rId22"/>
    <p:sldId id="536" r:id="rId23"/>
    <p:sldId id="537" r:id="rId24"/>
    <p:sldId id="539" r:id="rId25"/>
    <p:sldId id="670" r:id="rId26"/>
    <p:sldId id="540" r:id="rId27"/>
    <p:sldId id="541" r:id="rId28"/>
    <p:sldId id="671" r:id="rId29"/>
    <p:sldId id="546" r:id="rId30"/>
    <p:sldId id="672" r:id="rId31"/>
    <p:sldId id="673" r:id="rId32"/>
    <p:sldId id="547" r:id="rId33"/>
    <p:sldId id="674" r:id="rId34"/>
    <p:sldId id="639" r:id="rId35"/>
    <p:sldId id="676" r:id="rId36"/>
    <p:sldId id="640" r:id="rId37"/>
    <p:sldId id="663" r:id="rId38"/>
    <p:sldId id="678" r:id="rId39"/>
    <p:sldId id="679" r:id="rId40"/>
    <p:sldId id="556" r:id="rId41"/>
    <p:sldId id="557" r:id="rId42"/>
    <p:sldId id="680" r:id="rId43"/>
    <p:sldId id="681" r:id="rId44"/>
    <p:sldId id="559" r:id="rId45"/>
    <p:sldId id="641" r:id="rId46"/>
    <p:sldId id="642" r:id="rId47"/>
    <p:sldId id="682" r:id="rId48"/>
    <p:sldId id="684" r:id="rId49"/>
    <p:sldId id="561" r:id="rId50"/>
    <p:sldId id="562" r:id="rId51"/>
    <p:sldId id="563" r:id="rId52"/>
    <p:sldId id="564" r:id="rId53"/>
    <p:sldId id="565" r:id="rId54"/>
    <p:sldId id="703" r:id="rId55"/>
    <p:sldId id="566" r:id="rId56"/>
    <p:sldId id="567" r:id="rId57"/>
    <p:sldId id="687" r:id="rId58"/>
    <p:sldId id="688" r:id="rId59"/>
    <p:sldId id="689" r:id="rId60"/>
    <p:sldId id="569" r:id="rId61"/>
    <p:sldId id="570" r:id="rId62"/>
    <p:sldId id="571" r:id="rId63"/>
    <p:sldId id="572" r:id="rId64"/>
    <p:sldId id="573" r:id="rId65"/>
    <p:sldId id="574" r:id="rId66"/>
    <p:sldId id="575" r:id="rId67"/>
    <p:sldId id="576" r:id="rId68"/>
    <p:sldId id="577" r:id="rId69"/>
    <p:sldId id="578" r:id="rId70"/>
    <p:sldId id="579" r:id="rId71"/>
    <p:sldId id="580" r:id="rId72"/>
    <p:sldId id="581" r:id="rId73"/>
    <p:sldId id="690" r:id="rId74"/>
    <p:sldId id="704" r:id="rId75"/>
    <p:sldId id="691" r:id="rId76"/>
    <p:sldId id="587" r:id="rId77"/>
    <p:sldId id="588" r:id="rId78"/>
    <p:sldId id="693" r:id="rId79"/>
    <p:sldId id="590" r:id="rId80"/>
    <p:sldId id="589" r:id="rId81"/>
    <p:sldId id="594" r:id="rId82"/>
    <p:sldId id="595" r:id="rId83"/>
    <p:sldId id="596" r:id="rId84"/>
    <p:sldId id="597" r:id="rId85"/>
    <p:sldId id="710" r:id="rId86"/>
    <p:sldId id="711" r:id="rId87"/>
    <p:sldId id="606" r:id="rId88"/>
    <p:sldId id="644" r:id="rId89"/>
    <p:sldId id="608" r:id="rId90"/>
    <p:sldId id="714" r:id="rId91"/>
    <p:sldId id="715" r:id="rId92"/>
    <p:sldId id="702" r:id="rId93"/>
    <p:sldId id="701" r:id="rId94"/>
    <p:sldId id="706" r:id="rId95"/>
    <p:sldId id="707" r:id="rId96"/>
    <p:sldId id="708" r:id="rId97"/>
    <p:sldId id="675" r:id="rId98"/>
    <p:sldId id="685" r:id="rId99"/>
    <p:sldId id="683" r:id="rId100"/>
    <p:sldId id="692" r:id="rId10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23" autoAdjust="0"/>
    <p:restoredTop sz="92156" autoAdjust="0"/>
  </p:normalViewPr>
  <p:slideViewPr>
    <p:cSldViewPr showGuides="1">
      <p:cViewPr varScale="1">
        <p:scale>
          <a:sx n="148" d="100"/>
          <a:sy n="148" d="100"/>
        </p:scale>
        <p:origin x="265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A3358B-21B9-7E40-8995-380D0A8B2AA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 useful integrated circuit implementation of an almost idealized amplifier. Often </a:t>
            </a:r>
            <a:endParaRPr lang="en-US" altLang="en-US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V</a:t>
            </a:r>
            <a:r>
              <a:rPr lang="en-US" altLang="en-US" baseline="-25000">
                <a:latin typeface="Arial" panose="020B0604020202020204" pitchFamily="34" charset="0"/>
              </a:rPr>
              <a:t>CC</a:t>
            </a:r>
            <a:r>
              <a:rPr lang="en-US" altLang="en-US">
                <a:latin typeface="Arial" panose="020B0604020202020204" pitchFamily="34" charset="0"/>
              </a:rPr>
              <a:t> = V</a:t>
            </a:r>
            <a:r>
              <a:rPr lang="en-US" altLang="en-US" baseline="-25000">
                <a:latin typeface="Arial" panose="020B0604020202020204" pitchFamily="34" charset="0"/>
              </a:rPr>
              <a:t>EE</a:t>
            </a:r>
            <a:r>
              <a:rPr lang="en-US" altLang="en-US">
                <a:latin typeface="Arial" panose="020B0604020202020204" pitchFamily="34" charset="0"/>
              </a:rPr>
              <a:t> for balance with respect to ground (important as it maintains symmetry when overdriven) </a:t>
            </a:r>
            <a:endParaRPr lang="en-US" altLang="en-US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Some OpAmps also have differential outputs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9FE4C3-3D5C-B24B-9CC9-CA93FEC9EA0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40B41B-D7F2-1948-A502-AEA17A0C741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 good equivalent circuit as long as your system is balanced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499333-B1DA-7643-A3D0-62B3256364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Idealized OpAmp: 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Infinite input impedance (no source loading)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Extremely high gain (A – watch out for oscillation)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Zero output impedance (can deliver power to a load), but real OpAmps are not Zero (741 has 75 ohm Z</a:t>
            </a:r>
            <a:r>
              <a:rPr lang="en-US" altLang="en-US" baseline="-25000">
                <a:latin typeface="Arial" panose="020B0604020202020204" pitchFamily="34" charset="0"/>
              </a:rPr>
              <a:t>out</a:t>
            </a:r>
            <a:r>
              <a:rPr lang="en-US" altLang="en-US">
                <a:latin typeface="Arial" panose="020B0604020202020204" pitchFamily="34" charset="0"/>
              </a:rPr>
              <a:t>)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Differential input (high degree of “common mode” rejection)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Sometimes differential output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41A204-7B73-6D49-83AC-7BB78DE1D00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An OpAmp tries to reject the common-mode input while amplifying the differential input.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8F7AC4-4335-1548-A651-21D621AA9B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3D1BE2-F7FB-BE41-A994-872CCB899AB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Two of the three most used configurations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243A7E-54F1-6546-9168-30B4F23C3F2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How can we calculate the gain?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B3FC5B-9C23-B94C-BC3A-4A187949E79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Step “2” is a deduced fact! – very clever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89E43E-ECE4-8D40-BD88-005E6C4F055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Here we are using Node Equations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53527F-A652-D445-9222-ACE246FAD5B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Here we are using “Node equations” to solve for amplifier gain.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Note that V2 = V1 ! Why? 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V1 is at a “virtual ground” due to the high gain (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o</a:t>
            </a:r>
            <a:r>
              <a:rPr lang="en-US" altLang="zh-CN">
                <a:latin typeface="Arial" panose="020B0604020202020204" pitchFamily="34" charset="0"/>
              </a:rPr>
              <a:t> is finite)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5FACC4-AFF4-5E47-9A70-F8D3BA840F7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We had this result in Circuits!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DE2D2A-40FF-2141-AAA9-FFD369DE23E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Seldom needed as the gain is very high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7E1A51-A77A-C34C-8AEF-24218E11B75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Input resistance is determined by R</a:t>
            </a:r>
            <a:r>
              <a:rPr lang="en-US" altLang="zh-CN" baseline="-25000">
                <a:latin typeface="Arial" panose="020B0604020202020204" pitchFamily="34" charset="0"/>
              </a:rPr>
              <a:t>1</a:t>
            </a:r>
            <a:endParaRPr lang="en-US" altLang="zh-CN" baseline="-25000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Take this into account in your designs or use a “Buffer amp”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F49A6B-F41A-6346-8B80-BB27CCA0F9A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An important configuration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30F1D9-00C5-0242-89AA-661A6C65AB0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182540-F001-BD4D-872A-19384A4F36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Note the 1+ in the Gain!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0E2C71-DD22-3F45-BB8A-0791210A340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This is a useful configuration to “buffer” sub-circuits.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7A03A5-2763-B64A-B26E-C0AFC36FF1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Note: the resistors must be matched to maintain “balance”!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25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 = R</a:t>
            </a:r>
            <a:r>
              <a:rPr lang="en-US" altLang="zh-CN" baseline="-25000">
                <a:latin typeface="Arial" panose="020B0604020202020204" pitchFamily="34" charset="0"/>
              </a:rPr>
              <a:t>3</a:t>
            </a:r>
            <a:endParaRPr lang="en-US" altLang="zh-CN" baseline="-25000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25000"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 = R</a:t>
            </a:r>
            <a:r>
              <a:rPr lang="en-US" altLang="zh-CN" baseline="-25000">
                <a:latin typeface="Arial" panose="020B0604020202020204" pitchFamily="34" charset="0"/>
              </a:rPr>
              <a:t>4</a:t>
            </a:r>
            <a:endParaRPr lang="en-US" altLang="zh-CN" baseline="-25000">
              <a:latin typeface="Arial" panose="020B0604020202020204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8D5352-15FF-4448-ABC6-03B914E13D6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 useful configuration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2284CD-4175-1049-A66A-F52477A5A7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Again – maintain balance!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F3162A-8AD2-1041-BA4D-FEC5F63B76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8D8093-9A87-F743-AEE2-C480F691CB9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E57A9F2-1A55-9D43-81E7-07DE76206CDB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Again you can parallel the input capacitor to limit the noise problem.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E3C6D5-6362-CD4D-8C6D-00E0670ADD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DD1A7-F13D-D04F-8DA0-6CE10D2428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4174E-9EBA-344D-89A7-1E21708B6B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BC79C-567D-D843-AAE1-084500EE4B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2057400"/>
            <a:ext cx="4305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2EF0B-7FFF-B64B-B42B-87514F623E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BB910-FBA1-C44E-BD27-DCE1A40D76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0CDD7-741F-DC41-A0BE-250BBBB7CB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A55FE-BEFC-CF46-A08D-C05BBD9172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575A5-9BEA-BA46-B3B5-608A53AEFF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D958D-6D52-CE40-B5E3-519B39F4C0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67F16-6A00-E342-9602-248ADD3024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152400"/>
            <a:ext cx="21907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198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A0EB0-34A6-2743-B31F-8743A3DE59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3657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1761D-AE65-4F4D-82BB-BA80E4736F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3657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2057400"/>
            <a:ext cx="43053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152900"/>
            <a:ext cx="43053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0A446-A389-2049-8A8D-CDC797C44F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jpe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1"/>
          <p:cNvSpPr>
            <a:spLocks noChangeArrowheads="1"/>
          </p:cNvSpPr>
          <p:nvPr userDrawn="1"/>
        </p:nvSpPr>
        <p:spPr bwMode="auto">
          <a:xfrm>
            <a:off x="0" y="0"/>
            <a:ext cx="1371600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27" name="Rectangle 16"/>
          <p:cNvSpPr>
            <a:spLocks noChangeArrowheads="1"/>
          </p:cNvSpPr>
          <p:nvPr userDrawn="1"/>
        </p:nvSpPr>
        <p:spPr bwMode="auto">
          <a:xfrm>
            <a:off x="1371600" y="0"/>
            <a:ext cx="4114800" cy="1676400"/>
          </a:xfrm>
          <a:prstGeom prst="rect">
            <a:avLst/>
          </a:prstGeom>
          <a:gradFill rotWithShape="1">
            <a:gsLst>
              <a:gs pos="0">
                <a:srgbClr val="D9D9D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52400"/>
            <a:ext cx="3657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172200"/>
            <a:ext cx="4343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  <a:p>
            <a:pPr>
              <a:defRPr/>
            </a:pPr>
            <a:r>
              <a:rPr lang="en-US" altLang="zh-CN"/>
              <a:t>Oxford University Publishing</a:t>
            </a:r>
            <a:endParaRPr lang="en-US" altLang="zh-CN"/>
          </a:p>
          <a:p>
            <a:pPr>
              <a:defRPr/>
            </a:pPr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9FD977B-BD91-844A-B2CE-24C2AE1B1FC9}" type="slidenum">
              <a:rPr lang="en-US" altLang="zh-CN"/>
            </a:fld>
            <a:endParaRPr lang="en-US" altLang="zh-CN"/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1371600" y="1600200"/>
            <a:ext cx="4114800" cy="3048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32" name="Rectangle 93"/>
          <p:cNvSpPr>
            <a:spLocks noChangeArrowheads="1"/>
          </p:cNvSpPr>
          <p:nvPr userDrawn="1"/>
        </p:nvSpPr>
        <p:spPr bwMode="auto">
          <a:xfrm>
            <a:off x="0" y="1600200"/>
            <a:ext cx="1371600" cy="304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ea typeface="宋体" panose="02010600030101010101" pitchFamily="2" charset="-122"/>
            </a:endParaRPr>
          </a:p>
        </p:txBody>
      </p:sp>
      <p:pic>
        <p:nvPicPr>
          <p:cNvPr id="1033" name="Picture 94" descr="oxford logo4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52400"/>
            <a:ext cx="50641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95" descr="book cover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2797175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Rectangle 96"/>
          <p:cNvSpPr>
            <a:spLocks noChangeArrowheads="1"/>
          </p:cNvSpPr>
          <p:nvPr userDrawn="1"/>
        </p:nvSpPr>
        <p:spPr bwMode="auto">
          <a:xfrm>
            <a:off x="457200" y="2133600"/>
            <a:ext cx="4038600" cy="4038600"/>
          </a:xfrm>
          <a:prstGeom prst="rect">
            <a:avLst/>
          </a:prstGeom>
          <a:solidFill>
            <a:schemeClr val="bg1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2057400"/>
            <a:ext cx="8763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png"/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jpeg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jpeg"/><Relationship Id="rId2" Type="http://schemas.openxmlformats.org/officeDocument/2006/relationships/image" Target="../media/image21.wmf"/><Relationship Id="rId1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jpeg"/><Relationship Id="rId2" Type="http://schemas.openxmlformats.org/officeDocument/2006/relationships/image" Target="../media/image22.wmf"/><Relationship Id="rId1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0.jpe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jpe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jpeg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0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jpeg"/><Relationship Id="rId1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4.jpe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12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13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14.bin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0.png"/><Relationship Id="rId2" Type="http://schemas.openxmlformats.org/officeDocument/2006/relationships/image" Target="../media/image69.wmf"/><Relationship Id="rId1" Type="http://schemas.openxmlformats.org/officeDocument/2006/relationships/oleObject" Target="../embeddings/oleObject15.bin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2.jpeg"/><Relationship Id="rId2" Type="http://schemas.openxmlformats.org/officeDocument/2006/relationships/image" Target="../media/image71.wmf"/><Relationship Id="rId1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8.jpe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wmf"/><Relationship Id="rId1" Type="http://schemas.openxmlformats.org/officeDocument/2006/relationships/oleObject" Target="../embeddings/oleObject17.bin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4.wmf"/><Relationship Id="rId1" Type="http://schemas.openxmlformats.org/officeDocument/2006/relationships/oleObject" Target="../embeddings/oleObject18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6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7.jpe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jpeg"/><Relationship Id="rId1" Type="http://schemas.openxmlformats.org/officeDocument/2006/relationships/image" Target="../media/image10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2.jpe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8.png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5.png"/><Relationship Id="rId1" Type="http://schemas.openxmlformats.org/officeDocument/2006/relationships/image" Target="../media/image124.jpe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2.png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7.png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1.png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8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8.png"/><Relationship Id="rId7" Type="http://schemas.openxmlformats.org/officeDocument/2006/relationships/image" Target="../media/image157.png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image" Target="../media/image151.png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image" Target="../media/image154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9.png"/><Relationship Id="rId1" Type="http://schemas.openxmlformats.org/officeDocument/2006/relationships/image" Target="../media/image16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5.png"/><Relationship Id="rId1" Type="http://schemas.openxmlformats.org/officeDocument/2006/relationships/image" Target="../media/image17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7.png"/><Relationship Id="rId1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2438400"/>
          </a:xfrm>
        </p:spPr>
        <p:txBody>
          <a:bodyPr/>
          <a:lstStyle/>
          <a:p>
            <a:pPr eaLnBrk="1" hangingPunct="1"/>
            <a:r>
              <a:rPr lang="en-US" altLang="zh-CN" sz="6000" dirty="0">
                <a:solidFill>
                  <a:srgbClr val="0000FF"/>
                </a:solidFill>
                <a:ea typeface="宋体" panose="02010600030101010101" pitchFamily="2" charset="-122"/>
              </a:rPr>
              <a:t>Chapter #2: Operational Amplifiers</a:t>
            </a:r>
            <a:br>
              <a:rPr lang="en-US" altLang="zh-CN" sz="6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zh-CN" altLang="en-US" sz="6000" dirty="0">
                <a:solidFill>
                  <a:srgbClr val="0000FF"/>
                </a:solidFill>
                <a:ea typeface="宋体" panose="02010600030101010101" pitchFamily="2" charset="-122"/>
              </a:rPr>
              <a:t>运算放大器</a:t>
            </a:r>
            <a:endParaRPr lang="en-US" altLang="zh-CN" sz="6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343400"/>
            <a:ext cx="6400800" cy="1752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from </a:t>
            </a:r>
            <a:r>
              <a:rPr lang="en-US" altLang="zh-CN" sz="3200" b="1">
                <a:ea typeface="宋体" panose="02010600030101010101" pitchFamily="2" charset="-122"/>
              </a:rPr>
              <a:t>Microelectronic Circuits</a:t>
            </a:r>
            <a:r>
              <a:rPr lang="en-US" altLang="zh-CN" sz="3200">
                <a:ea typeface="宋体" panose="02010600030101010101" pitchFamily="2" charset="-122"/>
              </a:rPr>
              <a:t> Text</a:t>
            </a:r>
            <a:endParaRPr lang="en-US" altLang="zh-CN" sz="320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by Sedra and Smith</a:t>
            </a:r>
            <a:endParaRPr lang="en-US" altLang="zh-CN" sz="320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Oxford Publishing</a:t>
            </a:r>
            <a:endParaRPr lang="en-US" altLang="zh-CN" sz="3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课程纲要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114300" y="1981200"/>
            <a:ext cx="8763000" cy="4724400"/>
          </a:xfrm>
          <a:solidFill>
            <a:schemeClr val="bg1"/>
          </a:solidFill>
        </p:spPr>
        <p:txBody>
          <a:bodyPr/>
          <a:lstStyle/>
          <a:p>
            <a:r>
              <a:rPr lang="en-US" altLang="zh-CN" b="1" dirty="0"/>
              <a:t>9.  </a:t>
            </a:r>
            <a:r>
              <a:rPr lang="zh-CN" altLang="zh-CN" b="1" dirty="0"/>
              <a:t>理想运算放大器及其应用电路</a:t>
            </a:r>
            <a:r>
              <a:rPr lang="zh-CN" altLang="zh-CN" dirty="0"/>
              <a:t>（建议</a:t>
            </a:r>
            <a:r>
              <a:rPr lang="en-US" altLang="zh-CN" dirty="0"/>
              <a:t>4</a:t>
            </a:r>
            <a:r>
              <a:rPr lang="zh-CN" altLang="zh-CN" dirty="0"/>
              <a:t>学时）</a:t>
            </a:r>
            <a:endParaRPr lang="zh-CN" altLang="zh-CN" dirty="0"/>
          </a:p>
          <a:p>
            <a:r>
              <a:rPr lang="en-US" altLang="zh-CN" dirty="0"/>
              <a:t>9.1  </a:t>
            </a:r>
            <a:r>
              <a:rPr lang="zh-CN" altLang="zh-CN" dirty="0"/>
              <a:t>运算放大器基础</a:t>
            </a:r>
            <a:endParaRPr lang="zh-CN" altLang="zh-CN" dirty="0"/>
          </a:p>
          <a:p>
            <a:r>
              <a:rPr lang="en-US" altLang="zh-CN" dirty="0"/>
              <a:t>	9.1.1  </a:t>
            </a:r>
            <a:r>
              <a:rPr lang="zh-CN" altLang="zh-CN" dirty="0"/>
              <a:t>运算放大器的结构及其电路符号</a:t>
            </a:r>
            <a:endParaRPr lang="zh-CN" altLang="zh-CN" dirty="0"/>
          </a:p>
          <a:p>
            <a:r>
              <a:rPr lang="en-US" altLang="zh-CN" dirty="0"/>
              <a:t>	9.1.2  </a:t>
            </a:r>
            <a:r>
              <a:rPr lang="zh-CN" altLang="zh-CN" dirty="0"/>
              <a:t>运算放大器的理想模型</a:t>
            </a:r>
            <a:endParaRPr lang="zh-CN" altLang="zh-CN" dirty="0"/>
          </a:p>
          <a:p>
            <a:r>
              <a:rPr lang="en-US" altLang="zh-CN" dirty="0"/>
              <a:t>9.2  </a:t>
            </a:r>
            <a:r>
              <a:rPr lang="zh-CN" altLang="zh-CN" dirty="0"/>
              <a:t>运算放大器基本应用电路</a:t>
            </a:r>
            <a:endParaRPr lang="zh-CN" altLang="zh-CN" dirty="0"/>
          </a:p>
          <a:p>
            <a:r>
              <a:rPr lang="en-US" altLang="zh-CN" dirty="0"/>
              <a:t>	9.2.1  </a:t>
            </a:r>
            <a:r>
              <a:rPr lang="zh-CN" altLang="zh-CN" dirty="0"/>
              <a:t>反相和同相接法电路</a:t>
            </a:r>
            <a:endParaRPr lang="zh-CN" altLang="zh-CN" dirty="0"/>
          </a:p>
          <a:p>
            <a:r>
              <a:rPr lang="en-US" altLang="zh-CN" dirty="0"/>
              <a:t>	9.2.2  </a:t>
            </a:r>
            <a:r>
              <a:rPr lang="zh-CN" altLang="zh-CN" dirty="0"/>
              <a:t>常用运算放大器应用电路（包括线性和非线性应用电路）</a:t>
            </a:r>
            <a:endParaRPr lang="zh-CN" altLang="zh-CN" dirty="0"/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Introduction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IN THIS CHAPTER YOU WILL LEARN</a:t>
            </a:r>
            <a:endParaRPr lang="en-US" altLang="zh-CN" sz="2800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terminal characteristics</a:t>
            </a:r>
            <a:r>
              <a:rPr lang="en-US" altLang="zh-CN" sz="2800">
                <a:ea typeface="宋体" panose="02010600030101010101" pitchFamily="2" charset="-122"/>
              </a:rPr>
              <a:t> of the ideal op-amp.</a:t>
            </a:r>
            <a:r>
              <a:rPr lang="zh-CN" altLang="en-US" sz="2800">
                <a:ea typeface="宋体" panose="02010600030101010101" pitchFamily="2" charset="-122"/>
              </a:rPr>
              <a:t>理想运放的基本特性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How to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analyze circuits</a:t>
            </a:r>
            <a:r>
              <a:rPr lang="en-US" altLang="zh-CN" sz="2800">
                <a:ea typeface="宋体" panose="02010600030101010101" pitchFamily="2" charset="-122"/>
              </a:rPr>
              <a:t> containing op-amps, resistors, and capacitors. </a:t>
            </a:r>
            <a:r>
              <a:rPr lang="zh-CN" altLang="en-US" sz="2800">
                <a:ea typeface="宋体" panose="02010600030101010101" pitchFamily="2" charset="-122"/>
              </a:rPr>
              <a:t>基本运放电路的分析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How to use op-amps to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design amplifiers</a:t>
            </a:r>
            <a:r>
              <a:rPr lang="en-US" altLang="zh-CN" sz="2800">
                <a:ea typeface="宋体" panose="02010600030101010101" pitchFamily="2" charset="-122"/>
              </a:rPr>
              <a:t> having precise characteristics. </a:t>
            </a:r>
            <a:r>
              <a:rPr lang="zh-CN" altLang="en-US" sz="2800">
                <a:ea typeface="宋体" panose="02010600030101010101" pitchFamily="2" charset="-122"/>
              </a:rPr>
              <a:t>利用运放设计精确放大器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Introduction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IN THIS CHAPTER YOU WILL LEARN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How to design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more sophisticated op-amp circuits</a:t>
            </a:r>
            <a:r>
              <a:rPr lang="en-US" altLang="zh-CN" sz="2800" dirty="0">
                <a:ea typeface="宋体" panose="02010600030101010101" pitchFamily="2" charset="-122"/>
              </a:rPr>
              <a:t>, including summing amplifiers, instrumentation amplifiers, integrators, and differentiators.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ea typeface="宋体" panose="02010600030101010101" pitchFamily="2" charset="-122"/>
              </a:rPr>
              <a:t>运放主要应用电路分析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0" y="6172200"/>
            <a:ext cx="44958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2.1.1. </a:t>
            </a:r>
            <a:r>
              <a:rPr lang="en-US" altLang="zh-CN">
                <a:ea typeface="宋体" panose="02010600030101010101" pitchFamily="2" charset="-122"/>
              </a:rPr>
              <a:t>The Op Amp Terminals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4381500" cy="4038600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terminal #1 </a:t>
            </a:r>
            <a:r>
              <a:rPr lang="zh-CN" altLang="en-US" b="1">
                <a:ea typeface="宋体" panose="02010600030101010101" pitchFamily="2" charset="-122"/>
              </a:rPr>
              <a:t>反相输入端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inverting input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terminal #2 </a:t>
            </a:r>
            <a:r>
              <a:rPr lang="zh-CN" altLang="en-US" b="1">
                <a:ea typeface="宋体" panose="02010600030101010101" pitchFamily="2" charset="-122"/>
              </a:rPr>
              <a:t>同相输入端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non-inverting input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terminal #3 </a:t>
            </a:r>
            <a:r>
              <a:rPr lang="zh-CN" altLang="en-US" b="1">
                <a:ea typeface="宋体" panose="02010600030101010101" pitchFamily="2" charset="-122"/>
              </a:rPr>
              <a:t>输出端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output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terminal #4 </a:t>
            </a:r>
            <a:r>
              <a:rPr lang="zh-CN" altLang="en-US" b="1">
                <a:ea typeface="宋体" panose="02010600030101010101" pitchFamily="2" charset="-122"/>
              </a:rPr>
              <a:t>供电电源（</a:t>
            </a:r>
            <a:r>
              <a:rPr lang="en-US" altLang="zh-CN" b="1">
                <a:ea typeface="宋体" panose="02010600030101010101" pitchFamily="2" charset="-122"/>
              </a:rPr>
              <a:t>+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positive supply </a:t>
            </a:r>
            <a:r>
              <a:rPr lang="en-US" altLang="zh-CN" i="1"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ea typeface="宋体" panose="02010600030101010101" pitchFamily="2" charset="-122"/>
              </a:rPr>
              <a:t>CC</a:t>
            </a:r>
            <a:endParaRPr lang="en-US" altLang="zh-CN" i="1" baseline="-25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terminal #5 </a:t>
            </a:r>
            <a:r>
              <a:rPr lang="zh-CN" altLang="en-US" b="1">
                <a:ea typeface="宋体" panose="02010600030101010101" pitchFamily="2" charset="-122"/>
              </a:rPr>
              <a:t>供电电源（</a:t>
            </a:r>
            <a:r>
              <a:rPr lang="en-US" altLang="zh-CN" b="1">
                <a:ea typeface="宋体" panose="02010600030101010101" pitchFamily="2" charset="-122"/>
              </a:rPr>
              <a:t>-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negative supply </a:t>
            </a:r>
            <a:r>
              <a:rPr lang="en-US" altLang="zh-CN" i="1"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ea typeface="宋体" panose="02010600030101010101" pitchFamily="2" charset="-122"/>
              </a:rPr>
              <a:t>EE</a:t>
            </a:r>
            <a:endParaRPr lang="en-US" altLang="zh-CN" i="1" baseline="-25000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717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2133600"/>
            <a:ext cx="448627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0246" name="Line 6"/>
          <p:cNvSpPr>
            <a:spLocks noChangeShapeType="1"/>
          </p:cNvSpPr>
          <p:nvPr/>
        </p:nvSpPr>
        <p:spPr bwMode="auto">
          <a:xfrm>
            <a:off x="2133600" y="2286000"/>
            <a:ext cx="2590800" cy="13906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0247" name="Line 7"/>
          <p:cNvSpPr>
            <a:spLocks noChangeShapeType="1"/>
          </p:cNvSpPr>
          <p:nvPr/>
        </p:nvSpPr>
        <p:spPr bwMode="auto">
          <a:xfrm>
            <a:off x="2133600" y="3200400"/>
            <a:ext cx="259080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0248" name="Line 8"/>
          <p:cNvSpPr>
            <a:spLocks noChangeShapeType="1"/>
          </p:cNvSpPr>
          <p:nvPr/>
        </p:nvSpPr>
        <p:spPr bwMode="auto">
          <a:xfrm>
            <a:off x="2128838" y="4046538"/>
            <a:ext cx="5186362" cy="682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0249" name="Line 9"/>
          <p:cNvSpPr>
            <a:spLocks noChangeShapeType="1"/>
          </p:cNvSpPr>
          <p:nvPr/>
        </p:nvSpPr>
        <p:spPr bwMode="auto">
          <a:xfrm flipV="1">
            <a:off x="2133600" y="3048000"/>
            <a:ext cx="381000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0250" name="Line 10"/>
          <p:cNvSpPr>
            <a:spLocks noChangeShapeType="1"/>
          </p:cNvSpPr>
          <p:nvPr/>
        </p:nvSpPr>
        <p:spPr bwMode="auto">
          <a:xfrm flipV="1">
            <a:off x="2133600" y="5181600"/>
            <a:ext cx="3886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文本框 1"/>
          <p:cNvSpPr txBox="1">
            <a:spLocks noChangeArrowheads="1"/>
          </p:cNvSpPr>
          <p:nvPr/>
        </p:nvSpPr>
        <p:spPr bwMode="auto">
          <a:xfrm>
            <a:off x="4199480" y="200561"/>
            <a:ext cx="48482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从信号角度讲，</a:t>
            </a:r>
            <a:r>
              <a:rPr lang="en-US" altLang="zh-CN" sz="2000" dirty="0">
                <a:ea typeface="宋体" panose="02010600030101010101" pitchFamily="2" charset="-122"/>
              </a:rPr>
              <a:t>op amp</a:t>
            </a:r>
            <a:r>
              <a:rPr lang="zh-CN" altLang="en-US" sz="2000" dirty="0">
                <a:ea typeface="宋体" panose="02010600030101010101" pitchFamily="2" charset="-122"/>
              </a:rPr>
              <a:t> 是一个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三端元件</a:t>
            </a: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ea typeface="宋体" panose="02010600030101010101" pitchFamily="2" charset="-122"/>
              </a:rPr>
              <a:t>），</a:t>
            </a:r>
            <a:r>
              <a:rPr lang="en-US" altLang="zh-CN" sz="2000" dirty="0"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是供电。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30974" y="6262116"/>
            <a:ext cx="4916731" cy="3385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Op</a:t>
            </a:r>
            <a:r>
              <a:rPr lang="zh-CN" altLang="en-US" b="1" dirty="0">
                <a:solidFill>
                  <a:srgbClr val="0432FF"/>
                </a:solidFill>
              </a:rPr>
              <a:t> </a:t>
            </a:r>
            <a:r>
              <a:rPr lang="en-US" altLang="zh-CN" b="1" dirty="0">
                <a:solidFill>
                  <a:srgbClr val="0432FF"/>
                </a:solidFill>
              </a:rPr>
              <a:t>amp</a:t>
            </a:r>
            <a:r>
              <a:rPr lang="zh-CN" altLang="en-US" b="1" dirty="0">
                <a:solidFill>
                  <a:srgbClr val="0432FF"/>
                </a:solidFill>
              </a:rPr>
              <a:t> 也是一个基本的 </a:t>
            </a:r>
            <a:r>
              <a:rPr lang="en-US" altLang="zh-CN" b="1" dirty="0">
                <a:solidFill>
                  <a:srgbClr val="0432FF"/>
                </a:solidFill>
              </a:rPr>
              <a:t>building</a:t>
            </a:r>
            <a:r>
              <a:rPr lang="zh-CN" altLang="en-US" b="1" dirty="0">
                <a:solidFill>
                  <a:srgbClr val="0432FF"/>
                </a:solidFill>
              </a:rPr>
              <a:t> </a:t>
            </a:r>
            <a:r>
              <a:rPr lang="en-US" altLang="zh-CN" b="1" dirty="0">
                <a:solidFill>
                  <a:srgbClr val="0432FF"/>
                </a:solidFill>
              </a:rPr>
              <a:t>block</a:t>
            </a:r>
            <a:r>
              <a:rPr lang="zh-CN" altLang="en-US" b="1" dirty="0">
                <a:solidFill>
                  <a:srgbClr val="0432FF"/>
                </a:solidFill>
              </a:rPr>
              <a:t>，就如</a:t>
            </a:r>
            <a:r>
              <a:rPr lang="en-US" altLang="zh-CN" b="1" dirty="0">
                <a:solidFill>
                  <a:srgbClr val="0432FF"/>
                </a:solidFill>
              </a:rPr>
              <a:t>R</a:t>
            </a:r>
            <a:r>
              <a:rPr lang="zh-CN" altLang="en-US" b="1" dirty="0">
                <a:solidFill>
                  <a:srgbClr val="0432FF"/>
                </a:solidFill>
              </a:rPr>
              <a:t>、</a:t>
            </a:r>
            <a:r>
              <a:rPr lang="en-US" altLang="zh-CN" b="1" dirty="0">
                <a:solidFill>
                  <a:srgbClr val="0432FF"/>
                </a:solidFill>
              </a:rPr>
              <a:t>L</a:t>
            </a:r>
            <a:r>
              <a:rPr lang="zh-CN" altLang="en-US" b="1" dirty="0">
                <a:solidFill>
                  <a:srgbClr val="0432FF"/>
                </a:solidFill>
              </a:rPr>
              <a:t>、</a:t>
            </a:r>
            <a:r>
              <a:rPr lang="en-US" altLang="zh-CN" b="1" dirty="0">
                <a:solidFill>
                  <a:srgbClr val="0432FF"/>
                </a:solidFill>
              </a:rPr>
              <a:t>C</a:t>
            </a:r>
            <a:endParaRPr lang="en-US" b="1" dirty="0">
              <a:solidFill>
                <a:srgbClr val="0432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01133"/>
            <a:ext cx="1524000" cy="8466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152" y="1479758"/>
            <a:ext cx="1765300" cy="3429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4588565" y="1466542"/>
            <a:ext cx="24545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800" dirty="0"/>
              <a:t>“电压电流约束关系”：</a:t>
            </a:r>
            <a:endParaRPr kumimoji="1" lang="zh-CN" altLang="en-US" sz="1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930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3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3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930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3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3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930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3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3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930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3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3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930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3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0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9800"/>
            <a:ext cx="9144000" cy="907017"/>
          </a:xfrm>
          <a:prstGeom prst="rect">
            <a:avLst/>
          </a:prstGeom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914400" y="2851252"/>
            <a:ext cx="5334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2.1.3.</a:t>
            </a:r>
            <a:r>
              <a:rPr lang="en-US" altLang="zh-CN" sz="3200">
                <a:ea typeface="宋体" panose="02010600030101010101" pitchFamily="2" charset="-122"/>
              </a:rPr>
              <a:t> Differential &amp; Common-Mode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is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common-mode input</a:t>
            </a:r>
            <a:r>
              <a:rPr lang="en-US" altLang="zh-CN" sz="2800">
                <a:ea typeface="宋体" panose="02010600030101010101" pitchFamily="2" charset="-122"/>
              </a:rPr>
              <a:t> (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cmi</a:t>
            </a:r>
            <a:r>
              <a:rPr lang="en-US" altLang="zh-CN" sz="2800">
                <a:ea typeface="宋体" panose="02010600030101010101" pitchFamily="2" charset="-122"/>
              </a:rPr>
              <a:t>) defined in terms of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?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1024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3559175"/>
          <a:ext cx="6161088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066400" imgH="25908000" progId="Equation.DSMT4">
                  <p:embed/>
                </p:oleObj>
              </mc:Choice>
              <mc:Fallback>
                <p:oleObj name="Equation" r:id="rId1" imgW="74066400" imgH="2590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59175"/>
                        <a:ext cx="6161088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文本框 1"/>
          <p:cNvSpPr txBox="1">
            <a:spLocks noChangeArrowheads="1"/>
          </p:cNvSpPr>
          <p:nvPr/>
        </p:nvSpPr>
        <p:spPr bwMode="auto">
          <a:xfrm>
            <a:off x="5278438" y="371475"/>
            <a:ext cx="2525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差分信号 </a:t>
            </a:r>
            <a:r>
              <a:rPr lang="en-US" altLang="zh-CN" sz="2000">
                <a:ea typeface="宋体" panose="02010600030101010101" pitchFamily="2" charset="-122"/>
              </a:rPr>
              <a:t>&amp; </a:t>
            </a:r>
            <a:r>
              <a:rPr lang="zh-CN" altLang="en-US" sz="2000">
                <a:ea typeface="宋体" panose="02010600030101010101" pitchFamily="2" charset="-122"/>
              </a:rPr>
              <a:t>共模信号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247" name="文本框 2"/>
          <p:cNvSpPr txBox="1">
            <a:spLocks noChangeArrowheads="1"/>
          </p:cNvSpPr>
          <p:nvPr/>
        </p:nvSpPr>
        <p:spPr bwMode="auto">
          <a:xfrm>
            <a:off x="5278438" y="914400"/>
            <a:ext cx="2782887" cy="7080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差分：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en-US" sz="2000" baseline="-25000">
                <a:latin typeface="Arial" panose="020B0604020202020204" pitchFamily="34" charset="0"/>
              </a:rPr>
              <a:t>d</a:t>
            </a:r>
            <a:r>
              <a:rPr lang="en-US" altLang="zh-CN" sz="2000" baseline="-250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en-US" sz="2000">
                <a:latin typeface="Arial" panose="020B0604020202020204" pitchFamily="34" charset="0"/>
              </a:rPr>
              <a:t> = v</a:t>
            </a:r>
            <a:r>
              <a:rPr lang="en-US" altLang="en-US" sz="2000" baseline="-25000">
                <a:latin typeface="Arial" panose="020B0604020202020204" pitchFamily="34" charset="0"/>
              </a:rPr>
              <a:t>2</a:t>
            </a:r>
            <a:r>
              <a:rPr lang="en-US" altLang="en-US" sz="2000">
                <a:latin typeface="Arial" panose="020B0604020202020204" pitchFamily="34" charset="0"/>
              </a:rPr>
              <a:t> - v</a:t>
            </a:r>
            <a:r>
              <a:rPr lang="en-US" altLang="en-US" sz="2000" baseline="-25000">
                <a:latin typeface="Arial" panose="020B0604020202020204" pitchFamily="34" charset="0"/>
              </a:rPr>
              <a:t>1 </a:t>
            </a:r>
            <a:endParaRPr lang="en-US" altLang="en-US" sz="20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共模：</a:t>
            </a:r>
            <a:r>
              <a:rPr lang="en-US" altLang="en-US" sz="2000">
                <a:latin typeface="Arial" panose="020B0604020202020204" pitchFamily="34" charset="0"/>
              </a:rPr>
              <a:t>v</a:t>
            </a:r>
            <a:r>
              <a:rPr lang="en-US" altLang="en-US" sz="2000" baseline="-25000">
                <a:latin typeface="Arial" panose="020B0604020202020204" pitchFamily="34" charset="0"/>
              </a:rPr>
              <a:t>cm</a:t>
            </a:r>
            <a:r>
              <a:rPr lang="en-US" altLang="zh-CN" sz="2000" baseline="-250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en-US" sz="2000" baseline="-25000">
                <a:latin typeface="Arial" panose="020B0604020202020204" pitchFamily="34" charset="0"/>
              </a:rPr>
              <a:t> </a:t>
            </a:r>
            <a:r>
              <a:rPr lang="en-US" altLang="en-US" sz="2000">
                <a:latin typeface="Arial" panose="020B0604020202020204" pitchFamily="34" charset="0"/>
              </a:rPr>
              <a:t>= (v</a:t>
            </a:r>
            <a:r>
              <a:rPr lang="en-US" altLang="en-US" sz="2000" baseline="-25000">
                <a:latin typeface="Arial" panose="020B0604020202020204" pitchFamily="34" charset="0"/>
              </a:rPr>
              <a:t>2</a:t>
            </a:r>
            <a:r>
              <a:rPr lang="en-US" altLang="en-US" sz="2000">
                <a:latin typeface="Arial" panose="020B0604020202020204" pitchFamily="34" charset="0"/>
              </a:rPr>
              <a:t> + v</a:t>
            </a:r>
            <a:r>
              <a:rPr lang="en-US" altLang="en-US" sz="2000" baseline="-25000">
                <a:latin typeface="Arial" panose="020B0604020202020204" pitchFamily="34" charset="0"/>
              </a:rPr>
              <a:t>1 </a:t>
            </a:r>
            <a:r>
              <a:rPr lang="en-US" altLang="en-US" sz="2000">
                <a:latin typeface="Arial" panose="020B0604020202020204" pitchFamily="34" charset="0"/>
              </a:rPr>
              <a:t>)/2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0248" name="文本框 3"/>
          <p:cNvSpPr txBox="1">
            <a:spLocks noChangeArrowheads="1"/>
          </p:cNvSpPr>
          <p:nvPr/>
        </p:nvSpPr>
        <p:spPr bwMode="auto">
          <a:xfrm>
            <a:off x="16565" y="5791200"/>
            <a:ext cx="9140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任意两个信号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，都可以分解成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共模信号（</a:t>
            </a:r>
            <a:r>
              <a:rPr lang="en-US" altLang="zh-CN" sz="2000" b="1" dirty="0" err="1">
                <a:solidFill>
                  <a:srgbClr val="00B05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 err="1">
                <a:solidFill>
                  <a:srgbClr val="00B050"/>
                </a:solidFill>
                <a:ea typeface="宋体" panose="02010600030101010101" pitchFamily="2" charset="-122"/>
              </a:rPr>
              <a:t>cmi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） 与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差分信号（</a:t>
            </a:r>
            <a:r>
              <a:rPr lang="en-US" altLang="zh-CN" sz="2000" b="1" dirty="0" err="1">
                <a:solidFill>
                  <a:srgbClr val="00B05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 err="1">
                <a:solidFill>
                  <a:srgbClr val="00B050"/>
                </a:solidFill>
                <a:ea typeface="宋体" panose="02010600030101010101" pitchFamily="2" charset="-122"/>
              </a:rPr>
              <a:t>di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）的叠加</a:t>
            </a:r>
            <a:endParaRPr lang="zh-CN" altLang="en-US" sz="2000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2.1.3.</a:t>
            </a:r>
            <a:r>
              <a:rPr lang="en-US" altLang="zh-CN" sz="3200">
                <a:ea typeface="宋体" panose="02010600030101010101" pitchFamily="2" charset="-122"/>
              </a:rPr>
              <a:t> Differential &amp; Common-Mode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endParaRPr lang="zh-CN" altLang="zh-CN" sz="2000">
              <a:ea typeface="宋体" panose="02010600030101010101" pitchFamily="2" charset="-122"/>
            </a:endParaRP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2294" name="Picture 6" descr="se02F0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914400"/>
            <a:ext cx="57912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2590800" y="1676400"/>
            <a:ext cx="3429000" cy="1600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2296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228600" y="869950"/>
          <a:ext cx="2230438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26822400" imgH="60960000" progId="Equation.DSMT4">
                  <p:embed/>
                </p:oleObj>
              </mc:Choice>
              <mc:Fallback>
                <p:oleObj name="Equation" r:id="rId2" imgW="26822400" imgH="60960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69950"/>
                        <a:ext cx="2230438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2.1.2.</a:t>
            </a:r>
            <a:r>
              <a:rPr lang="en-US" altLang="zh-CN" sz="3200">
                <a:ea typeface="宋体" panose="02010600030101010101" pitchFamily="2" charset="-122"/>
              </a:rPr>
              <a:t> Function and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Characteristics of Ideal Op Amp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2905125"/>
            <a:ext cx="83058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ideal input characteristic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infinite impedance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ideal output characteristic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zero impedance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differential gain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infinite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common mode gain </a:t>
            </a:r>
            <a:r>
              <a:rPr lang="en-US" altLang="zh-CN" sz="2800" dirty="0">
                <a:ea typeface="宋体" panose="02010600030101010101" pitchFamily="2" charset="-122"/>
              </a:rPr>
              <a:t>is zero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bandwidth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gain is constant from dc to high frequencies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932293" name="Line 5"/>
          <p:cNvSpPr>
            <a:spLocks noChangeShapeType="1"/>
          </p:cNvSpPr>
          <p:nvPr/>
        </p:nvSpPr>
        <p:spPr bwMode="auto">
          <a:xfrm flipV="1">
            <a:off x="4343400" y="3200400"/>
            <a:ext cx="0" cy="297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2294" name="Text Box 6"/>
          <p:cNvSpPr txBox="1">
            <a:spLocks noChangeArrowheads="1"/>
          </p:cNvSpPr>
          <p:nvPr/>
        </p:nvSpPr>
        <p:spPr bwMode="auto">
          <a:xfrm>
            <a:off x="152400" y="6096000"/>
            <a:ext cx="8763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>
                <a:ea typeface="宋体" panose="02010600030101010101" pitchFamily="2" charset="-122"/>
              </a:rPr>
              <a:t>But, is an amplifier with infinite gain of any use?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4346" name="文本框 9"/>
          <p:cNvSpPr txBox="1">
            <a:spLocks noChangeArrowheads="1"/>
          </p:cNvSpPr>
          <p:nvPr/>
        </p:nvSpPr>
        <p:spPr bwMode="auto">
          <a:xfrm>
            <a:off x="7516880" y="2943297"/>
            <a:ext cx="1557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输入阻抗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4347" name="文本框 10"/>
          <p:cNvSpPr txBox="1">
            <a:spLocks noChangeArrowheads="1"/>
          </p:cNvSpPr>
          <p:nvPr/>
        </p:nvSpPr>
        <p:spPr bwMode="auto">
          <a:xfrm>
            <a:off x="7370762" y="3395278"/>
            <a:ext cx="1468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输出阻抗</a:t>
            </a:r>
            <a:r>
              <a:rPr lang="en-US" altLang="zh-CN" sz="2000" dirty="0">
                <a:ea typeface="宋体" panose="02010600030101010101" pitchFamily="2" charset="-122"/>
              </a:rPr>
              <a:t>=0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4348" name="文本框 11"/>
          <p:cNvSpPr txBox="1">
            <a:spLocks noChangeArrowheads="1"/>
          </p:cNvSpPr>
          <p:nvPr/>
        </p:nvSpPr>
        <p:spPr bwMode="auto">
          <a:xfrm>
            <a:off x="5089525" y="3872893"/>
            <a:ext cx="2070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差分电压增益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4349" name="文本框 12"/>
          <p:cNvSpPr txBox="1">
            <a:spLocks noChangeArrowheads="1"/>
          </p:cNvSpPr>
          <p:nvPr/>
        </p:nvSpPr>
        <p:spPr bwMode="auto">
          <a:xfrm>
            <a:off x="7003256" y="4790144"/>
            <a:ext cx="1101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带宽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 ∞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952750" y="5181659"/>
            <a:ext cx="6096000" cy="101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理想运放不单独使用，输入输出需构成闭环再应用，所以</a:t>
            </a:r>
            <a:r>
              <a:rPr lang="en-US" altLang="zh-CN" sz="2000">
                <a:ea typeface="宋体" panose="02010600030101010101" pitchFamily="2" charset="-122"/>
              </a:rPr>
              <a:t>A</a:t>
            </a:r>
            <a:r>
              <a:rPr lang="zh-CN" altLang="en-US" sz="2000">
                <a:ea typeface="宋体" panose="02010600030101010101" pitchFamily="2" charset="-122"/>
              </a:rPr>
              <a:t>也称为开环增益（</a:t>
            </a:r>
            <a:r>
              <a:rPr lang="en-US" altLang="zh-CN" sz="2000">
                <a:ea typeface="宋体" panose="02010600030101010101" pitchFamily="2" charset="-122"/>
              </a:rPr>
              <a:t>open-loop gain</a:t>
            </a:r>
            <a:r>
              <a:rPr lang="zh-CN" altLang="en-US" sz="2000">
                <a:ea typeface="宋体" panose="02010600030101010101" pitchFamily="2" charset="-122"/>
              </a:rPr>
              <a:t>），相应的，构成闭环后的增益成为闭环增益（</a:t>
            </a:r>
            <a:r>
              <a:rPr lang="en-US" altLang="zh-CN" sz="2000">
                <a:ea typeface="宋体" panose="02010600030101010101" pitchFamily="2" charset="-122"/>
              </a:rPr>
              <a:t>closed-loop gain</a:t>
            </a:r>
            <a:r>
              <a:rPr lang="zh-CN" altLang="en-US" sz="2000">
                <a:ea typeface="宋体" panose="02010600030101010101" pitchFamily="2" charset="-122"/>
              </a:rPr>
              <a:t>）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14900" y="860027"/>
            <a:ext cx="41232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了解</a:t>
            </a:r>
            <a:r>
              <a:rPr lang="zh-CN" altLang="en-US" sz="2000" b="1" dirty="0">
                <a:solidFill>
                  <a:srgbClr val="0432FF"/>
                </a:solidFill>
              </a:rPr>
              <a:t>理想运放</a:t>
            </a:r>
            <a:r>
              <a:rPr lang="zh-CN" altLang="en-US" sz="2000" dirty="0"/>
              <a:t>的基本特性，就如需要了解</a:t>
            </a:r>
            <a:r>
              <a:rPr lang="en-US" altLang="zh-CN" sz="2000" dirty="0"/>
              <a:t>RLC</a:t>
            </a:r>
            <a:r>
              <a:rPr lang="zh-CN" altLang="en-US" sz="2000" dirty="0"/>
              <a:t>元件的基本特性一样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电压关系：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电流关系：</a:t>
            </a:r>
            <a:r>
              <a:rPr lang="en-US" altLang="zh-CN" sz="2000" dirty="0"/>
              <a:t>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=i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=0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sz="18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1542884"/>
            <a:ext cx="1447800" cy="28122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4909"/>
            <a:ext cx="4014787" cy="2821822"/>
          </a:xfrm>
          <a:prstGeom prst="rect">
            <a:avLst/>
          </a:prstGeom>
        </p:spPr>
      </p:pic>
      <p:sp>
        <p:nvSpPr>
          <p:cNvPr id="21" name="文本框 11"/>
          <p:cNvSpPr txBox="1">
            <a:spLocks noChangeArrowheads="1"/>
          </p:cNvSpPr>
          <p:nvPr/>
        </p:nvSpPr>
        <p:spPr bwMode="auto">
          <a:xfrm>
            <a:off x="4800601" y="4351337"/>
            <a:ext cx="1981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共模电压增益</a:t>
            </a:r>
            <a:r>
              <a:rPr lang="en-US" altLang="zh-CN" sz="2000" dirty="0">
                <a:ea typeface="宋体" panose="02010600030101010101" pitchFamily="2" charset="-122"/>
              </a:rPr>
              <a:t>=0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12075" y="2286946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理想运放的等效电路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3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2294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31750"/>
            <a:ext cx="2349500" cy="13602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0100" y="578781"/>
            <a:ext cx="198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简化 </a:t>
            </a:r>
            <a:r>
              <a:rPr lang="en-US" altLang="zh-CN" dirty="0"/>
              <a:t>symbol</a:t>
            </a:r>
            <a:r>
              <a:rPr lang="zh-CN" altLang="en-US" dirty="0"/>
              <a:t>，常用</a:t>
            </a:r>
            <a:endParaRPr lang="en-US" dirty="0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6449568" y="1428986"/>
          <a:ext cx="195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23469600" imgH="5791200" progId="Equation.DSMT4">
                  <p:embed/>
                </p:oleObj>
              </mc:Choice>
              <mc:Fallback>
                <p:oleObj name="Equation" r:id="rId2" imgW="234696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9568" y="1428986"/>
                        <a:ext cx="1955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57582"/>
            <a:ext cx="9144000" cy="1942836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81000" y="3867018"/>
            <a:ext cx="87630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2.1.2.</a:t>
            </a:r>
            <a:r>
              <a:rPr lang="en-US" altLang="zh-CN" sz="3200">
                <a:ea typeface="宋体" panose="02010600030101010101" pitchFamily="2" charset="-122"/>
              </a:rPr>
              <a:t> Function and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Characteristics of Ideal Op Amp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ideal gain:</a:t>
            </a:r>
            <a:r>
              <a:rPr lang="en-US" altLang="zh-CN" sz="2000">
                <a:ea typeface="宋体" panose="02010600030101010101" pitchFamily="2" charset="-122"/>
              </a:rPr>
              <a:t> is defined below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ideal input characteristic:</a:t>
            </a:r>
            <a:r>
              <a:rPr lang="en-US" altLang="zh-CN" sz="2000">
                <a:ea typeface="宋体" panose="02010600030101010101" pitchFamily="2" charset="-122"/>
              </a:rPr>
              <a:t> infinite impedance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ideal output characteristic:</a:t>
            </a:r>
            <a:r>
              <a:rPr lang="en-US" altLang="zh-CN" sz="2000">
                <a:ea typeface="宋体" panose="02010600030101010101" pitchFamily="2" charset="-122"/>
              </a:rPr>
              <a:t> zero impedance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>
              <a:ea typeface="宋体" panose="02010600030101010101" pitchFamily="2" charset="-122"/>
            </a:endParaRPr>
          </a:p>
        </p:txBody>
      </p:sp>
      <p:graphicFrame>
        <p:nvGraphicFramePr>
          <p:cNvPr id="1638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316288" y="2755900"/>
          <a:ext cx="23749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7678400" imgH="4572000" progId="Equation.DSMT4">
                  <p:embed/>
                </p:oleObj>
              </mc:Choice>
              <mc:Fallback>
                <p:oleObj name="Equation" r:id="rId1" imgW="17678400" imgH="457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2755900"/>
                        <a:ext cx="23749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 dirty="0">
              <a:ea typeface="宋体" panose="02010600030101010101" pitchFamily="2" charset="-122"/>
            </a:endParaRPr>
          </a:p>
        </p:txBody>
      </p:sp>
      <p:pic>
        <p:nvPicPr>
          <p:cNvPr id="16391" name="Picture 6" descr="se02F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02" y="2955925"/>
            <a:ext cx="5671897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文本框 2"/>
          <p:cNvSpPr txBox="1">
            <a:spLocks noChangeArrowheads="1"/>
          </p:cNvSpPr>
          <p:nvPr/>
        </p:nvSpPr>
        <p:spPr bwMode="auto">
          <a:xfrm>
            <a:off x="5120445" y="133156"/>
            <a:ext cx="39725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理想运放的特性：</a:t>
            </a:r>
            <a:endParaRPr lang="en-US" altLang="zh-CN" sz="20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①输入阻抗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∞；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000" i="1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=</a:t>
            </a:r>
            <a:r>
              <a:rPr lang="en-US" altLang="zh-CN" sz="2000" i="1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=0 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虚断</a:t>
            </a:r>
            <a:endParaRPr lang="en-US" altLang="zh-CN" sz="2000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②输出阻抗</a:t>
            </a:r>
            <a:r>
              <a:rPr lang="en-US" altLang="zh-CN" sz="2000" dirty="0">
                <a:ea typeface="宋体" panose="02010600030101010101" pitchFamily="2" charset="-122"/>
              </a:rPr>
              <a:t>=0</a:t>
            </a:r>
            <a:r>
              <a:rPr lang="zh-CN" altLang="en-US" sz="2000" dirty="0">
                <a:ea typeface="宋体" panose="02010600030101010101" pitchFamily="2" charset="-122"/>
              </a:rPr>
              <a:t>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③只放大输入差分信号；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④差分电压增益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∞；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i="1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sz="2000" baseline="-25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=</a:t>
            </a:r>
            <a:r>
              <a:rPr lang="en-US" altLang="zh-CN" sz="2000" i="1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sz="2000" baseline="-25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000" baseline="-25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虚短</a:t>
            </a:r>
            <a:endParaRPr lang="en-US" altLang="zh-CN" sz="2000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⑤带宽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0" name="文本框 1"/>
          <p:cNvSpPr txBox="1">
            <a:spLocks noChangeArrowheads="1"/>
          </p:cNvSpPr>
          <p:nvPr/>
        </p:nvSpPr>
        <p:spPr bwMode="auto">
          <a:xfrm>
            <a:off x="5241250" y="295275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理想运放的等效电路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870924" cy="2598737"/>
          </a:xfrm>
          <a:prstGeom prst="rect">
            <a:avLst/>
          </a:prstGeom>
        </p:spPr>
      </p:pic>
      <p:sp>
        <p:nvSpPr>
          <p:cNvPr id="4" name="Bent Arrow 2"/>
          <p:cNvSpPr/>
          <p:nvPr/>
        </p:nvSpPr>
        <p:spPr bwMode="auto">
          <a:xfrm rot="10800000" flipH="1">
            <a:off x="1273851" y="3059873"/>
            <a:ext cx="991514" cy="1085850"/>
          </a:xfrm>
          <a:prstGeom prst="bentArrow">
            <a:avLst>
              <a:gd name="adj1" fmla="val 13933"/>
              <a:gd name="adj2" fmla="val 17622"/>
              <a:gd name="adj3" fmla="val 31148"/>
              <a:gd name="adj4" fmla="val 437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 descr="图示, 示意图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52400"/>
            <a:ext cx="2409341" cy="19389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11080" y="174209"/>
            <a:ext cx="363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ea typeface="宋体" panose="02010600030101010101" pitchFamily="2" charset="-122"/>
              </a:rPr>
              <a:t>④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2.1.2.</a:t>
            </a:r>
            <a:r>
              <a:rPr lang="en-US" altLang="zh-CN" sz="3200">
                <a:ea typeface="宋体" panose="02010600030101010101" pitchFamily="2" charset="-122"/>
              </a:rPr>
              <a:t> Function and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Characteristics of Ideal Op-Amp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An amplifier’s input is composed of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two</a:t>
            </a:r>
            <a:r>
              <a:rPr lang="en-US" altLang="zh-CN" sz="2800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components…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differential input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dfi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is difference between inputs at non-inverting and inverting terminals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common-mode input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cmi</a:t>
            </a:r>
            <a:r>
              <a:rPr lang="en-US" altLang="zh-CN" sz="2800" dirty="0">
                <a:ea typeface="宋体" panose="02010600030101010101" pitchFamily="2" charset="-122"/>
              </a:rPr>
              <a:t>) – is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input present at both inverting and non-inverting terminals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Similarly,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two</a:t>
            </a:r>
            <a:r>
              <a:rPr lang="en-US" altLang="zh-CN" sz="2800" dirty="0">
                <a:ea typeface="宋体" panose="02010600030101010101" pitchFamily="2" charset="-122"/>
              </a:rPr>
              <a:t> components of gain exist…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differential gain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gain applied to differential input ONLY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common-mode gain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 err="1">
                <a:ea typeface="宋体" panose="02010600030101010101" pitchFamily="2" charset="-122"/>
              </a:rPr>
              <a:t>A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cm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– </a:t>
            </a:r>
            <a:r>
              <a:rPr lang="en-US" altLang="zh-CN" sz="2800" dirty="0">
                <a:ea typeface="宋体" panose="02010600030101010101" pitchFamily="2" charset="-122"/>
              </a:rPr>
              <a:t>gain applied to common-mode input ONLY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8438" name="文本框 1"/>
          <p:cNvSpPr txBox="1">
            <a:spLocks noChangeArrowheads="1"/>
          </p:cNvSpPr>
          <p:nvPr/>
        </p:nvSpPr>
        <p:spPr bwMode="auto">
          <a:xfrm>
            <a:off x="5486400" y="381000"/>
            <a:ext cx="3597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ea typeface="宋体" panose="02010600030101010101" pitchFamily="2" charset="-122"/>
              </a:rPr>
              <a:t>运放的特性：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抑制共模信号、放大差分信号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3" name="文本框 5"/>
          <p:cNvSpPr txBox="1">
            <a:spLocks noChangeArrowheads="1"/>
          </p:cNvSpPr>
          <p:nvPr/>
        </p:nvSpPr>
        <p:spPr bwMode="auto">
          <a:xfrm>
            <a:off x="152400" y="6422335"/>
            <a:ext cx="6348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运放的增益也可看成两部分构成：差分增益</a:t>
            </a:r>
            <a:r>
              <a:rPr lang="en-US" altLang="zh-CN" sz="2000" dirty="0"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ea typeface="宋体" panose="02010600030101010101" pitchFamily="2" charset="-122"/>
              </a:rPr>
              <a:t>共模增益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857" y="6403285"/>
            <a:ext cx="2324100" cy="419100"/>
          </a:xfrm>
          <a:prstGeom prst="rect">
            <a:avLst/>
          </a:prstGeom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2.1.2.</a:t>
            </a:r>
            <a:r>
              <a:rPr lang="en-US" altLang="zh-CN" sz="3200">
                <a:ea typeface="宋体" panose="02010600030101010101" pitchFamily="2" charset="-122"/>
              </a:rPr>
              <a:t> Function and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Characteristics of Ideal Op Amp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>
              <a:defRPr/>
            </a:pPr>
            <a:r>
              <a:rPr lang="en-US" altLang="zh-CN" sz="2800" dirty="0"/>
              <a:t>This “Ideal” is only approached by IC op amps</a:t>
            </a:r>
            <a:endParaRPr lang="en-US" altLang="zh-CN" sz="28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2800" dirty="0" err="1"/>
              <a:t>Z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 – usually high enough to ignore</a:t>
            </a:r>
            <a:endParaRPr lang="en-US" altLang="zh-CN" sz="28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2800" dirty="0"/>
              <a:t>Z</a:t>
            </a:r>
            <a:r>
              <a:rPr lang="en-US" altLang="zh-CN" sz="2800" baseline="-25000" dirty="0"/>
              <a:t>o</a:t>
            </a:r>
            <a:r>
              <a:rPr lang="en-US" altLang="zh-CN" sz="2800" dirty="0"/>
              <a:t> – often higher than needed – follow by a low output impedance stage (emitter-follower)</a:t>
            </a:r>
            <a:endParaRPr lang="en-US" altLang="zh-CN" sz="28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cm</a:t>
            </a:r>
            <a:r>
              <a:rPr lang="en-US" altLang="zh-CN" sz="2800" dirty="0"/>
              <a:t> – usually quite good</a:t>
            </a:r>
            <a:endParaRPr lang="en-US" altLang="zh-CN" sz="28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2800" dirty="0"/>
              <a:t>A – usually high enough when not asking for too much gain with feedback</a:t>
            </a:r>
            <a:endParaRPr lang="en-US" altLang="zh-CN" sz="28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2800" dirty="0"/>
              <a:t>BW – needs to be evaluated in use.</a:t>
            </a:r>
            <a:endParaRPr lang="en-US" altLang="zh-CN" sz="2800" dirty="0"/>
          </a:p>
        </p:txBody>
      </p:sp>
      <p:sp>
        <p:nvSpPr>
          <p:cNvPr id="22533" name="文本框 1"/>
          <p:cNvSpPr txBox="1">
            <a:spLocks noChangeArrowheads="1"/>
          </p:cNvSpPr>
          <p:nvPr/>
        </p:nvSpPr>
        <p:spPr bwMode="auto">
          <a:xfrm>
            <a:off x="4734339" y="442913"/>
            <a:ext cx="4343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理想运放</a:t>
            </a:r>
            <a:r>
              <a:rPr lang="zh-CN" altLang="en-US" sz="2000" dirty="0">
                <a:ea typeface="宋体" panose="02010600030101010101" pitchFamily="2" charset="-122"/>
              </a:rPr>
              <a:t>可以用</a:t>
            </a:r>
            <a:r>
              <a:rPr lang="zh-CN" altLang="en-US" sz="2000" dirty="0">
                <a:solidFill>
                  <a:srgbClr val="00B0F0"/>
                </a:solidFill>
                <a:ea typeface="宋体" panose="02010600030101010101" pitchFamily="2" charset="-122"/>
              </a:rPr>
              <a:t>集成运放</a:t>
            </a:r>
            <a:r>
              <a:rPr lang="zh-CN" altLang="en-US" sz="2000" dirty="0">
                <a:ea typeface="宋体" panose="02010600030101010101" pitchFamily="2" charset="-122"/>
              </a:rPr>
              <a:t>（集成电路，而非分立元件实现运放）来近似实现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22534" name="文本框 3"/>
          <p:cNvSpPr txBox="1">
            <a:spLocks noChangeArrowheads="1"/>
          </p:cNvSpPr>
          <p:nvPr/>
        </p:nvSpPr>
        <p:spPr bwMode="auto">
          <a:xfrm>
            <a:off x="5638800" y="2743200"/>
            <a:ext cx="2236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B0F0"/>
                </a:solidFill>
                <a:ea typeface="宋体" panose="02010600030101010101" pitchFamily="2" charset="-122"/>
              </a:rPr>
              <a:t>输入阻抗往往够高</a:t>
            </a:r>
            <a:endParaRPr lang="zh-CN" altLang="en-US" sz="200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sp>
        <p:nvSpPr>
          <p:cNvPr id="22535" name="文本框 7"/>
          <p:cNvSpPr txBox="1">
            <a:spLocks noChangeArrowheads="1"/>
          </p:cNvSpPr>
          <p:nvPr/>
        </p:nvSpPr>
        <p:spPr bwMode="auto">
          <a:xfrm>
            <a:off x="5870575" y="3581400"/>
            <a:ext cx="3276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B0F0"/>
                </a:solidFill>
                <a:ea typeface="宋体" panose="02010600030101010101" pitchFamily="2" charset="-122"/>
              </a:rPr>
              <a:t>输出阻抗往往不够低，需后接一级低输出阻抗的电路</a:t>
            </a:r>
            <a:endParaRPr lang="zh-CN" altLang="en-US" sz="200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sp>
        <p:nvSpPr>
          <p:cNvPr id="22536" name="文本框 8"/>
          <p:cNvSpPr txBox="1">
            <a:spLocks noChangeArrowheads="1"/>
          </p:cNvSpPr>
          <p:nvPr/>
        </p:nvSpPr>
        <p:spPr bwMode="auto">
          <a:xfrm>
            <a:off x="4267200" y="4219575"/>
            <a:ext cx="2236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B0F0"/>
                </a:solidFill>
                <a:ea typeface="宋体" panose="02010600030101010101" pitchFamily="2" charset="-122"/>
              </a:rPr>
              <a:t>共模增益往往够小</a:t>
            </a:r>
            <a:endParaRPr lang="zh-CN" altLang="en-US" sz="200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sp>
        <p:nvSpPr>
          <p:cNvPr id="22537" name="文本框 9"/>
          <p:cNvSpPr txBox="1">
            <a:spLocks noChangeArrowheads="1"/>
          </p:cNvSpPr>
          <p:nvPr/>
        </p:nvSpPr>
        <p:spPr bwMode="auto">
          <a:xfrm>
            <a:off x="3633788" y="5105400"/>
            <a:ext cx="2236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B0F0"/>
                </a:solidFill>
                <a:ea typeface="宋体" panose="02010600030101010101" pitchFamily="2" charset="-122"/>
              </a:rPr>
              <a:t>差分增益往往够高</a:t>
            </a:r>
            <a:endParaRPr lang="zh-CN" altLang="en-US" sz="200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sp>
        <p:nvSpPr>
          <p:cNvPr id="22538" name="文本框 10"/>
          <p:cNvSpPr txBox="1">
            <a:spLocks noChangeArrowheads="1"/>
          </p:cNvSpPr>
          <p:nvPr/>
        </p:nvSpPr>
        <p:spPr bwMode="auto">
          <a:xfrm>
            <a:off x="5846763" y="5638800"/>
            <a:ext cx="3095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B0F0"/>
                </a:solidFill>
                <a:ea typeface="宋体" panose="02010600030101010101" pitchFamily="2" charset="-122"/>
              </a:rPr>
              <a:t>需根据实际情况估算，≠∞</a:t>
            </a:r>
            <a:endParaRPr lang="zh-CN" altLang="en-US" sz="2000">
              <a:solidFill>
                <a:srgbClr val="00B0F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907338" y="2730500"/>
            <a:ext cx="401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∞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769350" y="388937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6435725" y="4202113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5843588" y="50863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∞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870575" y="6005513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∞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609600" y="2133600"/>
            <a:ext cx="3048000" cy="396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</a:t>
            </a:r>
            <a:r>
              <a:rPr lang="en-US" altLang="zh-CN" sz="3200">
                <a:ea typeface="宋体" panose="02010600030101010101" pitchFamily="2" charset="-122"/>
              </a:rPr>
              <a:t> The Inverting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209800"/>
            <a:ext cx="8305800" cy="38862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What are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two basic closed-loop op-amp configurations</a:t>
            </a:r>
            <a:r>
              <a:rPr lang="en-US" altLang="zh-CN" sz="2800" dirty="0">
                <a:ea typeface="宋体" panose="02010600030101010101" pitchFamily="2" charset="-122"/>
              </a:rPr>
              <a:t> which employ op-amp and resistors alone?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66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solidFill>
                  <a:srgbClr val="00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1) inverting and 2) non-inverting op amp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82" name="文本框 1"/>
          <p:cNvSpPr txBox="1">
            <a:spLocks noChangeArrowheads="1"/>
          </p:cNvSpPr>
          <p:nvPr/>
        </p:nvSpPr>
        <p:spPr bwMode="auto">
          <a:xfrm>
            <a:off x="4648202" y="36513"/>
            <a:ext cx="2236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反相（倒相）接法</a:t>
            </a:r>
            <a:endParaRPr lang="zh-CN" altLang="en-US" sz="2000" b="1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sp>
        <p:nvSpPr>
          <p:cNvPr id="24583" name="文本框 2"/>
          <p:cNvSpPr txBox="1">
            <a:spLocks noChangeArrowheads="1"/>
          </p:cNvSpPr>
          <p:nvPr/>
        </p:nvSpPr>
        <p:spPr bwMode="auto">
          <a:xfrm>
            <a:off x="299830" y="4724400"/>
            <a:ext cx="84201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若仅可使用运放和电阻，那么有两种构成闭环的接法：①反相接法，输入在反相输入端；②同相接法，输入在同相输入端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 descr="墙上的钟表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561362"/>
            <a:ext cx="3136902" cy="15236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</a:t>
            </a:r>
            <a:r>
              <a:rPr lang="en-US" altLang="zh-CN" sz="3200">
                <a:ea typeface="宋体" panose="02010600030101010101" pitchFamily="2" charset="-122"/>
              </a:rPr>
              <a:t> The Inverting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question: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what are two basic closed-loop op amp configurations which employ op-amp and resistors alone?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solidFill>
                  <a:srgbClr val="008000"/>
                </a:solidFill>
                <a:ea typeface="宋体" panose="02010600030101010101" pitchFamily="2" charset="-122"/>
              </a:rPr>
              <a:t>answer:</a:t>
            </a:r>
            <a:r>
              <a:rPr lang="en-US" altLang="zh-CN" sz="2000">
                <a:ea typeface="宋体" panose="02010600030101010101" pitchFamily="2" charset="-122"/>
              </a:rPr>
              <a:t> inverting and non-inverting op amp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ea typeface="宋体" panose="02010600030101010101" pitchFamily="2" charset="-122"/>
              </a:rPr>
              <a:t>note:</a:t>
            </a:r>
            <a:r>
              <a:rPr lang="en-US" altLang="zh-CN" sz="2000">
                <a:ea typeface="宋体" panose="02010600030101010101" pitchFamily="2" charset="-122"/>
              </a:rPr>
              <a:t> here we examine the inverting type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26630" name="Picture 6" descr="se02F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63738"/>
            <a:ext cx="8610600" cy="382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0486" name="Text Box 6"/>
          <p:cNvSpPr txBox="1">
            <a:spLocks noChangeArrowheads="1"/>
          </p:cNvSpPr>
          <p:nvPr/>
        </p:nvSpPr>
        <p:spPr bwMode="auto">
          <a:xfrm>
            <a:off x="152400" y="5883275"/>
            <a:ext cx="2971800" cy="822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source is applied to inverting input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0487" name="Text Box 7"/>
          <p:cNvSpPr txBox="1">
            <a:spLocks noChangeArrowheads="1"/>
          </p:cNvSpPr>
          <p:nvPr/>
        </p:nvSpPr>
        <p:spPr bwMode="auto">
          <a:xfrm>
            <a:off x="4800600" y="5197475"/>
            <a:ext cx="2895600" cy="822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non-inverting input is grounded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0488" name="Text Box 8"/>
          <p:cNvSpPr txBox="1">
            <a:spLocks noChangeArrowheads="1"/>
          </p:cNvSpPr>
          <p:nvPr/>
        </p:nvSpPr>
        <p:spPr bwMode="auto">
          <a:xfrm>
            <a:off x="4343400" y="914400"/>
            <a:ext cx="2971800" cy="822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facilitates “negative feedback”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0489" name="Text Box 9"/>
          <p:cNvSpPr txBox="1">
            <a:spLocks noChangeArrowheads="1"/>
          </p:cNvSpPr>
          <p:nvPr/>
        </p:nvSpPr>
        <p:spPr bwMode="auto">
          <a:xfrm>
            <a:off x="762000" y="1981200"/>
            <a:ext cx="2971800" cy="822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regulates level of this feedback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6635" name="Text Box 5"/>
          <p:cNvSpPr txBox="1">
            <a:spLocks noChangeArrowheads="1"/>
          </p:cNvSpPr>
          <p:nvPr/>
        </p:nvSpPr>
        <p:spPr bwMode="auto">
          <a:xfrm>
            <a:off x="228600" y="2286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2.5:</a:t>
            </a:r>
            <a:r>
              <a:rPr lang="en-US" altLang="zh-CN">
                <a:ea typeface="宋体" panose="02010600030101010101" pitchFamily="2" charset="-122"/>
              </a:rPr>
              <a:t> The inverting closed-loop configuration.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4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4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0486" grpId="0" animBg="1"/>
      <p:bldP spid="1940487" grpId="0" animBg="1"/>
      <p:bldP spid="1940488" grpId="0" animBg="1"/>
      <p:bldP spid="19404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br>
              <a:rPr lang="en-US" altLang="zh-CN" sz="3200" b="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Closed-Loop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6248400" cy="4800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 dirty="0">
                <a:ea typeface="宋体" panose="02010600030101010101" pitchFamily="2" charset="-122"/>
              </a:rPr>
              <a:t>How does one analyze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closed-loop gain</a:t>
            </a:r>
            <a:r>
              <a:rPr lang="en-US" altLang="zh-CN" sz="2800" dirty="0">
                <a:ea typeface="宋体" panose="02010600030101010101" pitchFamily="2" charset="-122"/>
              </a:rPr>
              <a:t> for inverting configuration of an ideal op-amp?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800" b="1" dirty="0">
                <a:ea typeface="宋体" panose="02010600030101010101" pitchFamily="2" charset="-122"/>
              </a:rPr>
              <a:t>step #1: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Begin at the output terminal</a:t>
            </a:r>
            <a:endParaRPr lang="en-US" altLang="zh-CN" sz="28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800" b="1" dirty="0">
                <a:ea typeface="宋体" panose="02010600030101010101" pitchFamily="2" charset="-122"/>
              </a:rPr>
              <a:t>step #2: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If </a:t>
            </a:r>
            <a:r>
              <a:rPr lang="en-US" altLang="zh-CN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v</a:t>
            </a:r>
            <a:r>
              <a:rPr lang="en-US" altLang="zh-CN" sz="2800" b="1" i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Out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is finite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, then differential input must equal 0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  <a:p>
            <a:pPr lvl="2"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virtual short circuit</a:t>
            </a:r>
            <a:r>
              <a:rPr lang="en-US" altLang="zh-CN" sz="2800" dirty="0">
                <a:ea typeface="宋体" panose="02010600030101010101" pitchFamily="2" charset="-122"/>
              </a:rPr>
              <a:t> between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  <a:p>
            <a:pPr lvl="2"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virtual ground </a:t>
            </a:r>
            <a:r>
              <a:rPr lang="en-US" altLang="zh-CN" sz="2800" dirty="0">
                <a:ea typeface="宋体" panose="02010600030101010101" pitchFamily="2" charset="-122"/>
              </a:rPr>
              <a:t>exists at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endParaRPr lang="en-US" altLang="zh-CN" sz="2400" baseline="-25000" dirty="0">
              <a:ea typeface="宋体" panose="02010600030101010101" pitchFamily="2" charset="-122"/>
            </a:endParaRPr>
          </a:p>
        </p:txBody>
      </p:sp>
      <p:graphicFrame>
        <p:nvGraphicFramePr>
          <p:cNvPr id="28677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6629400" y="4572000"/>
          <a:ext cx="2057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4688800" imgH="16459200" progId="Equation.DSMT4">
                  <p:embed/>
                </p:oleObj>
              </mc:Choice>
              <mc:Fallback>
                <p:oleObj name="Equation" r:id="rId1" imgW="24688800" imgH="16459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572000"/>
                        <a:ext cx="20574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文本框 1"/>
          <p:cNvSpPr txBox="1">
            <a:spLocks noChangeArrowheads="1"/>
          </p:cNvSpPr>
          <p:nvPr/>
        </p:nvSpPr>
        <p:spPr bwMode="auto">
          <a:xfrm>
            <a:off x="6019800" y="3048000"/>
            <a:ext cx="2895600" cy="132343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关键点：因为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输出</a:t>
            </a:r>
            <a:r>
              <a:rPr lang="zh-CN" altLang="en-US" sz="2000" dirty="0">
                <a:ea typeface="宋体" panose="02010600030101010101" pitchFamily="2" charset="-122"/>
              </a:rPr>
              <a:t>电压为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有限值</a:t>
            </a:r>
            <a:r>
              <a:rPr lang="zh-CN" altLang="en-US" sz="2000" dirty="0">
                <a:ea typeface="宋体" panose="02010600030101010101" pitchFamily="2" charset="-122"/>
              </a:rPr>
              <a:t>，所以输入必须为零（增益</a:t>
            </a: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ea typeface="宋体" panose="02010600030101010101" pitchFamily="2" charset="-122"/>
              </a:rPr>
              <a:t>为∞），也即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endParaRPr lang="zh-CN" altLang="en-US" sz="2000" b="1" baseline="-250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pic>
        <p:nvPicPr>
          <p:cNvPr id="28679" name="Picture 6" descr="se02F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400300" y="5863709"/>
            <a:ext cx="5771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和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2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之间电压相等，但实际物理上没有连接 </a:t>
            </a:r>
            <a:r>
              <a:rPr kumimoji="1" lang="en-US" altLang="zh-CN" sz="1800" b="1" dirty="0">
                <a:solidFill>
                  <a:srgbClr val="0432FF"/>
                </a:solidFill>
                <a:sym typeface="Wingdings" panose="05000000000000000000" pitchFamily="2" charset="2"/>
              </a:rPr>
              <a:t> </a:t>
            </a:r>
            <a:r>
              <a:rPr kumimoji="1" lang="zh-CN" altLang="en-US" sz="1800" b="1" dirty="0">
                <a:solidFill>
                  <a:srgbClr val="00B050"/>
                </a:solidFill>
                <a:sym typeface="Wingdings" panose="05000000000000000000" pitchFamily="2" charset="2"/>
              </a:rPr>
              <a:t>“虚短”</a:t>
            </a:r>
            <a:r>
              <a:rPr kumimoji="1" lang="zh-CN" altLang="en-US" sz="1800" b="1" dirty="0">
                <a:solidFill>
                  <a:srgbClr val="00B050"/>
                </a:solidFill>
              </a:rPr>
              <a:t> </a:t>
            </a:r>
            <a:endParaRPr kumimoji="1" lang="zh-CN" altLang="en-US" sz="1800" b="1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62713" y="6343130"/>
            <a:ext cx="410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2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的电压碰巧是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0V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，所以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称为</a:t>
            </a:r>
            <a:r>
              <a:rPr kumimoji="1" lang="zh-CN" altLang="en-US" sz="1800" b="1" dirty="0">
                <a:solidFill>
                  <a:srgbClr val="00B050"/>
                </a:solidFill>
              </a:rPr>
              <a:t>“虚拟地”</a:t>
            </a:r>
            <a:endParaRPr kumimoji="1" lang="zh-CN" altLang="en-US" sz="1800" b="1" dirty="0">
              <a:solidFill>
                <a:srgbClr val="00B050"/>
              </a:solidFill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Closed-Loop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763000" cy="40386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step #3: </a:t>
            </a:r>
            <a:r>
              <a:rPr lang="en-US" altLang="zh-CN" sz="2800" dirty="0">
                <a:ea typeface="宋体" panose="02010600030101010101" pitchFamily="2" charset="-122"/>
              </a:rPr>
              <a:t>Define current into inverting input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step #4:</a:t>
            </a:r>
            <a:r>
              <a:rPr lang="en-US" altLang="zh-CN" sz="2800" dirty="0">
                <a:ea typeface="宋体" panose="02010600030101010101" pitchFamily="2" charset="-122"/>
              </a:rPr>
              <a:t> Determine where this current flows?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refer to following slide…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3072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4600" y="4067175"/>
          <a:ext cx="4030663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8463200" imgH="18897600" progId="Equation.DSMT4">
                  <p:embed/>
                </p:oleObj>
              </mc:Choice>
              <mc:Fallback>
                <p:oleObj name="Equation" r:id="rId1" imgW="48463200" imgH="18897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067175"/>
                        <a:ext cx="4030663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6" name="Picture 6" descr="se02F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</a:t>
            </a:r>
            <a:r>
              <a:rPr lang="en-US" altLang="zh-CN" sz="3200">
                <a:ea typeface="宋体" panose="02010600030101010101" pitchFamily="2" charset="-122"/>
              </a:rPr>
              <a:t> The Inverting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question: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what are two basic closed-loop op amp configurations which employ op-amp and resistors alone?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solidFill>
                  <a:srgbClr val="008000"/>
                </a:solidFill>
                <a:ea typeface="宋体" panose="02010600030101010101" pitchFamily="2" charset="-122"/>
              </a:rPr>
              <a:t>answer:</a:t>
            </a:r>
            <a:r>
              <a:rPr lang="en-US" altLang="zh-CN" sz="2000">
                <a:ea typeface="宋体" panose="02010600030101010101" pitchFamily="2" charset="-122"/>
              </a:rPr>
              <a:t> inverting and non-inverting op-amp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ea typeface="宋体" panose="02010600030101010101" pitchFamily="2" charset="-122"/>
              </a:rPr>
              <a:t>note:</a:t>
            </a:r>
            <a:r>
              <a:rPr lang="en-US" altLang="zh-CN" sz="2000">
                <a:ea typeface="宋体" panose="02010600030101010101" pitchFamily="2" charset="-122"/>
              </a:rPr>
              <a:t> here we examine the inverting type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32774" name="Picture 6" descr="se02F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63738"/>
            <a:ext cx="8610600" cy="382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Text Box 5"/>
          <p:cNvSpPr txBox="1">
            <a:spLocks noChangeArrowheads="1"/>
          </p:cNvSpPr>
          <p:nvPr/>
        </p:nvSpPr>
        <p:spPr bwMode="auto">
          <a:xfrm>
            <a:off x="228600" y="487363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2.5:</a:t>
            </a:r>
            <a:r>
              <a:rPr lang="en-US" altLang="zh-CN">
                <a:ea typeface="宋体" panose="02010600030101010101" pitchFamily="2" charset="-122"/>
              </a:rPr>
              <a:t> The inverting closed-loop configuration.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6" name="Line 7"/>
          <p:cNvSpPr>
            <a:spLocks noChangeShapeType="1"/>
          </p:cNvSpPr>
          <p:nvPr/>
        </p:nvSpPr>
        <p:spPr bwMode="auto">
          <a:xfrm>
            <a:off x="1447800" y="3276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Text Box 8"/>
          <p:cNvSpPr txBox="1">
            <a:spLocks noChangeArrowheads="1"/>
          </p:cNvSpPr>
          <p:nvPr/>
        </p:nvSpPr>
        <p:spPr bwMode="auto">
          <a:xfrm>
            <a:off x="1447800" y="2620963"/>
            <a:ext cx="1143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>
            <a:off x="4495800" y="3276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Text Box 10"/>
          <p:cNvSpPr txBox="1">
            <a:spLocks noChangeArrowheads="1"/>
          </p:cNvSpPr>
          <p:nvPr/>
        </p:nvSpPr>
        <p:spPr bwMode="auto">
          <a:xfrm>
            <a:off x="4495800" y="2667000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= 0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2780" name="Line 11"/>
          <p:cNvSpPr>
            <a:spLocks noChangeShapeType="1"/>
          </p:cNvSpPr>
          <p:nvPr/>
        </p:nvSpPr>
        <p:spPr bwMode="auto">
          <a:xfrm>
            <a:off x="4495800" y="23622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Text Box 12"/>
          <p:cNvSpPr txBox="1">
            <a:spLocks noChangeArrowheads="1"/>
          </p:cNvSpPr>
          <p:nvPr/>
        </p:nvSpPr>
        <p:spPr bwMode="auto">
          <a:xfrm>
            <a:off x="4495800" y="1752600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4589" name="Rectangle 13"/>
          <p:cNvSpPr>
            <a:spLocks noChangeArrowheads="1"/>
          </p:cNvSpPr>
          <p:nvPr/>
        </p:nvSpPr>
        <p:spPr bwMode="auto">
          <a:xfrm>
            <a:off x="4419600" y="2819400"/>
            <a:ext cx="2743200" cy="2286000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458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Closed-Loop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4462463" cy="4038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step #5: </a:t>
            </a:r>
            <a:r>
              <a:rPr lang="en-US" altLang="zh-CN" sz="2800">
                <a:ea typeface="宋体" panose="02010600030101010101" pitchFamily="2" charset="-122"/>
              </a:rPr>
              <a:t>Define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Out</a:t>
            </a:r>
            <a:r>
              <a:rPr lang="en-US" altLang="zh-CN" sz="2800">
                <a:ea typeface="宋体" panose="02010600030101010101" pitchFamily="2" charset="-122"/>
              </a:rPr>
              <a:t> in terms of current flowing across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.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step #6: </a:t>
            </a:r>
            <a:r>
              <a:rPr lang="en-US" altLang="zh-CN" sz="2800">
                <a:ea typeface="宋体" panose="02010600030101010101" pitchFamily="2" charset="-122"/>
              </a:rPr>
              <a:t>Substitute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in</a:t>
            </a:r>
            <a:r>
              <a:rPr lang="en-US" altLang="zh-CN" sz="2800">
                <a:ea typeface="宋体" panose="02010600030101010101" pitchFamily="2" charset="-122"/>
              </a:rPr>
              <a:t> /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 for 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34821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5127625" y="2181225"/>
          <a:ext cx="3482975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1757600" imgH="33223200" progId="Equation.DSMT4">
                  <p:embed/>
                </p:oleObj>
              </mc:Choice>
              <mc:Fallback>
                <p:oleObj name="Equation" r:id="rId1" imgW="41757600" imgH="3322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2181225"/>
                        <a:ext cx="3482975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11" name="Line 11"/>
          <p:cNvSpPr>
            <a:spLocks noChangeShapeType="1"/>
          </p:cNvSpPr>
          <p:nvPr/>
        </p:nvSpPr>
        <p:spPr bwMode="auto">
          <a:xfrm flipV="1">
            <a:off x="6324600" y="50292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610" name="Text Box 10"/>
          <p:cNvSpPr txBox="1">
            <a:spLocks noChangeArrowheads="1"/>
          </p:cNvSpPr>
          <p:nvPr/>
        </p:nvSpPr>
        <p:spPr bwMode="auto">
          <a:xfrm>
            <a:off x="228600" y="5638800"/>
            <a:ext cx="8686800" cy="10668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note: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this expression is one of the fundamentals of electronics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34824" name="Picture 6" descr="se02F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/>
          <p:nvPr/>
        </p:nvSpPr>
        <p:spPr bwMode="auto">
          <a:xfrm>
            <a:off x="5127625" y="3276600"/>
            <a:ext cx="2339975" cy="1447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862" y="3619500"/>
            <a:ext cx="1587500" cy="8763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392631"/>
            <a:ext cx="2800350" cy="663537"/>
          </a:xfrm>
          <a:prstGeom prst="rect">
            <a:avLst/>
          </a:prstGeom>
        </p:spPr>
      </p:pic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4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Closed-Loop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4462463" cy="4038600"/>
          </a:xfrm>
        </p:spPr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question: </a:t>
            </a:r>
            <a:r>
              <a:rPr lang="en-US" altLang="zh-CN" sz="2000">
                <a:ea typeface="宋体" panose="02010600030101010101" pitchFamily="2" charset="-122"/>
              </a:rPr>
              <a:t>how will we…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ea typeface="宋体" panose="02010600030101010101" pitchFamily="2" charset="-122"/>
              </a:rPr>
              <a:t>step #4: </a:t>
            </a:r>
            <a:r>
              <a:rPr lang="en-US" altLang="zh-CN" sz="2000">
                <a:ea typeface="宋体" panose="02010600030101010101" pitchFamily="2" charset="-122"/>
              </a:rPr>
              <a:t>define </a:t>
            </a:r>
            <a:r>
              <a:rPr lang="en-US" altLang="zh-CN" sz="2000" i="1"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ea typeface="宋体" panose="02010600030101010101" pitchFamily="2" charset="-122"/>
              </a:rPr>
              <a:t>Out</a:t>
            </a:r>
            <a:r>
              <a:rPr lang="en-US" altLang="zh-CN" sz="2000">
                <a:ea typeface="宋体" panose="02010600030101010101" pitchFamily="2" charset="-122"/>
              </a:rPr>
              <a:t> in terms of current flowing across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b="1">
                <a:ea typeface="宋体" panose="02010600030101010101" pitchFamily="2" charset="-122"/>
              </a:rPr>
              <a:t>step #5: </a:t>
            </a:r>
            <a:r>
              <a:rPr lang="en-US" altLang="zh-CN" sz="2000">
                <a:ea typeface="宋体" panose="02010600030101010101" pitchFamily="2" charset="-122"/>
              </a:rPr>
              <a:t>substitute </a:t>
            </a:r>
            <a:r>
              <a:rPr lang="en-US" altLang="zh-CN" sz="2000" i="1"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ea typeface="宋体" panose="02010600030101010101" pitchFamily="2" charset="-122"/>
              </a:rPr>
              <a:t>in</a:t>
            </a:r>
            <a:r>
              <a:rPr lang="en-US" altLang="zh-CN" sz="2000">
                <a:ea typeface="宋体" panose="02010600030101010101" pitchFamily="2" charset="-122"/>
              </a:rPr>
              <a:t> /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 for </a:t>
            </a:r>
            <a:r>
              <a:rPr lang="en-US" altLang="zh-CN" sz="2000" i="1"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.</a:t>
            </a:r>
            <a:endParaRPr lang="en-US" altLang="zh-CN" sz="2000" baseline="-25000">
              <a:ea typeface="宋体" panose="02010600030101010101" pitchFamily="2" charset="-122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228600" y="228600"/>
            <a:ext cx="868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2.6: </a:t>
            </a:r>
            <a:r>
              <a:rPr lang="en-US" altLang="zh-CN">
                <a:ea typeface="宋体" panose="02010600030101010101" pitchFamily="2" charset="-122"/>
              </a:rPr>
              <a:t>Analysis of the inverting configuration. The circled numbers indicate the order of the analysis steps.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36871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63738"/>
            <a:ext cx="8077200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631" name="Text Box 7"/>
          <p:cNvSpPr txBox="1">
            <a:spLocks noChangeArrowheads="1"/>
          </p:cNvSpPr>
          <p:nvPr/>
        </p:nvSpPr>
        <p:spPr bwMode="auto">
          <a:xfrm>
            <a:off x="5943600" y="2362200"/>
            <a:ext cx="2667000" cy="15541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closed-loop gain                 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 =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-R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7891" name="Rectangle 9"/>
          <p:cNvSpPr>
            <a:spLocks noChangeArrowheads="1"/>
          </p:cNvSpPr>
          <p:nvPr/>
        </p:nvSpPr>
        <p:spPr bwMode="auto">
          <a:xfrm>
            <a:off x="0" y="5943600"/>
            <a:ext cx="44958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r>
              <a:rPr lang="en-US" altLang="zh-CN" sz="3200">
                <a:ea typeface="宋体" panose="02010600030101010101" pitchFamily="2" charset="-122"/>
              </a:rPr>
              <a:t> Effect of Finite Open-Loop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does the gain expression change if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open loop gain 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 is not assumed to be infinite?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One must employ analysis similar to the previous, result is presented below…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3789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5000" y="4038600"/>
          <a:ext cx="5273675" cy="238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63398400" imgH="28651200" progId="Equation.DSMT4">
                  <p:embed/>
                </p:oleObj>
              </mc:Choice>
              <mc:Fallback>
                <p:oleObj name="Equation" r:id="rId1" imgW="63398400" imgH="2865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038600"/>
                        <a:ext cx="5273675" cy="238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679" name="Line 7"/>
          <p:cNvSpPr>
            <a:spLocks noChangeShapeType="1"/>
          </p:cNvSpPr>
          <p:nvPr/>
        </p:nvSpPr>
        <p:spPr bwMode="auto">
          <a:xfrm flipV="1">
            <a:off x="6400800" y="5410200"/>
            <a:ext cx="5334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680" name="Line 8"/>
          <p:cNvSpPr>
            <a:spLocks noChangeShapeType="1"/>
          </p:cNvSpPr>
          <p:nvPr/>
        </p:nvSpPr>
        <p:spPr bwMode="auto">
          <a:xfrm flipV="1">
            <a:off x="2743200" y="5029200"/>
            <a:ext cx="990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677" name="Text Box 5"/>
          <p:cNvSpPr txBox="1">
            <a:spLocks noChangeArrowheads="1"/>
          </p:cNvSpPr>
          <p:nvPr/>
        </p:nvSpPr>
        <p:spPr bwMode="auto">
          <a:xfrm>
            <a:off x="6248400" y="6116638"/>
            <a:ext cx="27432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ideal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8678" name="Text Box 6"/>
          <p:cNvSpPr txBox="1">
            <a:spLocks noChangeArrowheads="1"/>
          </p:cNvSpPr>
          <p:nvPr/>
        </p:nvSpPr>
        <p:spPr bwMode="auto">
          <a:xfrm>
            <a:off x="152400" y="6116638"/>
            <a:ext cx="27432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non-ideal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7899" name="文本框 1"/>
          <p:cNvSpPr txBox="1">
            <a:spLocks noChangeArrowheads="1"/>
          </p:cNvSpPr>
          <p:nvPr/>
        </p:nvSpPr>
        <p:spPr bwMode="auto">
          <a:xfrm>
            <a:off x="649288" y="1905000"/>
            <a:ext cx="35020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若开环增益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≠∞，如何计算？</a:t>
            </a:r>
            <a:endParaRPr lang="zh-CN" altLang="en-US" sz="2000" b="1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pic>
        <p:nvPicPr>
          <p:cNvPr id="37900" name="Picture 6" descr="se02F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4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4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4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677" grpId="0" animBg="1"/>
      <p:bldP spid="194867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0"/>
            <a:ext cx="5930900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86200"/>
            <a:ext cx="3924300" cy="800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4953000"/>
            <a:ext cx="3644900" cy="1562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4971288"/>
            <a:ext cx="3606800" cy="825500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 bwMode="auto">
          <a:xfrm>
            <a:off x="4495800" y="4286250"/>
            <a:ext cx="762000" cy="211455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2.2.1.</a:t>
            </a:r>
            <a:r>
              <a:rPr lang="en-US" altLang="zh-CN" sz="3200">
                <a:ea typeface="宋体" panose="02010600030101010101" pitchFamily="2" charset="-122"/>
              </a:rPr>
              <a:t> Effect of Finite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Open-Loop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Under what condition can </a:t>
            </a:r>
            <a:r>
              <a:rPr lang="en-US" altLang="zh-CN" sz="2800" i="1">
                <a:ea typeface="宋体" panose="02010600030101010101" pitchFamily="2" charset="-122"/>
              </a:rPr>
              <a:t>G</a:t>
            </a:r>
            <a:r>
              <a:rPr lang="en-US" altLang="zh-CN" sz="2800">
                <a:ea typeface="宋体" panose="02010600030101010101" pitchFamily="2" charset="-122"/>
              </a:rPr>
              <a:t> = -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 /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 be employed over the more complex expression?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If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1 + 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 &lt;&lt; 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i="1">
                <a:ea typeface="宋体" panose="02010600030101010101" pitchFamily="2" charset="-122"/>
              </a:rPr>
              <a:t>,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then simpler expression may be used.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4096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85800" y="4267200"/>
          <a:ext cx="7696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92354400" imgH="14630400" progId="Equation.DSMT4">
                  <p:embed/>
                </p:oleObj>
              </mc:Choice>
              <mc:Fallback>
                <p:oleObj name="Equation" r:id="rId1" imgW="92354400" imgH="14630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267200"/>
                        <a:ext cx="7696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9"/>
          <p:cNvSpPr>
            <a:spLocks noChangeArrowheads="1"/>
          </p:cNvSpPr>
          <p:nvPr/>
        </p:nvSpPr>
        <p:spPr bwMode="auto">
          <a:xfrm>
            <a:off x="0" y="5943600"/>
            <a:ext cx="44958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49706" name="Line 10"/>
          <p:cNvSpPr>
            <a:spLocks noChangeShapeType="1"/>
          </p:cNvSpPr>
          <p:nvPr/>
        </p:nvSpPr>
        <p:spPr bwMode="auto">
          <a:xfrm flipH="1" flipV="1">
            <a:off x="5791200" y="4953000"/>
            <a:ext cx="6096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707" name="Line 11"/>
          <p:cNvSpPr>
            <a:spLocks noChangeShapeType="1"/>
          </p:cNvSpPr>
          <p:nvPr/>
        </p:nvSpPr>
        <p:spPr bwMode="auto">
          <a:xfrm flipV="1">
            <a:off x="2743200" y="4953000"/>
            <a:ext cx="76200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708" name="Text Box 12"/>
          <p:cNvSpPr txBox="1">
            <a:spLocks noChangeArrowheads="1"/>
          </p:cNvSpPr>
          <p:nvPr/>
        </p:nvSpPr>
        <p:spPr bwMode="auto">
          <a:xfrm>
            <a:off x="152400" y="6126163"/>
            <a:ext cx="27432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ideal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49709" name="Text Box 13"/>
          <p:cNvSpPr txBox="1">
            <a:spLocks noChangeArrowheads="1"/>
          </p:cNvSpPr>
          <p:nvPr/>
        </p:nvSpPr>
        <p:spPr bwMode="auto">
          <a:xfrm>
            <a:off x="6248400" y="6172200"/>
            <a:ext cx="27432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non-ideal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71" name="Object 4"/>
          <p:cNvGraphicFramePr>
            <a:graphicFrameLocks noChangeAspect="1"/>
          </p:cNvGraphicFramePr>
          <p:nvPr/>
        </p:nvGraphicFramePr>
        <p:xfrm>
          <a:off x="4992688" y="115888"/>
          <a:ext cx="397827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3398400" imgH="28651200" progId="Equation.DSMT4">
                  <p:embed/>
                </p:oleObj>
              </mc:Choice>
              <mc:Fallback>
                <p:oleObj name="Equation" r:id="rId3" imgW="63398400" imgH="2865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115888"/>
                        <a:ext cx="397827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文本框 1"/>
          <p:cNvSpPr txBox="1">
            <a:spLocks noChangeArrowheads="1"/>
          </p:cNvSpPr>
          <p:nvPr/>
        </p:nvSpPr>
        <p:spPr bwMode="auto">
          <a:xfrm>
            <a:off x="1211142" y="1788468"/>
            <a:ext cx="4634602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什么条件下</a:t>
            </a:r>
            <a:r>
              <a:rPr lang="en-US" altLang="zh-CN" b="1" dirty="0">
                <a:solidFill>
                  <a:srgbClr val="0432FF"/>
                </a:solidFill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可近似等于 </a:t>
            </a:r>
            <a:r>
              <a:rPr lang="en-US" altLang="zh-CN" b="1" dirty="0">
                <a:solidFill>
                  <a:srgbClr val="0432FF"/>
                </a:solidFill>
                <a:ea typeface="宋体" panose="02010600030101010101" pitchFamily="2" charset="-122"/>
              </a:rPr>
              <a:t>-R</a:t>
            </a:r>
            <a:r>
              <a:rPr lang="en-US" altLang="zh-CN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432FF"/>
                </a:solidFill>
                <a:ea typeface="宋体" panose="02010600030101010101" pitchFamily="2" charset="-122"/>
              </a:rPr>
              <a:t>/R</a:t>
            </a:r>
            <a:r>
              <a:rPr lang="en-US" altLang="zh-CN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？</a:t>
            </a:r>
            <a:endParaRPr lang="zh-CN" altLang="en-US" b="1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4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4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4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708" grpId="0" animBg="1"/>
      <p:bldP spid="194970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0" y="6096000"/>
            <a:ext cx="91440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2.1: </a:t>
            </a:r>
            <a:r>
              <a:rPr lang="en-US" altLang="zh-CN" sz="3200" b="0">
                <a:ea typeface="宋体" panose="02010600030101010101" pitchFamily="2" charset="-122"/>
              </a:rPr>
              <a:t>Simple Inverting Amplifier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8006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Problem Statement: </a:t>
            </a:r>
            <a:r>
              <a:rPr lang="en-US" altLang="zh-CN" sz="2800" dirty="0">
                <a:ea typeface="宋体" panose="02010600030101010101" pitchFamily="2" charset="-122"/>
              </a:rPr>
              <a:t>Consider an inverting configuration with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 = 1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= 100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Q(a):</a:t>
            </a:r>
            <a:r>
              <a:rPr lang="en-US" altLang="zh-CN" sz="2800" dirty="0">
                <a:ea typeface="宋体" panose="02010600030101010101" pitchFamily="2" charset="-122"/>
              </a:rPr>
              <a:t> Find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closed-loop gain 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 for the cases below.  In each case, determine the percentage error in the magnitude of </a:t>
            </a:r>
            <a:r>
              <a:rPr lang="en-US" altLang="zh-CN" sz="2800" i="1" dirty="0"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ea typeface="宋体" panose="02010600030101010101" pitchFamily="2" charset="-122"/>
              </a:rPr>
              <a:t> relative to the ideal value.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cases are </a:t>
            </a:r>
            <a:r>
              <a:rPr lang="en-US" altLang="zh-CN" sz="2800" i="1" dirty="0"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 = 10</a:t>
            </a:r>
            <a:r>
              <a:rPr lang="en-US" altLang="zh-CN" sz="2800" baseline="30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, 10</a:t>
            </a:r>
            <a:r>
              <a:rPr lang="en-US" altLang="zh-CN" sz="2800" baseline="30000" dirty="0"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ea typeface="宋体" panose="02010600030101010101" pitchFamily="2" charset="-122"/>
              </a:rPr>
              <a:t>, 10</a:t>
            </a:r>
            <a:r>
              <a:rPr lang="en-US" altLang="zh-CN" sz="2800" baseline="30000" dirty="0">
                <a:ea typeface="宋体" panose="02010600030101010101" pitchFamily="2" charset="-122"/>
              </a:rPr>
              <a:t>5</a:t>
            </a:r>
            <a:r>
              <a:rPr lang="en-US" altLang="zh-CN" sz="2800" dirty="0">
                <a:ea typeface="宋体" panose="02010600030101010101" pitchFamily="2" charset="-122"/>
              </a:rPr>
              <a:t>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What is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voltage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 that appears at the inverting input terminal when 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In</a:t>
            </a:r>
            <a:r>
              <a:rPr lang="en-US" altLang="zh-CN" sz="2800" dirty="0">
                <a:ea typeface="宋体" panose="02010600030101010101" pitchFamily="2" charset="-122"/>
              </a:rPr>
              <a:t> = 0.1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Q(b): </a:t>
            </a:r>
            <a:r>
              <a:rPr lang="en-US" altLang="zh-CN" sz="2800" dirty="0">
                <a:ea typeface="宋体" panose="02010600030101010101" pitchFamily="2" charset="-122"/>
              </a:rPr>
              <a:t>If the open loop gain (</a:t>
            </a:r>
            <a:r>
              <a:rPr lang="en-US" altLang="zh-CN" sz="2800" i="1" dirty="0"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ea typeface="宋体" panose="02010600030101010101" pitchFamily="2" charset="-122"/>
              </a:rPr>
              <a:t>) changes from 100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 to 50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, what is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percentage change</a:t>
            </a:r>
            <a:r>
              <a:rPr lang="en-US" altLang="zh-CN" sz="2800" dirty="0">
                <a:ea typeface="宋体" panose="02010600030101010101" pitchFamily="2" charset="-122"/>
              </a:rPr>
              <a:t> in gain (</a:t>
            </a:r>
            <a:r>
              <a:rPr lang="en-US" altLang="zh-CN" sz="2800" i="1" dirty="0"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ea typeface="宋体" panose="02010600030101010101" pitchFamily="2" charset="-122"/>
              </a:rPr>
              <a:t>)?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pic>
        <p:nvPicPr>
          <p:cNvPr id="41990" name="Picture 6" descr="se02F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4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48" y="76200"/>
            <a:ext cx="50038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" y="5638800"/>
            <a:ext cx="922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* Op amp </a:t>
            </a:r>
            <a:r>
              <a:rPr kumimoji="1" lang="zh-CN" altLang="en-US" sz="2000" dirty="0"/>
              <a:t>独自是不能用的，因为开环增益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为无穷大，必须外接电阻或电容等元件构成闭环反馈。</a:t>
            </a:r>
            <a:r>
              <a:rPr kumimoji="1" lang="en-US" altLang="zh-CN" sz="2000" dirty="0"/>
              <a:t>Inverting configuration </a:t>
            </a:r>
            <a:r>
              <a:rPr kumimoji="1" lang="zh-CN" altLang="en-US" sz="2000" dirty="0"/>
              <a:t>是常见的一种构成闭环反馈的结构，其闭环电压增益仅与外接电阻有关。</a:t>
            </a:r>
            <a:r>
              <a:rPr kumimoji="1" lang="en-US" altLang="zh-CN" sz="2000" dirty="0"/>
              <a:t>【</a:t>
            </a:r>
            <a:r>
              <a:rPr kumimoji="1" lang="en-US" altLang="zh-CN" sz="2000" b="1" dirty="0">
                <a:solidFill>
                  <a:srgbClr val="0432FF"/>
                </a:solidFill>
              </a:rPr>
              <a:t>trade-off</a:t>
            </a:r>
            <a:r>
              <a:rPr kumimoji="1" lang="zh-CN" altLang="en-US" sz="2000" b="1" dirty="0">
                <a:solidFill>
                  <a:srgbClr val="0432FF"/>
                </a:solidFill>
              </a:rPr>
              <a:t>：</a:t>
            </a:r>
            <a:r>
              <a:rPr kumimoji="1" lang="en-US" altLang="zh-CN" sz="2000" b="1" dirty="0">
                <a:solidFill>
                  <a:srgbClr val="0432FF"/>
                </a:solidFill>
              </a:rPr>
              <a:t>trade gain for accuracy</a:t>
            </a:r>
            <a:r>
              <a:rPr kumimoji="1" lang="en-US" altLang="zh-CN" sz="2000" dirty="0"/>
              <a:t>】</a:t>
            </a:r>
            <a:endParaRPr kumimoji="1"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704"/>
            <a:ext cx="9144000" cy="4792792"/>
          </a:xfrm>
          <a:prstGeom prst="rect">
            <a:avLst/>
          </a:prstGeom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2.2.3.</a:t>
            </a:r>
            <a:r>
              <a:rPr lang="en-US" altLang="zh-CN" sz="3200">
                <a:ea typeface="宋体" panose="02010600030101010101" pitchFamily="2" charset="-122"/>
              </a:rPr>
              <a:t> Input and Output Resistances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403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>
                <a:ea typeface="宋体" panose="02010600030101010101" pitchFamily="2" charset="-122"/>
              </a:rPr>
              <a:t> What is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input resistance </a:t>
            </a:r>
            <a:r>
              <a:rPr lang="en-US" altLang="zh-CN">
                <a:ea typeface="宋体" panose="02010600030101010101" pitchFamily="2" charset="-122"/>
              </a:rPr>
              <a:t>for inverting op-amp?  How is it defined mathematically?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777777"/>
                </a:solidFill>
                <a:ea typeface="宋体" panose="02010600030101010101" pitchFamily="2" charset="-122"/>
              </a:rPr>
              <a:t>(refer to math below)</a:t>
            </a:r>
            <a:endParaRPr lang="en-US" altLang="zh-CN">
              <a:solidFill>
                <a:srgbClr val="777777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>
                <a:ea typeface="宋体" panose="02010600030101010101" pitchFamily="2" charset="-122"/>
              </a:rPr>
              <a:t> What does this say?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>
                <a:ea typeface="宋体" panose="02010600030101010101" pitchFamily="2" charset="-122"/>
              </a:rPr>
              <a:t> That, for the combination of ideal op-amp and external resistors,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input resistance will be finite…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03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038600" y="4572000"/>
          <a:ext cx="4662488" cy="207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6083200" imgH="24993600" progId="Equation.DSMT4">
                  <p:embed/>
                </p:oleObj>
              </mc:Choice>
              <mc:Fallback>
                <p:oleObj name="Equation" r:id="rId1" imgW="56083200" imgH="2499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72000"/>
                        <a:ext cx="4662488" cy="207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Line 8"/>
          <p:cNvSpPr>
            <a:spLocks noChangeShapeType="1"/>
          </p:cNvSpPr>
          <p:nvPr/>
        </p:nvSpPr>
        <p:spPr bwMode="auto">
          <a:xfrm>
            <a:off x="1600200" y="5486400"/>
            <a:ext cx="2362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6"/>
          <p:cNvSpPr txBox="1">
            <a:spLocks noChangeArrowheads="1"/>
          </p:cNvSpPr>
          <p:nvPr/>
        </p:nvSpPr>
        <p:spPr bwMode="auto">
          <a:xfrm>
            <a:off x="200025" y="5070475"/>
            <a:ext cx="2895600" cy="8318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assumes ideal op-amp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4041" name="文本框 1"/>
          <p:cNvSpPr txBox="1">
            <a:spLocks noChangeArrowheads="1"/>
          </p:cNvSpPr>
          <p:nvPr/>
        </p:nvSpPr>
        <p:spPr bwMode="auto">
          <a:xfrm>
            <a:off x="1295400" y="1209675"/>
            <a:ext cx="252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输入电阻 </a:t>
            </a:r>
            <a:r>
              <a:rPr lang="en-US" altLang="zh-CN" sz="2000">
                <a:ea typeface="宋体" panose="02010600030101010101" pitchFamily="2" charset="-122"/>
              </a:rPr>
              <a:t>&amp; </a:t>
            </a:r>
            <a:r>
              <a:rPr lang="zh-CN" altLang="en-US" sz="2000">
                <a:ea typeface="宋体" panose="02010600030101010101" pitchFamily="2" charset="-122"/>
              </a:rPr>
              <a:t>输出电阻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44042" name="Picture 6" descr="se02F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016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3" name="文本框 2"/>
          <p:cNvSpPr txBox="1">
            <a:spLocks noChangeArrowheads="1"/>
          </p:cNvSpPr>
          <p:nvPr/>
        </p:nvSpPr>
        <p:spPr bwMode="auto">
          <a:xfrm flipH="1">
            <a:off x="5638800" y="3078163"/>
            <a:ext cx="2590800" cy="4000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关键点：</a:t>
            </a:r>
            <a:r>
              <a:rPr lang="en-US" altLang="zh-CN" sz="2000">
                <a:ea typeface="宋体" panose="02010600030101010101" pitchFamily="2" charset="-122"/>
              </a:rPr>
              <a:t>V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=V</a:t>
            </a:r>
            <a:r>
              <a:rPr lang="en-US" altLang="zh-CN" sz="2000" baseline="-25000">
                <a:ea typeface="宋体" panose="02010600030101010101" pitchFamily="2" charset="-122"/>
              </a:rPr>
              <a:t>2</a:t>
            </a:r>
            <a:r>
              <a:rPr lang="en-US" altLang="zh-CN" sz="2000">
                <a:ea typeface="宋体" panose="02010600030101010101" pitchFamily="2" charset="-122"/>
              </a:rPr>
              <a:t>=0</a:t>
            </a:r>
            <a:r>
              <a:rPr lang="zh-CN" altLang="en-US" sz="2000">
                <a:ea typeface="宋体" panose="02010600030101010101" pitchFamily="2" charset="-122"/>
              </a:rPr>
              <a:t>；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1600"/>
            <a:ext cx="7490546" cy="5280385"/>
          </a:xfrm>
          <a:prstGeom prst="rect">
            <a:avLst/>
          </a:prstGeom>
        </p:spPr>
      </p:pic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4" name="文本框 5"/>
          <p:cNvSpPr txBox="1">
            <a:spLocks noChangeArrowheads="1"/>
          </p:cNvSpPr>
          <p:nvPr/>
        </p:nvSpPr>
        <p:spPr bwMode="auto">
          <a:xfrm>
            <a:off x="4684645" y="80010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输出电阻呢？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713088" y="795130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5410200" y="5672765"/>
            <a:ext cx="3276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理想</a:t>
            </a:r>
            <a:r>
              <a:rPr lang="en-US" altLang="zh-CN" sz="2000" dirty="0">
                <a:ea typeface="宋体" panose="02010600030101010101" pitchFamily="2" charset="-122"/>
              </a:rPr>
              <a:t>op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amp</a:t>
            </a:r>
            <a:r>
              <a:rPr lang="zh-CN" altLang="en-US" sz="2000" dirty="0">
                <a:ea typeface="宋体" panose="02010600030101010101" pitchFamily="2" charset="-122"/>
              </a:rPr>
              <a:t> 输出是一个理想电压源，内阻为零，外接反馈电阻不影响输出电阻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思考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7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2057400"/>
            <a:ext cx="4305300" cy="44958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理想的电压电压放大器，要求输入阻抗尽可能大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>
                <a:ea typeface="宋体" panose="02010600030101010101" pitchFamily="2" charset="-122"/>
              </a:rPr>
              <a:t>输入阻抗（</a:t>
            </a:r>
            <a:r>
              <a:rPr lang="en-US" altLang="zh-CN">
                <a:ea typeface="宋体" panose="02010600030101010101" pitchFamily="2" charset="-122"/>
              </a:rPr>
              <a:t>R1</a:t>
            </a:r>
            <a:r>
              <a:rPr lang="zh-CN" altLang="en-US">
                <a:ea typeface="宋体" panose="02010600030101010101" pitchFamily="2" charset="-122"/>
              </a:rPr>
              <a:t>）要尽可能大；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大的增益（</a:t>
            </a:r>
            <a:r>
              <a:rPr lang="en-US" altLang="zh-CN">
                <a:ea typeface="宋体" panose="02010600030101010101" pitchFamily="2" charset="-122"/>
              </a:rPr>
              <a:t>-R2/R1</a:t>
            </a:r>
            <a:r>
              <a:rPr lang="zh-CN" altLang="en-US">
                <a:ea typeface="宋体" panose="02010600030101010101" pitchFamily="2" charset="-122"/>
              </a:rPr>
              <a:t>）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 R2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的值会大得不切实际，如几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MΩ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等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只能牺牲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R1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，取较小的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R1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值</a:t>
            </a:r>
            <a:endParaRPr lang="en-US" altLang="zh-CN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endParaRPr lang="en-US" altLang="zh-CN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因此，常规反相连接运放电路存在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输入阻抗较低</a:t>
            </a:r>
            <a:r>
              <a:rPr lang="zh-CN" altLang="en-US">
                <a:ea typeface="宋体" panose="02010600030101010101" pitchFamily="2" charset="-122"/>
                <a:sym typeface="Wingdings" panose="05000000000000000000" pitchFamily="2" charset="2"/>
              </a:rPr>
              <a:t>的缺点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7108" name="Picture 6" descr="se02F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2743200"/>
            <a:ext cx="44005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0" y="1981200"/>
            <a:ext cx="914400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2.2: </a:t>
            </a:r>
            <a:r>
              <a:rPr lang="en-US" altLang="zh-CN" sz="3200" b="0">
                <a:ea typeface="宋体" panose="02010600030101010101" pitchFamily="2" charset="-122"/>
              </a:rPr>
              <a:t>Another Inverting Op-Amp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sp>
        <p:nvSpPr>
          <p:cNvPr id="4096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44196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Problem Statement: </a:t>
            </a:r>
            <a:r>
              <a:rPr lang="en-US" altLang="zh-CN" sz="2000" dirty="0">
                <a:ea typeface="宋体" panose="02010600030101010101" pitchFamily="2" charset="-122"/>
              </a:rPr>
              <a:t>Consider the circuit below...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Q(a):</a:t>
            </a:r>
            <a:r>
              <a:rPr lang="en-US" altLang="zh-CN" sz="2000" dirty="0">
                <a:ea typeface="宋体" panose="02010600030101010101" pitchFamily="2" charset="-122"/>
              </a:rPr>
              <a:t> Derive an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expression for the closed-loop gain </a:t>
            </a:r>
            <a:r>
              <a:rPr lang="en-US" altLang="zh-CN" sz="2000" i="1" dirty="0" err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000" i="1" dirty="0" err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000" dirty="0">
                <a:ea typeface="宋体" panose="02010600030101010101" pitchFamily="2" charset="-122"/>
              </a:rPr>
              <a:t> of this circuit.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Q(b):</a:t>
            </a:r>
            <a:r>
              <a:rPr lang="en-US" altLang="zh-CN" sz="2000" dirty="0">
                <a:ea typeface="宋体" panose="02010600030101010101" pitchFamily="2" charset="-122"/>
              </a:rPr>
              <a:t> Use this circuit to design an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inverting amplifier with gain of 100 </a:t>
            </a:r>
            <a:r>
              <a:rPr lang="en-US" altLang="zh-CN" sz="2000" dirty="0">
                <a:ea typeface="宋体" panose="02010600030101010101" pitchFamily="2" charset="-122"/>
              </a:rPr>
              <a:t>and input resistance of 1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Assume that one </a:t>
            </a:r>
            <a:r>
              <a:rPr lang="en-US" altLang="zh-CN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cannot</a:t>
            </a:r>
            <a:r>
              <a:rPr lang="en-US" altLang="zh-CN" sz="2000" dirty="0">
                <a:ea typeface="宋体" panose="02010600030101010101" pitchFamily="2" charset="-122"/>
              </a:rPr>
              <a:t> use any resistor with resistance larger than 1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Q(c):</a:t>
            </a:r>
            <a:r>
              <a:rPr lang="en-US" altLang="zh-CN" sz="2000" dirty="0">
                <a:ea typeface="宋体" panose="02010600030101010101" pitchFamily="2" charset="-122"/>
              </a:rPr>
              <a:t> Compare your design with that based on traditional inverting configuration.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48134" name="Picture 6" descr="se02F0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08188"/>
            <a:ext cx="4343400" cy="294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Text Box 5"/>
          <p:cNvSpPr txBox="1">
            <a:spLocks noChangeArrowheads="1"/>
          </p:cNvSpPr>
          <p:nvPr/>
        </p:nvSpPr>
        <p:spPr bwMode="auto">
          <a:xfrm>
            <a:off x="4572000" y="5257800"/>
            <a:ext cx="4343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宋体" panose="02010600030101010101" pitchFamily="2" charset="-122"/>
              </a:rPr>
              <a:t>Figure 2.8:</a:t>
            </a:r>
            <a:r>
              <a:rPr lang="en-US" altLang="zh-CN" sz="2000">
                <a:ea typeface="宋体" panose="02010600030101010101" pitchFamily="2" charset="-122"/>
              </a:rPr>
              <a:t> Circuit for Example 2.2. The circled numbers indicate the sequence of the steps in the analysis.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4876800" y="685800"/>
            <a:ext cx="4038600" cy="5410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①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②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④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⑤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⑥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⑦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⑧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49157" name="Picture 6" descr="se02F0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0"/>
            <a:ext cx="4343400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46100"/>
            <a:ext cx="18415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9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19200"/>
            <a:ext cx="22479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006600"/>
            <a:ext cx="13081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1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743200"/>
            <a:ext cx="3035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2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530600"/>
            <a:ext cx="1879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3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297363"/>
            <a:ext cx="218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4" name="图片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114925"/>
            <a:ext cx="26035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5" name="图片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429000"/>
            <a:ext cx="20193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6" name="文本框 13"/>
          <p:cNvSpPr txBox="1">
            <a:spLocks noChangeArrowheads="1"/>
          </p:cNvSpPr>
          <p:nvPr/>
        </p:nvSpPr>
        <p:spPr bwMode="auto">
          <a:xfrm>
            <a:off x="400050" y="4302125"/>
            <a:ext cx="38862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R1=1MΩ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 R2=</a:t>
            </a:r>
            <a:r>
              <a:rPr lang="en-US" altLang="zh-CN" sz="2000">
                <a:ea typeface="宋体" panose="02010600030101010101" pitchFamily="2" charset="-122"/>
              </a:rPr>
              <a:t>1MΩ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R4=</a:t>
            </a:r>
            <a:r>
              <a:rPr lang="en-US" altLang="zh-CN" sz="2000">
                <a:ea typeface="宋体" panose="02010600030101010101" pitchFamily="2" charset="-122"/>
              </a:rPr>
              <a:t>1MΩ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 R3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用来实现增益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10.2kΩ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49167" name="文本框 15"/>
          <p:cNvSpPr txBox="1">
            <a:spLocks noChangeArrowheads="1"/>
          </p:cNvSpPr>
          <p:nvPr/>
        </p:nvSpPr>
        <p:spPr bwMode="auto">
          <a:xfrm>
            <a:off x="400050" y="5268913"/>
            <a:ext cx="388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传统电路实现</a:t>
            </a:r>
            <a:r>
              <a:rPr lang="en-US" altLang="zh-CN" sz="2000">
                <a:ea typeface="宋体" panose="02010600030101010101" pitchFamily="2" charset="-122"/>
              </a:rPr>
              <a:t>100</a:t>
            </a:r>
            <a:r>
              <a:rPr lang="zh-CN" altLang="en-US" sz="2000">
                <a:ea typeface="宋体" panose="02010600030101010101" pitchFamily="2" charset="-122"/>
              </a:rPr>
              <a:t>的增益，</a:t>
            </a:r>
            <a:r>
              <a:rPr lang="en-US" altLang="zh-CN" sz="2000">
                <a:ea typeface="宋体" panose="02010600030101010101" pitchFamily="2" charset="-122"/>
              </a:rPr>
              <a:t>R2=100MΩ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Example 2.2: </a:t>
            </a:r>
            <a:r>
              <a:rPr lang="en-US" altLang="zh-CN" sz="3600" b="0">
                <a:ea typeface="宋体" panose="02010600030101010101" pitchFamily="2" charset="-122"/>
              </a:rPr>
              <a:t>Another Inverting Op-Amp</a:t>
            </a:r>
            <a:endParaRPr lang="en-US" altLang="zh-CN" sz="3600" b="0"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The largest resistor on may choose is 1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endParaRPr lang="en-US" altLang="zh-CN" sz="2800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Where does one begin (in choosing the resistor values)?  Which resistor would you define to be 1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Mohm?</a:t>
            </a:r>
            <a:endParaRPr lang="en-US" altLang="zh-CN" sz="2800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The input resistance (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) should be set as high as possible, therefore 1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endParaRPr lang="en-US" altLang="zh-CN" sz="2800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What other resistor values should be defined?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 = 1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r>
              <a:rPr lang="en-US" altLang="zh-CN" sz="2800">
                <a:ea typeface="宋体" panose="02010600030101010101" pitchFamily="2" charset="-122"/>
              </a:rPr>
              <a:t>,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4</a:t>
            </a:r>
            <a:r>
              <a:rPr lang="en-US" altLang="zh-CN" sz="2800">
                <a:ea typeface="宋体" panose="02010600030101010101" pitchFamily="2" charset="-122"/>
              </a:rPr>
              <a:t> = 1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Mohm</a:t>
            </a:r>
            <a:r>
              <a:rPr lang="en-US" altLang="zh-CN" sz="2800">
                <a:ea typeface="宋体" panose="02010600030101010101" pitchFamily="2" charset="-122"/>
              </a:rPr>
              <a:t>,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3</a:t>
            </a:r>
            <a:r>
              <a:rPr lang="en-US" altLang="zh-CN" sz="2800">
                <a:ea typeface="宋体" panose="02010600030101010101" pitchFamily="2" charset="-122"/>
              </a:rPr>
              <a:t> = 10.2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endParaRPr lang="en-US" altLang="zh-CN" sz="2800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53124" name="Line 4"/>
          <p:cNvSpPr>
            <a:spLocks noChangeShapeType="1"/>
          </p:cNvSpPr>
          <p:nvPr/>
        </p:nvSpPr>
        <p:spPr bwMode="auto">
          <a:xfrm flipH="1">
            <a:off x="3886200" y="762000"/>
            <a:ext cx="4038600" cy="4343400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2" name="Text Box 5"/>
          <p:cNvSpPr txBox="1">
            <a:spLocks noChangeArrowheads="1"/>
          </p:cNvSpPr>
          <p:nvPr/>
        </p:nvSpPr>
        <p:spPr bwMode="auto">
          <a:xfrm>
            <a:off x="6934200" y="152400"/>
            <a:ext cx="2057400" cy="11430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8000"/>
                </a:solidFill>
                <a:ea typeface="宋体" panose="02010600030101010101" pitchFamily="2" charset="-122"/>
              </a:rPr>
              <a:t>PART B: Use this circuit to design an inverting amplifier with gain of 100 and input resistance of 1Mohm.  Assume that one cannot use any resistor with resistance larger than 1Mohm.</a:t>
            </a:r>
            <a:endParaRPr lang="en-US" altLang="zh-CN" sz="1100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 dirty="0">
              <a:ea typeface="宋体" panose="02010600030101010101" pitchFamily="2" charset="-122"/>
            </a:endParaRPr>
          </a:p>
        </p:txBody>
      </p:sp>
      <p:sp>
        <p:nvSpPr>
          <p:cNvPr id="50184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868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2.9:</a:t>
            </a:r>
            <a:r>
              <a:rPr lang="en-US" altLang="zh-CN">
                <a:ea typeface="宋体" panose="02010600030101010101" pitchFamily="2" charset="-122"/>
              </a:rPr>
              <a:t> A current amplifier based on the circuit of Fig. 2.8. The amplifier delivers its output current to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aseline="-20000">
                <a:ea typeface="宋体" panose="02010600030101010101" pitchFamily="2" charset="-122"/>
              </a:rPr>
              <a:t>4</a:t>
            </a:r>
            <a:r>
              <a:rPr lang="en-US" altLang="zh-CN">
                <a:ea typeface="宋体" panose="02010600030101010101" pitchFamily="2" charset="-122"/>
              </a:rPr>
              <a:t>. It has a current gain of (1 +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aseline="-20000">
                <a:ea typeface="宋体" panose="02010600030101010101" pitchFamily="2" charset="-122"/>
              </a:rPr>
              <a:t>2</a:t>
            </a:r>
            <a:r>
              <a:rPr lang="en-US" altLang="zh-CN" i="1" baseline="-20000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/R</a:t>
            </a:r>
            <a:r>
              <a:rPr lang="en-US" altLang="zh-CN" baseline="-20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50185" name="Picture 4" descr="se02F0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2355850"/>
            <a:ext cx="5795962" cy="412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6" name="文本框 1"/>
          <p:cNvSpPr txBox="1">
            <a:spLocks noChangeArrowheads="1"/>
          </p:cNvSpPr>
          <p:nvPr/>
        </p:nvSpPr>
        <p:spPr bwMode="auto">
          <a:xfrm>
            <a:off x="347663" y="2797175"/>
            <a:ext cx="25479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R2</a:t>
            </a:r>
            <a:r>
              <a:rPr lang="zh-CN" altLang="en-US" sz="2000" dirty="0"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ea typeface="宋体" panose="02010600030101010101" pitchFamily="2" charset="-122"/>
              </a:rPr>
              <a:t>R3</a:t>
            </a:r>
            <a:r>
              <a:rPr lang="zh-CN" altLang="en-US" sz="2000" dirty="0">
                <a:ea typeface="宋体" panose="02010600030101010101" pitchFamily="2" charset="-122"/>
              </a:rPr>
              <a:t>是并联的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若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R3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为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R2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的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1/k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，则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是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的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k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倍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i</a:t>
            </a:r>
            <a:r>
              <a:rPr lang="en-US" altLang="zh-CN" sz="2000" baseline="-25000" dirty="0">
                <a:ea typeface="宋体" panose="02010600030101010101" pitchFamily="2" charset="-122"/>
                <a:sym typeface="Wingdings" panose="05000000000000000000" pitchFamily="2" charset="2"/>
              </a:rPr>
              <a:t>4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是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(i</a:t>
            </a:r>
            <a:r>
              <a:rPr lang="en-US" altLang="zh-CN" sz="2000" baseline="-25000" dirty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的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k+1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倍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2171" y="2148923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</a:rPr>
              <a:t>换个角度思考：</a:t>
            </a:r>
            <a:endParaRPr lang="en-US" altLang="zh-CN" sz="2000" dirty="0">
              <a:solidFill>
                <a:srgbClr val="0432FF"/>
              </a:solidFill>
            </a:endParaRPr>
          </a:p>
          <a:p>
            <a:r>
              <a:rPr lang="en-US" altLang="zh-CN" sz="2000" dirty="0">
                <a:solidFill>
                  <a:srgbClr val="0432FF"/>
                </a:solidFill>
              </a:rPr>
              <a:t>【Insight】</a:t>
            </a:r>
            <a:endParaRPr lang="en-US" sz="2000" dirty="0">
              <a:solidFill>
                <a:srgbClr val="0432FF"/>
              </a:solidFill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0"/>
                                        <p:tgtEl>
                                          <p:spTgt spid="2053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05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77592"/>
            <a:ext cx="8001000" cy="385297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566"/>
            <a:ext cx="9144000" cy="856034"/>
          </a:xfrm>
          <a:prstGeom prst="rect">
            <a:avLst/>
          </a:prstGeom>
        </p:spPr>
      </p:pic>
      <p:pic>
        <p:nvPicPr>
          <p:cNvPr id="5120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1136650"/>
            <a:ext cx="40386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9600" y="1066800"/>
            <a:ext cx="2743200" cy="304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81000" y="3962400"/>
            <a:ext cx="396875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762000" y="2209800"/>
            <a:ext cx="35052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3657600" cy="1295400"/>
          </a:xfrm>
        </p:spPr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2.2.4.</a:t>
            </a:r>
            <a:r>
              <a:rPr lang="en-US" altLang="zh-CN">
                <a:ea typeface="宋体" panose="02010600030101010101" pitchFamily="2" charset="-122"/>
              </a:rPr>
              <a:t> An Important Application –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The Weighted Summer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weighted summer</a:t>
            </a:r>
            <a:r>
              <a:rPr lang="en-US" altLang="zh-CN" sz="2800">
                <a:ea typeface="宋体" panose="02010600030101010101" pitchFamily="2" charset="-122"/>
              </a:rPr>
              <a:t> - is a closed-loop amplifier configuration which provides an output voltage which is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weighted sum</a:t>
            </a:r>
            <a:r>
              <a:rPr lang="en-US" altLang="zh-CN" sz="2800">
                <a:ea typeface="宋体" panose="02010600030101010101" pitchFamily="2" charset="-122"/>
              </a:rPr>
              <a:t> of the inputs.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52231" name="Picture 4" descr="se02F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3838"/>
            <a:ext cx="434340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Text Box 3"/>
          <p:cNvSpPr txBox="1">
            <a:spLocks noChangeArrowheads="1"/>
          </p:cNvSpPr>
          <p:nvPr/>
        </p:nvSpPr>
        <p:spPr bwMode="auto">
          <a:xfrm>
            <a:off x="5486400" y="4876800"/>
            <a:ext cx="342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2.10:</a:t>
            </a:r>
            <a:r>
              <a:rPr lang="en-US" altLang="zh-CN">
                <a:ea typeface="宋体" panose="02010600030101010101" pitchFamily="2" charset="-122"/>
              </a:rPr>
              <a:t> A weighted summer.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2233" name="文本框 1"/>
          <p:cNvSpPr txBox="1">
            <a:spLocks noChangeArrowheads="1"/>
          </p:cNvSpPr>
          <p:nvPr/>
        </p:nvSpPr>
        <p:spPr bwMode="auto">
          <a:xfrm>
            <a:off x="5257800" y="457200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加法器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762000" y="2209800"/>
            <a:ext cx="35052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3657600" cy="1295400"/>
          </a:xfrm>
        </p:spPr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2.2.4.</a:t>
            </a:r>
            <a:r>
              <a:rPr lang="en-US" altLang="zh-CN">
                <a:ea typeface="宋体" panose="02010600030101010101" pitchFamily="2" charset="-122"/>
              </a:rPr>
              <a:t> An Important Application –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The Weighted Summer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427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weighted summer</a:t>
            </a:r>
            <a:r>
              <a:rPr lang="en-US" altLang="zh-CN" sz="2800">
                <a:ea typeface="宋体" panose="02010600030101010101" pitchFamily="2" charset="-122"/>
              </a:rPr>
              <a:t> - is a closed-loop amplifier configuration which provides an output voltage which is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weighted sum</a:t>
            </a:r>
            <a:r>
              <a:rPr lang="en-US" altLang="zh-CN" sz="2800">
                <a:ea typeface="宋体" panose="02010600030101010101" pitchFamily="2" charset="-122"/>
              </a:rPr>
              <a:t> of the inputs.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2084869" name="Rectangle 5"/>
          <p:cNvSpPr>
            <a:spLocks noChangeArrowheads="1"/>
          </p:cNvSpPr>
          <p:nvPr/>
        </p:nvSpPr>
        <p:spPr bwMode="auto">
          <a:xfrm>
            <a:off x="0" y="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54280" name="Picture 4" descr="se02F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3838"/>
            <a:ext cx="434340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1" name="Text Box 3"/>
          <p:cNvSpPr txBox="1">
            <a:spLocks noChangeArrowheads="1"/>
          </p:cNvSpPr>
          <p:nvPr/>
        </p:nvSpPr>
        <p:spPr bwMode="auto">
          <a:xfrm>
            <a:off x="5486400" y="4876800"/>
            <a:ext cx="342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2.10:</a:t>
            </a:r>
            <a:r>
              <a:rPr lang="en-US" altLang="zh-CN">
                <a:ea typeface="宋体" panose="02010600030101010101" pitchFamily="2" charset="-122"/>
              </a:rPr>
              <a:t> A weighted summer.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84873" name="Text Box 9"/>
          <p:cNvSpPr txBox="1">
            <a:spLocks noChangeArrowheads="1"/>
          </p:cNvSpPr>
          <p:nvPr/>
        </p:nvSpPr>
        <p:spPr bwMode="auto">
          <a:xfrm>
            <a:off x="381000" y="4160838"/>
            <a:ext cx="6858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4" name="Text Box 10"/>
          <p:cNvSpPr txBox="1">
            <a:spLocks noChangeArrowheads="1"/>
          </p:cNvSpPr>
          <p:nvPr/>
        </p:nvSpPr>
        <p:spPr bwMode="auto">
          <a:xfrm>
            <a:off x="381000" y="4694238"/>
            <a:ext cx="6858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In2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5" name="Text Box 11"/>
          <p:cNvSpPr txBox="1">
            <a:spLocks noChangeArrowheads="1"/>
          </p:cNvSpPr>
          <p:nvPr/>
        </p:nvSpPr>
        <p:spPr bwMode="auto">
          <a:xfrm>
            <a:off x="381000" y="52578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In3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6" name="Text Box 12"/>
          <p:cNvSpPr txBox="1">
            <a:spLocks noChangeArrowheads="1"/>
          </p:cNvSpPr>
          <p:nvPr/>
        </p:nvSpPr>
        <p:spPr bwMode="auto">
          <a:xfrm>
            <a:off x="4419600" y="4953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Out</a:t>
            </a:r>
            <a:endParaRPr lang="en-US" altLang="zh-CN" sz="3200" i="1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7" name="Text Box 13"/>
          <p:cNvSpPr txBox="1">
            <a:spLocks noChangeArrowheads="1"/>
          </p:cNvSpPr>
          <p:nvPr/>
        </p:nvSpPr>
        <p:spPr bwMode="auto">
          <a:xfrm>
            <a:off x="3200400" y="39624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endParaRPr lang="en-US" altLang="zh-CN" sz="3200" i="1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8" name="Text Box 14"/>
          <p:cNvSpPr txBox="1">
            <a:spLocks noChangeArrowheads="1"/>
          </p:cNvSpPr>
          <p:nvPr/>
        </p:nvSpPr>
        <p:spPr bwMode="auto">
          <a:xfrm>
            <a:off x="1524000" y="3810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79" name="Text Box 15"/>
          <p:cNvSpPr txBox="1">
            <a:spLocks noChangeArrowheads="1"/>
          </p:cNvSpPr>
          <p:nvPr/>
        </p:nvSpPr>
        <p:spPr bwMode="auto">
          <a:xfrm>
            <a:off x="1524000" y="4389438"/>
            <a:ext cx="6858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80" name="Text Box 16"/>
          <p:cNvSpPr txBox="1">
            <a:spLocks noChangeArrowheads="1"/>
          </p:cNvSpPr>
          <p:nvPr/>
        </p:nvSpPr>
        <p:spPr bwMode="auto">
          <a:xfrm>
            <a:off x="1524000" y="4922838"/>
            <a:ext cx="6858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endParaRPr lang="en-US" altLang="zh-CN" sz="320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84881" name="Text Box 17"/>
          <p:cNvSpPr txBox="1">
            <a:spLocks noChangeArrowheads="1"/>
          </p:cNvSpPr>
          <p:nvPr/>
        </p:nvSpPr>
        <p:spPr bwMode="auto">
          <a:xfrm>
            <a:off x="228600" y="182563"/>
            <a:ext cx="8686800" cy="655637"/>
          </a:xfrm>
          <a:prstGeom prst="rect">
            <a:avLst/>
          </a:prstGeom>
          <a:solidFill>
            <a:srgbClr val="FFFF99"/>
          </a:solidFill>
          <a:ln w="76200">
            <a:solidFill>
              <a:srgbClr val="FFFF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= -[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3200" i="1" baseline="-25000">
                <a:solidFill>
                  <a:srgbClr val="FFFF99"/>
                </a:solidFill>
                <a:ea typeface="宋体" panose="02010600030101010101" pitchFamily="2" charset="-122"/>
              </a:rPr>
              <a:t>.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8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+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3200" i="1" baseline="-25000">
                <a:solidFill>
                  <a:srgbClr val="FFFF99"/>
                </a:solidFill>
                <a:ea typeface="宋体" panose="02010600030101010101" pitchFamily="2" charset="-122"/>
              </a:rPr>
              <a:t>.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8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+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3200" i="1" baseline="-25000">
                <a:solidFill>
                  <a:srgbClr val="FFFF99"/>
                </a:solidFill>
                <a:ea typeface="宋体" panose="02010600030101010101" pitchFamily="2" charset="-122"/>
              </a:rPr>
              <a:t>.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800" baseline="-2500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+ … ]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8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8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08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8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8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8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08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8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27916 -0.5532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0848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58" y="-2766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0.52083 -0.6421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084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2" y="-3210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75416 -0.71319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848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708" y="-35671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0875 -0.51319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0848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2567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44444E-6 L -0.17083 -0.5354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0848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-2678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0.32083 -0.5976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0848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42" y="-2988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0.55416 -0.6754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0848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08" y="-3377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0.44583 -0.6798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084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92" y="-3400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8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08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4869" grpId="0" animBg="1"/>
      <p:bldP spid="2084873" grpId="0"/>
      <p:bldP spid="2084873" grpId="1"/>
      <p:bldP spid="2084874" grpId="0"/>
      <p:bldP spid="2084874" grpId="1"/>
      <p:bldP spid="2084875" grpId="0"/>
      <p:bldP spid="2084875" grpId="1"/>
      <p:bldP spid="2084876" grpId="0"/>
      <p:bldP spid="2084876" grpId="1"/>
      <p:bldP spid="2084877" grpId="0"/>
      <p:bldP spid="2084877" grpId="1"/>
      <p:bldP spid="2084878" grpId="0"/>
      <p:bldP spid="2084878" grpId="1"/>
      <p:bldP spid="2084879" grpId="0"/>
      <p:bldP spid="2084879" grpId="1"/>
      <p:bldP spid="2084880" grpId="0"/>
      <p:bldP spid="2084880" grpId="1"/>
      <p:bldP spid="208488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55301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14800"/>
            <a:ext cx="60420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文本框 7"/>
          <p:cNvSpPr txBox="1">
            <a:spLocks noChangeArrowheads="1"/>
          </p:cNvSpPr>
          <p:nvPr/>
        </p:nvSpPr>
        <p:spPr bwMode="auto">
          <a:xfrm>
            <a:off x="3762375" y="53594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实现加减法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9144000" cy="3548771"/>
          </a:xfrm>
          <a:prstGeom prst="rect">
            <a:avLst/>
          </a:prstGeom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0881"/>
            <a:ext cx="9144000" cy="1145427"/>
          </a:xfrm>
          <a:prstGeom prst="rect">
            <a:avLst/>
          </a:prstGeom>
        </p:spPr>
      </p:pic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9600" y="2362200"/>
            <a:ext cx="5638800" cy="381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56326" name="Picture 4" descr="se02F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95625"/>
            <a:ext cx="43434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2.3.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Non-Inverting 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non-inverting op-amp configuration</a:t>
            </a:r>
            <a:r>
              <a:rPr lang="en-US" altLang="zh-CN" sz="2800">
                <a:ea typeface="宋体" panose="02010600030101010101" pitchFamily="2" charset="-122"/>
              </a:rPr>
              <a:t> – is one which utilizes external resistances (like the previous) to effect voltage gain.  However, the polarity / phase of the output is same as input.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7349" name="文本框 1"/>
          <p:cNvSpPr txBox="1">
            <a:spLocks noChangeArrowheads="1"/>
          </p:cNvSpPr>
          <p:nvPr/>
        </p:nvSpPr>
        <p:spPr bwMode="auto">
          <a:xfrm>
            <a:off x="5105400" y="83820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同相接法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 b="0">
                <a:ea typeface="宋体" panose="02010600030101010101" pitchFamily="2" charset="-122"/>
              </a:rPr>
              <a:t>2.3.</a:t>
            </a:r>
            <a:r>
              <a:rPr lang="en-US" altLang="zh-CN" sz="2400">
                <a:ea typeface="宋体" panose="02010600030101010101" pitchFamily="2" charset="-122"/>
              </a:rPr>
              <a:t> The Non-Inverting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Configuration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58373" name="Picture 4" descr="se02F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57400"/>
            <a:ext cx="6858000" cy="454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2.12:</a:t>
            </a:r>
            <a:r>
              <a:rPr lang="en-US" altLang="zh-CN">
                <a:ea typeface="宋体" panose="02010600030101010101" pitchFamily="2" charset="-122"/>
              </a:rPr>
              <a:t> The non-inverting configuration.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67111" name="Text Box 7"/>
          <p:cNvSpPr txBox="1">
            <a:spLocks noChangeArrowheads="1"/>
          </p:cNvSpPr>
          <p:nvPr/>
        </p:nvSpPr>
        <p:spPr bwMode="auto">
          <a:xfrm>
            <a:off x="3581400" y="5791200"/>
            <a:ext cx="2895600" cy="822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source is applied to non-inverting input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67112" name="Text Box 8"/>
          <p:cNvSpPr txBox="1">
            <a:spLocks noChangeArrowheads="1"/>
          </p:cNvSpPr>
          <p:nvPr/>
        </p:nvSpPr>
        <p:spPr bwMode="auto">
          <a:xfrm>
            <a:off x="228600" y="1981200"/>
            <a:ext cx="2362200" cy="11874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inverting input is grounded through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67113" name="Text Box 9"/>
          <p:cNvSpPr txBox="1">
            <a:spLocks noChangeArrowheads="1"/>
          </p:cNvSpPr>
          <p:nvPr/>
        </p:nvSpPr>
        <p:spPr bwMode="auto">
          <a:xfrm>
            <a:off x="3276600" y="641350"/>
            <a:ext cx="4724400" cy="11874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act as voltage divider, regulating negative feedback to the inverting input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67114" name="Text Box 10"/>
          <p:cNvSpPr txBox="1">
            <a:spLocks noChangeArrowheads="1"/>
          </p:cNvSpPr>
          <p:nvPr/>
        </p:nvSpPr>
        <p:spPr bwMode="auto">
          <a:xfrm>
            <a:off x="3767328" y="2971800"/>
            <a:ext cx="12954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node #1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67115" name="Text Box 11"/>
          <p:cNvSpPr txBox="1">
            <a:spLocks noChangeArrowheads="1"/>
          </p:cNvSpPr>
          <p:nvPr/>
        </p:nvSpPr>
        <p:spPr bwMode="auto">
          <a:xfrm>
            <a:off x="3767328" y="5078413"/>
            <a:ext cx="12954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node #2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81800" y="1905000"/>
            <a:ext cx="228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432FF"/>
                </a:solidFill>
              </a:rPr>
              <a:t>不管是</a:t>
            </a:r>
            <a:r>
              <a:rPr lang="en-US" altLang="zh-CN" sz="2000" b="1" dirty="0">
                <a:solidFill>
                  <a:srgbClr val="0432FF"/>
                </a:solidFill>
              </a:rPr>
              <a:t>inverting</a:t>
            </a:r>
            <a:r>
              <a:rPr lang="zh-CN" altLang="en-US" sz="2000" b="1" dirty="0">
                <a:solidFill>
                  <a:srgbClr val="0432FF"/>
                </a:solidFill>
              </a:rPr>
              <a:t>，还是</a:t>
            </a:r>
            <a:r>
              <a:rPr lang="en-US" altLang="zh-CN" sz="2000" b="1" dirty="0">
                <a:solidFill>
                  <a:srgbClr val="0432FF"/>
                </a:solidFill>
              </a:rPr>
              <a:t>non-inverting</a:t>
            </a:r>
            <a:r>
              <a:rPr lang="zh-CN" altLang="en-US" sz="2000" b="1" dirty="0">
                <a:solidFill>
                  <a:srgbClr val="0432FF"/>
                </a:solidFill>
              </a:rPr>
              <a:t>，反馈电阻都是接到“</a:t>
            </a:r>
            <a:r>
              <a:rPr lang="en-US" altLang="zh-CN" sz="2000" b="1" dirty="0">
                <a:solidFill>
                  <a:srgbClr val="0432FF"/>
                </a:solidFill>
              </a:rPr>
              <a:t>➖</a:t>
            </a:r>
            <a:r>
              <a:rPr lang="zh-CN" altLang="en-US" sz="2000" b="1" dirty="0">
                <a:solidFill>
                  <a:srgbClr val="0432FF"/>
                </a:solidFill>
              </a:rPr>
              <a:t>”端</a:t>
            </a:r>
            <a:endParaRPr lang="en-US" sz="2000" b="1" dirty="0">
              <a:solidFill>
                <a:srgbClr val="0432FF"/>
              </a:solidFill>
            </a:endParaRPr>
          </a:p>
        </p:txBody>
      </p:sp>
      <p:sp>
        <p:nvSpPr>
          <p:cNvPr id="13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6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6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6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6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7111" grpId="0" animBg="1"/>
      <p:bldP spid="1967112" grpId="0" animBg="1"/>
      <p:bldP spid="1967113" grpId="0" animBg="1"/>
      <p:bldP spid="1967114" grpId="0" animBg="1"/>
      <p:bldP spid="19671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54"/>
            <a:ext cx="9144000" cy="3877654"/>
          </a:xfrm>
          <a:prstGeom prst="rect">
            <a:avLst/>
          </a:prstGeom>
        </p:spPr>
      </p:pic>
      <p:sp>
        <p:nvSpPr>
          <p:cNvPr id="60419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4038600"/>
            <a:ext cx="4305300" cy="2209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①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/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②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③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60420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0422" name="文本占位符 2"/>
          <p:cNvSpPr txBox="1"/>
          <p:nvPr/>
        </p:nvSpPr>
        <p:spPr bwMode="auto">
          <a:xfrm>
            <a:off x="4533900" y="4038600"/>
            <a:ext cx="43053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④</a:t>
            </a:r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⑤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⑥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</p:txBody>
      </p:sp>
      <p:pic>
        <p:nvPicPr>
          <p:cNvPr id="60423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62400"/>
            <a:ext cx="26797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562600"/>
            <a:ext cx="5715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5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5429250"/>
            <a:ext cx="1625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6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5391150"/>
            <a:ext cx="1295400" cy="558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427" name="右箭头 12"/>
          <p:cNvSpPr>
            <a:spLocks noChangeArrowheads="1"/>
          </p:cNvSpPr>
          <p:nvPr/>
        </p:nvSpPr>
        <p:spPr bwMode="auto">
          <a:xfrm>
            <a:off x="6902450" y="5600700"/>
            <a:ext cx="3048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60428" name="文本框 13"/>
          <p:cNvSpPr txBox="1">
            <a:spLocks noChangeArrowheads="1"/>
          </p:cNvSpPr>
          <p:nvPr/>
        </p:nvSpPr>
        <p:spPr bwMode="auto">
          <a:xfrm>
            <a:off x="6019800" y="213360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可以看成分压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3200400"/>
            <a:ext cx="4305300" cy="28956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若开环增益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不是无穷大，则如何计算？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61446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724400"/>
            <a:ext cx="348297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文本框 7"/>
          <p:cNvSpPr txBox="1">
            <a:spLocks noChangeArrowheads="1"/>
          </p:cNvSpPr>
          <p:nvPr/>
        </p:nvSpPr>
        <p:spPr bwMode="auto">
          <a:xfrm>
            <a:off x="6197600" y="3003550"/>
            <a:ext cx="1450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-v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=v</a:t>
            </a:r>
            <a:r>
              <a:rPr lang="en-US" altLang="zh-CN" baseline="-25000">
                <a:ea typeface="宋体" panose="02010600030101010101" pitchFamily="2" charset="-122"/>
              </a:rPr>
              <a:t>o</a:t>
            </a:r>
            <a:r>
              <a:rPr lang="en-US" altLang="zh-CN">
                <a:ea typeface="宋体" panose="02010600030101010101" pitchFamily="2" charset="-122"/>
              </a:rPr>
              <a:t>/A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8" name="下箭头 8"/>
          <p:cNvSpPr>
            <a:spLocks noChangeArrowheads="1"/>
          </p:cNvSpPr>
          <p:nvPr/>
        </p:nvSpPr>
        <p:spPr bwMode="auto">
          <a:xfrm>
            <a:off x="6808788" y="3810000"/>
            <a:ext cx="2286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61449" name="文本框 9"/>
          <p:cNvSpPr txBox="1">
            <a:spLocks noChangeArrowheads="1"/>
          </p:cNvSpPr>
          <p:nvPr/>
        </p:nvSpPr>
        <p:spPr bwMode="auto">
          <a:xfrm>
            <a:off x="457200" y="5862638"/>
            <a:ext cx="4911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同样，输入阻抗为∞，输出阻抗为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399"/>
            <a:ext cx="4537147" cy="3145599"/>
          </a:xfrm>
          <a:prstGeom prst="rect">
            <a:avLst/>
          </a:prstGeom>
        </p:spPr>
      </p:pic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772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Characteristics of Non-Inverting Op-Amp 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2468" name="Rectangle 8"/>
          <p:cNvSpPr>
            <a:spLocks noChangeArrowheads="1"/>
          </p:cNvSpPr>
          <p:nvPr/>
        </p:nvSpPr>
        <p:spPr bwMode="auto">
          <a:xfrm>
            <a:off x="0" y="1905000"/>
            <a:ext cx="91440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62469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1981200"/>
          <a:ext cx="7989888" cy="497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00888800" imgH="62788800" progId="Equation.DSMT4">
                  <p:embed/>
                </p:oleObj>
              </mc:Choice>
              <mc:Fallback>
                <p:oleObj name="Equation" r:id="rId1" imgW="100888800" imgH="62788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81200"/>
                        <a:ext cx="7989888" cy="497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>
            <a:spLocks noChangeArrowheads="1"/>
          </p:cNvSpPr>
          <p:nvPr/>
        </p:nvSpPr>
        <p:spPr bwMode="auto">
          <a:xfrm>
            <a:off x="5029200" y="2362200"/>
            <a:ext cx="457200" cy="685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772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Configuration and Characteristics of Buffer / Voltage-Follower Op-Amp 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4516" name="Rectangle 3"/>
          <p:cNvSpPr>
            <a:spLocks noChangeArrowheads="1"/>
          </p:cNvSpPr>
          <p:nvPr/>
        </p:nvSpPr>
        <p:spPr bwMode="auto">
          <a:xfrm>
            <a:off x="0" y="1905000"/>
            <a:ext cx="91440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64517" name="Picture 4" descr="se02F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30513"/>
            <a:ext cx="8686800" cy="296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2"/>
          <p:cNvSpPr txBox="1">
            <a:spLocks noChangeArrowheads="1"/>
          </p:cNvSpPr>
          <p:nvPr/>
        </p:nvSpPr>
        <p:spPr bwMode="auto">
          <a:xfrm>
            <a:off x="228600" y="5791200"/>
            <a:ext cx="868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2.14:</a:t>
            </a:r>
            <a:r>
              <a:rPr lang="en-US" altLang="zh-CN">
                <a:ea typeface="宋体" panose="02010600030101010101" pitchFamily="2" charset="-122"/>
              </a:rPr>
              <a:t> (</a:t>
            </a:r>
            <a:r>
              <a:rPr lang="en-US" altLang="zh-CN" b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) The unity-gain buffer or follower amplifier. (</a:t>
            </a:r>
            <a:r>
              <a:rPr lang="en-US" altLang="zh-CN" b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) Its equivalent circuit model.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4519" name="文本框 1"/>
          <p:cNvSpPr txBox="1">
            <a:spLocks noChangeArrowheads="1"/>
          </p:cNvSpPr>
          <p:nvPr/>
        </p:nvSpPr>
        <p:spPr bwMode="auto">
          <a:xfrm>
            <a:off x="304800" y="2060575"/>
            <a:ext cx="7459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ea typeface="宋体" panose="02010600030101010101" pitchFamily="2" charset="-122"/>
              </a:rPr>
              <a:t>Buffer amp</a:t>
            </a:r>
            <a:r>
              <a:rPr lang="en-US" altLang="zh-CN" sz="2000">
                <a:ea typeface="宋体" panose="02010600030101010101" pitchFamily="2" charset="-122"/>
              </a:rPr>
              <a:t>: </a:t>
            </a:r>
            <a:r>
              <a:rPr lang="zh-CN" altLang="en-US" sz="2000">
                <a:ea typeface="宋体" panose="02010600030101010101" pitchFamily="2" charset="-122"/>
              </a:rPr>
              <a:t>提供高输入阻抗、低输出阻抗，增益非主要考虑因素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772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Configuration and Characteristics of Buffer / Voltage-Follower Op-Amp Configuration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0" y="1905000"/>
            <a:ext cx="91440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66565" name="Picture 4" descr="se02F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30513"/>
            <a:ext cx="8686800" cy="296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Text Box 2"/>
          <p:cNvSpPr txBox="1">
            <a:spLocks noChangeArrowheads="1"/>
          </p:cNvSpPr>
          <p:nvPr/>
        </p:nvSpPr>
        <p:spPr bwMode="auto">
          <a:xfrm>
            <a:off x="228600" y="5791200"/>
            <a:ext cx="868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2.14:</a:t>
            </a:r>
            <a:r>
              <a:rPr lang="en-US" altLang="zh-CN">
                <a:ea typeface="宋体" panose="02010600030101010101" pitchFamily="2" charset="-122"/>
              </a:rPr>
              <a:t> (</a:t>
            </a:r>
            <a:r>
              <a:rPr lang="en-US" altLang="zh-CN" b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) The unity-gain buffer or follower amplifier. (</a:t>
            </a:r>
            <a:r>
              <a:rPr lang="en-US" altLang="zh-CN" b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) Its equivalent circuit model.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0" y="0"/>
            <a:ext cx="9144000" cy="2438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060294" name="Text Box 6"/>
          <p:cNvSpPr txBox="1">
            <a:spLocks noChangeArrowheads="1"/>
          </p:cNvSpPr>
          <p:nvPr/>
        </p:nvSpPr>
        <p:spPr bwMode="auto">
          <a:xfrm>
            <a:off x="304800" y="381000"/>
            <a:ext cx="8534400" cy="18002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Main point?  </a:t>
            </a:r>
            <a:r>
              <a:rPr lang="en-US" altLang="zh-CN" sz="2800">
                <a:ea typeface="宋体" panose="02010600030101010101" pitchFamily="2" charset="-122"/>
              </a:rPr>
              <a:t>For the buffer amp, output voltage is equal (in both magnitude and phase) to the input source.  However, any current supplied to the load is drawn from amplifier supplies (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CC</a:t>
            </a:r>
            <a:r>
              <a:rPr lang="en-US" altLang="zh-CN" sz="2800">
                <a:ea typeface="宋体" panose="02010600030101010101" pitchFamily="2" charset="-122"/>
              </a:rPr>
              <a:t>,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EE</a:t>
            </a:r>
            <a:r>
              <a:rPr lang="en-US" altLang="zh-CN" sz="2800">
                <a:ea typeface="宋体" panose="02010600030101010101" pitchFamily="2" charset="-122"/>
              </a:rPr>
              <a:t>) and not the input source (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).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29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" y="550862"/>
            <a:ext cx="9144000" cy="3625136"/>
          </a:xfrm>
          <a:prstGeom prst="rect">
            <a:avLst/>
          </a:prstGeom>
        </p:spPr>
      </p:pic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858837" y="703262"/>
            <a:ext cx="3657600" cy="1295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67589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419600"/>
            <a:ext cx="89916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文本框 7"/>
          <p:cNvSpPr txBox="1">
            <a:spLocks noChangeArrowheads="1"/>
          </p:cNvSpPr>
          <p:nvPr/>
        </p:nvSpPr>
        <p:spPr bwMode="auto">
          <a:xfrm>
            <a:off x="5888037" y="1604648"/>
            <a:ext cx="2727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对</a:t>
            </a:r>
            <a:r>
              <a:rPr lang="en-US" altLang="zh-CN" sz="2000" dirty="0">
                <a:ea typeface="宋体" panose="02010600030101010101" pitchFamily="2" charset="-122"/>
              </a:rPr>
              <a:t>v1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a typeface="宋体" panose="02010600030101010101" pitchFamily="2" charset="-122"/>
              </a:rPr>
              <a:t>v2</a:t>
            </a:r>
            <a:r>
              <a:rPr lang="zh-CN" altLang="en-US" sz="2000" dirty="0">
                <a:ea typeface="宋体" panose="02010600030101010101" pitchFamily="2" charset="-122"/>
              </a:rPr>
              <a:t>应用叠加原理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8388"/>
            <a:ext cx="9144000" cy="3931622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066800" y="1447800"/>
            <a:ext cx="5867400" cy="228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</a:t>
            </a:r>
            <a:r>
              <a:rPr lang="en-US" altLang="zh-CN" sz="3200">
                <a:ea typeface="宋体" panose="02010600030101010101" pitchFamily="2" charset="-122"/>
              </a:rPr>
              <a:t> Difference Amplifiers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zh-CN" altLang="en-US" sz="3200">
                <a:ea typeface="宋体" panose="02010600030101010101" pitchFamily="2" charset="-122"/>
              </a:rPr>
              <a:t>差分放大器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difference amplifier</a:t>
            </a:r>
            <a:r>
              <a:rPr lang="en-US" altLang="zh-CN" sz="2800">
                <a:ea typeface="宋体" panose="02010600030101010101" pitchFamily="2" charset="-122"/>
              </a:rPr>
              <a:t> – is a closed-loop configuration which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responds to the difference between two signals</a:t>
            </a:r>
            <a:r>
              <a:rPr lang="en-US" altLang="zh-CN" sz="2800">
                <a:ea typeface="宋体" panose="02010600030101010101" pitchFamily="2" charset="-122"/>
              </a:rPr>
              <a:t> applied at its input and ideally rejects signals that are common to the two.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Ideally, the amp will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amplify only the differential signal 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dfi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>
                <a:ea typeface="宋体" panose="02010600030101010101" pitchFamily="2" charset="-122"/>
              </a:rPr>
              <a:t> and reject completely the common-mode input signal (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cmi</a:t>
            </a:r>
            <a:r>
              <a:rPr lang="en-US" altLang="zh-CN" sz="2800">
                <a:ea typeface="宋体" panose="02010600030101010101" pitchFamily="2" charset="-122"/>
              </a:rPr>
              <a:t>).  However, a practical circuit will behave as below…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6172200"/>
            <a:ext cx="4572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6963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094038" y="5867400"/>
          <a:ext cx="2925762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4993600" imgH="4876800" progId="Equation.DSMT4">
                  <p:embed/>
                </p:oleObj>
              </mc:Choice>
              <mc:Fallback>
                <p:oleObj name="Equation" r:id="rId1" imgW="249936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5867400"/>
                        <a:ext cx="2925762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9" name="文本框 1"/>
          <p:cNvSpPr txBox="1">
            <a:spLocks noChangeArrowheads="1"/>
          </p:cNvSpPr>
          <p:nvPr/>
        </p:nvSpPr>
        <p:spPr bwMode="auto">
          <a:xfrm>
            <a:off x="5105400" y="0"/>
            <a:ext cx="3657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理想差分放大器，只放大输入的差分信号，对输入共模信号的增益为零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但实际上，会存在较小的共模增益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</a:t>
            </a:r>
            <a:r>
              <a:rPr lang="en-US" altLang="zh-CN" sz="3200">
                <a:ea typeface="宋体" panose="02010600030101010101" pitchFamily="2" charset="-122"/>
              </a:rPr>
              <a:t> Difference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72230" name="Text Box 6"/>
          <p:cNvSpPr txBox="1">
            <a:spLocks noChangeArrowheads="1"/>
          </p:cNvSpPr>
          <p:nvPr/>
        </p:nvSpPr>
        <p:spPr bwMode="auto">
          <a:xfrm>
            <a:off x="304800" y="4149725"/>
            <a:ext cx="3810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differential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72231" name="Text Box 7"/>
          <p:cNvSpPr txBox="1">
            <a:spLocks noChangeArrowheads="1"/>
          </p:cNvSpPr>
          <p:nvPr/>
        </p:nvSpPr>
        <p:spPr bwMode="auto">
          <a:xfrm>
            <a:off x="990600" y="3408363"/>
            <a:ext cx="3810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differential input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72232" name="Text Box 8"/>
          <p:cNvSpPr txBox="1">
            <a:spLocks noChangeArrowheads="1"/>
          </p:cNvSpPr>
          <p:nvPr/>
        </p:nvSpPr>
        <p:spPr bwMode="auto">
          <a:xfrm>
            <a:off x="2590800" y="1905000"/>
            <a:ext cx="3810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common-mode input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72233" name="Text Box 9"/>
          <p:cNvSpPr txBox="1">
            <a:spLocks noChangeArrowheads="1"/>
          </p:cNvSpPr>
          <p:nvPr/>
        </p:nvSpPr>
        <p:spPr bwMode="auto">
          <a:xfrm>
            <a:off x="1828800" y="2646363"/>
            <a:ext cx="3810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common-mode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72234" name="Line 10"/>
          <p:cNvSpPr>
            <a:spLocks noChangeShapeType="1"/>
          </p:cNvSpPr>
          <p:nvPr/>
        </p:nvSpPr>
        <p:spPr bwMode="auto">
          <a:xfrm>
            <a:off x="3962400" y="4876800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2235" name="Line 11"/>
          <p:cNvSpPr>
            <a:spLocks noChangeShapeType="1"/>
          </p:cNvSpPr>
          <p:nvPr/>
        </p:nvSpPr>
        <p:spPr bwMode="auto">
          <a:xfrm>
            <a:off x="4495800" y="4114800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2236" name="Line 12"/>
          <p:cNvSpPr>
            <a:spLocks noChangeShapeType="1"/>
          </p:cNvSpPr>
          <p:nvPr/>
        </p:nvSpPr>
        <p:spPr bwMode="auto">
          <a:xfrm>
            <a:off x="5410200" y="3352800"/>
            <a:ext cx="0" cy="2057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2237" name="Line 13"/>
          <p:cNvSpPr>
            <a:spLocks noChangeShapeType="1"/>
          </p:cNvSpPr>
          <p:nvPr/>
        </p:nvSpPr>
        <p:spPr bwMode="auto">
          <a:xfrm>
            <a:off x="5943600" y="2590800"/>
            <a:ext cx="0" cy="2819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0669" name="Object 15"/>
          <p:cNvGraphicFramePr>
            <a:graphicFrameLocks noGrp="1" noChangeAspect="1"/>
          </p:cNvGraphicFramePr>
          <p:nvPr>
            <p:ph sz="half" idx="2"/>
          </p:nvPr>
        </p:nvGraphicFramePr>
        <p:xfrm>
          <a:off x="2452688" y="5489575"/>
          <a:ext cx="41767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3528000" imgH="6096000" progId="Equation.DSMT4">
                  <p:embed/>
                </p:oleObj>
              </mc:Choice>
              <mc:Fallback>
                <p:oleObj name="Equation" r:id="rId1" imgW="33528000" imgH="6096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5489575"/>
                        <a:ext cx="41767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7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7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7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7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7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7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2230" grpId="0" animBg="1"/>
      <p:bldP spid="1972231" grpId="0" animBg="1"/>
      <p:bldP spid="1972232" grpId="0" animBg="1"/>
      <p:bldP spid="19722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</a:t>
            </a:r>
            <a:r>
              <a:rPr lang="en-US" altLang="zh-CN" sz="3200">
                <a:ea typeface="宋体" panose="02010600030101010101" pitchFamily="2" charset="-122"/>
              </a:rPr>
              <a:t> Difference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common-mode rejection ratio 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(CMRR)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– is the degree to which a differential amplifier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“rejects” the common-mode</a:t>
            </a:r>
            <a:r>
              <a:rPr lang="en-US" altLang="zh-CN" sz="2800">
                <a:ea typeface="宋体" panose="02010600030101010101" pitchFamily="2" charset="-122"/>
              </a:rPr>
              <a:t> input.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Ideally, CMRR = </a:t>
            </a:r>
            <a:r>
              <a:rPr lang="en-US" altLang="zh-CN" sz="2800" i="1">
                <a:ea typeface="宋体" panose="02010600030101010101" pitchFamily="2" charset="-122"/>
              </a:rPr>
              <a:t>infinity…</a:t>
            </a:r>
            <a:endParaRPr lang="en-US" altLang="zh-CN" sz="2800" i="1">
              <a:ea typeface="宋体" panose="02010600030101010101" pitchFamily="2" charset="-122"/>
            </a:endParaRPr>
          </a:p>
        </p:txBody>
      </p:sp>
      <p:graphicFrame>
        <p:nvGraphicFramePr>
          <p:cNvPr id="7168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973388" y="4648200"/>
          <a:ext cx="3198812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7432000" imgH="10058400" progId="Equation.DSMT4">
                  <p:embed/>
                </p:oleObj>
              </mc:Choice>
              <mc:Fallback>
                <p:oleObj name="Equation" r:id="rId1" imgW="27432000" imgH="1005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4648200"/>
                        <a:ext cx="3198812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文本框 1"/>
          <p:cNvSpPr txBox="1">
            <a:spLocks noChangeArrowheads="1"/>
          </p:cNvSpPr>
          <p:nvPr/>
        </p:nvSpPr>
        <p:spPr bwMode="auto">
          <a:xfrm>
            <a:off x="5257800" y="173355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共模抑制比</a:t>
            </a:r>
            <a:endParaRPr lang="zh-CN" altLang="en-US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88" y="381000"/>
            <a:ext cx="3046412" cy="535943"/>
          </a:xfrm>
          <a:prstGeom prst="rect">
            <a:avLst/>
          </a:prstGeom>
        </p:spPr>
      </p:pic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</a:t>
            </a:r>
            <a:r>
              <a:rPr lang="en-US" altLang="zh-CN" sz="3200">
                <a:ea typeface="宋体" panose="02010600030101010101" pitchFamily="2" charset="-122"/>
              </a:rPr>
              <a:t> Difference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graphicFrame>
        <p:nvGraphicFramePr>
          <p:cNvPr id="72709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936750" y="3914775"/>
          <a:ext cx="505142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8346400" imgH="10058400" progId="Equation.DSMT4">
                  <p:embed/>
                </p:oleObj>
              </mc:Choice>
              <mc:Fallback>
                <p:oleObj name="Equation" r:id="rId1" imgW="28346400" imgH="1005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3914775"/>
                        <a:ext cx="5051425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72711" name="Picture 4" descr="se02F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038350"/>
            <a:ext cx="6121400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2" name="Text Box 3"/>
          <p:cNvSpPr txBox="1">
            <a:spLocks noChangeArrowheads="1"/>
          </p:cNvSpPr>
          <p:nvPr/>
        </p:nvSpPr>
        <p:spPr bwMode="auto">
          <a:xfrm>
            <a:off x="228600" y="457200"/>
            <a:ext cx="868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2.15: </a:t>
            </a:r>
            <a:r>
              <a:rPr lang="en-US" altLang="zh-CN">
                <a:ea typeface="宋体" panose="02010600030101010101" pitchFamily="2" charset="-122"/>
              </a:rPr>
              <a:t>Representing the input signals to a differential amplifier in terms of their differential and common-mode components.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</a:t>
            </a:r>
            <a:r>
              <a:rPr lang="en-US" altLang="zh-CN" sz="3200">
                <a:ea typeface="宋体" panose="02010600030101010101" pitchFamily="2" charset="-122"/>
              </a:rPr>
              <a:t> Difference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The op amp itself is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differential</a:t>
            </a:r>
            <a:r>
              <a:rPr lang="en-US" altLang="zh-CN" sz="2800">
                <a:ea typeface="宋体" panose="02010600030101010101" pitchFamily="2" charset="-122"/>
              </a:rPr>
              <a:t> in nature, why cannot it be used by itself? </a:t>
            </a:r>
            <a:r>
              <a:rPr lang="zh-CN" altLang="en-US" sz="2800">
                <a:ea typeface="宋体" panose="02010600030101010101" pitchFamily="2" charset="-122"/>
              </a:rPr>
              <a:t>运放本身就是差分输入的，为何不能直接用作差分放大器？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It has an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infinite gain</a:t>
            </a:r>
            <a:r>
              <a:rPr lang="en-US" altLang="zh-CN" sz="2800">
                <a:ea typeface="宋体" panose="02010600030101010101" pitchFamily="2" charset="-122"/>
              </a:rPr>
              <a:t>, and therefore cannot be used by itself.  One must devise a closed-loop configuration which facilitates this operation.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 b="1">
                <a:solidFill>
                  <a:srgbClr val="FF0000"/>
                </a:solidFill>
                <a:ea typeface="宋体" panose="02010600030101010101" pitchFamily="2" charset="-122"/>
              </a:rPr>
              <a:t>运放增益太大，且不稳定、不精确（一个很大的增益是做不到稳定和精确的）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 b="1">
                <a:solidFill>
                  <a:srgbClr val="FF0000"/>
                </a:solidFill>
                <a:ea typeface="宋体" panose="02010600030101010101" pitchFamily="2" charset="-122"/>
              </a:rPr>
              <a:t>我们需要牺牲增益，来换取稳定性和精确性（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trade-off</a:t>
            </a:r>
            <a:r>
              <a:rPr lang="zh-CN" altLang="en-US" sz="2800" b="1">
                <a:solidFill>
                  <a:srgbClr val="FF0000"/>
                </a:solidFill>
                <a:ea typeface="宋体" panose="02010600030101010101" pitchFamily="2" charset="-122"/>
              </a:rPr>
              <a:t>，折衷）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【</a:t>
            </a:r>
            <a:r>
              <a:rPr kumimoji="1" lang="en-US" altLang="zh-CN" dirty="0">
                <a:solidFill>
                  <a:srgbClr val="C00000"/>
                </a:solidFill>
              </a:rPr>
              <a:t>Insight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如何构建一个差分放大器？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33600"/>
            <a:ext cx="6667500" cy="355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3" y="2667000"/>
            <a:ext cx="4914900" cy="355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4800" y="319487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将</a:t>
            </a:r>
            <a:r>
              <a:rPr kumimoji="1" lang="en-US" altLang="zh-CN" sz="2000" dirty="0"/>
              <a:t>noninverting configuration</a:t>
            </a:r>
            <a:r>
              <a:rPr kumimoji="1" lang="zh-CN" altLang="en-US" sz="2000" dirty="0"/>
              <a:t>的输入适当衰减，使其总的增益等于</a:t>
            </a:r>
            <a:r>
              <a:rPr kumimoji="1" lang="en-US" altLang="zh-CN" sz="2000" dirty="0"/>
              <a:t>R2/R1</a:t>
            </a:r>
            <a:r>
              <a:rPr kumimoji="1" lang="zh-CN" altLang="en-US" sz="2000" dirty="0"/>
              <a:t>，则可构成一个差分放大器</a:t>
            </a:r>
            <a:endParaRPr kumimoji="1"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932303"/>
            <a:ext cx="7429500" cy="28042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75042"/>
            <a:ext cx="2832100" cy="83820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 bwMode="auto">
          <a:xfrm>
            <a:off x="4572000" y="3932303"/>
            <a:ext cx="1066800" cy="117309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cxnSp>
        <p:nvCxnSpPr>
          <p:cNvPr id="13" name="直线箭头连接符 12"/>
          <p:cNvCxnSpPr/>
          <p:nvPr/>
        </p:nvCxnSpPr>
        <p:spPr bwMode="auto">
          <a:xfrm>
            <a:off x="4572000" y="3581400"/>
            <a:ext cx="304800" cy="6096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下箭头 14"/>
          <p:cNvSpPr/>
          <p:nvPr/>
        </p:nvSpPr>
        <p:spPr bwMode="auto">
          <a:xfrm>
            <a:off x="6172200" y="5105400"/>
            <a:ext cx="152400" cy="3810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5658680"/>
            <a:ext cx="939800" cy="715530"/>
          </a:xfrm>
          <a:prstGeom prst="rect">
            <a:avLst/>
          </a:prstGeom>
        </p:spPr>
      </p:pic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2.4.</a:t>
            </a:r>
            <a:r>
              <a:rPr lang="en-US" altLang="zh-CN">
                <a:ea typeface="宋体" panose="02010600030101010101" pitchFamily="2" charset="-122"/>
              </a:rPr>
              <a:t> Difference Amplifiers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74757" name="Picture 4" descr="se02F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81200"/>
            <a:ext cx="685800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Text Box 3"/>
          <p:cNvSpPr txBox="1">
            <a:spLocks noChangeArrowheads="1"/>
          </p:cNvSpPr>
          <p:nvPr/>
        </p:nvSpPr>
        <p:spPr bwMode="auto">
          <a:xfrm>
            <a:off x="228600" y="487363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2.16:</a:t>
            </a:r>
            <a:r>
              <a:rPr lang="en-US" altLang="zh-CN">
                <a:ea typeface="宋体" panose="02010600030101010101" pitchFamily="2" charset="-122"/>
              </a:rPr>
              <a:t> A difference amplifier.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4759" name="文本框 1"/>
          <p:cNvSpPr txBox="1">
            <a:spLocks noChangeArrowheads="1"/>
          </p:cNvSpPr>
          <p:nvPr/>
        </p:nvSpPr>
        <p:spPr bwMode="auto">
          <a:xfrm>
            <a:off x="304800" y="1981200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利用叠加原理计算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2.4.1.</a:t>
            </a:r>
            <a:r>
              <a:rPr lang="en-US" altLang="zh-CN" sz="3200">
                <a:ea typeface="宋体" panose="02010600030101010101" pitchFamily="2" charset="-122"/>
              </a:rPr>
              <a:t> A Single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Op-Amp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Difference Amp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What are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characteristics of the difference amplifier</a:t>
            </a:r>
            <a:r>
              <a:rPr lang="en-US" altLang="zh-CN" sz="2800">
                <a:ea typeface="宋体" panose="02010600030101010101" pitchFamily="2" charset="-122"/>
              </a:rPr>
              <a:t>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Refer to following equations…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75781" name="Rectangle 8"/>
          <p:cNvSpPr>
            <a:spLocks noChangeArrowheads="1"/>
          </p:cNvSpPr>
          <p:nvPr/>
        </p:nvSpPr>
        <p:spPr bwMode="auto">
          <a:xfrm>
            <a:off x="0" y="6172200"/>
            <a:ext cx="4572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75782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177925" y="3854450"/>
          <a:ext cx="6746875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80772000" imgH="31394400" progId="Equation.DSMT4">
                  <p:embed/>
                </p:oleObj>
              </mc:Choice>
              <mc:Fallback>
                <p:oleObj name="Equation" r:id="rId1" imgW="80772000" imgH="3139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3854450"/>
                        <a:ext cx="6746875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文本框 1"/>
          <p:cNvSpPr txBox="1">
            <a:spLocks noChangeArrowheads="1"/>
          </p:cNvSpPr>
          <p:nvPr/>
        </p:nvSpPr>
        <p:spPr bwMode="auto">
          <a:xfrm>
            <a:off x="3657600" y="636270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平衡条件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75784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413" y="4540250"/>
            <a:ext cx="1076325" cy="685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785" name="右箭头 3"/>
          <p:cNvSpPr>
            <a:spLocks noChangeArrowheads="1"/>
          </p:cNvSpPr>
          <p:nvPr/>
        </p:nvSpPr>
        <p:spPr bwMode="auto">
          <a:xfrm rot="-2744187">
            <a:off x="7696200" y="5334000"/>
            <a:ext cx="6096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369" y="100584"/>
            <a:ext cx="3227391" cy="2168670"/>
          </a:xfrm>
          <a:prstGeom prst="rect">
            <a:avLst/>
          </a:prstGeom>
        </p:spPr>
      </p:pic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共模输入情况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851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78852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981200"/>
            <a:ext cx="43561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文本框 6"/>
          <p:cNvSpPr txBox="1">
            <a:spLocks noChangeArrowheads="1"/>
          </p:cNvSpPr>
          <p:nvPr/>
        </p:nvSpPr>
        <p:spPr bwMode="auto">
          <a:xfrm>
            <a:off x="2171700" y="35052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①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854" name="矩形 7"/>
          <p:cNvSpPr>
            <a:spLocks noChangeArrowheads="1"/>
          </p:cNvSpPr>
          <p:nvPr/>
        </p:nvSpPr>
        <p:spPr bwMode="auto">
          <a:xfrm>
            <a:off x="2147888" y="2900363"/>
            <a:ext cx="457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②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855" name="矩形 8"/>
          <p:cNvSpPr>
            <a:spLocks noChangeArrowheads="1"/>
          </p:cNvSpPr>
          <p:nvPr/>
        </p:nvSpPr>
        <p:spPr bwMode="auto">
          <a:xfrm>
            <a:off x="806450" y="2543175"/>
            <a:ext cx="469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③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856" name="矩形 9"/>
          <p:cNvSpPr>
            <a:spLocks noChangeArrowheads="1"/>
          </p:cNvSpPr>
          <p:nvPr/>
        </p:nvSpPr>
        <p:spPr bwMode="auto">
          <a:xfrm>
            <a:off x="2400300" y="19431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④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857" name="矩形 10"/>
          <p:cNvSpPr>
            <a:spLocks noChangeArrowheads="1"/>
          </p:cNvSpPr>
          <p:nvPr/>
        </p:nvSpPr>
        <p:spPr bwMode="auto">
          <a:xfrm>
            <a:off x="4090988" y="3338513"/>
            <a:ext cx="457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⑤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858" name="文本框 11"/>
          <p:cNvSpPr txBox="1">
            <a:spLocks noChangeArrowheads="1"/>
          </p:cNvSpPr>
          <p:nvPr/>
        </p:nvSpPr>
        <p:spPr bwMode="auto">
          <a:xfrm>
            <a:off x="5222875" y="495300"/>
            <a:ext cx="465138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①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②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③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④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⑤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78859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381000"/>
            <a:ext cx="101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60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413" y="1624013"/>
            <a:ext cx="2489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61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2892425"/>
            <a:ext cx="2146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62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4040188"/>
            <a:ext cx="33528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63" name="下箭头 17"/>
          <p:cNvSpPr>
            <a:spLocks noChangeArrowheads="1"/>
          </p:cNvSpPr>
          <p:nvPr/>
        </p:nvSpPr>
        <p:spPr bwMode="auto">
          <a:xfrm>
            <a:off x="6735763" y="3505200"/>
            <a:ext cx="260350" cy="457200"/>
          </a:xfrm>
          <a:prstGeom prst="downArrow">
            <a:avLst>
              <a:gd name="adj1" fmla="val 50000"/>
              <a:gd name="adj2" fmla="val 498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8864" name="文本框 18"/>
          <p:cNvSpPr txBox="1">
            <a:spLocks noChangeArrowheads="1"/>
          </p:cNvSpPr>
          <p:nvPr/>
        </p:nvSpPr>
        <p:spPr bwMode="auto">
          <a:xfrm>
            <a:off x="4800600" y="6272213"/>
            <a:ext cx="408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平衡时，</a:t>
            </a:r>
            <a:r>
              <a:rPr lang="en-US" altLang="zh-CN" sz="2000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cm</a:t>
            </a:r>
            <a:r>
              <a:rPr lang="en-US" altLang="zh-CN" sz="2000">
                <a:ea typeface="宋体" panose="02010600030101010101" pitchFamily="2" charset="-122"/>
              </a:rPr>
              <a:t>=0</a:t>
            </a:r>
            <a:r>
              <a:rPr lang="zh-CN" altLang="en-US" sz="2000">
                <a:ea typeface="宋体" panose="02010600030101010101" pitchFamily="2" charset="-122"/>
              </a:rPr>
              <a:t>；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若不平衡，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solidFill>
                  <a:srgbClr val="FF0000"/>
                </a:solidFill>
                <a:ea typeface="宋体" panose="02010600030101010101" pitchFamily="2" charset="-122"/>
              </a:rPr>
              <a:t>cm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961198"/>
            <a:ext cx="7620000" cy="2359628"/>
          </a:xfrm>
          <a:prstGeom prst="rect">
            <a:avLst/>
          </a:prstGeom>
        </p:spPr>
      </p:pic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输入阻抗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9875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9877" name="文本框 6"/>
          <p:cNvSpPr txBox="1">
            <a:spLocks noChangeArrowheads="1"/>
          </p:cNvSpPr>
          <p:nvPr/>
        </p:nvSpPr>
        <p:spPr bwMode="auto">
          <a:xfrm>
            <a:off x="533400" y="4572000"/>
            <a:ext cx="24669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① </a:t>
            </a:r>
            <a:r>
              <a:rPr lang="en-US" altLang="zh-CN" sz="2000"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</a:rPr>
              <a:t>id  </a:t>
            </a:r>
            <a:r>
              <a:rPr lang="zh-CN" altLang="en-US" sz="2000">
                <a:ea typeface="宋体" panose="02010600030101010101" pitchFamily="2" charset="-122"/>
              </a:rPr>
              <a:t>差分输入阻抗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② 考虑平衡情况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pic>
        <p:nvPicPr>
          <p:cNvPr id="7987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419600"/>
            <a:ext cx="12414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100638"/>
            <a:ext cx="24003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80" name="下箭头 9"/>
          <p:cNvSpPr>
            <a:spLocks noChangeArrowheads="1"/>
          </p:cNvSpPr>
          <p:nvPr/>
        </p:nvSpPr>
        <p:spPr bwMode="auto">
          <a:xfrm>
            <a:off x="3581400" y="5715000"/>
            <a:ext cx="2286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4953000" y="381000"/>
            <a:ext cx="40005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存在的缺点：</a:t>
            </a:r>
            <a:endParaRPr lang="en-US" altLang="zh-CN" sz="20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差分放大器需要提供较大差分增益（</a:t>
            </a:r>
            <a:r>
              <a:rPr lang="en-US" altLang="zh-CN" sz="2000" dirty="0">
                <a:ea typeface="宋体" panose="02010600030101010101" pitchFamily="2" charset="-122"/>
              </a:rPr>
              <a:t>R2/R1</a:t>
            </a:r>
            <a:r>
              <a:rPr lang="zh-CN" altLang="en-US" sz="2000" dirty="0">
                <a:ea typeface="宋体" panose="02010600030101010101" pitchFamily="2" charset="-122"/>
              </a:rPr>
              <a:t>）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R1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要小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输入阻抗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变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小</a:t>
            </a:r>
            <a:r>
              <a:rPr lang="zh-CN" altLang="en-US" sz="2000" dirty="0">
                <a:ea typeface="宋体" panose="02010600030101010101" pitchFamily="2" charset="-122"/>
                <a:sym typeface="Wingdings" panose="05000000000000000000" pitchFamily="2" charset="2"/>
              </a:rPr>
              <a:t>！</a:t>
            </a:r>
            <a:endParaRPr lang="en-US" altLang="zh-CN" sz="20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如何解决这一缺点？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39" y="506137"/>
            <a:ext cx="9144000" cy="1665439"/>
          </a:xfrm>
          <a:prstGeom prst="rect">
            <a:avLst/>
          </a:prstGeom>
        </p:spPr>
      </p:pic>
      <p:sp>
        <p:nvSpPr>
          <p:cNvPr id="80899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056861" y="1836959"/>
            <a:ext cx="4876800" cy="304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80902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61" y="2463751"/>
            <a:ext cx="61087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3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811" y="5135514"/>
            <a:ext cx="52959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A Shift in Notation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Before this point…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parameter </a:t>
            </a:r>
            <a:r>
              <a:rPr lang="en-US" altLang="zh-CN" i="1" u="sng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is used to represent open-loop</a:t>
            </a:r>
            <a:r>
              <a:rPr lang="en-US" altLang="zh-CN">
                <a:ea typeface="宋体" panose="02010600030101010101" pitchFamily="2" charset="-122"/>
              </a:rPr>
              <a:t> gain of an op amp.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parameter </a:t>
            </a:r>
            <a:r>
              <a:rPr lang="en-US" altLang="zh-CN" i="1" u="sng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is used to represent ideal / non-ideal closed-loop</a:t>
            </a:r>
            <a:r>
              <a:rPr lang="en-US" altLang="zh-CN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gain of an op amp.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After this point…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parameter </a:t>
            </a:r>
            <a:r>
              <a:rPr lang="en-US" altLang="zh-CN" i="1" u="sng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is used to represent ideal gain of an op amp in a given closed-loop configuration.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parameter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u="sng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 is not used.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79396" name="AutoShape 4"/>
          <p:cNvSpPr>
            <a:spLocks noChangeArrowheads="1"/>
          </p:cNvSpPr>
          <p:nvPr/>
        </p:nvSpPr>
        <p:spPr bwMode="auto">
          <a:xfrm rot="5400000">
            <a:off x="6940826" y="718930"/>
            <a:ext cx="1828800" cy="91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99"/>
          </a:solidFill>
          <a:ln w="381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1926" name="文本框 1"/>
          <p:cNvSpPr txBox="1">
            <a:spLocks noChangeArrowheads="1"/>
          </p:cNvSpPr>
          <p:nvPr/>
        </p:nvSpPr>
        <p:spPr bwMode="auto">
          <a:xfrm>
            <a:off x="5486400" y="5486400"/>
            <a:ext cx="3154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ea typeface="宋体" panose="02010600030101010101" pitchFamily="2" charset="-122"/>
              </a:rPr>
              <a:t>代表理想运放的闭环增益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1.38889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9793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939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8768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2.4.2.</a:t>
            </a:r>
            <a:r>
              <a:rPr lang="en-US" altLang="zh-CN" sz="3200" dirty="0">
                <a:ea typeface="宋体" panose="02010600030101010101" pitchFamily="2" charset="-122"/>
              </a:rPr>
              <a:t> The</a:t>
            </a:r>
            <a:br>
              <a:rPr lang="en-US" altLang="zh-CN" sz="3200" dirty="0">
                <a:ea typeface="宋体" panose="02010600030101010101" pitchFamily="2" charset="-122"/>
              </a:rPr>
            </a:br>
            <a:r>
              <a:rPr lang="en-US" altLang="zh-CN" sz="3200" dirty="0">
                <a:ea typeface="宋体" panose="02010600030101010101" pitchFamily="2" charset="-122"/>
              </a:rPr>
              <a:t>Instrumentation Amplifier </a:t>
            </a:r>
            <a:r>
              <a:rPr lang="zh-CN" altLang="en-US" sz="3200" dirty="0">
                <a:ea typeface="宋体" panose="02010600030101010101" pitchFamily="2" charset="-122"/>
              </a:rPr>
              <a:t>仪表放大器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924050"/>
            <a:ext cx="8610600" cy="47244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What is one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problem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associated with the difference amplifier? </a:t>
            </a:r>
            <a:r>
              <a:rPr lang="zh-CN" altLang="en-US" sz="2800">
                <a:ea typeface="宋体" panose="02010600030101010101" pitchFamily="2" charset="-122"/>
              </a:rPr>
              <a:t>差分放大器存在的缺点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Low input impedance.  </a:t>
            </a:r>
            <a:r>
              <a:rPr lang="zh-CN" altLang="en-US" sz="2800">
                <a:ea typeface="宋体" panose="02010600030101010101" pitchFamily="2" charset="-122"/>
              </a:rPr>
              <a:t>输入阻抗低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And, what does this mean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practically</a:t>
            </a:r>
            <a:r>
              <a:rPr lang="en-US" altLang="zh-CN" sz="2800">
                <a:ea typeface="宋体" panose="02010600030101010101" pitchFamily="2" charset="-122"/>
              </a:rPr>
              <a:t>? </a:t>
            </a:r>
            <a:r>
              <a:rPr lang="zh-CN" altLang="en-US" sz="2800">
                <a:ea typeface="宋体" panose="02010600030101010101" pitchFamily="2" charset="-122"/>
              </a:rPr>
              <a:t>有什么影响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That source impedance will have an effect on gain. </a:t>
            </a:r>
            <a:r>
              <a:rPr lang="zh-CN" altLang="en-US" sz="2800">
                <a:ea typeface="宋体" panose="02010600030101010101" pitchFamily="2" charset="-122"/>
              </a:rPr>
              <a:t>输入端分压衰减 </a:t>
            </a:r>
            <a:r>
              <a:rPr lang="en-US" altLang="zh-CN" sz="280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800">
                <a:ea typeface="宋体" panose="02010600030101010101" pitchFamily="2" charset="-122"/>
                <a:sym typeface="Wingdings" panose="05000000000000000000" pitchFamily="2" charset="2"/>
              </a:rPr>
              <a:t>施加于放大器输入端的有效信号电压降低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What is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solution</a:t>
            </a:r>
            <a:r>
              <a:rPr lang="en-US" altLang="zh-CN" sz="2800">
                <a:ea typeface="宋体" panose="02010600030101010101" pitchFamily="2" charset="-122"/>
              </a:rPr>
              <a:t>? </a:t>
            </a:r>
            <a:r>
              <a:rPr lang="zh-CN" altLang="en-US" sz="2800">
                <a:ea typeface="宋体" panose="02010600030101010101" pitchFamily="2" charset="-122"/>
              </a:rPr>
              <a:t>解决方法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Placement of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two buffers at the input terminals</a:t>
            </a:r>
            <a:r>
              <a:rPr lang="en-US" altLang="zh-CN" sz="2800">
                <a:ea typeface="宋体" panose="02010600030101010101" pitchFamily="2" charset="-122"/>
              </a:rPr>
              <a:t>, amplifiers which transmit the voltage level but draw minimal current. </a:t>
            </a:r>
            <a:r>
              <a:rPr lang="zh-CN" altLang="en-US" sz="2800">
                <a:ea typeface="宋体" panose="02010600030101010101" pitchFamily="2" charset="-122"/>
              </a:rPr>
              <a:t>在输入端插入</a:t>
            </a:r>
            <a:r>
              <a:rPr lang="en-US" altLang="zh-CN" sz="2800">
                <a:ea typeface="宋体" panose="02010600030101010101" pitchFamily="2" charset="-122"/>
              </a:rPr>
              <a:t>buffer amp</a:t>
            </a:r>
            <a:r>
              <a:rPr lang="zh-CN" altLang="en-US" sz="2800">
                <a:ea typeface="宋体" panose="02010600030101010101" pitchFamily="2" charset="-122"/>
              </a:rPr>
              <a:t>，提高</a:t>
            </a:r>
            <a:r>
              <a:rPr lang="en-US" altLang="zh-CN" sz="2800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in</a:t>
            </a:r>
            <a:endParaRPr lang="en-US" altLang="zh-CN" sz="2800" baseline="-250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However, can one get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“more”</a:t>
            </a:r>
            <a:r>
              <a:rPr lang="en-US" altLang="zh-CN" sz="2800">
                <a:ea typeface="宋体" panose="02010600030101010101" pitchFamily="2" charset="-122"/>
              </a:rPr>
              <a:t> from these amps than simply impedance matching? 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Yes, maybe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additional voltage gain</a:t>
            </a:r>
            <a:r>
              <a:rPr lang="en-US" altLang="zh-CN" sz="2800">
                <a:ea typeface="宋体" panose="02010600030101010101" pitchFamily="2" charset="-122"/>
              </a:rPr>
              <a:t>???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>
                <a:ea typeface="宋体" panose="02010600030101010101" pitchFamily="2" charset="-122"/>
              </a:rPr>
              <a:t>在插入</a:t>
            </a:r>
            <a:r>
              <a:rPr lang="en-US" altLang="zh-CN" sz="2800">
                <a:ea typeface="宋体" panose="02010600030101010101" pitchFamily="2" charset="-122"/>
              </a:rPr>
              <a:t>buffer amp</a:t>
            </a:r>
            <a:r>
              <a:rPr lang="zh-CN" altLang="en-US" sz="2800">
                <a:ea typeface="宋体" panose="02010600030101010101" pitchFamily="2" charset="-122"/>
              </a:rPr>
              <a:t>，以提高输入阻抗的同时，还可以获得额外的增益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4995" name="Rectangle 2"/>
          <p:cNvSpPr>
            <a:spLocks noChangeArrowheads="1"/>
          </p:cNvSpPr>
          <p:nvPr/>
        </p:nvSpPr>
        <p:spPr bwMode="auto">
          <a:xfrm>
            <a:off x="2971800" y="1981200"/>
            <a:ext cx="3276600" cy="3505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499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question:</a:t>
            </a:r>
            <a:r>
              <a:rPr lang="en-US" altLang="zh-CN" sz="2000">
                <a:ea typeface="宋体" panose="02010600030101010101" pitchFamily="2" charset="-122"/>
              </a:rPr>
              <a:t> however, can we get “more” from these amps than simply impedance matching?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>
                <a:solidFill>
                  <a:srgbClr val="008000"/>
                </a:solidFill>
                <a:ea typeface="宋体" panose="02010600030101010101" pitchFamily="2" charset="-122"/>
              </a:rPr>
              <a:t>answer:</a:t>
            </a:r>
            <a:r>
              <a:rPr lang="en-US" altLang="zh-CN" sz="2000">
                <a:ea typeface="宋体" panose="02010600030101010101" pitchFamily="2" charset="-122"/>
              </a:rPr>
              <a:t> yes, maybe additional voltage gain???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84998" name="Rectangle 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8499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46288"/>
            <a:ext cx="6629400" cy="458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00" name="Text Box 2"/>
          <p:cNvSpPr txBox="1">
            <a:spLocks noChangeArrowheads="1"/>
          </p:cNvSpPr>
          <p:nvPr/>
        </p:nvSpPr>
        <p:spPr bwMode="auto">
          <a:xfrm>
            <a:off x="228600" y="609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2.20:</a:t>
            </a:r>
            <a:r>
              <a:rPr lang="en-US" altLang="zh-CN">
                <a:ea typeface="宋体" panose="02010600030101010101" pitchFamily="2" charset="-122"/>
              </a:rPr>
              <a:t> A popular circuit for an instrumentation amplifier.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982473" name="Rectangle 9"/>
          <p:cNvSpPr>
            <a:spLocks noChangeArrowheads="1"/>
          </p:cNvSpPr>
          <p:nvPr/>
        </p:nvSpPr>
        <p:spPr bwMode="auto">
          <a:xfrm>
            <a:off x="1219200" y="1981200"/>
            <a:ext cx="3352800" cy="4648200"/>
          </a:xfrm>
          <a:prstGeom prst="rect">
            <a:avLst/>
          </a:prstGeom>
          <a:solidFill>
            <a:srgbClr val="FFFF99">
              <a:alpha val="25098"/>
            </a:srgbClr>
          </a:solidFill>
          <a:ln w="28575">
            <a:solidFill>
              <a:srgbClr val="FF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2474" name="Text Box 10"/>
          <p:cNvSpPr txBox="1">
            <a:spLocks noChangeArrowheads="1"/>
          </p:cNvSpPr>
          <p:nvPr/>
        </p:nvSpPr>
        <p:spPr bwMode="auto">
          <a:xfrm>
            <a:off x="1219200" y="1371600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stage #1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82475" name="Text Box 11"/>
          <p:cNvSpPr txBox="1">
            <a:spLocks noChangeArrowheads="1"/>
          </p:cNvSpPr>
          <p:nvPr/>
        </p:nvSpPr>
        <p:spPr bwMode="auto">
          <a:xfrm>
            <a:off x="139700" y="2693988"/>
            <a:ext cx="19812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non-inverting op amp (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82476" name="Text Box 12"/>
          <p:cNvSpPr txBox="1">
            <a:spLocks noChangeArrowheads="1"/>
          </p:cNvSpPr>
          <p:nvPr/>
        </p:nvSpPr>
        <p:spPr bwMode="auto">
          <a:xfrm>
            <a:off x="152400" y="5330825"/>
            <a:ext cx="21336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non-inverting op amp (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82477" name="Rectangle 13"/>
          <p:cNvSpPr>
            <a:spLocks noChangeArrowheads="1"/>
          </p:cNvSpPr>
          <p:nvPr/>
        </p:nvSpPr>
        <p:spPr bwMode="auto">
          <a:xfrm>
            <a:off x="4724400" y="1981200"/>
            <a:ext cx="3352800" cy="4648200"/>
          </a:xfrm>
          <a:prstGeom prst="rect">
            <a:avLst/>
          </a:prstGeom>
          <a:solidFill>
            <a:srgbClr val="FFFF99">
              <a:alpha val="25098"/>
            </a:srgbClr>
          </a:solidFill>
          <a:ln w="28575">
            <a:solidFill>
              <a:srgbClr val="FF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2478" name="Text Box 14"/>
          <p:cNvSpPr txBox="1">
            <a:spLocks noChangeArrowheads="1"/>
          </p:cNvSpPr>
          <p:nvPr/>
        </p:nvSpPr>
        <p:spPr bwMode="auto">
          <a:xfrm>
            <a:off x="4724400" y="1371600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3333FF"/>
                </a:solidFill>
                <a:ea typeface="宋体" panose="02010600030101010101" pitchFamily="2" charset="-122"/>
              </a:rPr>
              <a:t>stage #2</a:t>
            </a:r>
            <a:endParaRPr lang="en-US" altLang="zh-CN" sz="320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sp>
        <p:nvSpPr>
          <p:cNvPr id="1982479" name="Text Box 15"/>
          <p:cNvSpPr txBox="1">
            <a:spLocks noChangeArrowheads="1"/>
          </p:cNvSpPr>
          <p:nvPr/>
        </p:nvSpPr>
        <p:spPr bwMode="auto">
          <a:xfrm>
            <a:off x="6554788" y="3125788"/>
            <a:ext cx="19812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3333FF"/>
                </a:solidFill>
                <a:ea typeface="宋体" panose="02010600030101010101" pitchFamily="2" charset="-122"/>
              </a:rPr>
              <a:t>difference op amp (</a:t>
            </a:r>
            <a:r>
              <a:rPr lang="en-US" altLang="zh-CN" sz="2000" i="1">
                <a:solidFill>
                  <a:srgbClr val="3333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solidFill>
                  <a:srgbClr val="3333FF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sp>
        <p:nvSpPr>
          <p:cNvPr id="1982480" name="Text Box 16"/>
          <p:cNvSpPr txBox="1">
            <a:spLocks noChangeArrowheads="1"/>
          </p:cNvSpPr>
          <p:nvPr/>
        </p:nvSpPr>
        <p:spPr bwMode="auto">
          <a:xfrm>
            <a:off x="2895600" y="4095750"/>
            <a:ext cx="2362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o1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= (1 +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000" i="1" dirty="0" err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endParaRPr lang="en-US" altLang="zh-CN" sz="2000" i="1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82481" name="Text Box 17"/>
          <p:cNvSpPr txBox="1">
            <a:spLocks noChangeArrowheads="1"/>
          </p:cNvSpPr>
          <p:nvPr/>
        </p:nvSpPr>
        <p:spPr bwMode="auto">
          <a:xfrm>
            <a:off x="7305675" y="4219575"/>
            <a:ext cx="1847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 i="1">
                <a:solidFill>
                  <a:srgbClr val="3333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solidFill>
                  <a:srgbClr val="3333FF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000">
                <a:solidFill>
                  <a:srgbClr val="3333FF"/>
                </a:solidFill>
                <a:ea typeface="宋体" panose="02010600030101010101" pitchFamily="2" charset="-122"/>
              </a:rPr>
              <a:t> = (</a:t>
            </a:r>
            <a:r>
              <a:rPr lang="en-US" altLang="zh-CN" sz="20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solidFill>
                  <a:srgbClr val="3333FF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000">
                <a:solidFill>
                  <a:srgbClr val="3333FF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0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solidFill>
                  <a:srgbClr val="3333FF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000" i="1">
                <a:solidFill>
                  <a:srgbClr val="3333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solidFill>
                  <a:srgbClr val="3333FF"/>
                </a:solidFill>
                <a:ea typeface="宋体" panose="02010600030101010101" pitchFamily="2" charset="-122"/>
              </a:rPr>
              <a:t>dfi</a:t>
            </a:r>
            <a:endParaRPr lang="en-US" altLang="zh-CN" sz="2000" i="1" baseline="-2500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8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8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8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8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8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8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8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2473" grpId="0" animBg="1"/>
      <p:bldP spid="1982474" grpId="0"/>
      <p:bldP spid="1982477" grpId="0" animBg="1"/>
      <p:bldP spid="1982478" grpId="0"/>
      <p:bldP spid="1982480" grpId="0"/>
      <p:bldP spid="198248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However, can one get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“more”</a:t>
            </a:r>
            <a:r>
              <a:rPr lang="en-US" altLang="zh-CN" sz="2800">
                <a:ea typeface="宋体" panose="02010600030101010101" pitchFamily="2" charset="-122"/>
              </a:rPr>
              <a:t> from these amps than simply impedance matching?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Yes, maybe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additional voltage gain</a:t>
            </a:r>
            <a:r>
              <a:rPr lang="en-US" altLang="zh-CN" sz="2800">
                <a:ea typeface="宋体" panose="02010600030101010101" pitchFamily="2" charset="-122"/>
              </a:rPr>
              <a:t>???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8602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33400" y="3763963"/>
          <a:ext cx="3446463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1452800" imgH="25298400" progId="Equation.DSMT4">
                  <p:embed/>
                </p:oleObj>
              </mc:Choice>
              <mc:Fallback>
                <p:oleObj name="Equation" r:id="rId1" imgW="41452800" imgH="2529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763963"/>
                        <a:ext cx="3446463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Line 6"/>
          <p:cNvSpPr>
            <a:spLocks noChangeShapeType="1"/>
          </p:cNvSpPr>
          <p:nvPr/>
        </p:nvSpPr>
        <p:spPr bwMode="auto">
          <a:xfrm flipH="1">
            <a:off x="3657600" y="4724400"/>
            <a:ext cx="1143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3" name="Text Box 5"/>
          <p:cNvSpPr txBox="1">
            <a:spLocks noChangeArrowheads="1"/>
          </p:cNvSpPr>
          <p:nvPr/>
        </p:nvSpPr>
        <p:spPr bwMode="auto">
          <a:xfrm>
            <a:off x="4572000" y="4419600"/>
            <a:ext cx="42672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additional voltage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600" b="1">
                <a:solidFill>
                  <a:srgbClr val="008000"/>
                </a:solidFill>
                <a:ea typeface="宋体" panose="02010600030101010101" pitchFamily="2" charset="-122"/>
              </a:rPr>
              <a:t>Advantages</a:t>
            </a:r>
            <a:r>
              <a:rPr lang="zh-CN" altLang="en-US" sz="2600" b="1">
                <a:solidFill>
                  <a:srgbClr val="008000"/>
                </a:solidFill>
                <a:ea typeface="宋体" panose="02010600030101010101" pitchFamily="2" charset="-122"/>
              </a:rPr>
              <a:t>优点</a:t>
            </a:r>
            <a:r>
              <a:rPr lang="en-US" altLang="zh-CN" sz="2600">
                <a:ea typeface="宋体" panose="02010600030101010101" pitchFamily="2" charset="-122"/>
              </a:rPr>
              <a:t> of instrumentation amp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600">
                <a:ea typeface="宋体" panose="02010600030101010101" pitchFamily="2" charset="-122"/>
              </a:rPr>
              <a:t>very high input resistance </a:t>
            </a:r>
            <a:r>
              <a:rPr lang="zh-CN" altLang="en-US" sz="2600">
                <a:ea typeface="宋体" panose="02010600030101010101" pitchFamily="2" charset="-122"/>
              </a:rPr>
              <a:t>输入阻抗很大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600">
                <a:ea typeface="宋体" panose="02010600030101010101" pitchFamily="2" charset="-122"/>
              </a:rPr>
              <a:t>high differential gain </a:t>
            </a:r>
            <a:r>
              <a:rPr lang="zh-CN" altLang="en-US" sz="2600">
                <a:ea typeface="宋体" panose="02010600030101010101" pitchFamily="2" charset="-122"/>
              </a:rPr>
              <a:t>差分增益变大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600">
                <a:ea typeface="宋体" panose="02010600030101010101" pitchFamily="2" charset="-122"/>
              </a:rPr>
              <a:t>symmetric gain </a:t>
            </a:r>
            <a:r>
              <a:rPr lang="en-US" altLang="zh-CN" sz="2600">
                <a:solidFill>
                  <a:schemeClr val="bg2"/>
                </a:solidFill>
                <a:ea typeface="宋体" panose="02010600030101010101" pitchFamily="2" charset="-122"/>
              </a:rPr>
              <a:t>(assuming that </a:t>
            </a:r>
            <a:r>
              <a:rPr lang="en-US" altLang="zh-CN" sz="2600" i="1">
                <a:solidFill>
                  <a:schemeClr val="bg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600" baseline="-25000">
                <a:solidFill>
                  <a:schemeClr val="bg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600">
                <a:solidFill>
                  <a:schemeClr val="bg2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600" i="1">
                <a:solidFill>
                  <a:schemeClr val="bg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600" baseline="-25000">
                <a:solidFill>
                  <a:schemeClr val="bg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600">
                <a:solidFill>
                  <a:schemeClr val="bg2"/>
                </a:solidFill>
                <a:ea typeface="宋体" panose="02010600030101010101" pitchFamily="2" charset="-122"/>
              </a:rPr>
              <a:t> are matched)</a:t>
            </a:r>
            <a:endParaRPr lang="en-US" altLang="zh-CN" sz="260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b="1">
                <a:solidFill>
                  <a:srgbClr val="FF0000"/>
                </a:solidFill>
                <a:ea typeface="宋体" panose="02010600030101010101" pitchFamily="2" charset="-122"/>
              </a:rPr>
              <a:t>Disadvantages</a:t>
            </a:r>
            <a:r>
              <a:rPr lang="zh-CN" altLang="en-US" sz="2600" b="1">
                <a:solidFill>
                  <a:srgbClr val="FF0000"/>
                </a:solidFill>
                <a:ea typeface="宋体" panose="02010600030101010101" pitchFamily="2" charset="-122"/>
              </a:rPr>
              <a:t>缺点</a:t>
            </a:r>
            <a:r>
              <a:rPr lang="en-US" altLang="zh-CN" sz="2600" b="1">
                <a:ea typeface="宋体" panose="02010600030101010101" pitchFamily="2" charset="-122"/>
              </a:rPr>
              <a:t> </a:t>
            </a:r>
            <a:r>
              <a:rPr lang="en-US" altLang="zh-CN" sz="2600">
                <a:ea typeface="宋体" panose="02010600030101010101" pitchFamily="2" charset="-122"/>
              </a:rPr>
              <a:t>of instrumentation amp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6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600" i="1" baseline="-25000">
                <a:solidFill>
                  <a:srgbClr val="FF0000"/>
                </a:solidFill>
                <a:ea typeface="宋体" panose="02010600030101010101" pitchFamily="2" charset="-122"/>
              </a:rPr>
              <a:t>Di</a:t>
            </a:r>
            <a:r>
              <a:rPr lang="en-US" altLang="zh-CN" sz="2600">
                <a:solidFill>
                  <a:srgbClr val="FF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6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600" i="1" baseline="-25000">
                <a:solidFill>
                  <a:srgbClr val="FF0000"/>
                </a:solidFill>
                <a:ea typeface="宋体" panose="02010600030101010101" pitchFamily="2" charset="-122"/>
              </a:rPr>
              <a:t>Cm</a:t>
            </a:r>
            <a:r>
              <a:rPr lang="en-US" altLang="zh-CN" sz="2600">
                <a:solidFill>
                  <a:srgbClr val="FF0000"/>
                </a:solidFill>
                <a:ea typeface="宋体" panose="02010600030101010101" pitchFamily="2" charset="-122"/>
              </a:rPr>
              <a:t> are equal in first stage</a:t>
            </a:r>
            <a:r>
              <a:rPr lang="en-US" altLang="zh-CN" sz="2600">
                <a:ea typeface="宋体" panose="02010600030101010101" pitchFamily="2" charset="-122"/>
              </a:rPr>
              <a:t> – meaning that the common-mode and differential inputs are amplified with</a:t>
            </a:r>
            <a:r>
              <a:rPr lang="en-US" altLang="zh-CN" sz="2600">
                <a:solidFill>
                  <a:srgbClr val="FF0000"/>
                </a:solidFill>
                <a:ea typeface="宋体" panose="02010600030101010101" pitchFamily="2" charset="-122"/>
              </a:rPr>
              <a:t> equal gain… 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第一级放大器对差分输入和共模输入进行了同样程度的放大！ </a:t>
            </a:r>
            <a:r>
              <a:rPr lang="en-US" altLang="zh-CN" sz="260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①信号幅度过大容易使运放饱和；②第二级有更大的</a:t>
            </a:r>
            <a:r>
              <a:rPr lang="en-US" altLang="zh-CN" sz="260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CMRR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压力</a:t>
            </a:r>
            <a:endParaRPr lang="en-US" altLang="zh-CN" sz="2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ChangeArrowheads="1"/>
          </p:cNvSpPr>
          <p:nvPr/>
        </p:nvSpPr>
        <p:spPr bwMode="auto">
          <a:xfrm>
            <a:off x="3048000" y="1905000"/>
            <a:ext cx="3124200" cy="396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8806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2730500"/>
            <a:ext cx="4113212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19388"/>
            <a:ext cx="4113213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0" name="Rectangle 5"/>
          <p:cNvSpPr>
            <a:spLocks noChangeArrowheads="1"/>
          </p:cNvSpPr>
          <p:nvPr/>
        </p:nvSpPr>
        <p:spPr bwMode="auto">
          <a:xfrm>
            <a:off x="0" y="1905000"/>
            <a:ext cx="9144000" cy="39624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80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What is problem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with </a:t>
            </a:r>
            <a:r>
              <a:rPr lang="en-US" altLang="zh-CN" sz="3200" b="0" i="1">
                <a:ea typeface="宋体" panose="02010600030101010101" pitchFamily="2" charset="-122"/>
              </a:rPr>
              <a:t>A</a:t>
            </a:r>
            <a:r>
              <a:rPr lang="en-US" altLang="zh-CN" sz="3200" b="0" i="1" baseline="-25000">
                <a:ea typeface="宋体" panose="02010600030101010101" pitchFamily="2" charset="-122"/>
              </a:rPr>
              <a:t>Cm</a:t>
            </a:r>
            <a:r>
              <a:rPr lang="en-US" altLang="zh-CN" sz="3200" b="0">
                <a:ea typeface="宋体" panose="02010600030101010101" pitchFamily="2" charset="-122"/>
              </a:rPr>
              <a:t> = </a:t>
            </a:r>
            <a:r>
              <a:rPr lang="en-US" altLang="zh-CN" sz="3200" b="0" i="1">
                <a:ea typeface="宋体" panose="02010600030101010101" pitchFamily="2" charset="-122"/>
              </a:rPr>
              <a:t>A</a:t>
            </a:r>
            <a:r>
              <a:rPr lang="en-US" altLang="zh-CN" sz="3200">
                <a:ea typeface="宋体" panose="02010600030101010101" pitchFamily="2" charset="-122"/>
              </a:rPr>
              <a:t>?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8072" name="Text Box 7"/>
          <p:cNvSpPr txBox="1">
            <a:spLocks noChangeArrowheads="1"/>
          </p:cNvSpPr>
          <p:nvPr/>
        </p:nvSpPr>
        <p:spPr bwMode="auto">
          <a:xfrm>
            <a:off x="76200" y="5638800"/>
            <a:ext cx="449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differential gain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&gt;&gt;</a:t>
            </a:r>
            <a:r>
              <a:rPr lang="en-US" altLang="zh-CN" sz="2000">
                <a:ea typeface="宋体" panose="02010600030101010101" pitchFamily="2" charset="-122"/>
              </a:rPr>
              <a:t> common-mode gain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88073" name="Text Box 8"/>
          <p:cNvSpPr txBox="1">
            <a:spLocks noChangeArrowheads="1"/>
          </p:cNvSpPr>
          <p:nvPr/>
        </p:nvSpPr>
        <p:spPr bwMode="auto">
          <a:xfrm>
            <a:off x="4572000" y="5638800"/>
            <a:ext cx="449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differential gain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000">
                <a:ea typeface="宋体" panose="02010600030101010101" pitchFamily="2" charset="-122"/>
              </a:rPr>
              <a:t> common-mode gain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985545" name="Line 9"/>
          <p:cNvSpPr>
            <a:spLocks noChangeShapeType="1"/>
          </p:cNvSpPr>
          <p:nvPr/>
        </p:nvSpPr>
        <p:spPr bwMode="auto">
          <a:xfrm>
            <a:off x="533400" y="2971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46" name="Line 10"/>
          <p:cNvSpPr>
            <a:spLocks noChangeShapeType="1"/>
          </p:cNvSpPr>
          <p:nvPr/>
        </p:nvSpPr>
        <p:spPr bwMode="auto">
          <a:xfrm>
            <a:off x="533400" y="5257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47" name="Line 11"/>
          <p:cNvSpPr>
            <a:spLocks noChangeShapeType="1"/>
          </p:cNvSpPr>
          <p:nvPr/>
        </p:nvSpPr>
        <p:spPr bwMode="auto">
          <a:xfrm rot="10800000">
            <a:off x="3352800" y="4114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48" name="AutoShape 12"/>
          <p:cNvSpPr>
            <a:spLocks noChangeArrowheads="1"/>
          </p:cNvSpPr>
          <p:nvPr/>
        </p:nvSpPr>
        <p:spPr bwMode="auto">
          <a:xfrm rot="5400000">
            <a:off x="1143000" y="2895600"/>
            <a:ext cx="2590800" cy="2438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5549" name="Line 13"/>
          <p:cNvSpPr>
            <a:spLocks noChangeShapeType="1"/>
          </p:cNvSpPr>
          <p:nvPr/>
        </p:nvSpPr>
        <p:spPr bwMode="auto">
          <a:xfrm>
            <a:off x="5105400" y="2971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50" name="Line 14"/>
          <p:cNvSpPr>
            <a:spLocks noChangeShapeType="1"/>
          </p:cNvSpPr>
          <p:nvPr/>
        </p:nvSpPr>
        <p:spPr bwMode="auto">
          <a:xfrm>
            <a:off x="5105400" y="5257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51" name="AutoShape 15"/>
          <p:cNvSpPr>
            <a:spLocks noChangeArrowheads="1"/>
          </p:cNvSpPr>
          <p:nvPr/>
        </p:nvSpPr>
        <p:spPr bwMode="auto">
          <a:xfrm rot="5400000">
            <a:off x="5676900" y="2857500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5552" name="AutoShape 16"/>
          <p:cNvSpPr>
            <a:spLocks noChangeArrowheads="1"/>
          </p:cNvSpPr>
          <p:nvPr/>
        </p:nvSpPr>
        <p:spPr bwMode="auto">
          <a:xfrm rot="5400000">
            <a:off x="5676900" y="4838700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5553" name="Freeform 17"/>
          <p:cNvSpPr/>
          <p:nvPr/>
        </p:nvSpPr>
        <p:spPr bwMode="auto">
          <a:xfrm>
            <a:off x="6248400" y="3124200"/>
            <a:ext cx="1447800" cy="914400"/>
          </a:xfrm>
          <a:custGeom>
            <a:avLst/>
            <a:gdLst>
              <a:gd name="T0" fmla="*/ 0 w 912"/>
              <a:gd name="T1" fmla="*/ 0 h 576"/>
              <a:gd name="T2" fmla="*/ 2147483646 w 912"/>
              <a:gd name="T3" fmla="*/ 0 h 576"/>
              <a:gd name="T4" fmla="*/ 2147483646 w 912"/>
              <a:gd name="T5" fmla="*/ 2147483646 h 576"/>
              <a:gd name="T6" fmla="*/ 2147483646 w 912"/>
              <a:gd name="T7" fmla="*/ 2147483646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576">
                <a:moveTo>
                  <a:pt x="0" y="0"/>
                </a:moveTo>
                <a:lnTo>
                  <a:pt x="384" y="0"/>
                </a:lnTo>
                <a:lnTo>
                  <a:pt x="384" y="576"/>
                </a:lnTo>
                <a:lnTo>
                  <a:pt x="912" y="576"/>
                </a:lnTo>
              </a:path>
            </a:pathLst>
          </a:custGeom>
          <a:noFill/>
          <a:ln w="762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54" name="Freeform 18"/>
          <p:cNvSpPr/>
          <p:nvPr/>
        </p:nvSpPr>
        <p:spPr bwMode="auto">
          <a:xfrm>
            <a:off x="6172200" y="4267200"/>
            <a:ext cx="1524000" cy="838200"/>
          </a:xfrm>
          <a:custGeom>
            <a:avLst/>
            <a:gdLst>
              <a:gd name="T0" fmla="*/ 0 w 960"/>
              <a:gd name="T1" fmla="*/ 2147483646 h 528"/>
              <a:gd name="T2" fmla="*/ 2147483646 w 960"/>
              <a:gd name="T3" fmla="*/ 2147483646 h 528"/>
              <a:gd name="T4" fmla="*/ 2147483646 w 960"/>
              <a:gd name="T5" fmla="*/ 0 h 528"/>
              <a:gd name="T6" fmla="*/ 2147483646 w 9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0" h="528">
                <a:moveTo>
                  <a:pt x="0" y="528"/>
                </a:moveTo>
                <a:lnTo>
                  <a:pt x="432" y="528"/>
                </a:lnTo>
                <a:lnTo>
                  <a:pt x="432" y="0"/>
                </a:lnTo>
                <a:lnTo>
                  <a:pt x="960" y="0"/>
                </a:lnTo>
              </a:path>
            </a:pathLst>
          </a:custGeom>
          <a:noFill/>
          <a:ln w="762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55" name="Line 19"/>
          <p:cNvSpPr>
            <a:spLocks noChangeShapeType="1"/>
          </p:cNvSpPr>
          <p:nvPr/>
        </p:nvSpPr>
        <p:spPr bwMode="auto">
          <a:xfrm rot="10800000">
            <a:off x="7848600" y="41148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5556" name="AutoShape 20"/>
          <p:cNvSpPr>
            <a:spLocks noChangeArrowheads="1"/>
          </p:cNvSpPr>
          <p:nvPr/>
        </p:nvSpPr>
        <p:spPr bwMode="auto">
          <a:xfrm rot="5400000">
            <a:off x="7581900" y="3848100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85557" name="Text Box 21"/>
          <p:cNvSpPr txBox="1">
            <a:spLocks noChangeArrowheads="1"/>
          </p:cNvSpPr>
          <p:nvPr/>
        </p:nvSpPr>
        <p:spPr bwMode="auto">
          <a:xfrm>
            <a:off x="228600" y="2286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ea typeface="宋体" panose="02010600030101010101" pitchFamily="2" charset="-122"/>
              </a:rPr>
              <a:t>1</a:t>
            </a:r>
            <a:endParaRPr lang="en-US" altLang="zh-CN" sz="3200" baseline="-25000">
              <a:ea typeface="宋体" panose="02010600030101010101" pitchFamily="2" charset="-122"/>
            </a:endParaRPr>
          </a:p>
        </p:txBody>
      </p:sp>
      <p:sp>
        <p:nvSpPr>
          <p:cNvPr id="1985558" name="Text Box 22"/>
          <p:cNvSpPr txBox="1">
            <a:spLocks noChangeArrowheads="1"/>
          </p:cNvSpPr>
          <p:nvPr/>
        </p:nvSpPr>
        <p:spPr bwMode="auto">
          <a:xfrm>
            <a:off x="228600" y="4572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ea typeface="宋体" panose="02010600030101010101" pitchFamily="2" charset="-122"/>
              </a:rPr>
              <a:t>2</a:t>
            </a:r>
            <a:endParaRPr lang="en-US" altLang="zh-CN" sz="3200" baseline="-25000">
              <a:ea typeface="宋体" panose="02010600030101010101" pitchFamily="2" charset="-122"/>
            </a:endParaRPr>
          </a:p>
        </p:txBody>
      </p:sp>
      <p:sp>
        <p:nvSpPr>
          <p:cNvPr id="1985559" name="Text Box 23"/>
          <p:cNvSpPr txBox="1">
            <a:spLocks noChangeArrowheads="1"/>
          </p:cNvSpPr>
          <p:nvPr/>
        </p:nvSpPr>
        <p:spPr bwMode="auto">
          <a:xfrm>
            <a:off x="4800600" y="2286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ea typeface="宋体" panose="02010600030101010101" pitchFamily="2" charset="-122"/>
              </a:rPr>
              <a:t>1</a:t>
            </a:r>
            <a:endParaRPr lang="en-US" altLang="zh-CN" sz="3200" baseline="-25000">
              <a:ea typeface="宋体" panose="02010600030101010101" pitchFamily="2" charset="-122"/>
            </a:endParaRPr>
          </a:p>
        </p:txBody>
      </p:sp>
      <p:sp>
        <p:nvSpPr>
          <p:cNvPr id="1985560" name="Text Box 24"/>
          <p:cNvSpPr txBox="1">
            <a:spLocks noChangeArrowheads="1"/>
          </p:cNvSpPr>
          <p:nvPr/>
        </p:nvSpPr>
        <p:spPr bwMode="auto">
          <a:xfrm>
            <a:off x="4800600" y="4572000"/>
            <a:ext cx="6858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In</a:t>
            </a:r>
            <a:r>
              <a:rPr lang="en-US" altLang="zh-CN" sz="3200" baseline="-25000">
                <a:ea typeface="宋体" panose="02010600030101010101" pitchFamily="2" charset="-122"/>
              </a:rPr>
              <a:t>2</a:t>
            </a:r>
            <a:endParaRPr lang="en-US" altLang="zh-CN" sz="3200" baseline="-25000">
              <a:ea typeface="宋体" panose="02010600030101010101" pitchFamily="2" charset="-122"/>
            </a:endParaRPr>
          </a:p>
        </p:txBody>
      </p:sp>
      <p:sp>
        <p:nvSpPr>
          <p:cNvPr id="1985561" name="Text Box 25"/>
          <p:cNvSpPr txBox="1">
            <a:spLocks noChangeArrowheads="1"/>
          </p:cNvSpPr>
          <p:nvPr/>
        </p:nvSpPr>
        <p:spPr bwMode="auto">
          <a:xfrm>
            <a:off x="1219200" y="3886200"/>
            <a:ext cx="1981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ea typeface="宋体" panose="02010600030101010101" pitchFamily="2" charset="-122"/>
              </a:rPr>
              <a:t>A</a:t>
            </a:r>
            <a:r>
              <a:rPr lang="en-US" altLang="zh-CN" sz="2800">
                <a:ea typeface="宋体" panose="02010600030101010101" pitchFamily="2" charset="-122"/>
              </a:rPr>
              <a:t> = 10 x 25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1985562" name="Text Box 26"/>
          <p:cNvSpPr txBox="1">
            <a:spLocks noChangeArrowheads="1"/>
          </p:cNvSpPr>
          <p:nvPr/>
        </p:nvSpPr>
        <p:spPr bwMode="auto">
          <a:xfrm>
            <a:off x="5638800" y="2316163"/>
            <a:ext cx="11430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ea typeface="宋体" panose="02010600030101010101" pitchFamily="2" charset="-122"/>
              </a:rPr>
              <a:t>A</a:t>
            </a:r>
            <a:r>
              <a:rPr lang="en-US" altLang="zh-CN" sz="2800">
                <a:ea typeface="宋体" panose="02010600030101010101" pitchFamily="2" charset="-122"/>
              </a:rPr>
              <a:t> = 10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1985563" name="Text Box 27"/>
          <p:cNvSpPr txBox="1">
            <a:spLocks noChangeArrowheads="1"/>
          </p:cNvSpPr>
          <p:nvPr/>
        </p:nvSpPr>
        <p:spPr bwMode="auto">
          <a:xfrm>
            <a:off x="7543800" y="3306763"/>
            <a:ext cx="11430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ea typeface="宋体" panose="02010600030101010101" pitchFamily="2" charset="-122"/>
              </a:rPr>
              <a:t>A</a:t>
            </a:r>
            <a:r>
              <a:rPr lang="en-US" altLang="zh-CN" sz="2800">
                <a:ea typeface="宋体" panose="02010600030101010101" pitchFamily="2" charset="-122"/>
              </a:rPr>
              <a:t> = 25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0540" y="6139933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Case 1: 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没有共模增益时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05400" y="6137831"/>
            <a:ext cx="3344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Case 2: 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当第一级有共模增益时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33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8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8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98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98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98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8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8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98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98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98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8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98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98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98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98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98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98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98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98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5548" grpId="0" animBg="1"/>
      <p:bldP spid="1985551" grpId="0" animBg="1"/>
      <p:bldP spid="1985552" grpId="0" animBg="1"/>
      <p:bldP spid="1985556" grpId="0" animBg="1"/>
      <p:bldP spid="1985557" grpId="0"/>
      <p:bldP spid="1985558" grpId="0"/>
      <p:bldP spid="1985559" grpId="0"/>
      <p:bldP spid="1985560" grpId="0"/>
      <p:bldP spid="1985561" grpId="0"/>
      <p:bldP spid="1985562" grpId="0"/>
      <p:bldP spid="198556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differential gain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&gt;&gt;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 common-mode gain</a:t>
            </a:r>
            <a:endParaRPr lang="en-US" altLang="zh-CN" sz="32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909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95588"/>
            <a:ext cx="4113213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Rectangle 4"/>
          <p:cNvSpPr>
            <a:spLocks noChangeArrowheads="1"/>
          </p:cNvSpPr>
          <p:nvPr/>
        </p:nvSpPr>
        <p:spPr bwMode="auto">
          <a:xfrm>
            <a:off x="0" y="1905000"/>
            <a:ext cx="9144000" cy="40386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9094" name="Rectangle 5"/>
          <p:cNvSpPr>
            <a:spLocks noChangeArrowheads="1"/>
          </p:cNvSpPr>
          <p:nvPr/>
        </p:nvSpPr>
        <p:spPr bwMode="auto">
          <a:xfrm>
            <a:off x="3048000" y="1981200"/>
            <a:ext cx="3124200" cy="396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9095" name="Line 6"/>
          <p:cNvSpPr>
            <a:spLocks noChangeShapeType="1"/>
          </p:cNvSpPr>
          <p:nvPr/>
        </p:nvSpPr>
        <p:spPr bwMode="auto">
          <a:xfrm>
            <a:off x="533400" y="30480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6" name="Line 7"/>
          <p:cNvSpPr>
            <a:spLocks noChangeShapeType="1"/>
          </p:cNvSpPr>
          <p:nvPr/>
        </p:nvSpPr>
        <p:spPr bwMode="auto">
          <a:xfrm>
            <a:off x="533400" y="53340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7" name="Line 8"/>
          <p:cNvSpPr>
            <a:spLocks noChangeShapeType="1"/>
          </p:cNvSpPr>
          <p:nvPr/>
        </p:nvSpPr>
        <p:spPr bwMode="auto">
          <a:xfrm rot="10800000">
            <a:off x="3352800" y="4191000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8" name="AutoShape 9"/>
          <p:cNvSpPr>
            <a:spLocks noChangeArrowheads="1"/>
          </p:cNvSpPr>
          <p:nvPr/>
        </p:nvSpPr>
        <p:spPr bwMode="auto">
          <a:xfrm rot="5400000">
            <a:off x="1143000" y="2971800"/>
            <a:ext cx="2590800" cy="2438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9099" name="Text Box 10"/>
          <p:cNvSpPr txBox="1">
            <a:spLocks noChangeArrowheads="1"/>
          </p:cNvSpPr>
          <p:nvPr/>
        </p:nvSpPr>
        <p:spPr bwMode="auto">
          <a:xfrm>
            <a:off x="228600" y="2332038"/>
            <a:ext cx="2209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In</a:t>
            </a:r>
            <a:r>
              <a:rPr lang="en-US" altLang="zh-CN" sz="3200" baseline="-25000" dirty="0">
                <a:ea typeface="宋体" panose="02010600030101010101" pitchFamily="2" charset="-122"/>
              </a:rPr>
              <a:t>1 </a:t>
            </a:r>
            <a:r>
              <a:rPr lang="en-US" altLang="zh-CN" sz="3200" dirty="0">
                <a:ea typeface="宋体" panose="02010600030101010101" pitchFamily="2" charset="-122"/>
              </a:rPr>
              <a:t>= 10.02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9100" name="Text Box 11"/>
          <p:cNvSpPr txBox="1">
            <a:spLocks noChangeArrowheads="1"/>
          </p:cNvSpPr>
          <p:nvPr/>
        </p:nvSpPr>
        <p:spPr bwMode="auto">
          <a:xfrm>
            <a:off x="228600" y="5562600"/>
            <a:ext cx="2057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In</a:t>
            </a:r>
            <a:r>
              <a:rPr lang="en-US" altLang="zh-CN" sz="3200" baseline="-25000" dirty="0">
                <a:ea typeface="宋体" panose="02010600030101010101" pitchFamily="2" charset="-122"/>
              </a:rPr>
              <a:t>2 </a:t>
            </a:r>
            <a:r>
              <a:rPr lang="en-US" altLang="zh-CN" sz="3200" dirty="0">
                <a:ea typeface="宋体" panose="02010600030101010101" pitchFamily="2" charset="-122"/>
              </a:rPr>
              <a:t>= 10.03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9101" name="Text Box 12"/>
          <p:cNvSpPr txBox="1">
            <a:spLocks noChangeArrowheads="1"/>
          </p:cNvSpPr>
          <p:nvPr/>
        </p:nvSpPr>
        <p:spPr bwMode="auto">
          <a:xfrm>
            <a:off x="1219200" y="3962400"/>
            <a:ext cx="1981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= 10 x 25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9102" name="Text Box 13"/>
          <p:cNvSpPr txBox="1">
            <a:spLocks noChangeArrowheads="1"/>
          </p:cNvSpPr>
          <p:nvPr/>
        </p:nvSpPr>
        <p:spPr bwMode="auto">
          <a:xfrm>
            <a:off x="4419600" y="3581400"/>
            <a:ext cx="4572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Out</a:t>
            </a:r>
            <a:r>
              <a:rPr lang="en-US" altLang="zh-CN" sz="3200">
                <a:ea typeface="宋体" panose="02010600030101010101" pitchFamily="2" charset="-122"/>
              </a:rPr>
              <a:t>= 250 x (10.03</a:t>
            </a:r>
            <a:r>
              <a:rPr lang="en-US" altLang="zh-CN" sz="3200" i="1">
                <a:ea typeface="宋体" panose="02010600030101010101" pitchFamily="2" charset="-122"/>
              </a:rPr>
              <a:t>-</a:t>
            </a:r>
            <a:r>
              <a:rPr lang="en-US" altLang="zh-CN" sz="3200">
                <a:ea typeface="宋体" panose="02010600030101010101" pitchFamily="2" charset="-122"/>
              </a:rPr>
              <a:t>10.02)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Out </a:t>
            </a:r>
            <a:r>
              <a:rPr lang="en-US" altLang="zh-CN" sz="3200">
                <a:ea typeface="宋体" panose="02010600030101010101" pitchFamily="2" charset="-122"/>
              </a:rPr>
              <a:t>= 2.5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 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no problem!!!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differential gain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 common-mode gain</a:t>
            </a:r>
            <a:endParaRPr lang="en-US" altLang="zh-CN" sz="32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011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2795588"/>
            <a:ext cx="4113212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0" y="1905000"/>
            <a:ext cx="9144000" cy="40386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0118" name="Rectangle 5"/>
          <p:cNvSpPr>
            <a:spLocks noChangeArrowheads="1"/>
          </p:cNvSpPr>
          <p:nvPr/>
        </p:nvSpPr>
        <p:spPr bwMode="auto">
          <a:xfrm>
            <a:off x="3048000" y="1981200"/>
            <a:ext cx="3124200" cy="396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0119" name="Line 6"/>
          <p:cNvSpPr>
            <a:spLocks noChangeShapeType="1"/>
          </p:cNvSpPr>
          <p:nvPr/>
        </p:nvSpPr>
        <p:spPr bwMode="auto">
          <a:xfrm>
            <a:off x="609600" y="3036888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0" name="Line 7"/>
          <p:cNvSpPr>
            <a:spLocks noChangeShapeType="1"/>
          </p:cNvSpPr>
          <p:nvPr/>
        </p:nvSpPr>
        <p:spPr bwMode="auto">
          <a:xfrm>
            <a:off x="609600" y="5322888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1" name="Freeform 8"/>
          <p:cNvSpPr/>
          <p:nvPr/>
        </p:nvSpPr>
        <p:spPr bwMode="auto">
          <a:xfrm>
            <a:off x="1752600" y="3189288"/>
            <a:ext cx="1447800" cy="914400"/>
          </a:xfrm>
          <a:custGeom>
            <a:avLst/>
            <a:gdLst>
              <a:gd name="T0" fmla="*/ 0 w 912"/>
              <a:gd name="T1" fmla="*/ 0 h 576"/>
              <a:gd name="T2" fmla="*/ 2147483646 w 912"/>
              <a:gd name="T3" fmla="*/ 0 h 576"/>
              <a:gd name="T4" fmla="*/ 2147483646 w 912"/>
              <a:gd name="T5" fmla="*/ 2147483646 h 576"/>
              <a:gd name="T6" fmla="*/ 2147483646 w 912"/>
              <a:gd name="T7" fmla="*/ 2147483646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576">
                <a:moveTo>
                  <a:pt x="0" y="0"/>
                </a:moveTo>
                <a:lnTo>
                  <a:pt x="384" y="0"/>
                </a:lnTo>
                <a:lnTo>
                  <a:pt x="384" y="576"/>
                </a:lnTo>
                <a:lnTo>
                  <a:pt x="912" y="576"/>
                </a:lnTo>
              </a:path>
            </a:pathLst>
          </a:custGeom>
          <a:noFill/>
          <a:ln w="762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2" name="Freeform 9"/>
          <p:cNvSpPr/>
          <p:nvPr/>
        </p:nvSpPr>
        <p:spPr bwMode="auto">
          <a:xfrm>
            <a:off x="1676400" y="4332288"/>
            <a:ext cx="1524000" cy="838200"/>
          </a:xfrm>
          <a:custGeom>
            <a:avLst/>
            <a:gdLst>
              <a:gd name="T0" fmla="*/ 0 w 960"/>
              <a:gd name="T1" fmla="*/ 2147483646 h 528"/>
              <a:gd name="T2" fmla="*/ 2147483646 w 960"/>
              <a:gd name="T3" fmla="*/ 2147483646 h 528"/>
              <a:gd name="T4" fmla="*/ 2147483646 w 960"/>
              <a:gd name="T5" fmla="*/ 0 h 528"/>
              <a:gd name="T6" fmla="*/ 2147483646 w 9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0" h="528">
                <a:moveTo>
                  <a:pt x="0" y="528"/>
                </a:moveTo>
                <a:lnTo>
                  <a:pt x="432" y="528"/>
                </a:lnTo>
                <a:lnTo>
                  <a:pt x="432" y="0"/>
                </a:lnTo>
                <a:lnTo>
                  <a:pt x="960" y="0"/>
                </a:lnTo>
              </a:path>
            </a:pathLst>
          </a:custGeom>
          <a:noFill/>
          <a:ln w="762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3" name="Line 10"/>
          <p:cNvSpPr>
            <a:spLocks noChangeShapeType="1"/>
          </p:cNvSpPr>
          <p:nvPr/>
        </p:nvSpPr>
        <p:spPr bwMode="auto">
          <a:xfrm rot="10800000">
            <a:off x="3352800" y="4179888"/>
            <a:ext cx="762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4" name="Text Box 11"/>
          <p:cNvSpPr txBox="1">
            <a:spLocks noChangeArrowheads="1"/>
          </p:cNvSpPr>
          <p:nvPr/>
        </p:nvSpPr>
        <p:spPr bwMode="auto">
          <a:xfrm>
            <a:off x="914400" y="3657600"/>
            <a:ext cx="11430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= 10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25" name="Text Box 12"/>
          <p:cNvSpPr txBox="1">
            <a:spLocks noChangeArrowheads="1"/>
          </p:cNvSpPr>
          <p:nvPr/>
        </p:nvSpPr>
        <p:spPr bwMode="auto">
          <a:xfrm>
            <a:off x="2819400" y="3246438"/>
            <a:ext cx="11430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= 25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26" name="Text Box 13"/>
          <p:cNvSpPr txBox="1">
            <a:spLocks noChangeArrowheads="1"/>
          </p:cNvSpPr>
          <p:nvPr/>
        </p:nvSpPr>
        <p:spPr bwMode="auto">
          <a:xfrm>
            <a:off x="228600" y="2332038"/>
            <a:ext cx="2209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In</a:t>
            </a:r>
            <a:r>
              <a:rPr lang="en-US" altLang="zh-CN" sz="3200" baseline="-25000" dirty="0">
                <a:ea typeface="宋体" panose="02010600030101010101" pitchFamily="2" charset="-122"/>
              </a:rPr>
              <a:t>1 </a:t>
            </a:r>
            <a:r>
              <a:rPr lang="en-US" altLang="zh-CN" sz="3200" dirty="0">
                <a:ea typeface="宋体" panose="02010600030101010101" pitchFamily="2" charset="-122"/>
              </a:rPr>
              <a:t>= 10.02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27" name="Text Box 14"/>
          <p:cNvSpPr txBox="1">
            <a:spLocks noChangeArrowheads="1"/>
          </p:cNvSpPr>
          <p:nvPr/>
        </p:nvSpPr>
        <p:spPr bwMode="auto">
          <a:xfrm>
            <a:off x="228600" y="5562600"/>
            <a:ext cx="2057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In</a:t>
            </a:r>
            <a:r>
              <a:rPr lang="en-US" altLang="zh-CN" sz="3200" baseline="-25000" dirty="0">
                <a:ea typeface="宋体" panose="02010600030101010101" pitchFamily="2" charset="-122"/>
              </a:rPr>
              <a:t>2 </a:t>
            </a:r>
            <a:r>
              <a:rPr lang="en-US" altLang="zh-CN" sz="3200" dirty="0">
                <a:ea typeface="宋体" panose="02010600030101010101" pitchFamily="2" charset="-122"/>
              </a:rPr>
              <a:t>= 10.03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28" name="Text Box 15"/>
          <p:cNvSpPr txBox="1">
            <a:spLocks noChangeArrowheads="1"/>
          </p:cNvSpPr>
          <p:nvPr/>
        </p:nvSpPr>
        <p:spPr bwMode="auto">
          <a:xfrm>
            <a:off x="3657600" y="2057400"/>
            <a:ext cx="5486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Out</a:t>
            </a:r>
            <a:r>
              <a:rPr lang="en-US" altLang="zh-CN" sz="3200" baseline="-25000" dirty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= 10 x 10.02 = 15</a:t>
            </a:r>
            <a:r>
              <a:rPr lang="en-US" altLang="zh-CN" sz="3200" i="1" dirty="0">
                <a:ea typeface="宋体" panose="02010600030101010101" pitchFamily="2" charset="-122"/>
              </a:rPr>
              <a:t>V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saturation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29" name="Text Box 16"/>
          <p:cNvSpPr txBox="1">
            <a:spLocks noChangeArrowheads="1"/>
          </p:cNvSpPr>
          <p:nvPr/>
        </p:nvSpPr>
        <p:spPr bwMode="auto">
          <a:xfrm>
            <a:off x="3657600" y="5638800"/>
            <a:ext cx="5486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 dirty="0">
                <a:ea typeface="宋体" panose="02010600030101010101" pitchFamily="2" charset="-122"/>
              </a:rPr>
              <a:t>v</a:t>
            </a:r>
            <a:r>
              <a:rPr lang="en-US" altLang="zh-CN" sz="3200" i="1" baseline="-25000" dirty="0">
                <a:ea typeface="宋体" panose="02010600030101010101" pitchFamily="2" charset="-122"/>
              </a:rPr>
              <a:t>Out</a:t>
            </a:r>
            <a:r>
              <a:rPr lang="en-US" altLang="zh-CN" sz="3200" baseline="-25000" dirty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= 10 x 10.03 = 15</a:t>
            </a:r>
            <a:r>
              <a:rPr lang="en-US" altLang="zh-CN" sz="3200" i="1" dirty="0">
                <a:ea typeface="宋体" panose="02010600030101010101" pitchFamily="2" charset="-122"/>
              </a:rPr>
              <a:t>V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saturation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30" name="Text Box 17"/>
          <p:cNvSpPr txBox="1">
            <a:spLocks noChangeArrowheads="1"/>
          </p:cNvSpPr>
          <p:nvPr/>
        </p:nvSpPr>
        <p:spPr bwMode="auto">
          <a:xfrm>
            <a:off x="4419600" y="3581400"/>
            <a:ext cx="4572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Out</a:t>
            </a:r>
            <a:r>
              <a:rPr lang="en-US" altLang="zh-CN" sz="3200">
                <a:ea typeface="宋体" panose="02010600030101010101" pitchFamily="2" charset="-122"/>
              </a:rPr>
              <a:t>= 25 x (15</a:t>
            </a:r>
            <a:r>
              <a:rPr lang="en-US" altLang="zh-CN" sz="3200" i="1">
                <a:ea typeface="宋体" panose="02010600030101010101" pitchFamily="2" charset="-122"/>
              </a:rPr>
              <a:t>-</a:t>
            </a:r>
            <a:r>
              <a:rPr lang="en-US" altLang="zh-CN" sz="3200">
                <a:ea typeface="宋体" panose="02010600030101010101" pitchFamily="2" charset="-122"/>
              </a:rPr>
              <a:t>15)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endParaRPr lang="en-US" altLang="zh-CN" sz="3200" i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i="1">
                <a:ea typeface="宋体" panose="02010600030101010101" pitchFamily="2" charset="-122"/>
              </a:rPr>
              <a:t>v</a:t>
            </a:r>
            <a:r>
              <a:rPr lang="en-US" altLang="zh-CN" sz="3200" i="1" baseline="-25000">
                <a:ea typeface="宋体" panose="02010600030101010101" pitchFamily="2" charset="-122"/>
              </a:rPr>
              <a:t>Out </a:t>
            </a:r>
            <a:r>
              <a:rPr lang="en-US" altLang="zh-CN" sz="3200">
                <a:ea typeface="宋体" panose="02010600030101010101" pitchFamily="2" charset="-122"/>
              </a:rPr>
              <a:t>= 0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V 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problem!!!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31" name="Line 18"/>
          <p:cNvSpPr>
            <a:spLocks noChangeShapeType="1"/>
          </p:cNvSpPr>
          <p:nvPr/>
        </p:nvSpPr>
        <p:spPr bwMode="auto">
          <a:xfrm flipH="1">
            <a:off x="2438400" y="2362200"/>
            <a:ext cx="10668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2" name="Line 19"/>
          <p:cNvSpPr>
            <a:spLocks noChangeShapeType="1"/>
          </p:cNvSpPr>
          <p:nvPr/>
        </p:nvSpPr>
        <p:spPr bwMode="auto">
          <a:xfrm flipH="1" flipV="1">
            <a:off x="2438400" y="5257800"/>
            <a:ext cx="10668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3" name="AutoShape 20"/>
          <p:cNvSpPr>
            <a:spLocks noChangeArrowheads="1"/>
          </p:cNvSpPr>
          <p:nvPr/>
        </p:nvSpPr>
        <p:spPr bwMode="auto">
          <a:xfrm rot="5400000">
            <a:off x="1181100" y="2922588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34" name="AutoShape 21"/>
          <p:cNvSpPr>
            <a:spLocks noChangeArrowheads="1"/>
          </p:cNvSpPr>
          <p:nvPr/>
        </p:nvSpPr>
        <p:spPr bwMode="auto">
          <a:xfrm rot="5400000">
            <a:off x="1181100" y="4903788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0135" name="AutoShape 22"/>
          <p:cNvSpPr>
            <a:spLocks noChangeArrowheads="1"/>
          </p:cNvSpPr>
          <p:nvPr/>
        </p:nvSpPr>
        <p:spPr bwMode="auto">
          <a:xfrm rot="5400000">
            <a:off x="3086100" y="3913188"/>
            <a:ext cx="609600" cy="533400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762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0136" name="文本框 1"/>
          <p:cNvSpPr txBox="1">
            <a:spLocks noChangeArrowheads="1"/>
          </p:cNvSpPr>
          <p:nvPr/>
        </p:nvSpPr>
        <p:spPr bwMode="auto">
          <a:xfrm>
            <a:off x="5105400" y="477838"/>
            <a:ext cx="365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供电电源 </a:t>
            </a:r>
            <a:r>
              <a:rPr lang="en-US" altLang="zh-CN" sz="2000">
                <a:ea typeface="宋体" panose="02010600030101010101" pitchFamily="2" charset="-122"/>
              </a:rPr>
              <a:t>±15 V</a:t>
            </a:r>
            <a:r>
              <a:rPr lang="zh-CN" altLang="en-US" sz="2000">
                <a:ea typeface="宋体" panose="02010600030101010101" pitchFamily="2" charset="-122"/>
              </a:rPr>
              <a:t>，限制了电路中最大允许的电压范围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2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auto">
          <a:xfrm>
            <a:off x="0" y="6172200"/>
            <a:ext cx="43434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911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9100" y="1905000"/>
            <a:ext cx="8305800" cy="487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08000"/>
                </a:solidFill>
                <a:ea typeface="宋体" panose="02010600030101010101" pitchFamily="2" charset="-122"/>
              </a:rPr>
              <a:t>advantages</a:t>
            </a:r>
            <a:r>
              <a:rPr lang="en-US" altLang="zh-CN" dirty="0">
                <a:ea typeface="宋体" panose="02010600030101010101" pitchFamily="2" charset="-122"/>
              </a:rPr>
              <a:t> of </a:t>
            </a:r>
            <a:r>
              <a:rPr lang="en-US" altLang="zh-CN" dirty="0" err="1">
                <a:ea typeface="宋体" panose="02010600030101010101" pitchFamily="2" charset="-122"/>
              </a:rPr>
              <a:t>instru</a:t>
            </a:r>
            <a:r>
              <a:rPr lang="en-US" altLang="zh-CN" dirty="0">
                <a:ea typeface="宋体" panose="02010600030101010101" pitchFamily="2" charset="-122"/>
              </a:rPr>
              <a:t>. amp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432FF"/>
                </a:solidFill>
                <a:ea typeface="宋体" panose="02010600030101010101" pitchFamily="2" charset="-122"/>
              </a:rPr>
              <a:t>very high input resistance</a:t>
            </a:r>
            <a:endParaRPr lang="en-US" altLang="zh-CN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high differential gain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symmetric gain </a:t>
            </a:r>
            <a:r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(assuming that </a:t>
            </a:r>
            <a:r>
              <a:rPr lang="en-US" altLang="zh-CN" i="1" dirty="0">
                <a:solidFill>
                  <a:schemeClr val="bg2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 and </a:t>
            </a:r>
            <a:r>
              <a:rPr lang="en-US" altLang="zh-CN" i="1" dirty="0">
                <a:solidFill>
                  <a:schemeClr val="bg2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 are matched)</a:t>
            </a:r>
            <a:endParaRPr lang="en-US" altLang="zh-CN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disadvantages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of instrumentation amp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Di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Cm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are equal in first stage</a:t>
            </a:r>
            <a:r>
              <a:rPr lang="en-US" altLang="zh-CN" dirty="0">
                <a:ea typeface="宋体" panose="02010600030101010101" pitchFamily="2" charset="-122"/>
              </a:rPr>
              <a:t> – meaning that the common-mode and differential inputs are amplified with</a:t>
            </a: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equal gain…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need for matching</a:t>
            </a:r>
            <a:r>
              <a:rPr lang="en-US" altLang="zh-CN" dirty="0">
                <a:ea typeface="宋体" panose="02010600030101010101" pitchFamily="2" charset="-122"/>
              </a:rPr>
              <a:t> – if two op amps which comprise stage #1 are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not perfectly matched</a:t>
            </a:r>
            <a:r>
              <a:rPr lang="en-US" altLang="zh-CN" dirty="0">
                <a:ea typeface="宋体" panose="02010600030101010101" pitchFamily="2" charset="-122"/>
              </a:rPr>
              <a:t>, one will see unintended effects </a:t>
            </a:r>
            <a:r>
              <a:rPr lang="zh-CN" altLang="en-US" dirty="0">
                <a:ea typeface="宋体" panose="02010600030101010101" pitchFamily="2" charset="-122"/>
              </a:rPr>
              <a:t>如果第一级不完美匹配，那么将会对第二级的输入引入额外的差分信号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114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0"/>
            <a:ext cx="4572001" cy="316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How can one fix this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(alleviate these disadvantages)</a:t>
            </a:r>
            <a:r>
              <a:rPr lang="en-US" altLang="zh-CN" sz="2800">
                <a:ea typeface="宋体" panose="02010600030101010101" pitchFamily="2" charset="-122"/>
              </a:rPr>
              <a:t>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Disconnect the two resistors (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) connected to node </a:t>
            </a:r>
            <a:r>
              <a:rPr lang="en-US" altLang="zh-CN" sz="2800" i="1">
                <a:ea typeface="宋体" panose="02010600030101010101" pitchFamily="2" charset="-122"/>
              </a:rPr>
              <a:t>X</a:t>
            </a:r>
            <a:r>
              <a:rPr lang="en-US" altLang="zh-CN" sz="2800">
                <a:ea typeface="宋体" panose="02010600030101010101" pitchFamily="2" charset="-122"/>
              </a:rPr>
              <a:t> from ground, making the configuration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“floating” </a:t>
            </a:r>
            <a:r>
              <a:rPr lang="en-US" altLang="zh-CN" sz="2800">
                <a:ea typeface="宋体" panose="02010600030101010101" pitchFamily="2" charset="-122"/>
              </a:rPr>
              <a:t>in nature…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>
                <a:ea typeface="宋体" panose="02010600030101010101" pitchFamily="2" charset="-122"/>
              </a:rPr>
              <a:t>Refer to following slide…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2.4.2.</a:t>
            </a:r>
            <a:r>
              <a:rPr lang="en-US" altLang="zh-CN">
                <a:ea typeface="宋体" panose="02010600030101010101" pitchFamily="2" charset="-122"/>
              </a:rPr>
              <a:t> The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Instrumentation Amplifier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99066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57400"/>
            <a:ext cx="6400800" cy="456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906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2828925"/>
            <a:ext cx="646588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Oval 7"/>
          <p:cNvSpPr>
            <a:spLocks noChangeArrowheads="1"/>
          </p:cNvSpPr>
          <p:nvPr/>
        </p:nvSpPr>
        <p:spPr bwMode="auto">
          <a:xfrm>
            <a:off x="1676400" y="3200400"/>
            <a:ext cx="1752600" cy="22098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3192" name="Text Box 2"/>
          <p:cNvSpPr txBox="1">
            <a:spLocks noChangeArrowheads="1"/>
          </p:cNvSpPr>
          <p:nvPr/>
        </p:nvSpPr>
        <p:spPr bwMode="auto">
          <a:xfrm>
            <a:off x="228600" y="152400"/>
            <a:ext cx="8686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2.20:</a:t>
            </a:r>
            <a:r>
              <a:rPr lang="en-US" altLang="zh-CN">
                <a:ea typeface="宋体" panose="02010600030101010101" pitchFamily="2" charset="-122"/>
              </a:rPr>
              <a:t> A popular circuit for an instrumentation amplifier. </a:t>
            </a:r>
            <a:r>
              <a:rPr lang="en-US" altLang="zh-CN" b="1">
                <a:ea typeface="宋体" panose="02010600030101010101" pitchFamily="2" charset="-122"/>
              </a:rPr>
              <a:t>(b)</a:t>
            </a:r>
            <a:r>
              <a:rPr lang="en-US" altLang="zh-CN">
                <a:ea typeface="宋体" panose="02010600030101010101" pitchFamily="2" charset="-122"/>
              </a:rPr>
              <a:t> The circuit in </a:t>
            </a:r>
            <a:r>
              <a:rPr lang="en-US" altLang="zh-CN" b="1">
                <a:ea typeface="宋体" panose="02010600030101010101" pitchFamily="2" charset="-122"/>
              </a:rPr>
              <a:t>(a)</a:t>
            </a:r>
            <a:r>
              <a:rPr lang="en-US" altLang="zh-CN">
                <a:ea typeface="宋体" panose="02010600030101010101" pitchFamily="2" charset="-122"/>
              </a:rPr>
              <a:t> with the connection between node X and ground removed and the two resistors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aseline="-20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aseline="-20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lumped together. This simple wiring change dramatically improves performance.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3193" name="文本框 1"/>
          <p:cNvSpPr txBox="1">
            <a:spLocks noChangeArrowheads="1"/>
          </p:cNvSpPr>
          <p:nvPr/>
        </p:nvSpPr>
        <p:spPr bwMode="auto">
          <a:xfrm>
            <a:off x="5791200" y="1901825"/>
            <a:ext cx="3048000" cy="10156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仅仅是简单地将</a:t>
            </a:r>
            <a:r>
              <a:rPr lang="en-US" altLang="zh-CN" sz="2000" dirty="0"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ea typeface="宋体" panose="02010600030101010101" pitchFamily="2" charset="-122"/>
              </a:rPr>
              <a:t>点的接地去掉，就能解决上述问题！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巧妙的工程实现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】</a:t>
            </a:r>
            <a:endParaRPr lang="zh-CN" altLang="en-US" sz="2000" b="1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90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9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9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2.4.2.</a:t>
            </a:r>
            <a:r>
              <a:rPr lang="en-US" altLang="zh-CN" sz="3200">
                <a:ea typeface="宋体" panose="02010600030101010101" pitchFamily="2" charset="-122"/>
              </a:rPr>
              <a:t> The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Instrumentation Amplifier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How can one analyze this circuit?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pic>
        <p:nvPicPr>
          <p:cNvPr id="9523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2828925"/>
            <a:ext cx="646588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390525"/>
            <a:ext cx="8839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文本框 6"/>
          <p:cNvSpPr txBox="1">
            <a:spLocks noChangeArrowheads="1"/>
          </p:cNvSpPr>
          <p:nvPr/>
        </p:nvSpPr>
        <p:spPr bwMode="auto">
          <a:xfrm>
            <a:off x="609600" y="16764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①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4" name="文本框 7"/>
          <p:cNvSpPr txBox="1">
            <a:spLocks noChangeArrowheads="1"/>
          </p:cNvSpPr>
          <p:nvPr/>
        </p:nvSpPr>
        <p:spPr bwMode="auto">
          <a:xfrm>
            <a:off x="609600" y="3141663"/>
            <a:ext cx="457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①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5" name="文本框 8"/>
          <p:cNvSpPr txBox="1">
            <a:spLocks noChangeArrowheads="1"/>
          </p:cNvSpPr>
          <p:nvPr/>
        </p:nvSpPr>
        <p:spPr bwMode="auto">
          <a:xfrm>
            <a:off x="0" y="2420938"/>
            <a:ext cx="457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②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6" name="文本框 9"/>
          <p:cNvSpPr txBox="1">
            <a:spLocks noChangeArrowheads="1"/>
          </p:cNvSpPr>
          <p:nvPr/>
        </p:nvSpPr>
        <p:spPr bwMode="auto">
          <a:xfrm>
            <a:off x="2057400" y="2514600"/>
            <a:ext cx="469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③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7" name="文本框 10"/>
          <p:cNvSpPr txBox="1">
            <a:spLocks noChangeArrowheads="1"/>
          </p:cNvSpPr>
          <p:nvPr/>
        </p:nvSpPr>
        <p:spPr bwMode="auto">
          <a:xfrm>
            <a:off x="2895600" y="3119438"/>
            <a:ext cx="457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④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8" name="文本框 11"/>
          <p:cNvSpPr txBox="1">
            <a:spLocks noChangeArrowheads="1"/>
          </p:cNvSpPr>
          <p:nvPr/>
        </p:nvSpPr>
        <p:spPr bwMode="auto">
          <a:xfrm>
            <a:off x="2895600" y="1846263"/>
            <a:ext cx="457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④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89" name="文本框 12"/>
          <p:cNvSpPr txBox="1">
            <a:spLocks noChangeArrowheads="1"/>
          </p:cNvSpPr>
          <p:nvPr/>
        </p:nvSpPr>
        <p:spPr bwMode="auto">
          <a:xfrm>
            <a:off x="3810000" y="1870075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⑤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90" name="文本框 13"/>
          <p:cNvSpPr txBox="1">
            <a:spLocks noChangeArrowheads="1"/>
          </p:cNvSpPr>
          <p:nvPr/>
        </p:nvSpPr>
        <p:spPr bwMode="auto">
          <a:xfrm>
            <a:off x="7696200" y="35814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⑥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291" name="文本框 14"/>
          <p:cNvSpPr txBox="1">
            <a:spLocks noChangeArrowheads="1"/>
          </p:cNvSpPr>
          <p:nvPr/>
        </p:nvSpPr>
        <p:spPr bwMode="auto">
          <a:xfrm>
            <a:off x="466725" y="5143500"/>
            <a:ext cx="84216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共模信号输入呢？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流经</a:t>
            </a:r>
            <a:r>
              <a:rPr lang="en-US" altLang="zh-CN" sz="2000">
                <a:ea typeface="宋体" panose="02010600030101010101" pitchFamily="2" charset="-122"/>
              </a:rPr>
              <a:t>2R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zh-CN" altLang="en-US" sz="2000">
                <a:ea typeface="宋体" panose="02010600030101010101" pitchFamily="2" charset="-122"/>
              </a:rPr>
              <a:t>的电流为零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流经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en-US" altLang="zh-CN" sz="2000" baseline="-2500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的电流也为零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 A</a:t>
            </a:r>
            <a:r>
              <a:rPr lang="en-US" altLang="zh-CN" sz="2000" baseline="-2500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的输出电压即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sz="2000" baseline="-25000">
                <a:ea typeface="宋体" panose="02010600030101010101" pitchFamily="2" charset="-122"/>
                <a:sym typeface="Wingdings" panose="05000000000000000000" pitchFamily="2" charset="2"/>
              </a:rPr>
              <a:t>I1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sz="2000" baseline="-25000">
                <a:ea typeface="宋体" panose="02010600030101010101" pitchFamily="2" charset="-122"/>
                <a:sym typeface="Wingdings" panose="05000000000000000000" pitchFamily="2" charset="2"/>
              </a:rPr>
              <a:t>I2</a:t>
            </a:r>
            <a:endParaRPr lang="en-US" altLang="zh-CN" sz="2000" baseline="-2500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000">
                <a:ea typeface="宋体" panose="02010600030101010101" pitchFamily="2" charset="-122"/>
                <a:sym typeface="Wingdings" panose="05000000000000000000" pitchFamily="2" charset="2"/>
              </a:rPr>
              <a:t>第一级没有对共模信号进行放大！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97292" name="矩形 15"/>
          <p:cNvSpPr>
            <a:spLocks noChangeArrowheads="1"/>
          </p:cNvSpPr>
          <p:nvPr/>
        </p:nvSpPr>
        <p:spPr bwMode="auto">
          <a:xfrm>
            <a:off x="6934200" y="3048000"/>
            <a:ext cx="1954213" cy="533400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528092" y="1221135"/>
                <a:ext cx="1258550" cy="462434"/>
              </a:xfrm>
              <a:prstGeom prst="rect">
                <a:avLst/>
              </a:prstGeom>
              <a:noFill/>
              <a:ln>
                <a:solidFill>
                  <a:srgbClr val="0432FF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𝐼𝑑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092" y="1221135"/>
                <a:ext cx="1258550" cy="462434"/>
              </a:xfrm>
              <a:prstGeom prst="rect">
                <a:avLst/>
              </a:prstGeom>
              <a:blipFill rotWithShape="1">
                <a:blip r:embed="rId2"/>
                <a:stretch>
                  <a:fillRect l="-406" t="-1105" r="-1311" b="-921"/>
                </a:stretch>
              </a:blipFill>
              <a:ln>
                <a:solidFill>
                  <a:srgbClr val="0432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528091" y="3479800"/>
                <a:ext cx="1258550" cy="462434"/>
              </a:xfrm>
              <a:prstGeom prst="rect">
                <a:avLst/>
              </a:prstGeom>
              <a:noFill/>
              <a:ln>
                <a:solidFill>
                  <a:srgbClr val="0432FF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𝐼𝑑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091" y="3479800"/>
                <a:ext cx="1258550" cy="462434"/>
              </a:xfrm>
              <a:prstGeom prst="rect">
                <a:avLst/>
              </a:prstGeom>
              <a:blipFill rotWithShape="1">
                <a:blip r:embed="rId3"/>
                <a:stretch>
                  <a:fillRect l="-406" t="-1099" r="-1311" b="-928"/>
                </a:stretch>
              </a:blipFill>
              <a:ln>
                <a:solidFill>
                  <a:srgbClr val="0432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 bwMode="auto">
          <a:xfrm flipH="1">
            <a:off x="3581019" y="1676400"/>
            <a:ext cx="228981" cy="53181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3581020" y="3007284"/>
            <a:ext cx="266889" cy="45029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09437"/>
            <a:ext cx="1113631" cy="631771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6" name="直线箭头连接符 5"/>
          <p:cNvCxnSpPr/>
          <p:nvPr/>
        </p:nvCxnSpPr>
        <p:spPr bwMode="auto">
          <a:xfrm flipV="1">
            <a:off x="4648200" y="838200"/>
            <a:ext cx="457200" cy="304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文本框 6"/>
          <p:cNvSpPr txBox="1"/>
          <p:nvPr/>
        </p:nvSpPr>
        <p:spPr>
          <a:xfrm>
            <a:off x="4953000" y="90143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对比原先电压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712" y="4397138"/>
            <a:ext cx="1106883" cy="62121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22" name="直线箭头连接符 21"/>
          <p:cNvCxnSpPr/>
          <p:nvPr/>
        </p:nvCxnSpPr>
        <p:spPr bwMode="auto">
          <a:xfrm>
            <a:off x="4572000" y="4020599"/>
            <a:ext cx="457200" cy="304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文本框 22"/>
          <p:cNvSpPr txBox="1"/>
          <p:nvPr/>
        </p:nvSpPr>
        <p:spPr>
          <a:xfrm>
            <a:off x="5026989" y="405386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对比原先电压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252" y="152400"/>
            <a:ext cx="9144000" cy="28652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276600"/>
            <a:ext cx="6553200" cy="3296952"/>
          </a:xfrm>
          <a:prstGeom prst="rect">
            <a:avLst/>
          </a:prstGeom>
        </p:spPr>
      </p:pic>
      <p:cxnSp>
        <p:nvCxnSpPr>
          <p:cNvPr id="9" name="直线连接符 8"/>
          <p:cNvCxnSpPr/>
          <p:nvPr/>
        </p:nvCxnSpPr>
        <p:spPr bwMode="auto">
          <a:xfrm>
            <a:off x="2362200" y="2438400"/>
            <a:ext cx="3505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线连接符 9"/>
          <p:cNvCxnSpPr/>
          <p:nvPr/>
        </p:nvCxnSpPr>
        <p:spPr bwMode="auto">
          <a:xfrm>
            <a:off x="6858000" y="2438400"/>
            <a:ext cx="227274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线连接符 11"/>
          <p:cNvCxnSpPr/>
          <p:nvPr/>
        </p:nvCxnSpPr>
        <p:spPr bwMode="auto">
          <a:xfrm>
            <a:off x="6712226" y="2743200"/>
            <a:ext cx="241852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线连接符 13"/>
          <p:cNvCxnSpPr/>
          <p:nvPr/>
        </p:nvCxnSpPr>
        <p:spPr bwMode="auto">
          <a:xfrm>
            <a:off x="2514600" y="2971800"/>
            <a:ext cx="37338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/>
          <p:cNvSpPr txBox="1"/>
          <p:nvPr/>
        </p:nvSpPr>
        <p:spPr>
          <a:xfrm>
            <a:off x="2375452" y="1899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FF0000"/>
                </a:solidFill>
              </a:rPr>
              <a:t>第一级实现增益</a:t>
            </a:r>
            <a:endParaRPr kumimoji="1"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29693" y="185699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第一级实现共模抑制</a:t>
            </a:r>
            <a:endParaRPr kumimoji="1" lang="zh-CN" altLang="en-US" sz="1800" dirty="0">
              <a:solidFill>
                <a:srgbClr val="0432FF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11287" y="3002339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0B050"/>
                </a:solidFill>
              </a:rPr>
              <a:t>把第二级增益设定为</a:t>
            </a:r>
            <a:r>
              <a:rPr kumimoji="1" lang="en-US" altLang="zh-CN" sz="1800" dirty="0">
                <a:solidFill>
                  <a:srgbClr val="00B050"/>
                </a:solidFill>
              </a:rPr>
              <a:t>1</a:t>
            </a:r>
            <a:endParaRPr kumimoji="1" lang="zh-CN" altLang="en-US" sz="1800" dirty="0">
              <a:solidFill>
                <a:srgbClr val="00B050"/>
              </a:solidFill>
            </a:endParaRPr>
          </a:p>
        </p:txBody>
      </p:sp>
      <p:sp>
        <p:nvSpPr>
          <p:cNvPr id="1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686800" cy="4857352"/>
          </a:xfrm>
          <a:prstGeom prst="rect">
            <a:avLst/>
          </a:prstGeom>
        </p:spPr>
      </p:pic>
      <p:pic>
        <p:nvPicPr>
          <p:cNvPr id="10240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2286000"/>
            <a:ext cx="20955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3829"/>
            <a:ext cx="8686800" cy="1945110"/>
          </a:xfrm>
          <a:prstGeom prst="rect">
            <a:avLst/>
          </a:prstGeom>
        </p:spPr>
      </p:pic>
      <p:cxnSp>
        <p:nvCxnSpPr>
          <p:cNvPr id="12" name="直线连接符 11"/>
          <p:cNvCxnSpPr/>
          <p:nvPr/>
        </p:nvCxnSpPr>
        <p:spPr bwMode="auto">
          <a:xfrm>
            <a:off x="6552441" y="228600"/>
            <a:ext cx="53415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5992048" y="864573"/>
            <a:ext cx="1766830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0432FF"/>
                </a:solidFill>
              </a:rPr>
              <a:t>10</a:t>
            </a:r>
            <a:r>
              <a:rPr kumimoji="1" lang="zh-CN" altLang="en-US" b="1" dirty="0">
                <a:solidFill>
                  <a:srgbClr val="0432FF"/>
                </a:solidFill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</a:rPr>
              <a:t>k</a:t>
            </a:r>
            <a:r>
              <a:rPr kumimoji="1" lang="en-US" altLang="zh-CN" b="1" dirty="0">
                <a:solidFill>
                  <a:srgbClr val="0432FF"/>
                </a:solidFill>
                <a:latin typeface="Symbol" panose="05050102010706020507" pitchFamily="2" charset="2"/>
              </a:rPr>
              <a:t>W</a:t>
            </a:r>
            <a:r>
              <a:rPr kumimoji="1" lang="zh-CN" altLang="en-US" b="1" dirty="0">
                <a:solidFill>
                  <a:srgbClr val="0432FF"/>
                </a:solidFill>
                <a:latin typeface="Symbol" panose="05050102010706020507" pitchFamily="2" charset="2"/>
              </a:rPr>
              <a:t> </a:t>
            </a:r>
            <a:r>
              <a:rPr kumimoji="1" lang="zh-CN" altLang="en-US" b="1" dirty="0">
                <a:solidFill>
                  <a:srgbClr val="0432FF"/>
                </a:solidFill>
              </a:rPr>
              <a:t>是常用电阻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</a:t>
            </a:r>
            <a:r>
              <a:rPr lang="en-US" altLang="zh-CN" sz="3200">
                <a:ea typeface="宋体" panose="02010600030101010101" pitchFamily="2" charset="-122"/>
              </a:rPr>
              <a:t> Integrators and Differentiators </a:t>
            </a:r>
            <a:r>
              <a:rPr lang="zh-CN" altLang="en-US" sz="3200">
                <a:ea typeface="宋体" panose="02010600030101010101" pitchFamily="2" charset="-122"/>
              </a:rPr>
              <a:t>积分电路 </a:t>
            </a:r>
            <a:r>
              <a:rPr lang="en-US" altLang="zh-CN" sz="3200">
                <a:ea typeface="宋体" panose="02010600030101010101" pitchFamily="2" charset="-122"/>
              </a:rPr>
              <a:t>&amp; </a:t>
            </a:r>
            <a:r>
              <a:rPr lang="zh-CN" altLang="en-US" sz="3200">
                <a:ea typeface="宋体" panose="02010600030101010101" pitchFamily="2" charset="-122"/>
              </a:rPr>
              <a:t>微分电路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integrator / differentiator amplifier </a:t>
            </a:r>
            <a:r>
              <a:rPr lang="en-US" altLang="zh-CN" sz="2800">
                <a:ea typeface="宋体" panose="02010600030101010101" pitchFamily="2" charset="-122"/>
              </a:rPr>
              <a:t>– is one which outputs an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integral or derivative</a:t>
            </a:r>
            <a:r>
              <a:rPr lang="en-US" altLang="zh-CN" sz="2800">
                <a:ea typeface="宋体" panose="02010600030101010101" pitchFamily="2" charset="-122"/>
              </a:rPr>
              <a:t> of the input signal.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125" name="文本框 1"/>
          <p:cNvSpPr txBox="1">
            <a:spLocks noChangeArrowheads="1"/>
          </p:cNvSpPr>
          <p:nvPr/>
        </p:nvSpPr>
        <p:spPr bwMode="auto">
          <a:xfrm>
            <a:off x="128588" y="3581400"/>
            <a:ext cx="8863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用模拟电路来实现积分、微分、加减法运算，这就是“运算”放大器名称的由来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5126" name="矩形 2"/>
          <p:cNvSpPr>
            <a:spLocks noChangeArrowheads="1"/>
          </p:cNvSpPr>
          <p:nvPr/>
        </p:nvSpPr>
        <p:spPr bwMode="auto">
          <a:xfrm>
            <a:off x="381000" y="4414838"/>
            <a:ext cx="8458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In earlier days we use Analog computers using adders, integrators and multipliers.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Now Simulink (in MatLab) simulates an Analog computer using a digital computer.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147" name="Rectangle 7"/>
          <p:cNvSpPr>
            <a:spLocks noChangeArrowheads="1"/>
          </p:cNvSpPr>
          <p:nvPr/>
        </p:nvSpPr>
        <p:spPr bwMode="auto">
          <a:xfrm>
            <a:off x="0" y="1981200"/>
            <a:ext cx="457200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 b="0">
                <a:ea typeface="宋体" panose="02010600030101010101" pitchFamily="2" charset="-122"/>
              </a:rPr>
              <a:t>2.5.1.</a:t>
            </a:r>
            <a:r>
              <a:rPr lang="en-US" altLang="zh-CN" sz="2400">
                <a:ea typeface="宋体" panose="02010600030101010101" pitchFamily="2" charset="-122"/>
              </a:rPr>
              <a:t> The Inverting Configuration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with General Impedances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05000"/>
            <a:ext cx="8763000" cy="4191000"/>
          </a:xfrm>
          <a:noFill/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Does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transfer function</a:t>
            </a:r>
            <a:r>
              <a:rPr lang="en-US" altLang="zh-CN" sz="2800" dirty="0">
                <a:ea typeface="宋体" panose="02010600030101010101" pitchFamily="2" charset="-122"/>
              </a:rPr>
              <a:t> for the inverting op amp change if the feedback and input impedances are not purely resistive? </a:t>
            </a:r>
            <a:r>
              <a:rPr lang="zh-CN" altLang="en-US" sz="2800" dirty="0">
                <a:ea typeface="宋体" panose="02010600030101010101" pitchFamily="2" charset="-122"/>
              </a:rPr>
              <a:t>在反相接法中，若将电阻换成更普遍的阻抗，会如何？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zh-CN" altLang="en-US" sz="2800" dirty="0">
                <a:ea typeface="宋体" panose="02010600030101010101" pitchFamily="2" charset="-122"/>
              </a:rPr>
              <a:t>增益形式不变，只需将</a:t>
            </a:r>
            <a:r>
              <a:rPr lang="en-US" altLang="zh-CN" sz="2800" dirty="0"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ea typeface="宋体" panose="02010600030101010101" pitchFamily="2" charset="-122"/>
              </a:rPr>
              <a:t>替换成</a:t>
            </a:r>
            <a:r>
              <a:rPr lang="en-US" altLang="zh-CN" sz="2800" dirty="0">
                <a:ea typeface="宋体" panose="02010600030101010101" pitchFamily="2" charset="-122"/>
              </a:rPr>
              <a:t>Z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4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6151" name="Picture 4" descr="se02F2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25" y="4191000"/>
            <a:ext cx="5946775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Oval 6"/>
          <p:cNvSpPr>
            <a:spLocks noChangeArrowheads="1"/>
          </p:cNvSpPr>
          <p:nvPr/>
        </p:nvSpPr>
        <p:spPr bwMode="auto">
          <a:xfrm>
            <a:off x="6096000" y="4724400"/>
            <a:ext cx="1676400" cy="15240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900237" cy="1295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一阶电路特性回顾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28600" y="6172200"/>
            <a:ext cx="4343400" cy="476250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2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7617"/>
            <a:ext cx="9144000" cy="5366630"/>
          </a:xfrm>
          <a:prstGeom prst="rect">
            <a:avLst/>
          </a:prstGeom>
        </p:spPr>
      </p:pic>
      <p:sp>
        <p:nvSpPr>
          <p:cNvPr id="29" name="文本框 1"/>
          <p:cNvSpPr txBox="1">
            <a:spLocks noChangeArrowheads="1"/>
          </p:cNvSpPr>
          <p:nvPr/>
        </p:nvSpPr>
        <p:spPr bwMode="auto">
          <a:xfrm>
            <a:off x="8148637" y="1782417"/>
            <a:ext cx="833437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ea typeface="宋体" panose="02010600030101010101" pitchFamily="2" charset="-122"/>
              </a:rPr>
              <a:t> =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ea typeface="宋体" panose="02010600030101010101" pitchFamily="2" charset="-122"/>
              </a:rPr>
              <a:t>j</a:t>
            </a:r>
            <a:r>
              <a:rPr lang="en-US" altLang="zh-CN" sz="2000" dirty="0" err="1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endParaRPr lang="zh-CN" altLang="en-US" sz="2000" dirty="0">
              <a:latin typeface="Symbol" panose="05050102010706020507" pitchFamily="2" charset="2"/>
              <a:ea typeface="宋体" panose="02010600030101010101" pitchFamily="2" charset="-122"/>
            </a:endParaRPr>
          </a:p>
        </p:txBody>
      </p:sp>
      <p:pic>
        <p:nvPicPr>
          <p:cNvPr id="30" name="Picture 4" descr="se01F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-6504"/>
            <a:ext cx="4414837" cy="1759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730500"/>
            <a:ext cx="795277" cy="12319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97" y="2795377"/>
            <a:ext cx="795277" cy="864767"/>
          </a:xfrm>
          <a:prstGeom prst="rect">
            <a:avLst/>
          </a:prstGeom>
        </p:spPr>
      </p:pic>
      <p:cxnSp>
        <p:nvCxnSpPr>
          <p:cNvPr id="33" name="直线箭头连接符 32"/>
          <p:cNvCxnSpPr/>
          <p:nvPr/>
        </p:nvCxnSpPr>
        <p:spPr bwMode="auto">
          <a:xfrm flipH="1">
            <a:off x="4724400" y="3346450"/>
            <a:ext cx="533400" cy="3136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线箭头连接符 33"/>
          <p:cNvCxnSpPr/>
          <p:nvPr/>
        </p:nvCxnSpPr>
        <p:spPr bwMode="auto">
          <a:xfrm flipH="1">
            <a:off x="7543800" y="3184250"/>
            <a:ext cx="604838" cy="3971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线连接符 34"/>
          <p:cNvCxnSpPr/>
          <p:nvPr/>
        </p:nvCxnSpPr>
        <p:spPr bwMode="auto">
          <a:xfrm>
            <a:off x="4191000" y="3962400"/>
            <a:ext cx="38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线连接符 35"/>
          <p:cNvCxnSpPr/>
          <p:nvPr/>
        </p:nvCxnSpPr>
        <p:spPr bwMode="auto">
          <a:xfrm>
            <a:off x="7010400" y="3962400"/>
            <a:ext cx="38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8" name="矩形 37"/>
          <p:cNvSpPr/>
          <p:nvPr/>
        </p:nvSpPr>
        <p:spPr bwMode="auto">
          <a:xfrm>
            <a:off x="3657600" y="2730500"/>
            <a:ext cx="914400" cy="61595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286060" y="2746087"/>
            <a:ext cx="1104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传递函数标准形式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392617" y="2352981"/>
            <a:ext cx="1104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低通</a:t>
            </a:r>
            <a:r>
              <a:rPr kumimoji="1" lang="en-US" altLang="zh-CN" b="1" dirty="0">
                <a:solidFill>
                  <a:srgbClr val="00B050"/>
                </a:solidFill>
              </a:rPr>
              <a:t>STC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160664" y="2352981"/>
            <a:ext cx="1104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高通</a:t>
            </a:r>
            <a:r>
              <a:rPr kumimoji="1" lang="en-US" altLang="zh-CN" b="1" dirty="0">
                <a:solidFill>
                  <a:srgbClr val="00B050"/>
                </a:solidFill>
              </a:rPr>
              <a:t>STC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6351104" y="2736850"/>
            <a:ext cx="914400" cy="61595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2.4: </a:t>
            </a:r>
            <a:r>
              <a:rPr lang="en-US" altLang="zh-CN" sz="3200" b="0">
                <a:ea typeface="宋体" panose="02010600030101010101" pitchFamily="2" charset="-122"/>
              </a:rPr>
              <a:t>Other Op-Amp Configurations </a:t>
            </a:r>
            <a:r>
              <a:rPr lang="zh-CN" altLang="en-US" sz="3200" b="0">
                <a:ea typeface="宋体" panose="02010600030101010101" pitchFamily="2" charset="-122"/>
              </a:rPr>
              <a:t>例题</a:t>
            </a:r>
            <a:r>
              <a:rPr lang="en-US" altLang="zh-CN" sz="3200">
                <a:ea typeface="宋体" panose="02010600030101010101" pitchFamily="2" charset="-122"/>
              </a:rPr>
              <a:t> 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2743200"/>
            <a:ext cx="8763000" cy="4038600"/>
          </a:xfrm>
        </p:spPr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考虑右边的电路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Q(a): </a:t>
            </a:r>
            <a:r>
              <a:rPr lang="en-US" altLang="zh-CN" sz="2800">
                <a:ea typeface="宋体" panose="02010600030101010101" pitchFamily="2" charset="-122"/>
              </a:rPr>
              <a:t>Derive an expression for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transfer function 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/ 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FF000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2800">
                <a:ea typeface="宋体" panose="02010600030101010101" pitchFamily="2" charset="-122"/>
              </a:rPr>
              <a:t>求传输函数的表达式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Q(b): </a:t>
            </a:r>
            <a:r>
              <a:rPr lang="en-US" altLang="zh-CN" sz="2800">
                <a:ea typeface="宋体" panose="02010600030101010101" pitchFamily="2" charset="-122"/>
              </a:rPr>
              <a:t>Show that the transfer function is of 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low-pass STC </a:t>
            </a:r>
            <a:r>
              <a:rPr lang="en-US" altLang="zh-CN" sz="2800">
                <a:ea typeface="宋体" panose="02010600030101010101" pitchFamily="2" charset="-122"/>
              </a:rPr>
              <a:t>circuit. </a:t>
            </a:r>
            <a:r>
              <a:rPr lang="zh-CN" altLang="en-US" sz="2800">
                <a:ea typeface="宋体" panose="02010600030101010101" pitchFamily="2" charset="-122"/>
              </a:rPr>
              <a:t>验证传输函数是低通</a:t>
            </a:r>
            <a:r>
              <a:rPr lang="en-US" altLang="zh-CN" sz="2800">
                <a:ea typeface="宋体" panose="02010600030101010101" pitchFamily="2" charset="-122"/>
              </a:rPr>
              <a:t>STC</a:t>
            </a:r>
            <a:r>
              <a:rPr lang="zh-CN" altLang="en-US" sz="2800">
                <a:ea typeface="宋体" panose="02010600030101010101" pitchFamily="2" charset="-122"/>
              </a:rPr>
              <a:t>电路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Q(c): </a:t>
            </a:r>
            <a:r>
              <a:rPr lang="en-US" altLang="zh-CN" sz="2800">
                <a:ea typeface="宋体" panose="02010600030101010101" pitchFamily="2" charset="-122"/>
              </a:rPr>
              <a:t>By expressing the transfer function in standard form of Table 1.2, find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dc-gain and 3dB frequency.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   </a:t>
            </a:r>
            <a:r>
              <a:rPr lang="zh-CN" altLang="en-US" sz="2800">
                <a:ea typeface="宋体" panose="02010600030101010101" pitchFamily="2" charset="-122"/>
              </a:rPr>
              <a:t>用</a:t>
            </a:r>
            <a:r>
              <a:rPr lang="en-US" altLang="zh-CN" sz="2800">
                <a:ea typeface="宋体" panose="02010600030101010101" pitchFamily="2" charset="-122"/>
              </a:rPr>
              <a:t>STC</a:t>
            </a:r>
            <a:r>
              <a:rPr lang="zh-CN" altLang="en-US" sz="2800">
                <a:ea typeface="宋体" panose="02010600030101010101" pitchFamily="2" charset="-122"/>
              </a:rPr>
              <a:t>的标准表达式，计算直流增益和</a:t>
            </a:r>
            <a:r>
              <a:rPr lang="en-US" altLang="zh-CN" sz="2800">
                <a:ea typeface="宋体" panose="02010600030101010101" pitchFamily="2" charset="-122"/>
              </a:rPr>
              <a:t>3dB</a:t>
            </a:r>
            <a:r>
              <a:rPr lang="zh-CN" altLang="en-US" sz="2800">
                <a:ea typeface="宋体" panose="02010600030101010101" pitchFamily="2" charset="-122"/>
              </a:rPr>
              <a:t>频率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pic>
        <p:nvPicPr>
          <p:cNvPr id="9220" name="Picture 4" descr="se02F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100"/>
            <a:ext cx="3424238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245" name="Rectangle 3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2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2.4: </a:t>
            </a:r>
            <a:r>
              <a:rPr lang="en-US" altLang="zh-CN" sz="3200" b="0">
                <a:ea typeface="宋体" panose="02010600030101010101" pitchFamily="2" charset="-122"/>
              </a:rPr>
              <a:t>Other Op-Amp Configurations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pic>
        <p:nvPicPr>
          <p:cNvPr id="10247" name="Picture 4" descr="se02F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3" y="1928813"/>
            <a:ext cx="4033837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3"/>
          <p:cNvSpPr txBox="1">
            <a:spLocks noChangeArrowheads="1"/>
          </p:cNvSpPr>
          <p:nvPr/>
        </p:nvSpPr>
        <p:spPr bwMode="auto">
          <a:xfrm rot="5400000">
            <a:off x="6172200" y="32004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2.23:</a:t>
            </a:r>
            <a:r>
              <a:rPr lang="en-US" altLang="zh-CN">
                <a:ea typeface="宋体" panose="02010600030101010101" pitchFamily="2" charset="-122"/>
              </a:rPr>
              <a:t> Circuit for Example 2.4.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024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2209800"/>
            <a:ext cx="18161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033713"/>
            <a:ext cx="2755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1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4060825"/>
            <a:ext cx="1625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2" name="下箭头 4"/>
          <p:cNvSpPr>
            <a:spLocks noChangeArrowheads="1"/>
          </p:cNvSpPr>
          <p:nvPr/>
        </p:nvSpPr>
        <p:spPr bwMode="auto">
          <a:xfrm>
            <a:off x="1179513" y="3527425"/>
            <a:ext cx="306387" cy="430213"/>
          </a:xfrm>
          <a:prstGeom prst="down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10253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5545138"/>
            <a:ext cx="990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5576888"/>
            <a:ext cx="10033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5" name="下箭头 15"/>
          <p:cNvSpPr>
            <a:spLocks noChangeArrowheads="1"/>
          </p:cNvSpPr>
          <p:nvPr/>
        </p:nvSpPr>
        <p:spPr bwMode="auto">
          <a:xfrm>
            <a:off x="1179513" y="4918075"/>
            <a:ext cx="306387" cy="430213"/>
          </a:xfrm>
          <a:prstGeom prst="down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10256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5530850"/>
            <a:ext cx="10541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648200" cy="1295400"/>
          </a:xfrm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2.5.2.</a:t>
            </a:r>
            <a:r>
              <a:rPr lang="en-US" altLang="zh-CN" sz="3200">
                <a:ea typeface="宋体" panose="02010600030101010101" pitchFamily="2" charset="-122"/>
              </a:rPr>
              <a:t> The Inverting Integrator </a:t>
            </a:r>
            <a:r>
              <a:rPr lang="zh-CN" altLang="en-US" sz="3200">
                <a:ea typeface="宋体" panose="02010600030101010101" pitchFamily="2" charset="-122"/>
              </a:rPr>
              <a:t>反相积分电路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038600"/>
          </a:xfrm>
          <a:noFill/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How can inverting op-amp be adapted to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perform integration? </a:t>
            </a:r>
            <a:r>
              <a:rPr lang="zh-CN" altLang="en-US" sz="2800">
                <a:ea typeface="宋体" panose="02010600030101010101" pitchFamily="2" charset="-122"/>
              </a:rPr>
              <a:t>如何用反相接法的运放实现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sz="2800">
                <a:ea typeface="宋体" panose="02010600030101010101" pitchFamily="2" charset="-122"/>
              </a:rPr>
              <a:t>功能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>
                <a:ea typeface="宋体" panose="02010600030101010101" pitchFamily="2" charset="-122"/>
              </a:rPr>
              <a:t>Utilization of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capacitor as feedback</a:t>
            </a:r>
            <a:r>
              <a:rPr lang="en-US" altLang="zh-CN" sz="2800">
                <a:ea typeface="宋体" panose="02010600030101010101" pitchFamily="2" charset="-122"/>
              </a:rPr>
              <a:t> impedance.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>
                <a:ea typeface="宋体" panose="02010600030101010101" pitchFamily="2" charset="-122"/>
              </a:rPr>
              <a:t>利用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电容</a:t>
            </a:r>
            <a:r>
              <a:rPr lang="zh-CN" altLang="en-US" sz="2800">
                <a:ea typeface="宋体" panose="02010600030101010101" pitchFamily="2" charset="-122"/>
              </a:rPr>
              <a:t>作为反馈阻抗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2291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00013"/>
            <a:ext cx="5943600" cy="665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文本框 4"/>
          <p:cNvSpPr txBox="1">
            <a:spLocks noChangeArrowheads="1"/>
          </p:cNvSpPr>
          <p:nvPr/>
        </p:nvSpPr>
        <p:spPr bwMode="auto">
          <a:xfrm>
            <a:off x="2590800" y="12954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①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2293" name="文本框 13"/>
          <p:cNvSpPr txBox="1">
            <a:spLocks noChangeArrowheads="1"/>
          </p:cNvSpPr>
          <p:nvPr/>
        </p:nvSpPr>
        <p:spPr bwMode="auto">
          <a:xfrm>
            <a:off x="1905000" y="533400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②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2294" name="文本框 14"/>
          <p:cNvSpPr txBox="1">
            <a:spLocks noChangeArrowheads="1"/>
          </p:cNvSpPr>
          <p:nvPr/>
        </p:nvSpPr>
        <p:spPr bwMode="auto">
          <a:xfrm>
            <a:off x="3028950" y="219075"/>
            <a:ext cx="469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③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2295" name="文本框 15"/>
          <p:cNvSpPr txBox="1">
            <a:spLocks noChangeArrowheads="1"/>
          </p:cNvSpPr>
          <p:nvPr/>
        </p:nvSpPr>
        <p:spPr bwMode="auto">
          <a:xfrm>
            <a:off x="6096000" y="231775"/>
            <a:ext cx="45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0000"/>
                </a:solidFill>
                <a:ea typeface="宋体" panose="02010600030101010101" pitchFamily="2" charset="-122"/>
              </a:rPr>
              <a:t>④</a:t>
            </a:r>
            <a:endParaRPr lang="zh-CN" altLang="en-US" sz="16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2296" name="文本框 1"/>
          <p:cNvSpPr txBox="1">
            <a:spLocks noChangeArrowheads="1"/>
          </p:cNvSpPr>
          <p:nvPr/>
        </p:nvSpPr>
        <p:spPr bwMode="auto">
          <a:xfrm>
            <a:off x="4614863" y="3200400"/>
            <a:ext cx="3876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该结构的积分电路也被称为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Miller</a:t>
            </a:r>
            <a:r>
              <a:rPr lang="zh-CN" altLang="en-US" dirty="0">
                <a:ea typeface="宋体" panose="02010600030101010101" pitchFamily="2" charset="-122"/>
              </a:rPr>
              <a:t>积分器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297" name="文本框 2"/>
          <p:cNvSpPr txBox="1">
            <a:spLocks noChangeArrowheads="1"/>
          </p:cNvSpPr>
          <p:nvPr/>
        </p:nvSpPr>
        <p:spPr bwMode="auto">
          <a:xfrm>
            <a:off x="7662863" y="703263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时域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8" name="文本框 3"/>
          <p:cNvSpPr txBox="1">
            <a:spLocks noChangeArrowheads="1"/>
          </p:cNvSpPr>
          <p:nvPr/>
        </p:nvSpPr>
        <p:spPr bwMode="auto">
          <a:xfrm>
            <a:off x="7662863" y="1370013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频域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2299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3346450"/>
            <a:ext cx="1384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343400"/>
            <a:ext cx="1739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5334000"/>
            <a:ext cx="1168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6172200"/>
            <a:ext cx="939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3" name="下箭头 8"/>
          <p:cNvSpPr>
            <a:spLocks noChangeArrowheads="1"/>
          </p:cNvSpPr>
          <p:nvPr/>
        </p:nvSpPr>
        <p:spPr bwMode="auto">
          <a:xfrm>
            <a:off x="838200" y="4006850"/>
            <a:ext cx="225425" cy="368300"/>
          </a:xfrm>
          <a:prstGeom prst="downArrow">
            <a:avLst>
              <a:gd name="adj1" fmla="val 50000"/>
              <a:gd name="adj2" fmla="val 5015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2304" name="下箭头 15"/>
          <p:cNvSpPr>
            <a:spLocks noChangeArrowheads="1"/>
          </p:cNvSpPr>
          <p:nvPr/>
        </p:nvSpPr>
        <p:spPr bwMode="auto">
          <a:xfrm>
            <a:off x="838200" y="5029200"/>
            <a:ext cx="225425" cy="368300"/>
          </a:xfrm>
          <a:prstGeom prst="downArrow">
            <a:avLst>
              <a:gd name="adj1" fmla="val 50000"/>
              <a:gd name="adj2" fmla="val 5015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2305" name="文本框 9"/>
          <p:cNvSpPr txBox="1">
            <a:spLocks noChangeArrowheads="1"/>
          </p:cNvSpPr>
          <p:nvPr/>
        </p:nvSpPr>
        <p:spPr bwMode="auto">
          <a:xfrm>
            <a:off x="3581400" y="6419850"/>
            <a:ext cx="16208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ea typeface="宋体" panose="02010600030101010101" pitchFamily="2" charset="-122"/>
              </a:rPr>
              <a:t>（积分器频率）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13472" y="4943935"/>
            <a:ext cx="146065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-20</a:t>
            </a:r>
            <a:r>
              <a:rPr kumimoji="1" lang="zh-CN" altLang="en-US" dirty="0"/>
              <a:t> </a:t>
            </a:r>
            <a:r>
              <a:rPr kumimoji="1" lang="en-US" altLang="zh-CN" dirty="0"/>
              <a:t>dB/</a:t>
            </a:r>
            <a:r>
              <a:rPr kumimoji="1" lang="zh-CN" altLang="en-US" dirty="0"/>
              <a:t>十倍频</a:t>
            </a:r>
            <a:endParaRPr kumimoji="1" lang="en-US" altLang="zh-CN" dirty="0"/>
          </a:p>
          <a:p>
            <a:r>
              <a:rPr kumimoji="1" lang="en-US" altLang="zh-CN" dirty="0"/>
              <a:t>= -6 dB/</a:t>
            </a:r>
            <a:r>
              <a:rPr kumimoji="1" lang="zh-CN" altLang="en-US" dirty="0"/>
              <a:t>两倍频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537609" y="32004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波特图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5638800" y="2057400"/>
            <a:ext cx="3025187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0432FF"/>
                </a:solidFill>
              </a:rPr>
              <a:t>CR</a:t>
            </a:r>
            <a:r>
              <a:rPr kumimoji="1" lang="zh-CN" altLang="en-US" sz="2000" dirty="0">
                <a:solidFill>
                  <a:srgbClr val="0432FF"/>
                </a:solidFill>
              </a:rPr>
              <a:t>称为积分器的时间常数</a:t>
            </a:r>
            <a:endParaRPr kumimoji="1" lang="zh-CN" altLang="en-US" sz="2000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2.5.2.</a:t>
            </a:r>
            <a:r>
              <a:rPr lang="en-US" altLang="zh-CN" sz="3200">
                <a:ea typeface="宋体" panose="02010600030101010101" pitchFamily="2" charset="-122"/>
              </a:rPr>
              <a:t> The Inverting Integrator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038600"/>
          </a:xfrm>
          <a:noFill/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What is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problem </a:t>
            </a:r>
            <a:r>
              <a:rPr lang="en-US" altLang="zh-CN" sz="2800">
                <a:ea typeface="宋体" panose="02010600030101010101" pitchFamily="2" charset="-122"/>
              </a:rPr>
              <a:t>with this configuration (related to dc gain)? </a:t>
            </a:r>
            <a:r>
              <a:rPr lang="zh-CN" altLang="en-US" sz="2800">
                <a:ea typeface="宋体" panose="02010600030101010101" pitchFamily="2" charset="-122"/>
              </a:rPr>
              <a:t>存在的问题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>
                <a:ea typeface="宋体" panose="02010600030101010101" pitchFamily="2" charset="-122"/>
              </a:rPr>
              <a:t>At dc frequency (</a:t>
            </a:r>
            <a:r>
              <a:rPr lang="en-US" altLang="zh-CN" sz="2800" i="1">
                <a:latin typeface="Symbol" panose="05050102010706020507" pitchFamily="2" charset="2"/>
                <a:ea typeface="宋体" panose="02010600030101010101" pitchFamily="2" charset="-122"/>
              </a:rPr>
              <a:t>w </a:t>
            </a:r>
            <a:r>
              <a:rPr lang="en-US" altLang="zh-CN" sz="2800">
                <a:ea typeface="宋体" panose="02010600030101010101" pitchFamily="2" charset="-122"/>
              </a:rPr>
              <a:t>= 0), gain is infinite </a:t>
            </a:r>
            <a:r>
              <a:rPr lang="zh-CN" altLang="en-US" sz="2800">
                <a:ea typeface="宋体" panose="02010600030101010101" pitchFamily="2" charset="-122"/>
              </a:rPr>
              <a:t>低频增益∞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Gain = 1 / (</a:t>
            </a:r>
            <a:r>
              <a:rPr lang="en-US" altLang="zh-CN" sz="2800" i="1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r>
              <a:rPr lang="en-US" altLang="zh-CN" sz="2800" i="1">
                <a:solidFill>
                  <a:schemeClr val="bg1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.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baseline="-25000">
                <a:ea typeface="宋体" panose="02010600030101010101" pitchFamily="2" charset="-122"/>
              </a:rPr>
              <a:t>1</a:t>
            </a:r>
            <a:r>
              <a:rPr lang="en-US" altLang="zh-CN" sz="2800" i="1">
                <a:ea typeface="宋体" panose="02010600030101010101" pitchFamily="2" charset="-122"/>
              </a:rPr>
              <a:t>C</a:t>
            </a:r>
            <a:r>
              <a:rPr lang="en-US" altLang="zh-CN" sz="2800" i="1" baseline="-25000">
                <a:ea typeface="宋体" panose="02010600030101010101" pitchFamily="2" charset="-122"/>
              </a:rPr>
              <a:t>F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Solution? </a:t>
            </a:r>
            <a:r>
              <a:rPr lang="zh-CN" altLang="en-US" sz="2800">
                <a:ea typeface="宋体" panose="02010600030101010101" pitchFamily="2" charset="-122"/>
              </a:rPr>
              <a:t>解决的办法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By placing a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very large resistor in parallel with the capacitor</a:t>
            </a:r>
            <a:r>
              <a:rPr lang="en-US" altLang="zh-CN" sz="2800">
                <a:ea typeface="宋体" panose="02010600030101010101" pitchFamily="2" charset="-122"/>
              </a:rPr>
              <a:t>, negative feedback is employed to make dc gain “finite.” </a:t>
            </a:r>
            <a:r>
              <a:rPr lang="zh-CN" altLang="en-US" sz="2800">
                <a:ea typeface="宋体" panose="02010600030101010101" pitchFamily="2" charset="-122"/>
              </a:rPr>
              <a:t>用一个大电阻并联反馈电容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000" b="0">
                <a:ea typeface="宋体" panose="02010600030101010101" pitchFamily="2" charset="-122"/>
              </a:rPr>
              <a:t>2.5.2.</a:t>
            </a:r>
            <a:r>
              <a:rPr lang="en-US" altLang="zh-CN" sz="2000">
                <a:ea typeface="宋体" panose="02010600030101010101" pitchFamily="2" charset="-122"/>
              </a:rPr>
              <a:t> The Inverting Integrator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5366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610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2.25:</a:t>
            </a:r>
            <a:r>
              <a:rPr lang="en-US" altLang="zh-CN">
                <a:ea typeface="宋体" panose="02010600030101010101" pitchFamily="2" charset="-122"/>
              </a:rPr>
              <a:t> The Miller integrator with a large resistance </a:t>
            </a:r>
            <a:r>
              <a:rPr lang="en-US" altLang="zh-CN" i="1">
                <a:ea typeface="宋体" panose="02010600030101010101" pitchFamily="2" charset="-122"/>
              </a:rPr>
              <a:t>RF</a:t>
            </a:r>
            <a:r>
              <a:rPr lang="en-US" altLang="zh-CN">
                <a:ea typeface="宋体" panose="02010600030101010101" pitchFamily="2" charset="-122"/>
              </a:rPr>
              <a:t> connected in parallel with 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>
                <a:ea typeface="宋体" panose="02010600030101010101" pitchFamily="2" charset="-122"/>
              </a:rPr>
              <a:t> in order to provide negative feedback and hence finite gain at dc.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5367" name="Picture 4" descr="se02F2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1600200"/>
            <a:ext cx="3300413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5105400"/>
            <a:ext cx="1816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文本框 3"/>
          <p:cNvSpPr txBox="1">
            <a:spLocks noChangeArrowheads="1"/>
          </p:cNvSpPr>
          <p:nvPr/>
        </p:nvSpPr>
        <p:spPr bwMode="auto">
          <a:xfrm>
            <a:off x="1447800" y="5940425"/>
            <a:ext cx="67011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但引入</a:t>
            </a:r>
            <a:r>
              <a:rPr lang="en-US" altLang="zh-CN" sz="2000" dirty="0"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后，积分特性变得不完美了！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因此，</a:t>
            </a:r>
            <a:r>
              <a:rPr lang="en-US" altLang="zh-CN" sz="2000" dirty="0"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的取值需在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dc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性能</a:t>
            </a:r>
            <a:r>
              <a:rPr lang="zh-CN" altLang="en-US" sz="2000" dirty="0">
                <a:ea typeface="宋体" panose="02010600030101010101" pitchFamily="2" charset="-122"/>
              </a:rPr>
              <a:t>和信号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积分性能</a:t>
            </a:r>
            <a:r>
              <a:rPr lang="zh-CN" altLang="en-US" sz="2000" dirty="0">
                <a:ea typeface="宋体" panose="02010600030101010101" pitchFamily="2" charset="-122"/>
              </a:rPr>
              <a:t>之间取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trade-off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370" name="文本框 1"/>
          <p:cNvSpPr txBox="1">
            <a:spLocks noChangeArrowheads="1"/>
          </p:cNvSpPr>
          <p:nvPr/>
        </p:nvSpPr>
        <p:spPr bwMode="auto">
          <a:xfrm>
            <a:off x="533400" y="5233988"/>
            <a:ext cx="281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就是前面例题</a:t>
            </a:r>
            <a:r>
              <a:rPr lang="en-US" altLang="zh-CN" sz="2000">
                <a:ea typeface="宋体" panose="02010600030101010101" pitchFamily="2" charset="-122"/>
              </a:rPr>
              <a:t>2.4</a:t>
            </a:r>
            <a:r>
              <a:rPr lang="zh-CN" altLang="en-US" sz="2000">
                <a:ea typeface="宋体" panose="02010600030101010101" pitchFamily="2" charset="-122"/>
              </a:rPr>
              <a:t>的情况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313" y="64636"/>
            <a:ext cx="9144000" cy="16879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" y="1752600"/>
            <a:ext cx="3053766" cy="26479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86600" y="1380916"/>
            <a:ext cx="2135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假设电容初始电压为</a:t>
            </a:r>
            <a:r>
              <a:rPr kumimoji="1" lang="en-US" altLang="zh-CN" dirty="0">
                <a:solidFill>
                  <a:srgbClr val="0432FF"/>
                </a:solidFill>
              </a:rPr>
              <a:t>0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3522" y="1744286"/>
            <a:ext cx="1664238" cy="33855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没有 </a:t>
            </a:r>
            <a:r>
              <a:rPr kumimoji="1" lang="en-US" altLang="zh-CN" dirty="0"/>
              <a:t>R</a:t>
            </a:r>
            <a:r>
              <a:rPr kumimoji="1" lang="en-US" altLang="zh-CN" baseline="-25000" dirty="0"/>
              <a:t>F</a:t>
            </a:r>
            <a:r>
              <a:rPr kumimoji="1" lang="zh-CN" altLang="en-US" baseline="-25000" dirty="0"/>
              <a:t> </a:t>
            </a:r>
            <a:r>
              <a:rPr kumimoji="1" lang="zh-CN" altLang="en-US" dirty="0"/>
              <a:t>的情况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862" y="2170317"/>
            <a:ext cx="3505200" cy="63538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862" y="3315880"/>
            <a:ext cx="3154877" cy="433942"/>
          </a:xfrm>
          <a:prstGeom prst="rect">
            <a:avLst/>
          </a:prstGeom>
        </p:spPr>
      </p:pic>
      <p:sp>
        <p:nvSpPr>
          <p:cNvPr id="12" name="下箭头 11"/>
          <p:cNvSpPr/>
          <p:nvPr/>
        </p:nvSpPr>
        <p:spPr bwMode="auto">
          <a:xfrm>
            <a:off x="5105400" y="2859604"/>
            <a:ext cx="228600" cy="36381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62" y="2893178"/>
            <a:ext cx="1087538" cy="2692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34200" y="3333612"/>
            <a:ext cx="1410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t</a:t>
            </a:r>
            <a:r>
              <a:rPr kumimoji="1" lang="zh-CN" altLang="en-US" dirty="0"/>
              <a:t> 的单位是 </a:t>
            </a:r>
            <a:r>
              <a:rPr kumimoji="1" lang="en-US" altLang="zh-CN" dirty="0" err="1"/>
              <a:t>ms</a:t>
            </a:r>
            <a:endParaRPr kumimoji="1"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2" y="4412177"/>
            <a:ext cx="4457700" cy="19492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60" y="4277733"/>
            <a:ext cx="4323778" cy="23723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4" y="6373807"/>
            <a:ext cx="432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V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电压产生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0.1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mA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电流，对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C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进行充电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9" name="文本框 18"/>
          <p:cNvSpPr txBox="1"/>
          <p:nvPr/>
        </p:nvSpPr>
        <p:spPr>
          <a:xfrm>
            <a:off x="4179080" y="28546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时间常数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313" y="64636"/>
            <a:ext cx="9144000" cy="16879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" y="1752600"/>
            <a:ext cx="3053766" cy="26479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86600" y="1380916"/>
            <a:ext cx="2135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假设电容初始电压为</a:t>
            </a:r>
            <a:r>
              <a:rPr kumimoji="1" lang="en-US" altLang="zh-CN" dirty="0">
                <a:solidFill>
                  <a:srgbClr val="0432FF"/>
                </a:solidFill>
              </a:rPr>
              <a:t>0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3522" y="1744286"/>
            <a:ext cx="1459054" cy="33855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有 </a:t>
            </a:r>
            <a:r>
              <a:rPr kumimoji="1" lang="en-US" altLang="zh-CN" dirty="0"/>
              <a:t>R</a:t>
            </a:r>
            <a:r>
              <a:rPr kumimoji="1" lang="en-US" altLang="zh-CN" baseline="-25000" dirty="0"/>
              <a:t>F</a:t>
            </a:r>
            <a:r>
              <a:rPr kumimoji="1" lang="zh-CN" altLang="en-US" baseline="-25000" dirty="0"/>
              <a:t> </a:t>
            </a:r>
            <a:r>
              <a:rPr kumimoji="1" lang="zh-CN" altLang="en-US" dirty="0"/>
              <a:t>的情况</a:t>
            </a:r>
            <a:endParaRPr kumimoji="1"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9" y="4425429"/>
            <a:ext cx="4457700" cy="19492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76600" y="2111410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rgbClr val="0432FF"/>
                </a:solidFill>
              </a:rPr>
              <a:t>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V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电压产生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0.1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mA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电流，流入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C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和 </a:t>
            </a:r>
            <a:r>
              <a:rPr kumimoji="1" lang="en-US" altLang="zh-CN" sz="1800" b="1" dirty="0">
                <a:solidFill>
                  <a:srgbClr val="0432FF"/>
                </a:solidFill>
              </a:rPr>
              <a:t>R</a:t>
            </a:r>
            <a:r>
              <a:rPr kumimoji="1" lang="en-US" altLang="zh-CN" sz="1800" b="1" baseline="-25000" dirty="0">
                <a:solidFill>
                  <a:srgbClr val="0432FF"/>
                </a:solidFill>
              </a:rPr>
              <a:t>F</a:t>
            </a:r>
            <a:r>
              <a:rPr kumimoji="1" lang="zh-CN" altLang="en-US" sz="1800" b="1" dirty="0">
                <a:solidFill>
                  <a:srgbClr val="0432FF"/>
                </a:solidFill>
              </a:rPr>
              <a:t> 网络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3522" y="2520475"/>
            <a:ext cx="536467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C</a:t>
            </a:r>
            <a:r>
              <a:rPr kumimoji="1" lang="zh-CN" altLang="en-US" sz="2000" dirty="0"/>
              <a:t>的初始电压 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，稳态电压 </a:t>
            </a:r>
            <a:r>
              <a:rPr kumimoji="1" lang="en-US" altLang="zh-CN" sz="2000" dirty="0"/>
              <a:t>0.1mA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</a:t>
            </a:r>
            <a:r>
              <a:rPr kumimoji="1" lang="en-US" altLang="zh-CN" sz="2000" baseline="-25000" dirty="0"/>
              <a:t>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100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</a:t>
            </a:r>
            <a:r>
              <a:rPr kumimoji="1" lang="zh-CN" altLang="en-US" sz="2000" dirty="0"/>
              <a:t>，时间常数 </a:t>
            </a:r>
            <a:r>
              <a:rPr kumimoji="1" lang="en-US" altLang="zh-CN" sz="2000" dirty="0">
                <a:latin typeface="Symbol" panose="05050102010706020507" pitchFamily="2" charset="2"/>
              </a:rPr>
              <a:t>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=R</a:t>
            </a:r>
            <a:r>
              <a:rPr kumimoji="1" lang="en-US" altLang="zh-CN" sz="2000" baseline="-25000" dirty="0"/>
              <a:t>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10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ms</a:t>
            </a:r>
            <a:endParaRPr kumimoji="1"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805" y="3557180"/>
            <a:ext cx="3873809" cy="391733"/>
          </a:xfrm>
          <a:prstGeom prst="rect">
            <a:avLst/>
          </a:prstGeom>
        </p:spPr>
      </p:pic>
      <p:sp>
        <p:nvSpPr>
          <p:cNvPr id="17" name="下箭头 16"/>
          <p:cNvSpPr/>
          <p:nvPr/>
        </p:nvSpPr>
        <p:spPr bwMode="auto">
          <a:xfrm>
            <a:off x="4576774" y="3217819"/>
            <a:ext cx="214049" cy="30998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166" y="2878486"/>
            <a:ext cx="2739319" cy="57525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992" y="4171079"/>
            <a:ext cx="4457700" cy="26839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436" y="4277732"/>
            <a:ext cx="911552" cy="34183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7066" y="4287671"/>
            <a:ext cx="920750" cy="292474"/>
          </a:xfrm>
          <a:prstGeom prst="rect">
            <a:avLst/>
          </a:prstGeom>
        </p:spPr>
      </p:pic>
      <p:sp>
        <p:nvSpPr>
          <p:cNvPr id="2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3" name="文本框 22"/>
          <p:cNvSpPr txBox="1"/>
          <p:nvPr/>
        </p:nvSpPr>
        <p:spPr>
          <a:xfrm>
            <a:off x="2726435" y="6454810"/>
            <a:ext cx="1826141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从方波产生三角波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9459" name="Rectangle 7"/>
          <p:cNvSpPr>
            <a:spLocks noChangeArrowheads="1"/>
          </p:cNvSpPr>
          <p:nvPr/>
        </p:nvSpPr>
        <p:spPr bwMode="auto">
          <a:xfrm>
            <a:off x="0" y="1905000"/>
            <a:ext cx="44958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419600" cy="1295400"/>
          </a:xfrm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2.5.3.</a:t>
            </a:r>
            <a:r>
              <a:rPr lang="en-US" altLang="zh-CN" sz="3200">
                <a:ea typeface="宋体" panose="02010600030101010101" pitchFamily="2" charset="-122"/>
              </a:rPr>
              <a:t> The Op-Amp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Differentiator </a:t>
            </a:r>
            <a:r>
              <a:rPr lang="zh-CN" altLang="en-US" sz="3200">
                <a:ea typeface="宋体" panose="02010600030101010101" pitchFamily="2" charset="-122"/>
              </a:rPr>
              <a:t>微分电路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905000"/>
            <a:ext cx="8763000" cy="4191000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>
                <a:ea typeface="宋体" panose="02010600030101010101" pitchFamily="2" charset="-122"/>
              </a:rPr>
              <a:t> How can one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adapt integrator to perform differentiation</a:t>
            </a:r>
            <a:r>
              <a:rPr lang="en-US" altLang="zh-CN">
                <a:ea typeface="宋体" panose="02010600030101010101" pitchFamily="2" charset="-122"/>
              </a:rPr>
              <a:t>? </a:t>
            </a:r>
            <a:r>
              <a:rPr lang="zh-CN" altLang="en-US">
                <a:ea typeface="宋体" panose="02010600030101010101" pitchFamily="2" charset="-122"/>
              </a:rPr>
              <a:t>如何构建微分电路呢？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Interchange</a:t>
            </a:r>
            <a:r>
              <a:rPr lang="en-US" altLang="zh-CN" sz="2800">
                <a:ea typeface="宋体" panose="02010600030101010101" pitchFamily="2" charset="-122"/>
              </a:rPr>
              <a:t> locations of resistors and capacitors.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>
                <a:ea typeface="宋体" panose="02010600030101010101" pitchFamily="2" charset="-122"/>
              </a:rPr>
              <a:t>将积分电路的</a:t>
            </a:r>
            <a:r>
              <a:rPr lang="en-US" altLang="zh-CN" sz="2800">
                <a:ea typeface="宋体" panose="02010600030101010101" pitchFamily="2" charset="-122"/>
              </a:rPr>
              <a:t>R</a:t>
            </a:r>
            <a:r>
              <a:rPr lang="zh-CN" altLang="en-US" sz="2800">
                <a:ea typeface="宋体" panose="02010600030101010101" pitchFamily="2" charset="-122"/>
              </a:rPr>
              <a:t>和</a:t>
            </a:r>
            <a:r>
              <a:rPr lang="en-US" altLang="zh-CN" sz="2800">
                <a:ea typeface="宋体" panose="02010600030101010101" pitchFamily="2" charset="-122"/>
              </a:rPr>
              <a:t>C</a:t>
            </a:r>
            <a:r>
              <a:rPr lang="zh-CN" altLang="en-US" sz="2800">
                <a:ea typeface="宋体" panose="02010600030101010101" pitchFamily="2" charset="-122"/>
              </a:rPr>
              <a:t>交换，即可实现微分电路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pic>
        <p:nvPicPr>
          <p:cNvPr id="1946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249738"/>
            <a:ext cx="411321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Text Box 2"/>
          <p:cNvSpPr txBox="1">
            <a:spLocks noChangeArrowheads="1"/>
          </p:cNvSpPr>
          <p:nvPr/>
        </p:nvSpPr>
        <p:spPr bwMode="auto">
          <a:xfrm>
            <a:off x="2362200" y="639445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Figure 2.27: </a:t>
            </a:r>
            <a:r>
              <a:rPr lang="en-US" altLang="zh-CN">
                <a:ea typeface="宋体" panose="02010600030101010101" pitchFamily="2" charset="-122"/>
              </a:rPr>
              <a:t>A differentiator.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2.5.3.</a:t>
            </a:r>
            <a:r>
              <a:rPr lang="en-US" altLang="zh-CN" sz="3200">
                <a:ea typeface="宋体" panose="02010600030101010101" pitchFamily="2" charset="-122"/>
              </a:rPr>
              <a:t> The Op-Amp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Differentiator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2048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5727700" cy="670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4851400" y="2209800"/>
            <a:ext cx="414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0432FF"/>
                </a:solidFill>
              </a:rPr>
              <a:t>高频时，</a:t>
            </a:r>
            <a:r>
              <a:rPr kumimoji="1" lang="en-US" altLang="zh-CN" sz="2000" dirty="0">
                <a:solidFill>
                  <a:srgbClr val="0432FF"/>
                </a:solidFill>
              </a:rPr>
              <a:t>C</a:t>
            </a:r>
            <a:r>
              <a:rPr kumimoji="1" lang="zh-CN" altLang="en-US" sz="2000" dirty="0">
                <a:solidFill>
                  <a:srgbClr val="0432FF"/>
                </a:solidFill>
              </a:rPr>
              <a:t>阻抗很小，增益很大，输出容易饱和。因此常常在输入端与</a:t>
            </a:r>
            <a:r>
              <a:rPr kumimoji="1" lang="en-US" altLang="zh-CN" sz="2000" dirty="0">
                <a:solidFill>
                  <a:srgbClr val="0432FF"/>
                </a:solidFill>
              </a:rPr>
              <a:t>C</a:t>
            </a:r>
            <a:r>
              <a:rPr kumimoji="1" lang="zh-CN" altLang="en-US" sz="2000" dirty="0">
                <a:solidFill>
                  <a:srgbClr val="0432FF"/>
                </a:solidFill>
              </a:rPr>
              <a:t>串联一个电阻，以抑制高频增益</a:t>
            </a:r>
            <a:endParaRPr kumimoji="1" lang="zh-CN" altLang="en-US" sz="2000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2.5.3.</a:t>
            </a:r>
            <a:r>
              <a:rPr lang="en-US" altLang="zh-CN" sz="3200">
                <a:ea typeface="宋体" panose="02010600030101010101" pitchFamily="2" charset="-122"/>
              </a:rPr>
              <a:t> The Op-Amp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Differentiator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905000"/>
            <a:ext cx="8686800" cy="51054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filtering characteristic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high pass filter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magnitude of transfer function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|</a:t>
            </a:r>
            <a:r>
              <a:rPr lang="en-US" altLang="zh-CN" i="1" dirty="0" err="1">
                <a:ea typeface="宋体" panose="02010600030101010101" pitchFamily="2" charset="-122"/>
              </a:rPr>
              <a:t>V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Out</a:t>
            </a:r>
            <a:r>
              <a:rPr lang="en-US" altLang="zh-CN" dirty="0">
                <a:ea typeface="宋体" panose="02010600030101010101" pitchFamily="2" charset="-122"/>
              </a:rPr>
              <a:t> / </a:t>
            </a:r>
            <a:r>
              <a:rPr lang="en-US" altLang="zh-CN" i="1" dirty="0" err="1">
                <a:ea typeface="宋体" panose="02010600030101010101" pitchFamily="2" charset="-122"/>
              </a:rPr>
              <a:t>V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In</a:t>
            </a:r>
            <a:r>
              <a:rPr lang="en-US" altLang="zh-CN" dirty="0">
                <a:ea typeface="宋体" panose="02010600030101010101" pitchFamily="2" charset="-122"/>
              </a:rPr>
              <a:t>| = </a:t>
            </a:r>
            <a:r>
              <a:rPr lang="en-US" altLang="zh-CN" i="1" dirty="0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i="1" baseline="-25000" dirty="0">
                <a:ea typeface="宋体" panose="02010600030101010101" pitchFamily="2" charset="-122"/>
              </a:rPr>
              <a:t>F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phase of transfer function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 </a:t>
            </a:r>
            <a:r>
              <a:rPr lang="en-US" altLang="zh-CN" i="1" dirty="0">
                <a:latin typeface="Symbol" panose="05050102010706020507" pitchFamily="2" charset="2"/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 = -90</a:t>
            </a:r>
            <a:r>
              <a:rPr lang="en-US" altLang="zh-CN" baseline="30000" dirty="0">
                <a:ea typeface="宋体" panose="02010600030101010101" pitchFamily="2" charset="-122"/>
              </a:rPr>
              <a:t>O</a:t>
            </a:r>
            <a:endParaRPr lang="en-US" altLang="zh-CN" baseline="30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differentiator time-constant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 frequency at which unity gain occurs and defined as </a:t>
            </a:r>
            <a:r>
              <a:rPr lang="en-US" altLang="zh-CN" i="1" dirty="0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r>
              <a:rPr lang="en-US" altLang="zh-CN" dirty="0">
                <a:ea typeface="宋体" panose="02010600030101010101" pitchFamily="2" charset="-122"/>
              </a:rPr>
              <a:t> = 1 /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i="1" baseline="-25000" dirty="0">
                <a:ea typeface="宋体" panose="02010600030101010101" pitchFamily="2" charset="-122"/>
              </a:rPr>
              <a:t>F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What is the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problem</a:t>
            </a: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with differentiator?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 dirty="0">
                <a:ea typeface="宋体" panose="02010600030101010101" pitchFamily="2" charset="-122"/>
              </a:rPr>
              <a:t>Differentiator acts as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noise amplifier</a:t>
            </a:r>
            <a:r>
              <a:rPr lang="en-US" altLang="zh-CN" sz="2800" dirty="0">
                <a:ea typeface="宋体" panose="02010600030101010101" pitchFamily="2" charset="-122"/>
              </a:rPr>
              <a:t>, exhibiting large changes in output from small (but fast) changes in input.  As such, it is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rarely used in practice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输入有突变，则输出无穷大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补充说明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2057400"/>
            <a:ext cx="8915400" cy="4038600"/>
          </a:xfrm>
        </p:spPr>
        <p:txBody>
          <a:bodyPr/>
          <a:lstStyle/>
          <a:p>
            <a:r>
              <a:rPr kumimoji="1" lang="en-US" altLang="zh-CN" sz="2400" dirty="0"/>
              <a:t>Op amp </a:t>
            </a:r>
            <a:r>
              <a:rPr kumimoji="1" lang="zh-CN" altLang="en-US" sz="2400" dirty="0"/>
              <a:t>输入端电压相等只是在开环增益为无穷大的理想情况下成立，若开环增益为有限值，输入端电压差为“输出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开环增益”</a:t>
            </a:r>
            <a:endParaRPr kumimoji="1"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313" y="3124200"/>
            <a:ext cx="9144000" cy="307298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572000"/>
            <a:ext cx="685800" cy="32211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72000"/>
            <a:ext cx="1371600" cy="3261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5503718"/>
            <a:ext cx="1530350" cy="284962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 bwMode="auto">
          <a:xfrm>
            <a:off x="838200" y="5004955"/>
            <a:ext cx="152400" cy="39757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补充说明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981200"/>
            <a:ext cx="3581400" cy="18310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86000"/>
            <a:ext cx="3200400" cy="963227"/>
          </a:xfrm>
          <a:prstGeom prst="rect">
            <a:avLst/>
          </a:prstGeom>
        </p:spPr>
      </p:pic>
      <p:sp>
        <p:nvSpPr>
          <p:cNvPr id="8" name="左右箭头 7"/>
          <p:cNvSpPr/>
          <p:nvPr/>
        </p:nvSpPr>
        <p:spPr bwMode="auto">
          <a:xfrm>
            <a:off x="4038600" y="2652762"/>
            <a:ext cx="914400" cy="229702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4495800"/>
            <a:ext cx="3200400" cy="203957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62400" y="5315533"/>
            <a:ext cx="2334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V</a:t>
            </a:r>
            <a:r>
              <a:rPr kumimoji="1" lang="en-US" altLang="zh-CN" sz="2000" baseline="-25000" dirty="0"/>
              <a:t>in2</a:t>
            </a:r>
            <a:r>
              <a:rPr kumimoji="1" lang="zh-CN" altLang="en-US" sz="2000" baseline="-25000" dirty="0"/>
              <a:t> </a:t>
            </a:r>
            <a:r>
              <a:rPr kumimoji="1" lang="zh-CN" altLang="en-US" sz="2000" dirty="0"/>
              <a:t>看作 </a:t>
            </a:r>
            <a:r>
              <a:rPr kumimoji="1" lang="en-US" altLang="zh-CN" sz="2000" dirty="0" err="1"/>
              <a:t>V</a:t>
            </a:r>
            <a:r>
              <a:rPr kumimoji="1" lang="en-US" altLang="zh-CN" sz="2000" baseline="-25000" dirty="0" err="1"/>
              <a:t>out</a:t>
            </a:r>
            <a:r>
              <a:rPr kumimoji="1" lang="zh-CN" altLang="en-US" sz="2000" baseline="-25000" dirty="0"/>
              <a:t> </a:t>
            </a:r>
            <a:r>
              <a:rPr kumimoji="1" lang="zh-CN" altLang="en-US" sz="2000" dirty="0"/>
              <a:t>的分压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  <a:endParaRPr kumimoji="1"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运放的“电压电流约束关系”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理想运放的特性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90800"/>
            <a:ext cx="1752600" cy="10054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934769"/>
            <a:ext cx="1752600" cy="3175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4200"/>
            <a:ext cx="7086600" cy="2463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3137242"/>
            <a:ext cx="3702050" cy="25139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781300" y="523063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输入阻抗无穷大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28900" y="5507623"/>
            <a:ext cx="3127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输出阻抗为</a:t>
            </a:r>
            <a:r>
              <a:rPr kumimoji="1" lang="en-US" altLang="zh-CN" dirty="0">
                <a:solidFill>
                  <a:srgbClr val="0432FF"/>
                </a:solidFill>
              </a:rPr>
              <a:t>0 </a:t>
            </a:r>
            <a:r>
              <a:rPr kumimoji="1" lang="en-US" altLang="zh-CN" dirty="0">
                <a:solidFill>
                  <a:srgbClr val="C00000"/>
                </a:solidFill>
              </a:rPr>
              <a:t>(</a:t>
            </a:r>
            <a:r>
              <a:rPr kumimoji="1" lang="zh-CN" altLang="en-US" dirty="0">
                <a:solidFill>
                  <a:srgbClr val="C00000"/>
                </a:solidFill>
              </a:rPr>
              <a:t>输出是理想电压源</a:t>
            </a:r>
            <a:r>
              <a:rPr kumimoji="1" lang="en-US" altLang="zh-CN" dirty="0">
                <a:solidFill>
                  <a:srgbClr val="C00000"/>
                </a:solidFill>
              </a:rPr>
              <a:t>)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72327" y="6061009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开环增益 </a:t>
            </a:r>
            <a:r>
              <a:rPr kumimoji="1" lang="en-US" altLang="zh-CN" dirty="0">
                <a:solidFill>
                  <a:srgbClr val="0432FF"/>
                </a:solidFill>
              </a:rPr>
              <a:t>A</a:t>
            </a:r>
            <a:r>
              <a:rPr kumimoji="1" lang="zh-CN" altLang="en-US" dirty="0">
                <a:solidFill>
                  <a:srgbClr val="0432FF"/>
                </a:solidFill>
              </a:rPr>
              <a:t> 无穷大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62544" y="634406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带宽无穷大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10400" y="5775775"/>
            <a:ext cx="1314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432FF"/>
                </a:solidFill>
              </a:rPr>
              <a:t>共模增益为</a:t>
            </a:r>
            <a:r>
              <a:rPr kumimoji="1" lang="en-US" altLang="zh-CN" dirty="0">
                <a:solidFill>
                  <a:srgbClr val="0432FF"/>
                </a:solidFill>
              </a:rPr>
              <a:t>0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sp>
        <p:nvSpPr>
          <p:cNvPr id="1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7570" y="270841"/>
            <a:ext cx="8763000" cy="5943600"/>
          </a:xfrm>
          <a:solidFill>
            <a:schemeClr val="bg1"/>
          </a:solidFill>
        </p:spPr>
        <p:txBody>
          <a:bodyPr/>
          <a:lstStyle/>
          <a:p>
            <a:r>
              <a:rPr kumimoji="1" lang="en-US" altLang="zh-CN" b="1" dirty="0">
                <a:solidFill>
                  <a:srgbClr val="0432FF"/>
                </a:solidFill>
              </a:rPr>
              <a:t>Inverting Configuration</a:t>
            </a:r>
            <a:endParaRPr kumimoji="1" lang="en-US" altLang="zh-CN" b="1" dirty="0">
              <a:solidFill>
                <a:srgbClr val="0432FF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1" dirty="0">
                <a:solidFill>
                  <a:srgbClr val="0432FF"/>
                </a:solidFill>
              </a:rPr>
              <a:t>Noninverting Configuration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49" y="795683"/>
            <a:ext cx="4011870" cy="1828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609600"/>
            <a:ext cx="1320800" cy="8255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710083"/>
            <a:ext cx="2463800" cy="723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7796014" y="1846817"/>
                <a:ext cx="980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014" y="1846817"/>
                <a:ext cx="98007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" t="-64" r="-802" b="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10" y="3581400"/>
            <a:ext cx="3371850" cy="223861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3536674"/>
            <a:ext cx="1689100" cy="7747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530" y="3581400"/>
            <a:ext cx="355600" cy="685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6858000" y="4641851"/>
                <a:ext cx="980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4641851"/>
                <a:ext cx="980076" cy="369332"/>
              </a:xfrm>
              <a:prstGeom prst="rect">
                <a:avLst/>
              </a:prstGeom>
              <a:blipFill rotWithShape="1">
                <a:blip r:embed="rId4"/>
                <a:stretch>
                  <a:fillRect r="-815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158454" y="4641851"/>
                <a:ext cx="1019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454" y="4641851"/>
                <a:ext cx="1019703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34" r="-661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7570" y="270841"/>
            <a:ext cx="8763000" cy="5943600"/>
          </a:xfrm>
          <a:solidFill>
            <a:schemeClr val="bg1"/>
          </a:solidFill>
        </p:spPr>
        <p:txBody>
          <a:bodyPr/>
          <a:lstStyle/>
          <a:p>
            <a:r>
              <a:rPr kumimoji="1" lang="zh-CN" altLang="en-US" b="1" dirty="0">
                <a:solidFill>
                  <a:srgbClr val="0432FF"/>
                </a:solidFill>
              </a:rPr>
              <a:t>差分放大器</a:t>
            </a:r>
            <a:endParaRPr kumimoji="1" lang="en-US" altLang="zh-CN" b="1" dirty="0">
              <a:solidFill>
                <a:srgbClr val="0432FF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>
                <a:solidFill>
                  <a:srgbClr val="0432FF"/>
                </a:solidFill>
              </a:rPr>
              <a:t>仪表放大器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714710" y="2173663"/>
                <a:ext cx="980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710" y="2173663"/>
                <a:ext cx="980076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22" t="-16" r="-792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8095111" y="5410200"/>
                <a:ext cx="9800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111" y="5410200"/>
                <a:ext cx="980076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3" r="-801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395565" y="5410200"/>
                <a:ext cx="1019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565" y="5410200"/>
                <a:ext cx="101970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7" r="-648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6" y="680002"/>
            <a:ext cx="3149600" cy="21474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280" y="477409"/>
            <a:ext cx="2730500" cy="431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563" y="1041705"/>
            <a:ext cx="1117600" cy="7874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523" y="2098495"/>
            <a:ext cx="1181100" cy="44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61" y="3702464"/>
            <a:ext cx="5724749" cy="26595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565" y="4020367"/>
            <a:ext cx="2463800" cy="8509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7570" y="270841"/>
            <a:ext cx="8763000" cy="5943600"/>
          </a:xfrm>
          <a:solidFill>
            <a:schemeClr val="bg1"/>
          </a:solidFill>
        </p:spPr>
        <p:txBody>
          <a:bodyPr/>
          <a:lstStyle/>
          <a:p>
            <a:r>
              <a:rPr kumimoji="1" lang="zh-CN" altLang="en-US" b="1" dirty="0">
                <a:solidFill>
                  <a:srgbClr val="0432FF"/>
                </a:solidFill>
              </a:rPr>
              <a:t>应用 </a:t>
            </a:r>
            <a:r>
              <a:rPr kumimoji="1" lang="en-US" altLang="zh-CN" b="1" dirty="0">
                <a:solidFill>
                  <a:srgbClr val="0432FF"/>
                </a:solidFill>
              </a:rPr>
              <a:t>1</a:t>
            </a:r>
            <a:r>
              <a:rPr kumimoji="1" lang="zh-CN" altLang="en-US" b="1" dirty="0">
                <a:solidFill>
                  <a:srgbClr val="0432FF"/>
                </a:solidFill>
              </a:rPr>
              <a:t>：加法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>
                <a:solidFill>
                  <a:srgbClr val="0432FF"/>
                </a:solidFill>
              </a:rPr>
              <a:t>应用</a:t>
            </a:r>
            <a:r>
              <a:rPr kumimoji="1" lang="en-US" altLang="zh-CN" b="1" dirty="0">
                <a:solidFill>
                  <a:srgbClr val="0432FF"/>
                </a:solidFill>
              </a:rPr>
              <a:t>2</a:t>
            </a:r>
            <a:r>
              <a:rPr kumimoji="1" lang="zh-CN" altLang="en-US" b="1" dirty="0">
                <a:solidFill>
                  <a:srgbClr val="0432FF"/>
                </a:solidFill>
              </a:rPr>
              <a:t>：</a:t>
            </a:r>
            <a:r>
              <a:rPr kumimoji="1" lang="en-US" altLang="zh-CN" b="1" dirty="0">
                <a:solidFill>
                  <a:srgbClr val="0432FF"/>
                </a:solidFill>
              </a:rPr>
              <a:t>Buffer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873" y="643559"/>
            <a:ext cx="5854700" cy="20870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722" y="2286000"/>
            <a:ext cx="4597400" cy="5746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73" y="3880785"/>
            <a:ext cx="3708140" cy="2333656"/>
          </a:xfrm>
          <a:prstGeom prst="rect">
            <a:avLst/>
          </a:prstGeom>
        </p:spPr>
      </p:pic>
      <p:sp>
        <p:nvSpPr>
          <p:cNvPr id="1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7570" y="270841"/>
            <a:ext cx="8763000" cy="5943600"/>
          </a:xfrm>
          <a:solidFill>
            <a:schemeClr val="bg1"/>
          </a:solidFill>
        </p:spPr>
        <p:txBody>
          <a:bodyPr/>
          <a:lstStyle/>
          <a:p>
            <a:r>
              <a:rPr kumimoji="1" lang="zh-CN" altLang="en-US" b="1" dirty="0">
                <a:solidFill>
                  <a:srgbClr val="0432FF"/>
                </a:solidFill>
              </a:rPr>
              <a:t>应用 </a:t>
            </a:r>
            <a:r>
              <a:rPr kumimoji="1" lang="en-US" altLang="zh-CN" b="1" dirty="0">
                <a:solidFill>
                  <a:srgbClr val="0432FF"/>
                </a:solidFill>
              </a:rPr>
              <a:t>3</a:t>
            </a:r>
            <a:r>
              <a:rPr kumimoji="1" lang="zh-CN" altLang="en-US" b="1" dirty="0">
                <a:solidFill>
                  <a:srgbClr val="0432FF"/>
                </a:solidFill>
              </a:rPr>
              <a:t>：积分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>
                <a:solidFill>
                  <a:srgbClr val="0432FF"/>
                </a:solidFill>
              </a:rPr>
              <a:t>应用</a:t>
            </a:r>
            <a:r>
              <a:rPr kumimoji="1" lang="en-US" altLang="zh-CN" b="1" dirty="0">
                <a:solidFill>
                  <a:srgbClr val="0432FF"/>
                </a:solidFill>
              </a:rPr>
              <a:t>4</a:t>
            </a:r>
            <a:r>
              <a:rPr kumimoji="1" lang="zh-CN" altLang="en-US" b="1" dirty="0">
                <a:solidFill>
                  <a:srgbClr val="0432FF"/>
                </a:solidFill>
              </a:rPr>
              <a:t>：微分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274154"/>
            <a:ext cx="2986133" cy="2768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38600"/>
            <a:ext cx="6870700" cy="2413000"/>
          </a:xfrm>
          <a:prstGeom prst="rect">
            <a:avLst/>
          </a:prstGeom>
        </p:spPr>
      </p:pic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990600" cy="1295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作业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427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68487"/>
            <a:ext cx="9144000" cy="391377"/>
          </a:xfrm>
          <a:prstGeom prst="rect">
            <a:avLst/>
          </a:prstGeom>
        </p:spPr>
      </p:pic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9864"/>
            <a:ext cx="9144000" cy="4125433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5475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105477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812925"/>
            <a:ext cx="65786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36"/>
            <a:ext cx="9144000" cy="15159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8400" y="524333"/>
            <a:ext cx="1766830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0432FF"/>
                </a:solidFill>
              </a:rPr>
              <a:t>10</a:t>
            </a:r>
            <a:r>
              <a:rPr kumimoji="1" lang="zh-CN" altLang="en-US" b="1" dirty="0">
                <a:solidFill>
                  <a:srgbClr val="0432FF"/>
                </a:solidFill>
              </a:rPr>
              <a:t> </a:t>
            </a:r>
            <a:r>
              <a:rPr kumimoji="1" lang="en-US" altLang="zh-CN" b="1" dirty="0">
                <a:solidFill>
                  <a:srgbClr val="0432FF"/>
                </a:solidFill>
              </a:rPr>
              <a:t>k</a:t>
            </a:r>
            <a:r>
              <a:rPr kumimoji="1" lang="en-US" altLang="zh-CN" b="1" dirty="0">
                <a:solidFill>
                  <a:srgbClr val="0432FF"/>
                </a:solidFill>
                <a:latin typeface="Symbol" panose="05050102010706020507" pitchFamily="2" charset="2"/>
              </a:rPr>
              <a:t>W</a:t>
            </a:r>
            <a:r>
              <a:rPr kumimoji="1" lang="zh-CN" altLang="en-US" b="1" dirty="0">
                <a:solidFill>
                  <a:srgbClr val="0432FF"/>
                </a:solidFill>
                <a:latin typeface="Symbol" panose="05050102010706020507" pitchFamily="2" charset="2"/>
              </a:rPr>
              <a:t> </a:t>
            </a:r>
            <a:r>
              <a:rPr kumimoji="1" lang="zh-CN" altLang="en-US" b="1" dirty="0">
                <a:solidFill>
                  <a:srgbClr val="0432FF"/>
                </a:solidFill>
              </a:rPr>
              <a:t>是常用电阻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137" y="2222455"/>
            <a:ext cx="6721475" cy="245092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29" y="1295400"/>
            <a:ext cx="9144000" cy="835021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7523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107525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1981200"/>
            <a:ext cx="59944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822"/>
            <a:ext cx="9144000" cy="1664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25116</Words>
  <Application>WPS 演示</Application>
  <PresentationFormat>全屏显示(4:3)</PresentationFormat>
  <Paragraphs>1290</Paragraphs>
  <Slides>98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98</vt:i4>
      </vt:variant>
    </vt:vector>
  </HeadingPairs>
  <TitlesOfParts>
    <vt:vector size="126" baseType="lpstr">
      <vt:lpstr>Arial</vt:lpstr>
      <vt:lpstr>宋体</vt:lpstr>
      <vt:lpstr>Wingdings</vt:lpstr>
      <vt:lpstr>Calibri</vt:lpstr>
      <vt:lpstr>微软雅黑</vt:lpstr>
      <vt:lpstr>Arial Unicode MS</vt:lpstr>
      <vt:lpstr>Cambria Math</vt:lpstr>
      <vt:lpstr>Symbol</vt:lpstr>
      <vt:lpstr>Times New Roman</vt:lpstr>
      <vt:lpstr>Default Design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Chapter #2: Operational Amplifiers 运算放大器</vt:lpstr>
      <vt:lpstr>课程纲要</vt:lpstr>
      <vt:lpstr>Introduction</vt:lpstr>
      <vt:lpstr>Introduction</vt:lpstr>
      <vt:lpstr>2.1.1. The Op Amp Terminals</vt:lpstr>
      <vt:lpstr>PowerPoint 演示文稿</vt:lpstr>
      <vt:lpstr>2.1.3. Differential &amp; Common-Mode Signals</vt:lpstr>
      <vt:lpstr>2.1.3. Differential &amp; Common-Mode Signals</vt:lpstr>
      <vt:lpstr>2.1.2. Function and Characteristics of Ideal Op Amp</vt:lpstr>
      <vt:lpstr>PowerPoint 演示文稿</vt:lpstr>
      <vt:lpstr>2.1.2. Function and Characteristics of Ideal Op Amp</vt:lpstr>
      <vt:lpstr>2.1.2. Function and Characteristics of Ideal Op-Amp</vt:lpstr>
      <vt:lpstr>2.1.2. Function and Characteristics of Ideal Op Amp</vt:lpstr>
      <vt:lpstr>PowerPoint 演示文稿</vt:lpstr>
      <vt:lpstr>2.2. The Inverting Configuration</vt:lpstr>
      <vt:lpstr>2.2. The Inverting Configuration</vt:lpstr>
      <vt:lpstr>2.2.1. Closed-Loop Gain</vt:lpstr>
      <vt:lpstr>2.2.1. Closed-Loop Gain</vt:lpstr>
      <vt:lpstr>2.2. The Inverting Configuration</vt:lpstr>
      <vt:lpstr>2.2.1. Closed-Loop Gain</vt:lpstr>
      <vt:lpstr>2.2.1. Closed-Loop Gain</vt:lpstr>
      <vt:lpstr>2.2.1. Effect of Finite Open-Loop Gain</vt:lpstr>
      <vt:lpstr>PowerPoint 演示文稿</vt:lpstr>
      <vt:lpstr>2.2.1. Effect of Finite Open-Loop Gain</vt:lpstr>
      <vt:lpstr>Example 2.1: Simple Inverting Amplifier</vt:lpstr>
      <vt:lpstr>PowerPoint 演示文稿</vt:lpstr>
      <vt:lpstr>2.2.3. Input and Output Resistances</vt:lpstr>
      <vt:lpstr>PowerPoint 演示文稿</vt:lpstr>
      <vt:lpstr>思考</vt:lpstr>
      <vt:lpstr>Example 2.2: Another Inverting Op-Amp</vt:lpstr>
      <vt:lpstr>PowerPoint 演示文稿</vt:lpstr>
      <vt:lpstr>Example 2.2: Another Inverting Op-Amp</vt:lpstr>
      <vt:lpstr>PowerPoint 演示文稿</vt:lpstr>
      <vt:lpstr>2.2.4. An Important Application – The Weighted Summer</vt:lpstr>
      <vt:lpstr>2.2.4. An Important Application – The Weighted Summer</vt:lpstr>
      <vt:lpstr>PowerPoint 演示文稿</vt:lpstr>
      <vt:lpstr>PowerPoint 演示文稿</vt:lpstr>
      <vt:lpstr>2.3. The Non-Inverting Configuration</vt:lpstr>
      <vt:lpstr>2.3. The Non-Inverting Configuration</vt:lpstr>
      <vt:lpstr>PowerPoint 演示文稿</vt:lpstr>
      <vt:lpstr>PowerPoint 演示文稿</vt:lpstr>
      <vt:lpstr>Characteristics of Non-Inverting Op-Amp Configuration</vt:lpstr>
      <vt:lpstr>Configuration and Characteristics of Buffer / Voltage-Follower Op-Amp Configuration</vt:lpstr>
      <vt:lpstr>Configuration and Characteristics of Buffer / Voltage-Follower Op-Amp Configuration</vt:lpstr>
      <vt:lpstr> </vt:lpstr>
      <vt:lpstr>PowerPoint 演示文稿</vt:lpstr>
      <vt:lpstr>2.4. Difference Amplifiers 差分放大器</vt:lpstr>
      <vt:lpstr>2.4. Difference Amplifiers</vt:lpstr>
      <vt:lpstr>2.4. Difference Amplifiers</vt:lpstr>
      <vt:lpstr>2.4. Difference Amplifiers</vt:lpstr>
      <vt:lpstr>2.4. Difference Amplifiers</vt:lpstr>
      <vt:lpstr>【Insight】如何构建一个差分放大器？</vt:lpstr>
      <vt:lpstr>2.4. Difference Amplifiers</vt:lpstr>
      <vt:lpstr>2.4.1. A Single Op-Amp Difference Amp</vt:lpstr>
      <vt:lpstr>共模输入情况</vt:lpstr>
      <vt:lpstr>输入阻抗</vt:lpstr>
      <vt:lpstr>PowerPoint 演示文稿</vt:lpstr>
      <vt:lpstr>A Shift in Notation</vt:lpstr>
      <vt:lpstr>2.4.2. The Instrumentation Amplifier 仪表放大器</vt:lpstr>
      <vt:lpstr>2.4.2. The Instrumentation Amplifier</vt:lpstr>
      <vt:lpstr>2.4.2. The Instrumentation Amplifier</vt:lpstr>
      <vt:lpstr>2.4.2. The Instrumentation Amplifier</vt:lpstr>
      <vt:lpstr>2.4.2. The Instrumentation Amplifier</vt:lpstr>
      <vt:lpstr>What is problem with ACm = A?</vt:lpstr>
      <vt:lpstr>differential gain &gt;&gt; common-mode gain</vt:lpstr>
      <vt:lpstr>differential gain = common-mode gain</vt:lpstr>
      <vt:lpstr>2.4.2. The Instrumentation Amplifier</vt:lpstr>
      <vt:lpstr>2.4.2. The Instrumentation Amplifier</vt:lpstr>
      <vt:lpstr>2.4.2. The Instrumentation Amplifier</vt:lpstr>
      <vt:lpstr>2.4.2. The Instrumentation Amplifier</vt:lpstr>
      <vt:lpstr>PowerPoint 演示文稿</vt:lpstr>
      <vt:lpstr>PowerPoint 演示文稿</vt:lpstr>
      <vt:lpstr>PowerPoint 演示文稿</vt:lpstr>
      <vt:lpstr>2.5. Integrators and Differentiators 积分电路 &amp; 微分电路</vt:lpstr>
      <vt:lpstr>2.5.1. The Inverting Configuration with General Impedances</vt:lpstr>
      <vt:lpstr>一阶电路特性回顾</vt:lpstr>
      <vt:lpstr>Example 2.4: Other Op-Amp Configurations 例题 </vt:lpstr>
      <vt:lpstr>Example 2.4: Other Op-Amp Configurations</vt:lpstr>
      <vt:lpstr>2.5.2. The Inverting Integrator 反相积分电路</vt:lpstr>
      <vt:lpstr>PowerPoint 演示文稿</vt:lpstr>
      <vt:lpstr>2.5.2. The Inverting Integrator</vt:lpstr>
      <vt:lpstr>2.5.2. The Inverting Integrator</vt:lpstr>
      <vt:lpstr>PowerPoint 演示文稿</vt:lpstr>
      <vt:lpstr>PowerPoint 演示文稿</vt:lpstr>
      <vt:lpstr>2.5.3. The Op-Amp Differentiator 微分电路</vt:lpstr>
      <vt:lpstr>2.5.3. The Op-Amp Differentiator</vt:lpstr>
      <vt:lpstr>2.5.3. The Op-Amp Differentiator</vt:lpstr>
      <vt:lpstr>补充说明</vt:lpstr>
      <vt:lpstr>补充说明</vt:lpstr>
      <vt:lpstr>小结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  <vt:lpstr>PowerPoint 演示文稿</vt:lpstr>
    </vt:vector>
  </TitlesOfParts>
  <Company>n/a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deese</dc:creator>
  <cp:lastModifiedBy>王瑞</cp:lastModifiedBy>
  <cp:revision>529</cp:revision>
  <dcterms:created xsi:type="dcterms:W3CDTF">2010-11-05T02:06:00Z</dcterms:created>
  <dcterms:modified xsi:type="dcterms:W3CDTF">2025-10-24T12:42:34Z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5E4DD85F034D4171B2BC178B8C101408_12</vt:lpwstr>
  </property>
  <property fmtid="{D5CDD505-2E9C-101B-9397-08002B2CF9AE}" pid="3" name="KSOProductBuildVer">
    <vt:lpwstr>2052-12.1.0.19770</vt:lpwstr>
  </property>
</Properties>
</file>