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673" r:id="rId3"/>
    <p:sldMasterId id="2147483685" r:id="rId4"/>
    <p:sldMasterId id="2147483697" r:id="rId5"/>
  </p:sldMasterIdLst>
  <p:notesMasterIdLst>
    <p:notesMasterId r:id="rId18"/>
  </p:notesMasterIdLst>
  <p:sldIdLst>
    <p:sldId id="551" r:id="rId6"/>
    <p:sldId id="288" r:id="rId7"/>
    <p:sldId id="514" r:id="rId8"/>
    <p:sldId id="553" r:id="rId9"/>
    <p:sldId id="556" r:id="rId10"/>
    <p:sldId id="557" r:id="rId11"/>
    <p:sldId id="558" r:id="rId12"/>
    <p:sldId id="559" r:id="rId13"/>
    <p:sldId id="554" r:id="rId14"/>
    <p:sldId id="555" r:id="rId15"/>
    <p:sldId id="259" r:id="rId16"/>
    <p:sldId id="258" r:id="rId1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00"/>
    <a:srgbClr val="3399FF"/>
    <a:srgbClr val="FF0066"/>
    <a:srgbClr val="00FFFF"/>
    <a:srgbClr val="FF00FF"/>
    <a:srgbClr val="66FF33"/>
    <a:srgbClr val="FF33CC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80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1470" y="-96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b="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="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1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/>
            </a:lvl1pPr>
          </a:lstStyle>
          <a:p>
            <a:pPr>
              <a:defRPr/>
            </a:pPr>
            <a:fld id="{A0B4ECDF-8042-42BE-A4D0-148604F793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29816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7C7657-688F-44AD-AA48-0B61449B0C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6245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705927-9A4D-496F-995C-BB62FF86A2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7457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4A3898-715A-4AF6-886C-A28C2E593F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0913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48F33D-64EC-48A7-B1F5-438BD2D6368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9659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B6614A-42F3-455E-998C-406E78C6B61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667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6C28D5-A777-46B8-8EC1-158ADEFAB6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793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164FF7-8A35-42EF-A767-AB505FBD08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0547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5FCCBD-9D9A-450A-9659-ED7BA4ED53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2345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8A8293-EDF2-4FC3-8E95-B5F04415A0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5225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F85AB8-18CE-4964-B7E1-1601A9E113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0632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E8753F-0F78-4BB4-BDB7-150AD4EE2E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6012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010FCB-358A-4B47-B82D-5190D9E8DA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4727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56135-260A-470C-A0E8-E96E2087411E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138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E0AA0C-2480-40B6-A482-BB74F9364B7C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20792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9243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905000"/>
            <a:ext cx="39243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BE20F8-3868-42DF-A9FB-5F8EDAAD53E7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571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B242F9-A1E7-402B-993E-2C799A67509C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4751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3F930A-E789-4879-B55E-F2714F297080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9910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2263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890489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264483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4226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685800"/>
            <a:ext cx="200025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584835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862414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159069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56135-260A-470C-A0E8-E96E2087411E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3924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E0AA0C-2480-40B6-A482-BB74F9364B7C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2950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9243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905000"/>
            <a:ext cx="39243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BE20F8-3868-42DF-A9FB-5F8EDAAD53E7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7728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B242F9-A1E7-402B-993E-2C799A67509C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1094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3F930A-E789-4879-B55E-F2714F297080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513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48186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761187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964195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926185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685800"/>
            <a:ext cx="200025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584835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079946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470596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56135-260A-470C-A0E8-E96E2087411E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27523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E0AA0C-2480-40B6-A482-BB74F9364B7C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1106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9243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905000"/>
            <a:ext cx="39243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BE20F8-3868-42DF-A9FB-5F8EDAAD53E7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9027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B242F9-A1E7-402B-993E-2C799A67509C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1215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3F930A-E789-4879-B55E-F2714F297080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5038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3000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304757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458543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2227612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685800"/>
            <a:ext cx="200025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584835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663351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074185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56135-260A-470C-A0E8-E96E2087411E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166194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E0AA0C-2480-40B6-A482-BB74F9364B7C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76549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9243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905000"/>
            <a:ext cx="39243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BE20F8-3868-42DF-A9FB-5F8EDAAD53E7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57954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B242F9-A1E7-402B-993E-2C799A67509C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558929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3F930A-E789-4879-B55E-F2714F297080}" type="slidenum">
              <a:rPr lang="zh-CN"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75510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46917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3382721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6135767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9295278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685800"/>
            <a:ext cx="200025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584835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29411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46555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smtClean="0"/>
            </a:lvl1pPr>
          </a:lstStyle>
          <a:p>
            <a:pPr>
              <a:defRPr/>
            </a:pPr>
            <a:fld id="{FBB909FC-9C18-4134-84B4-1CF79FF4A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85800"/>
            <a:ext cx="777240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Title</a:t>
            </a:r>
          </a:p>
        </p:txBody>
      </p:sp>
      <p:sp>
        <p:nvSpPr>
          <p:cNvPr id="1027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05000"/>
            <a:ext cx="80010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First Subtitel</a:t>
            </a:r>
          </a:p>
          <a:p>
            <a:pPr lvl="1"/>
            <a:r>
              <a:rPr lang="zh-CN" altLang="en-US"/>
              <a:t>2</a:t>
            </a:r>
            <a:r>
              <a:rPr lang="en-US" altLang="zh-CN"/>
              <a:t>nd level</a:t>
            </a:r>
            <a:endParaRPr lang="zh-CN" altLang="en-US"/>
          </a:p>
          <a:p>
            <a:pPr lvl="2"/>
            <a:r>
              <a:rPr lang="zh-CN" altLang="en-US"/>
              <a:t>3</a:t>
            </a:r>
            <a:r>
              <a:rPr lang="en-US" altLang="zh-CN"/>
              <a:t>rd Level</a:t>
            </a:r>
            <a:endParaRPr lang="zh-CN" altLang="en-US"/>
          </a:p>
          <a:p>
            <a:pPr lvl="3"/>
            <a:r>
              <a:rPr lang="zh-CN" altLang="en-US"/>
              <a:t>4</a:t>
            </a:r>
            <a:r>
              <a:rPr lang="en-US" altLang="zh-CN"/>
              <a:t>th Level</a:t>
            </a:r>
            <a:endParaRPr lang="zh-CN" altLang="en-US"/>
          </a:p>
          <a:p>
            <a:pPr lvl="4"/>
            <a:r>
              <a:rPr lang="zh-CN" altLang="en-US"/>
              <a:t>5</a:t>
            </a:r>
            <a:r>
              <a:rPr lang="en-US" altLang="zh-CN"/>
              <a:t>th Level</a:t>
            </a: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477000"/>
            <a:ext cx="381000" cy="381000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fld id="{84A6DC88-D466-47DB-90EF-C0D530FD1416}" type="slidenum">
              <a:rPr lang="zh-CN" altLang="en-US" b="0" i="1" smtClean="0">
                <a:solidFill>
                  <a:srgbClr val="FFFFFF"/>
                </a:solidFill>
                <a:ea typeface="宋体" pitchFamily="2" charset="-122"/>
              </a:rPr>
              <a:pPr>
                <a:defRPr/>
              </a:pPr>
              <a:t>‹#›</a:t>
            </a:fld>
            <a:endParaRPr lang="en-US" altLang="zh-CN" b="0" i="1" dirty="0">
              <a:solidFill>
                <a:srgbClr val="FFFFFF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460703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ctr" rtl="0" eaLnBrk="0" fontAlgn="base" hangingPunct="0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2pPr>
      <a:lvl3pPr algn="ctr" rtl="0" eaLnBrk="0" fontAlgn="base" hangingPunct="0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3pPr>
      <a:lvl4pPr algn="ctr" rtl="0" eaLnBrk="0" fontAlgn="base" hangingPunct="0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4pPr>
      <a:lvl5pPr algn="ctr" rtl="0" eaLnBrk="0" fontAlgn="base" hangingPunct="0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5pPr>
      <a:lvl6pPr marL="457200" algn="ctr" rtl="0" fontAlgn="base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6pPr>
      <a:lvl7pPr marL="914400" algn="ctr" rtl="0" fontAlgn="base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7pPr>
      <a:lvl8pPr marL="1371600" algn="ctr" rtl="0" fontAlgn="base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8pPr>
      <a:lvl9pPr marL="1828800" algn="ctr" rtl="0" fontAlgn="base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n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ebdings" pitchFamily="18" charset="2"/>
        <a:buChar char="="/>
        <a:defRPr kumimoji="1" sz="26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¾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è"/>
        <a:defRPr kumimoji="1" sz="22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85800"/>
            <a:ext cx="777240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Title</a:t>
            </a:r>
          </a:p>
        </p:txBody>
      </p:sp>
      <p:sp>
        <p:nvSpPr>
          <p:cNvPr id="1027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05000"/>
            <a:ext cx="80010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First Subtitel</a:t>
            </a:r>
          </a:p>
          <a:p>
            <a:pPr lvl="1"/>
            <a:r>
              <a:rPr lang="zh-CN" altLang="en-US"/>
              <a:t>2</a:t>
            </a:r>
            <a:r>
              <a:rPr lang="en-US" altLang="zh-CN"/>
              <a:t>nd level</a:t>
            </a:r>
            <a:endParaRPr lang="zh-CN" altLang="en-US"/>
          </a:p>
          <a:p>
            <a:pPr lvl="2"/>
            <a:r>
              <a:rPr lang="zh-CN" altLang="en-US"/>
              <a:t>3</a:t>
            </a:r>
            <a:r>
              <a:rPr lang="en-US" altLang="zh-CN"/>
              <a:t>rd Level</a:t>
            </a:r>
            <a:endParaRPr lang="zh-CN" altLang="en-US"/>
          </a:p>
          <a:p>
            <a:pPr lvl="3"/>
            <a:r>
              <a:rPr lang="zh-CN" altLang="en-US"/>
              <a:t>4</a:t>
            </a:r>
            <a:r>
              <a:rPr lang="en-US" altLang="zh-CN"/>
              <a:t>th Level</a:t>
            </a:r>
            <a:endParaRPr lang="zh-CN" altLang="en-US"/>
          </a:p>
          <a:p>
            <a:pPr lvl="4"/>
            <a:r>
              <a:rPr lang="zh-CN" altLang="en-US"/>
              <a:t>5</a:t>
            </a:r>
            <a:r>
              <a:rPr lang="en-US" altLang="zh-CN"/>
              <a:t>th Level</a:t>
            </a: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477000"/>
            <a:ext cx="381000" cy="381000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fld id="{84A6DC88-D466-47DB-90EF-C0D530FD1416}" type="slidenum">
              <a:rPr lang="zh-CN" altLang="en-US" b="0" i="1" smtClean="0">
                <a:solidFill>
                  <a:srgbClr val="FFFFFF"/>
                </a:solidFill>
                <a:ea typeface="宋体" pitchFamily="2" charset="-122"/>
              </a:rPr>
              <a:pPr>
                <a:defRPr/>
              </a:pPr>
              <a:t>‹#›</a:t>
            </a:fld>
            <a:endParaRPr lang="en-US" altLang="zh-CN" b="0" i="1" dirty="0">
              <a:solidFill>
                <a:srgbClr val="FFFFFF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5121732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ctr" rtl="0" eaLnBrk="0" fontAlgn="base" hangingPunct="0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2pPr>
      <a:lvl3pPr algn="ctr" rtl="0" eaLnBrk="0" fontAlgn="base" hangingPunct="0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3pPr>
      <a:lvl4pPr algn="ctr" rtl="0" eaLnBrk="0" fontAlgn="base" hangingPunct="0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4pPr>
      <a:lvl5pPr algn="ctr" rtl="0" eaLnBrk="0" fontAlgn="base" hangingPunct="0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5pPr>
      <a:lvl6pPr marL="457200" algn="ctr" rtl="0" fontAlgn="base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6pPr>
      <a:lvl7pPr marL="914400" algn="ctr" rtl="0" fontAlgn="base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7pPr>
      <a:lvl8pPr marL="1371600" algn="ctr" rtl="0" fontAlgn="base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8pPr>
      <a:lvl9pPr marL="1828800" algn="ctr" rtl="0" fontAlgn="base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n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ebdings" pitchFamily="18" charset="2"/>
        <a:buChar char="="/>
        <a:defRPr kumimoji="1" sz="26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¾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è"/>
        <a:defRPr kumimoji="1" sz="22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85800"/>
            <a:ext cx="777240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Title</a:t>
            </a:r>
          </a:p>
        </p:txBody>
      </p:sp>
      <p:sp>
        <p:nvSpPr>
          <p:cNvPr id="1027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05000"/>
            <a:ext cx="80010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First Subtitel</a:t>
            </a:r>
          </a:p>
          <a:p>
            <a:pPr lvl="1"/>
            <a:r>
              <a:rPr lang="zh-CN" altLang="en-US"/>
              <a:t>2</a:t>
            </a:r>
            <a:r>
              <a:rPr lang="en-US" altLang="zh-CN"/>
              <a:t>nd level</a:t>
            </a:r>
            <a:endParaRPr lang="zh-CN" altLang="en-US"/>
          </a:p>
          <a:p>
            <a:pPr lvl="2"/>
            <a:r>
              <a:rPr lang="zh-CN" altLang="en-US"/>
              <a:t>3</a:t>
            </a:r>
            <a:r>
              <a:rPr lang="en-US" altLang="zh-CN"/>
              <a:t>rd Level</a:t>
            </a:r>
            <a:endParaRPr lang="zh-CN" altLang="en-US"/>
          </a:p>
          <a:p>
            <a:pPr lvl="3"/>
            <a:r>
              <a:rPr lang="zh-CN" altLang="en-US"/>
              <a:t>4</a:t>
            </a:r>
            <a:r>
              <a:rPr lang="en-US" altLang="zh-CN"/>
              <a:t>th Level</a:t>
            </a:r>
            <a:endParaRPr lang="zh-CN" altLang="en-US"/>
          </a:p>
          <a:p>
            <a:pPr lvl="4"/>
            <a:r>
              <a:rPr lang="zh-CN" altLang="en-US"/>
              <a:t>5</a:t>
            </a:r>
            <a:r>
              <a:rPr lang="en-US" altLang="zh-CN"/>
              <a:t>th Level</a:t>
            </a: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477000"/>
            <a:ext cx="381000" cy="381000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fld id="{84A6DC88-D466-47DB-90EF-C0D530FD1416}" type="slidenum">
              <a:rPr lang="zh-CN" altLang="en-US" b="0" i="1" smtClean="0">
                <a:solidFill>
                  <a:srgbClr val="FFFFFF"/>
                </a:solidFill>
                <a:ea typeface="宋体" pitchFamily="2" charset="-122"/>
              </a:rPr>
              <a:pPr>
                <a:defRPr/>
              </a:pPr>
              <a:t>‹#›</a:t>
            </a:fld>
            <a:endParaRPr lang="en-US" altLang="zh-CN" b="0" i="1" dirty="0">
              <a:solidFill>
                <a:srgbClr val="FFFFFF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925220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ctr" rtl="0" eaLnBrk="0" fontAlgn="base" hangingPunct="0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2pPr>
      <a:lvl3pPr algn="ctr" rtl="0" eaLnBrk="0" fontAlgn="base" hangingPunct="0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3pPr>
      <a:lvl4pPr algn="ctr" rtl="0" eaLnBrk="0" fontAlgn="base" hangingPunct="0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4pPr>
      <a:lvl5pPr algn="ctr" rtl="0" eaLnBrk="0" fontAlgn="base" hangingPunct="0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5pPr>
      <a:lvl6pPr marL="457200" algn="ctr" rtl="0" fontAlgn="base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6pPr>
      <a:lvl7pPr marL="914400" algn="ctr" rtl="0" fontAlgn="base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7pPr>
      <a:lvl8pPr marL="1371600" algn="ctr" rtl="0" fontAlgn="base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8pPr>
      <a:lvl9pPr marL="1828800" algn="ctr" rtl="0" fontAlgn="base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n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ebdings" pitchFamily="18" charset="2"/>
        <a:buChar char="="/>
        <a:defRPr kumimoji="1" sz="26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¾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è"/>
        <a:defRPr kumimoji="1" sz="22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85800"/>
            <a:ext cx="777240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Title</a:t>
            </a:r>
          </a:p>
        </p:txBody>
      </p:sp>
      <p:sp>
        <p:nvSpPr>
          <p:cNvPr id="1027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05000"/>
            <a:ext cx="80010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First Subtitel</a:t>
            </a:r>
          </a:p>
          <a:p>
            <a:pPr lvl="1"/>
            <a:r>
              <a:rPr lang="zh-CN" altLang="en-US"/>
              <a:t>2</a:t>
            </a:r>
            <a:r>
              <a:rPr lang="en-US" altLang="zh-CN"/>
              <a:t>nd level</a:t>
            </a:r>
            <a:endParaRPr lang="zh-CN" altLang="en-US"/>
          </a:p>
          <a:p>
            <a:pPr lvl="2"/>
            <a:r>
              <a:rPr lang="zh-CN" altLang="en-US"/>
              <a:t>3</a:t>
            </a:r>
            <a:r>
              <a:rPr lang="en-US" altLang="zh-CN"/>
              <a:t>rd Level</a:t>
            </a:r>
            <a:endParaRPr lang="zh-CN" altLang="en-US"/>
          </a:p>
          <a:p>
            <a:pPr lvl="3"/>
            <a:r>
              <a:rPr lang="zh-CN" altLang="en-US"/>
              <a:t>4</a:t>
            </a:r>
            <a:r>
              <a:rPr lang="en-US" altLang="zh-CN"/>
              <a:t>th Level</a:t>
            </a:r>
            <a:endParaRPr lang="zh-CN" altLang="en-US"/>
          </a:p>
          <a:p>
            <a:pPr lvl="4"/>
            <a:r>
              <a:rPr lang="zh-CN" altLang="en-US"/>
              <a:t>5</a:t>
            </a:r>
            <a:r>
              <a:rPr lang="en-US" altLang="zh-CN"/>
              <a:t>th Level</a:t>
            </a: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477000"/>
            <a:ext cx="381000" cy="381000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fld id="{84A6DC88-D466-47DB-90EF-C0D530FD1416}" type="slidenum">
              <a:rPr lang="zh-CN" altLang="en-US" b="0" i="1" smtClean="0">
                <a:solidFill>
                  <a:srgbClr val="FFFFFF"/>
                </a:solidFill>
                <a:ea typeface="宋体" pitchFamily="2" charset="-122"/>
              </a:rPr>
              <a:pPr>
                <a:defRPr/>
              </a:pPr>
              <a:t>‹#›</a:t>
            </a:fld>
            <a:endParaRPr lang="en-US" altLang="zh-CN" b="0" i="1" dirty="0">
              <a:solidFill>
                <a:srgbClr val="FFFFFF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1562794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ctr" rtl="0" eaLnBrk="0" fontAlgn="base" hangingPunct="0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2pPr>
      <a:lvl3pPr algn="ctr" rtl="0" eaLnBrk="0" fontAlgn="base" hangingPunct="0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3pPr>
      <a:lvl4pPr algn="ctr" rtl="0" eaLnBrk="0" fontAlgn="base" hangingPunct="0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4pPr>
      <a:lvl5pPr algn="ctr" rtl="0" eaLnBrk="0" fontAlgn="base" hangingPunct="0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5pPr>
      <a:lvl6pPr marL="457200" algn="ctr" rtl="0" fontAlgn="base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6pPr>
      <a:lvl7pPr marL="914400" algn="ctr" rtl="0" fontAlgn="base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7pPr>
      <a:lvl8pPr marL="1371600" algn="ctr" rtl="0" fontAlgn="base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8pPr>
      <a:lvl9pPr marL="1828800" algn="ctr" rtl="0" fontAlgn="base">
        <a:spcBef>
          <a:spcPct val="5000"/>
        </a:spcBef>
        <a:spcAft>
          <a:spcPct val="5000"/>
        </a:spcAft>
        <a:defRPr kumimoji="1" sz="4000">
          <a:solidFill>
            <a:schemeClr val="tx1"/>
          </a:solidFill>
          <a:latin typeface="Times New Roman" pitchFamily="18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n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ebdings" pitchFamily="18" charset="2"/>
        <a:buChar char="="/>
        <a:defRPr kumimoji="1" sz="26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¾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è"/>
        <a:defRPr kumimoji="1" sz="22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1.xml"/><Relationship Id="rId4" Type="http://schemas.openxmlformats.org/officeDocument/2006/relationships/slide" Target="slide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10.105.5.75/" TargetMode="External"/><Relationship Id="rId2" Type="http://schemas.openxmlformats.org/officeDocument/2006/relationships/hyperlink" Target="https://bc0403.github.io/EC2024/" TargetMode="External"/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4" name="Rectangle 6"/>
          <p:cNvSpPr>
            <a:spLocks noChangeArrowheads="1"/>
          </p:cNvSpPr>
          <p:nvPr/>
        </p:nvSpPr>
        <p:spPr bwMode="auto">
          <a:xfrm>
            <a:off x="228600" y="1484784"/>
            <a:ext cx="8736013" cy="356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n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ebdings" pitchFamily="18" charset="2"/>
              <a:buChar char="="/>
              <a:defRPr kumimoji="1" sz="2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 2" pitchFamily="18" charset="2"/>
              <a:buChar char="¾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Font typeface="Wingdings 2" pitchFamily="18" charset="2"/>
              <a:buChar char="è"/>
              <a:defRPr kumimoji="1" sz="2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0" hangingPunct="0">
              <a:buClr>
                <a:srgbClr val="FFFFFF"/>
              </a:buClr>
              <a:buFont typeface="Monotype Sorts" pitchFamily="2" charset="2"/>
              <a:buNone/>
            </a:pPr>
            <a:r>
              <a:rPr lang="zh-CN" altLang="en-US" sz="80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电子电路基础</a:t>
            </a:r>
            <a:endParaRPr lang="en-US" altLang="zh-CN" sz="80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 eaLnBrk="0" hangingPunct="0">
              <a:buClr>
                <a:srgbClr val="FFFFFF"/>
              </a:buClr>
              <a:buFont typeface="Monotype Sorts" pitchFamily="2" charset="2"/>
              <a:buNone/>
            </a:pPr>
            <a:endParaRPr lang="zh-CN" altLang="en-US" sz="5600" b="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ctr" eaLnBrk="0" hangingPunct="0">
              <a:buClr>
                <a:srgbClr val="FFFFFF"/>
              </a:buClr>
              <a:buFont typeface="Monotype Sorts" pitchFamily="2" charset="2"/>
              <a:buNone/>
            </a:pPr>
            <a:r>
              <a:rPr lang="en-US" altLang="zh-CN" sz="44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华文琥珀" pitchFamily="2" charset="-122"/>
                <a:cs typeface="Aharoni" panose="02010803020104030203" pitchFamily="2" charset="-79"/>
              </a:rPr>
              <a:t>Fundamentals of Electric Circuits</a:t>
            </a:r>
          </a:p>
          <a:p>
            <a:pPr algn="ctr" eaLnBrk="0" hangingPunct="0">
              <a:buClr>
                <a:srgbClr val="FFFFFF"/>
              </a:buClr>
              <a:buFont typeface="Monotype Sorts" pitchFamily="2" charset="2"/>
              <a:buNone/>
            </a:pPr>
            <a:endParaRPr lang="en-US" altLang="zh-CN" sz="4000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219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09650" y="846138"/>
            <a:ext cx="7010400" cy="684212"/>
          </a:xfrm>
          <a:gradFill rotWithShape="0">
            <a:gsLst>
              <a:gs pos="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effectLst>
            <a:prstShdw prst="shdw17" dist="17961" dir="2700000">
              <a:srgbClr val="FFFFFF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第</a:t>
            </a:r>
            <a:r>
              <a:rPr lang="en-US" altLang="zh-CN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1</a:t>
            </a:r>
            <a:r>
              <a:rPr lang="zh-CN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章  电路基本概述</a:t>
            </a:r>
            <a:endParaRPr lang="zh-CN" altLang="en-US" sz="4800" b="1" i="1" dirty="0">
              <a:solidFill>
                <a:srgbClr val="FF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051" name="Text Box 10" descr="蓝色砂纸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800225" y="2260600"/>
            <a:ext cx="5232400" cy="5794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/>
            <a:r>
              <a:rPr lang="zh-CN" altLang="en-US" sz="32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绪论</a:t>
            </a:r>
          </a:p>
        </p:txBody>
      </p:sp>
      <p:sp>
        <p:nvSpPr>
          <p:cNvPr id="2052" name="Rectangle 11" descr="蓝色砂纸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1800225" y="4699000"/>
            <a:ext cx="5270500" cy="5794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/>
            <a:r>
              <a:rPr lang="zh-CN" altLang="en-US" sz="3200" dirty="0">
                <a:solidFill>
                  <a:schemeClr val="tx2"/>
                </a:solidFill>
                <a:ea typeface="楷体_GB2312" pitchFamily="49" charset="-122"/>
              </a:rPr>
              <a:t>基本电路元件</a:t>
            </a:r>
          </a:p>
        </p:txBody>
      </p:sp>
      <p:sp>
        <p:nvSpPr>
          <p:cNvPr id="2053" name="Text Box 13" descr="蓝色砂纸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1800225" y="3479800"/>
            <a:ext cx="5248275" cy="579438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/>
            <a:r>
              <a:rPr lang="zh-CN" altLang="en-US" sz="32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电路基本知识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369888" y="1249257"/>
            <a:ext cx="77343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990033"/>
                </a:solidFill>
              </a:rPr>
              <a:t>1.1.1 </a:t>
            </a:r>
            <a:r>
              <a:rPr lang="zh-CN" altLang="en-US" dirty="0">
                <a:solidFill>
                  <a:srgbClr val="990033"/>
                </a:solidFill>
              </a:rPr>
              <a:t>课程要求及其参考书籍</a:t>
            </a:r>
            <a:r>
              <a:rPr lang="zh-CN" altLang="en-US" dirty="0">
                <a:solidFill>
                  <a:schemeClr val="tx2"/>
                </a:solidFill>
              </a:rPr>
              <a:t>       </a:t>
            </a:r>
          </a:p>
        </p:txBody>
      </p:sp>
      <p:sp>
        <p:nvSpPr>
          <p:cNvPr id="3075" name="Rectangle 56"/>
          <p:cNvSpPr>
            <a:spLocks noChangeArrowheads="1"/>
          </p:cNvSpPr>
          <p:nvPr/>
        </p:nvSpPr>
        <p:spPr bwMode="auto">
          <a:xfrm>
            <a:off x="768350" y="452438"/>
            <a:ext cx="7515225" cy="519112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/>
            <a:r>
              <a:rPr lang="en-US" altLang="zh-CN" sz="2800" dirty="0">
                <a:solidFill>
                  <a:schemeClr val="tx2"/>
                </a:solidFill>
              </a:rPr>
              <a:t>1.1 </a:t>
            </a:r>
            <a:r>
              <a:rPr lang="zh-CN" altLang="en-US" sz="2800" dirty="0">
                <a:solidFill>
                  <a:schemeClr val="tx2"/>
                </a:solidFill>
              </a:rPr>
              <a:t>绪论</a:t>
            </a:r>
          </a:p>
        </p:txBody>
      </p:sp>
      <p:sp>
        <p:nvSpPr>
          <p:cNvPr id="8" name="Text Box 13"/>
          <p:cNvSpPr txBox="1">
            <a:spLocks noChangeArrowheads="1"/>
          </p:cNvSpPr>
          <p:nvPr/>
        </p:nvSpPr>
        <p:spPr bwMode="auto">
          <a:xfrm>
            <a:off x="617460" y="1880918"/>
            <a:ext cx="7199771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1</a:t>
            </a:r>
            <a:r>
              <a:rPr lang="zh-CN" altLang="en-US" sz="2400" dirty="0">
                <a:solidFill>
                  <a:srgbClr val="000000"/>
                </a:solidFill>
              </a:rPr>
              <a:t>、任课教师：金浩、骆季奎</a:t>
            </a:r>
            <a:br>
              <a:rPr lang="en-US" altLang="zh-CN" sz="2400" dirty="0">
                <a:solidFill>
                  <a:srgbClr val="000000"/>
                </a:solidFill>
              </a:rPr>
            </a:br>
            <a:r>
              <a:rPr lang="en-US" altLang="zh-CN" sz="2200" dirty="0">
                <a:solidFill>
                  <a:srgbClr val="000000"/>
                </a:solidFill>
              </a:rPr>
              <a:t>     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CN" sz="1800" dirty="0">
              <a:solidFill>
                <a:srgbClr val="000000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2</a:t>
            </a:r>
            <a:r>
              <a:rPr lang="zh-CN" altLang="en-US" sz="2400" dirty="0">
                <a:solidFill>
                  <a:srgbClr val="000000"/>
                </a:solidFill>
              </a:rPr>
              <a:t>、助教：周阅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200" dirty="0">
                <a:solidFill>
                  <a:srgbClr val="000000"/>
                </a:solidFill>
              </a:rPr>
              <a:t>      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CN" sz="1800" dirty="0">
              <a:solidFill>
                <a:srgbClr val="000000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3</a:t>
            </a:r>
            <a:r>
              <a:rPr lang="zh-CN" altLang="en-US" sz="2400" dirty="0">
                <a:solidFill>
                  <a:srgbClr val="000000"/>
                </a:solidFill>
              </a:rPr>
              <a:t>、学在浙大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marL="457200" lvl="1" indent="0" eaLnBrk="1" hangingPunct="1">
              <a:spcBef>
                <a:spcPct val="50000"/>
              </a:spcBef>
              <a:buFontTx/>
              <a:buNone/>
            </a:pPr>
            <a:r>
              <a:rPr lang="zh-CN" altLang="en-US" sz="2200" dirty="0">
                <a:solidFill>
                  <a:srgbClr val="000000"/>
                </a:solidFill>
              </a:rPr>
              <a:t>下载课件，布置作业，上交作业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43206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13"/>
          <p:cNvSpPr txBox="1">
            <a:spLocks noChangeArrowheads="1"/>
          </p:cNvSpPr>
          <p:nvPr/>
        </p:nvSpPr>
        <p:spPr bwMode="auto">
          <a:xfrm>
            <a:off x="590778" y="237662"/>
            <a:ext cx="7812868" cy="646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4</a:t>
            </a:r>
            <a:r>
              <a:rPr lang="zh-CN" altLang="en-US" sz="2400" dirty="0">
                <a:solidFill>
                  <a:srgbClr val="000000"/>
                </a:solidFill>
              </a:rPr>
              <a:t>、作业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      每周交一次，以百分制计分。上交截止时间：</a:t>
            </a:r>
            <a:r>
              <a:rPr lang="zh-CN" altLang="en-US" sz="2400" dirty="0">
                <a:solidFill>
                  <a:srgbClr val="FF0000"/>
                </a:solidFill>
              </a:rPr>
              <a:t>每周一晚</a:t>
            </a:r>
            <a:r>
              <a:rPr lang="en-US" altLang="zh-CN" sz="2400" dirty="0">
                <a:solidFill>
                  <a:srgbClr val="FF0000"/>
                </a:solidFill>
              </a:rPr>
              <a:t>23:59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457200" lvl="1" indent="0" eaLnBrk="1" hangingPunct="1">
              <a:spcBef>
                <a:spcPct val="50000"/>
              </a:spcBef>
              <a:buFontTx/>
              <a:buNone/>
            </a:pPr>
            <a:endParaRPr lang="en-US" altLang="zh-CN" sz="2400" dirty="0">
              <a:solidFill>
                <a:srgbClr val="000000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5</a:t>
            </a:r>
            <a:r>
              <a:rPr lang="zh-CN" altLang="en-US" sz="2400" dirty="0">
                <a:solidFill>
                  <a:srgbClr val="000000"/>
                </a:solidFill>
              </a:rPr>
              <a:t>、期中考试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      考试内容截止到电基课程大纲第</a:t>
            </a:r>
            <a:r>
              <a:rPr lang="en-US" altLang="zh-CN" sz="2000" dirty="0">
                <a:solidFill>
                  <a:srgbClr val="000000"/>
                </a:solidFill>
              </a:rPr>
              <a:t>5</a:t>
            </a:r>
            <a:r>
              <a:rPr lang="zh-CN" altLang="en-US" sz="2000" dirty="0">
                <a:solidFill>
                  <a:srgbClr val="000000"/>
                </a:solidFill>
              </a:rPr>
              <a:t>章。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     </a:t>
            </a:r>
            <a:r>
              <a:rPr lang="zh-CN" altLang="en-US" sz="2000" dirty="0">
                <a:solidFill>
                  <a:srgbClr val="000000"/>
                </a:solidFill>
              </a:rPr>
              <a:t>闭卷考试，考试时间</a:t>
            </a:r>
            <a:r>
              <a:rPr lang="en-US" altLang="zh-CN" sz="2000" dirty="0">
                <a:solidFill>
                  <a:srgbClr val="000000"/>
                </a:solidFill>
              </a:rPr>
              <a:t>120</a:t>
            </a:r>
            <a:r>
              <a:rPr lang="zh-CN" altLang="en-US" sz="2000" dirty="0">
                <a:solidFill>
                  <a:srgbClr val="000000"/>
                </a:solidFill>
              </a:rPr>
              <a:t>分钟，题型包括推导、分析和计算题。</a:t>
            </a:r>
            <a:r>
              <a:rPr lang="zh-CN" altLang="en-US" sz="2000" dirty="0">
                <a:solidFill>
                  <a:schemeClr val="accent2"/>
                </a:solidFill>
              </a:rPr>
              <a:t>初步安排在</a:t>
            </a:r>
            <a:r>
              <a:rPr lang="en-US" altLang="zh-CN" sz="2000" dirty="0">
                <a:solidFill>
                  <a:schemeClr val="accent2"/>
                </a:solidFill>
              </a:rPr>
              <a:t>11</a:t>
            </a:r>
            <a:r>
              <a:rPr lang="zh-CN" altLang="en-US" sz="2000" dirty="0">
                <a:solidFill>
                  <a:schemeClr val="accent2"/>
                </a:solidFill>
              </a:rPr>
              <a:t>月</a:t>
            </a:r>
            <a:r>
              <a:rPr lang="en-US" altLang="zh-CN" sz="2000" dirty="0">
                <a:solidFill>
                  <a:schemeClr val="accent2"/>
                </a:solidFill>
              </a:rPr>
              <a:t>8</a:t>
            </a:r>
            <a:r>
              <a:rPr lang="zh-CN" altLang="en-US" sz="2000" dirty="0">
                <a:solidFill>
                  <a:schemeClr val="accent2"/>
                </a:solidFill>
              </a:rPr>
              <a:t>日（周六）</a:t>
            </a:r>
            <a:r>
              <a:rPr lang="en-US" altLang="zh-CN" sz="2000" dirty="0">
                <a:solidFill>
                  <a:schemeClr val="accent2"/>
                </a:solidFill>
              </a:rPr>
              <a:t>8:30-10:30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6</a:t>
            </a:r>
            <a:r>
              <a:rPr lang="zh-CN" altLang="en-US" sz="2400" dirty="0">
                <a:solidFill>
                  <a:srgbClr val="000000"/>
                </a:solidFill>
              </a:rPr>
              <a:t>、期末考试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      包括大纲所有内容，但前</a:t>
            </a:r>
            <a:r>
              <a:rPr lang="en-US" altLang="zh-CN" sz="2000" dirty="0">
                <a:solidFill>
                  <a:srgbClr val="000000"/>
                </a:solidFill>
              </a:rPr>
              <a:t>5</a:t>
            </a:r>
            <a:r>
              <a:rPr lang="zh-CN" altLang="en-US" sz="2000" dirty="0">
                <a:solidFill>
                  <a:srgbClr val="000000"/>
                </a:solidFill>
              </a:rPr>
              <a:t>章内容主要出现在选择题和填空题。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     </a:t>
            </a:r>
            <a:r>
              <a:rPr lang="zh-CN" altLang="en-US" sz="2000" dirty="0">
                <a:solidFill>
                  <a:srgbClr val="000000"/>
                </a:solidFill>
              </a:rPr>
              <a:t>闭卷考试，考试时间</a:t>
            </a:r>
            <a:r>
              <a:rPr lang="en-US" altLang="zh-CN" sz="2000" dirty="0">
                <a:solidFill>
                  <a:srgbClr val="000000"/>
                </a:solidFill>
              </a:rPr>
              <a:t>120</a:t>
            </a:r>
            <a:r>
              <a:rPr lang="zh-CN" altLang="en-US" sz="2000" dirty="0">
                <a:solidFill>
                  <a:srgbClr val="000000"/>
                </a:solidFill>
              </a:rPr>
              <a:t>分钟，题型包括选择题（</a:t>
            </a:r>
            <a:r>
              <a:rPr lang="en-US" altLang="zh-CN" sz="2000" dirty="0">
                <a:solidFill>
                  <a:srgbClr val="000000"/>
                </a:solidFill>
              </a:rPr>
              <a:t>20</a:t>
            </a:r>
            <a:r>
              <a:rPr lang="zh-CN" altLang="en-US" sz="2000" dirty="0">
                <a:solidFill>
                  <a:srgbClr val="000000"/>
                </a:solidFill>
              </a:rPr>
              <a:t>分）、填空题（</a:t>
            </a:r>
            <a:r>
              <a:rPr lang="en-US" altLang="zh-CN" sz="2000" dirty="0">
                <a:solidFill>
                  <a:srgbClr val="000000"/>
                </a:solidFill>
              </a:rPr>
              <a:t>20</a:t>
            </a:r>
            <a:r>
              <a:rPr lang="zh-CN" altLang="en-US" sz="2000" dirty="0">
                <a:solidFill>
                  <a:srgbClr val="000000"/>
                </a:solidFill>
              </a:rPr>
              <a:t>分）和计算题（</a:t>
            </a:r>
            <a:r>
              <a:rPr lang="en-US" altLang="zh-CN" sz="2000" dirty="0">
                <a:solidFill>
                  <a:srgbClr val="000000"/>
                </a:solidFill>
              </a:rPr>
              <a:t>60</a:t>
            </a:r>
            <a:r>
              <a:rPr lang="zh-CN" altLang="en-US" sz="2000" dirty="0">
                <a:solidFill>
                  <a:srgbClr val="000000"/>
                </a:solidFill>
              </a:rPr>
              <a:t>分）。</a:t>
            </a:r>
            <a:r>
              <a:rPr lang="zh-CN" altLang="en-US" sz="2000" dirty="0">
                <a:solidFill>
                  <a:srgbClr val="FF0000"/>
                </a:solidFill>
              </a:rPr>
              <a:t>考试内容包括所有知识点，期中考试前的内容只出现在选择题和填空题中，占比约</a:t>
            </a:r>
            <a:r>
              <a:rPr lang="en-US" altLang="zh-CN" sz="2000" dirty="0">
                <a:solidFill>
                  <a:srgbClr val="FF0000"/>
                </a:solidFill>
              </a:rPr>
              <a:t>20%</a:t>
            </a:r>
            <a:r>
              <a:rPr lang="zh-CN" altLang="en-US" sz="2000" dirty="0">
                <a:solidFill>
                  <a:srgbClr val="FF0000"/>
                </a:solidFill>
              </a:rPr>
              <a:t>。</a:t>
            </a:r>
            <a:endParaRPr lang="en-US" altLang="zh-CN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953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3" descr="水滴"/>
          <p:cNvSpPr txBox="1">
            <a:spLocks noChangeArrowheads="1"/>
          </p:cNvSpPr>
          <p:nvPr/>
        </p:nvSpPr>
        <p:spPr bwMode="auto">
          <a:xfrm>
            <a:off x="2095985" y="663111"/>
            <a:ext cx="4922516" cy="707886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>
            <a:prstShdw prst="shdw17" dist="17961" dir="2700000">
              <a:srgbClr val="7A9999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4000" dirty="0">
                <a:solidFill>
                  <a:srgbClr val="3333CC"/>
                </a:solidFill>
                <a:ea typeface="华文行楷" pitchFamily="2" charset="-122"/>
              </a:rPr>
              <a:t>期末总评成绩组成</a:t>
            </a:r>
          </a:p>
        </p:txBody>
      </p:sp>
      <p:sp>
        <p:nvSpPr>
          <p:cNvPr id="3075" name="Rectangle 5" descr="蓝色砂纸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3115505" y="2753688"/>
            <a:ext cx="2158801" cy="40011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作业、小测验</a:t>
            </a:r>
          </a:p>
        </p:txBody>
      </p:sp>
      <p:sp>
        <p:nvSpPr>
          <p:cNvPr id="3076" name="Text Box 6" descr="蓝色砂纸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115504" y="5303033"/>
            <a:ext cx="2184289" cy="40011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ea typeface="楷体_GB2312" pitchFamily="49" charset="-122"/>
              </a:rPr>
              <a:t>期末考试</a:t>
            </a:r>
          </a:p>
        </p:txBody>
      </p:sp>
      <p:sp>
        <p:nvSpPr>
          <p:cNvPr id="3077" name="Text Box 7" descr="蓝色砂纸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3115505" y="1950216"/>
            <a:ext cx="2113363" cy="40011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期中考试</a:t>
            </a:r>
          </a:p>
        </p:txBody>
      </p:sp>
      <p:sp>
        <p:nvSpPr>
          <p:cNvPr id="3079" name="Text Box 9"/>
          <p:cNvSpPr txBox="1">
            <a:spLocks noChangeArrowheads="1"/>
          </p:cNvSpPr>
          <p:nvPr/>
        </p:nvSpPr>
        <p:spPr bwMode="auto">
          <a:xfrm>
            <a:off x="1295766" y="3107635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50%</a:t>
            </a:r>
          </a:p>
        </p:txBody>
      </p:sp>
      <p:sp>
        <p:nvSpPr>
          <p:cNvPr id="3081" name="Text Box 11"/>
          <p:cNvSpPr txBox="1">
            <a:spLocks noChangeArrowheads="1"/>
          </p:cNvSpPr>
          <p:nvPr/>
        </p:nvSpPr>
        <p:spPr bwMode="auto">
          <a:xfrm>
            <a:off x="1295766" y="5256731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50%</a:t>
            </a:r>
          </a:p>
        </p:txBody>
      </p:sp>
      <p:sp>
        <p:nvSpPr>
          <p:cNvPr id="3083" name="Text Box 13"/>
          <p:cNvSpPr txBox="1">
            <a:spLocks noChangeArrowheads="1"/>
          </p:cNvSpPr>
          <p:nvPr/>
        </p:nvSpPr>
        <p:spPr bwMode="auto">
          <a:xfrm>
            <a:off x="6210410" y="1898973"/>
            <a:ext cx="121379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</a:rPr>
              <a:t>30%</a:t>
            </a:r>
            <a:r>
              <a:rPr lang="zh-CN" altLang="en-US" sz="2000" dirty="0">
                <a:solidFill>
                  <a:srgbClr val="000000"/>
                </a:solidFill>
              </a:rPr>
              <a:t>）</a:t>
            </a:r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6274530" y="5312123"/>
            <a:ext cx="121379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</a:rPr>
              <a:t>50%</a:t>
            </a:r>
            <a:r>
              <a:rPr lang="zh-CN" altLang="en-US" sz="2000" dirty="0">
                <a:solidFill>
                  <a:srgbClr val="000000"/>
                </a:solidFill>
              </a:rPr>
              <a:t>）</a:t>
            </a:r>
          </a:p>
        </p:txBody>
      </p:sp>
      <p:sp>
        <p:nvSpPr>
          <p:cNvPr id="22" name="左大括号 21"/>
          <p:cNvSpPr/>
          <p:nvPr/>
        </p:nvSpPr>
        <p:spPr bwMode="auto">
          <a:xfrm>
            <a:off x="2395729" y="2103239"/>
            <a:ext cx="252028" cy="2444268"/>
          </a:xfrm>
          <a:prstGeom prst="leftBrace">
            <a:avLst>
              <a:gd name="adj1" fmla="val 0"/>
              <a:gd name="adj2" fmla="val 50000"/>
            </a:avLst>
          </a:prstGeom>
          <a:noFill/>
          <a:ln w="381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zh-CN" altLang="en-US" b="0" i="1">
              <a:solidFill>
                <a:srgbClr val="FFFFFF"/>
              </a:solidFill>
            </a:endParaRPr>
          </a:p>
        </p:txBody>
      </p:sp>
      <p:sp>
        <p:nvSpPr>
          <p:cNvPr id="25" name="Text Box 13"/>
          <p:cNvSpPr txBox="1">
            <a:spLocks noChangeArrowheads="1"/>
          </p:cNvSpPr>
          <p:nvPr/>
        </p:nvSpPr>
        <p:spPr bwMode="auto">
          <a:xfrm>
            <a:off x="6241171" y="2707525"/>
            <a:ext cx="121379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</a:rPr>
              <a:t>10%</a:t>
            </a:r>
            <a:r>
              <a:rPr lang="zh-CN" altLang="en-US" sz="2000" dirty="0">
                <a:solidFill>
                  <a:srgbClr val="000000"/>
                </a:solidFill>
              </a:rPr>
              <a:t>）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2270788" y="5487563"/>
            <a:ext cx="50191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Rectangle 5" descr="蓝色砂纸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3114066" y="3557160"/>
            <a:ext cx="2158801" cy="40011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专题研究</a:t>
            </a:r>
          </a:p>
        </p:txBody>
      </p:sp>
      <p:sp>
        <p:nvSpPr>
          <p:cNvPr id="27" name="Text Box 13"/>
          <p:cNvSpPr txBox="1">
            <a:spLocks noChangeArrowheads="1"/>
          </p:cNvSpPr>
          <p:nvPr/>
        </p:nvSpPr>
        <p:spPr bwMode="auto">
          <a:xfrm>
            <a:off x="6303852" y="3516077"/>
            <a:ext cx="108555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</a:rPr>
              <a:t>5%</a:t>
            </a:r>
            <a:r>
              <a:rPr lang="zh-CN" altLang="en-US" sz="2000" dirty="0">
                <a:solidFill>
                  <a:srgbClr val="000000"/>
                </a:solidFill>
              </a:rPr>
              <a:t>）</a:t>
            </a:r>
          </a:p>
        </p:txBody>
      </p:sp>
      <p:sp>
        <p:nvSpPr>
          <p:cNvPr id="15" name="Rectangle 5" descr="蓝色砂纸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3115505" y="4360632"/>
            <a:ext cx="2158801" cy="40011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课堂表现</a:t>
            </a: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6305291" y="4324628"/>
            <a:ext cx="108555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</a:rPr>
              <a:t>5%</a:t>
            </a:r>
            <a:r>
              <a:rPr lang="zh-CN" altLang="en-US" sz="2000" dirty="0">
                <a:solidFill>
                  <a:srgbClr val="000000"/>
                </a:solidFill>
              </a:rPr>
              <a:t>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1E4F5BD-0A9D-3777-D6AE-E9B24F3982C7}"/>
              </a:ext>
            </a:extLst>
          </p:cNvPr>
          <p:cNvSpPr txBox="1"/>
          <p:nvPr/>
        </p:nvSpPr>
        <p:spPr>
          <a:xfrm>
            <a:off x="5228868" y="6120674"/>
            <a:ext cx="3764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专题研究</a:t>
            </a:r>
            <a:r>
              <a:rPr lang="zh-CN" altLang="zh-CN" sz="1800" kern="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要求学生综合运用所学知识设计功能电路，并进行仿真。</a:t>
            </a:r>
            <a:endParaRPr lang="zh-CN" alt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934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3" descr="水滴"/>
          <p:cNvSpPr txBox="1">
            <a:spLocks noChangeArrowheads="1"/>
          </p:cNvSpPr>
          <p:nvPr/>
        </p:nvSpPr>
        <p:spPr bwMode="auto">
          <a:xfrm>
            <a:off x="2303748" y="848907"/>
            <a:ext cx="4010632" cy="707886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>
            <a:prstShdw prst="shdw17" dist="17961" dir="2700000">
              <a:srgbClr val="7A9999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4000" dirty="0">
                <a:solidFill>
                  <a:srgbClr val="3333CC"/>
                </a:solidFill>
                <a:ea typeface="华文行楷" pitchFamily="2" charset="-122"/>
              </a:rPr>
              <a:t>基本分数底线</a:t>
            </a:r>
          </a:p>
        </p:txBody>
      </p:sp>
      <p:sp>
        <p:nvSpPr>
          <p:cNvPr id="3075" name="Rectangle 5" descr="蓝色砂纸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2591780" y="2652881"/>
            <a:ext cx="1258701" cy="40011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平时总评</a:t>
            </a:r>
          </a:p>
        </p:txBody>
      </p:sp>
      <p:sp>
        <p:nvSpPr>
          <p:cNvPr id="3076" name="Text Box 6" descr="蓝色砂纸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591780" y="4005064"/>
            <a:ext cx="1273562" cy="40011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ea typeface="楷体_GB2312" pitchFamily="49" charset="-122"/>
              </a:rPr>
              <a:t>期末考试</a:t>
            </a:r>
          </a:p>
        </p:txBody>
      </p:sp>
      <p:sp>
        <p:nvSpPr>
          <p:cNvPr id="3081" name="Text Box 11"/>
          <p:cNvSpPr txBox="1">
            <a:spLocks noChangeArrowheads="1"/>
          </p:cNvSpPr>
          <p:nvPr/>
        </p:nvSpPr>
        <p:spPr bwMode="auto">
          <a:xfrm>
            <a:off x="5439800" y="2591326"/>
            <a:ext cx="4924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50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4430130" y="2852936"/>
            <a:ext cx="50191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5439800" y="3887470"/>
            <a:ext cx="4924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40</a:t>
            </a:r>
          </a:p>
        </p:txBody>
      </p:sp>
      <p:cxnSp>
        <p:nvCxnSpPr>
          <p:cNvPr id="27" name="直接连接符 26"/>
          <p:cNvCxnSpPr/>
          <p:nvPr/>
        </p:nvCxnSpPr>
        <p:spPr bwMode="auto">
          <a:xfrm>
            <a:off x="4430130" y="4149080"/>
            <a:ext cx="50191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5C98F361-B120-CCD1-F751-9359FDBBAE50}"/>
              </a:ext>
            </a:extLst>
          </p:cNvPr>
          <p:cNvSpPr txBox="1"/>
          <p:nvPr/>
        </p:nvSpPr>
        <p:spPr>
          <a:xfrm>
            <a:off x="1741694" y="5414445"/>
            <a:ext cx="5134739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zh-CN" dirty="0">
                <a:solidFill>
                  <a:srgbClr val="FF0000"/>
                </a:solidFill>
              </a:rPr>
              <a:t>否则，即使总评及格，也不能通过。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585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9441E02-F27F-1288-91BF-292A29BCA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23" y="0"/>
            <a:ext cx="77985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795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318DA4E-E5F4-8327-E4AA-D1FC190EB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2681"/>
            <a:ext cx="9144000" cy="475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400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13"/>
          <p:cNvSpPr txBox="1">
            <a:spLocks noChangeArrowheads="1"/>
          </p:cNvSpPr>
          <p:nvPr/>
        </p:nvSpPr>
        <p:spPr bwMode="auto">
          <a:xfrm>
            <a:off x="611560" y="548680"/>
            <a:ext cx="7812868" cy="5093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7</a:t>
            </a:r>
            <a:r>
              <a:rPr lang="zh-CN" altLang="en-US" sz="2400" dirty="0">
                <a:solidFill>
                  <a:srgbClr val="000000"/>
                </a:solidFill>
              </a:rPr>
              <a:t>、参考教材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CN" sz="800" dirty="0">
              <a:solidFill>
                <a:srgbClr val="000000"/>
              </a:solidFill>
            </a:endParaRPr>
          </a:p>
          <a:p>
            <a:pPr marL="914400" lvl="1" indent="-457200" eaLnBrk="1" hangingPunct="1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2200" dirty="0">
                <a:solidFill>
                  <a:srgbClr val="000000"/>
                </a:solidFill>
              </a:rPr>
              <a:t>Charles K. Alexander, Matthew N. O. </a:t>
            </a:r>
            <a:r>
              <a:rPr lang="en-US" altLang="zh-CN" sz="2200" dirty="0" err="1">
                <a:solidFill>
                  <a:srgbClr val="000000"/>
                </a:solidFill>
              </a:rPr>
              <a:t>Sadiku</a:t>
            </a:r>
            <a:r>
              <a:rPr lang="en-US" altLang="zh-CN" sz="2200" dirty="0">
                <a:solidFill>
                  <a:srgbClr val="000000"/>
                </a:solidFill>
              </a:rPr>
              <a:t>, Fundamentals of Electric Circuits (7th Edition), McGraw-Hill Education, 2021.</a:t>
            </a:r>
            <a:endParaRPr lang="zh-CN" altLang="en-US" sz="2200" dirty="0">
              <a:solidFill>
                <a:srgbClr val="000000"/>
              </a:solidFill>
            </a:endParaRPr>
          </a:p>
          <a:p>
            <a:pPr marL="914400" lvl="1" indent="-457200" eaLnBrk="1" hangingPunct="1">
              <a:spcBef>
                <a:spcPct val="50000"/>
              </a:spcBef>
              <a:buFont typeface="+mj-lt"/>
              <a:buAutoNum type="arabicPeriod"/>
            </a:pPr>
            <a:r>
              <a:rPr lang="en-US" altLang="zh-CN" sz="2200" dirty="0">
                <a:solidFill>
                  <a:srgbClr val="000000"/>
                </a:solidFill>
              </a:rPr>
              <a:t>Adel S. </a:t>
            </a:r>
            <a:r>
              <a:rPr lang="en-US" altLang="zh-CN" sz="2200" dirty="0" err="1">
                <a:solidFill>
                  <a:srgbClr val="000000"/>
                </a:solidFill>
              </a:rPr>
              <a:t>Sedra</a:t>
            </a:r>
            <a:r>
              <a:rPr lang="en-US" altLang="zh-CN" sz="2200" dirty="0">
                <a:solidFill>
                  <a:srgbClr val="000000"/>
                </a:solidFill>
              </a:rPr>
              <a:t>, Kenneth Carless Smith</a:t>
            </a:r>
            <a:r>
              <a:rPr lang="zh-CN" altLang="en-US" sz="2200" dirty="0">
                <a:solidFill>
                  <a:srgbClr val="000000"/>
                </a:solidFill>
              </a:rPr>
              <a:t>，</a:t>
            </a:r>
            <a:r>
              <a:rPr lang="en-US" altLang="zh-CN" sz="2200" dirty="0">
                <a:solidFill>
                  <a:srgbClr val="000000"/>
                </a:solidFill>
              </a:rPr>
              <a:t>Microelectronic Circuits (8th Edition), Oxford University Press</a:t>
            </a:r>
            <a:r>
              <a:rPr lang="zh-CN" altLang="en-US" sz="2200" dirty="0">
                <a:solidFill>
                  <a:srgbClr val="000000"/>
                </a:solidFill>
              </a:rPr>
              <a:t>，</a:t>
            </a:r>
            <a:r>
              <a:rPr lang="en-US" altLang="zh-CN" sz="2200" dirty="0">
                <a:solidFill>
                  <a:srgbClr val="000000"/>
                </a:solidFill>
              </a:rPr>
              <a:t>2020.</a:t>
            </a:r>
          </a:p>
          <a:p>
            <a:pPr marL="457200" lvl="1" indent="0" eaLnBrk="1" hangingPunct="1">
              <a:spcBef>
                <a:spcPct val="50000"/>
              </a:spcBef>
              <a:buNone/>
            </a:pPr>
            <a:endParaRPr lang="en-US" altLang="zh-CN" sz="2200" dirty="0">
              <a:solidFill>
                <a:srgbClr val="000000"/>
              </a:solidFill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8</a:t>
            </a:r>
            <a:r>
              <a:rPr lang="zh-CN" altLang="en-US" sz="2400" dirty="0">
                <a:solidFill>
                  <a:srgbClr val="000000"/>
                </a:solidFill>
              </a:rPr>
              <a:t>、参考资料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marL="914400" lvl="1" indent="-457200" eaLnBrk="1" hangingPunct="1">
              <a:spcBef>
                <a:spcPct val="50000"/>
              </a:spcBef>
              <a:buFont typeface="+mj-lt"/>
              <a:buAutoNum type="arabicPeriod"/>
            </a:pPr>
            <a:r>
              <a:rPr lang="zh-CN" altLang="en-US" sz="2200" dirty="0">
                <a:solidFill>
                  <a:srgbClr val="000000"/>
                </a:solidFill>
              </a:rPr>
              <a:t>邱关源，</a:t>
            </a:r>
            <a:r>
              <a:rPr lang="en-US" altLang="zh-CN" sz="2200" dirty="0">
                <a:solidFill>
                  <a:srgbClr val="000000"/>
                </a:solidFill>
              </a:rPr>
              <a:t>《</a:t>
            </a:r>
            <a:r>
              <a:rPr lang="zh-CN" altLang="en-US" sz="2200" dirty="0">
                <a:solidFill>
                  <a:srgbClr val="000000"/>
                </a:solidFill>
              </a:rPr>
              <a:t>电路</a:t>
            </a:r>
            <a:r>
              <a:rPr lang="en-US" altLang="zh-CN" sz="2200" dirty="0">
                <a:solidFill>
                  <a:srgbClr val="000000"/>
                </a:solidFill>
              </a:rPr>
              <a:t>》</a:t>
            </a:r>
            <a:r>
              <a:rPr lang="zh-CN" altLang="en-US" sz="2200" dirty="0">
                <a:solidFill>
                  <a:srgbClr val="000000"/>
                </a:solidFill>
              </a:rPr>
              <a:t>（第</a:t>
            </a:r>
            <a:r>
              <a:rPr lang="en-US" altLang="zh-CN" sz="2200" dirty="0">
                <a:solidFill>
                  <a:srgbClr val="000000"/>
                </a:solidFill>
              </a:rPr>
              <a:t>5</a:t>
            </a:r>
            <a:r>
              <a:rPr lang="zh-CN" altLang="en-US" sz="2200" dirty="0">
                <a:solidFill>
                  <a:srgbClr val="000000"/>
                </a:solidFill>
              </a:rPr>
              <a:t>版），高等教育出版社，</a:t>
            </a:r>
            <a:r>
              <a:rPr lang="en-US" altLang="zh-CN" sz="2200" dirty="0">
                <a:solidFill>
                  <a:srgbClr val="000000"/>
                </a:solidFill>
              </a:rPr>
              <a:t>2006</a:t>
            </a:r>
            <a:r>
              <a:rPr lang="zh-CN" altLang="en-US" sz="2200" dirty="0">
                <a:solidFill>
                  <a:srgbClr val="000000"/>
                </a:solidFill>
              </a:rPr>
              <a:t>。</a:t>
            </a:r>
            <a:endParaRPr lang="en-US" altLang="zh-CN" sz="2200" dirty="0">
              <a:solidFill>
                <a:srgbClr val="000000"/>
              </a:solidFill>
            </a:endParaRPr>
          </a:p>
          <a:p>
            <a:pPr marL="914400" lvl="1" indent="-457200" eaLnBrk="1" hangingPunct="1">
              <a:spcBef>
                <a:spcPct val="50000"/>
              </a:spcBef>
              <a:buFont typeface="+mj-lt"/>
              <a:buAutoNum type="arabicPeriod"/>
            </a:pPr>
            <a:r>
              <a:rPr lang="zh-CN" altLang="en-US" sz="2200" dirty="0">
                <a:solidFill>
                  <a:srgbClr val="000000"/>
                </a:solidFill>
              </a:rPr>
              <a:t>童诗白，华成英，</a:t>
            </a:r>
            <a:r>
              <a:rPr lang="en-US" altLang="zh-CN" sz="2200" dirty="0">
                <a:solidFill>
                  <a:srgbClr val="000000"/>
                </a:solidFill>
              </a:rPr>
              <a:t>《</a:t>
            </a:r>
            <a:r>
              <a:rPr lang="zh-CN" altLang="en-US" sz="2200" dirty="0">
                <a:solidFill>
                  <a:srgbClr val="000000"/>
                </a:solidFill>
              </a:rPr>
              <a:t>模拟电子技术基础</a:t>
            </a:r>
            <a:r>
              <a:rPr lang="en-US" altLang="zh-CN" sz="2200" dirty="0">
                <a:solidFill>
                  <a:srgbClr val="000000"/>
                </a:solidFill>
              </a:rPr>
              <a:t>》</a:t>
            </a:r>
            <a:r>
              <a:rPr lang="zh-CN" altLang="en-US" sz="2200" dirty="0">
                <a:solidFill>
                  <a:srgbClr val="000000"/>
                </a:solidFill>
              </a:rPr>
              <a:t>（第五版），高等教育出版社，</a:t>
            </a:r>
            <a:r>
              <a:rPr lang="en-US" altLang="zh-CN" sz="2200" dirty="0">
                <a:solidFill>
                  <a:srgbClr val="000000"/>
                </a:solidFill>
              </a:rPr>
              <a:t>2015</a:t>
            </a:r>
            <a:r>
              <a:rPr lang="zh-CN" altLang="en-US" sz="2200" dirty="0">
                <a:solidFill>
                  <a:srgbClr val="000000"/>
                </a:solidFill>
              </a:rPr>
              <a:t>。</a:t>
            </a:r>
            <a:endParaRPr lang="en-US" altLang="zh-CN" sz="2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54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332977"/>
            <a:ext cx="2242723" cy="2880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008" y="332977"/>
            <a:ext cx="2272405" cy="2880000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3114" y="3609340"/>
            <a:ext cx="2007887" cy="288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7661" y="3609340"/>
            <a:ext cx="2089099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691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内容占位符 2">
            <a:extLst>
              <a:ext uri="{FF2B5EF4-FFF2-40B4-BE49-F238E27FC236}">
                <a16:creationId xmlns:a16="http://schemas.microsoft.com/office/drawing/2014/main" id="{6DB13D76-D293-5840-82AA-2A2C24A9F9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4500" y="1196752"/>
            <a:ext cx="8637364" cy="5386610"/>
          </a:xfrm>
        </p:spPr>
        <p:txBody>
          <a:bodyPr/>
          <a:lstStyle/>
          <a:p>
            <a:r>
              <a:rPr kumimoji="1"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习题</a:t>
            </a:r>
            <a:r>
              <a:rPr kumimoji="1" lang="zh-CN" alt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辅助网站（校内外公开）：</a:t>
            </a: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https://bc0403.github.io/EC2024/</a:t>
            </a:r>
            <a:r>
              <a:rPr kumimoji="1" lang="zh-CN" alt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，主要来源于历年考卷</a:t>
            </a:r>
            <a:endParaRPr kumimoji="1" lang="en-US" altLang="zh-CN" sz="20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sz="20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sz="20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sz="20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sz="20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sz="20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zh-CN" alt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资料下载（仅校内访问）：</a:t>
            </a: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http://10.105.5.75</a:t>
            </a:r>
            <a:r>
              <a:rPr kumimoji="1" lang="zh-CN" alt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en-US" altLang="zh-CN" sz="20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1" lang="zh-CN" alt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（左侧 </a:t>
            </a:r>
            <a:r>
              <a:rPr kumimoji="1" lang="en-US" altLang="zh-CN" sz="20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CourseMaterials</a:t>
            </a:r>
            <a:r>
              <a:rPr kumimoji="1" lang="zh-CN" alt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页面，</a:t>
            </a:r>
            <a:r>
              <a:rPr kumimoji="1" lang="zh-CN" altLang="en-US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无需注册</a:t>
            </a:r>
            <a:r>
              <a:rPr kumimoji="1" lang="zh-CN" alt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1" lang="en-US" altLang="zh-CN" sz="20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kumimoji="1" lang="en-US" altLang="zh-CN" sz="20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">
            <a:extLst>
              <a:ext uri="{FF2B5EF4-FFF2-40B4-BE49-F238E27FC236}">
                <a16:creationId xmlns:a16="http://schemas.microsoft.com/office/drawing/2014/main" id="{425E03C0-B832-0149-AF84-0779F1F8BA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74073"/>
            <a:ext cx="7772400" cy="78105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bg2"/>
                </a:solidFill>
              </a:rPr>
              <a:t>为何要学习本课程</a:t>
            </a:r>
          </a:p>
        </p:txBody>
      </p:sp>
      <p:sp>
        <p:nvSpPr>
          <p:cNvPr id="16386" name="内容占位符 2">
            <a:extLst>
              <a:ext uri="{FF2B5EF4-FFF2-40B4-BE49-F238E27FC236}">
                <a16:creationId xmlns:a16="http://schemas.microsoft.com/office/drawing/2014/main" id="{A978DEDB-9627-2A4C-BC9F-DB371C3D5B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552" y="1340768"/>
            <a:ext cx="8229600" cy="5400600"/>
          </a:xfrm>
          <a:noFill/>
        </p:spPr>
        <p:txBody>
          <a:bodyPr/>
          <a:lstStyle/>
          <a:p>
            <a:r>
              <a:rPr kumimoji="1" lang="zh-CN" altLang="en-US" sz="2800" dirty="0">
                <a:solidFill>
                  <a:schemeClr val="bg2"/>
                </a:solidFill>
              </a:rPr>
              <a:t>信电学科</a:t>
            </a:r>
            <a:r>
              <a:rPr kumimoji="1" lang="en-US" altLang="zh-CN" sz="2800" dirty="0">
                <a:solidFill>
                  <a:schemeClr val="bg2"/>
                </a:solidFill>
              </a:rPr>
              <a:t>(EE)</a:t>
            </a:r>
            <a:r>
              <a:rPr kumimoji="1" lang="zh-CN" altLang="en-US" sz="2800" dirty="0">
                <a:solidFill>
                  <a:schemeClr val="bg2"/>
                </a:solidFill>
              </a:rPr>
              <a:t>的两大基础理论</a:t>
            </a:r>
          </a:p>
          <a:p>
            <a:pPr lvl="1"/>
            <a:r>
              <a:rPr kumimoji="1" lang="zh-CN" altLang="en-US" sz="2400" b="1" dirty="0">
                <a:solidFill>
                  <a:srgbClr val="FF0000"/>
                </a:solidFill>
              </a:rPr>
              <a:t>电子电路</a:t>
            </a:r>
            <a:r>
              <a:rPr kumimoji="1" lang="zh-CN" altLang="en-US" sz="2400" dirty="0">
                <a:solidFill>
                  <a:schemeClr val="bg2"/>
                </a:solidFill>
              </a:rPr>
              <a:t>理论</a:t>
            </a:r>
          </a:p>
          <a:p>
            <a:pPr lvl="1"/>
            <a:r>
              <a:rPr kumimoji="1" lang="zh-CN" altLang="en-US" sz="2400" dirty="0">
                <a:solidFill>
                  <a:schemeClr val="bg2"/>
                </a:solidFill>
              </a:rPr>
              <a:t>电磁场理论</a:t>
            </a:r>
          </a:p>
          <a:p>
            <a:pPr lvl="1"/>
            <a:endParaRPr kumimoji="1" lang="en-US" altLang="zh-CN" sz="2400" dirty="0">
              <a:solidFill>
                <a:schemeClr val="bg2"/>
              </a:solidFill>
            </a:endParaRPr>
          </a:p>
          <a:p>
            <a:pPr lvl="1"/>
            <a:endParaRPr kumimoji="1" lang="zh-CN" altLang="en-US" sz="2400" dirty="0">
              <a:solidFill>
                <a:schemeClr val="bg2"/>
              </a:solidFill>
            </a:endParaRPr>
          </a:p>
          <a:p>
            <a:r>
              <a:rPr kumimoji="1" lang="zh-CN" altLang="en-US" sz="2800" dirty="0">
                <a:solidFill>
                  <a:schemeClr val="bg2"/>
                </a:solidFill>
              </a:rPr>
              <a:t>在日常生活中有广泛应用</a:t>
            </a:r>
          </a:p>
          <a:p>
            <a:pPr lvl="1"/>
            <a:r>
              <a:rPr kumimoji="1" lang="zh-CN" altLang="en-US" sz="2400" dirty="0">
                <a:solidFill>
                  <a:schemeClr val="bg2"/>
                </a:solidFill>
              </a:rPr>
              <a:t>手机、</a:t>
            </a:r>
            <a:r>
              <a:rPr kumimoji="1" lang="en-US" altLang="zh-CN" sz="2400" dirty="0">
                <a:solidFill>
                  <a:schemeClr val="bg2"/>
                </a:solidFill>
              </a:rPr>
              <a:t>Pad</a:t>
            </a:r>
            <a:r>
              <a:rPr kumimoji="1" lang="zh-CN" altLang="en-US" sz="2400" dirty="0">
                <a:solidFill>
                  <a:schemeClr val="bg2"/>
                </a:solidFill>
              </a:rPr>
              <a:t>、笔记本；</a:t>
            </a:r>
          </a:p>
          <a:p>
            <a:pPr lvl="1"/>
            <a:r>
              <a:rPr kumimoji="1" lang="zh-CN" altLang="en-US" sz="2400" dirty="0">
                <a:solidFill>
                  <a:schemeClr val="bg2"/>
                </a:solidFill>
              </a:rPr>
              <a:t>智能家居、智能穿戴；汽车、电器</a:t>
            </a:r>
            <a:endParaRPr kumimoji="1" lang="en-US" altLang="zh-CN" sz="2400" dirty="0">
              <a:solidFill>
                <a:schemeClr val="bg2"/>
              </a:solidFill>
            </a:endParaRPr>
          </a:p>
          <a:p>
            <a:pPr lvl="1"/>
            <a:endParaRPr kumimoji="1" lang="en-US" altLang="zh-CN" sz="24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kumimoji="1" lang="en-US" altLang="zh-CN" sz="2800" dirty="0">
              <a:solidFill>
                <a:schemeClr val="bg2"/>
              </a:solidFill>
            </a:endParaRPr>
          </a:p>
          <a:p>
            <a:pPr lvl="1"/>
            <a:endParaRPr kumimoji="1" lang="zh-CN" altLang="en-US" dirty="0">
              <a:solidFill>
                <a:schemeClr val="bg2"/>
              </a:solidFill>
            </a:endParaRPr>
          </a:p>
          <a:p>
            <a:pPr lvl="1"/>
            <a:endParaRPr kumimoji="1" lang="zh-CN" alt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FF99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FF99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8080"/>
      </a:dk2>
      <a:lt2>
        <a:srgbClr val="FFFFFF"/>
      </a:lt2>
      <a:accent1>
        <a:srgbClr val="FF0033"/>
      </a:accent1>
      <a:accent2>
        <a:srgbClr val="3333FF"/>
      </a:accent2>
      <a:accent3>
        <a:srgbClr val="AAC0C0"/>
      </a:accent3>
      <a:accent4>
        <a:srgbClr val="DADADA"/>
      </a:accent4>
      <a:accent5>
        <a:srgbClr val="FFAAAD"/>
      </a:accent5>
      <a:accent6>
        <a:srgbClr val="2D2DE7"/>
      </a:accent6>
      <a:hlink>
        <a:srgbClr val="CBCBCB"/>
      </a:hlink>
      <a:folHlink>
        <a:srgbClr val="00CCCC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8080"/>
        </a:dk2>
        <a:lt2>
          <a:srgbClr val="FFFFFF"/>
        </a:lt2>
        <a:accent1>
          <a:srgbClr val="FF0033"/>
        </a:accent1>
        <a:accent2>
          <a:srgbClr val="3333FF"/>
        </a:accent2>
        <a:accent3>
          <a:srgbClr val="AAC0C0"/>
        </a:accent3>
        <a:accent4>
          <a:srgbClr val="DADADA"/>
        </a:accent4>
        <a:accent5>
          <a:srgbClr val="FFAAAD"/>
        </a:accent5>
        <a:accent6>
          <a:srgbClr val="2D2DE7"/>
        </a:accent6>
        <a:hlink>
          <a:srgbClr val="CBCBCB"/>
        </a:hlink>
        <a:folHlink>
          <a:srgbClr val="00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9FF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FFFF"/>
        </a:accent5>
        <a:accent6>
          <a:srgbClr val="B9B9E7"/>
        </a:accent6>
        <a:hlink>
          <a:srgbClr val="CCECF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878787"/>
        </a:accent6>
        <a:hlink>
          <a:srgbClr val="DDDDDD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80"/>
        </a:dk2>
        <a:lt2>
          <a:srgbClr val="FFFFFF"/>
        </a:lt2>
        <a:accent1>
          <a:srgbClr val="00FFCC"/>
        </a:accent1>
        <a:accent2>
          <a:srgbClr val="9933FF"/>
        </a:accent2>
        <a:accent3>
          <a:srgbClr val="AAAAC0"/>
        </a:accent3>
        <a:accent4>
          <a:srgbClr val="DADADA"/>
        </a:accent4>
        <a:accent5>
          <a:srgbClr val="AAFFE2"/>
        </a:accent5>
        <a:accent6>
          <a:srgbClr val="8A2DE7"/>
        </a:accent6>
        <a:hlink>
          <a:srgbClr val="CCCCFF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990066"/>
        </a:dk2>
        <a:lt2>
          <a:srgbClr val="FFFFFF"/>
        </a:lt2>
        <a:accent1>
          <a:srgbClr val="FF9966"/>
        </a:accent1>
        <a:accent2>
          <a:srgbClr val="009966"/>
        </a:accent2>
        <a:accent3>
          <a:srgbClr val="CAAAB8"/>
        </a:accent3>
        <a:accent4>
          <a:srgbClr val="DADADA"/>
        </a:accent4>
        <a:accent5>
          <a:srgbClr val="FFCAB8"/>
        </a:accent5>
        <a:accent6>
          <a:srgbClr val="008A5C"/>
        </a:accent6>
        <a:hlink>
          <a:srgbClr val="3333CC"/>
        </a:hlink>
        <a:folHlink>
          <a:srgbClr val="FF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E1"/>
        </a:lt1>
        <a:dk2>
          <a:srgbClr val="000000"/>
        </a:dk2>
        <a:lt2>
          <a:srgbClr val="FFFFCC"/>
        </a:lt2>
        <a:accent1>
          <a:srgbClr val="FF9933"/>
        </a:accent1>
        <a:accent2>
          <a:srgbClr val="9999FF"/>
        </a:accent2>
        <a:accent3>
          <a:srgbClr val="FFFFEE"/>
        </a:accent3>
        <a:accent4>
          <a:srgbClr val="000000"/>
        </a:accent4>
        <a:accent5>
          <a:srgbClr val="FFCAAD"/>
        </a:accent5>
        <a:accent6>
          <a:srgbClr val="8A8AE7"/>
        </a:accent6>
        <a:hlink>
          <a:srgbClr val="FFCC99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默认设计模板">
  <a:themeElements>
    <a:clrScheme name="默认设计模板 1">
      <a:dk1>
        <a:srgbClr val="000000"/>
      </a:dk1>
      <a:lt1>
        <a:srgbClr val="FFFFFF"/>
      </a:lt1>
      <a:dk2>
        <a:srgbClr val="008080"/>
      </a:dk2>
      <a:lt2>
        <a:srgbClr val="FFFFFF"/>
      </a:lt2>
      <a:accent1>
        <a:srgbClr val="FF0033"/>
      </a:accent1>
      <a:accent2>
        <a:srgbClr val="3333FF"/>
      </a:accent2>
      <a:accent3>
        <a:srgbClr val="AAC0C0"/>
      </a:accent3>
      <a:accent4>
        <a:srgbClr val="DADADA"/>
      </a:accent4>
      <a:accent5>
        <a:srgbClr val="FFAAAD"/>
      </a:accent5>
      <a:accent6>
        <a:srgbClr val="2D2DE7"/>
      </a:accent6>
      <a:hlink>
        <a:srgbClr val="CBCBCB"/>
      </a:hlink>
      <a:folHlink>
        <a:srgbClr val="00CCCC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8080"/>
        </a:dk2>
        <a:lt2>
          <a:srgbClr val="FFFFFF"/>
        </a:lt2>
        <a:accent1>
          <a:srgbClr val="FF0033"/>
        </a:accent1>
        <a:accent2>
          <a:srgbClr val="3333FF"/>
        </a:accent2>
        <a:accent3>
          <a:srgbClr val="AAC0C0"/>
        </a:accent3>
        <a:accent4>
          <a:srgbClr val="DADADA"/>
        </a:accent4>
        <a:accent5>
          <a:srgbClr val="FFAAAD"/>
        </a:accent5>
        <a:accent6>
          <a:srgbClr val="2D2DE7"/>
        </a:accent6>
        <a:hlink>
          <a:srgbClr val="CBCBCB"/>
        </a:hlink>
        <a:folHlink>
          <a:srgbClr val="00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9FF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FFFF"/>
        </a:accent5>
        <a:accent6>
          <a:srgbClr val="B9B9E7"/>
        </a:accent6>
        <a:hlink>
          <a:srgbClr val="CCECF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878787"/>
        </a:accent6>
        <a:hlink>
          <a:srgbClr val="DDDDDD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80"/>
        </a:dk2>
        <a:lt2>
          <a:srgbClr val="FFFFFF"/>
        </a:lt2>
        <a:accent1>
          <a:srgbClr val="00FFCC"/>
        </a:accent1>
        <a:accent2>
          <a:srgbClr val="9933FF"/>
        </a:accent2>
        <a:accent3>
          <a:srgbClr val="AAAAC0"/>
        </a:accent3>
        <a:accent4>
          <a:srgbClr val="DADADA"/>
        </a:accent4>
        <a:accent5>
          <a:srgbClr val="AAFFE2"/>
        </a:accent5>
        <a:accent6>
          <a:srgbClr val="8A2DE7"/>
        </a:accent6>
        <a:hlink>
          <a:srgbClr val="CCCCFF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990066"/>
        </a:dk2>
        <a:lt2>
          <a:srgbClr val="FFFFFF"/>
        </a:lt2>
        <a:accent1>
          <a:srgbClr val="FF9966"/>
        </a:accent1>
        <a:accent2>
          <a:srgbClr val="009966"/>
        </a:accent2>
        <a:accent3>
          <a:srgbClr val="CAAAB8"/>
        </a:accent3>
        <a:accent4>
          <a:srgbClr val="DADADA"/>
        </a:accent4>
        <a:accent5>
          <a:srgbClr val="FFCAB8"/>
        </a:accent5>
        <a:accent6>
          <a:srgbClr val="008A5C"/>
        </a:accent6>
        <a:hlink>
          <a:srgbClr val="3333CC"/>
        </a:hlink>
        <a:folHlink>
          <a:srgbClr val="FF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E1"/>
        </a:lt1>
        <a:dk2>
          <a:srgbClr val="000000"/>
        </a:dk2>
        <a:lt2>
          <a:srgbClr val="FFFFCC"/>
        </a:lt2>
        <a:accent1>
          <a:srgbClr val="FF9933"/>
        </a:accent1>
        <a:accent2>
          <a:srgbClr val="9999FF"/>
        </a:accent2>
        <a:accent3>
          <a:srgbClr val="FFFFEE"/>
        </a:accent3>
        <a:accent4>
          <a:srgbClr val="000000"/>
        </a:accent4>
        <a:accent5>
          <a:srgbClr val="FFCAAD"/>
        </a:accent5>
        <a:accent6>
          <a:srgbClr val="8A8AE7"/>
        </a:accent6>
        <a:hlink>
          <a:srgbClr val="FFCC99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默认设计模板">
  <a:themeElements>
    <a:clrScheme name="默认设计模板 1">
      <a:dk1>
        <a:srgbClr val="000000"/>
      </a:dk1>
      <a:lt1>
        <a:srgbClr val="FFFFFF"/>
      </a:lt1>
      <a:dk2>
        <a:srgbClr val="008080"/>
      </a:dk2>
      <a:lt2>
        <a:srgbClr val="FFFFFF"/>
      </a:lt2>
      <a:accent1>
        <a:srgbClr val="FF0033"/>
      </a:accent1>
      <a:accent2>
        <a:srgbClr val="3333FF"/>
      </a:accent2>
      <a:accent3>
        <a:srgbClr val="AAC0C0"/>
      </a:accent3>
      <a:accent4>
        <a:srgbClr val="DADADA"/>
      </a:accent4>
      <a:accent5>
        <a:srgbClr val="FFAAAD"/>
      </a:accent5>
      <a:accent6>
        <a:srgbClr val="2D2DE7"/>
      </a:accent6>
      <a:hlink>
        <a:srgbClr val="CBCBCB"/>
      </a:hlink>
      <a:folHlink>
        <a:srgbClr val="00CCCC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8080"/>
        </a:dk2>
        <a:lt2>
          <a:srgbClr val="FFFFFF"/>
        </a:lt2>
        <a:accent1>
          <a:srgbClr val="FF0033"/>
        </a:accent1>
        <a:accent2>
          <a:srgbClr val="3333FF"/>
        </a:accent2>
        <a:accent3>
          <a:srgbClr val="AAC0C0"/>
        </a:accent3>
        <a:accent4>
          <a:srgbClr val="DADADA"/>
        </a:accent4>
        <a:accent5>
          <a:srgbClr val="FFAAAD"/>
        </a:accent5>
        <a:accent6>
          <a:srgbClr val="2D2DE7"/>
        </a:accent6>
        <a:hlink>
          <a:srgbClr val="CBCBCB"/>
        </a:hlink>
        <a:folHlink>
          <a:srgbClr val="00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9FF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FFFF"/>
        </a:accent5>
        <a:accent6>
          <a:srgbClr val="B9B9E7"/>
        </a:accent6>
        <a:hlink>
          <a:srgbClr val="CCECF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878787"/>
        </a:accent6>
        <a:hlink>
          <a:srgbClr val="DDDDDD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80"/>
        </a:dk2>
        <a:lt2>
          <a:srgbClr val="FFFFFF"/>
        </a:lt2>
        <a:accent1>
          <a:srgbClr val="00FFCC"/>
        </a:accent1>
        <a:accent2>
          <a:srgbClr val="9933FF"/>
        </a:accent2>
        <a:accent3>
          <a:srgbClr val="AAAAC0"/>
        </a:accent3>
        <a:accent4>
          <a:srgbClr val="DADADA"/>
        </a:accent4>
        <a:accent5>
          <a:srgbClr val="AAFFE2"/>
        </a:accent5>
        <a:accent6>
          <a:srgbClr val="8A2DE7"/>
        </a:accent6>
        <a:hlink>
          <a:srgbClr val="CCCCFF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990066"/>
        </a:dk2>
        <a:lt2>
          <a:srgbClr val="FFFFFF"/>
        </a:lt2>
        <a:accent1>
          <a:srgbClr val="FF9966"/>
        </a:accent1>
        <a:accent2>
          <a:srgbClr val="009966"/>
        </a:accent2>
        <a:accent3>
          <a:srgbClr val="CAAAB8"/>
        </a:accent3>
        <a:accent4>
          <a:srgbClr val="DADADA"/>
        </a:accent4>
        <a:accent5>
          <a:srgbClr val="FFCAB8"/>
        </a:accent5>
        <a:accent6>
          <a:srgbClr val="008A5C"/>
        </a:accent6>
        <a:hlink>
          <a:srgbClr val="3333CC"/>
        </a:hlink>
        <a:folHlink>
          <a:srgbClr val="FF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E1"/>
        </a:lt1>
        <a:dk2>
          <a:srgbClr val="000000"/>
        </a:dk2>
        <a:lt2>
          <a:srgbClr val="FFFFCC"/>
        </a:lt2>
        <a:accent1>
          <a:srgbClr val="FF9933"/>
        </a:accent1>
        <a:accent2>
          <a:srgbClr val="9999FF"/>
        </a:accent2>
        <a:accent3>
          <a:srgbClr val="FFFFEE"/>
        </a:accent3>
        <a:accent4>
          <a:srgbClr val="000000"/>
        </a:accent4>
        <a:accent5>
          <a:srgbClr val="FFCAAD"/>
        </a:accent5>
        <a:accent6>
          <a:srgbClr val="8A8AE7"/>
        </a:accent6>
        <a:hlink>
          <a:srgbClr val="FFCC99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默认设计模板">
  <a:themeElements>
    <a:clrScheme name="默认设计模板 1">
      <a:dk1>
        <a:srgbClr val="000000"/>
      </a:dk1>
      <a:lt1>
        <a:srgbClr val="FFFFFF"/>
      </a:lt1>
      <a:dk2>
        <a:srgbClr val="008080"/>
      </a:dk2>
      <a:lt2>
        <a:srgbClr val="FFFFFF"/>
      </a:lt2>
      <a:accent1>
        <a:srgbClr val="FF0033"/>
      </a:accent1>
      <a:accent2>
        <a:srgbClr val="3333FF"/>
      </a:accent2>
      <a:accent3>
        <a:srgbClr val="AAC0C0"/>
      </a:accent3>
      <a:accent4>
        <a:srgbClr val="DADADA"/>
      </a:accent4>
      <a:accent5>
        <a:srgbClr val="FFAAAD"/>
      </a:accent5>
      <a:accent6>
        <a:srgbClr val="2D2DE7"/>
      </a:accent6>
      <a:hlink>
        <a:srgbClr val="CBCBCB"/>
      </a:hlink>
      <a:folHlink>
        <a:srgbClr val="00CCCC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8080"/>
        </a:dk2>
        <a:lt2>
          <a:srgbClr val="FFFFFF"/>
        </a:lt2>
        <a:accent1>
          <a:srgbClr val="FF0033"/>
        </a:accent1>
        <a:accent2>
          <a:srgbClr val="3333FF"/>
        </a:accent2>
        <a:accent3>
          <a:srgbClr val="AAC0C0"/>
        </a:accent3>
        <a:accent4>
          <a:srgbClr val="DADADA"/>
        </a:accent4>
        <a:accent5>
          <a:srgbClr val="FFAAAD"/>
        </a:accent5>
        <a:accent6>
          <a:srgbClr val="2D2DE7"/>
        </a:accent6>
        <a:hlink>
          <a:srgbClr val="CBCBCB"/>
        </a:hlink>
        <a:folHlink>
          <a:srgbClr val="00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9FF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FFFF"/>
        </a:accent5>
        <a:accent6>
          <a:srgbClr val="B9B9E7"/>
        </a:accent6>
        <a:hlink>
          <a:srgbClr val="CCECF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878787"/>
        </a:accent6>
        <a:hlink>
          <a:srgbClr val="DDDDDD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80"/>
        </a:dk2>
        <a:lt2>
          <a:srgbClr val="FFFFFF"/>
        </a:lt2>
        <a:accent1>
          <a:srgbClr val="00FFCC"/>
        </a:accent1>
        <a:accent2>
          <a:srgbClr val="9933FF"/>
        </a:accent2>
        <a:accent3>
          <a:srgbClr val="AAAAC0"/>
        </a:accent3>
        <a:accent4>
          <a:srgbClr val="DADADA"/>
        </a:accent4>
        <a:accent5>
          <a:srgbClr val="AAFFE2"/>
        </a:accent5>
        <a:accent6>
          <a:srgbClr val="8A2DE7"/>
        </a:accent6>
        <a:hlink>
          <a:srgbClr val="CCCCFF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990066"/>
        </a:dk2>
        <a:lt2>
          <a:srgbClr val="FFFFFF"/>
        </a:lt2>
        <a:accent1>
          <a:srgbClr val="FF9966"/>
        </a:accent1>
        <a:accent2>
          <a:srgbClr val="009966"/>
        </a:accent2>
        <a:accent3>
          <a:srgbClr val="CAAAB8"/>
        </a:accent3>
        <a:accent4>
          <a:srgbClr val="DADADA"/>
        </a:accent4>
        <a:accent5>
          <a:srgbClr val="FFCAB8"/>
        </a:accent5>
        <a:accent6>
          <a:srgbClr val="008A5C"/>
        </a:accent6>
        <a:hlink>
          <a:srgbClr val="3333CC"/>
        </a:hlink>
        <a:folHlink>
          <a:srgbClr val="FF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E1"/>
        </a:lt1>
        <a:dk2>
          <a:srgbClr val="000000"/>
        </a:dk2>
        <a:lt2>
          <a:srgbClr val="FFFFCC"/>
        </a:lt2>
        <a:accent1>
          <a:srgbClr val="FF9933"/>
        </a:accent1>
        <a:accent2>
          <a:srgbClr val="9999FF"/>
        </a:accent2>
        <a:accent3>
          <a:srgbClr val="FFFFEE"/>
        </a:accent3>
        <a:accent4>
          <a:srgbClr val="000000"/>
        </a:accent4>
        <a:accent5>
          <a:srgbClr val="FFCAAD"/>
        </a:accent5>
        <a:accent6>
          <a:srgbClr val="8A8AE7"/>
        </a:accent6>
        <a:hlink>
          <a:srgbClr val="FFCC99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8963</TotalTime>
  <Words>452</Words>
  <Application>Microsoft Office PowerPoint</Application>
  <PresentationFormat>全屏显示(4:3)</PresentationFormat>
  <Paragraphs>73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Monotype Sorts</vt:lpstr>
      <vt:lpstr>华文楷体</vt:lpstr>
      <vt:lpstr>华文行楷</vt:lpstr>
      <vt:lpstr>楷体_GB2312</vt:lpstr>
      <vt:lpstr>隶书</vt:lpstr>
      <vt:lpstr>Arial</vt:lpstr>
      <vt:lpstr>Times New Roman</vt:lpstr>
      <vt:lpstr>Webdings</vt:lpstr>
      <vt:lpstr>Wingdings 2</vt:lpstr>
      <vt:lpstr>默认设计模板</vt:lpstr>
      <vt:lpstr>1_默认设计模板</vt:lpstr>
      <vt:lpstr>2_默认设计模板</vt:lpstr>
      <vt:lpstr>3_默认设计模板</vt:lpstr>
      <vt:lpstr>4_默认设计模板</vt:lpstr>
      <vt:lpstr>PowerPoint 演示文稿</vt:lpstr>
      <vt:lpstr>第1章  电路基本概述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为何要学习本课程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thcic</dc:creator>
  <cp:lastModifiedBy>Hao JIN</cp:lastModifiedBy>
  <cp:revision>667</cp:revision>
  <dcterms:created xsi:type="dcterms:W3CDTF">1998-03-26T06:58:13Z</dcterms:created>
  <dcterms:modified xsi:type="dcterms:W3CDTF">2025-09-10T02:54:25Z</dcterms:modified>
</cp:coreProperties>
</file>